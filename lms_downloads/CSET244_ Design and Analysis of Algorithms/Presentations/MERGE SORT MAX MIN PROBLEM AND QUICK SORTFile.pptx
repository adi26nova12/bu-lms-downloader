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1" r:id="rId13"/>
    <p:sldId id="273" r:id="rId14"/>
    <p:sldId id="269" r:id="rId15"/>
    <p:sldId id="272" r:id="rId16"/>
    <p:sldId id="270" r:id="rId17"/>
    <p:sldId id="274" r:id="rId18"/>
    <p:sldId id="363" r:id="rId19"/>
    <p:sldId id="357" r:id="rId20"/>
    <p:sldId id="358" r:id="rId21"/>
    <p:sldId id="359" r:id="rId22"/>
    <p:sldId id="360" r:id="rId23"/>
    <p:sldId id="361" r:id="rId24"/>
    <p:sldId id="368" r:id="rId25"/>
    <p:sldId id="369" r:id="rId26"/>
    <p:sldId id="259" r:id="rId27"/>
    <p:sldId id="371" r:id="rId28"/>
    <p:sldId id="372" r:id="rId29"/>
    <p:sldId id="373" r:id="rId30"/>
    <p:sldId id="374" r:id="rId31"/>
    <p:sldId id="375" r:id="rId32"/>
    <p:sldId id="377" r:id="rId33"/>
    <p:sldId id="376" r:id="rId34"/>
    <p:sldId id="378" r:id="rId35"/>
    <p:sldId id="379" r:id="rId36"/>
    <p:sldId id="380" r:id="rId37"/>
    <p:sldId id="382" r:id="rId38"/>
    <p:sldId id="381" r:id="rId39"/>
    <p:sldId id="383" r:id="rId40"/>
    <p:sldId id="384" r:id="rId41"/>
    <p:sldId id="385" r:id="rId42"/>
    <p:sldId id="386" r:id="rId43"/>
    <p:sldId id="387" r:id="rId44"/>
    <p:sldId id="388" r:id="rId45"/>
    <p:sldId id="389" r:id="rId46"/>
    <p:sldId id="390" r:id="rId47"/>
    <p:sldId id="392" r:id="rId48"/>
    <p:sldId id="391" r:id="rId49"/>
    <p:sldId id="370" r:id="rId50"/>
    <p:sldId id="393" r:id="rId51"/>
    <p:sldId id="394" r:id="rId52"/>
    <p:sldId id="395" r:id="rId53"/>
    <p:sldId id="396" r:id="rId54"/>
    <p:sldId id="397" r:id="rId55"/>
    <p:sldId id="398" r:id="rId56"/>
    <p:sldId id="399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9" autoAdjust="0"/>
    <p:restoredTop sz="94660"/>
  </p:normalViewPr>
  <p:slideViewPr>
    <p:cSldViewPr snapToGrid="0">
      <p:cViewPr varScale="1">
        <p:scale>
          <a:sx n="68" d="100"/>
          <a:sy n="68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5567-10E8-3CAD-378C-E4F532991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44661-FA76-5AE6-933E-45409CD5C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F07BA-8FB2-58ED-676C-BD9567319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B3698-1CA9-0437-FD37-17CAABD1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C03F3-A329-8716-EB50-158A69B6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7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1D94-A1B8-4D6A-3563-81CA384B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487F-0A92-4AAF-9627-44EB67E3C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85642-7060-5DA8-23E5-13A7286D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5CC99-51CC-E8EF-FDE5-3DA6A11A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7FA26-C847-13D6-D251-CD7D6ADD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82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3AF94-A604-A6E4-C71B-50BB2041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E5B83-5288-2242-1F2A-88EA4A05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7F91C-1789-B795-B28E-09ADD1B1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49617-2540-78BF-38CC-2781E760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A3F7F-4F81-5D25-D50B-D27D5572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2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02E6-BFB2-403A-8B10-1438CC86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7B61-5F70-95ED-B5FC-895F066B3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7DE71-4241-705E-2212-11E687984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FD83A-169C-C2A9-4731-6977590E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84C967-F88F-E951-DC87-A9A8013E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AF3FC-9970-6658-F71E-CA1CC4B4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85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114D-0B11-CF7B-3D9C-1B9EE2E42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7D76E-533C-0915-AAFF-C3FA2DC39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91DC1-62EF-2717-8A3D-6B9F301F8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1FD0B-DE52-5C75-63FD-328EE762C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B45DBA-D056-D243-86D5-3FEFB31E8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ADD03-E776-BD95-793A-35EF1853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0666F-D534-C1B2-281E-027E78EA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10D60-4354-349C-F91A-2EE292452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909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63D19-56AE-A0AD-9074-46EC7936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8F2FF-EF3A-141C-0FD5-1C19CB2B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2BC94-8580-7C2D-BA15-A515A0CF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E7C92-EABB-4F93-3BBC-D2404498D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87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AD1FBC-F920-5524-2CC2-31B3F05B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DD141-C8B7-CB6C-B3FF-3CA8B946C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CE478-94E0-CFB3-CC94-291AEDAD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4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30D4-0799-62EF-F6A8-1D6B223E5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BAFEC-C903-914E-1DEE-7F4B860D9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5F41D-E942-8FBE-C117-1ABF99C1F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8B132-046B-4F3C-AEA3-446AEDBF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1D425-2BE8-195A-B8DD-C6BBC68D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0CF37-F246-3350-5F1F-F45734F6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6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A6BD-558B-D477-E380-616A5D544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06F74-4351-03C4-A3E1-F63037DB4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B4169-AE73-27C7-A495-B88CF37EF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38E66-FAAC-FD78-F049-FBFE77AF7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AF78-AA4C-3AB6-96A6-E4F929F2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47FFE-031C-2368-4935-849D51FF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27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D1DDB-3E66-7455-7813-36B275D1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0A9FC-B88D-DFCD-FA57-6E342072D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68934-2C20-A193-1A9D-9692ED5EC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068DE-E699-EB31-C35E-5D88EA79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EDCF7-D69C-483A-C403-878737FE6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2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528C9-6375-8859-F703-3FBFCAB2B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32CE2-CA56-A65C-B98D-51C55FF82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4E48-5244-3E60-A436-CE97EA76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9AD9-5486-F847-3EDB-97F54A4C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0C7DB-CF41-1E78-DFA3-77CAB6FE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2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A3EF43-2204-21D1-F2D6-2526941E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B2686-964E-5244-BC81-1DD51E21C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4F355-39F0-E501-9993-0AF129CA9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07734-5BAD-4189-9E84-4E8A81174891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2892E-109D-F94A-C0CB-5E79B3E64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FCECE-AAAE-9DD6-884E-43B49D3B5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0DD3C-7620-4BA7-97CF-E34062433A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90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6.png"/><Relationship Id="rId21" Type="http://schemas.openxmlformats.org/officeDocument/2006/relationships/image" Target="../media/image99.png"/><Relationship Id="rId7" Type="http://schemas.openxmlformats.org/officeDocument/2006/relationships/image" Target="../media/image85.png"/><Relationship Id="rId17" Type="http://schemas.openxmlformats.org/officeDocument/2006/relationships/image" Target="../media/image9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15" Type="http://schemas.openxmlformats.org/officeDocument/2006/relationships/image" Target="../media/image93.png"/><Relationship Id="rId5" Type="http://schemas.openxmlformats.org/officeDocument/2006/relationships/image" Target="../media/image83.png"/><Relationship Id="rId19" Type="http://schemas.openxmlformats.org/officeDocument/2006/relationships/image" Target="../media/image97.png"/><Relationship Id="rId22" Type="http://schemas.openxmlformats.org/officeDocument/2006/relationships/image" Target="../media/image10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5194852" y="318052"/>
            <a:ext cx="1802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L-09</a:t>
            </a:r>
            <a:endParaRPr lang="en-IN" sz="6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D745B-2C18-F9C8-0B51-06BFF72B76D7}"/>
              </a:ext>
            </a:extLst>
          </p:cNvPr>
          <p:cNvSpPr txBox="1"/>
          <p:nvPr/>
        </p:nvSpPr>
        <p:spPr>
          <a:xfrm>
            <a:off x="655982" y="1603514"/>
            <a:ext cx="108800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FF0000"/>
                </a:solidFill>
              </a:rPr>
              <a:t>AGENDA</a:t>
            </a:r>
            <a:r>
              <a:rPr lang="en-US" sz="3200" b="1" dirty="0">
                <a:solidFill>
                  <a:srgbClr val="FF0000"/>
                </a:solidFill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Merge Sort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Quick Sort</a:t>
            </a:r>
          </a:p>
          <a:p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32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	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3200" b="1" dirty="0">
              <a:solidFill>
                <a:srgbClr val="00206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E02D6-F6B4-94CA-03EE-7757D387FE10}"/>
              </a:ext>
            </a:extLst>
          </p:cNvPr>
          <p:cNvSpPr txBox="1"/>
          <p:nvPr/>
        </p:nvSpPr>
        <p:spPr>
          <a:xfrm>
            <a:off x="10621107" y="-51280"/>
            <a:ext cx="27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05 Feb 2024</a:t>
            </a:r>
            <a:endParaRPr lang="en-IN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1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3127512" y="2921168"/>
            <a:ext cx="6811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Arial Black" panose="020B0A04020102020204" pitchFamily="34" charset="0"/>
              </a:rPr>
              <a:t>MERGE SORT</a:t>
            </a:r>
            <a:endParaRPr lang="en-IN" sz="60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13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latin typeface="Arial Black" panose="020B0A04020102020204" pitchFamily="34" charset="0"/>
              </a:rPr>
              <a:t>MERGE SORT</a:t>
            </a:r>
            <a:endParaRPr lang="en-IN" sz="6000" b="1" u="sng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6823B3-CF12-9A1D-5B6C-FCD521328FD9}"/>
              </a:ext>
            </a:extLst>
          </p:cNvPr>
          <p:cNvSpPr txBox="1"/>
          <p:nvPr/>
        </p:nvSpPr>
        <p:spPr>
          <a:xfrm>
            <a:off x="251792" y="1815548"/>
            <a:ext cx="109330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</a:rPr>
              <a:t>Merge Sort is based on Divide Conquer and Combine(</a:t>
            </a:r>
            <a:r>
              <a:rPr lang="en-US" sz="2800" b="1" u="sng" dirty="0">
                <a:solidFill>
                  <a:srgbClr val="00B050"/>
                </a:solidFill>
                <a:latin typeface="Comic Sans MS" panose="030F0702030302020204" pitchFamily="66" charset="0"/>
              </a:rPr>
              <a:t>MERGE</a:t>
            </a:r>
            <a:r>
              <a:rPr lang="en-US" sz="2800" dirty="0">
                <a:latin typeface="Comic Sans MS" panose="030F0702030302020204" pitchFamily="66" charset="0"/>
              </a:rPr>
              <a:t>) Approach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</a:rPr>
              <a:t>Merge Sort uses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MERGE </a:t>
            </a:r>
            <a:r>
              <a:rPr lang="en-US" sz="2800" dirty="0">
                <a:latin typeface="Comic Sans MS" panose="030F0702030302020204" pitchFamily="66" charset="0"/>
              </a:rPr>
              <a:t>operation to perform sorting 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136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99A06-FFA7-E7CA-02EC-7FD280ECA26B}"/>
              </a:ext>
            </a:extLst>
          </p:cNvPr>
          <p:cNvSpPr txBox="1"/>
          <p:nvPr/>
        </p:nvSpPr>
        <p:spPr>
          <a:xfrm>
            <a:off x="410817" y="1524000"/>
            <a:ext cx="108402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Merge process will combine two sorted list List1 and List2 and produce third sorted list List3</a:t>
            </a:r>
            <a:endParaRPr lang="en-IN" sz="3200" dirty="0">
              <a:latin typeface="Comic Sans MS" panose="030F0702030302020204" pitchFamily="66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C2E32A60-DB05-9B85-E95E-5EA0300B2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393807"/>
              </p:ext>
            </p:extLst>
          </p:nvPr>
        </p:nvGraphicFramePr>
        <p:xfrm>
          <a:off x="1660940" y="3109555"/>
          <a:ext cx="28713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304">
                  <a:extLst>
                    <a:ext uri="{9D8B030D-6E8A-4147-A177-3AD203B41FA5}">
                      <a16:colId xmlns:a16="http://schemas.microsoft.com/office/drawing/2014/main" val="183357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LIST -1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453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DBC016-21E1-4424-FA50-D42386FE1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71563"/>
              </p:ext>
            </p:extLst>
          </p:nvPr>
        </p:nvGraphicFramePr>
        <p:xfrm>
          <a:off x="5830956" y="3058160"/>
          <a:ext cx="28713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304">
                  <a:extLst>
                    <a:ext uri="{9D8B030D-6E8A-4147-A177-3AD203B41FA5}">
                      <a16:colId xmlns:a16="http://schemas.microsoft.com/office/drawing/2014/main" val="183357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LIST-2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45313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6636C4B-1625-A9F0-7276-43E205F15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348427"/>
              </p:ext>
            </p:extLst>
          </p:nvPr>
        </p:nvGraphicFramePr>
        <p:xfrm>
          <a:off x="2456070" y="4787679"/>
          <a:ext cx="5137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7426">
                  <a:extLst>
                    <a:ext uri="{9D8B030D-6E8A-4147-A177-3AD203B41FA5}">
                      <a16:colId xmlns:a16="http://schemas.microsoft.com/office/drawing/2014/main" val="183357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LIST-3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45313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50DB6F-1F64-D26D-1866-BCEA4D62FBFA}"/>
              </a:ext>
            </a:extLst>
          </p:cNvPr>
          <p:cNvCxnSpPr>
            <a:endCxn id="6" idx="0"/>
          </p:cNvCxnSpPr>
          <p:nvPr/>
        </p:nvCxnSpPr>
        <p:spPr>
          <a:xfrm>
            <a:off x="3101009" y="3429000"/>
            <a:ext cx="1923774" cy="13586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F92D76-A541-C7B1-AE51-07F93FEFD20D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024783" y="3429000"/>
            <a:ext cx="2142436" cy="135867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55C1C9-D219-BC2C-9BBD-CCFE0BF1230B}"/>
              </a:ext>
            </a:extLst>
          </p:cNvPr>
          <p:cNvSpPr txBox="1"/>
          <p:nvPr/>
        </p:nvSpPr>
        <p:spPr>
          <a:xfrm>
            <a:off x="6922053" y="2631129"/>
            <a:ext cx="49033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58248B-EBB9-6EA1-8C83-FFAA6E73B5D9}"/>
              </a:ext>
            </a:extLst>
          </p:cNvPr>
          <p:cNvSpPr txBox="1"/>
          <p:nvPr/>
        </p:nvSpPr>
        <p:spPr>
          <a:xfrm>
            <a:off x="2851426" y="2688828"/>
            <a:ext cx="49033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90C6F-D3C5-6494-7B71-5C13AC96DBDF}"/>
              </a:ext>
            </a:extLst>
          </p:cNvPr>
          <p:cNvSpPr txBox="1"/>
          <p:nvPr/>
        </p:nvSpPr>
        <p:spPr>
          <a:xfrm>
            <a:off x="4574210" y="5246129"/>
            <a:ext cx="80617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 +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98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Initially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322205"/>
              </p:ext>
            </p:extLst>
          </p:nvPr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944680"/>
              </p:ext>
            </p:extLst>
          </p:nvPr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2332382" y="2611301"/>
            <a:ext cx="371061" cy="586312"/>
            <a:chOff x="2332382" y="2611301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2332382" y="2828281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517913" y="2611301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7838660" y="2611301"/>
            <a:ext cx="371061" cy="586312"/>
            <a:chOff x="2332382" y="2611301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2332382" y="2828281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2517913" y="2611301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391935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B8B92-ECA6-7B26-FFD8-E48349255733}"/>
              </a:ext>
            </a:extLst>
          </p:cNvPr>
          <p:cNvSpPr txBox="1"/>
          <p:nvPr/>
        </p:nvSpPr>
        <p:spPr>
          <a:xfrm>
            <a:off x="8024190" y="4331596"/>
            <a:ext cx="123908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+ 3 = 6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Pick the smaller element and place into list-3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9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Step-1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/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2332382" y="2611301"/>
            <a:ext cx="371061" cy="586312"/>
            <a:chOff x="2332382" y="2611301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2332382" y="2828281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517913" y="2611301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8779564" y="2639783"/>
            <a:ext cx="371061" cy="586312"/>
            <a:chOff x="3273286" y="2639783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3273286" y="2856763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3458817" y="2639783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09464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B8B92-ECA6-7B26-FFD8-E48349255733}"/>
              </a:ext>
            </a:extLst>
          </p:cNvPr>
          <p:cNvSpPr txBox="1"/>
          <p:nvPr/>
        </p:nvSpPr>
        <p:spPr>
          <a:xfrm>
            <a:off x="8024190" y="4331596"/>
            <a:ext cx="123908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 + 3 = 6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Pick the smaller element and place into list-3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01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Step-2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/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3295375" y="2639783"/>
            <a:ext cx="371061" cy="586312"/>
            <a:chOff x="2332382" y="2611301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2332382" y="2828281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517913" y="2611301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8779564" y="2639783"/>
            <a:ext cx="371061" cy="586312"/>
            <a:chOff x="3273286" y="2639783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3273286" y="2856763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3458817" y="2639783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645037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Pick the smaller element and place into list-3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81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Step-3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/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3295375" y="2639783"/>
            <a:ext cx="371061" cy="586312"/>
            <a:chOff x="2332382" y="2611301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2332382" y="2828281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2517913" y="2611301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9788937" y="2624800"/>
            <a:ext cx="371061" cy="586312"/>
            <a:chOff x="3273286" y="2639783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3273286" y="2856763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3458817" y="2639783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53320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Pick the smaller element and place into list-3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1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Step-4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/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4311374" y="2667273"/>
            <a:ext cx="371061" cy="586312"/>
            <a:chOff x="3273287" y="2596318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3273287" y="2813298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3458818" y="2596318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9788937" y="2624800"/>
            <a:ext cx="371061" cy="586312"/>
            <a:chOff x="3273286" y="2639783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3273286" y="2856763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3458817" y="2639783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326066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Pick the smaller element and place into list-3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79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Step-5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/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5097672" y="2667651"/>
            <a:ext cx="371061" cy="586312"/>
            <a:chOff x="4134679" y="2639169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4134679" y="2856149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4320210" y="2639169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9788937" y="2624800"/>
            <a:ext cx="371061" cy="586312"/>
            <a:chOff x="3273286" y="2639783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3273286" y="2856763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3458817" y="2639783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854374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14773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Pick the smaller element and place into list-3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11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22106-1269-29C8-2E62-F0D6E64D5654}"/>
              </a:ext>
            </a:extLst>
          </p:cNvPr>
          <p:cNvSpPr txBox="1"/>
          <p:nvPr/>
        </p:nvSpPr>
        <p:spPr>
          <a:xfrm>
            <a:off x="397565" y="1470991"/>
            <a:ext cx="2027583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Step-6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418B2AA-7E88-FF28-4422-AC31C870C4B8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4BF77-E386-BC76-F5AF-8C02A9E14C07}"/>
              </a:ext>
            </a:extLst>
          </p:cNvPr>
          <p:cNvGraphicFramePr>
            <a:graphicFrameLocks noGrp="1"/>
          </p:cNvGraphicFramePr>
          <p:nvPr/>
        </p:nvGraphicFramePr>
        <p:xfrm>
          <a:off x="7509566" y="2176330"/>
          <a:ext cx="289780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936">
                  <a:extLst>
                    <a:ext uri="{9D8B030D-6E8A-4147-A177-3AD203B41FA5}">
                      <a16:colId xmlns:a16="http://schemas.microsoft.com/office/drawing/2014/main" val="1467568750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389306008"/>
                    </a:ext>
                  </a:extLst>
                </a:gridCol>
                <a:gridCol w="965936">
                  <a:extLst>
                    <a:ext uri="{9D8B030D-6E8A-4147-A177-3AD203B41FA5}">
                      <a16:colId xmlns:a16="http://schemas.microsoft.com/office/drawing/2014/main" val="1591772315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627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E6819B-6C8B-DC29-2AC1-733277313582}"/>
              </a:ext>
            </a:extLst>
          </p:cNvPr>
          <p:cNvSpPr txBox="1"/>
          <p:nvPr/>
        </p:nvSpPr>
        <p:spPr>
          <a:xfrm>
            <a:off x="1055760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List-1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874C6-B9D7-B161-AC89-2EF6F98AD153}"/>
              </a:ext>
            </a:extLst>
          </p:cNvPr>
          <p:cNvSpPr txBox="1"/>
          <p:nvPr/>
        </p:nvSpPr>
        <p:spPr>
          <a:xfrm>
            <a:off x="6533324" y="2241969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List-2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0D27A1-134E-D4A1-E57D-B5F13C07416E}"/>
              </a:ext>
            </a:extLst>
          </p:cNvPr>
          <p:cNvGrpSpPr/>
          <p:nvPr/>
        </p:nvGrpSpPr>
        <p:grpSpPr>
          <a:xfrm>
            <a:off x="5071166" y="2629508"/>
            <a:ext cx="371061" cy="586312"/>
            <a:chOff x="3273287" y="2596318"/>
            <a:chExt cx="371061" cy="58631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B6751E-6638-11A2-1696-4AAAC4FC911C}"/>
                </a:ext>
              </a:extLst>
            </p:cNvPr>
            <p:cNvSpPr txBox="1"/>
            <p:nvPr/>
          </p:nvSpPr>
          <p:spPr>
            <a:xfrm>
              <a:off x="3273287" y="2813298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Arial Black" panose="020B0A04020102020204" pitchFamily="34" charset="0"/>
                </a:rPr>
                <a:t>i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4F16D0E-DC27-E2BB-CC9F-425FEC8FC688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3458818" y="2596318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96C5E1-A80F-AACF-93D8-17BE1D1401CD}"/>
              </a:ext>
            </a:extLst>
          </p:cNvPr>
          <p:cNvGrpSpPr/>
          <p:nvPr/>
        </p:nvGrpSpPr>
        <p:grpSpPr>
          <a:xfrm>
            <a:off x="10765179" y="2553332"/>
            <a:ext cx="371061" cy="586312"/>
            <a:chOff x="3273286" y="2639783"/>
            <a:chExt cx="371061" cy="58631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EEB072-CEFA-894F-24BA-6D72F91BDED8}"/>
                </a:ext>
              </a:extLst>
            </p:cNvPr>
            <p:cNvSpPr txBox="1"/>
            <p:nvPr/>
          </p:nvSpPr>
          <p:spPr>
            <a:xfrm>
              <a:off x="3273286" y="2856763"/>
              <a:ext cx="371061" cy="369332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j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7672F54-AB57-505A-5983-37467EE1B201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flipV="1">
              <a:off x="3458817" y="2639783"/>
              <a:ext cx="0" cy="2169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3304D33D-6BA9-E890-A237-FC23CC442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3402"/>
              </p:ext>
            </p:extLst>
          </p:nvPr>
        </p:nvGraphicFramePr>
        <p:xfrm>
          <a:off x="2332382" y="4265957"/>
          <a:ext cx="5477568" cy="50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928">
                  <a:extLst>
                    <a:ext uri="{9D8B030D-6E8A-4147-A177-3AD203B41FA5}">
                      <a16:colId xmlns:a16="http://schemas.microsoft.com/office/drawing/2014/main" val="4586705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005915185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3910520863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40071251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2748531898"/>
                    </a:ext>
                  </a:extLst>
                </a:gridCol>
                <a:gridCol w="912928">
                  <a:extLst>
                    <a:ext uri="{9D8B030D-6E8A-4147-A177-3AD203B41FA5}">
                      <a16:colId xmlns:a16="http://schemas.microsoft.com/office/drawing/2014/main" val="4229548653"/>
                    </a:ext>
                  </a:extLst>
                </a:gridCol>
              </a:tblGrid>
              <a:tr h="5006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46413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129FC0E-6477-E29A-F592-B06DA8CA05D8}"/>
              </a:ext>
            </a:extLst>
          </p:cNvPr>
          <p:cNvSpPr txBox="1"/>
          <p:nvPr/>
        </p:nvSpPr>
        <p:spPr>
          <a:xfrm>
            <a:off x="1411356" y="4331596"/>
            <a:ext cx="79513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List-3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-1" y="5777948"/>
            <a:ext cx="12191999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 List-1 is eunuchated and place rest of the elements of List-2  into list-3 one by one </a:t>
            </a:r>
          </a:p>
          <a:p>
            <a:endParaRPr lang="en-U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8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8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9A625F6-DA0E-F160-F201-E012B8610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04" y="2075985"/>
            <a:ext cx="10786607" cy="36933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Create List-3 of size List-1 + List-2 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Simultaneously traverse List-1 and List-2.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    Pick smaller of current elements in List-1 and List-2 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    copy this smaller element to the next position in List-3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    and move ahead in List-3 and the List whose element is picked.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3. If there are remaining elements in List-1 or List-2 , copy them in List-3 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737B0-42CA-6B3C-2050-4A528C929645}"/>
              </a:ext>
            </a:extLst>
          </p:cNvPr>
          <p:cNvSpPr txBox="1"/>
          <p:nvPr/>
        </p:nvSpPr>
        <p:spPr>
          <a:xfrm>
            <a:off x="397565" y="1444487"/>
            <a:ext cx="3604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Merging Algorithm:</a:t>
            </a:r>
            <a:endParaRPr lang="en-IN" sz="2400" dirty="0">
              <a:solidFill>
                <a:srgbClr val="00B05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66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Rectangle 410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8D77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 u="sng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 dirty="0"/>
              <a:t>Merge Process </a:t>
            </a:r>
          </a:p>
        </p:txBody>
      </p:sp>
      <p:pic>
        <p:nvPicPr>
          <p:cNvPr id="5124" name="Picture 4" descr="algorithm - C implementation of merge sort, as shown in Cormen's et al  &quot;Introduction to algortithms&quot; not working properly - Stack Overflow">
            <a:extLst>
              <a:ext uri="{FF2B5EF4-FFF2-40B4-BE49-F238E27FC236}">
                <a16:creationId xmlns:a16="http://schemas.microsoft.com/office/drawing/2014/main" id="{F2C7285B-573F-0FED-B1DF-6BA86126D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949" y="168812"/>
            <a:ext cx="6426052" cy="668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97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Merging Two Sorted List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2E7D7-262A-4943-D0CF-255D077E384A}"/>
              </a:ext>
            </a:extLst>
          </p:cNvPr>
          <p:cNvSpPr txBox="1"/>
          <p:nvPr/>
        </p:nvSpPr>
        <p:spPr>
          <a:xfrm>
            <a:off x="1" y="2844225"/>
            <a:ext cx="12191999" cy="5847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Cost of merging 2 sorted list of size m and 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7F3047-1D2D-9E85-4338-AA58BDA9D751}"/>
              </a:ext>
            </a:extLst>
          </p:cNvPr>
          <p:cNvSpPr txBox="1"/>
          <p:nvPr/>
        </p:nvSpPr>
        <p:spPr>
          <a:xfrm>
            <a:off x="3498574" y="3881253"/>
            <a:ext cx="4346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B050"/>
                </a:solidFill>
                <a:latin typeface="Arial Black" panose="020B0A04020102020204" pitchFamily="34" charset="0"/>
              </a:rPr>
              <a:t>= O(m + n)</a:t>
            </a:r>
            <a:endParaRPr lang="en-IN" sz="4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627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Rectangle 410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2" name="Rectangle 41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8D77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600" b="1" u="sng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US"/>
              <a:t>Merge Sort</a:t>
            </a:r>
            <a:endParaRPr lang="en-US" dirty="0"/>
          </a:p>
        </p:txBody>
      </p:sp>
      <p:pic>
        <p:nvPicPr>
          <p:cNvPr id="4098" name="Picture 2" descr="algorithm - Merge sort implementation questions in Java - Stack Overflow">
            <a:extLst>
              <a:ext uri="{FF2B5EF4-FFF2-40B4-BE49-F238E27FC236}">
                <a16:creationId xmlns:a16="http://schemas.microsoft.com/office/drawing/2014/main" id="{551AF038-EC6A-4395-C3AA-DE2EF75B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574347"/>
            <a:ext cx="7188199" cy="370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790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u="sng" kern="12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MERGE SORT</a:t>
            </a:r>
          </a:p>
        </p:txBody>
      </p:sp>
      <p:pic>
        <p:nvPicPr>
          <p:cNvPr id="2050" name="Picture 2" descr="Visualizing, Designing, and Analyzing the Merge Sort Algorithm. | by Vikram  Gupta | Javarevisited | Medium">
            <a:extLst>
              <a:ext uri="{FF2B5EF4-FFF2-40B4-BE49-F238E27FC236}">
                <a16:creationId xmlns:a16="http://schemas.microsoft.com/office/drawing/2014/main" id="{E57B9988-8D1C-5C3F-B7F0-852BB76A2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7844" y="0"/>
            <a:ext cx="8574156" cy="68580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E27B44-2A2E-B40B-2756-F1795B0CD663}"/>
              </a:ext>
            </a:extLst>
          </p:cNvPr>
          <p:cNvSpPr txBox="1"/>
          <p:nvPr/>
        </p:nvSpPr>
        <p:spPr>
          <a:xfrm>
            <a:off x="10177669" y="304799"/>
            <a:ext cx="173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Unsorted</a:t>
            </a:r>
            <a:endParaRPr lang="en-IN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32E68-8B36-42DB-B959-9F05DEF26ECC}"/>
              </a:ext>
            </a:extLst>
          </p:cNvPr>
          <p:cNvSpPr txBox="1"/>
          <p:nvPr/>
        </p:nvSpPr>
        <p:spPr>
          <a:xfrm>
            <a:off x="10376938" y="6209508"/>
            <a:ext cx="173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Sorted</a:t>
            </a:r>
            <a:endParaRPr lang="en-IN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544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Arial Black" panose="020B0A04020102020204" pitchFamily="34" charset="0"/>
              </a:rPr>
              <a:t>Analyzing Merge Sort</a:t>
            </a:r>
            <a:endParaRPr lang="en-IN" sz="600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2" descr="algorithm - Merge sort implementation questions in Java - Stack Overflow">
            <a:extLst>
              <a:ext uri="{FF2B5EF4-FFF2-40B4-BE49-F238E27FC236}">
                <a16:creationId xmlns:a16="http://schemas.microsoft.com/office/drawing/2014/main" id="{CA333C67-A335-AD4A-978D-5A2F0FF9B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015663"/>
            <a:ext cx="7188199" cy="370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9B527C-5818-2CB5-2493-E0A71F1975ED}"/>
              </a:ext>
            </a:extLst>
          </p:cNvPr>
          <p:cNvSpPr txBox="1"/>
          <p:nvPr/>
        </p:nvSpPr>
        <p:spPr>
          <a:xfrm>
            <a:off x="4956314" y="1272209"/>
            <a:ext cx="76862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T(n)</a:t>
            </a:r>
            <a:endParaRPr lang="en-IN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F346E-50E9-C1FD-4BC4-FEA4B81636B7}"/>
              </a:ext>
            </a:extLst>
          </p:cNvPr>
          <p:cNvSpPr txBox="1"/>
          <p:nvPr/>
        </p:nvSpPr>
        <p:spPr>
          <a:xfrm>
            <a:off x="7006535" y="3521291"/>
            <a:ext cx="927651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T(n/2)</a:t>
            </a:r>
            <a:endParaRPr lang="en-IN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C5D73-9F9B-5555-5546-95C3CEE76730}"/>
              </a:ext>
            </a:extLst>
          </p:cNvPr>
          <p:cNvSpPr txBox="1"/>
          <p:nvPr/>
        </p:nvSpPr>
        <p:spPr>
          <a:xfrm>
            <a:off x="6260547" y="3059668"/>
            <a:ext cx="92765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T(n/2)</a:t>
            </a:r>
            <a:endParaRPr lang="en-IN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D733E3-06B4-8550-C26B-1C90F0DF2509}"/>
              </a:ext>
            </a:extLst>
          </p:cNvPr>
          <p:cNvSpPr txBox="1"/>
          <p:nvPr/>
        </p:nvSpPr>
        <p:spPr>
          <a:xfrm>
            <a:off x="5491921" y="4075331"/>
            <a:ext cx="76862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O(n)</a:t>
            </a:r>
            <a:endParaRPr lang="en-IN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860333-6043-FB1D-0581-FD6D7D605871}"/>
              </a:ext>
            </a:extLst>
          </p:cNvPr>
          <p:cNvSpPr txBox="1"/>
          <p:nvPr/>
        </p:nvSpPr>
        <p:spPr>
          <a:xfrm>
            <a:off x="291547" y="4823791"/>
            <a:ext cx="2835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Recurrence Relation:</a:t>
            </a:r>
            <a:endParaRPr lang="en-IN" sz="20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59F0A3-2B92-C26E-6894-278EAFD99170}"/>
              </a:ext>
            </a:extLst>
          </p:cNvPr>
          <p:cNvSpPr txBox="1"/>
          <p:nvPr/>
        </p:nvSpPr>
        <p:spPr>
          <a:xfrm>
            <a:off x="3714474" y="4839180"/>
            <a:ext cx="4219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T(n) = 2T(n/2) + O(n) = O(</a:t>
            </a:r>
            <a:r>
              <a:rPr lang="en-US" dirty="0" err="1">
                <a:solidFill>
                  <a:srgbClr val="00B050"/>
                </a:solidFill>
                <a:latin typeface="Arial Black" panose="020B0A04020102020204" pitchFamily="34" charset="0"/>
              </a:rPr>
              <a:t>nlogn</a:t>
            </a:r>
            <a:r>
              <a:rPr lang="en-US" dirty="0">
                <a:solidFill>
                  <a:srgbClr val="00B050"/>
                </a:solidFill>
                <a:latin typeface="Arial Black" panose="020B0A04020102020204" pitchFamily="34" charset="0"/>
              </a:rPr>
              <a:t>)</a:t>
            </a:r>
            <a:endParaRPr lang="en-IN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C17EA-B604-313F-0AFB-356CB654FD99}"/>
              </a:ext>
            </a:extLst>
          </p:cNvPr>
          <p:cNvSpPr txBox="1"/>
          <p:nvPr/>
        </p:nvSpPr>
        <p:spPr>
          <a:xfrm>
            <a:off x="318050" y="5899017"/>
            <a:ext cx="11277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rial Black" panose="020B0A04020102020204" pitchFamily="34" charset="0"/>
              </a:rPr>
              <a:t>Note: </a:t>
            </a:r>
            <a:r>
              <a:rPr lang="en-US" sz="2400" dirty="0">
                <a:latin typeface="Comic Sans MS" panose="030F0702030302020204" pitchFamily="66" charset="0"/>
              </a:rPr>
              <a:t>Merge Sort is </a:t>
            </a:r>
            <a:r>
              <a:rPr lang="en-US" sz="2400" b="1" dirty="0">
                <a:solidFill>
                  <a:srgbClr val="0070C0"/>
                </a:solidFill>
                <a:latin typeface="Comic Sans MS" panose="030F0702030302020204" pitchFamily="66" charset="0"/>
              </a:rPr>
              <a:t>LEAST</a:t>
            </a:r>
            <a:r>
              <a:rPr lang="en-US" sz="2400" dirty="0">
                <a:latin typeface="Comic Sans MS" panose="030F0702030302020204" pitchFamily="66" charset="0"/>
              </a:rPr>
              <a:t> dependent on the order of input data set </a:t>
            </a:r>
            <a:endParaRPr lang="en-IN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1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10" grpId="0" animBg="1"/>
      <p:bldP spid="3" grpId="0"/>
      <p:bldP spid="6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8D3338-6C62-C585-D1E7-0D17813FB639}"/>
              </a:ext>
            </a:extLst>
          </p:cNvPr>
          <p:cNvGrpSpPr/>
          <p:nvPr/>
        </p:nvGrpSpPr>
        <p:grpSpPr>
          <a:xfrm>
            <a:off x="-43542" y="0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6B1585-BFA2-415B-BC25-73BF31B5903A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9AEA2B-B8A7-10EB-714A-B63B373BE1D7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Max-Min Problem</a:t>
              </a:r>
              <a:endParaRPr lang="en-IN" sz="4000" dirty="0">
                <a:solidFill>
                  <a:srgbClr val="003399"/>
                </a:solidFill>
                <a:latin typeface="Amasis MT Pro Black" panose="02040A04050005020304" pitchFamily="18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0C4892C-7570-47D2-8A54-E0E9CCC88008}"/>
              </a:ext>
            </a:extLst>
          </p:cNvPr>
          <p:cNvSpPr txBox="1"/>
          <p:nvPr/>
        </p:nvSpPr>
        <p:spPr>
          <a:xfrm>
            <a:off x="182880" y="1097280"/>
            <a:ext cx="11625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00"/>
                </a:highlight>
              </a:rPr>
              <a:t>Max-Min Problem : </a:t>
            </a:r>
            <a:r>
              <a:rPr lang="en-IN" b="1" dirty="0"/>
              <a:t>Design a recurrence relation to compute the total number of comparisons for finding minimum and maximum simultaneously from a list </a:t>
            </a:r>
            <a:r>
              <a:rPr lang="en-IN" b="1" dirty="0">
                <a:highlight>
                  <a:srgbClr val="FF0000"/>
                </a:highlight>
              </a:rPr>
              <a:t>A</a:t>
            </a:r>
            <a:r>
              <a:rPr lang="en-IN" b="1" dirty="0"/>
              <a:t> of </a:t>
            </a:r>
            <a:r>
              <a:rPr lang="en-IN" b="1" dirty="0">
                <a:highlight>
                  <a:srgbClr val="FFFF00"/>
                </a:highlight>
              </a:rPr>
              <a:t>n</a:t>
            </a:r>
            <a:r>
              <a:rPr lang="en-IN" b="1" dirty="0"/>
              <a:t> numbers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6F679-C8B6-B8F5-4D61-BFC01BB34537}"/>
              </a:ext>
            </a:extLst>
          </p:cNvPr>
          <p:cNvSpPr txBox="1"/>
          <p:nvPr/>
        </p:nvSpPr>
        <p:spPr>
          <a:xfrm>
            <a:off x="182880" y="2390503"/>
            <a:ext cx="1358537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0000"/>
                </a:highlight>
              </a:rPr>
              <a:t>Solution: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ECEBE-5B1C-F887-F3FC-E946CF184EBB}"/>
              </a:ext>
            </a:extLst>
          </p:cNvPr>
          <p:cNvSpPr txBox="1"/>
          <p:nvPr/>
        </p:nvSpPr>
        <p:spPr>
          <a:xfrm>
            <a:off x="278295" y="2968487"/>
            <a:ext cx="7275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Base Case 1 </a:t>
            </a:r>
            <a:r>
              <a:rPr lang="en-IN" dirty="0"/>
              <a:t>: if n =1 then </a:t>
            </a:r>
            <a:r>
              <a:rPr lang="en-IN" b="1" dirty="0">
                <a:highlight>
                  <a:srgbClr val="FFFF00"/>
                </a:highlight>
              </a:rPr>
              <a:t>min = max = A[0]</a:t>
            </a:r>
            <a:r>
              <a:rPr lang="en-IN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4C1EB-A0DC-5622-3E71-004D75ADA639}"/>
              </a:ext>
            </a:extLst>
          </p:cNvPr>
          <p:cNvSpPr txBox="1"/>
          <p:nvPr/>
        </p:nvSpPr>
        <p:spPr>
          <a:xfrm>
            <a:off x="278295" y="4006394"/>
            <a:ext cx="8388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Base Case 2 </a:t>
            </a:r>
            <a:r>
              <a:rPr lang="en-IN" dirty="0"/>
              <a:t>: if n =2 then</a:t>
            </a:r>
          </a:p>
          <a:p>
            <a:r>
              <a:rPr lang="en-IN" dirty="0"/>
              <a:t>                          if A[0] &gt; = A[1] </a:t>
            </a:r>
          </a:p>
          <a:p>
            <a:r>
              <a:rPr lang="en-IN" dirty="0"/>
              <a:t>                                 </a:t>
            </a:r>
            <a:r>
              <a:rPr lang="en-IN" b="1" dirty="0">
                <a:highlight>
                  <a:srgbClr val="FFFF00"/>
                </a:highlight>
              </a:rPr>
              <a:t>min = A[1] and max = A[0]</a:t>
            </a:r>
          </a:p>
          <a:p>
            <a:r>
              <a:rPr lang="en-IN" dirty="0"/>
              <a:t>                          else </a:t>
            </a:r>
          </a:p>
          <a:p>
            <a:r>
              <a:rPr lang="en-IN" dirty="0"/>
              <a:t>                                 </a:t>
            </a:r>
            <a:r>
              <a:rPr lang="en-IN" b="1" dirty="0">
                <a:highlight>
                  <a:srgbClr val="00FFFF"/>
                </a:highlight>
              </a:rPr>
              <a:t>min = A[0] and max = A[1]</a:t>
            </a:r>
          </a:p>
          <a:p>
            <a:r>
              <a:rPr lang="en-IN" dirty="0">
                <a:highlight>
                  <a:srgbClr val="FFFF00"/>
                </a:highlight>
              </a:rPr>
              <a:t>                                 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4023538B-9C8E-F526-431D-44BD16E01F18}"/>
              </a:ext>
            </a:extLst>
          </p:cNvPr>
          <p:cNvSpPr/>
          <p:nvPr/>
        </p:nvSpPr>
        <p:spPr>
          <a:xfrm>
            <a:off x="6997148" y="2720381"/>
            <a:ext cx="3339548" cy="646331"/>
          </a:xfrm>
          <a:prstGeom prst="wedgeRoundRectCallout">
            <a:avLst>
              <a:gd name="adj1" fmla="val -104960"/>
              <a:gd name="adj2" fmla="val 17391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No of Comparison = 0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35617BB-A140-05B9-0DFF-4B1C98E3F10B}"/>
              </a:ext>
            </a:extLst>
          </p:cNvPr>
          <p:cNvSpPr/>
          <p:nvPr/>
        </p:nvSpPr>
        <p:spPr>
          <a:xfrm>
            <a:off x="7553739" y="4551831"/>
            <a:ext cx="3339548" cy="646331"/>
          </a:xfrm>
          <a:prstGeom prst="wedgeRoundRectCallout">
            <a:avLst>
              <a:gd name="adj1" fmla="val -104960"/>
              <a:gd name="adj2" fmla="val 17391"/>
              <a:gd name="adj3" fmla="val 16667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No of Comparison = 1</a:t>
            </a:r>
          </a:p>
        </p:txBody>
      </p:sp>
    </p:spTree>
    <p:extLst>
      <p:ext uri="{BB962C8B-B14F-4D97-AF65-F5344CB8AC3E}">
        <p14:creationId xmlns:p14="http://schemas.microsoft.com/office/powerpoint/2010/main" val="1967009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8D3338-6C62-C585-D1E7-0D17813FB639}"/>
              </a:ext>
            </a:extLst>
          </p:cNvPr>
          <p:cNvGrpSpPr/>
          <p:nvPr/>
        </p:nvGrpSpPr>
        <p:grpSpPr>
          <a:xfrm>
            <a:off x="-43542" y="0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6B1585-BFA2-415B-BC25-73BF31B5903A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9AEA2B-B8A7-10EB-714A-B63B373BE1D7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Max-Min Problem</a:t>
              </a:r>
              <a:endParaRPr lang="en-IN" sz="4000" dirty="0">
                <a:solidFill>
                  <a:srgbClr val="003399"/>
                </a:solidFill>
                <a:latin typeface="Amasis MT Pro Black" panose="02040A04050005020304" pitchFamily="18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9815C1-2AF9-6659-756C-7AB573E92B0D}"/>
              </a:ext>
            </a:extLst>
          </p:cNvPr>
          <p:cNvSpPr txBox="1"/>
          <p:nvPr/>
        </p:nvSpPr>
        <p:spPr>
          <a:xfrm>
            <a:off x="318052" y="1113183"/>
            <a:ext cx="9395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Recursive Case</a:t>
            </a:r>
            <a:r>
              <a:rPr lang="en-IN" dirty="0"/>
              <a:t>: if n &gt; 2     Use divide conquer and combine approach</a:t>
            </a:r>
          </a:p>
          <a:p>
            <a:r>
              <a:rPr lang="en-IN" dirty="0"/>
              <a:t>							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51AED-1375-59DF-639C-0F15F29FA3B8}"/>
              </a:ext>
            </a:extLst>
          </p:cNvPr>
          <p:cNvSpPr txBox="1"/>
          <p:nvPr/>
        </p:nvSpPr>
        <p:spPr>
          <a:xfrm>
            <a:off x="2160104" y="1577009"/>
            <a:ext cx="7354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Divide the list into two half </a:t>
            </a:r>
          </a:p>
          <a:p>
            <a:pPr marL="342900" indent="-342900">
              <a:buAutoNum type="arabicPeriod"/>
            </a:pPr>
            <a:r>
              <a:rPr lang="en-IN" dirty="0"/>
              <a:t>Find min and max recursively of left half and right half</a:t>
            </a:r>
          </a:p>
          <a:p>
            <a:pPr marL="342900" indent="-342900">
              <a:buAutoNum type="arabicPeriod"/>
            </a:pPr>
            <a:r>
              <a:rPr lang="en-IN" dirty="0"/>
              <a:t>Find the min and max of entire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AC7A7-392B-0912-6606-5CC2B08B1B79}"/>
              </a:ext>
            </a:extLst>
          </p:cNvPr>
          <p:cNvSpPr/>
          <p:nvPr/>
        </p:nvSpPr>
        <p:spPr>
          <a:xfrm>
            <a:off x="795130" y="2902226"/>
            <a:ext cx="9846366" cy="52677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 list of n numbers (n&gt;2)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21A072-4EAD-45C5-37FD-C742F1D6E463}"/>
              </a:ext>
            </a:extLst>
          </p:cNvPr>
          <p:cNvSpPr/>
          <p:nvPr/>
        </p:nvSpPr>
        <p:spPr>
          <a:xfrm>
            <a:off x="795130" y="4360471"/>
            <a:ext cx="4598504" cy="6463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Left Half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1BDF3-0251-BC43-81B8-28585C084B17}"/>
              </a:ext>
            </a:extLst>
          </p:cNvPr>
          <p:cNvSpPr/>
          <p:nvPr/>
        </p:nvSpPr>
        <p:spPr>
          <a:xfrm>
            <a:off x="6042992" y="4357661"/>
            <a:ext cx="4598504" cy="6463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Right Half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8FB206-2C40-55B8-046C-C73D381AC6B7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3094382" y="3429000"/>
            <a:ext cx="2623931" cy="9314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560EBD-62BA-D186-00F8-265D2EABF377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5718313" y="3429000"/>
            <a:ext cx="2623931" cy="92866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C619C95-D89E-077F-1289-05742F7A7F37}"/>
              </a:ext>
            </a:extLst>
          </p:cNvPr>
          <p:cNvSpPr txBox="1"/>
          <p:nvPr/>
        </p:nvSpPr>
        <p:spPr>
          <a:xfrm>
            <a:off x="1643270" y="5194852"/>
            <a:ext cx="251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min</a:t>
            </a:r>
            <a:r>
              <a:rPr lang="en-IN" b="1" baseline="-25000" dirty="0" err="1"/>
              <a:t>L</a:t>
            </a:r>
            <a:r>
              <a:rPr lang="en-IN" b="1" dirty="0"/>
              <a:t>, </a:t>
            </a:r>
            <a:r>
              <a:rPr lang="en-IN" b="1" dirty="0" err="1"/>
              <a:t>max</a:t>
            </a:r>
            <a:r>
              <a:rPr lang="en-IN" b="1" baseline="-25000" dirty="0" err="1"/>
              <a:t>L</a:t>
            </a:r>
            <a:endParaRPr lang="en-IN" b="1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6EBB81-F507-268C-5132-FAB0A7D31041}"/>
              </a:ext>
            </a:extLst>
          </p:cNvPr>
          <p:cNvSpPr txBox="1"/>
          <p:nvPr/>
        </p:nvSpPr>
        <p:spPr>
          <a:xfrm>
            <a:off x="6851374" y="5280991"/>
            <a:ext cx="308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min</a:t>
            </a:r>
            <a:r>
              <a:rPr lang="en-IN" b="1" baseline="-25000" dirty="0" err="1"/>
              <a:t>R</a:t>
            </a:r>
            <a:r>
              <a:rPr lang="en-IN" b="1" dirty="0"/>
              <a:t>, </a:t>
            </a:r>
            <a:r>
              <a:rPr lang="en-IN" b="1" dirty="0" err="1"/>
              <a:t>max</a:t>
            </a:r>
            <a:r>
              <a:rPr lang="en-IN" b="1" baseline="-25000" dirty="0" err="1"/>
              <a:t>R</a:t>
            </a:r>
            <a:endParaRPr lang="en-IN" b="1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F6194-A27E-036A-353F-70902EBCC5AD}"/>
              </a:ext>
            </a:extLst>
          </p:cNvPr>
          <p:cNvSpPr txBox="1"/>
          <p:nvPr/>
        </p:nvSpPr>
        <p:spPr>
          <a:xfrm>
            <a:off x="2484782" y="5935463"/>
            <a:ext cx="412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Min = minimum(</a:t>
            </a:r>
            <a:r>
              <a:rPr lang="en-IN" b="1" dirty="0" err="1">
                <a:solidFill>
                  <a:srgbClr val="002060"/>
                </a:solidFill>
              </a:rPr>
              <a:t>min</a:t>
            </a:r>
            <a:r>
              <a:rPr lang="en-IN" b="1" baseline="-25000" dirty="0" err="1">
                <a:solidFill>
                  <a:srgbClr val="002060"/>
                </a:solidFill>
              </a:rPr>
              <a:t>L</a:t>
            </a:r>
            <a:r>
              <a:rPr lang="en-IN" b="1" dirty="0">
                <a:solidFill>
                  <a:srgbClr val="002060"/>
                </a:solidFill>
              </a:rPr>
              <a:t>, </a:t>
            </a:r>
            <a:r>
              <a:rPr lang="en-IN" b="1" dirty="0" err="1">
                <a:solidFill>
                  <a:srgbClr val="002060"/>
                </a:solidFill>
              </a:rPr>
              <a:t>min</a:t>
            </a:r>
            <a:r>
              <a:rPr lang="en-IN" b="1" baseline="-25000" dirty="0" err="1">
                <a:solidFill>
                  <a:srgbClr val="002060"/>
                </a:solidFill>
              </a:rPr>
              <a:t>R</a:t>
            </a:r>
            <a:r>
              <a:rPr lang="en-IN" b="1" dirty="0">
                <a:solidFill>
                  <a:srgbClr val="002060"/>
                </a:solidFill>
              </a:rPr>
              <a:t>)</a:t>
            </a:r>
          </a:p>
          <a:p>
            <a:r>
              <a:rPr lang="en-IN" b="1" dirty="0">
                <a:solidFill>
                  <a:srgbClr val="002060"/>
                </a:solidFill>
              </a:rPr>
              <a:t>Max = maximum(</a:t>
            </a:r>
            <a:r>
              <a:rPr lang="en-IN" b="1" dirty="0" err="1">
                <a:solidFill>
                  <a:srgbClr val="002060"/>
                </a:solidFill>
              </a:rPr>
              <a:t>max</a:t>
            </a:r>
            <a:r>
              <a:rPr lang="en-IN" b="1" baseline="-25000" dirty="0" err="1">
                <a:solidFill>
                  <a:srgbClr val="002060"/>
                </a:solidFill>
              </a:rPr>
              <a:t>L</a:t>
            </a:r>
            <a:r>
              <a:rPr lang="en-IN" b="1" dirty="0">
                <a:solidFill>
                  <a:srgbClr val="002060"/>
                </a:solidFill>
              </a:rPr>
              <a:t>, </a:t>
            </a:r>
            <a:r>
              <a:rPr lang="en-IN" b="1" dirty="0" err="1">
                <a:solidFill>
                  <a:srgbClr val="002060"/>
                </a:solidFill>
              </a:rPr>
              <a:t>max</a:t>
            </a:r>
            <a:r>
              <a:rPr lang="en-IN" b="1" baseline="-25000" dirty="0" err="1">
                <a:solidFill>
                  <a:srgbClr val="002060"/>
                </a:solidFill>
              </a:rPr>
              <a:t>R</a:t>
            </a:r>
            <a:r>
              <a:rPr lang="en-IN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B76286BA-9C89-BE25-9A2C-735C23A03522}"/>
              </a:ext>
            </a:extLst>
          </p:cNvPr>
          <p:cNvSpPr/>
          <p:nvPr/>
        </p:nvSpPr>
        <p:spPr>
          <a:xfrm>
            <a:off x="7553740" y="5935463"/>
            <a:ext cx="3087756" cy="756885"/>
          </a:xfrm>
          <a:prstGeom prst="wedgeRoundRectCallout">
            <a:avLst>
              <a:gd name="adj1" fmla="val -100000"/>
              <a:gd name="adj2" fmla="val -40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 of Comparison = 2</a:t>
            </a:r>
          </a:p>
        </p:txBody>
      </p:sp>
    </p:spTree>
    <p:extLst>
      <p:ext uri="{BB962C8B-B14F-4D97-AF65-F5344CB8AC3E}">
        <p14:creationId xmlns:p14="http://schemas.microsoft.com/office/powerpoint/2010/main" val="216959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8D3338-6C62-C585-D1E7-0D17813FB639}"/>
              </a:ext>
            </a:extLst>
          </p:cNvPr>
          <p:cNvGrpSpPr/>
          <p:nvPr/>
        </p:nvGrpSpPr>
        <p:grpSpPr>
          <a:xfrm>
            <a:off x="-43542" y="0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6B1585-BFA2-415B-BC25-73BF31B5903A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9AEA2B-B8A7-10EB-714A-B63B373BE1D7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Max-Min Problem</a:t>
              </a:r>
              <a:endParaRPr lang="en-IN" sz="4000" dirty="0">
                <a:solidFill>
                  <a:srgbClr val="003399"/>
                </a:solidFill>
                <a:latin typeface="Amasis MT Pro Black" panose="02040A04050005020304" pitchFamily="18" charset="0"/>
              </a:endParaRPr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BFE7C34-C920-B228-E562-A174A08E10A3}"/>
              </a:ext>
            </a:extLst>
          </p:cNvPr>
          <p:cNvGraphicFramePr>
            <a:graphicFrameLocks noGrp="1"/>
          </p:cNvGraphicFramePr>
          <p:nvPr/>
        </p:nvGraphicFramePr>
        <p:xfrm>
          <a:off x="1859721" y="168707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7924622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305778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977746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99382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29360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451142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7606189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9268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0921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E75FD95-63E8-43DD-E527-CD31CEDDCA40}"/>
              </a:ext>
            </a:extLst>
          </p:cNvPr>
          <p:cNvGraphicFramePr>
            <a:graphicFrameLocks noGrp="1"/>
          </p:cNvGraphicFramePr>
          <p:nvPr/>
        </p:nvGraphicFramePr>
        <p:xfrm>
          <a:off x="1859721" y="3552067"/>
          <a:ext cx="37392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805">
                  <a:extLst>
                    <a:ext uri="{9D8B030D-6E8A-4147-A177-3AD203B41FA5}">
                      <a16:colId xmlns:a16="http://schemas.microsoft.com/office/drawing/2014/main" val="2799975222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091666980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434074081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331076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59043"/>
                  </a:ext>
                </a:extLst>
              </a:tr>
            </a:tbl>
          </a:graphicData>
        </a:graphic>
      </p:graphicFrame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28826317-7832-D660-8DAA-5F7D1727B023}"/>
              </a:ext>
            </a:extLst>
          </p:cNvPr>
          <p:cNvGraphicFramePr>
            <a:graphicFrameLocks noGrp="1"/>
          </p:cNvGraphicFramePr>
          <p:nvPr/>
        </p:nvGraphicFramePr>
        <p:xfrm>
          <a:off x="6248499" y="3552067"/>
          <a:ext cx="37392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805">
                  <a:extLst>
                    <a:ext uri="{9D8B030D-6E8A-4147-A177-3AD203B41FA5}">
                      <a16:colId xmlns:a16="http://schemas.microsoft.com/office/drawing/2014/main" val="2799975222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091666980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434074081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331076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5904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6B7FE8B-D2B1-9FBD-6A44-FED0209F5909}"/>
              </a:ext>
            </a:extLst>
          </p:cNvPr>
          <p:cNvGraphicFramePr>
            <a:graphicFrameLocks noGrp="1"/>
          </p:cNvGraphicFramePr>
          <p:nvPr/>
        </p:nvGraphicFramePr>
        <p:xfrm>
          <a:off x="1859721" y="5170925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B7370922-B22C-9B7E-83C6-22F0702B240F}"/>
              </a:ext>
            </a:extLst>
          </p:cNvPr>
          <p:cNvGraphicFramePr>
            <a:graphicFrameLocks noGrp="1"/>
          </p:cNvGraphicFramePr>
          <p:nvPr/>
        </p:nvGraphicFramePr>
        <p:xfrm>
          <a:off x="4482221" y="5170925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98550ED2-1A33-7E0B-512C-43B5E7CB5D15}"/>
              </a:ext>
            </a:extLst>
          </p:cNvPr>
          <p:cNvGraphicFramePr>
            <a:graphicFrameLocks noGrp="1"/>
          </p:cNvGraphicFramePr>
          <p:nvPr/>
        </p:nvGraphicFramePr>
        <p:xfrm>
          <a:off x="6248499" y="5227122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graphicFrame>
        <p:nvGraphicFramePr>
          <p:cNvPr id="27" name="Table 7">
            <a:extLst>
              <a:ext uri="{FF2B5EF4-FFF2-40B4-BE49-F238E27FC236}">
                <a16:creationId xmlns:a16="http://schemas.microsoft.com/office/drawing/2014/main" id="{1EED2D07-7A17-D668-9B9D-FE43CE0E86C1}"/>
              </a:ext>
            </a:extLst>
          </p:cNvPr>
          <p:cNvGraphicFramePr>
            <a:graphicFrameLocks noGrp="1"/>
          </p:cNvGraphicFramePr>
          <p:nvPr/>
        </p:nvGraphicFramePr>
        <p:xfrm>
          <a:off x="8870999" y="5227122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05DA71-AF93-762E-BC81-D1CF645AA471}"/>
              </a:ext>
            </a:extLst>
          </p:cNvPr>
          <p:cNvCxnSpPr>
            <a:endCxn id="6" idx="0"/>
          </p:cNvCxnSpPr>
          <p:nvPr/>
        </p:nvCxnSpPr>
        <p:spPr>
          <a:xfrm flipH="1">
            <a:off x="3729331" y="2057915"/>
            <a:ext cx="2193167" cy="14941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5DC403-0C4E-DDB9-7A0D-A77E3A90B21F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>
          <a:xfrm>
            <a:off x="5923721" y="2057915"/>
            <a:ext cx="2194388" cy="14941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6410799-93DD-D6DD-D32F-A59C28AC9F0E}"/>
              </a:ext>
            </a:extLst>
          </p:cNvPr>
          <p:cNvCxnSpPr>
            <a:cxnSpLocks/>
            <a:stCxn id="19" idx="2"/>
            <a:endCxn id="27" idx="0"/>
          </p:cNvCxnSpPr>
          <p:nvPr/>
        </p:nvCxnSpPr>
        <p:spPr>
          <a:xfrm>
            <a:off x="8118109" y="3922907"/>
            <a:ext cx="1311250" cy="13042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ED8618-A8F5-C95B-E22B-8A734E5D1C4F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6806859" y="3922906"/>
            <a:ext cx="1311250" cy="13042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4B3D46-A2A1-3CD6-5E09-3258AF318DA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418081" y="3922907"/>
            <a:ext cx="1311250" cy="12480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F5F2D5-BBDB-67F5-412A-A30BB986356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729331" y="3922907"/>
            <a:ext cx="1311250" cy="12761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016E98F-8073-3315-52D5-18B2745B37E6}"/>
              </a:ext>
            </a:extLst>
          </p:cNvPr>
          <p:cNvSpPr txBox="1"/>
          <p:nvPr/>
        </p:nvSpPr>
        <p:spPr>
          <a:xfrm>
            <a:off x="675249" y="1872495"/>
            <a:ext cx="6261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D</a:t>
            </a:r>
          </a:p>
          <a:p>
            <a:r>
              <a:rPr lang="en-IN" sz="4000" b="1" dirty="0">
                <a:solidFill>
                  <a:srgbClr val="FF0000"/>
                </a:solidFill>
              </a:rPr>
              <a:t>I</a:t>
            </a:r>
          </a:p>
          <a:p>
            <a:r>
              <a:rPr lang="en-IN" sz="4000" b="1" dirty="0">
                <a:solidFill>
                  <a:srgbClr val="FF0000"/>
                </a:solidFill>
              </a:rPr>
              <a:t>V</a:t>
            </a:r>
          </a:p>
          <a:p>
            <a:r>
              <a:rPr lang="en-IN" sz="4000" b="1" dirty="0">
                <a:solidFill>
                  <a:srgbClr val="FF0000"/>
                </a:solidFill>
              </a:rPr>
              <a:t>I</a:t>
            </a:r>
          </a:p>
          <a:p>
            <a:r>
              <a:rPr lang="en-IN" sz="4000" b="1" dirty="0">
                <a:solidFill>
                  <a:srgbClr val="FF0000"/>
                </a:solidFill>
              </a:rPr>
              <a:t>D</a:t>
            </a:r>
          </a:p>
          <a:p>
            <a:r>
              <a:rPr lang="en-IN" sz="40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BCFFD7-03B4-6358-EEB8-A2E15E114714}"/>
              </a:ext>
            </a:extLst>
          </p:cNvPr>
          <p:cNvSpPr txBox="1"/>
          <p:nvPr/>
        </p:nvSpPr>
        <p:spPr>
          <a:xfrm>
            <a:off x="10635175" y="1828800"/>
            <a:ext cx="8583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C000"/>
                </a:solidFill>
              </a:rPr>
              <a:t>C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O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N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Q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U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E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94559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8D3338-6C62-C585-D1E7-0D17813FB639}"/>
              </a:ext>
            </a:extLst>
          </p:cNvPr>
          <p:cNvGrpSpPr/>
          <p:nvPr/>
        </p:nvGrpSpPr>
        <p:grpSpPr>
          <a:xfrm>
            <a:off x="-43542" y="0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6B1585-BFA2-415B-BC25-73BF31B5903A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9AEA2B-B8A7-10EB-714A-B63B373BE1D7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Max-Min Problem</a:t>
              </a:r>
              <a:endParaRPr lang="en-IN" sz="4000" dirty="0">
                <a:solidFill>
                  <a:srgbClr val="003399"/>
                </a:solidFill>
                <a:latin typeface="Amasis MT Pro Black" panose="02040A04050005020304" pitchFamily="18" charset="0"/>
              </a:endParaRPr>
            </a:p>
          </p:txBody>
        </p:sp>
      </p:grp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BFE7C34-C920-B228-E562-A174A08E10A3}"/>
              </a:ext>
            </a:extLst>
          </p:cNvPr>
          <p:cNvGraphicFramePr>
            <a:graphicFrameLocks noGrp="1"/>
          </p:cNvGraphicFramePr>
          <p:nvPr/>
        </p:nvGraphicFramePr>
        <p:xfrm>
          <a:off x="1859721" y="168707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7924622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6305778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9977746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7993822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6293605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2451142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7606189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92686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09212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E75FD95-63E8-43DD-E527-CD31CEDDCA40}"/>
              </a:ext>
            </a:extLst>
          </p:cNvPr>
          <p:cNvGraphicFramePr>
            <a:graphicFrameLocks noGrp="1"/>
          </p:cNvGraphicFramePr>
          <p:nvPr/>
        </p:nvGraphicFramePr>
        <p:xfrm>
          <a:off x="1859721" y="3552067"/>
          <a:ext cx="37392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805">
                  <a:extLst>
                    <a:ext uri="{9D8B030D-6E8A-4147-A177-3AD203B41FA5}">
                      <a16:colId xmlns:a16="http://schemas.microsoft.com/office/drawing/2014/main" val="2799975222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091666980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434074081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331076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59043"/>
                  </a:ext>
                </a:extLst>
              </a:tr>
            </a:tbl>
          </a:graphicData>
        </a:graphic>
      </p:graphicFrame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28826317-7832-D660-8DAA-5F7D1727B023}"/>
              </a:ext>
            </a:extLst>
          </p:cNvPr>
          <p:cNvGraphicFramePr>
            <a:graphicFrameLocks noGrp="1"/>
          </p:cNvGraphicFramePr>
          <p:nvPr/>
        </p:nvGraphicFramePr>
        <p:xfrm>
          <a:off x="6248499" y="3552067"/>
          <a:ext cx="37392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805">
                  <a:extLst>
                    <a:ext uri="{9D8B030D-6E8A-4147-A177-3AD203B41FA5}">
                      <a16:colId xmlns:a16="http://schemas.microsoft.com/office/drawing/2014/main" val="2799975222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091666980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1434074081"/>
                    </a:ext>
                  </a:extLst>
                </a:gridCol>
                <a:gridCol w="934805">
                  <a:extLst>
                    <a:ext uri="{9D8B030D-6E8A-4147-A177-3AD203B41FA5}">
                      <a16:colId xmlns:a16="http://schemas.microsoft.com/office/drawing/2014/main" val="33107630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59043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6B7FE8B-D2B1-9FBD-6A44-FED0209F5909}"/>
              </a:ext>
            </a:extLst>
          </p:cNvPr>
          <p:cNvGraphicFramePr>
            <a:graphicFrameLocks noGrp="1"/>
          </p:cNvGraphicFramePr>
          <p:nvPr/>
        </p:nvGraphicFramePr>
        <p:xfrm>
          <a:off x="1859721" y="5170925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graphicFrame>
        <p:nvGraphicFramePr>
          <p:cNvPr id="25" name="Table 7">
            <a:extLst>
              <a:ext uri="{FF2B5EF4-FFF2-40B4-BE49-F238E27FC236}">
                <a16:creationId xmlns:a16="http://schemas.microsoft.com/office/drawing/2014/main" id="{B7370922-B22C-9B7E-83C6-22F0702B240F}"/>
              </a:ext>
            </a:extLst>
          </p:cNvPr>
          <p:cNvGraphicFramePr>
            <a:graphicFrameLocks noGrp="1"/>
          </p:cNvGraphicFramePr>
          <p:nvPr/>
        </p:nvGraphicFramePr>
        <p:xfrm>
          <a:off x="4482221" y="5170925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graphicFrame>
        <p:nvGraphicFramePr>
          <p:cNvPr id="26" name="Table 7">
            <a:extLst>
              <a:ext uri="{FF2B5EF4-FFF2-40B4-BE49-F238E27FC236}">
                <a16:creationId xmlns:a16="http://schemas.microsoft.com/office/drawing/2014/main" id="{98550ED2-1A33-7E0B-512C-43B5E7CB5D15}"/>
              </a:ext>
            </a:extLst>
          </p:cNvPr>
          <p:cNvGraphicFramePr>
            <a:graphicFrameLocks noGrp="1"/>
          </p:cNvGraphicFramePr>
          <p:nvPr/>
        </p:nvGraphicFramePr>
        <p:xfrm>
          <a:off x="6248499" y="5227122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graphicFrame>
        <p:nvGraphicFramePr>
          <p:cNvPr id="27" name="Table 7">
            <a:extLst>
              <a:ext uri="{FF2B5EF4-FFF2-40B4-BE49-F238E27FC236}">
                <a16:creationId xmlns:a16="http://schemas.microsoft.com/office/drawing/2014/main" id="{1EED2D07-7A17-D668-9B9D-FE43CE0E86C1}"/>
              </a:ext>
            </a:extLst>
          </p:cNvPr>
          <p:cNvGraphicFramePr>
            <a:graphicFrameLocks noGrp="1"/>
          </p:cNvGraphicFramePr>
          <p:nvPr/>
        </p:nvGraphicFramePr>
        <p:xfrm>
          <a:off x="8870999" y="5227122"/>
          <a:ext cx="11167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60">
                  <a:extLst>
                    <a:ext uri="{9D8B030D-6E8A-4147-A177-3AD203B41FA5}">
                      <a16:colId xmlns:a16="http://schemas.microsoft.com/office/drawing/2014/main" val="1201180946"/>
                    </a:ext>
                  </a:extLst>
                </a:gridCol>
                <a:gridCol w="558360">
                  <a:extLst>
                    <a:ext uri="{9D8B030D-6E8A-4147-A177-3AD203B41FA5}">
                      <a16:colId xmlns:a16="http://schemas.microsoft.com/office/drawing/2014/main" val="1454088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610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05DA71-AF93-762E-BC81-D1CF645AA471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3729331" y="2057915"/>
            <a:ext cx="2194390" cy="14941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5DC403-0C4E-DDB9-7A0D-A77E3A90B21F}"/>
              </a:ext>
            </a:extLst>
          </p:cNvPr>
          <p:cNvCxnSpPr>
            <a:cxnSpLocks/>
            <a:stCxn id="19" idx="0"/>
            <a:endCxn id="5" idx="2"/>
          </p:cNvCxnSpPr>
          <p:nvPr/>
        </p:nvCxnSpPr>
        <p:spPr>
          <a:xfrm flipH="1" flipV="1">
            <a:off x="5923721" y="2057915"/>
            <a:ext cx="2194388" cy="14941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6410799-93DD-D6DD-D32F-A59C28AC9F0E}"/>
              </a:ext>
            </a:extLst>
          </p:cNvPr>
          <p:cNvCxnSpPr>
            <a:cxnSpLocks/>
            <a:stCxn id="27" idx="0"/>
            <a:endCxn id="19" idx="2"/>
          </p:cNvCxnSpPr>
          <p:nvPr/>
        </p:nvCxnSpPr>
        <p:spPr>
          <a:xfrm flipH="1" flipV="1">
            <a:off x="8118109" y="3922907"/>
            <a:ext cx="1311250" cy="13042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ED8618-A8F5-C95B-E22B-8A734E5D1C4F}"/>
              </a:ext>
            </a:extLst>
          </p:cNvPr>
          <p:cNvCxnSpPr>
            <a:cxnSpLocks/>
            <a:stCxn id="26" idx="0"/>
            <a:endCxn id="19" idx="2"/>
          </p:cNvCxnSpPr>
          <p:nvPr/>
        </p:nvCxnSpPr>
        <p:spPr>
          <a:xfrm flipV="1">
            <a:off x="6806859" y="3922907"/>
            <a:ext cx="1311250" cy="13042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4B3D46-A2A1-3CD6-5E09-3258AF318DA0}"/>
              </a:ext>
            </a:extLst>
          </p:cNvPr>
          <p:cNvCxnSpPr>
            <a:cxnSpLocks/>
          </p:cNvCxnSpPr>
          <p:nvPr/>
        </p:nvCxnSpPr>
        <p:spPr>
          <a:xfrm flipV="1">
            <a:off x="2418081" y="3813959"/>
            <a:ext cx="1205814" cy="13657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F5F2D5-BBDB-67F5-412A-A30BB986356A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3633118" y="3813959"/>
            <a:ext cx="1407463" cy="13569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DBCFFD7-03B4-6358-EEB8-A2E15E114714}"/>
              </a:ext>
            </a:extLst>
          </p:cNvPr>
          <p:cNvSpPr txBox="1"/>
          <p:nvPr/>
        </p:nvSpPr>
        <p:spPr>
          <a:xfrm>
            <a:off x="10635175" y="1828800"/>
            <a:ext cx="8583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C000"/>
                </a:solidFill>
              </a:rPr>
              <a:t>C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O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M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B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I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N</a:t>
            </a:r>
          </a:p>
          <a:p>
            <a:r>
              <a:rPr lang="en-IN" sz="3600" b="1" dirty="0">
                <a:solidFill>
                  <a:srgbClr val="FFC000"/>
                </a:solidFill>
              </a:rPr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5068CB-D93B-03ED-A93F-4491792AEBFF}"/>
              </a:ext>
            </a:extLst>
          </p:cNvPr>
          <p:cNvSpPr txBox="1"/>
          <p:nvPr/>
        </p:nvSpPr>
        <p:spPr>
          <a:xfrm>
            <a:off x="1702191" y="5799118"/>
            <a:ext cx="127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=7</a:t>
            </a:r>
          </a:p>
          <a:p>
            <a:r>
              <a:rPr lang="en-IN" dirty="0"/>
              <a:t>Max =9</a:t>
            </a:r>
          </a:p>
          <a:p>
            <a:r>
              <a:rPr lang="en-IN" dirty="0">
                <a:solidFill>
                  <a:srgbClr val="0070C0"/>
                </a:solidFill>
              </a:rPr>
              <a:t>C=1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112D1A-422A-B727-2116-F566D45D7D29}"/>
              </a:ext>
            </a:extLst>
          </p:cNvPr>
          <p:cNvSpPr txBox="1"/>
          <p:nvPr/>
        </p:nvSpPr>
        <p:spPr>
          <a:xfrm>
            <a:off x="4482221" y="5800002"/>
            <a:ext cx="127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=10</a:t>
            </a:r>
          </a:p>
          <a:p>
            <a:r>
              <a:rPr lang="en-IN" dirty="0"/>
              <a:t>Max =20</a:t>
            </a:r>
          </a:p>
          <a:p>
            <a:r>
              <a:rPr lang="en-IN" dirty="0">
                <a:solidFill>
                  <a:srgbClr val="0070C0"/>
                </a:solidFill>
              </a:rPr>
              <a:t>C=1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E583BC-CCAB-988E-4F7D-B05FBBA9C837}"/>
              </a:ext>
            </a:extLst>
          </p:cNvPr>
          <p:cNvSpPr txBox="1"/>
          <p:nvPr/>
        </p:nvSpPr>
        <p:spPr>
          <a:xfrm>
            <a:off x="6246397" y="5799117"/>
            <a:ext cx="127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=6</a:t>
            </a:r>
          </a:p>
          <a:p>
            <a:r>
              <a:rPr lang="en-IN" dirty="0"/>
              <a:t>Max =11</a:t>
            </a:r>
          </a:p>
          <a:p>
            <a:r>
              <a:rPr lang="en-IN" dirty="0">
                <a:solidFill>
                  <a:srgbClr val="0070C0"/>
                </a:solidFill>
              </a:rPr>
              <a:t>C=1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973464-9949-FBF6-A5BA-90F36295CD67}"/>
              </a:ext>
            </a:extLst>
          </p:cNvPr>
          <p:cNvSpPr txBox="1"/>
          <p:nvPr/>
        </p:nvSpPr>
        <p:spPr>
          <a:xfrm>
            <a:off x="8885237" y="5799116"/>
            <a:ext cx="127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=1</a:t>
            </a:r>
          </a:p>
          <a:p>
            <a:r>
              <a:rPr lang="en-IN" dirty="0"/>
              <a:t>Max =21</a:t>
            </a:r>
          </a:p>
          <a:p>
            <a:r>
              <a:rPr lang="en-IN" dirty="0">
                <a:solidFill>
                  <a:srgbClr val="0070C0"/>
                </a:solidFill>
              </a:rPr>
              <a:t>C=1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0E4229-E98F-0035-F26A-06E8F1EBDA78}"/>
              </a:ext>
            </a:extLst>
          </p:cNvPr>
          <p:cNvSpPr txBox="1"/>
          <p:nvPr/>
        </p:nvSpPr>
        <p:spPr>
          <a:xfrm>
            <a:off x="8267747" y="2679076"/>
            <a:ext cx="127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=1</a:t>
            </a:r>
          </a:p>
          <a:p>
            <a:r>
              <a:rPr lang="en-IN" dirty="0"/>
              <a:t>Max =21</a:t>
            </a:r>
          </a:p>
          <a:p>
            <a:r>
              <a:rPr lang="en-IN" dirty="0">
                <a:solidFill>
                  <a:srgbClr val="0070C0"/>
                </a:solidFill>
              </a:rPr>
              <a:t>C= 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E136CE-EF55-D8BF-4123-EEB0C7AD84FA}"/>
              </a:ext>
            </a:extLst>
          </p:cNvPr>
          <p:cNvSpPr txBox="1"/>
          <p:nvPr/>
        </p:nvSpPr>
        <p:spPr>
          <a:xfrm>
            <a:off x="2741809" y="2651696"/>
            <a:ext cx="127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=7</a:t>
            </a:r>
          </a:p>
          <a:p>
            <a:r>
              <a:rPr lang="en-IN" dirty="0"/>
              <a:t>Max =20</a:t>
            </a:r>
          </a:p>
          <a:p>
            <a:r>
              <a:rPr lang="en-IN" dirty="0">
                <a:solidFill>
                  <a:srgbClr val="0070C0"/>
                </a:solidFill>
              </a:rPr>
              <a:t>C=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9FBD75-18D6-67B9-F345-79AC4CB8739F}"/>
              </a:ext>
            </a:extLst>
          </p:cNvPr>
          <p:cNvSpPr txBox="1"/>
          <p:nvPr/>
        </p:nvSpPr>
        <p:spPr>
          <a:xfrm>
            <a:off x="5286595" y="987841"/>
            <a:ext cx="346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Min =1;  Max =21 , </a:t>
            </a:r>
            <a:r>
              <a:rPr lang="en-IN" dirty="0">
                <a:solidFill>
                  <a:srgbClr val="0070C0"/>
                </a:solidFill>
              </a:rPr>
              <a:t>C = 2</a:t>
            </a:r>
          </a:p>
        </p:txBody>
      </p:sp>
    </p:spTree>
    <p:extLst>
      <p:ext uri="{BB962C8B-B14F-4D97-AF65-F5344CB8AC3E}">
        <p14:creationId xmlns:p14="http://schemas.microsoft.com/office/powerpoint/2010/main" val="320835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9" grpId="0"/>
      <p:bldP spid="40" grpId="0"/>
      <p:bldP spid="41" grpId="0"/>
      <p:bldP spid="42" grpId="0"/>
      <p:bldP spid="45" grpId="0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8D3338-6C62-C585-D1E7-0D17813FB639}"/>
              </a:ext>
            </a:extLst>
          </p:cNvPr>
          <p:cNvGrpSpPr/>
          <p:nvPr/>
        </p:nvGrpSpPr>
        <p:grpSpPr>
          <a:xfrm>
            <a:off x="-43542" y="0"/>
            <a:ext cx="12192000" cy="809897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6B1585-BFA2-415B-BC25-73BF31B5903A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9AEA2B-B8A7-10EB-714A-B63B373BE1D7}"/>
                </a:ext>
              </a:extLst>
            </p:cNvPr>
            <p:cNvSpPr txBox="1"/>
            <p:nvPr/>
          </p:nvSpPr>
          <p:spPr>
            <a:xfrm>
              <a:off x="-134982" y="900091"/>
              <a:ext cx="121920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Max-Min Problem</a:t>
              </a:r>
              <a:endParaRPr lang="en-IN" sz="4000" dirty="0">
                <a:solidFill>
                  <a:srgbClr val="003399"/>
                </a:solidFill>
                <a:latin typeface="Amasis MT Pro Black" panose="02040A04050005020304" pitchFamily="18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9815C1-2AF9-6659-756C-7AB573E92B0D}"/>
              </a:ext>
            </a:extLst>
          </p:cNvPr>
          <p:cNvSpPr txBox="1"/>
          <p:nvPr/>
        </p:nvSpPr>
        <p:spPr>
          <a:xfrm>
            <a:off x="318052" y="1113183"/>
            <a:ext cx="9395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Recursive Case</a:t>
            </a:r>
            <a:r>
              <a:rPr lang="en-IN" dirty="0"/>
              <a:t>: if n &gt; 2     Use divide conquer and combine approach</a:t>
            </a:r>
          </a:p>
          <a:p>
            <a:r>
              <a:rPr lang="en-IN" dirty="0"/>
              <a:t>							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51AED-1375-59DF-639C-0F15F29FA3B8}"/>
              </a:ext>
            </a:extLst>
          </p:cNvPr>
          <p:cNvSpPr txBox="1"/>
          <p:nvPr/>
        </p:nvSpPr>
        <p:spPr>
          <a:xfrm>
            <a:off x="2160104" y="1577009"/>
            <a:ext cx="7354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Divide the list into two half </a:t>
            </a:r>
          </a:p>
          <a:p>
            <a:pPr marL="342900" indent="-342900">
              <a:buAutoNum type="arabicPeriod"/>
            </a:pPr>
            <a:r>
              <a:rPr lang="en-IN" dirty="0"/>
              <a:t>Find min and max recursively of left half and right half</a:t>
            </a:r>
          </a:p>
          <a:p>
            <a:pPr marL="342900" indent="-342900">
              <a:buAutoNum type="arabicPeriod"/>
            </a:pPr>
            <a:r>
              <a:rPr lang="en-IN" dirty="0"/>
              <a:t>Find the min and max of entire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AC7A7-392B-0912-6606-5CC2B08B1B79}"/>
              </a:ext>
            </a:extLst>
          </p:cNvPr>
          <p:cNvSpPr/>
          <p:nvPr/>
        </p:nvSpPr>
        <p:spPr>
          <a:xfrm>
            <a:off x="795130" y="2902226"/>
            <a:ext cx="9846366" cy="52677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 list of n numbers (n&gt;2)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21A072-4EAD-45C5-37FD-C742F1D6E463}"/>
              </a:ext>
            </a:extLst>
          </p:cNvPr>
          <p:cNvSpPr/>
          <p:nvPr/>
        </p:nvSpPr>
        <p:spPr>
          <a:xfrm>
            <a:off x="795130" y="4360471"/>
            <a:ext cx="4598504" cy="6463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Left Half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71BDF3-0251-BC43-81B8-28585C084B17}"/>
              </a:ext>
            </a:extLst>
          </p:cNvPr>
          <p:cNvSpPr/>
          <p:nvPr/>
        </p:nvSpPr>
        <p:spPr>
          <a:xfrm>
            <a:off x="6042992" y="4357661"/>
            <a:ext cx="4598504" cy="6463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Right Half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8FB206-2C40-55B8-046C-C73D381AC6B7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3094382" y="3429000"/>
            <a:ext cx="2623931" cy="9314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560EBD-62BA-D186-00F8-265D2EABF377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5718313" y="3429000"/>
            <a:ext cx="2623931" cy="92866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C619C95-D89E-077F-1289-05742F7A7F37}"/>
              </a:ext>
            </a:extLst>
          </p:cNvPr>
          <p:cNvSpPr txBox="1"/>
          <p:nvPr/>
        </p:nvSpPr>
        <p:spPr>
          <a:xfrm>
            <a:off x="1643270" y="5194852"/>
            <a:ext cx="251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min</a:t>
            </a:r>
            <a:r>
              <a:rPr lang="en-IN" b="1" baseline="-25000" dirty="0" err="1"/>
              <a:t>L</a:t>
            </a:r>
            <a:r>
              <a:rPr lang="en-IN" b="1" dirty="0"/>
              <a:t>, </a:t>
            </a:r>
            <a:r>
              <a:rPr lang="en-IN" b="1" dirty="0" err="1"/>
              <a:t>max</a:t>
            </a:r>
            <a:r>
              <a:rPr lang="en-IN" b="1" baseline="-25000" dirty="0" err="1"/>
              <a:t>L</a:t>
            </a:r>
            <a:endParaRPr lang="en-IN" b="1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6EBB81-F507-268C-5132-FAB0A7D31041}"/>
              </a:ext>
            </a:extLst>
          </p:cNvPr>
          <p:cNvSpPr txBox="1"/>
          <p:nvPr/>
        </p:nvSpPr>
        <p:spPr>
          <a:xfrm>
            <a:off x="6851374" y="5280991"/>
            <a:ext cx="3087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/>
              <a:t>min</a:t>
            </a:r>
            <a:r>
              <a:rPr lang="en-IN" b="1" baseline="-25000" dirty="0" err="1"/>
              <a:t>R</a:t>
            </a:r>
            <a:r>
              <a:rPr lang="en-IN" b="1" dirty="0"/>
              <a:t>, </a:t>
            </a:r>
            <a:r>
              <a:rPr lang="en-IN" b="1" dirty="0" err="1"/>
              <a:t>max</a:t>
            </a:r>
            <a:r>
              <a:rPr lang="en-IN" b="1" baseline="-25000" dirty="0" err="1"/>
              <a:t>R</a:t>
            </a:r>
            <a:endParaRPr lang="en-IN" b="1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F6194-A27E-036A-353F-70902EBCC5AD}"/>
              </a:ext>
            </a:extLst>
          </p:cNvPr>
          <p:cNvSpPr txBox="1"/>
          <p:nvPr/>
        </p:nvSpPr>
        <p:spPr>
          <a:xfrm>
            <a:off x="2484782" y="5935463"/>
            <a:ext cx="412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Min = minimum(</a:t>
            </a:r>
            <a:r>
              <a:rPr lang="en-IN" b="1" dirty="0" err="1">
                <a:solidFill>
                  <a:srgbClr val="002060"/>
                </a:solidFill>
              </a:rPr>
              <a:t>min</a:t>
            </a:r>
            <a:r>
              <a:rPr lang="en-IN" b="1" baseline="-25000" dirty="0" err="1">
                <a:solidFill>
                  <a:srgbClr val="002060"/>
                </a:solidFill>
              </a:rPr>
              <a:t>L</a:t>
            </a:r>
            <a:r>
              <a:rPr lang="en-IN" b="1" dirty="0">
                <a:solidFill>
                  <a:srgbClr val="002060"/>
                </a:solidFill>
              </a:rPr>
              <a:t>, </a:t>
            </a:r>
            <a:r>
              <a:rPr lang="en-IN" b="1" dirty="0" err="1">
                <a:solidFill>
                  <a:srgbClr val="002060"/>
                </a:solidFill>
              </a:rPr>
              <a:t>min</a:t>
            </a:r>
            <a:r>
              <a:rPr lang="en-IN" b="1" baseline="-25000" dirty="0" err="1">
                <a:solidFill>
                  <a:srgbClr val="002060"/>
                </a:solidFill>
              </a:rPr>
              <a:t>R</a:t>
            </a:r>
            <a:r>
              <a:rPr lang="en-IN" b="1" dirty="0">
                <a:solidFill>
                  <a:srgbClr val="002060"/>
                </a:solidFill>
              </a:rPr>
              <a:t>)</a:t>
            </a:r>
          </a:p>
          <a:p>
            <a:r>
              <a:rPr lang="en-IN" b="1" dirty="0">
                <a:solidFill>
                  <a:srgbClr val="002060"/>
                </a:solidFill>
              </a:rPr>
              <a:t>Max = maximum(</a:t>
            </a:r>
            <a:r>
              <a:rPr lang="en-IN" b="1" dirty="0" err="1">
                <a:solidFill>
                  <a:srgbClr val="002060"/>
                </a:solidFill>
              </a:rPr>
              <a:t>max</a:t>
            </a:r>
            <a:r>
              <a:rPr lang="en-IN" b="1" baseline="-25000" dirty="0" err="1">
                <a:solidFill>
                  <a:srgbClr val="002060"/>
                </a:solidFill>
              </a:rPr>
              <a:t>L</a:t>
            </a:r>
            <a:r>
              <a:rPr lang="en-IN" b="1" dirty="0">
                <a:solidFill>
                  <a:srgbClr val="002060"/>
                </a:solidFill>
              </a:rPr>
              <a:t>, </a:t>
            </a:r>
            <a:r>
              <a:rPr lang="en-IN" b="1" dirty="0" err="1">
                <a:solidFill>
                  <a:srgbClr val="002060"/>
                </a:solidFill>
              </a:rPr>
              <a:t>max</a:t>
            </a:r>
            <a:r>
              <a:rPr lang="en-IN" b="1" baseline="-25000" dirty="0" err="1">
                <a:solidFill>
                  <a:srgbClr val="002060"/>
                </a:solidFill>
              </a:rPr>
              <a:t>R</a:t>
            </a:r>
            <a:r>
              <a:rPr lang="en-IN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B76286BA-9C89-BE25-9A2C-735C23A03522}"/>
              </a:ext>
            </a:extLst>
          </p:cNvPr>
          <p:cNvSpPr/>
          <p:nvPr/>
        </p:nvSpPr>
        <p:spPr>
          <a:xfrm>
            <a:off x="7553740" y="5935463"/>
            <a:ext cx="3087756" cy="756885"/>
          </a:xfrm>
          <a:prstGeom prst="wedgeRoundRectCallout">
            <a:avLst>
              <a:gd name="adj1" fmla="val -100000"/>
              <a:gd name="adj2" fmla="val -40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 of Comparison =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20F3C-F172-9F2E-F166-95D3F7AE4328}"/>
              </a:ext>
            </a:extLst>
          </p:cNvPr>
          <p:cNvSpPr txBox="1"/>
          <p:nvPr/>
        </p:nvSpPr>
        <p:spPr>
          <a:xfrm>
            <a:off x="10958732" y="2902226"/>
            <a:ext cx="98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0000"/>
                </a:highlight>
              </a:rPr>
              <a:t>T(n)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49AD6C-AF54-4C1B-5340-16168B73652F}"/>
              </a:ext>
            </a:extLst>
          </p:cNvPr>
          <p:cNvSpPr txBox="1"/>
          <p:nvPr/>
        </p:nvSpPr>
        <p:spPr>
          <a:xfrm>
            <a:off x="2434322" y="3928422"/>
            <a:ext cx="98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0000"/>
                </a:highlight>
              </a:rPr>
              <a:t>T(n/2)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B5BADF-EAD0-A54B-CC4B-71F428F8A462}"/>
              </a:ext>
            </a:extLst>
          </p:cNvPr>
          <p:cNvSpPr txBox="1"/>
          <p:nvPr/>
        </p:nvSpPr>
        <p:spPr>
          <a:xfrm>
            <a:off x="8605248" y="3928422"/>
            <a:ext cx="98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FF0000"/>
                </a:highlight>
              </a:rPr>
              <a:t>T(n/2)</a:t>
            </a:r>
          </a:p>
        </p:txBody>
      </p:sp>
    </p:spTree>
    <p:extLst>
      <p:ext uri="{BB962C8B-B14F-4D97-AF65-F5344CB8AC3E}">
        <p14:creationId xmlns:p14="http://schemas.microsoft.com/office/powerpoint/2010/main" val="197401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A1C847-05CD-4E5C-4478-4696DB20715F}"/>
              </a:ext>
            </a:extLst>
          </p:cNvPr>
          <p:cNvGrpSpPr/>
          <p:nvPr/>
        </p:nvGrpSpPr>
        <p:grpSpPr>
          <a:xfrm>
            <a:off x="0" y="0"/>
            <a:ext cx="12192000" cy="1406769"/>
            <a:chOff x="-134982" y="849086"/>
            <a:chExt cx="12192000" cy="8098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49935D1-1E91-A2E9-CD9A-23012A1FB21E}"/>
                </a:ext>
              </a:extLst>
            </p:cNvPr>
            <p:cNvSpPr/>
            <p:nvPr/>
          </p:nvSpPr>
          <p:spPr>
            <a:xfrm>
              <a:off x="-134982" y="849086"/>
              <a:ext cx="12192000" cy="8098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B6B0BD-E323-FAB1-C735-A3827635738A}"/>
                </a:ext>
              </a:extLst>
            </p:cNvPr>
            <p:cNvSpPr txBox="1"/>
            <p:nvPr/>
          </p:nvSpPr>
          <p:spPr>
            <a:xfrm>
              <a:off x="-134982" y="1045873"/>
              <a:ext cx="12192000" cy="407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Designing Recurrence Relation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5C8D11D-0C37-0645-7105-0AA2136F949A}"/>
              </a:ext>
            </a:extLst>
          </p:cNvPr>
          <p:cNvSpPr txBox="1"/>
          <p:nvPr/>
        </p:nvSpPr>
        <p:spPr>
          <a:xfrm>
            <a:off x="2157046" y="2867539"/>
            <a:ext cx="70619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2060"/>
                </a:solidFill>
              </a:rPr>
              <a:t>T(n) = T(n/2) + T(n/2) + 2;   T(2) = 1</a:t>
            </a:r>
          </a:p>
          <a:p>
            <a:endParaRPr lang="en-IN" sz="3200" b="1" dirty="0">
              <a:solidFill>
                <a:srgbClr val="002060"/>
              </a:solidFill>
            </a:endParaRPr>
          </a:p>
          <a:p>
            <a:r>
              <a:rPr lang="en-IN" sz="3200" b="1" dirty="0">
                <a:solidFill>
                  <a:srgbClr val="002060"/>
                </a:solidFill>
              </a:rPr>
              <a:t>T(n) = 2T(n/2) + 2;     T(2) = 1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955247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D8D3338-6C62-C585-D1E7-0D17813FB639}"/>
              </a:ext>
            </a:extLst>
          </p:cNvPr>
          <p:cNvGrpSpPr/>
          <p:nvPr/>
        </p:nvGrpSpPr>
        <p:grpSpPr>
          <a:xfrm>
            <a:off x="0" y="0"/>
            <a:ext cx="12279084" cy="1044206"/>
            <a:chOff x="-134982" y="849086"/>
            <a:chExt cx="12279084" cy="52634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6B1585-BFA2-415B-BC25-73BF31B5903A}"/>
                </a:ext>
              </a:extLst>
            </p:cNvPr>
            <p:cNvSpPr/>
            <p:nvPr/>
          </p:nvSpPr>
          <p:spPr>
            <a:xfrm>
              <a:off x="-134982" y="849086"/>
              <a:ext cx="12192000" cy="5263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9AEA2B-B8A7-10EB-714A-B63B373BE1D7}"/>
                </a:ext>
              </a:extLst>
            </p:cNvPr>
            <p:cNvSpPr txBox="1"/>
            <p:nvPr/>
          </p:nvSpPr>
          <p:spPr>
            <a:xfrm>
              <a:off x="-47898" y="933850"/>
              <a:ext cx="12192000" cy="356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4000" dirty="0">
                  <a:solidFill>
                    <a:schemeClr val="bg1"/>
                  </a:solidFill>
                  <a:latin typeface="Amasis MT Pro Black" panose="02040A04050005020304" pitchFamily="18" charset="0"/>
                </a:rPr>
                <a:t>Designing Recurrence Relation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ADDAF8B-6DDC-D7EC-FE4B-081A56CC8C28}"/>
              </a:ext>
            </a:extLst>
          </p:cNvPr>
          <p:cNvSpPr txBox="1"/>
          <p:nvPr/>
        </p:nvSpPr>
        <p:spPr>
          <a:xfrm>
            <a:off x="182880" y="2205838"/>
            <a:ext cx="752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Solution:                         </a:t>
            </a:r>
            <a:r>
              <a:rPr lang="en-IN" b="1" dirty="0">
                <a:solidFill>
                  <a:srgbClr val="7030A0"/>
                </a:solidFill>
              </a:rPr>
              <a:t>T(n) = 2T(n/2) + 2 ; T(2) 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0C3211-2EF5-80FD-9CEF-30C951B063A4}"/>
                  </a:ext>
                </a:extLst>
              </p:cNvPr>
              <p:cNvSpPr txBox="1"/>
              <p:nvPr/>
            </p:nvSpPr>
            <p:spPr>
              <a:xfrm>
                <a:off x="2730137" y="2782389"/>
                <a:ext cx="4206240" cy="46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       = 2</a:t>
                </a:r>
                <a:r>
                  <a:rPr lang="en-IN" b="1" dirty="0">
                    <a:solidFill>
                      <a:srgbClr val="0070C0"/>
                    </a:solidFill>
                  </a:rPr>
                  <a:t>[2T(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sSup>
                          <m:sSupPr>
                            <m:ctrlPr>
                              <a:rPr lang="en-IN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IN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b="1" dirty="0">
                    <a:solidFill>
                      <a:srgbClr val="0070C0"/>
                    </a:solidFill>
                  </a:rPr>
                  <a:t>) + 2]</a:t>
                </a:r>
                <a:r>
                  <a:rPr lang="en-IN" b="1" dirty="0"/>
                  <a:t> + 2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0C3211-2EF5-80FD-9CEF-30C951B06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137" y="2782389"/>
                <a:ext cx="4206240" cy="461473"/>
              </a:xfrm>
              <a:prstGeom prst="rect">
                <a:avLst/>
              </a:prstGeom>
              <a:blipFill>
                <a:blip r:embed="rId2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0C9A5B-1621-D2B4-8BE4-EEBDD827D961}"/>
                  </a:ext>
                </a:extLst>
              </p:cNvPr>
              <p:cNvSpPr txBox="1"/>
              <p:nvPr/>
            </p:nvSpPr>
            <p:spPr>
              <a:xfrm>
                <a:off x="6818811" y="2828432"/>
                <a:ext cx="4794069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As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0C9A5B-1621-D2B4-8BE4-EEBDD827D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811" y="2828432"/>
                <a:ext cx="4794069" cy="506870"/>
              </a:xfrm>
              <a:prstGeom prst="rect">
                <a:avLst/>
              </a:prstGeom>
              <a:blipFill>
                <a:blip r:embed="rId3"/>
                <a:stretch>
                  <a:fillRect l="-1145" b="-6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D90630-E366-194D-875E-FF1C2251E546}"/>
                  </a:ext>
                </a:extLst>
              </p:cNvPr>
              <p:cNvSpPr txBox="1"/>
              <p:nvPr/>
            </p:nvSpPr>
            <p:spPr>
              <a:xfrm>
                <a:off x="3200400" y="3335302"/>
                <a:ext cx="2895600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D90630-E366-194D-875E-FF1C2251E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335302"/>
                <a:ext cx="2895600" cy="506870"/>
              </a:xfrm>
              <a:prstGeom prst="rect">
                <a:avLst/>
              </a:prstGeom>
              <a:blipFill>
                <a:blip r:embed="rId4"/>
                <a:stretch>
                  <a:fillRect l="-1684" b="-6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AC6030-9396-8B54-DB45-65720811B6F5}"/>
                  </a:ext>
                </a:extLst>
              </p:cNvPr>
              <p:cNvSpPr txBox="1"/>
              <p:nvPr/>
            </p:nvSpPr>
            <p:spPr>
              <a:xfrm>
                <a:off x="7511142" y="3958046"/>
                <a:ext cx="3409406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As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AC6030-9396-8B54-DB45-65720811B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1142" y="3958046"/>
                <a:ext cx="3409406" cy="506870"/>
              </a:xfrm>
              <a:prstGeom prst="rect">
                <a:avLst/>
              </a:prstGeom>
              <a:blipFill>
                <a:blip r:embed="rId7"/>
                <a:stretch>
                  <a:fillRect l="-1431" b="-6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ADBA4F-ED1E-E7AA-DD36-1CB6C9D5BF1D}"/>
                  </a:ext>
                </a:extLst>
              </p:cNvPr>
              <p:cNvSpPr txBox="1"/>
              <p:nvPr/>
            </p:nvSpPr>
            <p:spPr>
              <a:xfrm>
                <a:off x="3200400" y="3958046"/>
                <a:ext cx="3618411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d>
                          <m:d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sup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 +  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ADBA4F-ED1E-E7AA-DD36-1CB6C9D5B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3958046"/>
                <a:ext cx="3618411" cy="506870"/>
              </a:xfrm>
              <a:prstGeom prst="rect">
                <a:avLst/>
              </a:prstGeom>
              <a:blipFill>
                <a:blip r:embed="rId8"/>
                <a:stretch>
                  <a:fillRect l="-1347" b="-6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F37EF2-9C7C-1D1F-528C-3A396F73F2BD}"/>
                  </a:ext>
                </a:extLst>
              </p:cNvPr>
              <p:cNvSpPr txBox="1"/>
              <p:nvPr/>
            </p:nvSpPr>
            <p:spPr>
              <a:xfrm>
                <a:off x="3200400" y="4464916"/>
                <a:ext cx="3618411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F37EF2-9C7C-1D1F-528C-3A396F73F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464916"/>
                <a:ext cx="3618411" cy="506870"/>
              </a:xfrm>
              <a:prstGeom prst="rect">
                <a:avLst/>
              </a:prstGeom>
              <a:blipFill>
                <a:blip r:embed="rId9"/>
                <a:stretch>
                  <a:fillRect l="-1347" b="-47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5611079-176B-8310-22A1-59EFEAC4AEA7}"/>
              </a:ext>
            </a:extLst>
          </p:cNvPr>
          <p:cNvSpPr txBox="1"/>
          <p:nvPr/>
        </p:nvSpPr>
        <p:spPr>
          <a:xfrm>
            <a:off x="3200400" y="4833257"/>
            <a:ext cx="1306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.</a:t>
            </a:r>
          </a:p>
          <a:p>
            <a:r>
              <a:rPr lang="en-IN" b="1" dirty="0"/>
              <a:t>.</a:t>
            </a:r>
          </a:p>
          <a:p>
            <a:r>
              <a:rPr lang="en-IN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F64C7-A251-4B4C-17ED-F9E3EB8DF807}"/>
                  </a:ext>
                </a:extLst>
              </p:cNvPr>
              <p:cNvSpPr txBox="1"/>
              <p:nvPr/>
            </p:nvSpPr>
            <p:spPr>
              <a:xfrm>
                <a:off x="3200400" y="5645633"/>
                <a:ext cx="6936377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+…………… +  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1F64C7-A251-4B4C-17ED-F9E3EB8DF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5645633"/>
                <a:ext cx="6936377" cy="506870"/>
              </a:xfrm>
              <a:prstGeom prst="rect">
                <a:avLst/>
              </a:prstGeom>
              <a:blipFill>
                <a:blip r:embed="rId10"/>
                <a:stretch>
                  <a:fillRect l="-703" b="-6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02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F5AB66-A87E-EEAF-4A31-6DAC3BF91AD8}"/>
              </a:ext>
            </a:extLst>
          </p:cNvPr>
          <p:cNvSpPr txBox="1"/>
          <p:nvPr/>
        </p:nvSpPr>
        <p:spPr>
          <a:xfrm>
            <a:off x="1227908" y="1188720"/>
            <a:ext cx="846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Remember the base case </a:t>
            </a:r>
            <a:r>
              <a:rPr lang="en-IN" b="1" dirty="0">
                <a:solidFill>
                  <a:srgbClr val="FF0000"/>
                </a:solidFill>
              </a:rPr>
              <a:t>T(2)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0AA8C4-1D89-FF46-91C7-0A76E06DC877}"/>
                  </a:ext>
                </a:extLst>
              </p:cNvPr>
              <p:cNvSpPr txBox="1"/>
              <p:nvPr/>
            </p:nvSpPr>
            <p:spPr>
              <a:xfrm>
                <a:off x="1227908" y="511931"/>
                <a:ext cx="6936377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IN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+…………… +  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0AA8C4-1D89-FF46-91C7-0A76E06D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08" y="511931"/>
                <a:ext cx="6936377" cy="506870"/>
              </a:xfrm>
              <a:prstGeom prst="rect">
                <a:avLst/>
              </a:prstGeom>
              <a:blipFill>
                <a:blip r:embed="rId2"/>
                <a:stretch>
                  <a:fillRect l="-703" b="-60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0BB6B-40E8-E76C-EA1B-D64DD1F0CC6F}"/>
                  </a:ext>
                </a:extLst>
              </p:cNvPr>
              <p:cNvSpPr txBox="1"/>
              <p:nvPr/>
            </p:nvSpPr>
            <p:spPr>
              <a:xfrm>
                <a:off x="5316583" y="1082505"/>
                <a:ext cx="5120640" cy="581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sSup>
                            <m:sSupPr>
                              <m:ctrlPr>
                                <a:rPr lang="en-IN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IN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den>
                      </m:f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    →       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IN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0BB6B-40E8-E76C-EA1B-D64DD1F0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583" y="1082505"/>
                <a:ext cx="5120640" cy="5817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09AA7E-9586-F4E5-C307-AAA6010929F0}"/>
                  </a:ext>
                </a:extLst>
              </p:cNvPr>
              <p:cNvSpPr txBox="1"/>
              <p:nvPr/>
            </p:nvSpPr>
            <p:spPr>
              <a:xfrm>
                <a:off x="1132114" y="1834186"/>
                <a:ext cx="6936377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+…………… +  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09AA7E-9586-F4E5-C307-AAA601092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14" y="1834186"/>
                <a:ext cx="6936377" cy="376385"/>
              </a:xfrm>
              <a:prstGeom prst="rect">
                <a:avLst/>
              </a:prstGeom>
              <a:blipFill>
                <a:blip r:embed="rId5"/>
                <a:stretch>
                  <a:fillRect l="-791" t="-6452" b="-25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688995-BB1E-D5AC-E37C-84EBCED23111}"/>
                  </a:ext>
                </a:extLst>
              </p:cNvPr>
              <p:cNvSpPr txBox="1"/>
              <p:nvPr/>
            </p:nvSpPr>
            <p:spPr>
              <a:xfrm>
                <a:off x="1132114" y="2373437"/>
                <a:ext cx="6936377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+…………… +  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688995-BB1E-D5AC-E37C-84EBCED23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14" y="2373437"/>
                <a:ext cx="6936377" cy="376385"/>
              </a:xfrm>
              <a:prstGeom prst="rect">
                <a:avLst/>
              </a:prstGeom>
              <a:blipFill>
                <a:blip r:embed="rId6"/>
                <a:stretch>
                  <a:fillRect l="-791" t="-4839" b="-25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86416-1B09-7534-5825-FCF5E5200C90}"/>
                  </a:ext>
                </a:extLst>
              </p:cNvPr>
              <p:cNvSpPr txBox="1"/>
              <p:nvPr/>
            </p:nvSpPr>
            <p:spPr>
              <a:xfrm>
                <a:off x="1132114" y="2912688"/>
                <a:ext cx="6936377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+…………… +  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+ 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B86416-1B09-7534-5825-FCF5E520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14" y="2912688"/>
                <a:ext cx="6936377" cy="376385"/>
              </a:xfrm>
              <a:prstGeom prst="rect">
                <a:avLst/>
              </a:prstGeom>
              <a:blipFill>
                <a:blip r:embed="rId7"/>
                <a:stretch>
                  <a:fillRect l="-791" t="-6452" b="-25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942F16-6F30-748F-006C-0BBD70CABA64}"/>
                  </a:ext>
                </a:extLst>
              </p:cNvPr>
              <p:cNvSpPr txBox="1"/>
              <p:nvPr/>
            </p:nvSpPr>
            <p:spPr>
              <a:xfrm>
                <a:off x="535577" y="3289073"/>
                <a:ext cx="6335486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 ……………. + 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+  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942F16-6F30-748F-006C-0BBD70CAB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77" y="3289073"/>
                <a:ext cx="6335486" cy="3763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33CA36-8B67-22AD-CC72-983AD9F57C4F}"/>
                  </a:ext>
                </a:extLst>
              </p:cNvPr>
              <p:cNvSpPr txBox="1"/>
              <p:nvPr/>
            </p:nvSpPr>
            <p:spPr>
              <a:xfrm>
                <a:off x="5773783" y="3140603"/>
                <a:ext cx="7210697" cy="622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𝒂𝒓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 ….+</m:t>
                      </m:r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IN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IN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33CA36-8B67-22AD-CC72-983AD9F57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783" y="3140603"/>
                <a:ext cx="7210697" cy="62267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61D017-1DDF-0651-56BF-6CC8E7DC5B9D}"/>
                  </a:ext>
                </a:extLst>
              </p:cNvPr>
              <p:cNvSpPr txBox="1"/>
              <p:nvPr/>
            </p:nvSpPr>
            <p:spPr>
              <a:xfrm>
                <a:off x="535577" y="3765286"/>
                <a:ext cx="6335486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{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+ ……………. + 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} + 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61D017-1DDF-0651-56BF-6CC8E7DC5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77" y="3765286"/>
                <a:ext cx="6335486" cy="376385"/>
              </a:xfrm>
              <a:prstGeom prst="rect">
                <a:avLst/>
              </a:prstGeom>
              <a:blipFill>
                <a:blip r:embed="rId11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C77E4-AB8E-1C25-D44B-973A3DC248A4}"/>
                  </a:ext>
                </a:extLst>
              </p:cNvPr>
              <p:cNvSpPr txBox="1"/>
              <p:nvPr/>
            </p:nvSpPr>
            <p:spPr>
              <a:xfrm>
                <a:off x="1132114" y="4367575"/>
                <a:ext cx="5947955" cy="546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=2[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p>
                        </m:s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   ]+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baseline="3000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b="1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C77E4-AB8E-1C25-D44B-973A3DC24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14" y="4367575"/>
                <a:ext cx="5947955" cy="546688"/>
              </a:xfrm>
              <a:prstGeom prst="rect">
                <a:avLst/>
              </a:prstGeom>
              <a:blipFill>
                <a:blip r:embed="rId12"/>
                <a:stretch>
                  <a:fillRect l="-923" b="-44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1911CB-5E3B-7A24-E826-7D62C663EBBB}"/>
                  </a:ext>
                </a:extLst>
              </p:cNvPr>
              <p:cNvSpPr txBox="1"/>
              <p:nvPr/>
            </p:nvSpPr>
            <p:spPr>
              <a:xfrm>
                <a:off x="1156062" y="4971876"/>
                <a:ext cx="5947955" cy="546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IN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  +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1911CB-5E3B-7A24-E826-7D62C663E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062" y="4971876"/>
                <a:ext cx="5947955" cy="546688"/>
              </a:xfrm>
              <a:prstGeom prst="rect">
                <a:avLst/>
              </a:prstGeom>
              <a:blipFill>
                <a:blip r:embed="rId18"/>
                <a:stretch>
                  <a:fillRect l="-923" b="-5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1F5E53-791B-6D8A-F29D-06C589CA184D}"/>
                  </a:ext>
                </a:extLst>
              </p:cNvPr>
              <p:cNvSpPr txBox="1"/>
              <p:nvPr/>
            </p:nvSpPr>
            <p:spPr>
              <a:xfrm>
                <a:off x="3801291" y="4971876"/>
                <a:ext cx="5016138" cy="376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IN" b="1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 + </m:t>
                    </m:r>
                    <m:sSup>
                      <m:sSup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1F5E53-791B-6D8A-F29D-06C589CA1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291" y="4971876"/>
                <a:ext cx="5016138" cy="376385"/>
              </a:xfrm>
              <a:prstGeom prst="rect">
                <a:avLst/>
              </a:prstGeom>
              <a:blipFill>
                <a:blip r:embed="rId19"/>
                <a:stretch>
                  <a:fillRect l="-1095" t="-6557" b="-27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E9E78B-C028-7BC5-CE81-E184C1CA8D3E}"/>
                  </a:ext>
                </a:extLst>
              </p:cNvPr>
              <p:cNvSpPr txBox="1"/>
              <p:nvPr/>
            </p:nvSpPr>
            <p:spPr>
              <a:xfrm>
                <a:off x="6257109" y="4841776"/>
                <a:ext cx="5120640" cy="5817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sSup>
                            <m:sSup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den>
                      </m:f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= 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     →      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p>
                      </m:sSup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9E9E78B-C028-7BC5-CE81-E184C1CA8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109" y="4841776"/>
                <a:ext cx="5120640" cy="58176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2F32C5-1AC3-3607-D5C4-62504E089309}"/>
                  </a:ext>
                </a:extLst>
              </p:cNvPr>
              <p:cNvSpPr txBox="1"/>
              <p:nvPr/>
            </p:nvSpPr>
            <p:spPr>
              <a:xfrm>
                <a:off x="1227908" y="5775495"/>
                <a:ext cx="4088675" cy="46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n - 2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B2F32C5-1AC3-3607-D5C4-62504E089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908" y="5775495"/>
                <a:ext cx="4088675" cy="461473"/>
              </a:xfrm>
              <a:prstGeom prst="rect">
                <a:avLst/>
              </a:prstGeom>
              <a:blipFill>
                <a:blip r:embed="rId21"/>
                <a:stretch>
                  <a:fillRect l="-1192" b="-78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CE5631-4563-BC3B-47B3-30808DBFB1D4}"/>
                  </a:ext>
                </a:extLst>
              </p:cNvPr>
              <p:cNvSpPr txBox="1"/>
              <p:nvPr/>
            </p:nvSpPr>
            <p:spPr>
              <a:xfrm>
                <a:off x="2884714" y="5764209"/>
                <a:ext cx="4963886" cy="491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b="1" i="1" smtClean="0">
                        <a:latin typeface="Cambria Math" panose="02040503050406030204" pitchFamily="18" charset="0"/>
                      </a:rPr>
                      <m:t>  −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IN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CE5631-4563-BC3B-47B3-30808DBF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714" y="5764209"/>
                <a:ext cx="4963886" cy="491096"/>
              </a:xfrm>
              <a:prstGeom prst="rect">
                <a:avLst/>
              </a:prstGeom>
              <a:blipFill>
                <a:blip r:embed="rId22"/>
                <a:stretch>
                  <a:fillRect l="-982" b="-8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67771AA-2AE8-55DE-5E45-09B3E785CEAA}"/>
              </a:ext>
            </a:extLst>
          </p:cNvPr>
          <p:cNvSpPr txBox="1"/>
          <p:nvPr/>
        </p:nvSpPr>
        <p:spPr>
          <a:xfrm>
            <a:off x="4130039" y="5867636"/>
            <a:ext cx="3372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= O(n)</a:t>
            </a:r>
          </a:p>
        </p:txBody>
      </p:sp>
    </p:spTree>
    <p:extLst>
      <p:ext uri="{BB962C8B-B14F-4D97-AF65-F5344CB8AC3E}">
        <p14:creationId xmlns:p14="http://schemas.microsoft.com/office/powerpoint/2010/main" val="85180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3127512" y="2921168"/>
            <a:ext cx="6811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Arial Black" panose="020B0A04020102020204" pitchFamily="34" charset="0"/>
              </a:rPr>
              <a:t>QUICK SORT</a:t>
            </a:r>
            <a:endParaRPr lang="en-IN" sz="60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52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QUICK SORT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83F5A-A3A4-9497-4433-30747EEFCF89}"/>
              </a:ext>
            </a:extLst>
          </p:cNvPr>
          <p:cNvSpPr txBox="1"/>
          <p:nvPr/>
        </p:nvSpPr>
        <p:spPr>
          <a:xfrm>
            <a:off x="265043" y="1417983"/>
            <a:ext cx="11423374" cy="260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  <a:cs typeface="Aharoni" panose="02010803020104030203" pitchFamily="2" charset="-79"/>
              </a:rPr>
              <a:t>Quick Sort is also based on 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Divide and Conquer Approach</a:t>
            </a:r>
            <a:r>
              <a:rPr lang="en-US" sz="2800" b="1" dirty="0">
                <a:latin typeface="Comic Sans MS" panose="030F0702030302020204" pitchFamily="66" charset="0"/>
                <a:cs typeface="Aharoni" panose="02010803020104030203" pitchFamily="2" charset="-79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  <a:cs typeface="Aharoni" panose="02010803020104030203" pitchFamily="2" charset="-79"/>
              </a:rPr>
              <a:t>Quick sort uses 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PARTITION</a:t>
            </a:r>
            <a:r>
              <a:rPr lang="en-US" sz="2800" b="1" dirty="0">
                <a:latin typeface="Comic Sans MS" panose="030F0702030302020204" pitchFamily="66" charset="0"/>
                <a:cs typeface="Aharoni" panose="02010803020104030203" pitchFamily="2" charset="-79"/>
              </a:rPr>
              <a:t> </a:t>
            </a:r>
            <a:r>
              <a:rPr lang="en-US" sz="2800" dirty="0">
                <a:latin typeface="Comic Sans MS" panose="030F0702030302020204" pitchFamily="66" charset="0"/>
                <a:cs typeface="Aharoni" panose="02010803020104030203" pitchFamily="2" charset="-79"/>
              </a:rPr>
              <a:t>process to perform sorting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  <a:cs typeface="Aharoni" panose="02010803020104030203" pitchFamily="2" charset="-79"/>
              </a:rPr>
              <a:t>Developed by 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Tony Hoar </a:t>
            </a:r>
            <a:r>
              <a:rPr lang="en-US" sz="2800" dirty="0">
                <a:latin typeface="Comic Sans MS" panose="030F0702030302020204" pitchFamily="66" charset="0"/>
                <a:cs typeface="Aharoni" panose="02010803020104030203" pitchFamily="2" charset="-79"/>
              </a:rPr>
              <a:t>in 1959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omic Sans MS" panose="030F0702030302020204" pitchFamily="66" charset="0"/>
                <a:cs typeface="Aharoni" panose="02010803020104030203" pitchFamily="2" charset="-79"/>
              </a:rPr>
              <a:t>Also known as </a:t>
            </a:r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Partition Exchange Sort</a:t>
            </a:r>
            <a:endParaRPr lang="en-IN" sz="2800" b="1" dirty="0">
              <a:solidFill>
                <a:srgbClr val="7030A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297256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 QUICK SORT</a:t>
            </a:r>
            <a:endParaRPr lang="en-IN" sz="4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783F5A-A3A4-9497-4433-30747EEFCF89}"/>
              </a:ext>
            </a:extLst>
          </p:cNvPr>
          <p:cNvSpPr txBox="1"/>
          <p:nvPr/>
        </p:nvSpPr>
        <p:spPr>
          <a:xfrm>
            <a:off x="384313" y="2199861"/>
            <a:ext cx="11423374" cy="3899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Step-1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entury" panose="02040604050505020304" pitchFamily="18" charset="0"/>
                <a:cs typeface="Aharoni" panose="02010803020104030203" pitchFamily="2" charset="-79"/>
              </a:rPr>
              <a:t>      Choose the pivot element from given Array(</a:t>
            </a:r>
            <a:r>
              <a:rPr lang="en-US" sz="2800" b="1" dirty="0">
                <a:solidFill>
                  <a:srgbClr val="00B050"/>
                </a:solidFill>
                <a:latin typeface="Century" panose="02040604050505020304" pitchFamily="18" charset="0"/>
                <a:cs typeface="Aharoni" panose="02010803020104030203" pitchFamily="2" charset="-79"/>
              </a:rPr>
              <a:t>HOW?</a:t>
            </a:r>
            <a:r>
              <a:rPr lang="en-US" sz="2800" b="1" dirty="0">
                <a:latin typeface="Century" panose="02040604050505020304" pitchFamily="18" charset="0"/>
                <a:cs typeface="Aharoni" panose="02010803020104030203" pitchFamily="2" charset="-79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Step-2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entury" panose="02040604050505020304" pitchFamily="18" charset="0"/>
                <a:cs typeface="Aharoni" panose="02010803020104030203" pitchFamily="2" charset="-79"/>
              </a:rPr>
              <a:t>      Perform Partitioning : </a:t>
            </a: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rearranging the elements in the array so that elements </a:t>
            </a:r>
            <a:r>
              <a:rPr lang="en-US" sz="2800" b="1" i="0" dirty="0">
                <a:solidFill>
                  <a:srgbClr val="002060"/>
                </a:solidFill>
                <a:effectLst/>
                <a:latin typeface="Söhne"/>
              </a:rPr>
              <a:t>smaller than </a:t>
            </a: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the pivot are moved to </a:t>
            </a:r>
            <a:r>
              <a:rPr lang="en-US" sz="2800" b="1" i="0" dirty="0">
                <a:solidFill>
                  <a:srgbClr val="002060"/>
                </a:solidFill>
                <a:effectLst/>
                <a:latin typeface="Söhne"/>
              </a:rPr>
              <a:t>its left</a:t>
            </a: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, and elements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Söhne"/>
              </a:rPr>
              <a:t>greater than</a:t>
            </a: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 the pivot are moved to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Söhne"/>
              </a:rPr>
              <a:t>its right</a:t>
            </a:r>
            <a:r>
              <a:rPr lang="en-US" sz="2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öhne"/>
              </a:rPr>
              <a:t>. 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latin typeface="Century" panose="02040604050505020304" pitchFamily="18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2AADE-F9A8-0BC9-B906-B743B65BCC49}"/>
              </a:ext>
            </a:extLst>
          </p:cNvPr>
          <p:cNvSpPr txBox="1"/>
          <p:nvPr/>
        </p:nvSpPr>
        <p:spPr>
          <a:xfrm>
            <a:off x="66261" y="1223041"/>
            <a:ext cx="11741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 Black" panose="020B0A04020102020204" pitchFamily="34" charset="0"/>
              </a:rPr>
              <a:t>Goal: </a:t>
            </a:r>
            <a:r>
              <a:rPr lang="en-US" sz="2400" b="0" i="0" dirty="0">
                <a:effectLst/>
                <a:latin typeface="Comic Sans MS" panose="030F0702030302020204" pitchFamily="66" charset="0"/>
              </a:rPr>
              <a:t>The goal is to find the </a:t>
            </a:r>
            <a:r>
              <a:rPr lang="en-US" sz="24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correct position </a:t>
            </a:r>
            <a:r>
              <a:rPr lang="en-US" sz="2400" b="0" i="0" dirty="0">
                <a:effectLst/>
                <a:latin typeface="Comic Sans MS" panose="030F0702030302020204" pitchFamily="66" charset="0"/>
              </a:rPr>
              <a:t>for the pivot in the sorted array.</a:t>
            </a:r>
            <a:endParaRPr lang="en-IN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842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How to pick pivot element?</a:t>
            </a:r>
            <a:endParaRPr lang="en-IN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FDBF4-C135-DB1E-6007-982F352A9BC7}"/>
              </a:ext>
            </a:extLst>
          </p:cNvPr>
          <p:cNvSpPr txBox="1"/>
          <p:nvPr/>
        </p:nvSpPr>
        <p:spPr>
          <a:xfrm>
            <a:off x="145773" y="1033670"/>
            <a:ext cx="1240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A</a:t>
            </a:r>
            <a:r>
              <a:rPr lang="en-US" b="0" i="0" dirty="0">
                <a:effectLst/>
                <a:latin typeface="Comic Sans MS" panose="030F0702030302020204" pitchFamily="66" charset="0"/>
              </a:rPr>
              <a:t> critical decision that can significantly impact the efficiency of the sorting process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123E3-7B14-42ED-51C9-02B391D0E0FA}"/>
              </a:ext>
            </a:extLst>
          </p:cNvPr>
          <p:cNvSpPr txBox="1"/>
          <p:nvPr/>
        </p:nvSpPr>
        <p:spPr>
          <a:xfrm>
            <a:off x="265042" y="1537252"/>
            <a:ext cx="5552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Arial Black" panose="020B0A04020102020204" pitchFamily="34" charset="0"/>
              </a:rPr>
              <a:t>S</a:t>
            </a:r>
            <a:r>
              <a:rPr lang="en-IN" sz="2800" b="0" i="0" dirty="0">
                <a:solidFill>
                  <a:srgbClr val="00B050"/>
                </a:solidFill>
                <a:effectLst/>
                <a:latin typeface="Arial Black" panose="020B0A04020102020204" pitchFamily="34" charset="0"/>
              </a:rPr>
              <a:t>ome common strategies</a:t>
            </a:r>
            <a:endParaRPr lang="en-IN" sz="28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98E40-3027-D3AF-3A8E-661396D08620}"/>
              </a:ext>
            </a:extLst>
          </p:cNvPr>
          <p:cNvSpPr txBox="1"/>
          <p:nvPr/>
        </p:nvSpPr>
        <p:spPr>
          <a:xfrm>
            <a:off x="410817" y="2226365"/>
            <a:ext cx="359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First or last element :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93B741C-FF05-BCF0-13BB-FC86104E6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21621"/>
              </p:ext>
            </p:extLst>
          </p:nvPr>
        </p:nvGraphicFramePr>
        <p:xfrm>
          <a:off x="1395896" y="277311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9" name="Callout: Up Arrow 8">
            <a:extLst>
              <a:ext uri="{FF2B5EF4-FFF2-40B4-BE49-F238E27FC236}">
                <a16:creationId xmlns:a16="http://schemas.microsoft.com/office/drawing/2014/main" id="{BCF43ED9-56D9-9673-6896-21279D18019A}"/>
              </a:ext>
            </a:extLst>
          </p:cNvPr>
          <p:cNvSpPr/>
          <p:nvPr/>
        </p:nvSpPr>
        <p:spPr>
          <a:xfrm>
            <a:off x="941922" y="7531439"/>
            <a:ext cx="1775791" cy="1040296"/>
          </a:xfrm>
          <a:prstGeom prst="up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Pivot Element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7875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4.07407E-6 L 0.00195 -0.6324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" y="-3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How to pick pivot element?</a:t>
            </a:r>
            <a:endParaRPr lang="en-IN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FDBF4-C135-DB1E-6007-982F352A9BC7}"/>
              </a:ext>
            </a:extLst>
          </p:cNvPr>
          <p:cNvSpPr txBox="1"/>
          <p:nvPr/>
        </p:nvSpPr>
        <p:spPr>
          <a:xfrm>
            <a:off x="145773" y="1033670"/>
            <a:ext cx="12404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A</a:t>
            </a:r>
            <a:r>
              <a:rPr lang="en-US" b="0" i="0" dirty="0">
                <a:effectLst/>
                <a:latin typeface="Comic Sans MS" panose="030F0702030302020204" pitchFamily="66" charset="0"/>
              </a:rPr>
              <a:t> critical decision that can significantly impact the efficiency of the sorting process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123E3-7B14-42ED-51C9-02B391D0E0FA}"/>
              </a:ext>
            </a:extLst>
          </p:cNvPr>
          <p:cNvSpPr txBox="1"/>
          <p:nvPr/>
        </p:nvSpPr>
        <p:spPr>
          <a:xfrm>
            <a:off x="145773" y="1463224"/>
            <a:ext cx="5552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Arial Black" panose="020B0A04020102020204" pitchFamily="34" charset="0"/>
              </a:rPr>
              <a:t>S</a:t>
            </a:r>
            <a:r>
              <a:rPr lang="en-IN" sz="2800" b="0" i="0" dirty="0">
                <a:solidFill>
                  <a:srgbClr val="00B050"/>
                </a:solidFill>
                <a:effectLst/>
                <a:latin typeface="Arial Black" panose="020B0A04020102020204" pitchFamily="34" charset="0"/>
              </a:rPr>
              <a:t>ome common strategies</a:t>
            </a:r>
            <a:endParaRPr lang="en-IN" sz="28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398E40-3027-D3AF-3A8E-661396D08620}"/>
              </a:ext>
            </a:extLst>
          </p:cNvPr>
          <p:cNvSpPr txBox="1"/>
          <p:nvPr/>
        </p:nvSpPr>
        <p:spPr>
          <a:xfrm>
            <a:off x="410817" y="2226365"/>
            <a:ext cx="359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First or last element :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93B741C-FF05-BCF0-13BB-FC86104E6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294550"/>
              </p:ext>
            </p:extLst>
          </p:nvPr>
        </p:nvGraphicFramePr>
        <p:xfrm>
          <a:off x="1395896" y="277311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9" name="Callout: Up Arrow 8">
            <a:extLst>
              <a:ext uri="{FF2B5EF4-FFF2-40B4-BE49-F238E27FC236}">
                <a16:creationId xmlns:a16="http://schemas.microsoft.com/office/drawing/2014/main" id="{BCF43ED9-56D9-9673-6896-21279D18019A}"/>
              </a:ext>
            </a:extLst>
          </p:cNvPr>
          <p:cNvSpPr/>
          <p:nvPr/>
        </p:nvSpPr>
        <p:spPr>
          <a:xfrm>
            <a:off x="941922" y="3222008"/>
            <a:ext cx="1775791" cy="1040296"/>
          </a:xfrm>
          <a:prstGeom prst="up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Pivot Element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DC63-69B5-3C61-F22A-F1C3DA04165B}"/>
              </a:ext>
            </a:extLst>
          </p:cNvPr>
          <p:cNvSpPr txBox="1"/>
          <p:nvPr/>
        </p:nvSpPr>
        <p:spPr>
          <a:xfrm>
            <a:off x="410817" y="4686891"/>
            <a:ext cx="359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Random element :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539214BE-3FFC-60B7-669C-22621544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191007"/>
              </p:ext>
            </p:extLst>
          </p:nvPr>
        </p:nvGraphicFramePr>
        <p:xfrm>
          <a:off x="1395896" y="535634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12" name="Callout: Up Arrow 11">
            <a:extLst>
              <a:ext uri="{FF2B5EF4-FFF2-40B4-BE49-F238E27FC236}">
                <a16:creationId xmlns:a16="http://schemas.microsoft.com/office/drawing/2014/main" id="{C53050AF-19AE-B6B2-B3E0-8D31C48E52BC}"/>
              </a:ext>
            </a:extLst>
          </p:cNvPr>
          <p:cNvSpPr/>
          <p:nvPr/>
        </p:nvSpPr>
        <p:spPr>
          <a:xfrm>
            <a:off x="4142322" y="5727187"/>
            <a:ext cx="1775791" cy="1040296"/>
          </a:xfrm>
          <a:prstGeom prst="up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Pivot Element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6586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48148E-6 L 0.60156 -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156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How to pick pivot element?</a:t>
            </a:r>
            <a:endParaRPr lang="en-IN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BDC63-69B5-3C61-F22A-F1C3DA04165B}"/>
              </a:ext>
            </a:extLst>
          </p:cNvPr>
          <p:cNvSpPr txBox="1"/>
          <p:nvPr/>
        </p:nvSpPr>
        <p:spPr>
          <a:xfrm>
            <a:off x="343910" y="940081"/>
            <a:ext cx="359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Median of 3 elements :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1" name="Table 8">
            <a:extLst>
              <a:ext uri="{FF2B5EF4-FFF2-40B4-BE49-F238E27FC236}">
                <a16:creationId xmlns:a16="http://schemas.microsoft.com/office/drawing/2014/main" id="{539214BE-3FFC-60B7-669C-226215442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53586"/>
              </p:ext>
            </p:extLst>
          </p:nvPr>
        </p:nvGraphicFramePr>
        <p:xfrm>
          <a:off x="1328989" y="1609537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60274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12" name="Callout: Up Arrow 11">
            <a:extLst>
              <a:ext uri="{FF2B5EF4-FFF2-40B4-BE49-F238E27FC236}">
                <a16:creationId xmlns:a16="http://schemas.microsoft.com/office/drawing/2014/main" id="{C53050AF-19AE-B6B2-B3E0-8D31C48E52BC}"/>
              </a:ext>
            </a:extLst>
          </p:cNvPr>
          <p:cNvSpPr/>
          <p:nvPr/>
        </p:nvSpPr>
        <p:spPr>
          <a:xfrm>
            <a:off x="713630" y="4585051"/>
            <a:ext cx="1775791" cy="1040296"/>
          </a:xfrm>
          <a:prstGeom prst="up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Pivot Element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06680BCC-4F11-C7B6-BC5E-0FE767C2BFA8}"/>
              </a:ext>
            </a:extLst>
          </p:cNvPr>
          <p:cNvSpPr/>
          <p:nvPr/>
        </p:nvSpPr>
        <p:spPr>
          <a:xfrm rot="8752790">
            <a:off x="2095689" y="1846515"/>
            <a:ext cx="212962" cy="182729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87F9E2BB-3490-0D4B-67A7-0AF7650431DA}"/>
              </a:ext>
            </a:extLst>
          </p:cNvPr>
          <p:cNvSpPr/>
          <p:nvPr/>
        </p:nvSpPr>
        <p:spPr>
          <a:xfrm rot="13592209">
            <a:off x="8324857" y="1736185"/>
            <a:ext cx="212962" cy="182729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62326BF5-5A6B-6A4E-1706-5C511252C07D}"/>
              </a:ext>
            </a:extLst>
          </p:cNvPr>
          <p:cNvSpPr/>
          <p:nvPr/>
        </p:nvSpPr>
        <p:spPr>
          <a:xfrm rot="10800000">
            <a:off x="5286507" y="1980377"/>
            <a:ext cx="266800" cy="120887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1D02F-4DFA-C593-D6A5-4E386DA25D42}"/>
              </a:ext>
            </a:extLst>
          </p:cNvPr>
          <p:cNvSpPr txBox="1"/>
          <p:nvPr/>
        </p:nvSpPr>
        <p:spPr>
          <a:xfrm>
            <a:off x="2802813" y="3190758"/>
            <a:ext cx="489213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              Median = 10</a:t>
            </a: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7" name="Table 8">
            <a:extLst>
              <a:ext uri="{FF2B5EF4-FFF2-40B4-BE49-F238E27FC236}">
                <a16:creationId xmlns:a16="http://schemas.microsoft.com/office/drawing/2014/main" id="{506CA844-FC44-8B08-FD34-B53355DE0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622147"/>
              </p:ext>
            </p:extLst>
          </p:nvPr>
        </p:nvGraphicFramePr>
        <p:xfrm>
          <a:off x="1328988" y="4214211"/>
          <a:ext cx="8127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909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  <a:gridCol w="738909">
                  <a:extLst>
                    <a:ext uri="{9D8B030D-6E8A-4147-A177-3AD203B41FA5}">
                      <a16:colId xmlns:a16="http://schemas.microsoft.com/office/drawing/2014/main" val="3160274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44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2" grpId="0" animBg="1"/>
      <p:bldP spid="15" grpId="0" animBg="1"/>
      <p:bldP spid="16" grpId="0" animBg="1"/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439BF80B-EBA1-F13B-E9D2-BCE363FA506D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820715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764385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245444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587471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77855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5310984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47218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666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4218390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9940423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67714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Pivot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0937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A1DCC2EA-2BB1-B13F-8EC5-F9C9DB72DC86}"/>
              </a:ext>
            </a:extLst>
          </p:cNvPr>
          <p:cNvGrpSpPr/>
          <p:nvPr/>
        </p:nvGrpSpPr>
        <p:grpSpPr>
          <a:xfrm>
            <a:off x="2946400" y="2191555"/>
            <a:ext cx="698500" cy="699532"/>
            <a:chOff x="3136900" y="2933700"/>
            <a:chExt cx="698500" cy="6995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AD2EC30-1ADC-BBB1-5F92-1874ECBF4653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3F8F199-B10D-12F8-7EB2-939116CB4BB9}"/>
                </a:ext>
              </a:extLst>
            </p:cNvPr>
            <p:cNvCxnSpPr>
              <a:stCxn id="2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420BA39-7AE3-054C-652C-801B170BC57F}"/>
              </a:ext>
            </a:extLst>
          </p:cNvPr>
          <p:cNvGrpSpPr/>
          <p:nvPr/>
        </p:nvGrpSpPr>
        <p:grpSpPr>
          <a:xfrm>
            <a:off x="9461500" y="2174941"/>
            <a:ext cx="698500" cy="699532"/>
            <a:chOff x="3136900" y="2933700"/>
            <a:chExt cx="698500" cy="6995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2958D9-7760-E331-F382-BEACE65B8086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1BCAC6-D0E9-CCF5-C1B8-0FB572AE0084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C839520-BE37-121A-CE8C-8BDD68ACF489}"/>
              </a:ext>
            </a:extLst>
          </p:cNvPr>
          <p:cNvSpPr txBox="1"/>
          <p:nvPr/>
        </p:nvSpPr>
        <p:spPr>
          <a:xfrm>
            <a:off x="317500" y="1831263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Initially: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420E9E-1A1B-4505-C583-89B547E1490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644900" y="2706421"/>
            <a:ext cx="1511300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6AFCBD8-B365-B63A-92E3-899FBF3BF509}"/>
              </a:ext>
            </a:extLst>
          </p:cNvPr>
          <p:cNvCxnSpPr>
            <a:cxnSpLocks/>
          </p:cNvCxnSpPr>
          <p:nvPr/>
        </p:nvCxnSpPr>
        <p:spPr>
          <a:xfrm flipH="1" flipV="1">
            <a:off x="7877666" y="2689011"/>
            <a:ext cx="1583834" cy="396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0601A6-76BF-0BD1-0EA7-715C91CB1C5C}"/>
              </a:ext>
            </a:extLst>
          </p:cNvPr>
          <p:cNvSpPr txBox="1"/>
          <p:nvPr/>
        </p:nvSpPr>
        <p:spPr>
          <a:xfrm>
            <a:off x="4343400" y="2694201"/>
            <a:ext cx="1625600" cy="366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badi" panose="020B0604020104020204" pitchFamily="34" charset="0"/>
              </a:rPr>
              <a:t>Right</a:t>
            </a:r>
            <a:endParaRPr lang="en-IN" dirty="0">
              <a:solidFill>
                <a:srgbClr val="00B050"/>
              </a:solidFill>
              <a:latin typeface="Abadi" panose="020B06040201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D5BC72-7131-AF62-D50E-F8614BB7BFFD}"/>
              </a:ext>
            </a:extLst>
          </p:cNvPr>
          <p:cNvSpPr txBox="1"/>
          <p:nvPr/>
        </p:nvSpPr>
        <p:spPr>
          <a:xfrm>
            <a:off x="8513378" y="2297728"/>
            <a:ext cx="1329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badi" panose="020B0604020104020204" pitchFamily="34" charset="0"/>
              </a:rPr>
              <a:t>Left</a:t>
            </a:r>
            <a:endParaRPr lang="en-IN" dirty="0">
              <a:solidFill>
                <a:srgbClr val="00B050"/>
              </a:solidFill>
              <a:latin typeface="Abadi" panose="020B06040201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E4467E-3FD4-A070-D890-4C5DD65A5BAF}"/>
              </a:ext>
            </a:extLst>
          </p:cNvPr>
          <p:cNvSpPr txBox="1"/>
          <p:nvPr/>
        </p:nvSpPr>
        <p:spPr>
          <a:xfrm>
            <a:off x="3564183" y="2342971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If A[L] ≤ Pivot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355277-102A-4FCC-CE60-8F97D7684D8A}"/>
              </a:ext>
            </a:extLst>
          </p:cNvPr>
          <p:cNvSpPr txBox="1"/>
          <p:nvPr/>
        </p:nvSpPr>
        <p:spPr>
          <a:xfrm>
            <a:off x="7831047" y="2689011"/>
            <a:ext cx="219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If A[R</a:t>
            </a:r>
            <a:r>
              <a:rPr lang="en-US">
                <a:latin typeface="Comic Sans MS" panose="030F0702030302020204" pitchFamily="66" charset="0"/>
              </a:rPr>
              <a:t>] &gt; </a:t>
            </a:r>
            <a:r>
              <a:rPr lang="en-US" dirty="0">
                <a:latin typeface="Comic Sans MS" panose="030F0702030302020204" pitchFamily="66" charset="0"/>
              </a:rPr>
              <a:t>Pivot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5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5" grpId="0"/>
      <p:bldP spid="27" grpId="0"/>
      <p:bldP spid="26" grpId="0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F991ED91-A9A9-BB19-C216-0E3833AD2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840512"/>
              </p:ext>
            </p:extLst>
          </p:nvPr>
        </p:nvGraphicFramePr>
        <p:xfrm>
          <a:off x="2269995" y="251048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7643853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02454441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45310984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4421839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Pivot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≤ Pivot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&gt; Pivot 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6093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21139B89-46F9-06EC-D732-062FE7BC32DC}"/>
              </a:ext>
            </a:extLst>
          </p:cNvPr>
          <p:cNvGrpSpPr/>
          <p:nvPr/>
        </p:nvGrpSpPr>
        <p:grpSpPr>
          <a:xfrm>
            <a:off x="5000495" y="2861756"/>
            <a:ext cx="698500" cy="699532"/>
            <a:chOff x="4953000" y="2914134"/>
            <a:chExt cx="698500" cy="6995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3F376C-4FD7-9291-56A6-B2EAF39EA850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BF4427D-D8D8-264E-F285-B0EA6343BA7B}"/>
                </a:ext>
              </a:extLst>
            </p:cNvPr>
            <p:cNvCxnSpPr>
              <a:stCxn id="15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6631A7-DE5B-D6BF-F1BB-CFA0FC9FF8C6}"/>
              </a:ext>
            </a:extLst>
          </p:cNvPr>
          <p:cNvGrpSpPr/>
          <p:nvPr/>
        </p:nvGrpSpPr>
        <p:grpSpPr>
          <a:xfrm>
            <a:off x="7730996" y="2873238"/>
            <a:ext cx="698500" cy="699532"/>
            <a:chOff x="3136900" y="2933700"/>
            <a:chExt cx="698500" cy="69953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2C63FA-7D85-F734-1C8A-CCE492548E63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E25148-FA49-309D-4A96-DD8DEF9C4464}"/>
                </a:ext>
              </a:extLst>
            </p:cNvPr>
            <p:cNvCxnSpPr>
              <a:stCxn id="18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16181AE-05C4-2CA5-F853-9D673080FD21}"/>
              </a:ext>
            </a:extLst>
          </p:cNvPr>
          <p:cNvSpPr txBox="1"/>
          <p:nvPr/>
        </p:nvSpPr>
        <p:spPr>
          <a:xfrm>
            <a:off x="555495" y="2547992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During: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21" name="Table 2">
            <a:extLst>
              <a:ext uri="{FF2B5EF4-FFF2-40B4-BE49-F238E27FC236}">
                <a16:creationId xmlns:a16="http://schemas.microsoft.com/office/drawing/2014/main" id="{ABF9A400-1936-B92C-06AF-DCC6A729C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72783"/>
              </p:ext>
            </p:extLst>
          </p:nvPr>
        </p:nvGraphicFramePr>
        <p:xfrm>
          <a:off x="2269995" y="4412243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64385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4721808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1666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≤ Pivot 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Pivot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&gt; Pivot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093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2C06B22-4663-AD44-2A50-34EBD868F97D}"/>
              </a:ext>
            </a:extLst>
          </p:cNvPr>
          <p:cNvSpPr txBox="1"/>
          <p:nvPr/>
        </p:nvSpPr>
        <p:spPr>
          <a:xfrm>
            <a:off x="555495" y="4376241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Finally:</a:t>
            </a:r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7CDB242F-A25B-6318-29C1-4373601B8FF2}"/>
              </a:ext>
            </a:extLst>
          </p:cNvPr>
          <p:cNvSpPr/>
          <p:nvPr/>
        </p:nvSpPr>
        <p:spPr>
          <a:xfrm>
            <a:off x="4487593" y="5622556"/>
            <a:ext cx="4417255" cy="890786"/>
          </a:xfrm>
          <a:prstGeom prst="wedgeRoundRectCallout">
            <a:avLst>
              <a:gd name="adj1" fmla="val 166"/>
              <a:gd name="adj2" fmla="val -141251"/>
              <a:gd name="adj3" fmla="val 1666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 Position of Pivot</a:t>
            </a:r>
            <a:endParaRPr lang="en-I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3040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8" grpId="0"/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1" name="Table 2">
            <a:extLst>
              <a:ext uri="{FF2B5EF4-FFF2-40B4-BE49-F238E27FC236}">
                <a16:creationId xmlns:a16="http://schemas.microsoft.com/office/drawing/2014/main" id="{ABF9A400-1936-B92C-06AF-DCC6A729C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84758"/>
              </p:ext>
            </p:extLst>
          </p:nvPr>
        </p:nvGraphicFramePr>
        <p:xfrm>
          <a:off x="1881688" y="2846489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64385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54721808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1666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≤ Pivot 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Pivot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≥ Pivot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60937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7966C18D-93FD-DF34-DE7F-A6D9EBA816DD}"/>
              </a:ext>
            </a:extLst>
          </p:cNvPr>
          <p:cNvSpPr/>
          <p:nvPr/>
        </p:nvSpPr>
        <p:spPr>
          <a:xfrm>
            <a:off x="1881688" y="1966586"/>
            <a:ext cx="4018071" cy="21544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7ACC805-FEFC-998D-AF44-B03225117FAD}"/>
              </a:ext>
            </a:extLst>
          </p:cNvPr>
          <p:cNvSpPr/>
          <p:nvPr/>
        </p:nvSpPr>
        <p:spPr>
          <a:xfrm>
            <a:off x="6768926" y="1954670"/>
            <a:ext cx="4018071" cy="21544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805FB-A76B-E6CC-125C-0A942CF2F522}"/>
              </a:ext>
            </a:extLst>
          </p:cNvPr>
          <p:cNvSpPr/>
          <p:nvPr/>
        </p:nvSpPr>
        <p:spPr>
          <a:xfrm rot="18792450">
            <a:off x="2842617" y="2498182"/>
            <a:ext cx="1766170" cy="10674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Smaller or Equal</a:t>
            </a:r>
            <a:endParaRPr lang="en-IN" sz="32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90A283-DBD9-6D75-4B89-05B1F7E0692D}"/>
              </a:ext>
            </a:extLst>
          </p:cNvPr>
          <p:cNvSpPr/>
          <p:nvPr/>
        </p:nvSpPr>
        <p:spPr>
          <a:xfrm rot="18792450">
            <a:off x="7894876" y="2453125"/>
            <a:ext cx="1766170" cy="99647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Larger 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23627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2" grpId="0" animBg="1"/>
      <p:bldP spid="5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07BA699-4E64-98CF-8FD0-1882952AB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784531"/>
              </p:ext>
            </p:extLst>
          </p:nvPr>
        </p:nvGraphicFramePr>
        <p:xfrm>
          <a:off x="1358317" y="2585222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5860740-DBCE-3450-4459-3A030643A3C6}"/>
              </a:ext>
            </a:extLst>
          </p:cNvPr>
          <p:cNvGrpSpPr/>
          <p:nvPr/>
        </p:nvGrpSpPr>
        <p:grpSpPr>
          <a:xfrm>
            <a:off x="1843935" y="2956062"/>
            <a:ext cx="698500" cy="699532"/>
            <a:chOff x="4953000" y="2914134"/>
            <a:chExt cx="698500" cy="6995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98055-DB02-D782-5866-EBEF5695F017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8686FC-AC18-688D-2A2E-1F24AA02B40D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4CDD9-58EE-DF04-BB78-E0C62F1A723D}"/>
              </a:ext>
            </a:extLst>
          </p:cNvPr>
          <p:cNvGrpSpPr/>
          <p:nvPr/>
        </p:nvGrpSpPr>
        <p:grpSpPr>
          <a:xfrm>
            <a:off x="8442059" y="2956062"/>
            <a:ext cx="698500" cy="699532"/>
            <a:chOff x="3136900" y="2933700"/>
            <a:chExt cx="698500" cy="6995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4041B5-8C75-7C7B-EF31-190359EF6E24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F2BCA7-F017-A317-FA9B-D0D9E7754B0C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F0E26E-1C4D-41AC-EFD2-F25EF7DD2235}"/>
              </a:ext>
            </a:extLst>
          </p:cNvPr>
          <p:cNvSpPr txBox="1"/>
          <p:nvPr/>
        </p:nvSpPr>
        <p:spPr>
          <a:xfrm>
            <a:off x="289351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  <a:cs typeface="Aharoni" panose="02010803020104030203" pitchFamily="2" charset="-79"/>
              </a:rPr>
              <a:t>5 &lt;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Pivot =10 </a:t>
            </a:r>
            <a:endParaRPr lang="en-IN" dirty="0">
              <a:solidFill>
                <a:srgbClr val="FF000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AD83A7-E5FA-13BC-DCD6-F8CDF753C711}"/>
              </a:ext>
            </a:extLst>
          </p:cNvPr>
          <p:cNvSpPr txBox="1"/>
          <p:nvPr/>
        </p:nvSpPr>
        <p:spPr>
          <a:xfrm>
            <a:off x="512523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Increment L</a:t>
            </a:r>
            <a:endParaRPr lang="en-IN" dirty="0">
              <a:solidFill>
                <a:srgbClr val="00206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B2DE2E-47DB-F835-B9DD-834EEF3FDA42}"/>
              </a:ext>
            </a:extLst>
          </p:cNvPr>
          <p:cNvCxnSpPr>
            <a:stCxn id="2" idx="3"/>
            <a:endCxn id="16" idx="1"/>
          </p:cNvCxnSpPr>
          <p:nvPr/>
        </p:nvCxnSpPr>
        <p:spPr>
          <a:xfrm>
            <a:off x="4684733" y="4710287"/>
            <a:ext cx="440498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C2815E2-235A-8E0E-6AF7-E623124240D7}"/>
              </a:ext>
            </a:extLst>
          </p:cNvPr>
          <p:cNvSpPr txBox="1"/>
          <p:nvPr/>
        </p:nvSpPr>
        <p:spPr>
          <a:xfrm>
            <a:off x="1250641" y="2215890"/>
            <a:ext cx="69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Pivot</a:t>
            </a:r>
            <a:endParaRPr lang="en-IN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64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07BA699-4E64-98CF-8FD0-1882952AB93A}"/>
              </a:ext>
            </a:extLst>
          </p:cNvPr>
          <p:cNvGraphicFramePr>
            <a:graphicFrameLocks noGrp="1"/>
          </p:cNvGraphicFramePr>
          <p:nvPr/>
        </p:nvGraphicFramePr>
        <p:xfrm>
          <a:off x="1358317" y="2585222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5860740-DBCE-3450-4459-3A030643A3C6}"/>
              </a:ext>
            </a:extLst>
          </p:cNvPr>
          <p:cNvGrpSpPr/>
          <p:nvPr/>
        </p:nvGrpSpPr>
        <p:grpSpPr>
          <a:xfrm>
            <a:off x="1843935" y="2956062"/>
            <a:ext cx="698500" cy="699532"/>
            <a:chOff x="4953000" y="2914134"/>
            <a:chExt cx="698500" cy="6995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98055-DB02-D782-5866-EBEF5695F017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8686FC-AC18-688D-2A2E-1F24AA02B40D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4CDD9-58EE-DF04-BB78-E0C62F1A723D}"/>
              </a:ext>
            </a:extLst>
          </p:cNvPr>
          <p:cNvGrpSpPr/>
          <p:nvPr/>
        </p:nvGrpSpPr>
        <p:grpSpPr>
          <a:xfrm>
            <a:off x="8442059" y="2956062"/>
            <a:ext cx="698500" cy="699532"/>
            <a:chOff x="3136900" y="2933700"/>
            <a:chExt cx="698500" cy="6995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4041B5-8C75-7C7B-EF31-190359EF6E24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F2BCA7-F017-A317-FA9B-D0D9E7754B0C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F0E26E-1C4D-41AC-EFD2-F25EF7DD2235}"/>
              </a:ext>
            </a:extLst>
          </p:cNvPr>
          <p:cNvSpPr txBox="1"/>
          <p:nvPr/>
        </p:nvSpPr>
        <p:spPr>
          <a:xfrm>
            <a:off x="289351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  <a:cs typeface="Aharoni" panose="02010803020104030203" pitchFamily="2" charset="-79"/>
              </a:rPr>
              <a:t>12 &gt;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Pivot =10 </a:t>
            </a:r>
            <a:endParaRPr lang="en-IN" dirty="0">
              <a:solidFill>
                <a:srgbClr val="FF000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AD83A7-E5FA-13BC-DCD6-F8CDF753C711}"/>
              </a:ext>
            </a:extLst>
          </p:cNvPr>
          <p:cNvSpPr txBox="1"/>
          <p:nvPr/>
        </p:nvSpPr>
        <p:spPr>
          <a:xfrm>
            <a:off x="512523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STOP</a:t>
            </a:r>
            <a:endParaRPr lang="en-IN" dirty="0">
              <a:solidFill>
                <a:srgbClr val="00206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B2DE2E-47DB-F835-B9DD-834EEF3FDA42}"/>
              </a:ext>
            </a:extLst>
          </p:cNvPr>
          <p:cNvCxnSpPr>
            <a:stCxn id="2" idx="3"/>
            <a:endCxn id="16" idx="1"/>
          </p:cNvCxnSpPr>
          <p:nvPr/>
        </p:nvCxnSpPr>
        <p:spPr>
          <a:xfrm>
            <a:off x="4684733" y="4710287"/>
            <a:ext cx="440498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L 0.06836 0.003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11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07BA699-4E64-98CF-8FD0-1882952AB93A}"/>
              </a:ext>
            </a:extLst>
          </p:cNvPr>
          <p:cNvGraphicFramePr>
            <a:graphicFrameLocks noGrp="1"/>
          </p:cNvGraphicFramePr>
          <p:nvPr/>
        </p:nvGraphicFramePr>
        <p:xfrm>
          <a:off x="1358317" y="2585222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5860740-DBCE-3450-4459-3A030643A3C6}"/>
              </a:ext>
            </a:extLst>
          </p:cNvPr>
          <p:cNvGrpSpPr/>
          <p:nvPr/>
        </p:nvGrpSpPr>
        <p:grpSpPr>
          <a:xfrm>
            <a:off x="2702192" y="2956062"/>
            <a:ext cx="698500" cy="699532"/>
            <a:chOff x="4953000" y="2914134"/>
            <a:chExt cx="698500" cy="6995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98055-DB02-D782-5866-EBEF5695F017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8686FC-AC18-688D-2A2E-1F24AA02B40D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4CDD9-58EE-DF04-BB78-E0C62F1A723D}"/>
              </a:ext>
            </a:extLst>
          </p:cNvPr>
          <p:cNvGrpSpPr/>
          <p:nvPr/>
        </p:nvGrpSpPr>
        <p:grpSpPr>
          <a:xfrm>
            <a:off x="8442059" y="2956062"/>
            <a:ext cx="698500" cy="699532"/>
            <a:chOff x="3136900" y="2933700"/>
            <a:chExt cx="698500" cy="6995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4041B5-8C75-7C7B-EF31-190359EF6E24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F2BCA7-F017-A317-FA9B-D0D9E7754B0C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F0E26E-1C4D-41AC-EFD2-F25EF7DD2235}"/>
              </a:ext>
            </a:extLst>
          </p:cNvPr>
          <p:cNvSpPr txBox="1"/>
          <p:nvPr/>
        </p:nvSpPr>
        <p:spPr>
          <a:xfrm>
            <a:off x="289351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  <a:cs typeface="Aharoni" panose="02010803020104030203" pitchFamily="2" charset="-79"/>
              </a:rPr>
              <a:t>23 &gt;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Pivot =10 </a:t>
            </a:r>
            <a:endParaRPr lang="en-IN" dirty="0">
              <a:solidFill>
                <a:srgbClr val="FF000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AD83A7-E5FA-13BC-DCD6-F8CDF753C711}"/>
              </a:ext>
            </a:extLst>
          </p:cNvPr>
          <p:cNvSpPr txBox="1"/>
          <p:nvPr/>
        </p:nvSpPr>
        <p:spPr>
          <a:xfrm>
            <a:off x="512523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Decrease R</a:t>
            </a:r>
            <a:endParaRPr lang="en-IN" dirty="0">
              <a:solidFill>
                <a:srgbClr val="00206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B2DE2E-47DB-F835-B9DD-834EEF3FDA42}"/>
              </a:ext>
            </a:extLst>
          </p:cNvPr>
          <p:cNvCxnSpPr>
            <a:stCxn id="2" idx="3"/>
            <a:endCxn id="16" idx="1"/>
          </p:cNvCxnSpPr>
          <p:nvPr/>
        </p:nvCxnSpPr>
        <p:spPr>
          <a:xfrm>
            <a:off x="4684733" y="4710287"/>
            <a:ext cx="440498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08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4.44444E-6 L -0.08203 -0.0027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07BA699-4E64-98CF-8FD0-1882952AB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15227"/>
              </p:ext>
            </p:extLst>
          </p:nvPr>
        </p:nvGraphicFramePr>
        <p:xfrm>
          <a:off x="1358317" y="2585222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5860740-DBCE-3450-4459-3A030643A3C6}"/>
              </a:ext>
            </a:extLst>
          </p:cNvPr>
          <p:cNvGrpSpPr/>
          <p:nvPr/>
        </p:nvGrpSpPr>
        <p:grpSpPr>
          <a:xfrm>
            <a:off x="2702192" y="2956062"/>
            <a:ext cx="698500" cy="699532"/>
            <a:chOff x="4953000" y="2914134"/>
            <a:chExt cx="698500" cy="6995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98055-DB02-D782-5866-EBEF5695F017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8686FC-AC18-688D-2A2E-1F24AA02B40D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4CDD9-58EE-DF04-BB78-E0C62F1A723D}"/>
              </a:ext>
            </a:extLst>
          </p:cNvPr>
          <p:cNvGrpSpPr/>
          <p:nvPr/>
        </p:nvGrpSpPr>
        <p:grpSpPr>
          <a:xfrm>
            <a:off x="7577764" y="2936496"/>
            <a:ext cx="698500" cy="699532"/>
            <a:chOff x="3136900" y="2933700"/>
            <a:chExt cx="698500" cy="6995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4041B5-8C75-7C7B-EF31-190359EF6E24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F2BCA7-F017-A317-FA9B-D0D9E7754B0C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F0E26E-1C4D-41AC-EFD2-F25EF7DD2235}"/>
              </a:ext>
            </a:extLst>
          </p:cNvPr>
          <p:cNvSpPr txBox="1"/>
          <p:nvPr/>
        </p:nvSpPr>
        <p:spPr>
          <a:xfrm>
            <a:off x="289351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  <a:cs typeface="Aharoni" panose="02010803020104030203" pitchFamily="2" charset="-79"/>
              </a:rPr>
              <a:t>6 &lt;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Pivot =10 </a:t>
            </a:r>
            <a:endParaRPr lang="en-IN" dirty="0">
              <a:solidFill>
                <a:srgbClr val="FF000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AD83A7-E5FA-13BC-DCD6-F8CDF753C711}"/>
              </a:ext>
            </a:extLst>
          </p:cNvPr>
          <p:cNvSpPr txBox="1"/>
          <p:nvPr/>
        </p:nvSpPr>
        <p:spPr>
          <a:xfrm>
            <a:off x="5125231" y="4525621"/>
            <a:ext cx="179122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rPr>
              <a:t>STOP</a:t>
            </a:r>
            <a:endParaRPr lang="en-IN" dirty="0">
              <a:solidFill>
                <a:srgbClr val="002060"/>
              </a:solidFill>
              <a:latin typeface="Comic Sans MS" panose="030F0702030302020204" pitchFamily="66" charset="0"/>
              <a:cs typeface="Aharoni" panose="02010803020104030203" pitchFamily="2" charset="-79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B2DE2E-47DB-F835-B9DD-834EEF3FDA42}"/>
              </a:ext>
            </a:extLst>
          </p:cNvPr>
          <p:cNvCxnSpPr>
            <a:stCxn id="2" idx="3"/>
            <a:endCxn id="16" idx="1"/>
          </p:cNvCxnSpPr>
          <p:nvPr/>
        </p:nvCxnSpPr>
        <p:spPr>
          <a:xfrm>
            <a:off x="4684733" y="4710287"/>
            <a:ext cx="440498" cy="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52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07BA699-4E64-98CF-8FD0-1882952AB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000517"/>
              </p:ext>
            </p:extLst>
          </p:nvPr>
        </p:nvGraphicFramePr>
        <p:xfrm>
          <a:off x="1358317" y="2585222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5860740-DBCE-3450-4459-3A030643A3C6}"/>
              </a:ext>
            </a:extLst>
          </p:cNvPr>
          <p:cNvGrpSpPr/>
          <p:nvPr/>
        </p:nvGrpSpPr>
        <p:grpSpPr>
          <a:xfrm>
            <a:off x="2702192" y="2956062"/>
            <a:ext cx="698500" cy="699532"/>
            <a:chOff x="4953000" y="2914134"/>
            <a:chExt cx="698500" cy="6995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098055-DB02-D782-5866-EBEF5695F017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38686FC-AC18-688D-2A2E-1F24AA02B40D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D4CDD9-58EE-DF04-BB78-E0C62F1A723D}"/>
              </a:ext>
            </a:extLst>
          </p:cNvPr>
          <p:cNvGrpSpPr/>
          <p:nvPr/>
        </p:nvGrpSpPr>
        <p:grpSpPr>
          <a:xfrm>
            <a:off x="7577764" y="2936496"/>
            <a:ext cx="698500" cy="699532"/>
            <a:chOff x="3136900" y="2933700"/>
            <a:chExt cx="698500" cy="6995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4041B5-8C75-7C7B-EF31-190359EF6E24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F2BCA7-F017-A317-FA9B-D0D9E7754B0C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0C0619-1A00-676E-B1D7-3BA44F24F720}"/>
              </a:ext>
            </a:extLst>
          </p:cNvPr>
          <p:cNvGrpSpPr/>
          <p:nvPr/>
        </p:nvGrpSpPr>
        <p:grpSpPr>
          <a:xfrm>
            <a:off x="3051442" y="2120348"/>
            <a:ext cx="1454297" cy="464874"/>
            <a:chOff x="3051442" y="2120348"/>
            <a:chExt cx="1454297" cy="46487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56085D1-A5F9-71B0-28B7-6B9CBFFCA6EA}"/>
                </a:ext>
              </a:extLst>
            </p:cNvPr>
            <p:cNvCxnSpPr/>
            <p:nvPr/>
          </p:nvCxnSpPr>
          <p:spPr>
            <a:xfrm flipV="1">
              <a:off x="3051442" y="2120348"/>
              <a:ext cx="0" cy="4648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26DC7C-AC07-2936-26C1-474B225CE1D2}"/>
                </a:ext>
              </a:extLst>
            </p:cNvPr>
            <p:cNvCxnSpPr/>
            <p:nvPr/>
          </p:nvCxnSpPr>
          <p:spPr>
            <a:xfrm>
              <a:off x="3051442" y="2120348"/>
              <a:ext cx="145429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CAC2C7-4500-4605-06A0-AF82BC93CEC9}"/>
              </a:ext>
            </a:extLst>
          </p:cNvPr>
          <p:cNvGrpSpPr/>
          <p:nvPr/>
        </p:nvGrpSpPr>
        <p:grpSpPr>
          <a:xfrm flipH="1">
            <a:off x="6575293" y="2120348"/>
            <a:ext cx="1454297" cy="464874"/>
            <a:chOff x="3051442" y="2120348"/>
            <a:chExt cx="1454297" cy="464874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7932D2-08A2-6D6F-1D4C-10628780793F}"/>
                </a:ext>
              </a:extLst>
            </p:cNvPr>
            <p:cNvCxnSpPr/>
            <p:nvPr/>
          </p:nvCxnSpPr>
          <p:spPr>
            <a:xfrm flipV="1">
              <a:off x="3051442" y="2120348"/>
              <a:ext cx="0" cy="4648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A8369A0-F898-521F-DD57-F6FF0053431D}"/>
                </a:ext>
              </a:extLst>
            </p:cNvPr>
            <p:cNvCxnSpPr/>
            <p:nvPr/>
          </p:nvCxnSpPr>
          <p:spPr>
            <a:xfrm>
              <a:off x="3051442" y="2120348"/>
              <a:ext cx="145429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5F64D2F-DD0A-316F-0F06-41E3D21B17FB}"/>
              </a:ext>
            </a:extLst>
          </p:cNvPr>
          <p:cNvSpPr txBox="1"/>
          <p:nvPr/>
        </p:nvSpPr>
        <p:spPr>
          <a:xfrm>
            <a:off x="5036933" y="1885690"/>
            <a:ext cx="1007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Swap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29" name="Table 8">
            <a:extLst>
              <a:ext uri="{FF2B5EF4-FFF2-40B4-BE49-F238E27FC236}">
                <a16:creationId xmlns:a16="http://schemas.microsoft.com/office/drawing/2014/main" id="{EDC08A65-5F49-24F5-9726-F041EEFCF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285180"/>
              </p:ext>
            </p:extLst>
          </p:nvPr>
        </p:nvGraphicFramePr>
        <p:xfrm>
          <a:off x="1358317" y="4910978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973AC092-6429-932D-F240-25B849ECE1B0}"/>
              </a:ext>
            </a:extLst>
          </p:cNvPr>
          <p:cNvGrpSpPr/>
          <p:nvPr/>
        </p:nvGrpSpPr>
        <p:grpSpPr>
          <a:xfrm>
            <a:off x="2702192" y="5281818"/>
            <a:ext cx="698500" cy="699532"/>
            <a:chOff x="4953000" y="2914134"/>
            <a:chExt cx="698500" cy="6995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F0B66A9-AEF6-62CA-CE0C-BECFB816D7D0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926A5DB-2CA8-047B-BABE-BCBE2D2B8A60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F52F56-BB27-0D9E-CE8F-207A680E7211}"/>
              </a:ext>
            </a:extLst>
          </p:cNvPr>
          <p:cNvGrpSpPr/>
          <p:nvPr/>
        </p:nvGrpSpPr>
        <p:grpSpPr>
          <a:xfrm>
            <a:off x="7577764" y="5262252"/>
            <a:ext cx="698500" cy="699532"/>
            <a:chOff x="3136900" y="2933700"/>
            <a:chExt cx="698500" cy="6995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83B556F-0FB5-43CE-8784-6AFB56BCCE1C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15F7FC0-AF55-6CBF-CC09-60561EB23330}"/>
                </a:ext>
              </a:extLst>
            </p:cNvPr>
            <p:cNvCxnSpPr>
              <a:stCxn id="3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495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9" name="Table 8">
            <a:extLst>
              <a:ext uri="{FF2B5EF4-FFF2-40B4-BE49-F238E27FC236}">
                <a16:creationId xmlns:a16="http://schemas.microsoft.com/office/drawing/2014/main" id="{EDC08A65-5F49-24F5-9726-F041EEFCF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319641"/>
              </p:ext>
            </p:extLst>
          </p:nvPr>
        </p:nvGraphicFramePr>
        <p:xfrm>
          <a:off x="1080021" y="1809969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973AC092-6429-932D-F240-25B849ECE1B0}"/>
              </a:ext>
            </a:extLst>
          </p:cNvPr>
          <p:cNvGrpSpPr/>
          <p:nvPr/>
        </p:nvGrpSpPr>
        <p:grpSpPr>
          <a:xfrm>
            <a:off x="2423896" y="2180809"/>
            <a:ext cx="698500" cy="699532"/>
            <a:chOff x="4953000" y="2914134"/>
            <a:chExt cx="698500" cy="6995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F0B66A9-AEF6-62CA-CE0C-BECFB816D7D0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926A5DB-2CA8-047B-BABE-BCBE2D2B8A60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F52F56-BB27-0D9E-CE8F-207A680E7211}"/>
              </a:ext>
            </a:extLst>
          </p:cNvPr>
          <p:cNvGrpSpPr/>
          <p:nvPr/>
        </p:nvGrpSpPr>
        <p:grpSpPr>
          <a:xfrm>
            <a:off x="7299468" y="2161243"/>
            <a:ext cx="698500" cy="699532"/>
            <a:chOff x="3136900" y="2933700"/>
            <a:chExt cx="698500" cy="6995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83B556F-0FB5-43CE-8784-6AFB56BCCE1C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15F7FC0-AF55-6CBF-CC09-60561EB23330}"/>
                </a:ext>
              </a:extLst>
            </p:cNvPr>
            <p:cNvCxnSpPr>
              <a:stCxn id="3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5846FBC-3DB7-F0F7-F2F4-ADC0F45BA98A}"/>
              </a:ext>
            </a:extLst>
          </p:cNvPr>
          <p:cNvGrpSpPr/>
          <p:nvPr/>
        </p:nvGrpSpPr>
        <p:grpSpPr>
          <a:xfrm>
            <a:off x="2628467" y="3210541"/>
            <a:ext cx="4022942" cy="369332"/>
            <a:chOff x="2628467" y="3210541"/>
            <a:chExt cx="4022942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7D9A877-29FF-6D90-40F5-8B3A5F51DE4A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6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368ACEE-F986-8D24-9B3B-0BA1F209855E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Increment L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22C3083-0445-A3CB-F06E-4E0794E030C4}"/>
                </a:ext>
              </a:extLst>
            </p:cNvPr>
            <p:cNvCxnSpPr>
              <a:stCxn id="36" idx="3"/>
              <a:endCxn id="37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991E0B67-77A9-FB22-BBBE-A2329872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618245"/>
              </p:ext>
            </p:extLst>
          </p:nvPr>
        </p:nvGraphicFramePr>
        <p:xfrm>
          <a:off x="1080021" y="3997226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40" name="Group 39">
            <a:extLst>
              <a:ext uri="{FF2B5EF4-FFF2-40B4-BE49-F238E27FC236}">
                <a16:creationId xmlns:a16="http://schemas.microsoft.com/office/drawing/2014/main" id="{4BD7477D-82D2-BA9D-D935-27D003365E55}"/>
              </a:ext>
            </a:extLst>
          </p:cNvPr>
          <p:cNvGrpSpPr/>
          <p:nvPr/>
        </p:nvGrpSpPr>
        <p:grpSpPr>
          <a:xfrm>
            <a:off x="3194795" y="4368066"/>
            <a:ext cx="698500" cy="699532"/>
            <a:chOff x="4953000" y="2914134"/>
            <a:chExt cx="698500" cy="6995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BB306C2-05A6-9D89-976C-384ECE4CC613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FAC0404-D336-5B47-16B0-A27BC8D61CCC}"/>
                </a:ext>
              </a:extLst>
            </p:cNvPr>
            <p:cNvCxnSpPr>
              <a:stCxn id="41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B068F1A-DF9C-EB39-A7CF-6CF4D7D6B09C}"/>
              </a:ext>
            </a:extLst>
          </p:cNvPr>
          <p:cNvGrpSpPr/>
          <p:nvPr/>
        </p:nvGrpSpPr>
        <p:grpSpPr>
          <a:xfrm>
            <a:off x="7299468" y="4348500"/>
            <a:ext cx="698500" cy="699532"/>
            <a:chOff x="3136900" y="2933700"/>
            <a:chExt cx="698500" cy="6995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8DEDD8-A055-07F7-D526-6E8B09D5CC6E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536C5E-FDAB-3F04-77FB-DDD71FB80A8F}"/>
                </a:ext>
              </a:extLst>
            </p:cNvPr>
            <p:cNvCxnSpPr>
              <a:stCxn id="4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DA993F-636E-B932-9820-1AE120B586D1}"/>
              </a:ext>
            </a:extLst>
          </p:cNvPr>
          <p:cNvGrpSpPr/>
          <p:nvPr/>
        </p:nvGrpSpPr>
        <p:grpSpPr>
          <a:xfrm>
            <a:off x="2648434" y="5504517"/>
            <a:ext cx="4022942" cy="369332"/>
            <a:chOff x="2628467" y="3210541"/>
            <a:chExt cx="402294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E26326-CD87-57D5-EB1E-990A49AAAB1E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1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847D814-1BB1-7E49-6EAA-9929D485514B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Increment L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E8E32E6-3170-FE5C-71D8-D38401E3DAFD}"/>
                </a:ext>
              </a:extLst>
            </p:cNvPr>
            <p:cNvCxnSpPr>
              <a:stCxn id="47" idx="3"/>
              <a:endCxn id="48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343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991E0B67-77A9-FB22-BBBE-A2329872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81339"/>
              </p:ext>
            </p:extLst>
          </p:nvPr>
        </p:nvGraphicFramePr>
        <p:xfrm>
          <a:off x="960752" y="1552377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40" name="Group 39">
            <a:extLst>
              <a:ext uri="{FF2B5EF4-FFF2-40B4-BE49-F238E27FC236}">
                <a16:creationId xmlns:a16="http://schemas.microsoft.com/office/drawing/2014/main" id="{4BD7477D-82D2-BA9D-D935-27D003365E55}"/>
              </a:ext>
            </a:extLst>
          </p:cNvPr>
          <p:cNvGrpSpPr/>
          <p:nvPr/>
        </p:nvGrpSpPr>
        <p:grpSpPr>
          <a:xfrm>
            <a:off x="3842136" y="1903651"/>
            <a:ext cx="698500" cy="699532"/>
            <a:chOff x="4953000" y="2914134"/>
            <a:chExt cx="698500" cy="6995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BB306C2-05A6-9D89-976C-384ECE4CC613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FAC0404-D336-5B47-16B0-A27BC8D61CCC}"/>
                </a:ext>
              </a:extLst>
            </p:cNvPr>
            <p:cNvCxnSpPr>
              <a:stCxn id="41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B068F1A-DF9C-EB39-A7CF-6CF4D7D6B09C}"/>
              </a:ext>
            </a:extLst>
          </p:cNvPr>
          <p:cNvGrpSpPr/>
          <p:nvPr/>
        </p:nvGrpSpPr>
        <p:grpSpPr>
          <a:xfrm>
            <a:off x="7180199" y="1903651"/>
            <a:ext cx="698500" cy="699532"/>
            <a:chOff x="3136900" y="2933700"/>
            <a:chExt cx="698500" cy="6995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8DEDD8-A055-07F7-D526-6E8B09D5CC6E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536C5E-FDAB-3F04-77FB-DDD71FB80A8F}"/>
                </a:ext>
              </a:extLst>
            </p:cNvPr>
            <p:cNvCxnSpPr>
              <a:stCxn id="4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DA993F-636E-B932-9820-1AE120B586D1}"/>
              </a:ext>
            </a:extLst>
          </p:cNvPr>
          <p:cNvGrpSpPr/>
          <p:nvPr/>
        </p:nvGrpSpPr>
        <p:grpSpPr>
          <a:xfrm>
            <a:off x="2529165" y="3059668"/>
            <a:ext cx="4022942" cy="369332"/>
            <a:chOff x="2628467" y="3210541"/>
            <a:chExt cx="4022942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E26326-CD87-57D5-EB1E-990A49AAAB1E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9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847D814-1BB1-7E49-6EAA-9929D485514B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Increment L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E8E32E6-3170-FE5C-71D8-D38401E3DAFD}"/>
                </a:ext>
              </a:extLst>
            </p:cNvPr>
            <p:cNvCxnSpPr>
              <a:stCxn id="47" idx="3"/>
              <a:endCxn id="48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6848289B-DF21-87E9-F14E-8FBCAFFE8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993534"/>
              </p:ext>
            </p:extLst>
          </p:nvPr>
        </p:nvGraphicFramePr>
        <p:xfrm>
          <a:off x="960752" y="3883978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FD7090E3-EF7F-A390-D46C-06F2049328AB}"/>
              </a:ext>
            </a:extLst>
          </p:cNvPr>
          <p:cNvGrpSpPr/>
          <p:nvPr/>
        </p:nvGrpSpPr>
        <p:grpSpPr>
          <a:xfrm>
            <a:off x="4747811" y="4254818"/>
            <a:ext cx="698500" cy="699532"/>
            <a:chOff x="4953000" y="2914134"/>
            <a:chExt cx="698500" cy="6995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C6059C-3658-9910-EB75-95A81595E32D}"/>
                </a:ext>
              </a:extLst>
            </p:cNvPr>
            <p:cNvSpPr txBox="1"/>
            <p:nvPr/>
          </p:nvSpPr>
          <p:spPr>
            <a:xfrm>
              <a:off x="4953000" y="3244334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FEC0EB-76E5-5AFD-D04E-31DF6A3EB506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5302250" y="2914134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54C4F2-624D-CB89-AE0C-F5B88415D7C6}"/>
              </a:ext>
            </a:extLst>
          </p:cNvPr>
          <p:cNvGrpSpPr/>
          <p:nvPr/>
        </p:nvGrpSpPr>
        <p:grpSpPr>
          <a:xfrm>
            <a:off x="7180199" y="4235252"/>
            <a:ext cx="698500" cy="699532"/>
            <a:chOff x="3136900" y="2933700"/>
            <a:chExt cx="698500" cy="6995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B400E60-55CA-78E3-B828-6F3FDE0A7E68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2357437-648D-CD98-DD3D-D1789D71594B}"/>
                </a:ext>
              </a:extLst>
            </p:cNvPr>
            <p:cNvCxnSpPr>
              <a:stCxn id="51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CFB3B78-041D-5906-4E0F-3C2C882ACB96}"/>
              </a:ext>
            </a:extLst>
          </p:cNvPr>
          <p:cNvGrpSpPr/>
          <p:nvPr/>
        </p:nvGrpSpPr>
        <p:grpSpPr>
          <a:xfrm>
            <a:off x="2529165" y="5391269"/>
            <a:ext cx="4022942" cy="369332"/>
            <a:chOff x="2628467" y="3210541"/>
            <a:chExt cx="402294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00E6407-046D-7B85-FFD3-46E74AB2B852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8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17A8DB6-F110-A163-DE08-BA7FAAFE3202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Increment L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53552C3-8CD1-166B-4319-4D6964B927ED}"/>
                </a:ext>
              </a:extLst>
            </p:cNvPr>
            <p:cNvCxnSpPr>
              <a:stCxn id="54" idx="3"/>
              <a:endCxn id="55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03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5" name="Table 8">
            <a:extLst>
              <a:ext uri="{FF2B5EF4-FFF2-40B4-BE49-F238E27FC236}">
                <a16:creationId xmlns:a16="http://schemas.microsoft.com/office/drawing/2014/main" id="{6848289B-DF21-87E9-F14E-8FBCAFFE8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611337"/>
              </p:ext>
            </p:extLst>
          </p:nvPr>
        </p:nvGraphicFramePr>
        <p:xfrm>
          <a:off x="894491" y="1379317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FD7090E3-EF7F-A390-D46C-06F2049328AB}"/>
              </a:ext>
            </a:extLst>
          </p:cNvPr>
          <p:cNvGrpSpPr/>
          <p:nvPr/>
        </p:nvGrpSpPr>
        <p:grpSpPr>
          <a:xfrm>
            <a:off x="5397500" y="1803516"/>
            <a:ext cx="698500" cy="699532"/>
            <a:chOff x="5668950" y="2967493"/>
            <a:chExt cx="698500" cy="6995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0C6059C-3658-9910-EB75-95A81595E32D}"/>
                </a:ext>
              </a:extLst>
            </p:cNvPr>
            <p:cNvSpPr txBox="1"/>
            <p:nvPr/>
          </p:nvSpPr>
          <p:spPr>
            <a:xfrm>
              <a:off x="5668950" y="3297693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4FEC0EB-76E5-5AFD-D04E-31DF6A3EB506}"/>
                </a:ext>
              </a:extLst>
            </p:cNvPr>
            <p:cNvCxnSpPr>
              <a:stCxn id="27" idx="0"/>
            </p:cNvCxnSpPr>
            <p:nvPr/>
          </p:nvCxnSpPr>
          <p:spPr>
            <a:xfrm flipV="1">
              <a:off x="6018200" y="2967493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54C4F2-624D-CB89-AE0C-F5B88415D7C6}"/>
              </a:ext>
            </a:extLst>
          </p:cNvPr>
          <p:cNvGrpSpPr/>
          <p:nvPr/>
        </p:nvGrpSpPr>
        <p:grpSpPr>
          <a:xfrm>
            <a:off x="7113938" y="1730591"/>
            <a:ext cx="698500" cy="699532"/>
            <a:chOff x="3136900" y="2933700"/>
            <a:chExt cx="698500" cy="6995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B400E60-55CA-78E3-B828-6F3FDE0A7E68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2357437-648D-CD98-DD3D-D1789D71594B}"/>
                </a:ext>
              </a:extLst>
            </p:cNvPr>
            <p:cNvCxnSpPr>
              <a:stCxn id="51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CFB3B78-041D-5906-4E0F-3C2C882ACB96}"/>
              </a:ext>
            </a:extLst>
          </p:cNvPr>
          <p:cNvGrpSpPr/>
          <p:nvPr/>
        </p:nvGrpSpPr>
        <p:grpSpPr>
          <a:xfrm>
            <a:off x="2462904" y="2886608"/>
            <a:ext cx="4022942" cy="369332"/>
            <a:chOff x="2628467" y="3210541"/>
            <a:chExt cx="4022942" cy="369332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00E6407-046D-7B85-FFD3-46E74AB2B852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20 &gt;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17A8DB6-F110-A163-DE08-BA7FAAFE3202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Stop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53552C3-8CD1-166B-4319-4D6964B927ED}"/>
                </a:ext>
              </a:extLst>
            </p:cNvPr>
            <p:cNvCxnSpPr>
              <a:stCxn id="54" idx="3"/>
              <a:endCxn id="55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9" name="Table 8">
            <a:extLst>
              <a:ext uri="{FF2B5EF4-FFF2-40B4-BE49-F238E27FC236}">
                <a16:creationId xmlns:a16="http://schemas.microsoft.com/office/drawing/2014/main" id="{7F115459-E100-8C6A-DF8F-5FED02654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60169"/>
              </p:ext>
            </p:extLst>
          </p:nvPr>
        </p:nvGraphicFramePr>
        <p:xfrm>
          <a:off x="894491" y="3638745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A57D6A1B-0B64-2E1A-E691-9912A1B8AA14}"/>
              </a:ext>
            </a:extLst>
          </p:cNvPr>
          <p:cNvGrpSpPr/>
          <p:nvPr/>
        </p:nvGrpSpPr>
        <p:grpSpPr>
          <a:xfrm>
            <a:off x="5397500" y="4062944"/>
            <a:ext cx="698500" cy="699532"/>
            <a:chOff x="5668950" y="2967493"/>
            <a:chExt cx="698500" cy="6995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71E27A-1E96-5B67-C269-2C716FA2B0D6}"/>
                </a:ext>
              </a:extLst>
            </p:cNvPr>
            <p:cNvSpPr txBox="1"/>
            <p:nvPr/>
          </p:nvSpPr>
          <p:spPr>
            <a:xfrm>
              <a:off x="5668950" y="3297693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03B3BD3-C444-ADF7-1DAC-AAD6558B3757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6018200" y="2967493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8089DF0-1D58-4D24-BAD0-97B462367C9E}"/>
              </a:ext>
            </a:extLst>
          </p:cNvPr>
          <p:cNvGrpSpPr/>
          <p:nvPr/>
        </p:nvGrpSpPr>
        <p:grpSpPr>
          <a:xfrm>
            <a:off x="7113938" y="3990019"/>
            <a:ext cx="698500" cy="699532"/>
            <a:chOff x="3136900" y="2933700"/>
            <a:chExt cx="698500" cy="6995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AB87E93-4035-2195-36CB-D4A4DBD45A1F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C8CF8DC-A0C8-0ECA-9CAC-9EE5B358C4A6}"/>
                </a:ext>
              </a:extLst>
            </p:cNvPr>
            <p:cNvCxnSpPr>
              <a:stCxn id="3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DFB841-5130-0531-4532-E958AC72CE65}"/>
              </a:ext>
            </a:extLst>
          </p:cNvPr>
          <p:cNvGrpSpPr/>
          <p:nvPr/>
        </p:nvGrpSpPr>
        <p:grpSpPr>
          <a:xfrm>
            <a:off x="2462904" y="5146036"/>
            <a:ext cx="4022942" cy="369332"/>
            <a:chOff x="2628467" y="3210541"/>
            <a:chExt cx="4022942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E0A6069-2BF5-10F7-FE37-9A439787FD32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12 &gt;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BF3D507-1FAE-4121-AA88-C02373421B33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Decrement R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163AFB9-49E3-0D1A-CDF8-E40CAE3F583E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227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9" name="Table 8">
            <a:extLst>
              <a:ext uri="{FF2B5EF4-FFF2-40B4-BE49-F238E27FC236}">
                <a16:creationId xmlns:a16="http://schemas.microsoft.com/office/drawing/2014/main" id="{7F115459-E100-8C6A-DF8F-5FED02654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76850"/>
              </p:ext>
            </p:extLst>
          </p:nvPr>
        </p:nvGraphicFramePr>
        <p:xfrm>
          <a:off x="974004" y="1372624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A57D6A1B-0B64-2E1A-E691-9912A1B8AA14}"/>
              </a:ext>
            </a:extLst>
          </p:cNvPr>
          <p:cNvGrpSpPr/>
          <p:nvPr/>
        </p:nvGrpSpPr>
        <p:grpSpPr>
          <a:xfrm>
            <a:off x="5477013" y="1796823"/>
            <a:ext cx="698500" cy="699532"/>
            <a:chOff x="5668950" y="2967493"/>
            <a:chExt cx="698500" cy="6995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071E27A-1E96-5B67-C269-2C716FA2B0D6}"/>
                </a:ext>
              </a:extLst>
            </p:cNvPr>
            <p:cNvSpPr txBox="1"/>
            <p:nvPr/>
          </p:nvSpPr>
          <p:spPr>
            <a:xfrm>
              <a:off x="5668950" y="3297693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03B3BD3-C444-ADF7-1DAC-AAD6558B3757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6018200" y="2967493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8089DF0-1D58-4D24-BAD0-97B462367C9E}"/>
              </a:ext>
            </a:extLst>
          </p:cNvPr>
          <p:cNvGrpSpPr/>
          <p:nvPr/>
        </p:nvGrpSpPr>
        <p:grpSpPr>
          <a:xfrm>
            <a:off x="6365738" y="1763309"/>
            <a:ext cx="698500" cy="699532"/>
            <a:chOff x="3136900" y="2933700"/>
            <a:chExt cx="698500" cy="6995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AB87E93-4035-2195-36CB-D4A4DBD45A1F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C8CF8DC-A0C8-0ECA-9CAC-9EE5B358C4A6}"/>
                </a:ext>
              </a:extLst>
            </p:cNvPr>
            <p:cNvCxnSpPr>
              <a:stCxn id="3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9DFB841-5130-0531-4532-E958AC72CE65}"/>
              </a:ext>
            </a:extLst>
          </p:cNvPr>
          <p:cNvGrpSpPr/>
          <p:nvPr/>
        </p:nvGrpSpPr>
        <p:grpSpPr>
          <a:xfrm>
            <a:off x="2542417" y="2879915"/>
            <a:ext cx="4022942" cy="369332"/>
            <a:chOff x="2628467" y="3210541"/>
            <a:chExt cx="4022942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E0A6069-2BF5-10F7-FE37-9A439787FD32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3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BF3D507-1FAE-4121-AA88-C02373421B33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Stop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163AFB9-49E3-0D1A-CDF8-E40CAE3F583E}"/>
                </a:ext>
              </a:extLst>
            </p:cNvPr>
            <p:cNvCxnSpPr>
              <a:stCxn id="37" idx="3"/>
              <a:endCxn id="38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BBABEB91-9F32-0960-42E3-5FE493E7B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142956"/>
              </p:ext>
            </p:extLst>
          </p:nvPr>
        </p:nvGraphicFramePr>
        <p:xfrm>
          <a:off x="974004" y="3989124"/>
          <a:ext cx="7782242" cy="389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8949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40" name="Group 39">
            <a:extLst>
              <a:ext uri="{FF2B5EF4-FFF2-40B4-BE49-F238E27FC236}">
                <a16:creationId xmlns:a16="http://schemas.microsoft.com/office/drawing/2014/main" id="{E8C723E2-4A6B-6F57-5187-72B0405B9D17}"/>
              </a:ext>
            </a:extLst>
          </p:cNvPr>
          <p:cNvGrpSpPr/>
          <p:nvPr/>
        </p:nvGrpSpPr>
        <p:grpSpPr>
          <a:xfrm>
            <a:off x="5477013" y="4413324"/>
            <a:ext cx="698500" cy="734726"/>
            <a:chOff x="5668950" y="2967493"/>
            <a:chExt cx="698500" cy="6995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C6C9F45-BA0F-4A3C-9D82-ACE42815D893}"/>
                </a:ext>
              </a:extLst>
            </p:cNvPr>
            <p:cNvSpPr txBox="1"/>
            <p:nvPr/>
          </p:nvSpPr>
          <p:spPr>
            <a:xfrm>
              <a:off x="5668950" y="3297693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1826EAA-025C-2E7A-14ED-9D4B6D9FC19E}"/>
                </a:ext>
              </a:extLst>
            </p:cNvPr>
            <p:cNvCxnSpPr>
              <a:stCxn id="41" idx="0"/>
            </p:cNvCxnSpPr>
            <p:nvPr/>
          </p:nvCxnSpPr>
          <p:spPr>
            <a:xfrm flipV="1">
              <a:off x="6018200" y="2967493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801707-47E3-6C65-289B-030421FC0084}"/>
              </a:ext>
            </a:extLst>
          </p:cNvPr>
          <p:cNvGrpSpPr/>
          <p:nvPr/>
        </p:nvGrpSpPr>
        <p:grpSpPr>
          <a:xfrm>
            <a:off x="6365738" y="4379810"/>
            <a:ext cx="698500" cy="734726"/>
            <a:chOff x="3136900" y="2933700"/>
            <a:chExt cx="698500" cy="6995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E07B02-AAFA-16F6-C921-2AEFD1B317D4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418387AF-5AC9-826E-918E-605A73389DA8}"/>
                </a:ext>
              </a:extLst>
            </p:cNvPr>
            <p:cNvCxnSpPr>
              <a:stCxn id="44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3DD4021-72A8-03E0-72E6-24C5D95704CB}"/>
              </a:ext>
            </a:extLst>
          </p:cNvPr>
          <p:cNvGrpSpPr/>
          <p:nvPr/>
        </p:nvGrpSpPr>
        <p:grpSpPr>
          <a:xfrm>
            <a:off x="5625891" y="3564922"/>
            <a:ext cx="592906" cy="389498"/>
            <a:chOff x="3051442" y="2120348"/>
            <a:chExt cx="1454297" cy="464874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CB31114-35C0-0667-9904-870F24804F18}"/>
                </a:ext>
              </a:extLst>
            </p:cNvPr>
            <p:cNvCxnSpPr/>
            <p:nvPr/>
          </p:nvCxnSpPr>
          <p:spPr>
            <a:xfrm flipV="1">
              <a:off x="3051442" y="2120348"/>
              <a:ext cx="0" cy="4648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BC534FE-005C-E659-98BC-CBB323E2107E}"/>
                </a:ext>
              </a:extLst>
            </p:cNvPr>
            <p:cNvCxnSpPr/>
            <p:nvPr/>
          </p:nvCxnSpPr>
          <p:spPr>
            <a:xfrm>
              <a:off x="3051442" y="2120348"/>
              <a:ext cx="145429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4143299-884E-B52B-837E-029E56920C41}"/>
              </a:ext>
            </a:extLst>
          </p:cNvPr>
          <p:cNvGrpSpPr/>
          <p:nvPr/>
        </p:nvGrpSpPr>
        <p:grpSpPr>
          <a:xfrm flipH="1">
            <a:off x="6522253" y="3564922"/>
            <a:ext cx="489188" cy="435057"/>
            <a:chOff x="3051442" y="2120348"/>
            <a:chExt cx="1454297" cy="464874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5B4FB4-CBBC-1E2B-8E85-3757B344842A}"/>
                </a:ext>
              </a:extLst>
            </p:cNvPr>
            <p:cNvCxnSpPr/>
            <p:nvPr/>
          </p:nvCxnSpPr>
          <p:spPr>
            <a:xfrm flipV="1">
              <a:off x="3051442" y="2120348"/>
              <a:ext cx="0" cy="4648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A11B8369-77A4-A957-A493-BA8308142991}"/>
                </a:ext>
              </a:extLst>
            </p:cNvPr>
            <p:cNvCxnSpPr/>
            <p:nvPr/>
          </p:nvCxnSpPr>
          <p:spPr>
            <a:xfrm>
              <a:off x="3051442" y="2120348"/>
              <a:ext cx="145429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01963AD-08EB-2F57-E38B-85B4EEC00D98}"/>
              </a:ext>
            </a:extLst>
          </p:cNvPr>
          <p:cNvSpPr txBox="1"/>
          <p:nvPr/>
        </p:nvSpPr>
        <p:spPr>
          <a:xfrm>
            <a:off x="5922344" y="3607608"/>
            <a:ext cx="886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Swap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61" name="Table 8">
            <a:extLst>
              <a:ext uri="{FF2B5EF4-FFF2-40B4-BE49-F238E27FC236}">
                <a16:creationId xmlns:a16="http://schemas.microsoft.com/office/drawing/2014/main" id="{87CA3FBC-FD79-99DA-2FB4-D5F0FC393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838673"/>
              </p:ext>
            </p:extLst>
          </p:nvPr>
        </p:nvGraphicFramePr>
        <p:xfrm>
          <a:off x="974004" y="5740838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62" name="Group 61">
            <a:extLst>
              <a:ext uri="{FF2B5EF4-FFF2-40B4-BE49-F238E27FC236}">
                <a16:creationId xmlns:a16="http://schemas.microsoft.com/office/drawing/2014/main" id="{1C2B4539-2B6F-1726-3B75-E8FA6EAADA59}"/>
              </a:ext>
            </a:extLst>
          </p:cNvPr>
          <p:cNvGrpSpPr/>
          <p:nvPr/>
        </p:nvGrpSpPr>
        <p:grpSpPr>
          <a:xfrm>
            <a:off x="5477013" y="6165037"/>
            <a:ext cx="698500" cy="699532"/>
            <a:chOff x="5668950" y="2967493"/>
            <a:chExt cx="698500" cy="6995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2597B94-7456-8205-5131-090188794C0A}"/>
                </a:ext>
              </a:extLst>
            </p:cNvPr>
            <p:cNvSpPr txBox="1"/>
            <p:nvPr/>
          </p:nvSpPr>
          <p:spPr>
            <a:xfrm>
              <a:off x="5668950" y="3297693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132969E-9147-90A0-885C-725CD811CC7A}"/>
                </a:ext>
              </a:extLst>
            </p:cNvPr>
            <p:cNvCxnSpPr>
              <a:stCxn id="63" idx="0"/>
            </p:cNvCxnSpPr>
            <p:nvPr/>
          </p:nvCxnSpPr>
          <p:spPr>
            <a:xfrm flipV="1">
              <a:off x="6018200" y="2967493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FCEE88-B432-F7D1-7FBC-782CE19B5762}"/>
              </a:ext>
            </a:extLst>
          </p:cNvPr>
          <p:cNvGrpSpPr/>
          <p:nvPr/>
        </p:nvGrpSpPr>
        <p:grpSpPr>
          <a:xfrm>
            <a:off x="6365738" y="6131523"/>
            <a:ext cx="698500" cy="699532"/>
            <a:chOff x="3136900" y="2933700"/>
            <a:chExt cx="698500" cy="6995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F05747B-A816-A0B6-B46E-36E2FD86753A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A243AD7-6C51-E022-FE1E-B22A10708D9F}"/>
                </a:ext>
              </a:extLst>
            </p:cNvPr>
            <p:cNvCxnSpPr>
              <a:stCxn id="66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95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1" name="Table 8">
            <a:extLst>
              <a:ext uri="{FF2B5EF4-FFF2-40B4-BE49-F238E27FC236}">
                <a16:creationId xmlns:a16="http://schemas.microsoft.com/office/drawing/2014/main" id="{87CA3FBC-FD79-99DA-2FB4-D5F0FC393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88565"/>
              </p:ext>
            </p:extLst>
          </p:nvPr>
        </p:nvGraphicFramePr>
        <p:xfrm>
          <a:off x="1146283" y="4243343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72597B94-7456-8205-5131-090188794C0A}"/>
              </a:ext>
            </a:extLst>
          </p:cNvPr>
          <p:cNvSpPr txBox="1"/>
          <p:nvPr/>
        </p:nvSpPr>
        <p:spPr>
          <a:xfrm>
            <a:off x="6538017" y="3618578"/>
            <a:ext cx="698500" cy="369332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</a:t>
            </a:r>
            <a:endParaRPr lang="en-IN" dirty="0">
              <a:latin typeface="Arial Black" panose="020B0A04020102020204" pitchFamily="34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32969E-9147-90A0-885C-725CD811CC7A}"/>
              </a:ext>
            </a:extLst>
          </p:cNvPr>
          <p:cNvCxnSpPr>
            <a:cxnSpLocks/>
          </p:cNvCxnSpPr>
          <p:nvPr/>
        </p:nvCxnSpPr>
        <p:spPr>
          <a:xfrm>
            <a:off x="6887267" y="3987910"/>
            <a:ext cx="0" cy="330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FCEE88-B432-F7D1-7FBC-782CE19B5762}"/>
              </a:ext>
            </a:extLst>
          </p:cNvPr>
          <p:cNvGrpSpPr/>
          <p:nvPr/>
        </p:nvGrpSpPr>
        <p:grpSpPr>
          <a:xfrm>
            <a:off x="6538017" y="4634028"/>
            <a:ext cx="698500" cy="699532"/>
            <a:chOff x="3136900" y="2933700"/>
            <a:chExt cx="698500" cy="6995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F05747B-A816-A0B6-B46E-36E2FD86753A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A243AD7-6C51-E022-FE1E-B22A10708D9F}"/>
                </a:ext>
              </a:extLst>
            </p:cNvPr>
            <p:cNvCxnSpPr>
              <a:stCxn id="66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2ED568B-4971-973E-2C58-7954696A1DB9}"/>
              </a:ext>
            </a:extLst>
          </p:cNvPr>
          <p:cNvGrpSpPr/>
          <p:nvPr/>
        </p:nvGrpSpPr>
        <p:grpSpPr>
          <a:xfrm>
            <a:off x="2073058" y="5663501"/>
            <a:ext cx="4022942" cy="369332"/>
            <a:chOff x="2628467" y="3210541"/>
            <a:chExt cx="4022942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76D33A-08A4-0CF5-06DB-55722A28FE4B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20 &gt;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5C44D7-EDB1-2B07-AC0C-93A070A164B3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Stop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F9FAFFA-4271-E434-901F-091559F5AF96}"/>
                </a:ext>
              </a:extLst>
            </p:cNvPr>
            <p:cNvCxnSpPr>
              <a:stCxn id="51" idx="3"/>
              <a:endCxn id="52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4" name="Table 8">
            <a:extLst>
              <a:ext uri="{FF2B5EF4-FFF2-40B4-BE49-F238E27FC236}">
                <a16:creationId xmlns:a16="http://schemas.microsoft.com/office/drawing/2014/main" id="{E6E89AA7-13D0-C0B1-5DD4-2BAEFAD1D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13548"/>
              </p:ext>
            </p:extLst>
          </p:nvPr>
        </p:nvGraphicFramePr>
        <p:xfrm>
          <a:off x="1055294" y="1626785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grpSp>
        <p:nvGrpSpPr>
          <p:cNvPr id="55" name="Group 54">
            <a:extLst>
              <a:ext uri="{FF2B5EF4-FFF2-40B4-BE49-F238E27FC236}">
                <a16:creationId xmlns:a16="http://schemas.microsoft.com/office/drawing/2014/main" id="{74D1313B-EB6F-79A1-0C98-4CDFFA1AA038}"/>
              </a:ext>
            </a:extLst>
          </p:cNvPr>
          <p:cNvGrpSpPr/>
          <p:nvPr/>
        </p:nvGrpSpPr>
        <p:grpSpPr>
          <a:xfrm>
            <a:off x="5558303" y="2050984"/>
            <a:ext cx="698500" cy="699532"/>
            <a:chOff x="5668950" y="2967493"/>
            <a:chExt cx="698500" cy="6995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EE06A9A-393F-F928-7208-2BE1FB7DBC6E}"/>
                </a:ext>
              </a:extLst>
            </p:cNvPr>
            <p:cNvSpPr txBox="1"/>
            <p:nvPr/>
          </p:nvSpPr>
          <p:spPr>
            <a:xfrm>
              <a:off x="5668950" y="3297693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L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1760B69-EDBA-0E32-8BCF-1E6B792208E5}"/>
                </a:ext>
              </a:extLst>
            </p:cNvPr>
            <p:cNvCxnSpPr>
              <a:stCxn id="56" idx="0"/>
            </p:cNvCxnSpPr>
            <p:nvPr/>
          </p:nvCxnSpPr>
          <p:spPr>
            <a:xfrm flipV="1">
              <a:off x="6018200" y="2967493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CAA9BE1-9320-60AE-9D5B-3F3494A019CE}"/>
              </a:ext>
            </a:extLst>
          </p:cNvPr>
          <p:cNvGrpSpPr/>
          <p:nvPr/>
        </p:nvGrpSpPr>
        <p:grpSpPr>
          <a:xfrm>
            <a:off x="6447028" y="2017470"/>
            <a:ext cx="698500" cy="699532"/>
            <a:chOff x="3136900" y="2933700"/>
            <a:chExt cx="698500" cy="699532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CEC6BF7-03D6-8FF4-4191-11146A80BA99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E63D455-E9DF-E018-4E7B-E94A73FBD019}"/>
                </a:ext>
              </a:extLst>
            </p:cNvPr>
            <p:cNvCxnSpPr>
              <a:stCxn id="70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A423336-AB15-B5FD-E86F-0C75FC058A6A}"/>
              </a:ext>
            </a:extLst>
          </p:cNvPr>
          <p:cNvGrpSpPr/>
          <p:nvPr/>
        </p:nvGrpSpPr>
        <p:grpSpPr>
          <a:xfrm>
            <a:off x="2225458" y="3233116"/>
            <a:ext cx="4022942" cy="369332"/>
            <a:chOff x="2628467" y="3210541"/>
            <a:chExt cx="4022942" cy="36933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A842D57-44D6-7DED-8F55-5979B4150EAE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3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6392B5D-CBDF-CBA5-A591-6100D2FC980C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Increment L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2D83792-EE43-4FC3-C8DA-565EE93E6519}"/>
                </a:ext>
              </a:extLst>
            </p:cNvPr>
            <p:cNvCxnSpPr>
              <a:stCxn id="73" idx="3"/>
              <a:endCxn id="74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324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61" name="Table 8">
            <a:extLst>
              <a:ext uri="{FF2B5EF4-FFF2-40B4-BE49-F238E27FC236}">
                <a16:creationId xmlns:a16="http://schemas.microsoft.com/office/drawing/2014/main" id="{87CA3FBC-FD79-99DA-2FB4-D5F0FC393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287117"/>
              </p:ext>
            </p:extLst>
          </p:nvPr>
        </p:nvGraphicFramePr>
        <p:xfrm>
          <a:off x="1119779" y="1751934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72597B94-7456-8205-5131-090188794C0A}"/>
              </a:ext>
            </a:extLst>
          </p:cNvPr>
          <p:cNvSpPr txBox="1"/>
          <p:nvPr/>
        </p:nvSpPr>
        <p:spPr>
          <a:xfrm>
            <a:off x="6511513" y="1127169"/>
            <a:ext cx="698500" cy="369332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</a:t>
            </a:r>
            <a:endParaRPr lang="en-IN" dirty="0">
              <a:latin typeface="Arial Black" panose="020B0A04020102020204" pitchFamily="34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132969E-9147-90A0-885C-725CD811CC7A}"/>
              </a:ext>
            </a:extLst>
          </p:cNvPr>
          <p:cNvCxnSpPr>
            <a:cxnSpLocks/>
          </p:cNvCxnSpPr>
          <p:nvPr/>
        </p:nvCxnSpPr>
        <p:spPr>
          <a:xfrm>
            <a:off x="6860763" y="1496501"/>
            <a:ext cx="0" cy="330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5FCEE88-B432-F7D1-7FBC-782CE19B5762}"/>
              </a:ext>
            </a:extLst>
          </p:cNvPr>
          <p:cNvGrpSpPr/>
          <p:nvPr/>
        </p:nvGrpSpPr>
        <p:grpSpPr>
          <a:xfrm>
            <a:off x="6511513" y="2142619"/>
            <a:ext cx="698500" cy="699532"/>
            <a:chOff x="3136900" y="2933700"/>
            <a:chExt cx="698500" cy="699532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F05747B-A816-A0B6-B46E-36E2FD86753A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7A243AD7-6C51-E022-FE1E-B22A10708D9F}"/>
                </a:ext>
              </a:extLst>
            </p:cNvPr>
            <p:cNvCxnSpPr>
              <a:stCxn id="66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2ED568B-4971-973E-2C58-7954696A1DB9}"/>
              </a:ext>
            </a:extLst>
          </p:cNvPr>
          <p:cNvGrpSpPr/>
          <p:nvPr/>
        </p:nvGrpSpPr>
        <p:grpSpPr>
          <a:xfrm>
            <a:off x="2046554" y="3172092"/>
            <a:ext cx="4022942" cy="369332"/>
            <a:chOff x="2628467" y="3210541"/>
            <a:chExt cx="4022942" cy="36933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976D33A-08A4-0CF5-06DB-55722A28FE4B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20 &gt;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B5C44D7-EDB1-2B07-AC0C-93A070A164B3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Decrement R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0F9FAFFA-4271-E434-901F-091559F5AF96}"/>
                </a:ext>
              </a:extLst>
            </p:cNvPr>
            <p:cNvCxnSpPr>
              <a:stCxn id="51" idx="3"/>
              <a:endCxn id="52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4" name="Table 8">
            <a:extLst>
              <a:ext uri="{FF2B5EF4-FFF2-40B4-BE49-F238E27FC236}">
                <a16:creationId xmlns:a16="http://schemas.microsoft.com/office/drawing/2014/main" id="{D71A287A-4EC5-3658-1A4F-A344BFCD8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285599"/>
              </p:ext>
            </p:extLst>
          </p:nvPr>
        </p:nvGraphicFramePr>
        <p:xfrm>
          <a:off x="1232422" y="3830430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A188307-3EEF-6637-73E1-F8643B7D00FF}"/>
              </a:ext>
            </a:extLst>
          </p:cNvPr>
          <p:cNvSpPr txBox="1"/>
          <p:nvPr/>
        </p:nvSpPr>
        <p:spPr>
          <a:xfrm>
            <a:off x="6624156" y="3205665"/>
            <a:ext cx="698500" cy="369332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</a:t>
            </a:r>
            <a:endParaRPr lang="en-IN" dirty="0">
              <a:latin typeface="Arial Black" panose="020B0A040201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D86F28-BE1C-6F43-7FF6-545CEE93AD07}"/>
              </a:ext>
            </a:extLst>
          </p:cNvPr>
          <p:cNvCxnSpPr>
            <a:cxnSpLocks/>
          </p:cNvCxnSpPr>
          <p:nvPr/>
        </p:nvCxnSpPr>
        <p:spPr>
          <a:xfrm>
            <a:off x="6973406" y="3574997"/>
            <a:ext cx="0" cy="330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A384E-B1A1-6E36-DF0A-D7A72598E1FD}"/>
              </a:ext>
            </a:extLst>
          </p:cNvPr>
          <p:cNvGrpSpPr/>
          <p:nvPr/>
        </p:nvGrpSpPr>
        <p:grpSpPr>
          <a:xfrm>
            <a:off x="5813013" y="4240976"/>
            <a:ext cx="698500" cy="699532"/>
            <a:chOff x="3136900" y="2933700"/>
            <a:chExt cx="698500" cy="6995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B3DC39-ADB8-08F5-CDFF-029BAFE0B328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63211EB-D909-559D-F9E6-33DF2DF67884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ECBFB1-29F5-9F65-85E1-3A36CD1F57B7}"/>
              </a:ext>
            </a:extLst>
          </p:cNvPr>
          <p:cNvGrpSpPr/>
          <p:nvPr/>
        </p:nvGrpSpPr>
        <p:grpSpPr>
          <a:xfrm>
            <a:off x="2159197" y="5250588"/>
            <a:ext cx="4022942" cy="369332"/>
            <a:chOff x="2628467" y="3210541"/>
            <a:chExt cx="4022942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FADEF86-DEF4-F579-5406-06CCFE37F516}"/>
                </a:ext>
              </a:extLst>
            </p:cNvPr>
            <p:cNvSpPr txBox="1"/>
            <p:nvPr/>
          </p:nvSpPr>
          <p:spPr>
            <a:xfrm>
              <a:off x="262846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mic Sans MS" panose="030F0702030302020204" pitchFamily="66" charset="0"/>
                  <a:cs typeface="Aharoni" panose="02010803020104030203" pitchFamily="2" charset="-79"/>
                </a:rPr>
                <a:t>3 &lt; </a:t>
              </a:r>
              <a:r>
                <a:rPr lang="en-US" dirty="0">
                  <a:solidFill>
                    <a:srgbClr val="FF000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Pivot =10 </a:t>
              </a:r>
              <a:endParaRPr lang="en-IN" dirty="0">
                <a:solidFill>
                  <a:srgbClr val="FF000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67B7D84-F03E-A1D1-40AF-6AB08C1D12B5}"/>
                </a:ext>
              </a:extLst>
            </p:cNvPr>
            <p:cNvSpPr txBox="1"/>
            <p:nvPr/>
          </p:nvSpPr>
          <p:spPr>
            <a:xfrm>
              <a:off x="4860187" y="3210541"/>
              <a:ext cx="1791222" cy="3693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2060"/>
                  </a:solidFill>
                  <a:latin typeface="Comic Sans MS" panose="030F0702030302020204" pitchFamily="66" charset="0"/>
                  <a:cs typeface="Aharoni" panose="02010803020104030203" pitchFamily="2" charset="-79"/>
                </a:rPr>
                <a:t>Stop</a:t>
              </a:r>
              <a:endParaRPr lang="en-IN" dirty="0">
                <a:solidFill>
                  <a:srgbClr val="002060"/>
                </a:solidFill>
                <a:latin typeface="Comic Sans MS" panose="030F0702030302020204" pitchFamily="66" charset="0"/>
                <a:cs typeface="Aharoni" panose="02010803020104030203" pitchFamily="2" charset="-79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CEA9A10-3770-EFE8-0F53-1AB205585BAD}"/>
                </a:ext>
              </a:extLst>
            </p:cNvPr>
            <p:cNvCxnSpPr>
              <a:stCxn id="31" idx="3"/>
              <a:endCxn id="32" idx="1"/>
            </p:cNvCxnSpPr>
            <p:nvPr/>
          </p:nvCxnSpPr>
          <p:spPr>
            <a:xfrm>
              <a:off x="4419689" y="3395207"/>
              <a:ext cx="440498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010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24" name="Table 8">
            <a:extLst>
              <a:ext uri="{FF2B5EF4-FFF2-40B4-BE49-F238E27FC236}">
                <a16:creationId xmlns:a16="http://schemas.microsoft.com/office/drawing/2014/main" id="{D71A287A-4EC5-3658-1A4F-A344BFCD8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09663"/>
              </p:ext>
            </p:extLst>
          </p:nvPr>
        </p:nvGraphicFramePr>
        <p:xfrm>
          <a:off x="980630" y="1802847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A188307-3EEF-6637-73E1-F8643B7D00FF}"/>
              </a:ext>
            </a:extLst>
          </p:cNvPr>
          <p:cNvSpPr txBox="1"/>
          <p:nvPr/>
        </p:nvSpPr>
        <p:spPr>
          <a:xfrm>
            <a:off x="6372364" y="1178082"/>
            <a:ext cx="698500" cy="369332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</a:t>
            </a:r>
            <a:endParaRPr lang="en-IN" dirty="0">
              <a:latin typeface="Arial Black" panose="020B0A040201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D86F28-BE1C-6F43-7FF6-545CEE93AD07}"/>
              </a:ext>
            </a:extLst>
          </p:cNvPr>
          <p:cNvCxnSpPr>
            <a:cxnSpLocks/>
          </p:cNvCxnSpPr>
          <p:nvPr/>
        </p:nvCxnSpPr>
        <p:spPr>
          <a:xfrm>
            <a:off x="6721614" y="1547414"/>
            <a:ext cx="0" cy="330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CA384E-B1A1-6E36-DF0A-D7A72598E1FD}"/>
              </a:ext>
            </a:extLst>
          </p:cNvPr>
          <p:cNvGrpSpPr/>
          <p:nvPr/>
        </p:nvGrpSpPr>
        <p:grpSpPr>
          <a:xfrm>
            <a:off x="5561221" y="2213393"/>
            <a:ext cx="698500" cy="699532"/>
            <a:chOff x="3136900" y="2933700"/>
            <a:chExt cx="698500" cy="6995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5B3DC39-ADB8-08F5-CDFF-029BAFE0B328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63211EB-D909-559D-F9E6-33DF2DF67884}"/>
                </a:ext>
              </a:extLst>
            </p:cNvPr>
            <p:cNvCxnSpPr>
              <a:stCxn id="28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4AC6345-AB9F-0F65-245B-631CC2ED8D8C}"/>
              </a:ext>
            </a:extLst>
          </p:cNvPr>
          <p:cNvSpPr txBox="1"/>
          <p:nvPr/>
        </p:nvSpPr>
        <p:spPr>
          <a:xfrm>
            <a:off x="2831695" y="3242966"/>
            <a:ext cx="5931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As L and R has </a:t>
            </a:r>
            <a:r>
              <a:rPr lang="en-US" sz="3600" b="1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crossed</a:t>
            </a:r>
            <a:r>
              <a:rPr lang="en-US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each other</a:t>
            </a:r>
            <a:endParaRPr lang="en-IN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34" name="Table 8">
            <a:extLst>
              <a:ext uri="{FF2B5EF4-FFF2-40B4-BE49-F238E27FC236}">
                <a16:creationId xmlns:a16="http://schemas.microsoft.com/office/drawing/2014/main" id="{8D62B553-CE2C-74E5-BE2D-B9B3FA27D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53167"/>
              </p:ext>
            </p:extLst>
          </p:nvPr>
        </p:nvGraphicFramePr>
        <p:xfrm>
          <a:off x="1099900" y="5310586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73B3A8D0-5557-27DB-06A9-81D51F45EDB1}"/>
              </a:ext>
            </a:extLst>
          </p:cNvPr>
          <p:cNvSpPr txBox="1"/>
          <p:nvPr/>
        </p:nvSpPr>
        <p:spPr>
          <a:xfrm>
            <a:off x="6491634" y="4685821"/>
            <a:ext cx="698500" cy="369332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L</a:t>
            </a:r>
            <a:endParaRPr lang="en-IN" dirty="0">
              <a:latin typeface="Arial Black" panose="020B0A0402010202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757224-7E70-68DB-C0FE-51D9684A27D1}"/>
              </a:ext>
            </a:extLst>
          </p:cNvPr>
          <p:cNvCxnSpPr>
            <a:cxnSpLocks/>
          </p:cNvCxnSpPr>
          <p:nvPr/>
        </p:nvCxnSpPr>
        <p:spPr>
          <a:xfrm>
            <a:off x="6840884" y="5055153"/>
            <a:ext cx="0" cy="330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C7EC5E-C59F-0241-59DF-803BFEC1B1E8}"/>
              </a:ext>
            </a:extLst>
          </p:cNvPr>
          <p:cNvGrpSpPr/>
          <p:nvPr/>
        </p:nvGrpSpPr>
        <p:grpSpPr>
          <a:xfrm>
            <a:off x="5680491" y="5721132"/>
            <a:ext cx="698500" cy="699532"/>
            <a:chOff x="3136900" y="2933700"/>
            <a:chExt cx="698500" cy="699532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CAEAEA-A7BD-A001-54EA-5CC879FCE422}"/>
                </a:ext>
              </a:extLst>
            </p:cNvPr>
            <p:cNvSpPr txBox="1"/>
            <p:nvPr/>
          </p:nvSpPr>
          <p:spPr>
            <a:xfrm>
              <a:off x="3136900" y="3263900"/>
              <a:ext cx="698500" cy="369332"/>
            </a:xfrm>
            <a:prstGeom prst="rect">
              <a:avLst/>
            </a:prstGeom>
            <a:solidFill>
              <a:srgbClr val="99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 Black" panose="020B0A04020102020204" pitchFamily="34" charset="0"/>
                </a:rPr>
                <a:t>R</a:t>
              </a:r>
              <a:endParaRPr lang="en-IN" dirty="0">
                <a:latin typeface="Arial Black" panose="020B0A04020102020204" pitchFamily="34" charset="0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2C88C0D-51A5-D002-90E4-1D6674321D7A}"/>
                </a:ext>
              </a:extLst>
            </p:cNvPr>
            <p:cNvCxnSpPr>
              <a:stCxn id="38" idx="0"/>
            </p:cNvCxnSpPr>
            <p:nvPr/>
          </p:nvCxnSpPr>
          <p:spPr>
            <a:xfrm flipV="1">
              <a:off x="3486150" y="2933700"/>
              <a:ext cx="0" cy="3302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A6427FF-300E-4289-43D9-CC3396B40BD1}"/>
              </a:ext>
            </a:extLst>
          </p:cNvPr>
          <p:cNvGrpSpPr/>
          <p:nvPr/>
        </p:nvGrpSpPr>
        <p:grpSpPr>
          <a:xfrm>
            <a:off x="1275776" y="4720715"/>
            <a:ext cx="1454297" cy="464874"/>
            <a:chOff x="3051442" y="2120348"/>
            <a:chExt cx="1454297" cy="464874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5E86BF8-5A49-0904-762D-8566CB96AF74}"/>
                </a:ext>
              </a:extLst>
            </p:cNvPr>
            <p:cNvCxnSpPr/>
            <p:nvPr/>
          </p:nvCxnSpPr>
          <p:spPr>
            <a:xfrm flipV="1">
              <a:off x="3051442" y="2120348"/>
              <a:ext cx="0" cy="4648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5B1297B-EAA6-55A8-3816-E64F335C0DD9}"/>
                </a:ext>
              </a:extLst>
            </p:cNvPr>
            <p:cNvCxnSpPr/>
            <p:nvPr/>
          </p:nvCxnSpPr>
          <p:spPr>
            <a:xfrm>
              <a:off x="3051442" y="2120348"/>
              <a:ext cx="145429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578841F-725D-F20D-3921-26548E1132B9}"/>
              </a:ext>
            </a:extLst>
          </p:cNvPr>
          <p:cNvGrpSpPr/>
          <p:nvPr/>
        </p:nvGrpSpPr>
        <p:grpSpPr>
          <a:xfrm flipH="1">
            <a:off x="4799627" y="4720715"/>
            <a:ext cx="1454297" cy="464874"/>
            <a:chOff x="3051442" y="2120348"/>
            <a:chExt cx="1454297" cy="46487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D960DF8-E0D5-CD3D-8308-1946F6DD50B3}"/>
                </a:ext>
              </a:extLst>
            </p:cNvPr>
            <p:cNvCxnSpPr/>
            <p:nvPr/>
          </p:nvCxnSpPr>
          <p:spPr>
            <a:xfrm flipV="1">
              <a:off x="3051442" y="2120348"/>
              <a:ext cx="0" cy="46487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A63F175-ADE7-3307-F637-3F03BA641A5E}"/>
                </a:ext>
              </a:extLst>
            </p:cNvPr>
            <p:cNvCxnSpPr/>
            <p:nvPr/>
          </p:nvCxnSpPr>
          <p:spPr>
            <a:xfrm>
              <a:off x="3051442" y="2120348"/>
              <a:ext cx="145429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0D7DE66-3F3E-078C-1020-058592EADDB7}"/>
              </a:ext>
            </a:extLst>
          </p:cNvPr>
          <p:cNvSpPr txBox="1"/>
          <p:nvPr/>
        </p:nvSpPr>
        <p:spPr>
          <a:xfrm>
            <a:off x="3261267" y="4486057"/>
            <a:ext cx="1007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Swap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45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" grpId="0"/>
      <p:bldP spid="35" grpId="0" animBg="1"/>
      <p:bldP spid="4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Partition Process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34" name="Table 8">
            <a:extLst>
              <a:ext uri="{FF2B5EF4-FFF2-40B4-BE49-F238E27FC236}">
                <a16:creationId xmlns:a16="http://schemas.microsoft.com/office/drawing/2014/main" id="{8D62B553-CE2C-74E5-BE2D-B9B3FA27DBFF}"/>
              </a:ext>
            </a:extLst>
          </p:cNvPr>
          <p:cNvGraphicFramePr>
            <a:graphicFrameLocks noGrp="1"/>
          </p:cNvGraphicFramePr>
          <p:nvPr/>
        </p:nvGraphicFramePr>
        <p:xfrm>
          <a:off x="1523970" y="3058160"/>
          <a:ext cx="778224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val="27663518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663948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539599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2160028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7097142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6847710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4604665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9058304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5673913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70383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13875"/>
                  </a:ext>
                </a:extLst>
              </a:tr>
            </a:tbl>
          </a:graphicData>
        </a:graphic>
      </p:graphicFrame>
      <p:sp>
        <p:nvSpPr>
          <p:cNvPr id="3" name="Right Brace 2">
            <a:extLst>
              <a:ext uri="{FF2B5EF4-FFF2-40B4-BE49-F238E27FC236}">
                <a16:creationId xmlns:a16="http://schemas.microsoft.com/office/drawing/2014/main" id="{AA84EE55-CAE4-0B1B-F52F-9FA58E5E9D42}"/>
              </a:ext>
            </a:extLst>
          </p:cNvPr>
          <p:cNvSpPr/>
          <p:nvPr/>
        </p:nvSpPr>
        <p:spPr>
          <a:xfrm rot="5400000">
            <a:off x="3501886" y="1838186"/>
            <a:ext cx="450574" cy="3969027"/>
          </a:xfrm>
          <a:prstGeom prst="rightBrace">
            <a:avLst/>
          </a:prstGeom>
          <a:solidFill>
            <a:srgbClr val="99FF33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3DBA0322-7B27-2324-D76F-CD6C8900E0E1}"/>
              </a:ext>
            </a:extLst>
          </p:cNvPr>
          <p:cNvSpPr/>
          <p:nvPr/>
        </p:nvSpPr>
        <p:spPr>
          <a:xfrm rot="5400000">
            <a:off x="7938163" y="2775667"/>
            <a:ext cx="370839" cy="2014330"/>
          </a:xfrm>
          <a:prstGeom prst="rightBrace">
            <a:avLst/>
          </a:prstGeom>
          <a:solidFill>
            <a:srgbClr val="99FF33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8FB47-65AA-8C7F-923C-5E0F03F41A3D}"/>
              </a:ext>
            </a:extLst>
          </p:cNvPr>
          <p:cNvSpPr txBox="1"/>
          <p:nvPr/>
        </p:nvSpPr>
        <p:spPr>
          <a:xfrm>
            <a:off x="2584171" y="4107808"/>
            <a:ext cx="258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Less Than Pivot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74A203-FED8-5001-90DF-7AA1DC631D44}"/>
              </a:ext>
            </a:extLst>
          </p:cNvPr>
          <p:cNvSpPr txBox="1"/>
          <p:nvPr/>
        </p:nvSpPr>
        <p:spPr>
          <a:xfrm>
            <a:off x="6990518" y="4047986"/>
            <a:ext cx="258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More Than Pivot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1390AC-EBF4-B001-D643-F64F488E4409}"/>
              </a:ext>
            </a:extLst>
          </p:cNvPr>
          <p:cNvSpPr txBox="1"/>
          <p:nvPr/>
        </p:nvSpPr>
        <p:spPr>
          <a:xfrm>
            <a:off x="6084322" y="2625349"/>
            <a:ext cx="90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Pivot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34987A-094D-66C3-90D6-099471F91BB5}"/>
              </a:ext>
            </a:extLst>
          </p:cNvPr>
          <p:cNvSpPr txBox="1"/>
          <p:nvPr/>
        </p:nvSpPr>
        <p:spPr>
          <a:xfrm>
            <a:off x="1323952" y="5471497"/>
            <a:ext cx="8775469" cy="76944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rial Black" panose="020B0A04020102020204" pitchFamily="34" charset="0"/>
              </a:rPr>
              <a:t>The Cost of Partition: </a:t>
            </a:r>
            <a:r>
              <a:rPr lang="en-US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O(n)</a:t>
            </a:r>
            <a:endParaRPr lang="en-IN" sz="44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0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5" grpId="0"/>
      <p:bldP spid="31" grpId="0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Partition Process</a:t>
            </a:r>
          </a:p>
        </p:txBody>
      </p:sp>
      <p:pic>
        <p:nvPicPr>
          <p:cNvPr id="2050" name="Picture 2" descr="java - Quick sort : Why does classic Hoare partition scheme does not return  right pivot? - Stack Overflow">
            <a:extLst>
              <a:ext uri="{FF2B5EF4-FFF2-40B4-BE49-F238E27FC236}">
                <a16:creationId xmlns:a16="http://schemas.microsoft.com/office/drawing/2014/main" id="{87BA3B5D-1D48-8031-6931-0C2E2A552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1606" y="0"/>
            <a:ext cx="747465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7418579-CA69-8408-FABA-7A936FAF7F3F}"/>
              </a:ext>
            </a:extLst>
          </p:cNvPr>
          <p:cNvSpPr/>
          <p:nvPr/>
        </p:nvSpPr>
        <p:spPr>
          <a:xfrm>
            <a:off x="9045526" y="812801"/>
            <a:ext cx="1575582" cy="439224"/>
          </a:xfrm>
          <a:prstGeom prst="wedgeRectCallout">
            <a:avLst>
              <a:gd name="adj1" fmla="val -158333"/>
              <a:gd name="adj2" fmla="val 4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PIVOT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24BB4F2-7AF8-4A7C-A3E2-6354CA7F200F}"/>
              </a:ext>
            </a:extLst>
          </p:cNvPr>
          <p:cNvSpPr/>
          <p:nvPr/>
        </p:nvSpPr>
        <p:spPr>
          <a:xfrm>
            <a:off x="9045526" y="1252025"/>
            <a:ext cx="2672862" cy="439224"/>
          </a:xfrm>
          <a:prstGeom prst="wedgeRectCallout">
            <a:avLst>
              <a:gd name="adj1" fmla="val -112544"/>
              <a:gd name="adj2" fmla="val 112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 Pointer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C0A74F96-B6C3-75D8-4C67-3ACBB6875041}"/>
              </a:ext>
            </a:extLst>
          </p:cNvPr>
          <p:cNvSpPr/>
          <p:nvPr/>
        </p:nvSpPr>
        <p:spPr>
          <a:xfrm>
            <a:off x="9045526" y="1691249"/>
            <a:ext cx="2672862" cy="439224"/>
          </a:xfrm>
          <a:prstGeom prst="wedgeRectCallout">
            <a:avLst>
              <a:gd name="adj1" fmla="val -109912"/>
              <a:gd name="adj2" fmla="val 4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Pointer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4EF63C23-BA2F-2017-6E88-515D994ED3B9}"/>
              </a:ext>
            </a:extLst>
          </p:cNvPr>
          <p:cNvSpPr/>
          <p:nvPr/>
        </p:nvSpPr>
        <p:spPr>
          <a:xfrm>
            <a:off x="9228744" y="6127260"/>
            <a:ext cx="2672862" cy="439224"/>
          </a:xfrm>
          <a:prstGeom prst="wedgeRectCallout">
            <a:avLst>
              <a:gd name="adj1" fmla="val -77807"/>
              <a:gd name="adj2" fmla="val 144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 of pivot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123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tructure and Algorithms - Quick Sort | Tutorialspoint">
            <a:extLst>
              <a:ext uri="{FF2B5EF4-FFF2-40B4-BE49-F238E27FC236}">
                <a16:creationId xmlns:a16="http://schemas.microsoft.com/office/drawing/2014/main" id="{250F45C7-624B-D88C-6C86-A7ACD78CA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584" y="1456082"/>
            <a:ext cx="8518663" cy="340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5773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7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Sort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olved Pseudocode for quicksort QUICKSorT(A, p, r) if p 〈 r | Chegg.com">
            <a:extLst>
              <a:ext uri="{FF2B5EF4-FFF2-40B4-BE49-F238E27FC236}">
                <a16:creationId xmlns:a16="http://schemas.microsoft.com/office/drawing/2014/main" id="{0E37A338-AA00-C4AE-1D6E-97D378400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33264" y="0"/>
            <a:ext cx="10112275" cy="811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6629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Sort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Sorting Algorithms (Quick Sort, Merge Sort) | DSA Tutorials">
            <a:extLst>
              <a:ext uri="{FF2B5EF4-FFF2-40B4-BE49-F238E27FC236}">
                <a16:creationId xmlns:a16="http://schemas.microsoft.com/office/drawing/2014/main" id="{8A332574-F678-8628-F7A4-EC6555960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8958" y="-25667"/>
            <a:ext cx="89311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0511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Quick Sort: Worst case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438AB-1336-D773-2218-C3AAFCE997A9}"/>
              </a:ext>
            </a:extLst>
          </p:cNvPr>
          <p:cNvSpPr txBox="1"/>
          <p:nvPr/>
        </p:nvSpPr>
        <p:spPr>
          <a:xfrm>
            <a:off x="781878" y="1391478"/>
            <a:ext cx="6652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the data is </a:t>
            </a:r>
            <a:r>
              <a:rPr lang="en-US" sz="2800" dirty="0">
                <a:solidFill>
                  <a:srgbClr val="00B05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Sorted</a:t>
            </a:r>
            <a:endParaRPr lang="en-IN" sz="28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4F46038-031B-C078-7114-460F4F820AFA}"/>
              </a:ext>
            </a:extLst>
          </p:cNvPr>
          <p:cNvGrpSpPr/>
          <p:nvPr/>
        </p:nvGrpSpPr>
        <p:grpSpPr>
          <a:xfrm>
            <a:off x="781877" y="2173357"/>
            <a:ext cx="6400801" cy="4496400"/>
            <a:chOff x="781877" y="2173357"/>
            <a:chExt cx="6400801" cy="44964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126FA9-66BF-CE6C-8794-EB9818780C0B}"/>
                </a:ext>
              </a:extLst>
            </p:cNvPr>
            <p:cNvSpPr/>
            <p:nvPr/>
          </p:nvSpPr>
          <p:spPr>
            <a:xfrm>
              <a:off x="781878" y="2173357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A65BAA-2CEB-5F00-5A22-0071596ECD5E}"/>
                </a:ext>
              </a:extLst>
            </p:cNvPr>
            <p:cNvSpPr/>
            <p:nvPr/>
          </p:nvSpPr>
          <p:spPr>
            <a:xfrm>
              <a:off x="1311965" y="2173357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2CD329-0E15-5960-35B0-F520EF81C371}"/>
                </a:ext>
              </a:extLst>
            </p:cNvPr>
            <p:cNvSpPr/>
            <p:nvPr/>
          </p:nvSpPr>
          <p:spPr>
            <a:xfrm>
              <a:off x="1842052" y="2173357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ED977C5-7A78-62C3-844A-B11E2D192F4E}"/>
                </a:ext>
              </a:extLst>
            </p:cNvPr>
            <p:cNvSpPr/>
            <p:nvPr/>
          </p:nvSpPr>
          <p:spPr>
            <a:xfrm>
              <a:off x="2372139" y="2173357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18AB9F-DC08-D1FB-89B6-DE39326F7BFD}"/>
                </a:ext>
              </a:extLst>
            </p:cNvPr>
            <p:cNvSpPr/>
            <p:nvPr/>
          </p:nvSpPr>
          <p:spPr>
            <a:xfrm>
              <a:off x="2902226" y="2173357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8D43EE-E092-EFC6-8CF2-6350E0378F8C}"/>
                </a:ext>
              </a:extLst>
            </p:cNvPr>
            <p:cNvSpPr/>
            <p:nvPr/>
          </p:nvSpPr>
          <p:spPr>
            <a:xfrm>
              <a:off x="781877" y="3167390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IN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136A74-199D-B9FB-7C92-63F0D938E39F}"/>
                </a:ext>
              </a:extLst>
            </p:cNvPr>
            <p:cNvSpPr/>
            <p:nvPr/>
          </p:nvSpPr>
          <p:spPr>
            <a:xfrm>
              <a:off x="2637182" y="3167390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4F4111-A6FA-C5DA-DA4D-39FCBD6A171E}"/>
                </a:ext>
              </a:extLst>
            </p:cNvPr>
            <p:cNvSpPr/>
            <p:nvPr/>
          </p:nvSpPr>
          <p:spPr>
            <a:xfrm>
              <a:off x="3167269" y="3167390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70653D-BC94-6795-2F28-B2E42F7031C7}"/>
                </a:ext>
              </a:extLst>
            </p:cNvPr>
            <p:cNvSpPr/>
            <p:nvPr/>
          </p:nvSpPr>
          <p:spPr>
            <a:xfrm>
              <a:off x="3697356" y="3167390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CABAEBB-A50B-A06C-CC45-D3122A98603E}"/>
                </a:ext>
              </a:extLst>
            </p:cNvPr>
            <p:cNvSpPr/>
            <p:nvPr/>
          </p:nvSpPr>
          <p:spPr>
            <a:xfrm>
              <a:off x="4227443" y="3167390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55D6D55-7128-C286-9994-B2143EBEA62F}"/>
                </a:ext>
              </a:extLst>
            </p:cNvPr>
            <p:cNvCxnSpPr>
              <a:stCxn id="14" idx="2"/>
              <a:endCxn id="17" idx="0"/>
            </p:cNvCxnSpPr>
            <p:nvPr/>
          </p:nvCxnSpPr>
          <p:spPr>
            <a:xfrm flipH="1">
              <a:off x="1046921" y="2696577"/>
              <a:ext cx="1060175" cy="4708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73304D2-2574-F9BB-3CBD-D745DC2485DC}"/>
                </a:ext>
              </a:extLst>
            </p:cNvPr>
            <p:cNvCxnSpPr>
              <a:stCxn id="14" idx="2"/>
              <a:endCxn id="19" idx="0"/>
            </p:cNvCxnSpPr>
            <p:nvPr/>
          </p:nvCxnSpPr>
          <p:spPr>
            <a:xfrm>
              <a:off x="2107096" y="2696577"/>
              <a:ext cx="1325217" cy="4708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4D0F6A5-5BF1-E161-070E-9D0B70A23A5D}"/>
                </a:ext>
              </a:extLst>
            </p:cNvPr>
            <p:cNvSpPr/>
            <p:nvPr/>
          </p:nvSpPr>
          <p:spPr>
            <a:xfrm>
              <a:off x="2107095" y="4161423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en-I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A457745-3969-FB56-3432-8DC3AFA6D28A}"/>
                </a:ext>
              </a:extLst>
            </p:cNvPr>
            <p:cNvSpPr/>
            <p:nvPr/>
          </p:nvSpPr>
          <p:spPr>
            <a:xfrm>
              <a:off x="3763616" y="4161423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4B2ADC2-B52B-DEA7-E016-093FD22735E9}"/>
                </a:ext>
              </a:extLst>
            </p:cNvPr>
            <p:cNvSpPr/>
            <p:nvPr/>
          </p:nvSpPr>
          <p:spPr>
            <a:xfrm>
              <a:off x="4293703" y="4161423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3CF25FA-EFD6-4A33-67DD-4204C8AE00FF}"/>
                </a:ext>
              </a:extLst>
            </p:cNvPr>
            <p:cNvSpPr/>
            <p:nvPr/>
          </p:nvSpPr>
          <p:spPr>
            <a:xfrm>
              <a:off x="4823790" y="4161423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3ECA9EA-84D7-879B-610A-02A7A26D77A6}"/>
                </a:ext>
              </a:extLst>
            </p:cNvPr>
            <p:cNvCxnSpPr/>
            <p:nvPr/>
          </p:nvCxnSpPr>
          <p:spPr>
            <a:xfrm flipH="1">
              <a:off x="2584172" y="3690610"/>
              <a:ext cx="1060175" cy="4708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CECAD55-C956-0807-7192-58D69AABB0EB}"/>
                </a:ext>
              </a:extLst>
            </p:cNvPr>
            <p:cNvCxnSpPr/>
            <p:nvPr/>
          </p:nvCxnSpPr>
          <p:spPr>
            <a:xfrm>
              <a:off x="3604589" y="3690609"/>
              <a:ext cx="1325217" cy="4708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13C0808-699C-B8DC-A8B9-EA00E824F223}"/>
                </a:ext>
              </a:extLst>
            </p:cNvPr>
            <p:cNvSpPr/>
            <p:nvPr/>
          </p:nvSpPr>
          <p:spPr>
            <a:xfrm>
              <a:off x="2849215" y="5016187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IN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CF0AB91-946B-25D6-92F1-BB180E8F42DA}"/>
                </a:ext>
              </a:extLst>
            </p:cNvPr>
            <p:cNvSpPr/>
            <p:nvPr/>
          </p:nvSpPr>
          <p:spPr>
            <a:xfrm>
              <a:off x="5367131" y="5016187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4906BED-7BE2-FB69-323D-C07EBCE47F27}"/>
                </a:ext>
              </a:extLst>
            </p:cNvPr>
            <p:cNvSpPr/>
            <p:nvPr/>
          </p:nvSpPr>
          <p:spPr>
            <a:xfrm>
              <a:off x="5897218" y="5016187"/>
              <a:ext cx="530087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00CD5B1-29A8-0692-42F3-CCC9B160D77B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 flipH="1">
              <a:off x="3114259" y="4684642"/>
              <a:ext cx="1378228" cy="33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0DE3578-D24E-75C6-DC43-E5FF68A58C57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>
              <a:off x="4452730" y="4684642"/>
              <a:ext cx="1179445" cy="3315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BA0F146-EBF7-56C0-F935-A1E4B9E09C2E}"/>
                </a:ext>
              </a:extLst>
            </p:cNvPr>
            <p:cNvSpPr/>
            <p:nvPr/>
          </p:nvSpPr>
          <p:spPr>
            <a:xfrm>
              <a:off x="4267197" y="6146537"/>
              <a:ext cx="530087" cy="52322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I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81F3A0D-C930-A551-9019-4D2844D46F47}"/>
                </a:ext>
              </a:extLst>
            </p:cNvPr>
            <p:cNvSpPr/>
            <p:nvPr/>
          </p:nvSpPr>
          <p:spPr>
            <a:xfrm>
              <a:off x="6718853" y="6146537"/>
              <a:ext cx="463825" cy="52322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IN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BB1397F-4F90-4730-E2AA-F80BAD642E43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 flipH="1">
              <a:off x="4532241" y="5539407"/>
              <a:ext cx="1364977" cy="60713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729FFB3-01C8-FBCE-69DB-559DAB16F114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5897218" y="5556092"/>
              <a:ext cx="1053548" cy="59044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E07D242-E87D-F7AF-1A99-6425FD7C94CF}"/>
              </a:ext>
            </a:extLst>
          </p:cNvPr>
          <p:cNvSpPr txBox="1"/>
          <p:nvPr/>
        </p:nvSpPr>
        <p:spPr>
          <a:xfrm>
            <a:off x="5353877" y="2266122"/>
            <a:ext cx="6042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Recurrence Relation is </a:t>
            </a:r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EF4CB8-4CB0-42C7-266C-AA1315EACCB8}"/>
              </a:ext>
            </a:extLst>
          </p:cNvPr>
          <p:cNvSpPr txBox="1"/>
          <p:nvPr/>
        </p:nvSpPr>
        <p:spPr>
          <a:xfrm>
            <a:off x="5367131" y="2920398"/>
            <a:ext cx="6042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 T(0) + T(n - 1)  + O(n)</a:t>
            </a:r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C7FD2F-5505-0F82-CB33-95BF0815697F}"/>
              </a:ext>
            </a:extLst>
          </p:cNvPr>
          <p:cNvSpPr txBox="1"/>
          <p:nvPr/>
        </p:nvSpPr>
        <p:spPr>
          <a:xfrm>
            <a:off x="5380385" y="3574674"/>
            <a:ext cx="6042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 T(n-1)  + O(n)</a:t>
            </a:r>
            <a:endParaRPr lang="en-IN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B6394C-084D-6681-966A-E9C1B0EC45E4}"/>
              </a:ext>
            </a:extLst>
          </p:cNvPr>
          <p:cNvSpPr txBox="1"/>
          <p:nvPr/>
        </p:nvSpPr>
        <p:spPr>
          <a:xfrm>
            <a:off x="9203637" y="3513119"/>
            <a:ext cx="372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 </a:t>
            </a:r>
            <a:r>
              <a:rPr lang="en-US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O(n</a:t>
            </a:r>
            <a:r>
              <a:rPr lang="en-US" sz="32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  <a:r>
              <a:rPr lang="en-US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3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78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51" grpId="0"/>
      <p:bldP spid="5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Quick Sort: Worst case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438AB-1336-D773-2218-C3AAFCE997A9}"/>
              </a:ext>
            </a:extLst>
          </p:cNvPr>
          <p:cNvSpPr txBox="1"/>
          <p:nvPr/>
        </p:nvSpPr>
        <p:spPr>
          <a:xfrm>
            <a:off x="583094" y="1194412"/>
            <a:ext cx="66525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the data is </a:t>
            </a:r>
            <a:r>
              <a:rPr lang="en-US" sz="2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Reverse Sorted </a:t>
            </a:r>
            <a:endParaRPr lang="en-IN" sz="28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126FA9-66BF-CE6C-8794-EB9818780C0B}"/>
              </a:ext>
            </a:extLst>
          </p:cNvPr>
          <p:cNvSpPr/>
          <p:nvPr/>
        </p:nvSpPr>
        <p:spPr>
          <a:xfrm>
            <a:off x="6586329" y="2961138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A65BAA-2CEB-5F00-5A22-0071596ECD5E}"/>
              </a:ext>
            </a:extLst>
          </p:cNvPr>
          <p:cNvSpPr/>
          <p:nvPr/>
        </p:nvSpPr>
        <p:spPr>
          <a:xfrm>
            <a:off x="4704521" y="1914697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CD329-0E15-5960-35B0-F520EF81C371}"/>
              </a:ext>
            </a:extLst>
          </p:cNvPr>
          <p:cNvSpPr/>
          <p:nvPr/>
        </p:nvSpPr>
        <p:spPr>
          <a:xfrm>
            <a:off x="5234608" y="1914698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D977C5-7A78-62C3-844A-B11E2D192F4E}"/>
              </a:ext>
            </a:extLst>
          </p:cNvPr>
          <p:cNvSpPr/>
          <p:nvPr/>
        </p:nvSpPr>
        <p:spPr>
          <a:xfrm>
            <a:off x="5764695" y="1914698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18AB9F-DC08-D1FB-89B6-DE39326F7BFD}"/>
              </a:ext>
            </a:extLst>
          </p:cNvPr>
          <p:cNvSpPr/>
          <p:nvPr/>
        </p:nvSpPr>
        <p:spPr>
          <a:xfrm>
            <a:off x="6294782" y="1914698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5D6D55-7128-C286-9994-B2143EBEA62F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4439477" y="2437918"/>
            <a:ext cx="1060175" cy="4708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3304D2-2574-F9BB-3CBD-D745DC2485DC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499652" y="2437918"/>
            <a:ext cx="1325217" cy="4708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584796C-E676-D048-BB7A-EA35D0C9A09B}"/>
              </a:ext>
            </a:extLst>
          </p:cNvPr>
          <p:cNvSpPr/>
          <p:nvPr/>
        </p:nvSpPr>
        <p:spPr>
          <a:xfrm>
            <a:off x="4174434" y="2958186"/>
            <a:ext cx="530087" cy="52322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6B6285-E145-8D5D-62E9-BEBC38B72116}"/>
              </a:ext>
            </a:extLst>
          </p:cNvPr>
          <p:cNvSpPr/>
          <p:nvPr/>
        </p:nvSpPr>
        <p:spPr>
          <a:xfrm>
            <a:off x="4704521" y="2958187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6753AB-947C-B823-5C87-A58872DE0E2C}"/>
              </a:ext>
            </a:extLst>
          </p:cNvPr>
          <p:cNvSpPr/>
          <p:nvPr/>
        </p:nvSpPr>
        <p:spPr>
          <a:xfrm>
            <a:off x="5234608" y="2958187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7431F9-1CC2-91B2-9EB8-594BD354941D}"/>
              </a:ext>
            </a:extLst>
          </p:cNvPr>
          <p:cNvSpPr/>
          <p:nvPr/>
        </p:nvSpPr>
        <p:spPr>
          <a:xfrm>
            <a:off x="4174434" y="1913222"/>
            <a:ext cx="530087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2E72D0-7B74-6F0E-B2ED-EC7D2C01FE8E}"/>
              </a:ext>
            </a:extLst>
          </p:cNvPr>
          <p:cNvSpPr/>
          <p:nvPr/>
        </p:nvSpPr>
        <p:spPr>
          <a:xfrm>
            <a:off x="3644347" y="2958186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ED77F6-5817-0A7A-A3DE-2EC22EAB4F85}"/>
              </a:ext>
            </a:extLst>
          </p:cNvPr>
          <p:cNvSpPr/>
          <p:nvPr/>
        </p:nvSpPr>
        <p:spPr>
          <a:xfrm>
            <a:off x="3101007" y="4001673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BF451D-B171-C5DE-F913-D54514E26A9D}"/>
              </a:ext>
            </a:extLst>
          </p:cNvPr>
          <p:cNvSpPr/>
          <p:nvPr/>
        </p:nvSpPr>
        <p:spPr>
          <a:xfrm>
            <a:off x="3631094" y="4001674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047F96E-BD1F-854A-991E-86597B3CE7C5}"/>
              </a:ext>
            </a:extLst>
          </p:cNvPr>
          <p:cNvSpPr/>
          <p:nvPr/>
        </p:nvSpPr>
        <p:spPr>
          <a:xfrm>
            <a:off x="4161181" y="4001674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E6FA0B-2AC5-6401-6669-9EFF3FF32D92}"/>
              </a:ext>
            </a:extLst>
          </p:cNvPr>
          <p:cNvSpPr/>
          <p:nvPr/>
        </p:nvSpPr>
        <p:spPr>
          <a:xfrm>
            <a:off x="6056242" y="4001673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0F0F45C-6054-52B6-ADEB-68C744EDE04F}"/>
              </a:ext>
            </a:extLst>
          </p:cNvPr>
          <p:cNvCxnSpPr>
            <a:cxnSpLocks/>
          </p:cNvCxnSpPr>
          <p:nvPr/>
        </p:nvCxnSpPr>
        <p:spPr>
          <a:xfrm flipH="1">
            <a:off x="3697355" y="3479930"/>
            <a:ext cx="1086680" cy="5217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7116CD-4612-3A53-F274-50D352D3E5B5}"/>
              </a:ext>
            </a:extLst>
          </p:cNvPr>
          <p:cNvCxnSpPr>
            <a:cxnSpLocks/>
          </p:cNvCxnSpPr>
          <p:nvPr/>
        </p:nvCxnSpPr>
        <p:spPr>
          <a:xfrm>
            <a:off x="4784035" y="3498574"/>
            <a:ext cx="1318590" cy="5030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B56E37B-8020-39CD-4CE5-312F383A17A0}"/>
              </a:ext>
            </a:extLst>
          </p:cNvPr>
          <p:cNvSpPr/>
          <p:nvPr/>
        </p:nvSpPr>
        <p:spPr>
          <a:xfrm>
            <a:off x="5443330" y="5045161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54C1F7-D042-E0F2-18DA-EF33D024F459}"/>
              </a:ext>
            </a:extLst>
          </p:cNvPr>
          <p:cNvSpPr/>
          <p:nvPr/>
        </p:nvSpPr>
        <p:spPr>
          <a:xfrm>
            <a:off x="2835963" y="5045161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F02E4FA-37D7-A603-6892-F74FAD5C6078}"/>
              </a:ext>
            </a:extLst>
          </p:cNvPr>
          <p:cNvSpPr/>
          <p:nvPr/>
        </p:nvSpPr>
        <p:spPr>
          <a:xfrm>
            <a:off x="3366050" y="5045161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E701572-AD45-574B-2971-42C3D672688E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3074501" y="4524894"/>
            <a:ext cx="821637" cy="5187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31CE6B-824B-B22E-87FB-3F70760A7F9E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3896136" y="4519235"/>
            <a:ext cx="1812238" cy="525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8C42B590-0C62-CCD4-226F-845062332DF6}"/>
              </a:ext>
            </a:extLst>
          </p:cNvPr>
          <p:cNvSpPr/>
          <p:nvPr/>
        </p:nvSpPr>
        <p:spPr>
          <a:xfrm>
            <a:off x="4174434" y="6145092"/>
            <a:ext cx="530087" cy="5232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E69D6C9-7E58-EFE3-AD06-AFD7DBDA7DC4}"/>
              </a:ext>
            </a:extLst>
          </p:cNvPr>
          <p:cNvSpPr/>
          <p:nvPr/>
        </p:nvSpPr>
        <p:spPr>
          <a:xfrm>
            <a:off x="2014329" y="6145092"/>
            <a:ext cx="530087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7724EF5-6120-EF7A-4D4B-17088F55512B}"/>
              </a:ext>
            </a:extLst>
          </p:cNvPr>
          <p:cNvCxnSpPr>
            <a:cxnSpLocks/>
          </p:cNvCxnSpPr>
          <p:nvPr/>
        </p:nvCxnSpPr>
        <p:spPr>
          <a:xfrm flipH="1">
            <a:off x="2302562" y="5566905"/>
            <a:ext cx="1063488" cy="551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56DABC1-DB2C-CB0D-50DA-46B6CC3D9CC8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3339544" y="5540641"/>
            <a:ext cx="1099934" cy="604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0F8E328-0692-D987-45A9-983EF7424ABC}"/>
              </a:ext>
            </a:extLst>
          </p:cNvPr>
          <p:cNvSpPr txBox="1"/>
          <p:nvPr/>
        </p:nvSpPr>
        <p:spPr>
          <a:xfrm>
            <a:off x="7374832" y="2942821"/>
            <a:ext cx="4644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Recurrence Relation is </a:t>
            </a: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9EC886-2E3C-74D0-DAB1-1F0D112F5B92}"/>
              </a:ext>
            </a:extLst>
          </p:cNvPr>
          <p:cNvSpPr txBox="1"/>
          <p:nvPr/>
        </p:nvSpPr>
        <p:spPr>
          <a:xfrm>
            <a:off x="7388086" y="3597097"/>
            <a:ext cx="4644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 T(n-1) + T(0)  + O(n)</a:t>
            </a: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22F8A0-77CD-3BFB-4797-9BF0A97F3B6A}"/>
              </a:ext>
            </a:extLst>
          </p:cNvPr>
          <p:cNvSpPr txBox="1"/>
          <p:nvPr/>
        </p:nvSpPr>
        <p:spPr>
          <a:xfrm>
            <a:off x="7401340" y="4251373"/>
            <a:ext cx="4644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 T(n-1)  + O(n)</a:t>
            </a:r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DD3125-39B4-9569-B322-F83FDB3C01DE}"/>
              </a:ext>
            </a:extLst>
          </p:cNvPr>
          <p:cNvSpPr txBox="1"/>
          <p:nvPr/>
        </p:nvSpPr>
        <p:spPr>
          <a:xfrm>
            <a:off x="8027507" y="5043685"/>
            <a:ext cx="3723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 </a:t>
            </a:r>
            <a:r>
              <a:rPr lang="en-US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O(n</a:t>
            </a:r>
            <a:r>
              <a:rPr lang="en-US" sz="3200" b="1" baseline="30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  <a:r>
              <a:rPr lang="en-US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3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62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13" grpId="0" animBg="1"/>
      <p:bldP spid="14" grpId="0" animBg="1"/>
      <p:bldP spid="15" grpId="0" animBg="1"/>
      <p:bldP spid="16" grpId="0" animBg="1"/>
      <p:bldP spid="31" grpId="0" animBg="1"/>
      <p:bldP spid="32" grpId="0" animBg="1"/>
      <p:bldP spid="33" grpId="0" animBg="1"/>
      <p:bldP spid="3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3" grpId="0" animBg="1"/>
      <p:bldP spid="54" grpId="0" animBg="1"/>
      <p:bldP spid="55" grpId="0" animBg="1"/>
      <p:bldP spid="58" grpId="0" animBg="1"/>
      <p:bldP spid="59" grpId="0" animBg="1"/>
      <p:bldP spid="62" grpId="0"/>
      <p:bldP spid="63" grpId="0"/>
      <p:bldP spid="64" grpId="0"/>
      <p:bldP spid="6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Quick Sort: Best Case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438AB-1336-D773-2218-C3AAFCE997A9}"/>
              </a:ext>
            </a:extLst>
          </p:cNvPr>
          <p:cNvSpPr txBox="1"/>
          <p:nvPr/>
        </p:nvSpPr>
        <p:spPr>
          <a:xfrm>
            <a:off x="89452" y="1153214"/>
            <a:ext cx="11449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the Partition process divides the data set in 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almost equal half </a:t>
            </a:r>
            <a:endParaRPr lang="en-IN" sz="2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C48DC-D76D-9489-ACDA-9758B8DB2E5F}"/>
              </a:ext>
            </a:extLst>
          </p:cNvPr>
          <p:cNvSpPr/>
          <p:nvPr/>
        </p:nvSpPr>
        <p:spPr>
          <a:xfrm>
            <a:off x="1007165" y="1802296"/>
            <a:ext cx="5592418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4B417-1BD8-8864-677B-E8C06457C1C5}"/>
              </a:ext>
            </a:extLst>
          </p:cNvPr>
          <p:cNvSpPr/>
          <p:nvPr/>
        </p:nvSpPr>
        <p:spPr>
          <a:xfrm>
            <a:off x="1007165" y="2978426"/>
            <a:ext cx="2305878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EF6DA01-3826-C02E-85B3-B419E928517B}"/>
              </a:ext>
            </a:extLst>
          </p:cNvPr>
          <p:cNvSpPr/>
          <p:nvPr/>
        </p:nvSpPr>
        <p:spPr>
          <a:xfrm>
            <a:off x="4293705" y="2978426"/>
            <a:ext cx="2305878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n/2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390FC6-F5C2-26FD-A26A-3120158EB140}"/>
              </a:ext>
            </a:extLst>
          </p:cNvPr>
          <p:cNvSpPr/>
          <p:nvPr/>
        </p:nvSpPr>
        <p:spPr>
          <a:xfrm>
            <a:off x="96079" y="4239219"/>
            <a:ext cx="1066800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n/4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CFA12E-88EA-43BE-EBB1-424683A73C32}"/>
              </a:ext>
            </a:extLst>
          </p:cNvPr>
          <p:cNvSpPr/>
          <p:nvPr/>
        </p:nvSpPr>
        <p:spPr>
          <a:xfrm>
            <a:off x="2246243" y="4305840"/>
            <a:ext cx="1066800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n/4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1D0405-2622-8D18-9A53-B634EAC1AB65}"/>
              </a:ext>
            </a:extLst>
          </p:cNvPr>
          <p:cNvSpPr/>
          <p:nvPr/>
        </p:nvSpPr>
        <p:spPr>
          <a:xfrm>
            <a:off x="3760305" y="4305840"/>
            <a:ext cx="1066800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n/4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66BE92-5C59-6B5E-D688-225D6A6EC000}"/>
              </a:ext>
            </a:extLst>
          </p:cNvPr>
          <p:cNvSpPr/>
          <p:nvPr/>
        </p:nvSpPr>
        <p:spPr>
          <a:xfrm>
            <a:off x="6298097" y="4305840"/>
            <a:ext cx="1066800" cy="6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n/4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45D27F-28DC-C0A4-29E8-7F9DA3AD6647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2160104" y="2438400"/>
            <a:ext cx="1643270" cy="5400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3D5987-5A98-AFE9-DD51-DD4040B4DFF5}"/>
              </a:ext>
            </a:extLst>
          </p:cNvPr>
          <p:cNvCxnSpPr>
            <a:cxnSpLocks/>
            <a:stCxn id="3" idx="2"/>
            <a:endCxn id="37" idx="0"/>
          </p:cNvCxnSpPr>
          <p:nvPr/>
        </p:nvCxnSpPr>
        <p:spPr>
          <a:xfrm>
            <a:off x="3803374" y="2438400"/>
            <a:ext cx="1643270" cy="5400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91852BC-B257-E0A7-9EA1-56752C6AFF5C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629479" y="3639738"/>
            <a:ext cx="1325217" cy="5994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4CA9A57-83D7-9468-0ACF-1930A43CFA1F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1954696" y="3639738"/>
            <a:ext cx="824947" cy="6661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5DB75A3-2DE5-0F2A-8C14-BC1BF5977F80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4293705" y="3614530"/>
            <a:ext cx="1328531" cy="6913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137B0D8-C5E3-472D-3426-88A6DE0974EA}"/>
              </a:ext>
            </a:extLst>
          </p:cNvPr>
          <p:cNvCxnSpPr>
            <a:cxnSpLocks/>
          </p:cNvCxnSpPr>
          <p:nvPr/>
        </p:nvCxnSpPr>
        <p:spPr>
          <a:xfrm>
            <a:off x="5622236" y="3614530"/>
            <a:ext cx="824947" cy="66610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3785238-09A8-BD12-727D-FD49EC253BEC}"/>
              </a:ext>
            </a:extLst>
          </p:cNvPr>
          <p:cNvCxnSpPr>
            <a:stCxn id="38" idx="2"/>
          </p:cNvCxnSpPr>
          <p:nvPr/>
        </p:nvCxnSpPr>
        <p:spPr>
          <a:xfrm>
            <a:off x="629479" y="4875323"/>
            <a:ext cx="0" cy="544816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6308B62-BB3E-D658-658D-AC76DEFF52B1}"/>
              </a:ext>
            </a:extLst>
          </p:cNvPr>
          <p:cNvCxnSpPr/>
          <p:nvPr/>
        </p:nvCxnSpPr>
        <p:spPr>
          <a:xfrm>
            <a:off x="6864627" y="4941944"/>
            <a:ext cx="0" cy="544816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7BB12BA-E326-1B5A-334C-1A96109B850D}"/>
              </a:ext>
            </a:extLst>
          </p:cNvPr>
          <p:cNvCxnSpPr/>
          <p:nvPr/>
        </p:nvCxnSpPr>
        <p:spPr>
          <a:xfrm>
            <a:off x="4293705" y="4941944"/>
            <a:ext cx="0" cy="544816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17105D6-B4A1-ECCC-9762-B359F890F25C}"/>
              </a:ext>
            </a:extLst>
          </p:cNvPr>
          <p:cNvCxnSpPr/>
          <p:nvPr/>
        </p:nvCxnSpPr>
        <p:spPr>
          <a:xfrm>
            <a:off x="2779643" y="4941944"/>
            <a:ext cx="0" cy="544816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99850E7-B070-B452-A4CC-5AEFE44F4498}"/>
              </a:ext>
            </a:extLst>
          </p:cNvPr>
          <p:cNvSpPr txBox="1"/>
          <p:nvPr/>
        </p:nvSpPr>
        <p:spPr>
          <a:xfrm>
            <a:off x="7089914" y="2194891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Recurrence Relation is </a:t>
            </a:r>
            <a:endParaRPr lang="en-IN" sz="2800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A04709-C826-2BF3-695A-51F91DB1F435}"/>
              </a:ext>
            </a:extLst>
          </p:cNvPr>
          <p:cNvSpPr txBox="1"/>
          <p:nvPr/>
        </p:nvSpPr>
        <p:spPr>
          <a:xfrm>
            <a:off x="7089914" y="2848900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=T(n/2) +T(n/2) + O(n)</a:t>
            </a:r>
            <a:endParaRPr lang="en-IN" sz="28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31E0D8-A642-13C9-900F-381FD41801B1}"/>
              </a:ext>
            </a:extLst>
          </p:cNvPr>
          <p:cNvSpPr txBox="1"/>
          <p:nvPr/>
        </p:nvSpPr>
        <p:spPr>
          <a:xfrm>
            <a:off x="7089914" y="3502909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=2T(n/2) + O(n)</a:t>
            </a:r>
            <a:endParaRPr lang="en-IN" sz="28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0DCD90-08A0-A07F-EB6A-B2F5C6C2AA34}"/>
              </a:ext>
            </a:extLst>
          </p:cNvPr>
          <p:cNvSpPr txBox="1"/>
          <p:nvPr/>
        </p:nvSpPr>
        <p:spPr>
          <a:xfrm>
            <a:off x="8040758" y="4624511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O(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nlogn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3" grpId="0"/>
      <p:bldP spid="74" grpId="0"/>
      <p:bldP spid="7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Quick Sort: Best Case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438AB-1336-D773-2218-C3AAFCE997A9}"/>
              </a:ext>
            </a:extLst>
          </p:cNvPr>
          <p:cNvSpPr txBox="1"/>
          <p:nvPr/>
        </p:nvSpPr>
        <p:spPr>
          <a:xfrm>
            <a:off x="89452" y="1153214"/>
            <a:ext cx="11449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the Partition process divides the data set as follows</a:t>
            </a:r>
            <a:endParaRPr lang="en-IN" sz="28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240CE7-D8B0-4558-611E-515D7FB7CBB4}"/>
              </a:ext>
            </a:extLst>
          </p:cNvPr>
          <p:cNvGrpSpPr/>
          <p:nvPr/>
        </p:nvGrpSpPr>
        <p:grpSpPr>
          <a:xfrm>
            <a:off x="96079" y="1802296"/>
            <a:ext cx="5708373" cy="3685616"/>
            <a:chOff x="96079" y="1802296"/>
            <a:chExt cx="7268818" cy="383095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DC48DC-D76D-9489-ACDA-9758B8DB2E5F}"/>
                </a:ext>
              </a:extLst>
            </p:cNvPr>
            <p:cNvSpPr/>
            <p:nvPr/>
          </p:nvSpPr>
          <p:spPr>
            <a:xfrm>
              <a:off x="1007165" y="1802296"/>
              <a:ext cx="5592418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154B417-1BD8-8864-677B-E8C06457C1C5}"/>
                </a:ext>
              </a:extLst>
            </p:cNvPr>
            <p:cNvSpPr/>
            <p:nvPr/>
          </p:nvSpPr>
          <p:spPr>
            <a:xfrm>
              <a:off x="1007165" y="2978426"/>
              <a:ext cx="2305878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90%</a:t>
              </a:r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F6DA01-3826-C02E-85B3-B419E928517B}"/>
                </a:ext>
              </a:extLst>
            </p:cNvPr>
            <p:cNvSpPr/>
            <p:nvPr/>
          </p:nvSpPr>
          <p:spPr>
            <a:xfrm>
              <a:off x="4293705" y="2978426"/>
              <a:ext cx="2305878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10%</a:t>
              </a:r>
              <a:endParaRPr lang="en-IN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390FC6-F5C2-26FD-A26A-3120158EB140}"/>
                </a:ext>
              </a:extLst>
            </p:cNvPr>
            <p:cNvSpPr/>
            <p:nvPr/>
          </p:nvSpPr>
          <p:spPr>
            <a:xfrm>
              <a:off x="96079" y="4239219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90%</a:t>
              </a:r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CCFA12E-88EA-43BE-EBB1-424683A73C32}"/>
                </a:ext>
              </a:extLst>
            </p:cNvPr>
            <p:cNvSpPr/>
            <p:nvPr/>
          </p:nvSpPr>
          <p:spPr>
            <a:xfrm>
              <a:off x="2246243" y="4305840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10%</a:t>
              </a:r>
              <a:endParaRPr lang="en-IN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01D0405-2622-8D18-9A53-B634EAC1AB65}"/>
                </a:ext>
              </a:extLst>
            </p:cNvPr>
            <p:cNvSpPr/>
            <p:nvPr/>
          </p:nvSpPr>
          <p:spPr>
            <a:xfrm>
              <a:off x="3760305" y="4305840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90%</a:t>
              </a:r>
              <a:endParaRPr lang="en-I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D66BE92-5C59-6B5E-D688-225D6A6EC000}"/>
                </a:ext>
              </a:extLst>
            </p:cNvPr>
            <p:cNvSpPr/>
            <p:nvPr/>
          </p:nvSpPr>
          <p:spPr>
            <a:xfrm>
              <a:off x="6298097" y="4305840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10%</a:t>
              </a:r>
              <a:endParaRPr lang="en-IN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A45D27F-28DC-C0A4-29E8-7F9DA3AD6647}"/>
                </a:ext>
              </a:extLst>
            </p:cNvPr>
            <p:cNvCxnSpPr>
              <a:stCxn id="3" idx="2"/>
              <a:endCxn id="5" idx="0"/>
            </p:cNvCxnSpPr>
            <p:nvPr/>
          </p:nvCxnSpPr>
          <p:spPr>
            <a:xfrm flipH="1">
              <a:off x="2160104" y="2438400"/>
              <a:ext cx="1643270" cy="5400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93D5987-5A98-AFE9-DD51-DD4040B4DFF5}"/>
                </a:ext>
              </a:extLst>
            </p:cNvPr>
            <p:cNvCxnSpPr>
              <a:cxnSpLocks/>
              <a:stCxn id="3" idx="2"/>
              <a:endCxn id="37" idx="0"/>
            </p:cNvCxnSpPr>
            <p:nvPr/>
          </p:nvCxnSpPr>
          <p:spPr>
            <a:xfrm>
              <a:off x="3803374" y="2438400"/>
              <a:ext cx="1643270" cy="5400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91852BC-B257-E0A7-9EA1-56752C6AFF5C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629479" y="3639738"/>
              <a:ext cx="1325217" cy="5994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4CA9A57-83D7-9468-0ACF-1930A43CFA1F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1954696" y="3639738"/>
              <a:ext cx="824947" cy="6661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5DB75A3-2DE5-0F2A-8C14-BC1BF5977F80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4293705" y="3614530"/>
              <a:ext cx="1328531" cy="6913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137B0D8-C5E3-472D-3426-88A6DE0974EA}"/>
                </a:ext>
              </a:extLst>
            </p:cNvPr>
            <p:cNvCxnSpPr>
              <a:cxnSpLocks/>
            </p:cNvCxnSpPr>
            <p:nvPr/>
          </p:nvCxnSpPr>
          <p:spPr>
            <a:xfrm>
              <a:off x="5622236" y="3614530"/>
              <a:ext cx="824947" cy="6661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785238-09A8-BD12-727D-FD49EC253BEC}"/>
                </a:ext>
              </a:extLst>
            </p:cNvPr>
            <p:cNvCxnSpPr>
              <a:stCxn id="38" idx="2"/>
            </p:cNvCxnSpPr>
            <p:nvPr/>
          </p:nvCxnSpPr>
          <p:spPr>
            <a:xfrm>
              <a:off x="629479" y="4875323"/>
              <a:ext cx="0" cy="54481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6308B62-BB3E-D658-658D-AC76DEFF52B1}"/>
                </a:ext>
              </a:extLst>
            </p:cNvPr>
            <p:cNvCxnSpPr>
              <a:cxnSpLocks/>
            </p:cNvCxnSpPr>
            <p:nvPr/>
          </p:nvCxnSpPr>
          <p:spPr>
            <a:xfrm>
              <a:off x="6864628" y="4941943"/>
              <a:ext cx="0" cy="691310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7BB12BA-E326-1B5A-334C-1A96109B850D}"/>
                </a:ext>
              </a:extLst>
            </p:cNvPr>
            <p:cNvCxnSpPr>
              <a:cxnSpLocks/>
            </p:cNvCxnSpPr>
            <p:nvPr/>
          </p:nvCxnSpPr>
          <p:spPr>
            <a:xfrm>
              <a:off x="4293705" y="4941944"/>
              <a:ext cx="0" cy="54481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17105D6-B4A1-ECCC-9762-B359F890F25C}"/>
                </a:ext>
              </a:extLst>
            </p:cNvPr>
            <p:cNvCxnSpPr>
              <a:cxnSpLocks/>
            </p:cNvCxnSpPr>
            <p:nvPr/>
          </p:nvCxnSpPr>
          <p:spPr>
            <a:xfrm>
              <a:off x="2779643" y="4941944"/>
              <a:ext cx="0" cy="54481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850E7-B070-B452-A4CC-5AEFE44F4498}"/>
              </a:ext>
            </a:extLst>
          </p:cNvPr>
          <p:cNvSpPr txBox="1"/>
          <p:nvPr/>
        </p:nvSpPr>
        <p:spPr>
          <a:xfrm>
            <a:off x="7089914" y="2194891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Recurrence Relation is </a:t>
            </a:r>
            <a:endParaRPr lang="en-IN" sz="2800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5A04709-C826-2BF3-695A-51F91DB1F435}"/>
                  </a:ext>
                </a:extLst>
              </p:cNvPr>
              <p:cNvSpPr txBox="1"/>
              <p:nvPr/>
            </p:nvSpPr>
            <p:spPr>
              <a:xfrm>
                <a:off x="6612837" y="2876295"/>
                <a:ext cx="6069496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90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𝑛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5A04709-C826-2BF3-695A-51F91DB1F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837" y="2876295"/>
                <a:ext cx="6069496" cy="10604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5B0DCD90-08A0-A07F-EB6A-B2F5C6C2AA34}"/>
              </a:ext>
            </a:extLst>
          </p:cNvPr>
          <p:cNvSpPr txBox="1"/>
          <p:nvPr/>
        </p:nvSpPr>
        <p:spPr>
          <a:xfrm>
            <a:off x="8799428" y="5308381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O(</a:t>
            </a:r>
            <a:r>
              <a:rPr lang="en-US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nlogn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8D4EC5-9538-DDE9-0962-A058E6AB8B86}"/>
                  </a:ext>
                </a:extLst>
              </p:cNvPr>
              <p:cNvSpPr txBox="1"/>
              <p:nvPr/>
            </p:nvSpPr>
            <p:spPr>
              <a:xfrm>
                <a:off x="6493154" y="3954520"/>
                <a:ext cx="6069496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9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𝑛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8D4EC5-9538-DDE9-0962-A058E6AB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154" y="3954520"/>
                <a:ext cx="6069496" cy="1060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51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3" grpId="0"/>
      <p:bldP spid="75" grpId="0"/>
      <p:bldP spid="2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EE779-8CA7-F2FD-CED9-DBE98899BD3C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chemeClr val="bg1"/>
                </a:solidFill>
                <a:latin typeface="Arial Black" panose="020B0A04020102020204" pitchFamily="34" charset="0"/>
              </a:rPr>
              <a:t>Quick Sort: Best Case</a:t>
            </a:r>
            <a:endParaRPr lang="en-IN" sz="6000" b="1" u="sng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438AB-1336-D773-2218-C3AAFCE997A9}"/>
              </a:ext>
            </a:extLst>
          </p:cNvPr>
          <p:cNvSpPr txBox="1"/>
          <p:nvPr/>
        </p:nvSpPr>
        <p:spPr>
          <a:xfrm>
            <a:off x="89452" y="1153214"/>
            <a:ext cx="11449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If the Partition process divides the data set as follows</a:t>
            </a:r>
            <a:endParaRPr lang="en-IN" sz="2800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C240CE7-D8B0-4558-611E-515D7FB7CBB4}"/>
              </a:ext>
            </a:extLst>
          </p:cNvPr>
          <p:cNvGrpSpPr/>
          <p:nvPr/>
        </p:nvGrpSpPr>
        <p:grpSpPr>
          <a:xfrm>
            <a:off x="89452" y="1769381"/>
            <a:ext cx="5708373" cy="3544681"/>
            <a:chOff x="96079" y="1802296"/>
            <a:chExt cx="7268818" cy="36844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9DC48DC-D76D-9489-ACDA-9758B8DB2E5F}"/>
                </a:ext>
              </a:extLst>
            </p:cNvPr>
            <p:cNvSpPr/>
            <p:nvPr/>
          </p:nvSpPr>
          <p:spPr>
            <a:xfrm>
              <a:off x="1007165" y="1802296"/>
              <a:ext cx="5592418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154B417-1BD8-8864-677B-E8C06457C1C5}"/>
                </a:ext>
              </a:extLst>
            </p:cNvPr>
            <p:cNvSpPr/>
            <p:nvPr/>
          </p:nvSpPr>
          <p:spPr>
            <a:xfrm>
              <a:off x="1007165" y="2978426"/>
              <a:ext cx="2305878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60%</a:t>
              </a:r>
              <a:endParaRPr lang="en-IN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EF6DA01-3826-C02E-85B3-B419E928517B}"/>
                </a:ext>
              </a:extLst>
            </p:cNvPr>
            <p:cNvSpPr/>
            <p:nvPr/>
          </p:nvSpPr>
          <p:spPr>
            <a:xfrm>
              <a:off x="4293705" y="2978426"/>
              <a:ext cx="2305878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40%</a:t>
              </a:r>
              <a:endParaRPr lang="en-IN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390FC6-F5C2-26FD-A26A-3120158EB140}"/>
                </a:ext>
              </a:extLst>
            </p:cNvPr>
            <p:cNvSpPr/>
            <p:nvPr/>
          </p:nvSpPr>
          <p:spPr>
            <a:xfrm>
              <a:off x="96079" y="4239219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60%</a:t>
              </a:r>
              <a:endParaRPr lang="en-IN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CCFA12E-88EA-43BE-EBB1-424683A73C32}"/>
                </a:ext>
              </a:extLst>
            </p:cNvPr>
            <p:cNvSpPr/>
            <p:nvPr/>
          </p:nvSpPr>
          <p:spPr>
            <a:xfrm>
              <a:off x="2246243" y="4305840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40%</a:t>
              </a:r>
              <a:endParaRPr lang="en-IN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01D0405-2622-8D18-9A53-B634EAC1AB65}"/>
                </a:ext>
              </a:extLst>
            </p:cNvPr>
            <p:cNvSpPr/>
            <p:nvPr/>
          </p:nvSpPr>
          <p:spPr>
            <a:xfrm>
              <a:off x="3760305" y="4305840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60%</a:t>
              </a:r>
              <a:endParaRPr lang="en-IN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D66BE92-5C59-6B5E-D688-225D6A6EC000}"/>
                </a:ext>
              </a:extLst>
            </p:cNvPr>
            <p:cNvSpPr/>
            <p:nvPr/>
          </p:nvSpPr>
          <p:spPr>
            <a:xfrm>
              <a:off x="6298097" y="4305840"/>
              <a:ext cx="1066800" cy="63610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40%</a:t>
              </a:r>
              <a:endParaRPr lang="en-IN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A45D27F-28DC-C0A4-29E8-7F9DA3AD6647}"/>
                </a:ext>
              </a:extLst>
            </p:cNvPr>
            <p:cNvCxnSpPr>
              <a:stCxn id="3" idx="2"/>
              <a:endCxn id="5" idx="0"/>
            </p:cNvCxnSpPr>
            <p:nvPr/>
          </p:nvCxnSpPr>
          <p:spPr>
            <a:xfrm flipH="1">
              <a:off x="2160104" y="2438400"/>
              <a:ext cx="1643270" cy="5400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93D5987-5A98-AFE9-DD51-DD4040B4DFF5}"/>
                </a:ext>
              </a:extLst>
            </p:cNvPr>
            <p:cNvCxnSpPr>
              <a:cxnSpLocks/>
              <a:stCxn id="3" idx="2"/>
              <a:endCxn id="37" idx="0"/>
            </p:cNvCxnSpPr>
            <p:nvPr/>
          </p:nvCxnSpPr>
          <p:spPr>
            <a:xfrm>
              <a:off x="3803374" y="2438400"/>
              <a:ext cx="1643270" cy="54002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91852BC-B257-E0A7-9EA1-56752C6AFF5C}"/>
                </a:ext>
              </a:extLst>
            </p:cNvPr>
            <p:cNvCxnSpPr>
              <a:cxnSpLocks/>
              <a:endCxn id="38" idx="0"/>
            </p:cNvCxnSpPr>
            <p:nvPr/>
          </p:nvCxnSpPr>
          <p:spPr>
            <a:xfrm flipH="1">
              <a:off x="629479" y="3639738"/>
              <a:ext cx="1325217" cy="5994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4CA9A57-83D7-9468-0ACF-1930A43CFA1F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1954696" y="3639738"/>
              <a:ext cx="824947" cy="6661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5DB75A3-2DE5-0F2A-8C14-BC1BF5977F80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>
              <a:off x="4293705" y="3614530"/>
              <a:ext cx="1328531" cy="6913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137B0D8-C5E3-472D-3426-88A6DE0974EA}"/>
                </a:ext>
              </a:extLst>
            </p:cNvPr>
            <p:cNvCxnSpPr>
              <a:cxnSpLocks/>
            </p:cNvCxnSpPr>
            <p:nvPr/>
          </p:nvCxnSpPr>
          <p:spPr>
            <a:xfrm>
              <a:off x="5622236" y="3614530"/>
              <a:ext cx="824947" cy="66610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785238-09A8-BD12-727D-FD49EC253BEC}"/>
                </a:ext>
              </a:extLst>
            </p:cNvPr>
            <p:cNvCxnSpPr>
              <a:stCxn id="38" idx="2"/>
            </p:cNvCxnSpPr>
            <p:nvPr/>
          </p:nvCxnSpPr>
          <p:spPr>
            <a:xfrm>
              <a:off x="629479" y="4875323"/>
              <a:ext cx="0" cy="54481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6308B62-BB3E-D658-658D-AC76DEFF52B1}"/>
                </a:ext>
              </a:extLst>
            </p:cNvPr>
            <p:cNvCxnSpPr>
              <a:cxnSpLocks/>
            </p:cNvCxnSpPr>
            <p:nvPr/>
          </p:nvCxnSpPr>
          <p:spPr>
            <a:xfrm>
              <a:off x="6864628" y="4941943"/>
              <a:ext cx="0" cy="47819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7BB12BA-E326-1B5A-334C-1A96109B850D}"/>
                </a:ext>
              </a:extLst>
            </p:cNvPr>
            <p:cNvCxnSpPr>
              <a:cxnSpLocks/>
            </p:cNvCxnSpPr>
            <p:nvPr/>
          </p:nvCxnSpPr>
          <p:spPr>
            <a:xfrm>
              <a:off x="4293705" y="4941944"/>
              <a:ext cx="0" cy="54481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17105D6-B4A1-ECCC-9762-B359F890F25C}"/>
                </a:ext>
              </a:extLst>
            </p:cNvPr>
            <p:cNvCxnSpPr>
              <a:cxnSpLocks/>
            </p:cNvCxnSpPr>
            <p:nvPr/>
          </p:nvCxnSpPr>
          <p:spPr>
            <a:xfrm>
              <a:off x="2779643" y="4941944"/>
              <a:ext cx="0" cy="544816"/>
            </a:xfrm>
            <a:prstGeom prst="line">
              <a:avLst/>
            </a:prstGeom>
            <a:ln w="38100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9850E7-B070-B452-A4CC-5AEFE44F4498}"/>
              </a:ext>
            </a:extLst>
          </p:cNvPr>
          <p:cNvSpPr txBox="1"/>
          <p:nvPr/>
        </p:nvSpPr>
        <p:spPr>
          <a:xfrm>
            <a:off x="7089914" y="2194891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Recurrence Relation is </a:t>
            </a:r>
            <a:endParaRPr lang="en-IN" sz="2800" dirty="0">
              <a:solidFill>
                <a:srgbClr val="7030A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5A04709-C826-2BF3-695A-51F91DB1F435}"/>
                  </a:ext>
                </a:extLst>
              </p:cNvPr>
              <p:cNvSpPr txBox="1"/>
              <p:nvPr/>
            </p:nvSpPr>
            <p:spPr>
              <a:xfrm>
                <a:off x="6612837" y="2876295"/>
                <a:ext cx="6069496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60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40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100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𝑛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5A04709-C826-2BF3-695A-51F91DB1F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837" y="2876295"/>
                <a:ext cx="6069496" cy="10604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5B0DCD90-08A0-A07F-EB6A-B2F5C6C2AA34}"/>
              </a:ext>
            </a:extLst>
          </p:cNvPr>
          <p:cNvSpPr txBox="1"/>
          <p:nvPr/>
        </p:nvSpPr>
        <p:spPr>
          <a:xfrm>
            <a:off x="8799428" y="5308381"/>
            <a:ext cx="6069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T(n) =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O(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nlogn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Black" panose="020B0004020202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en-IN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Black" panose="020B0004020202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8D4EC5-9538-DDE9-0962-A058E6AB8B86}"/>
                  </a:ext>
                </a:extLst>
              </p:cNvPr>
              <p:cNvSpPr txBox="1"/>
              <p:nvPr/>
            </p:nvSpPr>
            <p:spPr>
              <a:xfrm>
                <a:off x="6493154" y="3954520"/>
                <a:ext cx="6069496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  <m:t>𝑛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3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𝑇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ADLaM Display" panose="02010000000000000000" pitchFamily="2" charset="0"/>
                              <a:cs typeface="ADLaM Display" panose="02010000000000000000" pitchFamily="2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ADLaM Display" panose="02010000000000000000" pitchFamily="2" charset="0"/>
                                  <a:cs typeface="ADLaM Display" panose="02010000000000000000" pitchFamily="2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m:t>𝑛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F8D4EC5-9538-DDE9-0962-A058E6AB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154" y="3954520"/>
                <a:ext cx="6069496" cy="10604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99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73" grpId="0"/>
      <p:bldP spid="75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6840</TotalTime>
  <Words>2282</Words>
  <Application>Microsoft Office PowerPoint</Application>
  <PresentationFormat>Widescreen</PresentationFormat>
  <Paragraphs>863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72" baseType="lpstr">
      <vt:lpstr>Abadi</vt:lpstr>
      <vt:lpstr>ADLaM Display</vt:lpstr>
      <vt:lpstr>Aharoni</vt:lpstr>
      <vt:lpstr>Amasis MT Pro Black</vt:lpstr>
      <vt:lpstr>Aptos Black</vt:lpstr>
      <vt:lpstr>Arial</vt:lpstr>
      <vt:lpstr>Arial Black</vt:lpstr>
      <vt:lpstr>Calibri</vt:lpstr>
      <vt:lpstr>Calibri Light</vt:lpstr>
      <vt:lpstr>Cambria Math</vt:lpstr>
      <vt:lpstr>Century</vt:lpstr>
      <vt:lpstr>Comic Sans MS</vt:lpstr>
      <vt:lpstr>Söhne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Sahu</dc:creator>
  <cp:lastModifiedBy>Dinesh Sahu</cp:lastModifiedBy>
  <cp:revision>17</cp:revision>
  <dcterms:created xsi:type="dcterms:W3CDTF">2023-08-15T04:22:04Z</dcterms:created>
  <dcterms:modified xsi:type="dcterms:W3CDTF">2024-02-13T02:41:53Z</dcterms:modified>
</cp:coreProperties>
</file>