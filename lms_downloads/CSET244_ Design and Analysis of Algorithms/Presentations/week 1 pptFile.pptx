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5"/>
  </p:notesMasterIdLst>
  <p:handoutMasterIdLst>
    <p:handoutMasterId r:id="rId116"/>
  </p:handoutMasterIdLst>
  <p:sldIdLst>
    <p:sldId id="1088" r:id="rId2"/>
    <p:sldId id="1089" r:id="rId3"/>
    <p:sldId id="275" r:id="rId4"/>
    <p:sldId id="278" r:id="rId5"/>
    <p:sldId id="274" r:id="rId6"/>
    <p:sldId id="276" r:id="rId7"/>
    <p:sldId id="277" r:id="rId8"/>
    <p:sldId id="279" r:id="rId9"/>
    <p:sldId id="322" r:id="rId10"/>
    <p:sldId id="301" r:id="rId11"/>
    <p:sldId id="302" r:id="rId12"/>
    <p:sldId id="303" r:id="rId13"/>
    <p:sldId id="304" r:id="rId14"/>
    <p:sldId id="305" r:id="rId15"/>
    <p:sldId id="306" r:id="rId16"/>
    <p:sldId id="307" r:id="rId17"/>
    <p:sldId id="308" r:id="rId18"/>
    <p:sldId id="323" r:id="rId19"/>
    <p:sldId id="309" r:id="rId20"/>
    <p:sldId id="310" r:id="rId21"/>
    <p:sldId id="321" r:id="rId22"/>
    <p:sldId id="311" r:id="rId23"/>
    <p:sldId id="312" r:id="rId24"/>
    <p:sldId id="313" r:id="rId25"/>
    <p:sldId id="314" r:id="rId26"/>
    <p:sldId id="315" r:id="rId27"/>
    <p:sldId id="316" r:id="rId28"/>
    <p:sldId id="317" r:id="rId29"/>
    <p:sldId id="318" r:id="rId30"/>
    <p:sldId id="324" r:id="rId31"/>
    <p:sldId id="325" r:id="rId32"/>
    <p:sldId id="326" r:id="rId33"/>
    <p:sldId id="327" r:id="rId34"/>
    <p:sldId id="328" r:id="rId35"/>
    <p:sldId id="994" r:id="rId36"/>
    <p:sldId id="1012" r:id="rId37"/>
    <p:sldId id="1013" r:id="rId38"/>
    <p:sldId id="1015" r:id="rId39"/>
    <p:sldId id="1018" r:id="rId40"/>
    <p:sldId id="1019" r:id="rId41"/>
    <p:sldId id="1020" r:id="rId42"/>
    <p:sldId id="1026" r:id="rId43"/>
    <p:sldId id="1027" r:id="rId44"/>
    <p:sldId id="1029" r:id="rId45"/>
    <p:sldId id="1030" r:id="rId46"/>
    <p:sldId id="1031" r:id="rId47"/>
    <p:sldId id="1032" r:id="rId48"/>
    <p:sldId id="1033" r:id="rId49"/>
    <p:sldId id="1034" r:id="rId50"/>
    <p:sldId id="1035" r:id="rId51"/>
    <p:sldId id="1036" r:id="rId52"/>
    <p:sldId id="1037" r:id="rId53"/>
    <p:sldId id="1038" r:id="rId54"/>
    <p:sldId id="1039" r:id="rId55"/>
    <p:sldId id="1040" r:id="rId56"/>
    <p:sldId id="1041" r:id="rId57"/>
    <p:sldId id="1042" r:id="rId58"/>
    <p:sldId id="1043" r:id="rId59"/>
    <p:sldId id="1044" r:id="rId60"/>
    <p:sldId id="1045" r:id="rId61"/>
    <p:sldId id="1046" r:id="rId62"/>
    <p:sldId id="1047" r:id="rId63"/>
    <p:sldId id="1048" r:id="rId64"/>
    <p:sldId id="1049" r:id="rId65"/>
    <p:sldId id="1050" r:id="rId66"/>
    <p:sldId id="1051" r:id="rId67"/>
    <p:sldId id="1052" r:id="rId68"/>
    <p:sldId id="1053" r:id="rId69"/>
    <p:sldId id="1054" r:id="rId70"/>
    <p:sldId id="1055" r:id="rId71"/>
    <p:sldId id="1056" r:id="rId72"/>
    <p:sldId id="1057" r:id="rId73"/>
    <p:sldId id="1058" r:id="rId74"/>
    <p:sldId id="1059" r:id="rId75"/>
    <p:sldId id="1060" r:id="rId76"/>
    <p:sldId id="1061" r:id="rId77"/>
    <p:sldId id="1062" r:id="rId78"/>
    <p:sldId id="1064" r:id="rId79"/>
    <p:sldId id="1065" r:id="rId80"/>
    <p:sldId id="1066" r:id="rId81"/>
    <p:sldId id="1067" r:id="rId82"/>
    <p:sldId id="1068" r:id="rId83"/>
    <p:sldId id="1069" r:id="rId84"/>
    <p:sldId id="1070" r:id="rId85"/>
    <p:sldId id="1071" r:id="rId86"/>
    <p:sldId id="1063" r:id="rId87"/>
    <p:sldId id="1090" r:id="rId88"/>
    <p:sldId id="1073" r:id="rId89"/>
    <p:sldId id="1075" r:id="rId90"/>
    <p:sldId id="1076" r:id="rId91"/>
    <p:sldId id="1077" r:id="rId92"/>
    <p:sldId id="1078" r:id="rId93"/>
    <p:sldId id="1079" r:id="rId94"/>
    <p:sldId id="1080" r:id="rId95"/>
    <p:sldId id="1081" r:id="rId96"/>
    <p:sldId id="1082" r:id="rId97"/>
    <p:sldId id="1083" r:id="rId98"/>
    <p:sldId id="1084" r:id="rId99"/>
    <p:sldId id="1085" r:id="rId100"/>
    <p:sldId id="1086" r:id="rId101"/>
    <p:sldId id="1087" r:id="rId102"/>
    <p:sldId id="280" r:id="rId103"/>
    <p:sldId id="281" r:id="rId104"/>
    <p:sldId id="282" r:id="rId105"/>
    <p:sldId id="283" r:id="rId106"/>
    <p:sldId id="284" r:id="rId107"/>
    <p:sldId id="285" r:id="rId108"/>
    <p:sldId id="286" r:id="rId109"/>
    <p:sldId id="287" r:id="rId110"/>
    <p:sldId id="288" r:id="rId111"/>
    <p:sldId id="289" r:id="rId112"/>
    <p:sldId id="290" r:id="rId113"/>
    <p:sldId id="264"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62" y="197"/>
      </p:cViewPr>
      <p:guideLst/>
    </p:cSldViewPr>
  </p:slideViewPr>
  <p:notesTextViewPr>
    <p:cViewPr>
      <p:scale>
        <a:sx n="3" d="2"/>
        <a:sy n="3" d="2"/>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 Id="rId14" Type="http://schemas.openxmlformats.org/officeDocument/2006/relationships/image" Target="../media/image3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 Id="rId1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07BD0D-ADBA-42D2-8245-8D1D6DAD882D}"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EDF41A5-918E-4E6D-B2F6-3351D31A34A5}">
      <dgm:prSet custT="1"/>
      <dgm:spPr/>
      <dgm:t>
        <a:bodyPr/>
        <a:lstStyle/>
        <a:p>
          <a:pPr algn="just"/>
          <a:r>
            <a:rPr lang="en-US" sz="4800" dirty="0">
              <a:latin typeface="Times New Roman" panose="02020603050405020304" pitchFamily="18" charset="0"/>
              <a:cs typeface="Times New Roman" panose="02020603050405020304" pitchFamily="18" charset="0"/>
            </a:rPr>
            <a:t>Design and Analysis of Algorithms (CSET-244)</a:t>
          </a:r>
        </a:p>
      </dgm:t>
    </dgm:pt>
    <dgm:pt modelId="{BE269417-320E-4AF4-8476-BDDABFE471CB}" type="parTrans" cxnId="{A8FD6EEB-5FDA-4B39-90D7-9D12FA64EDF3}">
      <dgm:prSet/>
      <dgm:spPr/>
      <dgm:t>
        <a:bodyPr/>
        <a:lstStyle/>
        <a:p>
          <a:endParaRPr lang="en-US"/>
        </a:p>
      </dgm:t>
    </dgm:pt>
    <dgm:pt modelId="{4DB54C35-4437-40AE-8526-C39D530EADB4}" type="sibTrans" cxnId="{A8FD6EEB-5FDA-4B39-90D7-9D12FA64EDF3}">
      <dgm:prSet/>
      <dgm:spPr/>
      <dgm:t>
        <a:bodyPr/>
        <a:lstStyle/>
        <a:p>
          <a:endParaRPr lang="en-US"/>
        </a:p>
      </dgm:t>
    </dgm:pt>
    <dgm:pt modelId="{F8F9F5D5-7EE5-4C46-9297-92066EE59AAA}" type="pres">
      <dgm:prSet presAssocID="{D807BD0D-ADBA-42D2-8245-8D1D6DAD882D}" presName="vert0" presStyleCnt="0">
        <dgm:presLayoutVars>
          <dgm:dir/>
          <dgm:animOne val="branch"/>
          <dgm:animLvl val="lvl"/>
        </dgm:presLayoutVars>
      </dgm:prSet>
      <dgm:spPr/>
    </dgm:pt>
    <dgm:pt modelId="{3CCC2C0C-F0CE-4F78-B766-E6014F45FA60}" type="pres">
      <dgm:prSet presAssocID="{DEDF41A5-918E-4E6D-B2F6-3351D31A34A5}" presName="thickLine" presStyleLbl="alignNode1" presStyleIdx="0" presStyleCnt="1"/>
      <dgm:spPr/>
    </dgm:pt>
    <dgm:pt modelId="{54AEAE3C-D137-4675-8898-0FC93060E128}" type="pres">
      <dgm:prSet presAssocID="{DEDF41A5-918E-4E6D-B2F6-3351D31A34A5}" presName="horz1" presStyleCnt="0"/>
      <dgm:spPr/>
    </dgm:pt>
    <dgm:pt modelId="{B31D742D-EA88-4809-BA52-4B5115514729}" type="pres">
      <dgm:prSet presAssocID="{DEDF41A5-918E-4E6D-B2F6-3351D31A34A5}" presName="tx1" presStyleLbl="revTx" presStyleIdx="0" presStyleCnt="1" custScaleY="66949"/>
      <dgm:spPr/>
    </dgm:pt>
    <dgm:pt modelId="{F9D56CA8-4167-48F6-ACE7-F63864D04C86}" type="pres">
      <dgm:prSet presAssocID="{DEDF41A5-918E-4E6D-B2F6-3351D31A34A5}" presName="vert1" presStyleCnt="0"/>
      <dgm:spPr/>
    </dgm:pt>
  </dgm:ptLst>
  <dgm:cxnLst>
    <dgm:cxn modelId="{AD2EEB71-7BC1-4B5F-BE79-62E4E94EAC7A}" type="presOf" srcId="{DEDF41A5-918E-4E6D-B2F6-3351D31A34A5}" destId="{B31D742D-EA88-4809-BA52-4B5115514729}" srcOrd="0" destOrd="0" presId="urn:microsoft.com/office/officeart/2008/layout/LinedList"/>
    <dgm:cxn modelId="{BA73F7AE-9972-4E86-860B-AD21D43AAC8C}" type="presOf" srcId="{D807BD0D-ADBA-42D2-8245-8D1D6DAD882D}" destId="{F8F9F5D5-7EE5-4C46-9297-92066EE59AAA}" srcOrd="0" destOrd="0" presId="urn:microsoft.com/office/officeart/2008/layout/LinedList"/>
    <dgm:cxn modelId="{A8FD6EEB-5FDA-4B39-90D7-9D12FA64EDF3}" srcId="{D807BD0D-ADBA-42D2-8245-8D1D6DAD882D}" destId="{DEDF41A5-918E-4E6D-B2F6-3351D31A34A5}" srcOrd="0" destOrd="0" parTransId="{BE269417-320E-4AF4-8476-BDDABFE471CB}" sibTransId="{4DB54C35-4437-40AE-8526-C39D530EADB4}"/>
    <dgm:cxn modelId="{94A3E03B-983C-4FB2-B9A2-D9E300E992AF}" type="presParOf" srcId="{F8F9F5D5-7EE5-4C46-9297-92066EE59AAA}" destId="{3CCC2C0C-F0CE-4F78-B766-E6014F45FA60}" srcOrd="0" destOrd="0" presId="urn:microsoft.com/office/officeart/2008/layout/LinedList"/>
    <dgm:cxn modelId="{DAD6170F-F82F-4AD1-A052-467C9793E599}" type="presParOf" srcId="{F8F9F5D5-7EE5-4C46-9297-92066EE59AAA}" destId="{54AEAE3C-D137-4675-8898-0FC93060E128}" srcOrd="1" destOrd="0" presId="urn:microsoft.com/office/officeart/2008/layout/LinedList"/>
    <dgm:cxn modelId="{D663EB30-9B66-4FE0-9F77-250F1E7A89B1}" type="presParOf" srcId="{54AEAE3C-D137-4675-8898-0FC93060E128}" destId="{B31D742D-EA88-4809-BA52-4B5115514729}" srcOrd="0" destOrd="0" presId="urn:microsoft.com/office/officeart/2008/layout/LinedList"/>
    <dgm:cxn modelId="{C92A2E04-C89C-4ED5-9E71-FFF25249C6EC}" type="presParOf" srcId="{54AEAE3C-D137-4675-8898-0FC93060E128}" destId="{F9D56CA8-4167-48F6-ACE7-F63864D04C8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854C53-6461-4CA8-984F-9C977474A10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FD8525D-11BA-411B-AAF9-D349F61F87AC}">
      <dgm:prSet/>
      <dgm:spPr/>
      <dgm:t>
        <a:bodyPr/>
        <a:lstStyle/>
        <a:p>
          <a:pPr>
            <a:lnSpc>
              <a:spcPct val="100000"/>
            </a:lnSpc>
          </a:pPr>
          <a:r>
            <a:rPr lang="en-IN" dirty="0"/>
            <a:t>3 Hours Lectures</a:t>
          </a:r>
          <a:endParaRPr lang="en-US" dirty="0"/>
        </a:p>
      </dgm:t>
    </dgm:pt>
    <dgm:pt modelId="{98E5567B-8793-4255-800A-97EB4D577306}" type="parTrans" cxnId="{3204FB39-5B3C-41AE-8350-D891F26EE276}">
      <dgm:prSet/>
      <dgm:spPr/>
      <dgm:t>
        <a:bodyPr/>
        <a:lstStyle/>
        <a:p>
          <a:endParaRPr lang="en-US"/>
        </a:p>
      </dgm:t>
    </dgm:pt>
    <dgm:pt modelId="{350D8CC9-E58E-4CFD-9097-4A8E92BE3AC4}" type="sibTrans" cxnId="{3204FB39-5B3C-41AE-8350-D891F26EE276}">
      <dgm:prSet/>
      <dgm:spPr/>
      <dgm:t>
        <a:bodyPr/>
        <a:lstStyle/>
        <a:p>
          <a:endParaRPr lang="en-US"/>
        </a:p>
      </dgm:t>
    </dgm:pt>
    <dgm:pt modelId="{8E96F471-D538-43DA-AEAB-875A9F6E232A}">
      <dgm:prSet/>
      <dgm:spPr/>
      <dgm:t>
        <a:bodyPr/>
        <a:lstStyle/>
        <a:p>
          <a:pPr>
            <a:lnSpc>
              <a:spcPct val="100000"/>
            </a:lnSpc>
          </a:pPr>
          <a:r>
            <a:rPr lang="en-IN" dirty="0"/>
            <a:t>1 Hour Tutorial</a:t>
          </a:r>
          <a:endParaRPr lang="en-US" dirty="0"/>
        </a:p>
      </dgm:t>
    </dgm:pt>
    <dgm:pt modelId="{FD3D4BE8-869A-46E1-B7FB-5A1814EED40D}" type="parTrans" cxnId="{A2C09133-E78C-4B85-8A36-9F7177B6D2E1}">
      <dgm:prSet/>
      <dgm:spPr/>
      <dgm:t>
        <a:bodyPr/>
        <a:lstStyle/>
        <a:p>
          <a:endParaRPr lang="en-US"/>
        </a:p>
      </dgm:t>
    </dgm:pt>
    <dgm:pt modelId="{8AB33A9D-F2CB-439B-B000-45891DAC5DAA}" type="sibTrans" cxnId="{A2C09133-E78C-4B85-8A36-9F7177B6D2E1}">
      <dgm:prSet/>
      <dgm:spPr/>
      <dgm:t>
        <a:bodyPr/>
        <a:lstStyle/>
        <a:p>
          <a:endParaRPr lang="en-US"/>
        </a:p>
      </dgm:t>
    </dgm:pt>
    <dgm:pt modelId="{F5A72C78-E6E1-461A-96BA-2D62D0846E0C}">
      <dgm:prSet/>
      <dgm:spPr/>
      <dgm:t>
        <a:bodyPr/>
        <a:lstStyle/>
        <a:p>
          <a:pPr>
            <a:lnSpc>
              <a:spcPct val="100000"/>
            </a:lnSpc>
          </a:pPr>
          <a:r>
            <a:rPr lang="en-IN" dirty="0"/>
            <a:t>4 Hours Practical</a:t>
          </a:r>
          <a:endParaRPr lang="en-US" dirty="0"/>
        </a:p>
      </dgm:t>
    </dgm:pt>
    <dgm:pt modelId="{A8C38BD9-37DE-4F4D-A904-406856FF861D}" type="parTrans" cxnId="{B27F1783-3D67-4167-9106-2DE7CC742099}">
      <dgm:prSet/>
      <dgm:spPr/>
      <dgm:t>
        <a:bodyPr/>
        <a:lstStyle/>
        <a:p>
          <a:endParaRPr lang="en-US"/>
        </a:p>
      </dgm:t>
    </dgm:pt>
    <dgm:pt modelId="{5135D8CD-7216-4A5D-B5F9-9A405BDADC39}" type="sibTrans" cxnId="{B27F1783-3D67-4167-9106-2DE7CC742099}">
      <dgm:prSet/>
      <dgm:spPr/>
      <dgm:t>
        <a:bodyPr/>
        <a:lstStyle/>
        <a:p>
          <a:endParaRPr lang="en-US"/>
        </a:p>
      </dgm:t>
    </dgm:pt>
    <dgm:pt modelId="{A99FAD6B-F3C4-4BB0-B771-083F7DA95E70}" type="pres">
      <dgm:prSet presAssocID="{FF854C53-6461-4CA8-984F-9C977474A107}" presName="root" presStyleCnt="0">
        <dgm:presLayoutVars>
          <dgm:dir/>
          <dgm:resizeHandles val="exact"/>
        </dgm:presLayoutVars>
      </dgm:prSet>
      <dgm:spPr/>
    </dgm:pt>
    <dgm:pt modelId="{79AE6B46-B2AB-408D-B543-99C97913AA2B}" type="pres">
      <dgm:prSet presAssocID="{EFD8525D-11BA-411B-AAF9-D349F61F87AC}" presName="compNode" presStyleCnt="0"/>
      <dgm:spPr/>
    </dgm:pt>
    <dgm:pt modelId="{187726ED-DDC5-4F15-8663-F5F2435A59B9}" type="pres">
      <dgm:prSet presAssocID="{EFD8525D-11BA-411B-AAF9-D349F61F87AC}" presName="bgRect" presStyleLbl="bgShp" presStyleIdx="0" presStyleCnt="3"/>
      <dgm:spPr/>
    </dgm:pt>
    <dgm:pt modelId="{F30A8911-7772-4C7A-9423-0DD3261BEB90}" type="pres">
      <dgm:prSet presAssocID="{EFD8525D-11BA-411B-AAF9-D349F61F87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ryboard"/>
        </a:ext>
      </dgm:extLst>
    </dgm:pt>
    <dgm:pt modelId="{AF3E0253-E143-4241-A25D-A8F3E4B5D8AD}" type="pres">
      <dgm:prSet presAssocID="{EFD8525D-11BA-411B-AAF9-D349F61F87AC}" presName="spaceRect" presStyleCnt="0"/>
      <dgm:spPr/>
    </dgm:pt>
    <dgm:pt modelId="{87C746F5-A95B-4BBA-B40E-BC1EF1DC1CCF}" type="pres">
      <dgm:prSet presAssocID="{EFD8525D-11BA-411B-AAF9-D349F61F87AC}" presName="parTx" presStyleLbl="revTx" presStyleIdx="0" presStyleCnt="3">
        <dgm:presLayoutVars>
          <dgm:chMax val="0"/>
          <dgm:chPref val="0"/>
        </dgm:presLayoutVars>
      </dgm:prSet>
      <dgm:spPr/>
    </dgm:pt>
    <dgm:pt modelId="{FA5590B3-2BAA-4935-8185-175CCB742A5F}" type="pres">
      <dgm:prSet presAssocID="{350D8CC9-E58E-4CFD-9097-4A8E92BE3AC4}" presName="sibTrans" presStyleCnt="0"/>
      <dgm:spPr/>
    </dgm:pt>
    <dgm:pt modelId="{0D59EBF6-BEF9-4306-A730-10C2DBCA4DD3}" type="pres">
      <dgm:prSet presAssocID="{8E96F471-D538-43DA-AEAB-875A9F6E232A}" presName="compNode" presStyleCnt="0"/>
      <dgm:spPr/>
    </dgm:pt>
    <dgm:pt modelId="{4563BC6F-13F7-49D7-821F-0E84158A6A51}" type="pres">
      <dgm:prSet presAssocID="{8E96F471-D538-43DA-AEAB-875A9F6E232A}" presName="bgRect" presStyleLbl="bgShp" presStyleIdx="1" presStyleCnt="3"/>
      <dgm:spPr/>
    </dgm:pt>
    <dgm:pt modelId="{618788B2-6595-4271-BAA5-06710FB3BA8D}" type="pres">
      <dgm:prSet presAssocID="{8E96F471-D538-43DA-AEAB-875A9F6E232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ur Glass"/>
        </a:ext>
      </dgm:extLst>
    </dgm:pt>
    <dgm:pt modelId="{C2795DEC-02F3-4A06-A6DE-D596F6910177}" type="pres">
      <dgm:prSet presAssocID="{8E96F471-D538-43DA-AEAB-875A9F6E232A}" presName="spaceRect" presStyleCnt="0"/>
      <dgm:spPr/>
    </dgm:pt>
    <dgm:pt modelId="{15AA21D5-F875-48CF-9AD3-3BD853A90263}" type="pres">
      <dgm:prSet presAssocID="{8E96F471-D538-43DA-AEAB-875A9F6E232A}" presName="parTx" presStyleLbl="revTx" presStyleIdx="1" presStyleCnt="3">
        <dgm:presLayoutVars>
          <dgm:chMax val="0"/>
          <dgm:chPref val="0"/>
        </dgm:presLayoutVars>
      </dgm:prSet>
      <dgm:spPr/>
    </dgm:pt>
    <dgm:pt modelId="{F8045FCC-C8B3-479E-8E77-53EC4FB6F4D4}" type="pres">
      <dgm:prSet presAssocID="{8AB33A9D-F2CB-439B-B000-45891DAC5DAA}" presName="sibTrans" presStyleCnt="0"/>
      <dgm:spPr/>
    </dgm:pt>
    <dgm:pt modelId="{48F97A8C-6496-4714-B4CF-319EDB176765}" type="pres">
      <dgm:prSet presAssocID="{F5A72C78-E6E1-461A-96BA-2D62D0846E0C}" presName="compNode" presStyleCnt="0"/>
      <dgm:spPr/>
    </dgm:pt>
    <dgm:pt modelId="{7BEDD284-2193-4381-99E5-D3AB551E0238}" type="pres">
      <dgm:prSet presAssocID="{F5A72C78-E6E1-461A-96BA-2D62D0846E0C}" presName="bgRect" presStyleLbl="bgShp" presStyleIdx="2" presStyleCnt="3"/>
      <dgm:spPr/>
    </dgm:pt>
    <dgm:pt modelId="{5EA43A83-2B8B-49E6-B5B8-5428F2820519}" type="pres">
      <dgm:prSet presAssocID="{F5A72C78-E6E1-461A-96BA-2D62D0846E0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ck"/>
        </a:ext>
      </dgm:extLst>
    </dgm:pt>
    <dgm:pt modelId="{39A4E27D-7A8A-413B-A0D1-1A48E5CE0B16}" type="pres">
      <dgm:prSet presAssocID="{F5A72C78-E6E1-461A-96BA-2D62D0846E0C}" presName="spaceRect" presStyleCnt="0"/>
      <dgm:spPr/>
    </dgm:pt>
    <dgm:pt modelId="{E3DA060D-F85C-43F7-BE8E-7F8B7CFE6EB3}" type="pres">
      <dgm:prSet presAssocID="{F5A72C78-E6E1-461A-96BA-2D62D0846E0C}" presName="parTx" presStyleLbl="revTx" presStyleIdx="2" presStyleCnt="3">
        <dgm:presLayoutVars>
          <dgm:chMax val="0"/>
          <dgm:chPref val="0"/>
        </dgm:presLayoutVars>
      </dgm:prSet>
      <dgm:spPr/>
    </dgm:pt>
  </dgm:ptLst>
  <dgm:cxnLst>
    <dgm:cxn modelId="{6A4F0E01-E03B-4F40-A08F-D33E22B41A25}" type="presOf" srcId="{F5A72C78-E6E1-461A-96BA-2D62D0846E0C}" destId="{E3DA060D-F85C-43F7-BE8E-7F8B7CFE6EB3}" srcOrd="0" destOrd="0" presId="urn:microsoft.com/office/officeart/2018/2/layout/IconVerticalSolidList"/>
    <dgm:cxn modelId="{A2C09133-E78C-4B85-8A36-9F7177B6D2E1}" srcId="{FF854C53-6461-4CA8-984F-9C977474A107}" destId="{8E96F471-D538-43DA-AEAB-875A9F6E232A}" srcOrd="1" destOrd="0" parTransId="{FD3D4BE8-869A-46E1-B7FB-5A1814EED40D}" sibTransId="{8AB33A9D-F2CB-439B-B000-45891DAC5DAA}"/>
    <dgm:cxn modelId="{3204FB39-5B3C-41AE-8350-D891F26EE276}" srcId="{FF854C53-6461-4CA8-984F-9C977474A107}" destId="{EFD8525D-11BA-411B-AAF9-D349F61F87AC}" srcOrd="0" destOrd="0" parTransId="{98E5567B-8793-4255-800A-97EB4D577306}" sibTransId="{350D8CC9-E58E-4CFD-9097-4A8E92BE3AC4}"/>
    <dgm:cxn modelId="{E5DFFD54-7BE1-4737-90A7-D6C9C9F0D6E3}" type="presOf" srcId="{8E96F471-D538-43DA-AEAB-875A9F6E232A}" destId="{15AA21D5-F875-48CF-9AD3-3BD853A90263}" srcOrd="0" destOrd="0" presId="urn:microsoft.com/office/officeart/2018/2/layout/IconVerticalSolidList"/>
    <dgm:cxn modelId="{D5B43A81-771B-42EC-9AB4-38541FB86FD7}" type="presOf" srcId="{FF854C53-6461-4CA8-984F-9C977474A107}" destId="{A99FAD6B-F3C4-4BB0-B771-083F7DA95E70}" srcOrd="0" destOrd="0" presId="urn:microsoft.com/office/officeart/2018/2/layout/IconVerticalSolidList"/>
    <dgm:cxn modelId="{B27F1783-3D67-4167-9106-2DE7CC742099}" srcId="{FF854C53-6461-4CA8-984F-9C977474A107}" destId="{F5A72C78-E6E1-461A-96BA-2D62D0846E0C}" srcOrd="2" destOrd="0" parTransId="{A8C38BD9-37DE-4F4D-A904-406856FF861D}" sibTransId="{5135D8CD-7216-4A5D-B5F9-9A405BDADC39}"/>
    <dgm:cxn modelId="{E452DAC7-2090-4929-AF5B-4016F452331F}" type="presOf" srcId="{EFD8525D-11BA-411B-AAF9-D349F61F87AC}" destId="{87C746F5-A95B-4BBA-B40E-BC1EF1DC1CCF}" srcOrd="0" destOrd="0" presId="urn:microsoft.com/office/officeart/2018/2/layout/IconVerticalSolidList"/>
    <dgm:cxn modelId="{08FC1C3F-ACE9-4DC9-9699-A8CB4FB64912}" type="presParOf" srcId="{A99FAD6B-F3C4-4BB0-B771-083F7DA95E70}" destId="{79AE6B46-B2AB-408D-B543-99C97913AA2B}" srcOrd="0" destOrd="0" presId="urn:microsoft.com/office/officeart/2018/2/layout/IconVerticalSolidList"/>
    <dgm:cxn modelId="{D49FCC2D-D039-418A-8704-94D35364665A}" type="presParOf" srcId="{79AE6B46-B2AB-408D-B543-99C97913AA2B}" destId="{187726ED-DDC5-4F15-8663-F5F2435A59B9}" srcOrd="0" destOrd="0" presId="urn:microsoft.com/office/officeart/2018/2/layout/IconVerticalSolidList"/>
    <dgm:cxn modelId="{55DD1465-2C15-4041-9B74-668242391ADB}" type="presParOf" srcId="{79AE6B46-B2AB-408D-B543-99C97913AA2B}" destId="{F30A8911-7772-4C7A-9423-0DD3261BEB90}" srcOrd="1" destOrd="0" presId="urn:microsoft.com/office/officeart/2018/2/layout/IconVerticalSolidList"/>
    <dgm:cxn modelId="{80CD0D4D-AA3C-47E7-9CB7-86D59EF1917D}" type="presParOf" srcId="{79AE6B46-B2AB-408D-B543-99C97913AA2B}" destId="{AF3E0253-E143-4241-A25D-A8F3E4B5D8AD}" srcOrd="2" destOrd="0" presId="urn:microsoft.com/office/officeart/2018/2/layout/IconVerticalSolidList"/>
    <dgm:cxn modelId="{1AFC112D-A3CD-4486-8FA4-33625E7F304A}" type="presParOf" srcId="{79AE6B46-B2AB-408D-B543-99C97913AA2B}" destId="{87C746F5-A95B-4BBA-B40E-BC1EF1DC1CCF}" srcOrd="3" destOrd="0" presId="urn:microsoft.com/office/officeart/2018/2/layout/IconVerticalSolidList"/>
    <dgm:cxn modelId="{DF300C54-0792-4D7D-AF8C-F4F32C20BB06}" type="presParOf" srcId="{A99FAD6B-F3C4-4BB0-B771-083F7DA95E70}" destId="{FA5590B3-2BAA-4935-8185-175CCB742A5F}" srcOrd="1" destOrd="0" presId="urn:microsoft.com/office/officeart/2018/2/layout/IconVerticalSolidList"/>
    <dgm:cxn modelId="{A3AB25DD-A741-412F-B27C-586AD755E0EE}" type="presParOf" srcId="{A99FAD6B-F3C4-4BB0-B771-083F7DA95E70}" destId="{0D59EBF6-BEF9-4306-A730-10C2DBCA4DD3}" srcOrd="2" destOrd="0" presId="urn:microsoft.com/office/officeart/2018/2/layout/IconVerticalSolidList"/>
    <dgm:cxn modelId="{D088AF6E-11C5-447B-92EA-25DCDFFF2D83}" type="presParOf" srcId="{0D59EBF6-BEF9-4306-A730-10C2DBCA4DD3}" destId="{4563BC6F-13F7-49D7-821F-0E84158A6A51}" srcOrd="0" destOrd="0" presId="urn:microsoft.com/office/officeart/2018/2/layout/IconVerticalSolidList"/>
    <dgm:cxn modelId="{374BE1DA-57B8-4D1A-A7FD-23B002A7F7B1}" type="presParOf" srcId="{0D59EBF6-BEF9-4306-A730-10C2DBCA4DD3}" destId="{618788B2-6595-4271-BAA5-06710FB3BA8D}" srcOrd="1" destOrd="0" presId="urn:microsoft.com/office/officeart/2018/2/layout/IconVerticalSolidList"/>
    <dgm:cxn modelId="{9D1A0F7E-8CE9-49B3-B047-CD118F3AE681}" type="presParOf" srcId="{0D59EBF6-BEF9-4306-A730-10C2DBCA4DD3}" destId="{C2795DEC-02F3-4A06-A6DE-D596F6910177}" srcOrd="2" destOrd="0" presId="urn:microsoft.com/office/officeart/2018/2/layout/IconVerticalSolidList"/>
    <dgm:cxn modelId="{EA7EB713-4F5D-4328-81D0-72D23C1EDB49}" type="presParOf" srcId="{0D59EBF6-BEF9-4306-A730-10C2DBCA4DD3}" destId="{15AA21D5-F875-48CF-9AD3-3BD853A90263}" srcOrd="3" destOrd="0" presId="urn:microsoft.com/office/officeart/2018/2/layout/IconVerticalSolidList"/>
    <dgm:cxn modelId="{55DFE32E-4483-4C5D-8E05-B7E83EB0CB18}" type="presParOf" srcId="{A99FAD6B-F3C4-4BB0-B771-083F7DA95E70}" destId="{F8045FCC-C8B3-479E-8E77-53EC4FB6F4D4}" srcOrd="3" destOrd="0" presId="urn:microsoft.com/office/officeart/2018/2/layout/IconVerticalSolidList"/>
    <dgm:cxn modelId="{F910176A-E94A-4DAF-9791-723DD1B3B805}" type="presParOf" srcId="{A99FAD6B-F3C4-4BB0-B771-083F7DA95E70}" destId="{48F97A8C-6496-4714-B4CF-319EDB176765}" srcOrd="4" destOrd="0" presId="urn:microsoft.com/office/officeart/2018/2/layout/IconVerticalSolidList"/>
    <dgm:cxn modelId="{242CAA05-D45F-4683-9A80-035B8E29556E}" type="presParOf" srcId="{48F97A8C-6496-4714-B4CF-319EDB176765}" destId="{7BEDD284-2193-4381-99E5-D3AB551E0238}" srcOrd="0" destOrd="0" presId="urn:microsoft.com/office/officeart/2018/2/layout/IconVerticalSolidList"/>
    <dgm:cxn modelId="{E8D52113-4129-4359-8314-0D6EA1D42A33}" type="presParOf" srcId="{48F97A8C-6496-4714-B4CF-319EDB176765}" destId="{5EA43A83-2B8B-49E6-B5B8-5428F2820519}" srcOrd="1" destOrd="0" presId="urn:microsoft.com/office/officeart/2018/2/layout/IconVerticalSolidList"/>
    <dgm:cxn modelId="{588E45E7-B6B8-43E4-BF82-0E1D8DBD145D}" type="presParOf" srcId="{48F97A8C-6496-4714-B4CF-319EDB176765}" destId="{39A4E27D-7A8A-413B-A0D1-1A48E5CE0B16}" srcOrd="2" destOrd="0" presId="urn:microsoft.com/office/officeart/2018/2/layout/IconVerticalSolidList"/>
    <dgm:cxn modelId="{7AB283DC-B7B6-41A0-B205-5269B6D120EF}" type="presParOf" srcId="{48F97A8C-6496-4714-B4CF-319EDB176765}" destId="{E3DA060D-F85C-43F7-BE8E-7F8B7CFE6E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AB8D2A-E191-42FF-9D43-81C6216A6A6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0771F4-FC58-4B9C-B563-76748F11BB34}">
      <dgm:prSet/>
      <dgm:spPr/>
      <dgm:t>
        <a:bodyPr/>
        <a:lstStyle/>
        <a:p>
          <a:r>
            <a:rPr lang="en-IN" dirty="0"/>
            <a:t>Data Structures</a:t>
          </a:r>
          <a:endParaRPr lang="en-US" dirty="0"/>
        </a:p>
      </dgm:t>
    </dgm:pt>
    <dgm:pt modelId="{577BA98A-16CF-40F3-8C9A-2242284C1E03}" type="parTrans" cxnId="{B9D3F238-A2EB-4971-86F8-E793D460D164}">
      <dgm:prSet/>
      <dgm:spPr/>
      <dgm:t>
        <a:bodyPr/>
        <a:lstStyle/>
        <a:p>
          <a:endParaRPr lang="en-US"/>
        </a:p>
      </dgm:t>
    </dgm:pt>
    <dgm:pt modelId="{02AC47D9-6C8F-4975-A1A2-EF7B6D0F0807}" type="sibTrans" cxnId="{B9D3F238-A2EB-4971-86F8-E793D460D164}">
      <dgm:prSet/>
      <dgm:spPr/>
      <dgm:t>
        <a:bodyPr/>
        <a:lstStyle/>
        <a:p>
          <a:endParaRPr lang="en-US"/>
        </a:p>
      </dgm:t>
    </dgm:pt>
    <dgm:pt modelId="{8155881F-24EE-4BDC-9E72-EDDD3C64634C}">
      <dgm:prSet/>
      <dgm:spPr/>
      <dgm:t>
        <a:bodyPr/>
        <a:lstStyle/>
        <a:p>
          <a:r>
            <a:rPr lang="en-IN" dirty="0"/>
            <a:t>Programming</a:t>
          </a:r>
          <a:endParaRPr lang="en-US" dirty="0"/>
        </a:p>
      </dgm:t>
    </dgm:pt>
    <dgm:pt modelId="{832E315C-566E-48C0-B6C7-9AEF742BB913}" type="parTrans" cxnId="{BDE99441-DB02-4170-B461-C9590E9680F5}">
      <dgm:prSet/>
      <dgm:spPr/>
      <dgm:t>
        <a:bodyPr/>
        <a:lstStyle/>
        <a:p>
          <a:endParaRPr lang="en-US"/>
        </a:p>
      </dgm:t>
    </dgm:pt>
    <dgm:pt modelId="{472220ED-6CA6-4AD8-814E-0EF6A9539669}" type="sibTrans" cxnId="{BDE99441-DB02-4170-B461-C9590E9680F5}">
      <dgm:prSet/>
      <dgm:spPr/>
      <dgm:t>
        <a:bodyPr/>
        <a:lstStyle/>
        <a:p>
          <a:endParaRPr lang="en-US"/>
        </a:p>
      </dgm:t>
    </dgm:pt>
    <dgm:pt modelId="{DFD71A88-13AB-4515-859F-1D1CCACB5E02}" type="pres">
      <dgm:prSet presAssocID="{B2AB8D2A-E191-42FF-9D43-81C6216A6A60}" presName="root" presStyleCnt="0">
        <dgm:presLayoutVars>
          <dgm:dir/>
          <dgm:resizeHandles val="exact"/>
        </dgm:presLayoutVars>
      </dgm:prSet>
      <dgm:spPr/>
    </dgm:pt>
    <dgm:pt modelId="{1A5C6581-4B0E-4CFF-A3E6-D707EF061786}" type="pres">
      <dgm:prSet presAssocID="{FB0771F4-FC58-4B9C-B563-76748F11BB34}" presName="compNode" presStyleCnt="0"/>
      <dgm:spPr/>
    </dgm:pt>
    <dgm:pt modelId="{271DB5A9-20A5-4FBE-9B39-B7FE0DACE63F}" type="pres">
      <dgm:prSet presAssocID="{FB0771F4-FC58-4B9C-B563-76748F11BB3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EB10276-AB1C-4645-87E7-09DA1778ED06}" type="pres">
      <dgm:prSet presAssocID="{FB0771F4-FC58-4B9C-B563-76748F11BB34}" presName="spaceRect" presStyleCnt="0"/>
      <dgm:spPr/>
    </dgm:pt>
    <dgm:pt modelId="{D177463A-A5F0-4EF2-A2E4-CCD46E74459C}" type="pres">
      <dgm:prSet presAssocID="{FB0771F4-FC58-4B9C-B563-76748F11BB34}" presName="textRect" presStyleLbl="revTx" presStyleIdx="0" presStyleCnt="2">
        <dgm:presLayoutVars>
          <dgm:chMax val="1"/>
          <dgm:chPref val="1"/>
        </dgm:presLayoutVars>
      </dgm:prSet>
      <dgm:spPr/>
    </dgm:pt>
    <dgm:pt modelId="{C2BB52CE-5358-4A8A-9C39-207B0967F72B}" type="pres">
      <dgm:prSet presAssocID="{02AC47D9-6C8F-4975-A1A2-EF7B6D0F0807}" presName="sibTrans" presStyleCnt="0"/>
      <dgm:spPr/>
    </dgm:pt>
    <dgm:pt modelId="{1912B149-5C15-4932-8AF3-EA698D905ECF}" type="pres">
      <dgm:prSet presAssocID="{8155881F-24EE-4BDC-9E72-EDDD3C64634C}" presName="compNode" presStyleCnt="0"/>
      <dgm:spPr/>
    </dgm:pt>
    <dgm:pt modelId="{3388778F-9C63-4822-9483-A1507C5BF761}" type="pres">
      <dgm:prSet presAssocID="{8155881F-24EE-4BDC-9E72-EDDD3C64634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C52F0BB7-70A4-4B63-87FC-554A0754C946}" type="pres">
      <dgm:prSet presAssocID="{8155881F-24EE-4BDC-9E72-EDDD3C64634C}" presName="spaceRect" presStyleCnt="0"/>
      <dgm:spPr/>
    </dgm:pt>
    <dgm:pt modelId="{0794E756-6AF4-4E12-A6AF-396B1A146F60}" type="pres">
      <dgm:prSet presAssocID="{8155881F-24EE-4BDC-9E72-EDDD3C64634C}" presName="textRect" presStyleLbl="revTx" presStyleIdx="1" presStyleCnt="2">
        <dgm:presLayoutVars>
          <dgm:chMax val="1"/>
          <dgm:chPref val="1"/>
        </dgm:presLayoutVars>
      </dgm:prSet>
      <dgm:spPr/>
    </dgm:pt>
  </dgm:ptLst>
  <dgm:cxnLst>
    <dgm:cxn modelId="{C4F88211-858D-4AED-9E48-176FD4CE9AF8}" type="presOf" srcId="{FB0771F4-FC58-4B9C-B563-76748F11BB34}" destId="{D177463A-A5F0-4EF2-A2E4-CCD46E74459C}" srcOrd="0" destOrd="0" presId="urn:microsoft.com/office/officeart/2018/2/layout/IconLabelList"/>
    <dgm:cxn modelId="{B9D3F238-A2EB-4971-86F8-E793D460D164}" srcId="{B2AB8D2A-E191-42FF-9D43-81C6216A6A60}" destId="{FB0771F4-FC58-4B9C-B563-76748F11BB34}" srcOrd="0" destOrd="0" parTransId="{577BA98A-16CF-40F3-8C9A-2242284C1E03}" sibTransId="{02AC47D9-6C8F-4975-A1A2-EF7B6D0F0807}"/>
    <dgm:cxn modelId="{BDE99441-DB02-4170-B461-C9590E9680F5}" srcId="{B2AB8D2A-E191-42FF-9D43-81C6216A6A60}" destId="{8155881F-24EE-4BDC-9E72-EDDD3C64634C}" srcOrd="1" destOrd="0" parTransId="{832E315C-566E-48C0-B6C7-9AEF742BB913}" sibTransId="{472220ED-6CA6-4AD8-814E-0EF6A9539669}"/>
    <dgm:cxn modelId="{DC2DB859-9A8F-4B5C-9829-E1F273146547}" type="presOf" srcId="{8155881F-24EE-4BDC-9E72-EDDD3C64634C}" destId="{0794E756-6AF4-4E12-A6AF-396B1A146F60}" srcOrd="0" destOrd="0" presId="urn:microsoft.com/office/officeart/2018/2/layout/IconLabelList"/>
    <dgm:cxn modelId="{537DC0C2-F4B3-4B40-A79E-F3F3AC945F8C}" type="presOf" srcId="{B2AB8D2A-E191-42FF-9D43-81C6216A6A60}" destId="{DFD71A88-13AB-4515-859F-1D1CCACB5E02}" srcOrd="0" destOrd="0" presId="urn:microsoft.com/office/officeart/2018/2/layout/IconLabelList"/>
    <dgm:cxn modelId="{199539B0-30F3-42DD-8EC1-4C964FF37FB3}" type="presParOf" srcId="{DFD71A88-13AB-4515-859F-1D1CCACB5E02}" destId="{1A5C6581-4B0E-4CFF-A3E6-D707EF061786}" srcOrd="0" destOrd="0" presId="urn:microsoft.com/office/officeart/2018/2/layout/IconLabelList"/>
    <dgm:cxn modelId="{5C090373-C280-4EE1-987E-883F88F9F9AC}" type="presParOf" srcId="{1A5C6581-4B0E-4CFF-A3E6-D707EF061786}" destId="{271DB5A9-20A5-4FBE-9B39-B7FE0DACE63F}" srcOrd="0" destOrd="0" presId="urn:microsoft.com/office/officeart/2018/2/layout/IconLabelList"/>
    <dgm:cxn modelId="{DD144C14-83A1-498B-8AD9-DFFBB55A9A21}" type="presParOf" srcId="{1A5C6581-4B0E-4CFF-A3E6-D707EF061786}" destId="{EEB10276-AB1C-4645-87E7-09DA1778ED06}" srcOrd="1" destOrd="0" presId="urn:microsoft.com/office/officeart/2018/2/layout/IconLabelList"/>
    <dgm:cxn modelId="{7CC1016E-464F-4DFD-901E-0D94E7C46B55}" type="presParOf" srcId="{1A5C6581-4B0E-4CFF-A3E6-D707EF061786}" destId="{D177463A-A5F0-4EF2-A2E4-CCD46E74459C}" srcOrd="2" destOrd="0" presId="urn:microsoft.com/office/officeart/2018/2/layout/IconLabelList"/>
    <dgm:cxn modelId="{692D80A9-B763-435C-80B8-6F6FEA831CB0}" type="presParOf" srcId="{DFD71A88-13AB-4515-859F-1D1CCACB5E02}" destId="{C2BB52CE-5358-4A8A-9C39-207B0967F72B}" srcOrd="1" destOrd="0" presId="urn:microsoft.com/office/officeart/2018/2/layout/IconLabelList"/>
    <dgm:cxn modelId="{295706B0-E922-4860-899C-60DED5F245E7}" type="presParOf" srcId="{DFD71A88-13AB-4515-859F-1D1CCACB5E02}" destId="{1912B149-5C15-4932-8AF3-EA698D905ECF}" srcOrd="2" destOrd="0" presId="urn:microsoft.com/office/officeart/2018/2/layout/IconLabelList"/>
    <dgm:cxn modelId="{5BB06E2F-1C60-47EF-9BB9-D036F66548B0}" type="presParOf" srcId="{1912B149-5C15-4932-8AF3-EA698D905ECF}" destId="{3388778F-9C63-4822-9483-A1507C5BF761}" srcOrd="0" destOrd="0" presId="urn:microsoft.com/office/officeart/2018/2/layout/IconLabelList"/>
    <dgm:cxn modelId="{5766B5F9-6D28-4182-8409-12163B254FDD}" type="presParOf" srcId="{1912B149-5C15-4932-8AF3-EA698D905ECF}" destId="{C52F0BB7-70A4-4B63-87FC-554A0754C946}" srcOrd="1" destOrd="0" presId="urn:microsoft.com/office/officeart/2018/2/layout/IconLabelList"/>
    <dgm:cxn modelId="{E9A42819-2EFC-4F6C-BF56-2630B653EF73}" type="presParOf" srcId="{1912B149-5C15-4932-8AF3-EA698D905ECF}" destId="{0794E756-6AF4-4E12-A6AF-396B1A146F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0FC8EFF-92E2-4096-B71B-6F15E8504D6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6D5BFE7-46F5-4881-A8F9-CF10284EFDC0}">
      <dgm:prSet custT="1"/>
      <dgm:spPr/>
      <dgm:t>
        <a:bodyPr/>
        <a:lstStyle/>
        <a:p>
          <a:pPr>
            <a:lnSpc>
              <a:spcPct val="100000"/>
            </a:lnSpc>
          </a:pPr>
          <a:r>
            <a:rPr lang="en-IN" sz="2000" dirty="0">
              <a:latin typeface="Times New Roman" panose="02020603050405020304" pitchFamily="18" charset="0"/>
              <a:cs typeface="Times New Roman" panose="02020603050405020304" pitchFamily="18" charset="0"/>
            </a:rPr>
            <a:t>Google</a:t>
          </a:r>
          <a:endParaRPr lang="en-US" sz="2000" dirty="0">
            <a:latin typeface="Times New Roman" panose="02020603050405020304" pitchFamily="18" charset="0"/>
            <a:cs typeface="Times New Roman" panose="02020603050405020304" pitchFamily="18" charset="0"/>
          </a:endParaRPr>
        </a:p>
      </dgm:t>
    </dgm:pt>
    <dgm:pt modelId="{C4FE7647-5F74-4905-BA21-42EE2C3B7B80}" type="parTrans" cxnId="{63F01BD3-867D-4011-986B-2BFCFBA509AE}">
      <dgm:prSet/>
      <dgm:spPr/>
      <dgm:t>
        <a:bodyPr/>
        <a:lstStyle/>
        <a:p>
          <a:endParaRPr lang="en-US" sz="2000">
            <a:latin typeface="Times New Roman" panose="02020603050405020304" pitchFamily="18" charset="0"/>
            <a:cs typeface="Times New Roman" panose="02020603050405020304" pitchFamily="18" charset="0"/>
          </a:endParaRPr>
        </a:p>
      </dgm:t>
    </dgm:pt>
    <dgm:pt modelId="{6CF4B7ED-5DF4-4CD0-A224-6A3C4B80799C}" type="sibTrans" cxnId="{63F01BD3-867D-4011-986B-2BFCFBA509AE}">
      <dgm:prSet/>
      <dgm:spPr/>
      <dgm:t>
        <a:bodyPr/>
        <a:lstStyle/>
        <a:p>
          <a:pPr>
            <a:lnSpc>
              <a:spcPct val="100000"/>
            </a:lnSpc>
          </a:pPr>
          <a:endParaRPr lang="en-US" sz="2000">
            <a:latin typeface="Times New Roman" panose="02020603050405020304" pitchFamily="18" charset="0"/>
            <a:cs typeface="Times New Roman" panose="02020603050405020304" pitchFamily="18" charset="0"/>
          </a:endParaRPr>
        </a:p>
      </dgm:t>
    </dgm:pt>
    <dgm:pt modelId="{470191FE-F77E-4E12-9640-EA4D3D484A41}">
      <dgm:prSet custT="1"/>
      <dgm:spPr/>
      <dgm:t>
        <a:bodyPr/>
        <a:lstStyle/>
        <a:p>
          <a:pPr>
            <a:lnSpc>
              <a:spcPct val="100000"/>
            </a:lnSpc>
          </a:pPr>
          <a:r>
            <a:rPr lang="en-IN" sz="2000">
              <a:latin typeface="Times New Roman" panose="02020603050405020304" pitchFamily="18" charset="0"/>
              <a:cs typeface="Times New Roman" panose="02020603050405020304" pitchFamily="18" charset="0"/>
            </a:rPr>
            <a:t>Geekforgeeks for practising questions and assignments.</a:t>
          </a:r>
          <a:endParaRPr lang="en-US" sz="2000">
            <a:latin typeface="Times New Roman" panose="02020603050405020304" pitchFamily="18" charset="0"/>
            <a:cs typeface="Times New Roman" panose="02020603050405020304" pitchFamily="18" charset="0"/>
          </a:endParaRPr>
        </a:p>
      </dgm:t>
    </dgm:pt>
    <dgm:pt modelId="{3B5F5AC7-29DA-4635-9C31-B3074E2639B3}" type="parTrans" cxnId="{E0E9CC7F-0F8D-44E0-BED5-4DFCF9C888DC}">
      <dgm:prSet/>
      <dgm:spPr/>
      <dgm:t>
        <a:bodyPr/>
        <a:lstStyle/>
        <a:p>
          <a:endParaRPr lang="en-US" sz="2000">
            <a:latin typeface="Times New Roman" panose="02020603050405020304" pitchFamily="18" charset="0"/>
            <a:cs typeface="Times New Roman" panose="02020603050405020304" pitchFamily="18" charset="0"/>
          </a:endParaRPr>
        </a:p>
      </dgm:t>
    </dgm:pt>
    <dgm:pt modelId="{A7CDACBE-9020-4DAB-A969-95BE469D1AED}" type="sibTrans" cxnId="{E0E9CC7F-0F8D-44E0-BED5-4DFCF9C888DC}">
      <dgm:prSet/>
      <dgm:spPr/>
      <dgm:t>
        <a:bodyPr/>
        <a:lstStyle/>
        <a:p>
          <a:pPr>
            <a:lnSpc>
              <a:spcPct val="100000"/>
            </a:lnSpc>
          </a:pPr>
          <a:endParaRPr lang="en-US" sz="2000">
            <a:latin typeface="Times New Roman" panose="02020603050405020304" pitchFamily="18" charset="0"/>
            <a:cs typeface="Times New Roman" panose="02020603050405020304" pitchFamily="18" charset="0"/>
          </a:endParaRPr>
        </a:p>
      </dgm:t>
    </dgm:pt>
    <dgm:pt modelId="{D8244624-FCA3-42BD-8D45-28B3D1C40A64}">
      <dgm:prSet custT="1"/>
      <dgm:spPr/>
      <dgm:t>
        <a:bodyPr/>
        <a:lstStyle/>
        <a:p>
          <a:pPr>
            <a:lnSpc>
              <a:spcPct val="100000"/>
            </a:lnSpc>
          </a:pPr>
          <a:r>
            <a:rPr lang="en-IN" sz="2000">
              <a:latin typeface="Times New Roman" panose="02020603050405020304" pitchFamily="18" charset="0"/>
              <a:cs typeface="Times New Roman" panose="02020603050405020304" pitchFamily="18" charset="0"/>
            </a:rPr>
            <a:t>Class Lectures</a:t>
          </a:r>
          <a:endParaRPr lang="en-US" sz="2000">
            <a:latin typeface="Times New Roman" panose="02020603050405020304" pitchFamily="18" charset="0"/>
            <a:cs typeface="Times New Roman" panose="02020603050405020304" pitchFamily="18" charset="0"/>
          </a:endParaRPr>
        </a:p>
      </dgm:t>
    </dgm:pt>
    <dgm:pt modelId="{906E152C-3166-44D2-B490-C137596309F9}" type="parTrans" cxnId="{B9831DB0-19C3-40B2-B069-6123C5644F9D}">
      <dgm:prSet/>
      <dgm:spPr/>
      <dgm:t>
        <a:bodyPr/>
        <a:lstStyle/>
        <a:p>
          <a:endParaRPr lang="en-US" sz="2000">
            <a:latin typeface="Times New Roman" panose="02020603050405020304" pitchFamily="18" charset="0"/>
            <a:cs typeface="Times New Roman" panose="02020603050405020304" pitchFamily="18" charset="0"/>
          </a:endParaRPr>
        </a:p>
      </dgm:t>
    </dgm:pt>
    <dgm:pt modelId="{6400FAD3-875B-4F81-BB41-7726D99E75E0}" type="sibTrans" cxnId="{B9831DB0-19C3-40B2-B069-6123C5644F9D}">
      <dgm:prSet/>
      <dgm:spPr/>
      <dgm:t>
        <a:bodyPr/>
        <a:lstStyle/>
        <a:p>
          <a:endParaRPr lang="en-US" sz="2000">
            <a:latin typeface="Times New Roman" panose="02020603050405020304" pitchFamily="18" charset="0"/>
            <a:cs typeface="Times New Roman" panose="02020603050405020304" pitchFamily="18" charset="0"/>
          </a:endParaRPr>
        </a:p>
      </dgm:t>
    </dgm:pt>
    <dgm:pt modelId="{98671D0F-E180-420E-9974-1D12CFF10763}" type="pres">
      <dgm:prSet presAssocID="{80FC8EFF-92E2-4096-B71B-6F15E8504D6C}" presName="root" presStyleCnt="0">
        <dgm:presLayoutVars>
          <dgm:dir/>
          <dgm:resizeHandles val="exact"/>
        </dgm:presLayoutVars>
      </dgm:prSet>
      <dgm:spPr/>
    </dgm:pt>
    <dgm:pt modelId="{F5F07642-E232-4DB9-9303-2DB2D75EC4AF}" type="pres">
      <dgm:prSet presAssocID="{80FC8EFF-92E2-4096-B71B-6F15E8504D6C}" presName="container" presStyleCnt="0">
        <dgm:presLayoutVars>
          <dgm:dir/>
          <dgm:resizeHandles val="exact"/>
        </dgm:presLayoutVars>
      </dgm:prSet>
      <dgm:spPr/>
    </dgm:pt>
    <dgm:pt modelId="{4471E3B6-E6B2-4102-AEEF-275BB7EAB03B}" type="pres">
      <dgm:prSet presAssocID="{66D5BFE7-46F5-4881-A8F9-CF10284EFDC0}" presName="compNode" presStyleCnt="0"/>
      <dgm:spPr/>
    </dgm:pt>
    <dgm:pt modelId="{A4EA251C-9C58-4485-B2C4-47D1C4617F8B}" type="pres">
      <dgm:prSet presAssocID="{66D5BFE7-46F5-4881-A8F9-CF10284EFDC0}" presName="iconBgRect" presStyleLbl="bgShp" presStyleIdx="0" presStyleCnt="3"/>
      <dgm:spPr/>
    </dgm:pt>
    <dgm:pt modelId="{33EA9DED-5F58-43B2-9F83-AC53DDFBCCA9}" type="pres">
      <dgm:prSet presAssocID="{66D5BFE7-46F5-4881-A8F9-CF10284EFDC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on Shelf"/>
        </a:ext>
      </dgm:extLst>
    </dgm:pt>
    <dgm:pt modelId="{F876BEB3-D7C0-4D9A-8751-53E78F76BA22}" type="pres">
      <dgm:prSet presAssocID="{66D5BFE7-46F5-4881-A8F9-CF10284EFDC0}" presName="spaceRect" presStyleCnt="0"/>
      <dgm:spPr/>
    </dgm:pt>
    <dgm:pt modelId="{E02DC02E-DF60-4593-907A-1C6D20CFEEC1}" type="pres">
      <dgm:prSet presAssocID="{66D5BFE7-46F5-4881-A8F9-CF10284EFDC0}" presName="textRect" presStyleLbl="revTx" presStyleIdx="0" presStyleCnt="3">
        <dgm:presLayoutVars>
          <dgm:chMax val="1"/>
          <dgm:chPref val="1"/>
        </dgm:presLayoutVars>
      </dgm:prSet>
      <dgm:spPr/>
    </dgm:pt>
    <dgm:pt modelId="{47B049C3-84E4-41E5-AF5A-4E623F9150A8}" type="pres">
      <dgm:prSet presAssocID="{6CF4B7ED-5DF4-4CD0-A224-6A3C4B80799C}" presName="sibTrans" presStyleLbl="sibTrans2D1" presStyleIdx="0" presStyleCnt="0"/>
      <dgm:spPr/>
    </dgm:pt>
    <dgm:pt modelId="{5CB5D145-61E4-485D-9904-9A51A9E59B6A}" type="pres">
      <dgm:prSet presAssocID="{470191FE-F77E-4E12-9640-EA4D3D484A41}" presName="compNode" presStyleCnt="0"/>
      <dgm:spPr/>
    </dgm:pt>
    <dgm:pt modelId="{B7BA1C6E-06EE-4321-B5D8-24BE2D09F269}" type="pres">
      <dgm:prSet presAssocID="{470191FE-F77E-4E12-9640-EA4D3D484A41}" presName="iconBgRect" presStyleLbl="bgShp" presStyleIdx="1" presStyleCnt="3"/>
      <dgm:spPr/>
    </dgm:pt>
    <dgm:pt modelId="{E0652C17-8965-4915-8A4E-5B03E39EB333}" type="pres">
      <dgm:prSet presAssocID="{470191FE-F77E-4E12-9640-EA4D3D484A4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encil"/>
        </a:ext>
      </dgm:extLst>
    </dgm:pt>
    <dgm:pt modelId="{746676D0-D681-4068-86C7-2EE2A5DD3CCB}" type="pres">
      <dgm:prSet presAssocID="{470191FE-F77E-4E12-9640-EA4D3D484A41}" presName="spaceRect" presStyleCnt="0"/>
      <dgm:spPr/>
    </dgm:pt>
    <dgm:pt modelId="{72BD2261-682E-4A0F-8D40-095063893285}" type="pres">
      <dgm:prSet presAssocID="{470191FE-F77E-4E12-9640-EA4D3D484A41}" presName="textRect" presStyleLbl="revTx" presStyleIdx="1" presStyleCnt="3">
        <dgm:presLayoutVars>
          <dgm:chMax val="1"/>
          <dgm:chPref val="1"/>
        </dgm:presLayoutVars>
      </dgm:prSet>
      <dgm:spPr/>
    </dgm:pt>
    <dgm:pt modelId="{C445571D-4D2D-42B0-A857-6B496F27EDA4}" type="pres">
      <dgm:prSet presAssocID="{A7CDACBE-9020-4DAB-A969-95BE469D1AED}" presName="sibTrans" presStyleLbl="sibTrans2D1" presStyleIdx="0" presStyleCnt="0"/>
      <dgm:spPr/>
    </dgm:pt>
    <dgm:pt modelId="{49ED40D1-8C7B-4A6A-AAD1-A303BE1C5D66}" type="pres">
      <dgm:prSet presAssocID="{D8244624-FCA3-42BD-8D45-28B3D1C40A64}" presName="compNode" presStyleCnt="0"/>
      <dgm:spPr/>
    </dgm:pt>
    <dgm:pt modelId="{95EAF2A5-168D-481C-A59C-CF625E1D27AA}" type="pres">
      <dgm:prSet presAssocID="{D8244624-FCA3-42BD-8D45-28B3D1C40A64}" presName="iconBgRect" presStyleLbl="bgShp" presStyleIdx="2" presStyleCnt="3"/>
      <dgm:spPr/>
    </dgm:pt>
    <dgm:pt modelId="{B59DFF53-CBA9-439C-9B87-2351EB4ECAD7}" type="pres">
      <dgm:prSet presAssocID="{D8244624-FCA3-42BD-8D45-28B3D1C40A6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eacher"/>
        </a:ext>
      </dgm:extLst>
    </dgm:pt>
    <dgm:pt modelId="{CDB92C82-D1FA-4249-94CD-4A9E8271BC5D}" type="pres">
      <dgm:prSet presAssocID="{D8244624-FCA3-42BD-8D45-28B3D1C40A64}" presName="spaceRect" presStyleCnt="0"/>
      <dgm:spPr/>
    </dgm:pt>
    <dgm:pt modelId="{10AB224D-C463-451C-964F-A252D16062B8}" type="pres">
      <dgm:prSet presAssocID="{D8244624-FCA3-42BD-8D45-28B3D1C40A64}" presName="textRect" presStyleLbl="revTx" presStyleIdx="2" presStyleCnt="3">
        <dgm:presLayoutVars>
          <dgm:chMax val="1"/>
          <dgm:chPref val="1"/>
        </dgm:presLayoutVars>
      </dgm:prSet>
      <dgm:spPr/>
    </dgm:pt>
  </dgm:ptLst>
  <dgm:cxnLst>
    <dgm:cxn modelId="{1205DF33-DD04-42A2-B70D-07A1D9C41EE6}" type="presOf" srcId="{470191FE-F77E-4E12-9640-EA4D3D484A41}" destId="{72BD2261-682E-4A0F-8D40-095063893285}" srcOrd="0" destOrd="0" presId="urn:microsoft.com/office/officeart/2018/2/layout/IconCircleList"/>
    <dgm:cxn modelId="{2E2DE54F-398B-4584-BB6D-C32AA8C3ABF7}" type="presOf" srcId="{80FC8EFF-92E2-4096-B71B-6F15E8504D6C}" destId="{98671D0F-E180-420E-9974-1D12CFF10763}" srcOrd="0" destOrd="0" presId="urn:microsoft.com/office/officeart/2018/2/layout/IconCircleList"/>
    <dgm:cxn modelId="{6E281A75-0C18-470A-9520-C152042C8B51}" type="presOf" srcId="{A7CDACBE-9020-4DAB-A969-95BE469D1AED}" destId="{C445571D-4D2D-42B0-A857-6B496F27EDA4}" srcOrd="0" destOrd="0" presId="urn:microsoft.com/office/officeart/2018/2/layout/IconCircleList"/>
    <dgm:cxn modelId="{0C764E59-BCEC-4E5C-AF5C-2CF7BBB8F1D4}" type="presOf" srcId="{D8244624-FCA3-42BD-8D45-28B3D1C40A64}" destId="{10AB224D-C463-451C-964F-A252D16062B8}" srcOrd="0" destOrd="0" presId="urn:microsoft.com/office/officeart/2018/2/layout/IconCircleList"/>
    <dgm:cxn modelId="{E0E9CC7F-0F8D-44E0-BED5-4DFCF9C888DC}" srcId="{80FC8EFF-92E2-4096-B71B-6F15E8504D6C}" destId="{470191FE-F77E-4E12-9640-EA4D3D484A41}" srcOrd="1" destOrd="0" parTransId="{3B5F5AC7-29DA-4635-9C31-B3074E2639B3}" sibTransId="{A7CDACBE-9020-4DAB-A969-95BE469D1AED}"/>
    <dgm:cxn modelId="{97DFC09E-638F-4F33-9CD4-6CAC801857F7}" type="presOf" srcId="{6CF4B7ED-5DF4-4CD0-A224-6A3C4B80799C}" destId="{47B049C3-84E4-41E5-AF5A-4E623F9150A8}" srcOrd="0" destOrd="0" presId="urn:microsoft.com/office/officeart/2018/2/layout/IconCircleList"/>
    <dgm:cxn modelId="{B9831DB0-19C3-40B2-B069-6123C5644F9D}" srcId="{80FC8EFF-92E2-4096-B71B-6F15E8504D6C}" destId="{D8244624-FCA3-42BD-8D45-28B3D1C40A64}" srcOrd="2" destOrd="0" parTransId="{906E152C-3166-44D2-B490-C137596309F9}" sibTransId="{6400FAD3-875B-4F81-BB41-7726D99E75E0}"/>
    <dgm:cxn modelId="{180686B3-AAA5-4C64-B509-3178B0B93235}" type="presOf" srcId="{66D5BFE7-46F5-4881-A8F9-CF10284EFDC0}" destId="{E02DC02E-DF60-4593-907A-1C6D20CFEEC1}" srcOrd="0" destOrd="0" presId="urn:microsoft.com/office/officeart/2018/2/layout/IconCircleList"/>
    <dgm:cxn modelId="{63F01BD3-867D-4011-986B-2BFCFBA509AE}" srcId="{80FC8EFF-92E2-4096-B71B-6F15E8504D6C}" destId="{66D5BFE7-46F5-4881-A8F9-CF10284EFDC0}" srcOrd="0" destOrd="0" parTransId="{C4FE7647-5F74-4905-BA21-42EE2C3B7B80}" sibTransId="{6CF4B7ED-5DF4-4CD0-A224-6A3C4B80799C}"/>
    <dgm:cxn modelId="{5D650809-23FE-4C63-8E2D-77DA159954CA}" type="presParOf" srcId="{98671D0F-E180-420E-9974-1D12CFF10763}" destId="{F5F07642-E232-4DB9-9303-2DB2D75EC4AF}" srcOrd="0" destOrd="0" presId="urn:microsoft.com/office/officeart/2018/2/layout/IconCircleList"/>
    <dgm:cxn modelId="{25DA7A70-4C4B-4BAF-AB04-69275727B1FA}" type="presParOf" srcId="{F5F07642-E232-4DB9-9303-2DB2D75EC4AF}" destId="{4471E3B6-E6B2-4102-AEEF-275BB7EAB03B}" srcOrd="0" destOrd="0" presId="urn:microsoft.com/office/officeart/2018/2/layout/IconCircleList"/>
    <dgm:cxn modelId="{5457A1CE-C347-4F90-A5DE-BC28313D2BF3}" type="presParOf" srcId="{4471E3B6-E6B2-4102-AEEF-275BB7EAB03B}" destId="{A4EA251C-9C58-4485-B2C4-47D1C4617F8B}" srcOrd="0" destOrd="0" presId="urn:microsoft.com/office/officeart/2018/2/layout/IconCircleList"/>
    <dgm:cxn modelId="{6C7C631F-A095-481C-AF66-B18BAC7B18D1}" type="presParOf" srcId="{4471E3B6-E6B2-4102-AEEF-275BB7EAB03B}" destId="{33EA9DED-5F58-43B2-9F83-AC53DDFBCCA9}" srcOrd="1" destOrd="0" presId="urn:microsoft.com/office/officeart/2018/2/layout/IconCircleList"/>
    <dgm:cxn modelId="{0AD1512E-A077-4ECB-8688-204DF17AC00B}" type="presParOf" srcId="{4471E3B6-E6B2-4102-AEEF-275BB7EAB03B}" destId="{F876BEB3-D7C0-4D9A-8751-53E78F76BA22}" srcOrd="2" destOrd="0" presId="urn:microsoft.com/office/officeart/2018/2/layout/IconCircleList"/>
    <dgm:cxn modelId="{EE6277BE-5203-4E75-85D4-FFCA4AD48801}" type="presParOf" srcId="{4471E3B6-E6B2-4102-AEEF-275BB7EAB03B}" destId="{E02DC02E-DF60-4593-907A-1C6D20CFEEC1}" srcOrd="3" destOrd="0" presId="urn:microsoft.com/office/officeart/2018/2/layout/IconCircleList"/>
    <dgm:cxn modelId="{9078368E-F342-4D52-97EB-959413AB039E}" type="presParOf" srcId="{F5F07642-E232-4DB9-9303-2DB2D75EC4AF}" destId="{47B049C3-84E4-41E5-AF5A-4E623F9150A8}" srcOrd="1" destOrd="0" presId="urn:microsoft.com/office/officeart/2018/2/layout/IconCircleList"/>
    <dgm:cxn modelId="{885F0FF5-0577-496B-95E0-FA82239D3165}" type="presParOf" srcId="{F5F07642-E232-4DB9-9303-2DB2D75EC4AF}" destId="{5CB5D145-61E4-485D-9904-9A51A9E59B6A}" srcOrd="2" destOrd="0" presId="urn:microsoft.com/office/officeart/2018/2/layout/IconCircleList"/>
    <dgm:cxn modelId="{53391A73-4712-4852-8ADD-A82F89674FF9}" type="presParOf" srcId="{5CB5D145-61E4-485D-9904-9A51A9E59B6A}" destId="{B7BA1C6E-06EE-4321-B5D8-24BE2D09F269}" srcOrd="0" destOrd="0" presId="urn:microsoft.com/office/officeart/2018/2/layout/IconCircleList"/>
    <dgm:cxn modelId="{0C0F5746-3EE6-417A-82A4-0C4073E9F04A}" type="presParOf" srcId="{5CB5D145-61E4-485D-9904-9A51A9E59B6A}" destId="{E0652C17-8965-4915-8A4E-5B03E39EB333}" srcOrd="1" destOrd="0" presId="urn:microsoft.com/office/officeart/2018/2/layout/IconCircleList"/>
    <dgm:cxn modelId="{A700343C-D8A9-4F3B-B8CA-F170C312F0BD}" type="presParOf" srcId="{5CB5D145-61E4-485D-9904-9A51A9E59B6A}" destId="{746676D0-D681-4068-86C7-2EE2A5DD3CCB}" srcOrd="2" destOrd="0" presId="urn:microsoft.com/office/officeart/2018/2/layout/IconCircleList"/>
    <dgm:cxn modelId="{78DDBC43-A7F4-4849-BF31-7A10F638F8ED}" type="presParOf" srcId="{5CB5D145-61E4-485D-9904-9A51A9E59B6A}" destId="{72BD2261-682E-4A0F-8D40-095063893285}" srcOrd="3" destOrd="0" presId="urn:microsoft.com/office/officeart/2018/2/layout/IconCircleList"/>
    <dgm:cxn modelId="{597B1C52-C272-4ACB-9F4B-34FBC0998A23}" type="presParOf" srcId="{F5F07642-E232-4DB9-9303-2DB2D75EC4AF}" destId="{C445571D-4D2D-42B0-A857-6B496F27EDA4}" srcOrd="3" destOrd="0" presId="urn:microsoft.com/office/officeart/2018/2/layout/IconCircleList"/>
    <dgm:cxn modelId="{65610E61-1388-49E7-B88E-B9F3B712F866}" type="presParOf" srcId="{F5F07642-E232-4DB9-9303-2DB2D75EC4AF}" destId="{49ED40D1-8C7B-4A6A-AAD1-A303BE1C5D66}" srcOrd="4" destOrd="0" presId="urn:microsoft.com/office/officeart/2018/2/layout/IconCircleList"/>
    <dgm:cxn modelId="{E54430C1-A651-4CC0-BDCA-D0F3553C7B31}" type="presParOf" srcId="{49ED40D1-8C7B-4A6A-AAD1-A303BE1C5D66}" destId="{95EAF2A5-168D-481C-A59C-CF625E1D27AA}" srcOrd="0" destOrd="0" presId="urn:microsoft.com/office/officeart/2018/2/layout/IconCircleList"/>
    <dgm:cxn modelId="{20458471-2444-4CEA-8E59-C2348D292FF2}" type="presParOf" srcId="{49ED40D1-8C7B-4A6A-AAD1-A303BE1C5D66}" destId="{B59DFF53-CBA9-439C-9B87-2351EB4ECAD7}" srcOrd="1" destOrd="0" presId="urn:microsoft.com/office/officeart/2018/2/layout/IconCircleList"/>
    <dgm:cxn modelId="{BC0BDB19-B9A6-433D-BEF3-A2027E0E4A30}" type="presParOf" srcId="{49ED40D1-8C7B-4A6A-AAD1-A303BE1C5D66}" destId="{CDB92C82-D1FA-4249-94CD-4A9E8271BC5D}" srcOrd="2" destOrd="0" presId="urn:microsoft.com/office/officeart/2018/2/layout/IconCircleList"/>
    <dgm:cxn modelId="{2945398D-85AA-48AA-B583-C5C8E77B6CBB}" type="presParOf" srcId="{49ED40D1-8C7B-4A6A-AAD1-A303BE1C5D66}" destId="{10AB224D-C463-451C-964F-A252D16062B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0683E4-CDF6-491B-9888-E4622AF0F2E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F8D8D07-E718-4B82-99FE-0F953950A98F}">
      <dgm:prSet/>
      <dgm:spPr/>
      <dgm:t>
        <a:bodyPr/>
        <a:lstStyle/>
        <a:p>
          <a:pPr>
            <a:lnSpc>
              <a:spcPct val="100000"/>
            </a:lnSpc>
          </a:pPr>
          <a:r>
            <a:rPr lang="en-IN" dirty="0"/>
            <a:t>Basic of algorithms.</a:t>
          </a:r>
          <a:endParaRPr lang="en-US" dirty="0"/>
        </a:p>
      </dgm:t>
    </dgm:pt>
    <dgm:pt modelId="{9E70A1F3-9D25-4578-B030-36AFA4954533}" type="parTrans" cxnId="{CC246242-6502-47D7-9F8A-4A9F56B1AF5F}">
      <dgm:prSet/>
      <dgm:spPr/>
      <dgm:t>
        <a:bodyPr/>
        <a:lstStyle/>
        <a:p>
          <a:endParaRPr lang="en-US"/>
        </a:p>
      </dgm:t>
    </dgm:pt>
    <dgm:pt modelId="{7B028E28-ABDF-4CDC-9F38-F82FEF16A3DE}" type="sibTrans" cxnId="{CC246242-6502-47D7-9F8A-4A9F56B1AF5F}">
      <dgm:prSet/>
      <dgm:spPr/>
      <dgm:t>
        <a:bodyPr/>
        <a:lstStyle/>
        <a:p>
          <a:pPr>
            <a:lnSpc>
              <a:spcPct val="100000"/>
            </a:lnSpc>
          </a:pPr>
          <a:endParaRPr lang="en-US"/>
        </a:p>
      </dgm:t>
    </dgm:pt>
    <dgm:pt modelId="{3F5DCBC4-8698-45D0-AEE5-744F49D7FDD2}">
      <dgm:prSet/>
      <dgm:spPr/>
      <dgm:t>
        <a:bodyPr/>
        <a:lstStyle/>
        <a:p>
          <a:pPr>
            <a:lnSpc>
              <a:spcPct val="100000"/>
            </a:lnSpc>
          </a:pPr>
          <a:r>
            <a:rPr lang="en-IN"/>
            <a:t>Sorting algorithms.</a:t>
          </a:r>
          <a:endParaRPr lang="en-US"/>
        </a:p>
      </dgm:t>
    </dgm:pt>
    <dgm:pt modelId="{F226C636-C864-43B7-9432-036D57540777}" type="parTrans" cxnId="{C43984B8-421F-4C61-9491-289FAE470660}">
      <dgm:prSet/>
      <dgm:spPr/>
      <dgm:t>
        <a:bodyPr/>
        <a:lstStyle/>
        <a:p>
          <a:endParaRPr lang="en-US"/>
        </a:p>
      </dgm:t>
    </dgm:pt>
    <dgm:pt modelId="{C1D3C7FC-7DAA-40C7-BACA-468DEFAF4D6E}" type="sibTrans" cxnId="{C43984B8-421F-4C61-9491-289FAE470660}">
      <dgm:prSet/>
      <dgm:spPr/>
      <dgm:t>
        <a:bodyPr/>
        <a:lstStyle/>
        <a:p>
          <a:pPr>
            <a:lnSpc>
              <a:spcPct val="100000"/>
            </a:lnSpc>
          </a:pPr>
          <a:endParaRPr lang="en-US"/>
        </a:p>
      </dgm:t>
    </dgm:pt>
    <dgm:pt modelId="{D7E8199C-A49D-4193-A8D0-A411AE650291}">
      <dgm:prSet/>
      <dgm:spPr/>
      <dgm:t>
        <a:bodyPr/>
        <a:lstStyle/>
        <a:p>
          <a:pPr>
            <a:lnSpc>
              <a:spcPct val="100000"/>
            </a:lnSpc>
          </a:pPr>
          <a:r>
            <a:rPr lang="en-IN"/>
            <a:t>Divide and Conquer paradigm.</a:t>
          </a:r>
          <a:endParaRPr lang="en-US"/>
        </a:p>
      </dgm:t>
    </dgm:pt>
    <dgm:pt modelId="{5B1AEE61-8494-4DE1-BBEB-EFDFF0DDF6AD}" type="parTrans" cxnId="{E857151C-A99D-4A00-B61E-DF27973F350D}">
      <dgm:prSet/>
      <dgm:spPr/>
      <dgm:t>
        <a:bodyPr/>
        <a:lstStyle/>
        <a:p>
          <a:endParaRPr lang="en-US"/>
        </a:p>
      </dgm:t>
    </dgm:pt>
    <dgm:pt modelId="{B95B8A2C-393C-44C9-87EA-2CE2C77A5596}" type="sibTrans" cxnId="{E857151C-A99D-4A00-B61E-DF27973F350D}">
      <dgm:prSet/>
      <dgm:spPr/>
      <dgm:t>
        <a:bodyPr/>
        <a:lstStyle/>
        <a:p>
          <a:pPr>
            <a:lnSpc>
              <a:spcPct val="100000"/>
            </a:lnSpc>
          </a:pPr>
          <a:endParaRPr lang="en-US"/>
        </a:p>
      </dgm:t>
    </dgm:pt>
    <dgm:pt modelId="{77B60FED-E6CA-48DC-B4B5-FE0ED828A44E}">
      <dgm:prSet/>
      <dgm:spPr/>
      <dgm:t>
        <a:bodyPr/>
        <a:lstStyle/>
        <a:p>
          <a:pPr>
            <a:lnSpc>
              <a:spcPct val="100000"/>
            </a:lnSpc>
          </a:pPr>
          <a:r>
            <a:rPr lang="en-IN"/>
            <a:t>Greedy algorithms.</a:t>
          </a:r>
          <a:endParaRPr lang="en-US"/>
        </a:p>
      </dgm:t>
    </dgm:pt>
    <dgm:pt modelId="{CADF1AD2-19E2-47E2-99DB-62359D5CFD25}" type="parTrans" cxnId="{A541E497-85D2-41E6-AAAD-2A8488968EC0}">
      <dgm:prSet/>
      <dgm:spPr/>
      <dgm:t>
        <a:bodyPr/>
        <a:lstStyle/>
        <a:p>
          <a:endParaRPr lang="en-US"/>
        </a:p>
      </dgm:t>
    </dgm:pt>
    <dgm:pt modelId="{75EF99FC-6525-42C6-87E7-BBB20ACFCFAA}" type="sibTrans" cxnId="{A541E497-85D2-41E6-AAAD-2A8488968EC0}">
      <dgm:prSet/>
      <dgm:spPr/>
      <dgm:t>
        <a:bodyPr/>
        <a:lstStyle/>
        <a:p>
          <a:pPr>
            <a:lnSpc>
              <a:spcPct val="100000"/>
            </a:lnSpc>
          </a:pPr>
          <a:endParaRPr lang="en-US"/>
        </a:p>
      </dgm:t>
    </dgm:pt>
    <dgm:pt modelId="{957EAF42-2768-4D20-9711-5AA37C52C716}">
      <dgm:prSet/>
      <dgm:spPr/>
      <dgm:t>
        <a:bodyPr/>
        <a:lstStyle/>
        <a:p>
          <a:pPr>
            <a:lnSpc>
              <a:spcPct val="100000"/>
            </a:lnSpc>
          </a:pPr>
          <a:r>
            <a:rPr lang="en-IN"/>
            <a:t>Dynamic programming.</a:t>
          </a:r>
          <a:endParaRPr lang="en-US"/>
        </a:p>
      </dgm:t>
    </dgm:pt>
    <dgm:pt modelId="{B51E856A-C6E0-4A76-92F6-F5C431A48113}" type="parTrans" cxnId="{2EF2697A-602F-470F-A234-B594F8F7D6C3}">
      <dgm:prSet/>
      <dgm:spPr/>
      <dgm:t>
        <a:bodyPr/>
        <a:lstStyle/>
        <a:p>
          <a:endParaRPr lang="en-US"/>
        </a:p>
      </dgm:t>
    </dgm:pt>
    <dgm:pt modelId="{E553C737-CCD5-4D50-836D-FB0345C6C3FA}" type="sibTrans" cxnId="{2EF2697A-602F-470F-A234-B594F8F7D6C3}">
      <dgm:prSet/>
      <dgm:spPr/>
      <dgm:t>
        <a:bodyPr/>
        <a:lstStyle/>
        <a:p>
          <a:pPr>
            <a:lnSpc>
              <a:spcPct val="100000"/>
            </a:lnSpc>
          </a:pPr>
          <a:endParaRPr lang="en-US"/>
        </a:p>
      </dgm:t>
    </dgm:pt>
    <dgm:pt modelId="{F86989F1-0905-46F9-ABE4-6AF651D952BE}">
      <dgm:prSet/>
      <dgm:spPr/>
      <dgm:t>
        <a:bodyPr/>
        <a:lstStyle/>
        <a:p>
          <a:pPr>
            <a:lnSpc>
              <a:spcPct val="100000"/>
            </a:lnSpc>
          </a:pPr>
          <a:r>
            <a:rPr lang="en-IN"/>
            <a:t>Graph algorithms.</a:t>
          </a:r>
          <a:endParaRPr lang="en-US"/>
        </a:p>
      </dgm:t>
    </dgm:pt>
    <dgm:pt modelId="{19E27E91-08C2-4108-B4DE-D5C1BF80831F}" type="parTrans" cxnId="{E322CE41-317F-4235-B060-DFF77B9E9412}">
      <dgm:prSet/>
      <dgm:spPr/>
      <dgm:t>
        <a:bodyPr/>
        <a:lstStyle/>
        <a:p>
          <a:endParaRPr lang="en-US"/>
        </a:p>
      </dgm:t>
    </dgm:pt>
    <dgm:pt modelId="{DAC46003-0B03-4FB9-B6C7-E549F1F8EA1E}" type="sibTrans" cxnId="{E322CE41-317F-4235-B060-DFF77B9E9412}">
      <dgm:prSet/>
      <dgm:spPr/>
      <dgm:t>
        <a:bodyPr/>
        <a:lstStyle/>
        <a:p>
          <a:pPr>
            <a:lnSpc>
              <a:spcPct val="100000"/>
            </a:lnSpc>
          </a:pPr>
          <a:endParaRPr lang="en-US"/>
        </a:p>
      </dgm:t>
    </dgm:pt>
    <dgm:pt modelId="{D56ADA95-B587-42F2-A4E8-76BBC0FD3E3D}">
      <dgm:prSet/>
      <dgm:spPr/>
      <dgm:t>
        <a:bodyPr/>
        <a:lstStyle/>
        <a:p>
          <a:pPr>
            <a:lnSpc>
              <a:spcPct val="100000"/>
            </a:lnSpc>
          </a:pPr>
          <a:r>
            <a:rPr lang="en-IN"/>
            <a:t>Computational classes.</a:t>
          </a:r>
          <a:endParaRPr lang="en-US"/>
        </a:p>
      </dgm:t>
    </dgm:pt>
    <dgm:pt modelId="{18AD08D9-C8DF-4044-A736-1DB76A0A5D7D}" type="parTrans" cxnId="{2FEF198E-AB15-438B-AAFB-5F43CD3AFBFD}">
      <dgm:prSet/>
      <dgm:spPr/>
      <dgm:t>
        <a:bodyPr/>
        <a:lstStyle/>
        <a:p>
          <a:endParaRPr lang="en-US"/>
        </a:p>
      </dgm:t>
    </dgm:pt>
    <dgm:pt modelId="{63E0F6E3-4B1F-48E0-8ED6-E668CFA34D00}" type="sibTrans" cxnId="{2FEF198E-AB15-438B-AAFB-5F43CD3AFBFD}">
      <dgm:prSet/>
      <dgm:spPr/>
      <dgm:t>
        <a:bodyPr/>
        <a:lstStyle/>
        <a:p>
          <a:endParaRPr lang="en-US"/>
        </a:p>
      </dgm:t>
    </dgm:pt>
    <dgm:pt modelId="{05C71F90-6E15-4966-A624-1482ABB5C7FD}" type="pres">
      <dgm:prSet presAssocID="{890683E4-CDF6-491B-9888-E4622AF0F2EE}" presName="root" presStyleCnt="0">
        <dgm:presLayoutVars>
          <dgm:dir/>
          <dgm:resizeHandles val="exact"/>
        </dgm:presLayoutVars>
      </dgm:prSet>
      <dgm:spPr/>
    </dgm:pt>
    <dgm:pt modelId="{FF495AE6-A921-4D58-BDC1-7CB680164C32}" type="pres">
      <dgm:prSet presAssocID="{890683E4-CDF6-491B-9888-E4622AF0F2EE}" presName="container" presStyleCnt="0">
        <dgm:presLayoutVars>
          <dgm:dir/>
          <dgm:resizeHandles val="exact"/>
        </dgm:presLayoutVars>
      </dgm:prSet>
      <dgm:spPr/>
    </dgm:pt>
    <dgm:pt modelId="{9D5C74D7-8AE3-49C3-A6E6-823C9CA4D8AA}" type="pres">
      <dgm:prSet presAssocID="{6F8D8D07-E718-4B82-99FE-0F953950A98F}" presName="compNode" presStyleCnt="0"/>
      <dgm:spPr/>
    </dgm:pt>
    <dgm:pt modelId="{4BA5AEAE-5584-4C88-858C-EF7046F7CBAC}" type="pres">
      <dgm:prSet presAssocID="{6F8D8D07-E718-4B82-99FE-0F953950A98F}" presName="iconBgRect" presStyleLbl="bgShp" presStyleIdx="0" presStyleCnt="7"/>
      <dgm:spPr/>
    </dgm:pt>
    <dgm:pt modelId="{80A99CFC-6164-4297-85A5-9B4BDE9562E2}" type="pres">
      <dgm:prSet presAssocID="{6F8D8D07-E718-4B82-99FE-0F953950A98F}"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grammer"/>
        </a:ext>
      </dgm:extLst>
    </dgm:pt>
    <dgm:pt modelId="{7C2F07A8-B4F7-4D10-B146-9D57392A2155}" type="pres">
      <dgm:prSet presAssocID="{6F8D8D07-E718-4B82-99FE-0F953950A98F}" presName="spaceRect" presStyleCnt="0"/>
      <dgm:spPr/>
    </dgm:pt>
    <dgm:pt modelId="{213F3802-5C58-49FC-A5D9-CE6AFBFBC203}" type="pres">
      <dgm:prSet presAssocID="{6F8D8D07-E718-4B82-99FE-0F953950A98F}" presName="textRect" presStyleLbl="revTx" presStyleIdx="0" presStyleCnt="7">
        <dgm:presLayoutVars>
          <dgm:chMax val="1"/>
          <dgm:chPref val="1"/>
        </dgm:presLayoutVars>
      </dgm:prSet>
      <dgm:spPr/>
    </dgm:pt>
    <dgm:pt modelId="{90D9E18E-54E5-4E84-B12F-0ADCD0B9BBBF}" type="pres">
      <dgm:prSet presAssocID="{7B028E28-ABDF-4CDC-9F38-F82FEF16A3DE}" presName="sibTrans" presStyleLbl="sibTrans2D1" presStyleIdx="0" presStyleCnt="0"/>
      <dgm:spPr/>
    </dgm:pt>
    <dgm:pt modelId="{129A1E7F-B251-425C-A7FB-DE05DE2A95A4}" type="pres">
      <dgm:prSet presAssocID="{3F5DCBC4-8698-45D0-AEE5-744F49D7FDD2}" presName="compNode" presStyleCnt="0"/>
      <dgm:spPr/>
    </dgm:pt>
    <dgm:pt modelId="{FC74F26E-B0D0-4901-8245-BF8B971DD93B}" type="pres">
      <dgm:prSet presAssocID="{3F5DCBC4-8698-45D0-AEE5-744F49D7FDD2}" presName="iconBgRect" presStyleLbl="bgShp" presStyleIdx="1" presStyleCnt="7"/>
      <dgm:spPr/>
    </dgm:pt>
    <dgm:pt modelId="{F560C383-AEB9-48A0-9EBE-60C1C0B47822}" type="pres">
      <dgm:prSet presAssocID="{3F5DCBC4-8698-45D0-AEE5-744F49D7FDD2}"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0B2F7BEE-EF5B-49E7-9C5E-CF1B74B96A94}" type="pres">
      <dgm:prSet presAssocID="{3F5DCBC4-8698-45D0-AEE5-744F49D7FDD2}" presName="spaceRect" presStyleCnt="0"/>
      <dgm:spPr/>
    </dgm:pt>
    <dgm:pt modelId="{9167879C-DD76-4360-B725-0964CE29CDAB}" type="pres">
      <dgm:prSet presAssocID="{3F5DCBC4-8698-45D0-AEE5-744F49D7FDD2}" presName="textRect" presStyleLbl="revTx" presStyleIdx="1" presStyleCnt="7">
        <dgm:presLayoutVars>
          <dgm:chMax val="1"/>
          <dgm:chPref val="1"/>
        </dgm:presLayoutVars>
      </dgm:prSet>
      <dgm:spPr/>
    </dgm:pt>
    <dgm:pt modelId="{C4957E7F-8E90-433E-83C0-8791B94F0C64}" type="pres">
      <dgm:prSet presAssocID="{C1D3C7FC-7DAA-40C7-BACA-468DEFAF4D6E}" presName="sibTrans" presStyleLbl="sibTrans2D1" presStyleIdx="0" presStyleCnt="0"/>
      <dgm:spPr/>
    </dgm:pt>
    <dgm:pt modelId="{23ABB29F-5B0D-48A3-9F62-BCBAD95149A2}" type="pres">
      <dgm:prSet presAssocID="{D7E8199C-A49D-4193-A8D0-A411AE650291}" presName="compNode" presStyleCnt="0"/>
      <dgm:spPr/>
    </dgm:pt>
    <dgm:pt modelId="{66E84F37-557C-45FA-BB27-698A327A1B68}" type="pres">
      <dgm:prSet presAssocID="{D7E8199C-A49D-4193-A8D0-A411AE650291}" presName="iconBgRect" presStyleLbl="bgShp" presStyleIdx="2" presStyleCnt="7"/>
      <dgm:spPr/>
    </dgm:pt>
    <dgm:pt modelId="{89476C94-35AF-401F-B2CA-39CCC2098930}" type="pres">
      <dgm:prSet presAssocID="{D7E8199C-A49D-4193-A8D0-A411AE650291}"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ales of Justice"/>
        </a:ext>
      </dgm:extLst>
    </dgm:pt>
    <dgm:pt modelId="{46987A17-05A2-4256-8E4C-9745D4D69892}" type="pres">
      <dgm:prSet presAssocID="{D7E8199C-A49D-4193-A8D0-A411AE650291}" presName="spaceRect" presStyleCnt="0"/>
      <dgm:spPr/>
    </dgm:pt>
    <dgm:pt modelId="{CBE9BF6B-2491-468F-9640-79D5928687C2}" type="pres">
      <dgm:prSet presAssocID="{D7E8199C-A49D-4193-A8D0-A411AE650291}" presName="textRect" presStyleLbl="revTx" presStyleIdx="2" presStyleCnt="7">
        <dgm:presLayoutVars>
          <dgm:chMax val="1"/>
          <dgm:chPref val="1"/>
        </dgm:presLayoutVars>
      </dgm:prSet>
      <dgm:spPr/>
    </dgm:pt>
    <dgm:pt modelId="{B0ED23BE-2396-43F2-A51C-A388DB76C645}" type="pres">
      <dgm:prSet presAssocID="{B95B8A2C-393C-44C9-87EA-2CE2C77A5596}" presName="sibTrans" presStyleLbl="sibTrans2D1" presStyleIdx="0" presStyleCnt="0"/>
      <dgm:spPr/>
    </dgm:pt>
    <dgm:pt modelId="{18CFD144-7955-4C5A-A293-12DE0E6ACEA4}" type="pres">
      <dgm:prSet presAssocID="{77B60FED-E6CA-48DC-B4B5-FE0ED828A44E}" presName="compNode" presStyleCnt="0"/>
      <dgm:spPr/>
    </dgm:pt>
    <dgm:pt modelId="{05A3EF28-685D-4A9E-A2FB-C27E6AC54208}" type="pres">
      <dgm:prSet presAssocID="{77B60FED-E6CA-48DC-B4B5-FE0ED828A44E}" presName="iconBgRect" presStyleLbl="bgShp" presStyleIdx="3" presStyleCnt="7"/>
      <dgm:spPr/>
    </dgm:pt>
    <dgm:pt modelId="{024BE2CA-F583-4C2B-AE42-0C99CB76997F}" type="pres">
      <dgm:prSet presAssocID="{77B60FED-E6CA-48DC-B4B5-FE0ED828A44E}"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Joker Hat"/>
        </a:ext>
      </dgm:extLst>
    </dgm:pt>
    <dgm:pt modelId="{2C4F0D3B-4912-4AC3-9A17-F5BD4506C86F}" type="pres">
      <dgm:prSet presAssocID="{77B60FED-E6CA-48DC-B4B5-FE0ED828A44E}" presName="spaceRect" presStyleCnt="0"/>
      <dgm:spPr/>
    </dgm:pt>
    <dgm:pt modelId="{701FE4FC-0443-461C-9713-B3B26D93E9CF}" type="pres">
      <dgm:prSet presAssocID="{77B60FED-E6CA-48DC-B4B5-FE0ED828A44E}" presName="textRect" presStyleLbl="revTx" presStyleIdx="3" presStyleCnt="7">
        <dgm:presLayoutVars>
          <dgm:chMax val="1"/>
          <dgm:chPref val="1"/>
        </dgm:presLayoutVars>
      </dgm:prSet>
      <dgm:spPr/>
    </dgm:pt>
    <dgm:pt modelId="{0CE7D07F-BE9F-4657-8A8E-5760E4D22697}" type="pres">
      <dgm:prSet presAssocID="{75EF99FC-6525-42C6-87E7-BBB20ACFCFAA}" presName="sibTrans" presStyleLbl="sibTrans2D1" presStyleIdx="0" presStyleCnt="0"/>
      <dgm:spPr/>
    </dgm:pt>
    <dgm:pt modelId="{50BA9C77-2125-4BF5-A25D-18D0EAA6E448}" type="pres">
      <dgm:prSet presAssocID="{957EAF42-2768-4D20-9711-5AA37C52C716}" presName="compNode" presStyleCnt="0"/>
      <dgm:spPr/>
    </dgm:pt>
    <dgm:pt modelId="{6E858825-7A02-43AE-B8E1-9A072871AF29}" type="pres">
      <dgm:prSet presAssocID="{957EAF42-2768-4D20-9711-5AA37C52C716}" presName="iconBgRect" presStyleLbl="bgShp" presStyleIdx="4" presStyleCnt="7"/>
      <dgm:spPr/>
    </dgm:pt>
    <dgm:pt modelId="{7BC6F821-018E-41C7-BAE7-43B0946AED87}" type="pres">
      <dgm:prSet presAssocID="{957EAF42-2768-4D20-9711-5AA37C52C716}"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eb Design"/>
        </a:ext>
      </dgm:extLst>
    </dgm:pt>
    <dgm:pt modelId="{E22E69A7-BBFA-4C56-90E5-769B22DB8BE6}" type="pres">
      <dgm:prSet presAssocID="{957EAF42-2768-4D20-9711-5AA37C52C716}" presName="spaceRect" presStyleCnt="0"/>
      <dgm:spPr/>
    </dgm:pt>
    <dgm:pt modelId="{CA33C430-DFD5-426A-8345-43FD10958824}" type="pres">
      <dgm:prSet presAssocID="{957EAF42-2768-4D20-9711-5AA37C52C716}" presName="textRect" presStyleLbl="revTx" presStyleIdx="4" presStyleCnt="7">
        <dgm:presLayoutVars>
          <dgm:chMax val="1"/>
          <dgm:chPref val="1"/>
        </dgm:presLayoutVars>
      </dgm:prSet>
      <dgm:spPr/>
    </dgm:pt>
    <dgm:pt modelId="{A38F9A1D-0B88-4EB3-9B51-DED7D1A69232}" type="pres">
      <dgm:prSet presAssocID="{E553C737-CCD5-4D50-836D-FB0345C6C3FA}" presName="sibTrans" presStyleLbl="sibTrans2D1" presStyleIdx="0" presStyleCnt="0"/>
      <dgm:spPr/>
    </dgm:pt>
    <dgm:pt modelId="{4B6BAA37-9FAB-4715-AD02-6D1AB4693B11}" type="pres">
      <dgm:prSet presAssocID="{F86989F1-0905-46F9-ABE4-6AF651D952BE}" presName="compNode" presStyleCnt="0"/>
      <dgm:spPr/>
    </dgm:pt>
    <dgm:pt modelId="{549C47CD-B1E0-4194-A2B2-FAA2DFF3BB88}" type="pres">
      <dgm:prSet presAssocID="{F86989F1-0905-46F9-ABE4-6AF651D952BE}" presName="iconBgRect" presStyleLbl="bgShp" presStyleIdx="5" presStyleCnt="7"/>
      <dgm:spPr/>
    </dgm:pt>
    <dgm:pt modelId="{896830B3-A52B-46DC-8FEE-DCA9BE14890E}" type="pres">
      <dgm:prSet presAssocID="{F86989F1-0905-46F9-ABE4-6AF651D952BE}"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ar chart"/>
        </a:ext>
      </dgm:extLst>
    </dgm:pt>
    <dgm:pt modelId="{7967E80A-FA41-49C4-8241-552E502B32D6}" type="pres">
      <dgm:prSet presAssocID="{F86989F1-0905-46F9-ABE4-6AF651D952BE}" presName="spaceRect" presStyleCnt="0"/>
      <dgm:spPr/>
    </dgm:pt>
    <dgm:pt modelId="{89A4849F-6818-44D4-8203-3FFD855CBC7F}" type="pres">
      <dgm:prSet presAssocID="{F86989F1-0905-46F9-ABE4-6AF651D952BE}" presName="textRect" presStyleLbl="revTx" presStyleIdx="5" presStyleCnt="7">
        <dgm:presLayoutVars>
          <dgm:chMax val="1"/>
          <dgm:chPref val="1"/>
        </dgm:presLayoutVars>
      </dgm:prSet>
      <dgm:spPr/>
    </dgm:pt>
    <dgm:pt modelId="{0152C921-6350-4805-A195-240D222CB5E5}" type="pres">
      <dgm:prSet presAssocID="{DAC46003-0B03-4FB9-B6C7-E549F1F8EA1E}" presName="sibTrans" presStyleLbl="sibTrans2D1" presStyleIdx="0" presStyleCnt="0"/>
      <dgm:spPr/>
    </dgm:pt>
    <dgm:pt modelId="{A8B8F2D0-B374-490F-89C0-A0CACDFD9D45}" type="pres">
      <dgm:prSet presAssocID="{D56ADA95-B587-42F2-A4E8-76BBC0FD3E3D}" presName="compNode" presStyleCnt="0"/>
      <dgm:spPr/>
    </dgm:pt>
    <dgm:pt modelId="{2FE5E855-5893-4230-8A7E-CB8CEC179CED}" type="pres">
      <dgm:prSet presAssocID="{D56ADA95-B587-42F2-A4E8-76BBC0FD3E3D}" presName="iconBgRect" presStyleLbl="bgShp" presStyleIdx="6" presStyleCnt="7"/>
      <dgm:spPr/>
    </dgm:pt>
    <dgm:pt modelId="{CF96EF96-BF5F-4628-A9CD-44D5BD91BE9E}" type="pres">
      <dgm:prSet presAssocID="{D56ADA95-B587-42F2-A4E8-76BBC0FD3E3D}"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Processor"/>
        </a:ext>
      </dgm:extLst>
    </dgm:pt>
    <dgm:pt modelId="{FAB0C174-6102-492A-B4DB-0EFCE5B971C1}" type="pres">
      <dgm:prSet presAssocID="{D56ADA95-B587-42F2-A4E8-76BBC0FD3E3D}" presName="spaceRect" presStyleCnt="0"/>
      <dgm:spPr/>
    </dgm:pt>
    <dgm:pt modelId="{6EAC0C62-D115-479D-A8B7-05F4FBB9FACF}" type="pres">
      <dgm:prSet presAssocID="{D56ADA95-B587-42F2-A4E8-76BBC0FD3E3D}" presName="textRect" presStyleLbl="revTx" presStyleIdx="6" presStyleCnt="7">
        <dgm:presLayoutVars>
          <dgm:chMax val="1"/>
          <dgm:chPref val="1"/>
        </dgm:presLayoutVars>
      </dgm:prSet>
      <dgm:spPr/>
    </dgm:pt>
  </dgm:ptLst>
  <dgm:cxnLst>
    <dgm:cxn modelId="{BB04F910-18AA-473A-9845-974F1C1AAC84}" type="presOf" srcId="{DAC46003-0B03-4FB9-B6C7-E549F1F8EA1E}" destId="{0152C921-6350-4805-A195-240D222CB5E5}" srcOrd="0" destOrd="0" presId="urn:microsoft.com/office/officeart/2018/2/layout/IconCircleList"/>
    <dgm:cxn modelId="{E9813714-0131-4D85-9E9C-9414FE7A2E5F}" type="presOf" srcId="{7B028E28-ABDF-4CDC-9F38-F82FEF16A3DE}" destId="{90D9E18E-54E5-4E84-B12F-0ADCD0B9BBBF}" srcOrd="0" destOrd="0" presId="urn:microsoft.com/office/officeart/2018/2/layout/IconCircleList"/>
    <dgm:cxn modelId="{E857151C-A99D-4A00-B61E-DF27973F350D}" srcId="{890683E4-CDF6-491B-9888-E4622AF0F2EE}" destId="{D7E8199C-A49D-4193-A8D0-A411AE650291}" srcOrd="2" destOrd="0" parTransId="{5B1AEE61-8494-4DE1-BBEB-EFDFF0DDF6AD}" sibTransId="{B95B8A2C-393C-44C9-87EA-2CE2C77A5596}"/>
    <dgm:cxn modelId="{8D28C930-FD92-4DE7-B31B-E16042D4CF07}" type="presOf" srcId="{3F5DCBC4-8698-45D0-AEE5-744F49D7FDD2}" destId="{9167879C-DD76-4360-B725-0964CE29CDAB}" srcOrd="0" destOrd="0" presId="urn:microsoft.com/office/officeart/2018/2/layout/IconCircleList"/>
    <dgm:cxn modelId="{66BCD835-05DA-4483-A078-4CCD6223E38B}" type="presOf" srcId="{D56ADA95-B587-42F2-A4E8-76BBC0FD3E3D}" destId="{6EAC0C62-D115-479D-A8B7-05F4FBB9FACF}" srcOrd="0" destOrd="0" presId="urn:microsoft.com/office/officeart/2018/2/layout/IconCircleList"/>
    <dgm:cxn modelId="{EF3E7B36-6BCD-47D1-BD41-1DE61F575AFC}" type="presOf" srcId="{957EAF42-2768-4D20-9711-5AA37C52C716}" destId="{CA33C430-DFD5-426A-8345-43FD10958824}" srcOrd="0" destOrd="0" presId="urn:microsoft.com/office/officeart/2018/2/layout/IconCircleList"/>
    <dgm:cxn modelId="{E322CE41-317F-4235-B060-DFF77B9E9412}" srcId="{890683E4-CDF6-491B-9888-E4622AF0F2EE}" destId="{F86989F1-0905-46F9-ABE4-6AF651D952BE}" srcOrd="5" destOrd="0" parTransId="{19E27E91-08C2-4108-B4DE-D5C1BF80831F}" sibTransId="{DAC46003-0B03-4FB9-B6C7-E549F1F8EA1E}"/>
    <dgm:cxn modelId="{CC246242-6502-47D7-9F8A-4A9F56B1AF5F}" srcId="{890683E4-CDF6-491B-9888-E4622AF0F2EE}" destId="{6F8D8D07-E718-4B82-99FE-0F953950A98F}" srcOrd="0" destOrd="0" parTransId="{9E70A1F3-9D25-4578-B030-36AFA4954533}" sibTransId="{7B028E28-ABDF-4CDC-9F38-F82FEF16A3DE}"/>
    <dgm:cxn modelId="{B2A8AF48-6346-4941-BD06-B629F6C00BF3}" type="presOf" srcId="{D7E8199C-A49D-4193-A8D0-A411AE650291}" destId="{CBE9BF6B-2491-468F-9640-79D5928687C2}" srcOrd="0" destOrd="0" presId="urn:microsoft.com/office/officeart/2018/2/layout/IconCircleList"/>
    <dgm:cxn modelId="{1B8EB049-464C-423D-9998-62FED7EA19BE}" type="presOf" srcId="{B95B8A2C-393C-44C9-87EA-2CE2C77A5596}" destId="{B0ED23BE-2396-43F2-A51C-A388DB76C645}" srcOrd="0" destOrd="0" presId="urn:microsoft.com/office/officeart/2018/2/layout/IconCircleList"/>
    <dgm:cxn modelId="{346A2772-E523-4786-8A5F-99C2C39D4AD0}" type="presOf" srcId="{890683E4-CDF6-491B-9888-E4622AF0F2EE}" destId="{05C71F90-6E15-4966-A624-1482ABB5C7FD}" srcOrd="0" destOrd="0" presId="urn:microsoft.com/office/officeart/2018/2/layout/IconCircleList"/>
    <dgm:cxn modelId="{237BAB76-3D40-40CA-8738-9DABFAD114C6}" type="presOf" srcId="{C1D3C7FC-7DAA-40C7-BACA-468DEFAF4D6E}" destId="{C4957E7F-8E90-433E-83C0-8791B94F0C64}" srcOrd="0" destOrd="0" presId="urn:microsoft.com/office/officeart/2018/2/layout/IconCircleList"/>
    <dgm:cxn modelId="{2EF2697A-602F-470F-A234-B594F8F7D6C3}" srcId="{890683E4-CDF6-491B-9888-E4622AF0F2EE}" destId="{957EAF42-2768-4D20-9711-5AA37C52C716}" srcOrd="4" destOrd="0" parTransId="{B51E856A-C6E0-4A76-92F6-F5C431A48113}" sibTransId="{E553C737-CCD5-4D50-836D-FB0345C6C3FA}"/>
    <dgm:cxn modelId="{2FEF198E-AB15-438B-AAFB-5F43CD3AFBFD}" srcId="{890683E4-CDF6-491B-9888-E4622AF0F2EE}" destId="{D56ADA95-B587-42F2-A4E8-76BBC0FD3E3D}" srcOrd="6" destOrd="0" parTransId="{18AD08D9-C8DF-4044-A736-1DB76A0A5D7D}" sibTransId="{63E0F6E3-4B1F-48E0-8ED6-E668CFA34D00}"/>
    <dgm:cxn modelId="{A541E497-85D2-41E6-AAAD-2A8488968EC0}" srcId="{890683E4-CDF6-491B-9888-E4622AF0F2EE}" destId="{77B60FED-E6CA-48DC-B4B5-FE0ED828A44E}" srcOrd="3" destOrd="0" parTransId="{CADF1AD2-19E2-47E2-99DB-62359D5CFD25}" sibTransId="{75EF99FC-6525-42C6-87E7-BBB20ACFCFAA}"/>
    <dgm:cxn modelId="{9FADA7AE-5D01-497E-84B5-3E7213AFFE97}" type="presOf" srcId="{E553C737-CCD5-4D50-836D-FB0345C6C3FA}" destId="{A38F9A1D-0B88-4EB3-9B51-DED7D1A69232}" srcOrd="0" destOrd="0" presId="urn:microsoft.com/office/officeart/2018/2/layout/IconCircleList"/>
    <dgm:cxn modelId="{C43984B8-421F-4C61-9491-289FAE470660}" srcId="{890683E4-CDF6-491B-9888-E4622AF0F2EE}" destId="{3F5DCBC4-8698-45D0-AEE5-744F49D7FDD2}" srcOrd="1" destOrd="0" parTransId="{F226C636-C864-43B7-9432-036D57540777}" sibTransId="{C1D3C7FC-7DAA-40C7-BACA-468DEFAF4D6E}"/>
    <dgm:cxn modelId="{83A86DCC-A082-4604-83F1-D6E2507094D4}" type="presOf" srcId="{75EF99FC-6525-42C6-87E7-BBB20ACFCFAA}" destId="{0CE7D07F-BE9F-4657-8A8E-5760E4D22697}" srcOrd="0" destOrd="0" presId="urn:microsoft.com/office/officeart/2018/2/layout/IconCircleList"/>
    <dgm:cxn modelId="{591E91D0-B4B8-48B2-9F39-3DBA96DA64EF}" type="presOf" srcId="{F86989F1-0905-46F9-ABE4-6AF651D952BE}" destId="{89A4849F-6818-44D4-8203-3FFD855CBC7F}" srcOrd="0" destOrd="0" presId="urn:microsoft.com/office/officeart/2018/2/layout/IconCircleList"/>
    <dgm:cxn modelId="{42D72FF2-4530-4511-B2CC-AC2A8FBF8086}" type="presOf" srcId="{6F8D8D07-E718-4B82-99FE-0F953950A98F}" destId="{213F3802-5C58-49FC-A5D9-CE6AFBFBC203}" srcOrd="0" destOrd="0" presId="urn:microsoft.com/office/officeart/2018/2/layout/IconCircleList"/>
    <dgm:cxn modelId="{576906F8-54B5-4F13-9222-96DD3468FB67}" type="presOf" srcId="{77B60FED-E6CA-48DC-B4B5-FE0ED828A44E}" destId="{701FE4FC-0443-461C-9713-B3B26D93E9CF}" srcOrd="0" destOrd="0" presId="urn:microsoft.com/office/officeart/2018/2/layout/IconCircleList"/>
    <dgm:cxn modelId="{5AB8E4A3-94A4-4DAE-A144-F48A5417CEB0}" type="presParOf" srcId="{05C71F90-6E15-4966-A624-1482ABB5C7FD}" destId="{FF495AE6-A921-4D58-BDC1-7CB680164C32}" srcOrd="0" destOrd="0" presId="urn:microsoft.com/office/officeart/2018/2/layout/IconCircleList"/>
    <dgm:cxn modelId="{FA56867C-345C-4332-A72B-60473BEE52AF}" type="presParOf" srcId="{FF495AE6-A921-4D58-BDC1-7CB680164C32}" destId="{9D5C74D7-8AE3-49C3-A6E6-823C9CA4D8AA}" srcOrd="0" destOrd="0" presId="urn:microsoft.com/office/officeart/2018/2/layout/IconCircleList"/>
    <dgm:cxn modelId="{6E9F89EF-4CE8-425D-B7F8-05F71F5AB48F}" type="presParOf" srcId="{9D5C74D7-8AE3-49C3-A6E6-823C9CA4D8AA}" destId="{4BA5AEAE-5584-4C88-858C-EF7046F7CBAC}" srcOrd="0" destOrd="0" presId="urn:microsoft.com/office/officeart/2018/2/layout/IconCircleList"/>
    <dgm:cxn modelId="{85245D16-9C37-43ED-997A-B51628B95A61}" type="presParOf" srcId="{9D5C74D7-8AE3-49C3-A6E6-823C9CA4D8AA}" destId="{80A99CFC-6164-4297-85A5-9B4BDE9562E2}" srcOrd="1" destOrd="0" presId="urn:microsoft.com/office/officeart/2018/2/layout/IconCircleList"/>
    <dgm:cxn modelId="{91B9CFC4-24BA-4670-A9F8-1CAAE404848B}" type="presParOf" srcId="{9D5C74D7-8AE3-49C3-A6E6-823C9CA4D8AA}" destId="{7C2F07A8-B4F7-4D10-B146-9D57392A2155}" srcOrd="2" destOrd="0" presId="urn:microsoft.com/office/officeart/2018/2/layout/IconCircleList"/>
    <dgm:cxn modelId="{026198B0-1821-4685-B427-94944DCDACFC}" type="presParOf" srcId="{9D5C74D7-8AE3-49C3-A6E6-823C9CA4D8AA}" destId="{213F3802-5C58-49FC-A5D9-CE6AFBFBC203}" srcOrd="3" destOrd="0" presId="urn:microsoft.com/office/officeart/2018/2/layout/IconCircleList"/>
    <dgm:cxn modelId="{8F0D5264-F040-41CC-B034-861E4B4BE351}" type="presParOf" srcId="{FF495AE6-A921-4D58-BDC1-7CB680164C32}" destId="{90D9E18E-54E5-4E84-B12F-0ADCD0B9BBBF}" srcOrd="1" destOrd="0" presId="urn:microsoft.com/office/officeart/2018/2/layout/IconCircleList"/>
    <dgm:cxn modelId="{5347CF6B-9322-4A03-8A1E-75F164712D9A}" type="presParOf" srcId="{FF495AE6-A921-4D58-BDC1-7CB680164C32}" destId="{129A1E7F-B251-425C-A7FB-DE05DE2A95A4}" srcOrd="2" destOrd="0" presId="urn:microsoft.com/office/officeart/2018/2/layout/IconCircleList"/>
    <dgm:cxn modelId="{855745F3-EB36-4781-B172-DCDF75A3C2BB}" type="presParOf" srcId="{129A1E7F-B251-425C-A7FB-DE05DE2A95A4}" destId="{FC74F26E-B0D0-4901-8245-BF8B971DD93B}" srcOrd="0" destOrd="0" presId="urn:microsoft.com/office/officeart/2018/2/layout/IconCircleList"/>
    <dgm:cxn modelId="{61D4813C-661C-4175-A70D-BE29DED72F54}" type="presParOf" srcId="{129A1E7F-B251-425C-A7FB-DE05DE2A95A4}" destId="{F560C383-AEB9-48A0-9EBE-60C1C0B47822}" srcOrd="1" destOrd="0" presId="urn:microsoft.com/office/officeart/2018/2/layout/IconCircleList"/>
    <dgm:cxn modelId="{B2EFD1A9-6A79-4372-A5AE-9C968AF810B2}" type="presParOf" srcId="{129A1E7F-B251-425C-A7FB-DE05DE2A95A4}" destId="{0B2F7BEE-EF5B-49E7-9C5E-CF1B74B96A94}" srcOrd="2" destOrd="0" presId="urn:microsoft.com/office/officeart/2018/2/layout/IconCircleList"/>
    <dgm:cxn modelId="{4FFF9FB7-43AC-4DED-BF5A-43C8F82BD50B}" type="presParOf" srcId="{129A1E7F-B251-425C-A7FB-DE05DE2A95A4}" destId="{9167879C-DD76-4360-B725-0964CE29CDAB}" srcOrd="3" destOrd="0" presId="urn:microsoft.com/office/officeart/2018/2/layout/IconCircleList"/>
    <dgm:cxn modelId="{5C2AB637-55BC-4075-8ACD-22676108362C}" type="presParOf" srcId="{FF495AE6-A921-4D58-BDC1-7CB680164C32}" destId="{C4957E7F-8E90-433E-83C0-8791B94F0C64}" srcOrd="3" destOrd="0" presId="urn:microsoft.com/office/officeart/2018/2/layout/IconCircleList"/>
    <dgm:cxn modelId="{CFA3E351-8578-454F-A4AC-0AA42CB49785}" type="presParOf" srcId="{FF495AE6-A921-4D58-BDC1-7CB680164C32}" destId="{23ABB29F-5B0D-48A3-9F62-BCBAD95149A2}" srcOrd="4" destOrd="0" presId="urn:microsoft.com/office/officeart/2018/2/layout/IconCircleList"/>
    <dgm:cxn modelId="{4FB35E15-8DFC-4533-80AA-43BB684358B3}" type="presParOf" srcId="{23ABB29F-5B0D-48A3-9F62-BCBAD95149A2}" destId="{66E84F37-557C-45FA-BB27-698A327A1B68}" srcOrd="0" destOrd="0" presId="urn:microsoft.com/office/officeart/2018/2/layout/IconCircleList"/>
    <dgm:cxn modelId="{4252587D-C5E1-4DCF-92A2-A91F554B2D9A}" type="presParOf" srcId="{23ABB29F-5B0D-48A3-9F62-BCBAD95149A2}" destId="{89476C94-35AF-401F-B2CA-39CCC2098930}" srcOrd="1" destOrd="0" presId="urn:microsoft.com/office/officeart/2018/2/layout/IconCircleList"/>
    <dgm:cxn modelId="{A3E96AA9-E2CD-448D-B0BD-9C7EED7A690F}" type="presParOf" srcId="{23ABB29F-5B0D-48A3-9F62-BCBAD95149A2}" destId="{46987A17-05A2-4256-8E4C-9745D4D69892}" srcOrd="2" destOrd="0" presId="urn:microsoft.com/office/officeart/2018/2/layout/IconCircleList"/>
    <dgm:cxn modelId="{BE163B85-821D-485A-8147-508683801BCF}" type="presParOf" srcId="{23ABB29F-5B0D-48A3-9F62-BCBAD95149A2}" destId="{CBE9BF6B-2491-468F-9640-79D5928687C2}" srcOrd="3" destOrd="0" presId="urn:microsoft.com/office/officeart/2018/2/layout/IconCircleList"/>
    <dgm:cxn modelId="{5A4CA1A9-71FA-4DC8-8756-8FF7EBA50897}" type="presParOf" srcId="{FF495AE6-A921-4D58-BDC1-7CB680164C32}" destId="{B0ED23BE-2396-43F2-A51C-A388DB76C645}" srcOrd="5" destOrd="0" presId="urn:microsoft.com/office/officeart/2018/2/layout/IconCircleList"/>
    <dgm:cxn modelId="{8E026974-94F9-49E0-A918-3C87F515D664}" type="presParOf" srcId="{FF495AE6-A921-4D58-BDC1-7CB680164C32}" destId="{18CFD144-7955-4C5A-A293-12DE0E6ACEA4}" srcOrd="6" destOrd="0" presId="urn:microsoft.com/office/officeart/2018/2/layout/IconCircleList"/>
    <dgm:cxn modelId="{7ADB2FE2-8A5C-430F-BEDC-BF7B8A833498}" type="presParOf" srcId="{18CFD144-7955-4C5A-A293-12DE0E6ACEA4}" destId="{05A3EF28-685D-4A9E-A2FB-C27E6AC54208}" srcOrd="0" destOrd="0" presId="urn:microsoft.com/office/officeart/2018/2/layout/IconCircleList"/>
    <dgm:cxn modelId="{EF8D66B7-28A4-4757-85A3-66F568C8B207}" type="presParOf" srcId="{18CFD144-7955-4C5A-A293-12DE0E6ACEA4}" destId="{024BE2CA-F583-4C2B-AE42-0C99CB76997F}" srcOrd="1" destOrd="0" presId="urn:microsoft.com/office/officeart/2018/2/layout/IconCircleList"/>
    <dgm:cxn modelId="{7EC1B8F9-51C4-4B20-A36B-C5271814C397}" type="presParOf" srcId="{18CFD144-7955-4C5A-A293-12DE0E6ACEA4}" destId="{2C4F0D3B-4912-4AC3-9A17-F5BD4506C86F}" srcOrd="2" destOrd="0" presId="urn:microsoft.com/office/officeart/2018/2/layout/IconCircleList"/>
    <dgm:cxn modelId="{BCA2F9D7-6735-422E-ACA5-039A14CBE303}" type="presParOf" srcId="{18CFD144-7955-4C5A-A293-12DE0E6ACEA4}" destId="{701FE4FC-0443-461C-9713-B3B26D93E9CF}" srcOrd="3" destOrd="0" presId="urn:microsoft.com/office/officeart/2018/2/layout/IconCircleList"/>
    <dgm:cxn modelId="{790E2F3B-2DD9-4DF3-8B95-6D29DD91DFBA}" type="presParOf" srcId="{FF495AE6-A921-4D58-BDC1-7CB680164C32}" destId="{0CE7D07F-BE9F-4657-8A8E-5760E4D22697}" srcOrd="7" destOrd="0" presId="urn:microsoft.com/office/officeart/2018/2/layout/IconCircleList"/>
    <dgm:cxn modelId="{B417A62B-430D-47A6-947B-C688EB8D41A6}" type="presParOf" srcId="{FF495AE6-A921-4D58-BDC1-7CB680164C32}" destId="{50BA9C77-2125-4BF5-A25D-18D0EAA6E448}" srcOrd="8" destOrd="0" presId="urn:microsoft.com/office/officeart/2018/2/layout/IconCircleList"/>
    <dgm:cxn modelId="{CDC520B1-70C9-427A-894F-566DD86EDC67}" type="presParOf" srcId="{50BA9C77-2125-4BF5-A25D-18D0EAA6E448}" destId="{6E858825-7A02-43AE-B8E1-9A072871AF29}" srcOrd="0" destOrd="0" presId="urn:microsoft.com/office/officeart/2018/2/layout/IconCircleList"/>
    <dgm:cxn modelId="{E99456DD-37B3-4585-8D49-E01862AFEB58}" type="presParOf" srcId="{50BA9C77-2125-4BF5-A25D-18D0EAA6E448}" destId="{7BC6F821-018E-41C7-BAE7-43B0946AED87}" srcOrd="1" destOrd="0" presId="urn:microsoft.com/office/officeart/2018/2/layout/IconCircleList"/>
    <dgm:cxn modelId="{BFF2AC93-0D9A-41E2-8C58-80EC778FDD32}" type="presParOf" srcId="{50BA9C77-2125-4BF5-A25D-18D0EAA6E448}" destId="{E22E69A7-BBFA-4C56-90E5-769B22DB8BE6}" srcOrd="2" destOrd="0" presId="urn:microsoft.com/office/officeart/2018/2/layout/IconCircleList"/>
    <dgm:cxn modelId="{BF0D059B-37A0-4724-A3F3-5670CED65BBC}" type="presParOf" srcId="{50BA9C77-2125-4BF5-A25D-18D0EAA6E448}" destId="{CA33C430-DFD5-426A-8345-43FD10958824}" srcOrd="3" destOrd="0" presId="urn:microsoft.com/office/officeart/2018/2/layout/IconCircleList"/>
    <dgm:cxn modelId="{73AFF3F9-D9F6-4CAE-B5C3-9B667D3C2A85}" type="presParOf" srcId="{FF495AE6-A921-4D58-BDC1-7CB680164C32}" destId="{A38F9A1D-0B88-4EB3-9B51-DED7D1A69232}" srcOrd="9" destOrd="0" presId="urn:microsoft.com/office/officeart/2018/2/layout/IconCircleList"/>
    <dgm:cxn modelId="{3C3EDCB2-0AE5-4E5E-A299-0A32E4372038}" type="presParOf" srcId="{FF495AE6-A921-4D58-BDC1-7CB680164C32}" destId="{4B6BAA37-9FAB-4715-AD02-6D1AB4693B11}" srcOrd="10" destOrd="0" presId="urn:microsoft.com/office/officeart/2018/2/layout/IconCircleList"/>
    <dgm:cxn modelId="{3F8F7E5A-D94D-4567-97FD-2E0357872731}" type="presParOf" srcId="{4B6BAA37-9FAB-4715-AD02-6D1AB4693B11}" destId="{549C47CD-B1E0-4194-A2B2-FAA2DFF3BB88}" srcOrd="0" destOrd="0" presId="urn:microsoft.com/office/officeart/2018/2/layout/IconCircleList"/>
    <dgm:cxn modelId="{0AF7C9A9-9B76-4218-BF88-268CE760205E}" type="presParOf" srcId="{4B6BAA37-9FAB-4715-AD02-6D1AB4693B11}" destId="{896830B3-A52B-46DC-8FEE-DCA9BE14890E}" srcOrd="1" destOrd="0" presId="urn:microsoft.com/office/officeart/2018/2/layout/IconCircleList"/>
    <dgm:cxn modelId="{CDA26273-99A9-4C4B-854B-10FEA366FCB3}" type="presParOf" srcId="{4B6BAA37-9FAB-4715-AD02-6D1AB4693B11}" destId="{7967E80A-FA41-49C4-8241-552E502B32D6}" srcOrd="2" destOrd="0" presId="urn:microsoft.com/office/officeart/2018/2/layout/IconCircleList"/>
    <dgm:cxn modelId="{20975916-F5BA-4E8E-A2E3-5D858BEE2B5C}" type="presParOf" srcId="{4B6BAA37-9FAB-4715-AD02-6D1AB4693B11}" destId="{89A4849F-6818-44D4-8203-3FFD855CBC7F}" srcOrd="3" destOrd="0" presId="urn:microsoft.com/office/officeart/2018/2/layout/IconCircleList"/>
    <dgm:cxn modelId="{67EDE26D-10BF-4CDA-B911-1E1F80DC2A3A}" type="presParOf" srcId="{FF495AE6-A921-4D58-BDC1-7CB680164C32}" destId="{0152C921-6350-4805-A195-240D222CB5E5}" srcOrd="11" destOrd="0" presId="urn:microsoft.com/office/officeart/2018/2/layout/IconCircleList"/>
    <dgm:cxn modelId="{EFD05F03-4A57-481F-ADFA-CA0BF0FEE8D1}" type="presParOf" srcId="{FF495AE6-A921-4D58-BDC1-7CB680164C32}" destId="{A8B8F2D0-B374-490F-89C0-A0CACDFD9D45}" srcOrd="12" destOrd="0" presId="urn:microsoft.com/office/officeart/2018/2/layout/IconCircleList"/>
    <dgm:cxn modelId="{BE919F9A-E5B6-4BF0-A9B1-B736CE0E78C4}" type="presParOf" srcId="{A8B8F2D0-B374-490F-89C0-A0CACDFD9D45}" destId="{2FE5E855-5893-4230-8A7E-CB8CEC179CED}" srcOrd="0" destOrd="0" presId="urn:microsoft.com/office/officeart/2018/2/layout/IconCircleList"/>
    <dgm:cxn modelId="{988B405C-0C99-4B0A-BC5C-B823FE36B62E}" type="presParOf" srcId="{A8B8F2D0-B374-490F-89C0-A0CACDFD9D45}" destId="{CF96EF96-BF5F-4628-A9CD-44D5BD91BE9E}" srcOrd="1" destOrd="0" presId="urn:microsoft.com/office/officeart/2018/2/layout/IconCircleList"/>
    <dgm:cxn modelId="{2E1D951B-92A4-4D1F-9EFD-B5E4FB68D6FE}" type="presParOf" srcId="{A8B8F2D0-B374-490F-89C0-A0CACDFD9D45}" destId="{FAB0C174-6102-492A-B4DB-0EFCE5B971C1}" srcOrd="2" destOrd="0" presId="urn:microsoft.com/office/officeart/2018/2/layout/IconCircleList"/>
    <dgm:cxn modelId="{40C9CBDB-277B-4EC3-B79A-79E6B20743E8}" type="presParOf" srcId="{A8B8F2D0-B374-490F-89C0-A0CACDFD9D45}" destId="{6EAC0C62-D115-479D-A8B7-05F4FBB9FAC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560745-FCAE-4DE4-BA2B-071648FE97D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5C0C7AC-25F5-40B9-84A4-5C78353066D0}">
      <dgm:prSet/>
      <dgm:spPr/>
      <dgm:t>
        <a:bodyPr/>
        <a:lstStyle/>
        <a:p>
          <a:r>
            <a:rPr lang="en-IN"/>
            <a:t>Problem Definition</a:t>
          </a:r>
          <a:endParaRPr lang="en-US"/>
        </a:p>
      </dgm:t>
    </dgm:pt>
    <dgm:pt modelId="{8B579D4D-F1F7-4578-8034-4CCA0A6950C8}" type="parTrans" cxnId="{4F178CF6-CCEF-465E-98E2-003F6B6DECC7}">
      <dgm:prSet/>
      <dgm:spPr/>
      <dgm:t>
        <a:bodyPr/>
        <a:lstStyle/>
        <a:p>
          <a:endParaRPr lang="en-US"/>
        </a:p>
      </dgm:t>
    </dgm:pt>
    <dgm:pt modelId="{4A515273-980A-4122-BF9B-8B140E542641}" type="sibTrans" cxnId="{4F178CF6-CCEF-465E-98E2-003F6B6DECC7}">
      <dgm:prSet/>
      <dgm:spPr/>
      <dgm:t>
        <a:bodyPr/>
        <a:lstStyle/>
        <a:p>
          <a:endParaRPr lang="en-US"/>
        </a:p>
      </dgm:t>
    </dgm:pt>
    <dgm:pt modelId="{3FE29802-D7C8-422E-B558-8AABDF850B96}">
      <dgm:prSet/>
      <dgm:spPr/>
      <dgm:t>
        <a:bodyPr/>
        <a:lstStyle/>
        <a:p>
          <a:r>
            <a:rPr lang="en-IN"/>
            <a:t>Design the Algorithm</a:t>
          </a:r>
          <a:endParaRPr lang="en-US"/>
        </a:p>
      </dgm:t>
    </dgm:pt>
    <dgm:pt modelId="{2B02F5FE-6CF0-4E4D-8F77-82B1426BF2DE}" type="parTrans" cxnId="{F56D2704-2E72-4EA1-AAA5-437A7981A2A5}">
      <dgm:prSet/>
      <dgm:spPr/>
      <dgm:t>
        <a:bodyPr/>
        <a:lstStyle/>
        <a:p>
          <a:endParaRPr lang="en-US"/>
        </a:p>
      </dgm:t>
    </dgm:pt>
    <dgm:pt modelId="{348743A4-07D6-49CC-88EB-8FC5533E38F2}" type="sibTrans" cxnId="{F56D2704-2E72-4EA1-AAA5-437A7981A2A5}">
      <dgm:prSet/>
      <dgm:spPr/>
      <dgm:t>
        <a:bodyPr/>
        <a:lstStyle/>
        <a:p>
          <a:endParaRPr lang="en-US"/>
        </a:p>
      </dgm:t>
    </dgm:pt>
    <dgm:pt modelId="{C1D059B5-40F4-4B4F-AB0A-8A2E19353F8E}">
      <dgm:prSet/>
      <dgm:spPr/>
      <dgm:t>
        <a:bodyPr/>
        <a:lstStyle/>
        <a:p>
          <a:r>
            <a:rPr lang="en-IN"/>
            <a:t>Flow Chart</a:t>
          </a:r>
          <a:endParaRPr lang="en-US"/>
        </a:p>
      </dgm:t>
    </dgm:pt>
    <dgm:pt modelId="{CA56A04D-4E30-4509-9E49-68BA168C2C2D}" type="parTrans" cxnId="{2249AADA-A4F7-4CF5-8A19-F1D8A1392352}">
      <dgm:prSet/>
      <dgm:spPr/>
      <dgm:t>
        <a:bodyPr/>
        <a:lstStyle/>
        <a:p>
          <a:endParaRPr lang="en-US"/>
        </a:p>
      </dgm:t>
    </dgm:pt>
    <dgm:pt modelId="{F545CDE0-CD32-4C46-AF05-30D57548E388}" type="sibTrans" cxnId="{2249AADA-A4F7-4CF5-8A19-F1D8A1392352}">
      <dgm:prSet/>
      <dgm:spPr/>
      <dgm:t>
        <a:bodyPr/>
        <a:lstStyle/>
        <a:p>
          <a:endParaRPr lang="en-US"/>
        </a:p>
      </dgm:t>
    </dgm:pt>
    <dgm:pt modelId="{D26DECD9-6FB7-44C0-8A6A-2341C721ADCC}">
      <dgm:prSet/>
      <dgm:spPr/>
      <dgm:t>
        <a:bodyPr/>
        <a:lstStyle/>
        <a:p>
          <a:r>
            <a:rPr lang="en-IN"/>
            <a:t>Verification (Testing)</a:t>
          </a:r>
          <a:endParaRPr lang="en-US"/>
        </a:p>
      </dgm:t>
    </dgm:pt>
    <dgm:pt modelId="{F21BBE0C-34BC-47EE-855E-826A407AE2B3}" type="parTrans" cxnId="{BB294937-AF19-45F3-B6BB-86E7A13C34DE}">
      <dgm:prSet/>
      <dgm:spPr/>
      <dgm:t>
        <a:bodyPr/>
        <a:lstStyle/>
        <a:p>
          <a:endParaRPr lang="en-US"/>
        </a:p>
      </dgm:t>
    </dgm:pt>
    <dgm:pt modelId="{4F0AEA62-30D8-4C6F-9C97-68471B93AC52}" type="sibTrans" cxnId="{BB294937-AF19-45F3-B6BB-86E7A13C34DE}">
      <dgm:prSet/>
      <dgm:spPr/>
      <dgm:t>
        <a:bodyPr/>
        <a:lstStyle/>
        <a:p>
          <a:endParaRPr lang="en-US"/>
        </a:p>
      </dgm:t>
    </dgm:pt>
    <dgm:pt modelId="{ECA211A6-6682-43F7-BFB6-29E975674406}">
      <dgm:prSet/>
      <dgm:spPr/>
      <dgm:t>
        <a:bodyPr/>
        <a:lstStyle/>
        <a:p>
          <a:r>
            <a:rPr lang="en-IN"/>
            <a:t>Implementation (Coding)</a:t>
          </a:r>
          <a:endParaRPr lang="en-US"/>
        </a:p>
      </dgm:t>
    </dgm:pt>
    <dgm:pt modelId="{AD36D525-A87E-4E63-9C48-A556137EF598}" type="parTrans" cxnId="{66F07B2C-810F-4E41-B7B6-29F3E1AA7287}">
      <dgm:prSet/>
      <dgm:spPr/>
      <dgm:t>
        <a:bodyPr/>
        <a:lstStyle/>
        <a:p>
          <a:endParaRPr lang="en-US"/>
        </a:p>
      </dgm:t>
    </dgm:pt>
    <dgm:pt modelId="{B53ED313-366B-49D2-A39F-BF142DE22913}" type="sibTrans" cxnId="{66F07B2C-810F-4E41-B7B6-29F3E1AA7287}">
      <dgm:prSet/>
      <dgm:spPr/>
      <dgm:t>
        <a:bodyPr/>
        <a:lstStyle/>
        <a:p>
          <a:endParaRPr lang="en-US"/>
        </a:p>
      </dgm:t>
    </dgm:pt>
    <dgm:pt modelId="{7B802C68-17FE-4AD8-9D22-EE7222FC4DD4}">
      <dgm:prSet/>
      <dgm:spPr/>
      <dgm:t>
        <a:bodyPr/>
        <a:lstStyle/>
        <a:p>
          <a:r>
            <a:rPr lang="en-IN"/>
            <a:t>Analysis</a:t>
          </a:r>
          <a:endParaRPr lang="en-US"/>
        </a:p>
      </dgm:t>
    </dgm:pt>
    <dgm:pt modelId="{78C967F4-445E-4D0C-B3A2-40429C28C84F}" type="parTrans" cxnId="{9FE876E5-43EF-43D9-901F-775BC77E3CE6}">
      <dgm:prSet/>
      <dgm:spPr/>
      <dgm:t>
        <a:bodyPr/>
        <a:lstStyle/>
        <a:p>
          <a:endParaRPr lang="en-US"/>
        </a:p>
      </dgm:t>
    </dgm:pt>
    <dgm:pt modelId="{659A90AF-D3EA-4316-9F51-DF04ABBC42E9}" type="sibTrans" cxnId="{9FE876E5-43EF-43D9-901F-775BC77E3CE6}">
      <dgm:prSet/>
      <dgm:spPr/>
      <dgm:t>
        <a:bodyPr/>
        <a:lstStyle/>
        <a:p>
          <a:endParaRPr lang="en-US"/>
        </a:p>
      </dgm:t>
    </dgm:pt>
    <dgm:pt modelId="{811EA16A-B341-4F46-BB4C-5C1DF6B68133}" type="pres">
      <dgm:prSet presAssocID="{6A560745-FCAE-4DE4-BA2B-071648FE97D1}" presName="vert0" presStyleCnt="0">
        <dgm:presLayoutVars>
          <dgm:dir/>
          <dgm:animOne val="branch"/>
          <dgm:animLvl val="lvl"/>
        </dgm:presLayoutVars>
      </dgm:prSet>
      <dgm:spPr/>
    </dgm:pt>
    <dgm:pt modelId="{5EFEF91E-9C58-4BF3-8BD9-BEAA35FEF332}" type="pres">
      <dgm:prSet presAssocID="{95C0C7AC-25F5-40B9-84A4-5C78353066D0}" presName="thickLine" presStyleLbl="alignNode1" presStyleIdx="0" presStyleCnt="6"/>
      <dgm:spPr/>
    </dgm:pt>
    <dgm:pt modelId="{856647BD-C06B-4D34-AD87-DE2A939BA49F}" type="pres">
      <dgm:prSet presAssocID="{95C0C7AC-25F5-40B9-84A4-5C78353066D0}" presName="horz1" presStyleCnt="0"/>
      <dgm:spPr/>
    </dgm:pt>
    <dgm:pt modelId="{30F50CBD-6D7B-4986-935D-81F43EC477C8}" type="pres">
      <dgm:prSet presAssocID="{95C0C7AC-25F5-40B9-84A4-5C78353066D0}" presName="tx1" presStyleLbl="revTx" presStyleIdx="0" presStyleCnt="6"/>
      <dgm:spPr/>
    </dgm:pt>
    <dgm:pt modelId="{648EB67F-957B-45E3-A710-8225F155C491}" type="pres">
      <dgm:prSet presAssocID="{95C0C7AC-25F5-40B9-84A4-5C78353066D0}" presName="vert1" presStyleCnt="0"/>
      <dgm:spPr/>
    </dgm:pt>
    <dgm:pt modelId="{1FCD6AFB-2219-4573-88D8-0C778A7CA03B}" type="pres">
      <dgm:prSet presAssocID="{3FE29802-D7C8-422E-B558-8AABDF850B96}" presName="thickLine" presStyleLbl="alignNode1" presStyleIdx="1" presStyleCnt="6"/>
      <dgm:spPr/>
    </dgm:pt>
    <dgm:pt modelId="{D1179541-1B3C-4CDA-9B14-B165FEB8D209}" type="pres">
      <dgm:prSet presAssocID="{3FE29802-D7C8-422E-B558-8AABDF850B96}" presName="horz1" presStyleCnt="0"/>
      <dgm:spPr/>
    </dgm:pt>
    <dgm:pt modelId="{C5E69939-B5EF-43A5-B694-470EBE846126}" type="pres">
      <dgm:prSet presAssocID="{3FE29802-D7C8-422E-B558-8AABDF850B96}" presName="tx1" presStyleLbl="revTx" presStyleIdx="1" presStyleCnt="6"/>
      <dgm:spPr/>
    </dgm:pt>
    <dgm:pt modelId="{CBE1F9B1-A752-4475-AE11-90C92222F082}" type="pres">
      <dgm:prSet presAssocID="{3FE29802-D7C8-422E-B558-8AABDF850B96}" presName="vert1" presStyleCnt="0"/>
      <dgm:spPr/>
    </dgm:pt>
    <dgm:pt modelId="{91C1056C-D1B7-44F9-B967-76A410C9CE21}" type="pres">
      <dgm:prSet presAssocID="{C1D059B5-40F4-4B4F-AB0A-8A2E19353F8E}" presName="thickLine" presStyleLbl="alignNode1" presStyleIdx="2" presStyleCnt="6"/>
      <dgm:spPr/>
    </dgm:pt>
    <dgm:pt modelId="{302A1BCE-99A9-4B01-B5B9-7E31857172D6}" type="pres">
      <dgm:prSet presAssocID="{C1D059B5-40F4-4B4F-AB0A-8A2E19353F8E}" presName="horz1" presStyleCnt="0"/>
      <dgm:spPr/>
    </dgm:pt>
    <dgm:pt modelId="{9B6C4706-426E-45D3-ABD8-65439C1A66D1}" type="pres">
      <dgm:prSet presAssocID="{C1D059B5-40F4-4B4F-AB0A-8A2E19353F8E}" presName="tx1" presStyleLbl="revTx" presStyleIdx="2" presStyleCnt="6"/>
      <dgm:spPr/>
    </dgm:pt>
    <dgm:pt modelId="{47D01127-688E-4B79-8935-9E3F0C46C537}" type="pres">
      <dgm:prSet presAssocID="{C1D059B5-40F4-4B4F-AB0A-8A2E19353F8E}" presName="vert1" presStyleCnt="0"/>
      <dgm:spPr/>
    </dgm:pt>
    <dgm:pt modelId="{153FECDC-9225-428A-B3D5-913A4B36F975}" type="pres">
      <dgm:prSet presAssocID="{D26DECD9-6FB7-44C0-8A6A-2341C721ADCC}" presName="thickLine" presStyleLbl="alignNode1" presStyleIdx="3" presStyleCnt="6"/>
      <dgm:spPr/>
    </dgm:pt>
    <dgm:pt modelId="{AEC0B0AE-7CEA-4727-96EB-1AEFFB0E3502}" type="pres">
      <dgm:prSet presAssocID="{D26DECD9-6FB7-44C0-8A6A-2341C721ADCC}" presName="horz1" presStyleCnt="0"/>
      <dgm:spPr/>
    </dgm:pt>
    <dgm:pt modelId="{EA373C01-9227-4AF0-8A50-DAF0F18221D1}" type="pres">
      <dgm:prSet presAssocID="{D26DECD9-6FB7-44C0-8A6A-2341C721ADCC}" presName="tx1" presStyleLbl="revTx" presStyleIdx="3" presStyleCnt="6"/>
      <dgm:spPr/>
    </dgm:pt>
    <dgm:pt modelId="{8D2D6A3A-8F44-42F9-A973-3D8904BF7E9B}" type="pres">
      <dgm:prSet presAssocID="{D26DECD9-6FB7-44C0-8A6A-2341C721ADCC}" presName="vert1" presStyleCnt="0"/>
      <dgm:spPr/>
    </dgm:pt>
    <dgm:pt modelId="{56874CBB-BDF8-4459-A1DB-5E53DE57D5A4}" type="pres">
      <dgm:prSet presAssocID="{ECA211A6-6682-43F7-BFB6-29E975674406}" presName="thickLine" presStyleLbl="alignNode1" presStyleIdx="4" presStyleCnt="6"/>
      <dgm:spPr/>
    </dgm:pt>
    <dgm:pt modelId="{06FCA760-A7BA-4A74-B0C4-AE88BFC95E30}" type="pres">
      <dgm:prSet presAssocID="{ECA211A6-6682-43F7-BFB6-29E975674406}" presName="horz1" presStyleCnt="0"/>
      <dgm:spPr/>
    </dgm:pt>
    <dgm:pt modelId="{56E18461-A5AC-4545-B8FC-3611001CC12B}" type="pres">
      <dgm:prSet presAssocID="{ECA211A6-6682-43F7-BFB6-29E975674406}" presName="tx1" presStyleLbl="revTx" presStyleIdx="4" presStyleCnt="6"/>
      <dgm:spPr/>
    </dgm:pt>
    <dgm:pt modelId="{CE7F42DF-63F5-4ABF-8E96-1DDE7656CB69}" type="pres">
      <dgm:prSet presAssocID="{ECA211A6-6682-43F7-BFB6-29E975674406}" presName="vert1" presStyleCnt="0"/>
      <dgm:spPr/>
    </dgm:pt>
    <dgm:pt modelId="{6F6265B4-A279-45EB-89D2-35CBC66451AF}" type="pres">
      <dgm:prSet presAssocID="{7B802C68-17FE-4AD8-9D22-EE7222FC4DD4}" presName="thickLine" presStyleLbl="alignNode1" presStyleIdx="5" presStyleCnt="6"/>
      <dgm:spPr/>
    </dgm:pt>
    <dgm:pt modelId="{51F05881-880C-41C4-A6E4-03A584D24CFB}" type="pres">
      <dgm:prSet presAssocID="{7B802C68-17FE-4AD8-9D22-EE7222FC4DD4}" presName="horz1" presStyleCnt="0"/>
      <dgm:spPr/>
    </dgm:pt>
    <dgm:pt modelId="{DB6A4D59-00BC-433A-84A4-2857B5111107}" type="pres">
      <dgm:prSet presAssocID="{7B802C68-17FE-4AD8-9D22-EE7222FC4DD4}" presName="tx1" presStyleLbl="revTx" presStyleIdx="5" presStyleCnt="6"/>
      <dgm:spPr/>
    </dgm:pt>
    <dgm:pt modelId="{3907C396-DFFA-4CD9-9585-8313377591AB}" type="pres">
      <dgm:prSet presAssocID="{7B802C68-17FE-4AD8-9D22-EE7222FC4DD4}" presName="vert1" presStyleCnt="0"/>
      <dgm:spPr/>
    </dgm:pt>
  </dgm:ptLst>
  <dgm:cxnLst>
    <dgm:cxn modelId="{F56D2704-2E72-4EA1-AAA5-437A7981A2A5}" srcId="{6A560745-FCAE-4DE4-BA2B-071648FE97D1}" destId="{3FE29802-D7C8-422E-B558-8AABDF850B96}" srcOrd="1" destOrd="0" parTransId="{2B02F5FE-6CF0-4E4D-8F77-82B1426BF2DE}" sibTransId="{348743A4-07D6-49CC-88EB-8FC5533E38F2}"/>
    <dgm:cxn modelId="{7C5F840D-DF4D-4191-B553-E1A7D9781958}" type="presOf" srcId="{ECA211A6-6682-43F7-BFB6-29E975674406}" destId="{56E18461-A5AC-4545-B8FC-3611001CC12B}" srcOrd="0" destOrd="0" presId="urn:microsoft.com/office/officeart/2008/layout/LinedList"/>
    <dgm:cxn modelId="{59284B22-B406-4053-AD8E-34C62842E9B8}" type="presOf" srcId="{95C0C7AC-25F5-40B9-84A4-5C78353066D0}" destId="{30F50CBD-6D7B-4986-935D-81F43EC477C8}" srcOrd="0" destOrd="0" presId="urn:microsoft.com/office/officeart/2008/layout/LinedList"/>
    <dgm:cxn modelId="{05D8FC22-BF1E-425D-8804-3B781D6A4700}" type="presOf" srcId="{7B802C68-17FE-4AD8-9D22-EE7222FC4DD4}" destId="{DB6A4D59-00BC-433A-84A4-2857B5111107}" srcOrd="0" destOrd="0" presId="urn:microsoft.com/office/officeart/2008/layout/LinedList"/>
    <dgm:cxn modelId="{66F07B2C-810F-4E41-B7B6-29F3E1AA7287}" srcId="{6A560745-FCAE-4DE4-BA2B-071648FE97D1}" destId="{ECA211A6-6682-43F7-BFB6-29E975674406}" srcOrd="4" destOrd="0" parTransId="{AD36D525-A87E-4E63-9C48-A556137EF598}" sibTransId="{B53ED313-366B-49D2-A39F-BF142DE22913}"/>
    <dgm:cxn modelId="{BB294937-AF19-45F3-B6BB-86E7A13C34DE}" srcId="{6A560745-FCAE-4DE4-BA2B-071648FE97D1}" destId="{D26DECD9-6FB7-44C0-8A6A-2341C721ADCC}" srcOrd="3" destOrd="0" parTransId="{F21BBE0C-34BC-47EE-855E-826A407AE2B3}" sibTransId="{4F0AEA62-30D8-4C6F-9C97-68471B93AC52}"/>
    <dgm:cxn modelId="{C8002A5C-FB88-4E0A-BAC8-69FEDDAAC343}" type="presOf" srcId="{C1D059B5-40F4-4B4F-AB0A-8A2E19353F8E}" destId="{9B6C4706-426E-45D3-ABD8-65439C1A66D1}" srcOrd="0" destOrd="0" presId="urn:microsoft.com/office/officeart/2008/layout/LinedList"/>
    <dgm:cxn modelId="{71CA376D-1DDD-4929-B6E5-8E1266D81C1E}" type="presOf" srcId="{6A560745-FCAE-4DE4-BA2B-071648FE97D1}" destId="{811EA16A-B341-4F46-BB4C-5C1DF6B68133}" srcOrd="0" destOrd="0" presId="urn:microsoft.com/office/officeart/2008/layout/LinedList"/>
    <dgm:cxn modelId="{C476C5B3-5D99-4C5C-B74B-72C99C762092}" type="presOf" srcId="{D26DECD9-6FB7-44C0-8A6A-2341C721ADCC}" destId="{EA373C01-9227-4AF0-8A50-DAF0F18221D1}" srcOrd="0" destOrd="0" presId="urn:microsoft.com/office/officeart/2008/layout/LinedList"/>
    <dgm:cxn modelId="{2249AADA-A4F7-4CF5-8A19-F1D8A1392352}" srcId="{6A560745-FCAE-4DE4-BA2B-071648FE97D1}" destId="{C1D059B5-40F4-4B4F-AB0A-8A2E19353F8E}" srcOrd="2" destOrd="0" parTransId="{CA56A04D-4E30-4509-9E49-68BA168C2C2D}" sibTransId="{F545CDE0-CD32-4C46-AF05-30D57548E388}"/>
    <dgm:cxn modelId="{66AA87DF-8761-4C39-96A2-0DE96CB52F71}" type="presOf" srcId="{3FE29802-D7C8-422E-B558-8AABDF850B96}" destId="{C5E69939-B5EF-43A5-B694-470EBE846126}" srcOrd="0" destOrd="0" presId="urn:microsoft.com/office/officeart/2008/layout/LinedList"/>
    <dgm:cxn modelId="{9FE876E5-43EF-43D9-901F-775BC77E3CE6}" srcId="{6A560745-FCAE-4DE4-BA2B-071648FE97D1}" destId="{7B802C68-17FE-4AD8-9D22-EE7222FC4DD4}" srcOrd="5" destOrd="0" parTransId="{78C967F4-445E-4D0C-B3A2-40429C28C84F}" sibTransId="{659A90AF-D3EA-4316-9F51-DF04ABBC42E9}"/>
    <dgm:cxn modelId="{4F178CF6-CCEF-465E-98E2-003F6B6DECC7}" srcId="{6A560745-FCAE-4DE4-BA2B-071648FE97D1}" destId="{95C0C7AC-25F5-40B9-84A4-5C78353066D0}" srcOrd="0" destOrd="0" parTransId="{8B579D4D-F1F7-4578-8034-4CCA0A6950C8}" sibTransId="{4A515273-980A-4122-BF9B-8B140E542641}"/>
    <dgm:cxn modelId="{586739AF-35D2-4940-9224-F6ADC5995C5B}" type="presParOf" srcId="{811EA16A-B341-4F46-BB4C-5C1DF6B68133}" destId="{5EFEF91E-9C58-4BF3-8BD9-BEAA35FEF332}" srcOrd="0" destOrd="0" presId="urn:microsoft.com/office/officeart/2008/layout/LinedList"/>
    <dgm:cxn modelId="{7FFF3164-E9C9-4CB0-8507-201FB9996E3C}" type="presParOf" srcId="{811EA16A-B341-4F46-BB4C-5C1DF6B68133}" destId="{856647BD-C06B-4D34-AD87-DE2A939BA49F}" srcOrd="1" destOrd="0" presId="urn:microsoft.com/office/officeart/2008/layout/LinedList"/>
    <dgm:cxn modelId="{4EA5826F-F4EB-4AEF-B47D-D8D29D23E5EA}" type="presParOf" srcId="{856647BD-C06B-4D34-AD87-DE2A939BA49F}" destId="{30F50CBD-6D7B-4986-935D-81F43EC477C8}" srcOrd="0" destOrd="0" presId="urn:microsoft.com/office/officeart/2008/layout/LinedList"/>
    <dgm:cxn modelId="{BE626BF8-03B9-4CCA-B55F-6CA857722106}" type="presParOf" srcId="{856647BD-C06B-4D34-AD87-DE2A939BA49F}" destId="{648EB67F-957B-45E3-A710-8225F155C491}" srcOrd="1" destOrd="0" presId="urn:microsoft.com/office/officeart/2008/layout/LinedList"/>
    <dgm:cxn modelId="{355C4657-44D0-4A24-A085-BD292252EDDC}" type="presParOf" srcId="{811EA16A-B341-4F46-BB4C-5C1DF6B68133}" destId="{1FCD6AFB-2219-4573-88D8-0C778A7CA03B}" srcOrd="2" destOrd="0" presId="urn:microsoft.com/office/officeart/2008/layout/LinedList"/>
    <dgm:cxn modelId="{8FE888A9-4EE3-48BA-AF5E-14C6C885382E}" type="presParOf" srcId="{811EA16A-B341-4F46-BB4C-5C1DF6B68133}" destId="{D1179541-1B3C-4CDA-9B14-B165FEB8D209}" srcOrd="3" destOrd="0" presId="urn:microsoft.com/office/officeart/2008/layout/LinedList"/>
    <dgm:cxn modelId="{1983209D-5CF3-4039-B080-B8819ECB1DF4}" type="presParOf" srcId="{D1179541-1B3C-4CDA-9B14-B165FEB8D209}" destId="{C5E69939-B5EF-43A5-B694-470EBE846126}" srcOrd="0" destOrd="0" presId="urn:microsoft.com/office/officeart/2008/layout/LinedList"/>
    <dgm:cxn modelId="{AD538313-7092-4E8C-92AE-FE1EB4DB1516}" type="presParOf" srcId="{D1179541-1B3C-4CDA-9B14-B165FEB8D209}" destId="{CBE1F9B1-A752-4475-AE11-90C92222F082}" srcOrd="1" destOrd="0" presId="urn:microsoft.com/office/officeart/2008/layout/LinedList"/>
    <dgm:cxn modelId="{1B8C5A16-505B-44BE-A416-33335B867343}" type="presParOf" srcId="{811EA16A-B341-4F46-BB4C-5C1DF6B68133}" destId="{91C1056C-D1B7-44F9-B967-76A410C9CE21}" srcOrd="4" destOrd="0" presId="urn:microsoft.com/office/officeart/2008/layout/LinedList"/>
    <dgm:cxn modelId="{3F838614-E36B-400D-930F-D82E079BBA54}" type="presParOf" srcId="{811EA16A-B341-4F46-BB4C-5C1DF6B68133}" destId="{302A1BCE-99A9-4B01-B5B9-7E31857172D6}" srcOrd="5" destOrd="0" presId="urn:microsoft.com/office/officeart/2008/layout/LinedList"/>
    <dgm:cxn modelId="{B57C34ED-BE51-4C68-B69C-197DB3F6ED65}" type="presParOf" srcId="{302A1BCE-99A9-4B01-B5B9-7E31857172D6}" destId="{9B6C4706-426E-45D3-ABD8-65439C1A66D1}" srcOrd="0" destOrd="0" presId="urn:microsoft.com/office/officeart/2008/layout/LinedList"/>
    <dgm:cxn modelId="{0E6DD126-CDD3-454C-8AE4-5D4E6EEEF346}" type="presParOf" srcId="{302A1BCE-99A9-4B01-B5B9-7E31857172D6}" destId="{47D01127-688E-4B79-8935-9E3F0C46C537}" srcOrd="1" destOrd="0" presId="urn:microsoft.com/office/officeart/2008/layout/LinedList"/>
    <dgm:cxn modelId="{3D79D1B1-12AE-4715-998D-04EB44BB3111}" type="presParOf" srcId="{811EA16A-B341-4F46-BB4C-5C1DF6B68133}" destId="{153FECDC-9225-428A-B3D5-913A4B36F975}" srcOrd="6" destOrd="0" presId="urn:microsoft.com/office/officeart/2008/layout/LinedList"/>
    <dgm:cxn modelId="{F2ADFDDE-3E13-4B3D-882D-B0FAE4744703}" type="presParOf" srcId="{811EA16A-B341-4F46-BB4C-5C1DF6B68133}" destId="{AEC0B0AE-7CEA-4727-96EB-1AEFFB0E3502}" srcOrd="7" destOrd="0" presId="urn:microsoft.com/office/officeart/2008/layout/LinedList"/>
    <dgm:cxn modelId="{64F65341-FCC3-4747-A4E5-5D38B486FB9D}" type="presParOf" srcId="{AEC0B0AE-7CEA-4727-96EB-1AEFFB0E3502}" destId="{EA373C01-9227-4AF0-8A50-DAF0F18221D1}" srcOrd="0" destOrd="0" presId="urn:microsoft.com/office/officeart/2008/layout/LinedList"/>
    <dgm:cxn modelId="{06562728-9F1A-4489-8F30-49EAFBF10A46}" type="presParOf" srcId="{AEC0B0AE-7CEA-4727-96EB-1AEFFB0E3502}" destId="{8D2D6A3A-8F44-42F9-A973-3D8904BF7E9B}" srcOrd="1" destOrd="0" presId="urn:microsoft.com/office/officeart/2008/layout/LinedList"/>
    <dgm:cxn modelId="{B3ACE410-A698-4212-AF88-2A300E7B8B2B}" type="presParOf" srcId="{811EA16A-B341-4F46-BB4C-5C1DF6B68133}" destId="{56874CBB-BDF8-4459-A1DB-5E53DE57D5A4}" srcOrd="8" destOrd="0" presId="urn:microsoft.com/office/officeart/2008/layout/LinedList"/>
    <dgm:cxn modelId="{EE7EC385-D588-4936-932C-52AAC96656B8}" type="presParOf" srcId="{811EA16A-B341-4F46-BB4C-5C1DF6B68133}" destId="{06FCA760-A7BA-4A74-B0C4-AE88BFC95E30}" srcOrd="9" destOrd="0" presId="urn:microsoft.com/office/officeart/2008/layout/LinedList"/>
    <dgm:cxn modelId="{E20FCC82-7833-41EB-AA0B-9BB008D0A17A}" type="presParOf" srcId="{06FCA760-A7BA-4A74-B0C4-AE88BFC95E30}" destId="{56E18461-A5AC-4545-B8FC-3611001CC12B}" srcOrd="0" destOrd="0" presId="urn:microsoft.com/office/officeart/2008/layout/LinedList"/>
    <dgm:cxn modelId="{D60B5F7B-274E-47D8-837B-B8F9A000E6FA}" type="presParOf" srcId="{06FCA760-A7BA-4A74-B0C4-AE88BFC95E30}" destId="{CE7F42DF-63F5-4ABF-8E96-1DDE7656CB69}" srcOrd="1" destOrd="0" presId="urn:microsoft.com/office/officeart/2008/layout/LinedList"/>
    <dgm:cxn modelId="{78D8CEFD-F4BD-4555-8478-1FD63B245224}" type="presParOf" srcId="{811EA16A-B341-4F46-BB4C-5C1DF6B68133}" destId="{6F6265B4-A279-45EB-89D2-35CBC66451AF}" srcOrd="10" destOrd="0" presId="urn:microsoft.com/office/officeart/2008/layout/LinedList"/>
    <dgm:cxn modelId="{6665DA62-2742-4286-A3A5-4983273B0654}" type="presParOf" srcId="{811EA16A-B341-4F46-BB4C-5C1DF6B68133}" destId="{51F05881-880C-41C4-A6E4-03A584D24CFB}" srcOrd="11" destOrd="0" presId="urn:microsoft.com/office/officeart/2008/layout/LinedList"/>
    <dgm:cxn modelId="{F36281C4-E4CA-4E75-8C5C-69CE81D31275}" type="presParOf" srcId="{51F05881-880C-41C4-A6E4-03A584D24CFB}" destId="{DB6A4D59-00BC-433A-84A4-2857B5111107}" srcOrd="0" destOrd="0" presId="urn:microsoft.com/office/officeart/2008/layout/LinedList"/>
    <dgm:cxn modelId="{E8750BB0-A4D9-4985-B12D-B0B2903A7A52}" type="presParOf" srcId="{51F05881-880C-41C4-A6E4-03A584D24CFB}" destId="{3907C396-DFFA-4CD9-9585-8313377591A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C2C0C-F0CE-4F78-B766-E6014F45FA60}">
      <dsp:nvSpPr>
        <dsp:cNvPr id="0" name=""/>
        <dsp:cNvSpPr/>
      </dsp:nvSpPr>
      <dsp:spPr>
        <a:xfrm>
          <a:off x="0" y="548642"/>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1D742D-EA88-4809-BA52-4B5115514729}">
      <dsp:nvSpPr>
        <dsp:cNvPr id="0" name=""/>
        <dsp:cNvSpPr/>
      </dsp:nvSpPr>
      <dsp:spPr>
        <a:xfrm>
          <a:off x="0" y="548642"/>
          <a:ext cx="6492875" cy="2222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just" defTabSz="2133600">
            <a:lnSpc>
              <a:spcPct val="90000"/>
            </a:lnSpc>
            <a:spcBef>
              <a:spcPct val="0"/>
            </a:spcBef>
            <a:spcAft>
              <a:spcPct val="35000"/>
            </a:spcAft>
            <a:buNone/>
          </a:pPr>
          <a:r>
            <a:rPr lang="en-US" sz="4800" kern="1200" dirty="0">
              <a:latin typeface="Times New Roman" panose="02020603050405020304" pitchFamily="18" charset="0"/>
              <a:cs typeface="Times New Roman" panose="02020603050405020304" pitchFamily="18" charset="0"/>
            </a:rPr>
            <a:t>Design and Analysis of Algorithms (CSET-244)</a:t>
          </a:r>
        </a:p>
      </dsp:txBody>
      <dsp:txXfrm>
        <a:off x="0" y="548642"/>
        <a:ext cx="6492875" cy="22226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726ED-DDC5-4F15-8663-F5F2435A59B9}">
      <dsp:nvSpPr>
        <dsp:cNvPr id="0" name=""/>
        <dsp:cNvSpPr/>
      </dsp:nvSpPr>
      <dsp:spPr>
        <a:xfrm>
          <a:off x="0" y="719"/>
          <a:ext cx="6588691" cy="1684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A8911-7772-4C7A-9423-0DD3261BEB90}">
      <dsp:nvSpPr>
        <dsp:cNvPr id="0" name=""/>
        <dsp:cNvSpPr/>
      </dsp:nvSpPr>
      <dsp:spPr>
        <a:xfrm>
          <a:off x="509522" y="379703"/>
          <a:ext cx="926404" cy="9264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C746F5-A95B-4BBA-B40E-BC1EF1DC1CCF}">
      <dsp:nvSpPr>
        <dsp:cNvPr id="0" name=""/>
        <dsp:cNvSpPr/>
      </dsp:nvSpPr>
      <dsp:spPr>
        <a:xfrm>
          <a:off x="1945450" y="719"/>
          <a:ext cx="4643240" cy="1684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63" tIns="178263" rIns="178263" bIns="178263" numCol="1" spcCol="1270" anchor="ctr" anchorCtr="0">
          <a:noAutofit/>
        </a:bodyPr>
        <a:lstStyle/>
        <a:p>
          <a:pPr marL="0" lvl="0" indent="0" algn="l" defTabSz="1111250">
            <a:lnSpc>
              <a:spcPct val="100000"/>
            </a:lnSpc>
            <a:spcBef>
              <a:spcPct val="0"/>
            </a:spcBef>
            <a:spcAft>
              <a:spcPct val="35000"/>
            </a:spcAft>
            <a:buNone/>
          </a:pPr>
          <a:r>
            <a:rPr lang="en-IN" sz="2500" kern="1200" dirty="0"/>
            <a:t>3 Hours Lectures</a:t>
          </a:r>
          <a:endParaRPr lang="en-US" sz="2500" kern="1200" dirty="0"/>
        </a:p>
      </dsp:txBody>
      <dsp:txXfrm>
        <a:off x="1945450" y="719"/>
        <a:ext cx="4643240" cy="1684372"/>
      </dsp:txXfrm>
    </dsp:sp>
    <dsp:sp modelId="{4563BC6F-13F7-49D7-821F-0E84158A6A51}">
      <dsp:nvSpPr>
        <dsp:cNvPr id="0" name=""/>
        <dsp:cNvSpPr/>
      </dsp:nvSpPr>
      <dsp:spPr>
        <a:xfrm>
          <a:off x="0" y="2106185"/>
          <a:ext cx="6588691" cy="1684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8788B2-6595-4271-BAA5-06710FB3BA8D}">
      <dsp:nvSpPr>
        <dsp:cNvPr id="0" name=""/>
        <dsp:cNvSpPr/>
      </dsp:nvSpPr>
      <dsp:spPr>
        <a:xfrm>
          <a:off x="509522" y="2485169"/>
          <a:ext cx="926404" cy="9264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AA21D5-F875-48CF-9AD3-3BD853A90263}">
      <dsp:nvSpPr>
        <dsp:cNvPr id="0" name=""/>
        <dsp:cNvSpPr/>
      </dsp:nvSpPr>
      <dsp:spPr>
        <a:xfrm>
          <a:off x="1945450" y="2106185"/>
          <a:ext cx="4643240" cy="1684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63" tIns="178263" rIns="178263" bIns="178263" numCol="1" spcCol="1270" anchor="ctr" anchorCtr="0">
          <a:noAutofit/>
        </a:bodyPr>
        <a:lstStyle/>
        <a:p>
          <a:pPr marL="0" lvl="0" indent="0" algn="l" defTabSz="1111250">
            <a:lnSpc>
              <a:spcPct val="100000"/>
            </a:lnSpc>
            <a:spcBef>
              <a:spcPct val="0"/>
            </a:spcBef>
            <a:spcAft>
              <a:spcPct val="35000"/>
            </a:spcAft>
            <a:buNone/>
          </a:pPr>
          <a:r>
            <a:rPr lang="en-IN" sz="2500" kern="1200" dirty="0"/>
            <a:t>1 Hour Tutorial</a:t>
          </a:r>
          <a:endParaRPr lang="en-US" sz="2500" kern="1200" dirty="0"/>
        </a:p>
      </dsp:txBody>
      <dsp:txXfrm>
        <a:off x="1945450" y="2106185"/>
        <a:ext cx="4643240" cy="1684372"/>
      </dsp:txXfrm>
    </dsp:sp>
    <dsp:sp modelId="{7BEDD284-2193-4381-99E5-D3AB551E0238}">
      <dsp:nvSpPr>
        <dsp:cNvPr id="0" name=""/>
        <dsp:cNvSpPr/>
      </dsp:nvSpPr>
      <dsp:spPr>
        <a:xfrm>
          <a:off x="0" y="4211650"/>
          <a:ext cx="6588691" cy="1684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A43A83-2B8B-49E6-B5B8-5428F2820519}">
      <dsp:nvSpPr>
        <dsp:cNvPr id="0" name=""/>
        <dsp:cNvSpPr/>
      </dsp:nvSpPr>
      <dsp:spPr>
        <a:xfrm>
          <a:off x="509522" y="4590634"/>
          <a:ext cx="926404" cy="9264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DA060D-F85C-43F7-BE8E-7F8B7CFE6EB3}">
      <dsp:nvSpPr>
        <dsp:cNvPr id="0" name=""/>
        <dsp:cNvSpPr/>
      </dsp:nvSpPr>
      <dsp:spPr>
        <a:xfrm>
          <a:off x="1945450" y="4211650"/>
          <a:ext cx="4643240" cy="1684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63" tIns="178263" rIns="178263" bIns="178263" numCol="1" spcCol="1270" anchor="ctr" anchorCtr="0">
          <a:noAutofit/>
        </a:bodyPr>
        <a:lstStyle/>
        <a:p>
          <a:pPr marL="0" lvl="0" indent="0" algn="l" defTabSz="1111250">
            <a:lnSpc>
              <a:spcPct val="100000"/>
            </a:lnSpc>
            <a:spcBef>
              <a:spcPct val="0"/>
            </a:spcBef>
            <a:spcAft>
              <a:spcPct val="35000"/>
            </a:spcAft>
            <a:buNone/>
          </a:pPr>
          <a:r>
            <a:rPr lang="en-IN" sz="2500" kern="1200" dirty="0"/>
            <a:t>4 Hours Practical</a:t>
          </a:r>
          <a:endParaRPr lang="en-US" sz="2500" kern="1200" dirty="0"/>
        </a:p>
      </dsp:txBody>
      <dsp:txXfrm>
        <a:off x="1945450" y="4211650"/>
        <a:ext cx="4643240" cy="16843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1DB5A9-20A5-4FBE-9B39-B7FE0DACE63F}">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77463A-A5F0-4EF2-A2E4-CCD46E74459C}">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IN" sz="5000" kern="1200" dirty="0"/>
            <a:t>Data Structures</a:t>
          </a:r>
          <a:endParaRPr lang="en-US" sz="5000" kern="1200" dirty="0"/>
        </a:p>
      </dsp:txBody>
      <dsp:txXfrm>
        <a:off x="765914" y="2943510"/>
        <a:ext cx="4320000" cy="720000"/>
      </dsp:txXfrm>
    </dsp:sp>
    <dsp:sp modelId="{3388778F-9C63-4822-9483-A1507C5BF761}">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94E756-6AF4-4E12-A6AF-396B1A146F60}">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IN" sz="5000" kern="1200" dirty="0"/>
            <a:t>Programming</a:t>
          </a:r>
          <a:endParaRPr lang="en-US" sz="5000" kern="1200" dirty="0"/>
        </a:p>
      </dsp:txBody>
      <dsp:txXfrm>
        <a:off x="5841914" y="2943510"/>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A251C-9C58-4485-B2C4-47D1C4617F8B}">
      <dsp:nvSpPr>
        <dsp:cNvPr id="0" name=""/>
        <dsp:cNvSpPr/>
      </dsp:nvSpPr>
      <dsp:spPr>
        <a:xfrm>
          <a:off x="233245" y="1435360"/>
          <a:ext cx="914930" cy="91493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EA9DED-5F58-43B2-9F83-AC53DDFBCCA9}">
      <dsp:nvSpPr>
        <dsp:cNvPr id="0" name=""/>
        <dsp:cNvSpPr/>
      </dsp:nvSpPr>
      <dsp:spPr>
        <a:xfrm>
          <a:off x="425380" y="1627496"/>
          <a:ext cx="530659" cy="5306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2DC02E-DF60-4593-907A-1C6D20CFEEC1}">
      <dsp:nvSpPr>
        <dsp:cNvPr id="0" name=""/>
        <dsp:cNvSpPr/>
      </dsp:nvSpPr>
      <dsp:spPr>
        <a:xfrm>
          <a:off x="1344232" y="1435360"/>
          <a:ext cx="2156621" cy="914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Google</a:t>
          </a:r>
          <a:endParaRPr lang="en-US" sz="2000" kern="1200" dirty="0">
            <a:latin typeface="Times New Roman" panose="02020603050405020304" pitchFamily="18" charset="0"/>
            <a:cs typeface="Times New Roman" panose="02020603050405020304" pitchFamily="18" charset="0"/>
          </a:endParaRPr>
        </a:p>
      </dsp:txBody>
      <dsp:txXfrm>
        <a:off x="1344232" y="1435360"/>
        <a:ext cx="2156621" cy="914930"/>
      </dsp:txXfrm>
    </dsp:sp>
    <dsp:sp modelId="{B7BA1C6E-06EE-4321-B5D8-24BE2D09F269}">
      <dsp:nvSpPr>
        <dsp:cNvPr id="0" name=""/>
        <dsp:cNvSpPr/>
      </dsp:nvSpPr>
      <dsp:spPr>
        <a:xfrm>
          <a:off x="3876628" y="1435360"/>
          <a:ext cx="914930" cy="91493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652C17-8965-4915-8A4E-5B03E39EB333}">
      <dsp:nvSpPr>
        <dsp:cNvPr id="0" name=""/>
        <dsp:cNvSpPr/>
      </dsp:nvSpPr>
      <dsp:spPr>
        <a:xfrm>
          <a:off x="4068763" y="1627496"/>
          <a:ext cx="530659" cy="5306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BD2261-682E-4A0F-8D40-095063893285}">
      <dsp:nvSpPr>
        <dsp:cNvPr id="0" name=""/>
        <dsp:cNvSpPr/>
      </dsp:nvSpPr>
      <dsp:spPr>
        <a:xfrm>
          <a:off x="4987615" y="1435360"/>
          <a:ext cx="2156621" cy="914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a:latin typeface="Times New Roman" panose="02020603050405020304" pitchFamily="18" charset="0"/>
              <a:cs typeface="Times New Roman" panose="02020603050405020304" pitchFamily="18" charset="0"/>
            </a:rPr>
            <a:t>Geekforgeeks for practising questions and assignments.</a:t>
          </a:r>
          <a:endParaRPr lang="en-US" sz="2000" kern="1200">
            <a:latin typeface="Times New Roman" panose="02020603050405020304" pitchFamily="18" charset="0"/>
            <a:cs typeface="Times New Roman" panose="02020603050405020304" pitchFamily="18" charset="0"/>
          </a:endParaRPr>
        </a:p>
      </dsp:txBody>
      <dsp:txXfrm>
        <a:off x="4987615" y="1435360"/>
        <a:ext cx="2156621" cy="914930"/>
      </dsp:txXfrm>
    </dsp:sp>
    <dsp:sp modelId="{95EAF2A5-168D-481C-A59C-CF625E1D27AA}">
      <dsp:nvSpPr>
        <dsp:cNvPr id="0" name=""/>
        <dsp:cNvSpPr/>
      </dsp:nvSpPr>
      <dsp:spPr>
        <a:xfrm>
          <a:off x="7520011" y="1435360"/>
          <a:ext cx="914930" cy="91493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9DFF53-CBA9-439C-9B87-2351EB4ECAD7}">
      <dsp:nvSpPr>
        <dsp:cNvPr id="0" name=""/>
        <dsp:cNvSpPr/>
      </dsp:nvSpPr>
      <dsp:spPr>
        <a:xfrm>
          <a:off x="7712146" y="1627496"/>
          <a:ext cx="530659" cy="5306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AB224D-C463-451C-964F-A252D16062B8}">
      <dsp:nvSpPr>
        <dsp:cNvPr id="0" name=""/>
        <dsp:cNvSpPr/>
      </dsp:nvSpPr>
      <dsp:spPr>
        <a:xfrm>
          <a:off x="8630998" y="1435360"/>
          <a:ext cx="2156621" cy="914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a:latin typeface="Times New Roman" panose="02020603050405020304" pitchFamily="18" charset="0"/>
              <a:cs typeface="Times New Roman" panose="02020603050405020304" pitchFamily="18" charset="0"/>
            </a:rPr>
            <a:t>Class Lectures</a:t>
          </a:r>
          <a:endParaRPr lang="en-US" sz="2000" kern="1200">
            <a:latin typeface="Times New Roman" panose="02020603050405020304" pitchFamily="18" charset="0"/>
            <a:cs typeface="Times New Roman" panose="02020603050405020304" pitchFamily="18" charset="0"/>
          </a:endParaRPr>
        </a:p>
      </dsp:txBody>
      <dsp:txXfrm>
        <a:off x="8630998" y="1435360"/>
        <a:ext cx="2156621" cy="914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A5AEAE-5584-4C88-858C-EF7046F7CBAC}">
      <dsp:nvSpPr>
        <dsp:cNvPr id="0" name=""/>
        <dsp:cNvSpPr/>
      </dsp:nvSpPr>
      <dsp:spPr>
        <a:xfrm>
          <a:off x="82613"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A99CFC-6164-4297-85A5-9B4BDE9562E2}">
      <dsp:nvSpPr>
        <dsp:cNvPr id="0" name=""/>
        <dsp:cNvSpPr/>
      </dsp:nvSpPr>
      <dsp:spPr>
        <a:xfrm>
          <a:off x="271034" y="278494"/>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3F3802-5C58-49FC-A5D9-CE6AFBFBC203}">
      <dsp:nvSpPr>
        <dsp:cNvPr id="0" name=""/>
        <dsp:cNvSpPr/>
      </dsp:nvSpPr>
      <dsp:spPr>
        <a:xfrm>
          <a:off x="1172126"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dirty="0"/>
            <a:t>Basic of algorithms.</a:t>
          </a:r>
          <a:endParaRPr lang="en-US" sz="2100" kern="1200" dirty="0"/>
        </a:p>
      </dsp:txBody>
      <dsp:txXfrm>
        <a:off x="1172126" y="90072"/>
        <a:ext cx="2114937" cy="897246"/>
      </dsp:txXfrm>
    </dsp:sp>
    <dsp:sp modelId="{FC74F26E-B0D0-4901-8245-BF8B971DD93B}">
      <dsp:nvSpPr>
        <dsp:cNvPr id="0" name=""/>
        <dsp:cNvSpPr/>
      </dsp:nvSpPr>
      <dsp:spPr>
        <a:xfrm>
          <a:off x="3655575"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60C383-AEB9-48A0-9EBE-60C1C0B47822}">
      <dsp:nvSpPr>
        <dsp:cNvPr id="0" name=""/>
        <dsp:cNvSpPr/>
      </dsp:nvSpPr>
      <dsp:spPr>
        <a:xfrm>
          <a:off x="3843996" y="278494"/>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67879C-DD76-4360-B725-0964CE29CDAB}">
      <dsp:nvSpPr>
        <dsp:cNvPr id="0" name=""/>
        <dsp:cNvSpPr/>
      </dsp:nvSpPr>
      <dsp:spPr>
        <a:xfrm>
          <a:off x="474508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a:t>Sorting algorithms.</a:t>
          </a:r>
          <a:endParaRPr lang="en-US" sz="2100" kern="1200"/>
        </a:p>
      </dsp:txBody>
      <dsp:txXfrm>
        <a:off x="4745088" y="90072"/>
        <a:ext cx="2114937" cy="897246"/>
      </dsp:txXfrm>
    </dsp:sp>
    <dsp:sp modelId="{66E84F37-557C-45FA-BB27-698A327A1B68}">
      <dsp:nvSpPr>
        <dsp:cNvPr id="0" name=""/>
        <dsp:cNvSpPr/>
      </dsp:nvSpPr>
      <dsp:spPr>
        <a:xfrm>
          <a:off x="7228536"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476C94-35AF-401F-B2CA-39CCC2098930}">
      <dsp:nvSpPr>
        <dsp:cNvPr id="0" name=""/>
        <dsp:cNvSpPr/>
      </dsp:nvSpPr>
      <dsp:spPr>
        <a:xfrm>
          <a:off x="7416958" y="278494"/>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E9BF6B-2491-468F-9640-79D5928687C2}">
      <dsp:nvSpPr>
        <dsp:cNvPr id="0" name=""/>
        <dsp:cNvSpPr/>
      </dsp:nvSpPr>
      <dsp:spPr>
        <a:xfrm>
          <a:off x="8318049"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a:t>Divide and Conquer paradigm.</a:t>
          </a:r>
          <a:endParaRPr lang="en-US" sz="2100" kern="1200"/>
        </a:p>
      </dsp:txBody>
      <dsp:txXfrm>
        <a:off x="8318049" y="90072"/>
        <a:ext cx="2114937" cy="897246"/>
      </dsp:txXfrm>
    </dsp:sp>
    <dsp:sp modelId="{05A3EF28-685D-4A9E-A2FB-C27E6AC54208}">
      <dsp:nvSpPr>
        <dsp:cNvPr id="0" name=""/>
        <dsp:cNvSpPr/>
      </dsp:nvSpPr>
      <dsp:spPr>
        <a:xfrm>
          <a:off x="82613"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4BE2CA-F583-4C2B-AE42-0C99CB76997F}">
      <dsp:nvSpPr>
        <dsp:cNvPr id="0" name=""/>
        <dsp:cNvSpPr/>
      </dsp:nvSpPr>
      <dsp:spPr>
        <a:xfrm>
          <a:off x="271034" y="1915467"/>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1FE4FC-0443-461C-9713-B3B26D93E9CF}">
      <dsp:nvSpPr>
        <dsp:cNvPr id="0" name=""/>
        <dsp:cNvSpPr/>
      </dsp:nvSpPr>
      <dsp:spPr>
        <a:xfrm>
          <a:off x="1172126"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a:t>Greedy algorithms.</a:t>
          </a:r>
          <a:endParaRPr lang="en-US" sz="2100" kern="1200"/>
        </a:p>
      </dsp:txBody>
      <dsp:txXfrm>
        <a:off x="1172126" y="1727045"/>
        <a:ext cx="2114937" cy="897246"/>
      </dsp:txXfrm>
    </dsp:sp>
    <dsp:sp modelId="{6E858825-7A02-43AE-B8E1-9A072871AF29}">
      <dsp:nvSpPr>
        <dsp:cNvPr id="0" name=""/>
        <dsp:cNvSpPr/>
      </dsp:nvSpPr>
      <dsp:spPr>
        <a:xfrm>
          <a:off x="3655575"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C6F821-018E-41C7-BAE7-43B0946AED87}">
      <dsp:nvSpPr>
        <dsp:cNvPr id="0" name=""/>
        <dsp:cNvSpPr/>
      </dsp:nvSpPr>
      <dsp:spPr>
        <a:xfrm>
          <a:off x="3843996" y="1915467"/>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33C430-DFD5-426A-8345-43FD10958824}">
      <dsp:nvSpPr>
        <dsp:cNvPr id="0" name=""/>
        <dsp:cNvSpPr/>
      </dsp:nvSpPr>
      <dsp:spPr>
        <a:xfrm>
          <a:off x="474508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a:t>Dynamic programming.</a:t>
          </a:r>
          <a:endParaRPr lang="en-US" sz="2100" kern="1200"/>
        </a:p>
      </dsp:txBody>
      <dsp:txXfrm>
        <a:off x="4745088" y="1727045"/>
        <a:ext cx="2114937" cy="897246"/>
      </dsp:txXfrm>
    </dsp:sp>
    <dsp:sp modelId="{549C47CD-B1E0-4194-A2B2-FAA2DFF3BB88}">
      <dsp:nvSpPr>
        <dsp:cNvPr id="0" name=""/>
        <dsp:cNvSpPr/>
      </dsp:nvSpPr>
      <dsp:spPr>
        <a:xfrm>
          <a:off x="7228536"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6830B3-A52B-46DC-8FEE-DCA9BE14890E}">
      <dsp:nvSpPr>
        <dsp:cNvPr id="0" name=""/>
        <dsp:cNvSpPr/>
      </dsp:nvSpPr>
      <dsp:spPr>
        <a:xfrm>
          <a:off x="7416958" y="1915467"/>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A4849F-6818-44D4-8203-3FFD855CBC7F}">
      <dsp:nvSpPr>
        <dsp:cNvPr id="0" name=""/>
        <dsp:cNvSpPr/>
      </dsp:nvSpPr>
      <dsp:spPr>
        <a:xfrm>
          <a:off x="8318049"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a:t>Graph algorithms.</a:t>
          </a:r>
          <a:endParaRPr lang="en-US" sz="2100" kern="1200"/>
        </a:p>
      </dsp:txBody>
      <dsp:txXfrm>
        <a:off x="8318049" y="1727045"/>
        <a:ext cx="2114937" cy="897246"/>
      </dsp:txXfrm>
    </dsp:sp>
    <dsp:sp modelId="{2FE5E855-5893-4230-8A7E-CB8CEC179CED}">
      <dsp:nvSpPr>
        <dsp:cNvPr id="0" name=""/>
        <dsp:cNvSpPr/>
      </dsp:nvSpPr>
      <dsp:spPr>
        <a:xfrm>
          <a:off x="82613" y="336401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96EF96-BF5F-4628-A9CD-44D5BD91BE9E}">
      <dsp:nvSpPr>
        <dsp:cNvPr id="0" name=""/>
        <dsp:cNvSpPr/>
      </dsp:nvSpPr>
      <dsp:spPr>
        <a:xfrm>
          <a:off x="271034" y="3552441"/>
          <a:ext cx="520402" cy="5204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C0C62-D115-479D-A8B7-05F4FBB9FACF}">
      <dsp:nvSpPr>
        <dsp:cNvPr id="0" name=""/>
        <dsp:cNvSpPr/>
      </dsp:nvSpPr>
      <dsp:spPr>
        <a:xfrm>
          <a:off x="1172126"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IN" sz="2100" kern="1200"/>
            <a:t>Computational classes.</a:t>
          </a:r>
          <a:endParaRPr lang="en-US" sz="2100" kern="1200"/>
        </a:p>
      </dsp:txBody>
      <dsp:txXfrm>
        <a:off x="1172126" y="3364019"/>
        <a:ext cx="2114937" cy="8972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EF91E-9C58-4BF3-8BD9-BEAA35FEF332}">
      <dsp:nvSpPr>
        <dsp:cNvPr id="0" name=""/>
        <dsp:cNvSpPr/>
      </dsp:nvSpPr>
      <dsp:spPr>
        <a:xfrm>
          <a:off x="0" y="1900"/>
          <a:ext cx="10185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F50CBD-6D7B-4986-935D-81F43EC477C8}">
      <dsp:nvSpPr>
        <dsp:cNvPr id="0" name=""/>
        <dsp:cNvSpPr/>
      </dsp:nvSpPr>
      <dsp:spPr>
        <a:xfrm>
          <a:off x="0" y="1900"/>
          <a:ext cx="10185009" cy="648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Problem Definition</a:t>
          </a:r>
          <a:endParaRPr lang="en-US" sz="3000" kern="1200"/>
        </a:p>
      </dsp:txBody>
      <dsp:txXfrm>
        <a:off x="0" y="1900"/>
        <a:ext cx="10185009" cy="648176"/>
      </dsp:txXfrm>
    </dsp:sp>
    <dsp:sp modelId="{1FCD6AFB-2219-4573-88D8-0C778A7CA03B}">
      <dsp:nvSpPr>
        <dsp:cNvPr id="0" name=""/>
        <dsp:cNvSpPr/>
      </dsp:nvSpPr>
      <dsp:spPr>
        <a:xfrm>
          <a:off x="0" y="650077"/>
          <a:ext cx="10185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E69939-B5EF-43A5-B694-470EBE846126}">
      <dsp:nvSpPr>
        <dsp:cNvPr id="0" name=""/>
        <dsp:cNvSpPr/>
      </dsp:nvSpPr>
      <dsp:spPr>
        <a:xfrm>
          <a:off x="0" y="650077"/>
          <a:ext cx="10185009" cy="648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Design the Algorithm</a:t>
          </a:r>
          <a:endParaRPr lang="en-US" sz="3000" kern="1200"/>
        </a:p>
      </dsp:txBody>
      <dsp:txXfrm>
        <a:off x="0" y="650077"/>
        <a:ext cx="10185009" cy="648176"/>
      </dsp:txXfrm>
    </dsp:sp>
    <dsp:sp modelId="{91C1056C-D1B7-44F9-B967-76A410C9CE21}">
      <dsp:nvSpPr>
        <dsp:cNvPr id="0" name=""/>
        <dsp:cNvSpPr/>
      </dsp:nvSpPr>
      <dsp:spPr>
        <a:xfrm>
          <a:off x="0" y="1298253"/>
          <a:ext cx="10185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C4706-426E-45D3-ABD8-65439C1A66D1}">
      <dsp:nvSpPr>
        <dsp:cNvPr id="0" name=""/>
        <dsp:cNvSpPr/>
      </dsp:nvSpPr>
      <dsp:spPr>
        <a:xfrm>
          <a:off x="0" y="1298253"/>
          <a:ext cx="10185009" cy="648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Flow Chart</a:t>
          </a:r>
          <a:endParaRPr lang="en-US" sz="3000" kern="1200"/>
        </a:p>
      </dsp:txBody>
      <dsp:txXfrm>
        <a:off x="0" y="1298253"/>
        <a:ext cx="10185009" cy="648176"/>
      </dsp:txXfrm>
    </dsp:sp>
    <dsp:sp modelId="{153FECDC-9225-428A-B3D5-913A4B36F975}">
      <dsp:nvSpPr>
        <dsp:cNvPr id="0" name=""/>
        <dsp:cNvSpPr/>
      </dsp:nvSpPr>
      <dsp:spPr>
        <a:xfrm>
          <a:off x="0" y="1946430"/>
          <a:ext cx="10185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373C01-9227-4AF0-8A50-DAF0F18221D1}">
      <dsp:nvSpPr>
        <dsp:cNvPr id="0" name=""/>
        <dsp:cNvSpPr/>
      </dsp:nvSpPr>
      <dsp:spPr>
        <a:xfrm>
          <a:off x="0" y="1946430"/>
          <a:ext cx="10185009" cy="648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Verification (Testing)</a:t>
          </a:r>
          <a:endParaRPr lang="en-US" sz="3000" kern="1200"/>
        </a:p>
      </dsp:txBody>
      <dsp:txXfrm>
        <a:off x="0" y="1946430"/>
        <a:ext cx="10185009" cy="648176"/>
      </dsp:txXfrm>
    </dsp:sp>
    <dsp:sp modelId="{56874CBB-BDF8-4459-A1DB-5E53DE57D5A4}">
      <dsp:nvSpPr>
        <dsp:cNvPr id="0" name=""/>
        <dsp:cNvSpPr/>
      </dsp:nvSpPr>
      <dsp:spPr>
        <a:xfrm>
          <a:off x="0" y="2594607"/>
          <a:ext cx="10185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E18461-A5AC-4545-B8FC-3611001CC12B}">
      <dsp:nvSpPr>
        <dsp:cNvPr id="0" name=""/>
        <dsp:cNvSpPr/>
      </dsp:nvSpPr>
      <dsp:spPr>
        <a:xfrm>
          <a:off x="0" y="2594607"/>
          <a:ext cx="10185009" cy="648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Implementation (Coding)</a:t>
          </a:r>
          <a:endParaRPr lang="en-US" sz="3000" kern="1200"/>
        </a:p>
      </dsp:txBody>
      <dsp:txXfrm>
        <a:off x="0" y="2594607"/>
        <a:ext cx="10185009" cy="648176"/>
      </dsp:txXfrm>
    </dsp:sp>
    <dsp:sp modelId="{6F6265B4-A279-45EB-89D2-35CBC66451AF}">
      <dsp:nvSpPr>
        <dsp:cNvPr id="0" name=""/>
        <dsp:cNvSpPr/>
      </dsp:nvSpPr>
      <dsp:spPr>
        <a:xfrm>
          <a:off x="0" y="3242783"/>
          <a:ext cx="10185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6A4D59-00BC-433A-84A4-2857B5111107}">
      <dsp:nvSpPr>
        <dsp:cNvPr id="0" name=""/>
        <dsp:cNvSpPr/>
      </dsp:nvSpPr>
      <dsp:spPr>
        <a:xfrm>
          <a:off x="0" y="3242783"/>
          <a:ext cx="10185009" cy="648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Analysis</a:t>
          </a:r>
          <a:endParaRPr lang="en-US" sz="3000" kern="1200"/>
        </a:p>
      </dsp:txBody>
      <dsp:txXfrm>
        <a:off x="0" y="3242783"/>
        <a:ext cx="10185009" cy="64817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E30C89-CC33-590C-2C61-28F7BC7A90E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ABB66E0-6642-10BE-DC46-43FB37A8E7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094658-3106-49B2-B550-31EECD5DAC50}" type="datetimeFigureOut">
              <a:rPr lang="en-IN" smtClean="0"/>
              <a:t>09-01-2026</a:t>
            </a:fld>
            <a:endParaRPr lang="en-IN"/>
          </a:p>
        </p:txBody>
      </p:sp>
      <p:sp>
        <p:nvSpPr>
          <p:cNvPr id="4" name="Footer Placeholder 3">
            <a:extLst>
              <a:ext uri="{FF2B5EF4-FFF2-40B4-BE49-F238E27FC236}">
                <a16:creationId xmlns:a16="http://schemas.microsoft.com/office/drawing/2014/main" id="{E057363B-D03C-C1AC-D2B9-C3F2E451F5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0401370-B9BD-6E0E-1AF6-7FD3AD9794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F8A353A-2E98-4AB0-AB99-845B961612A8}" type="slidenum">
              <a:rPr lang="en-IN" smtClean="0"/>
              <a:t>‹#›</a:t>
            </a:fld>
            <a:endParaRPr lang="en-IN"/>
          </a:p>
        </p:txBody>
      </p:sp>
    </p:spTree>
    <p:extLst>
      <p:ext uri="{BB962C8B-B14F-4D97-AF65-F5344CB8AC3E}">
        <p14:creationId xmlns:p14="http://schemas.microsoft.com/office/powerpoint/2010/main" val="99896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136962-4743-4BEB-88D7-8484DF6B7281}"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D82F7E-6758-4267-80AD-D60111A44034}" type="slidenum">
              <a:rPr lang="en-IN" smtClean="0"/>
              <a:t>‹#›</a:t>
            </a:fld>
            <a:endParaRPr lang="en-IN"/>
          </a:p>
        </p:txBody>
      </p:sp>
    </p:spTree>
    <p:extLst>
      <p:ext uri="{BB962C8B-B14F-4D97-AF65-F5344CB8AC3E}">
        <p14:creationId xmlns:p14="http://schemas.microsoft.com/office/powerpoint/2010/main" val="1729307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35BBC099-688A-64AD-CFD2-DADB3C0B0D9D}"/>
              </a:ext>
            </a:extLst>
          </p:cNvPr>
          <p:cNvSpPr>
            <a:spLocks noGrp="1" noRot="1" noChangeAspect="1" noTextEdit="1"/>
          </p:cNvSpPr>
          <p:nvPr>
            <p:ph type="sldImg"/>
          </p:nvPr>
        </p:nvSpPr>
        <p:spPr>
          <a:ln/>
        </p:spPr>
      </p:sp>
      <p:sp>
        <p:nvSpPr>
          <p:cNvPr id="48131" name="Notes Placeholder 2">
            <a:extLst>
              <a:ext uri="{FF2B5EF4-FFF2-40B4-BE49-F238E27FC236}">
                <a16:creationId xmlns:a16="http://schemas.microsoft.com/office/drawing/2014/main" id="{06B897C4-EABE-4E23-8836-9EAF42FA2A5E}"/>
              </a:ext>
            </a:extLst>
          </p:cNvPr>
          <p:cNvSpPr>
            <a:spLocks noGrp="1"/>
          </p:cNvSpPr>
          <p:nvPr>
            <p:ph type="body" idx="1"/>
          </p:nvPr>
        </p:nvSpPr>
        <p:spPr>
          <a:noFill/>
        </p:spPr>
        <p:txBody>
          <a:bodyPr/>
          <a:lstStyle/>
          <a:p>
            <a:endParaRPr lang="en-IN" altLang="en-US"/>
          </a:p>
        </p:txBody>
      </p:sp>
      <p:sp>
        <p:nvSpPr>
          <p:cNvPr id="48132" name="Slide Number Placeholder 3">
            <a:extLst>
              <a:ext uri="{FF2B5EF4-FFF2-40B4-BE49-F238E27FC236}">
                <a16:creationId xmlns:a16="http://schemas.microsoft.com/office/drawing/2014/main" id="{7117320A-F0D7-5228-20BC-4511598DCF6B}"/>
              </a:ext>
            </a:extLst>
          </p:cNvPr>
          <p:cNvSpPr>
            <a:spLocks noGrp="1"/>
          </p:cNvSpPr>
          <p:nvPr>
            <p:ph type="sldNum" sz="quarter" idx="5"/>
          </p:nvPr>
        </p:nvSpPr>
        <p:spPr>
          <a:noFill/>
        </p:spPr>
        <p:txBody>
          <a:bodyPr/>
          <a:lstStyle>
            <a:lvl1pPr defTabSz="930275">
              <a:defRPr sz="2400">
                <a:solidFill>
                  <a:schemeClr val="tx1"/>
                </a:solidFill>
                <a:latin typeface="Arial" panose="020B0604020202020204" pitchFamily="34" charset="0"/>
              </a:defRPr>
            </a:lvl1pPr>
            <a:lvl2pPr marL="742950" indent="-285750" defTabSz="930275">
              <a:defRPr sz="2400">
                <a:solidFill>
                  <a:schemeClr val="tx1"/>
                </a:solidFill>
                <a:latin typeface="Arial" panose="020B0604020202020204" pitchFamily="34" charset="0"/>
              </a:defRPr>
            </a:lvl2pPr>
            <a:lvl3pPr marL="1143000" indent="-228600" defTabSz="930275">
              <a:defRPr sz="2400">
                <a:solidFill>
                  <a:schemeClr val="tx1"/>
                </a:solidFill>
                <a:latin typeface="Arial" panose="020B0604020202020204" pitchFamily="34" charset="0"/>
              </a:defRPr>
            </a:lvl3pPr>
            <a:lvl4pPr marL="1600200" indent="-228600" defTabSz="930275">
              <a:defRPr sz="2400">
                <a:solidFill>
                  <a:schemeClr val="tx1"/>
                </a:solidFill>
                <a:latin typeface="Arial" panose="020B0604020202020204" pitchFamily="34" charset="0"/>
              </a:defRPr>
            </a:lvl4pPr>
            <a:lvl5pPr marL="2057400" indent="-228600" defTabSz="930275">
              <a:defRPr sz="24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2400">
                <a:solidFill>
                  <a:schemeClr val="tx1"/>
                </a:solidFill>
                <a:latin typeface="Arial" panose="020B0604020202020204" pitchFamily="34" charset="0"/>
              </a:defRPr>
            </a:lvl9pPr>
          </a:lstStyle>
          <a:p>
            <a:fld id="{3FE285C3-985E-402A-BE2D-5D0B2AC093DE}" type="slidenum">
              <a:rPr lang="en-US" altLang="en-US" sz="1000"/>
              <a:pPr/>
              <a:t>16</a:t>
            </a:fld>
            <a:endParaRPr lang="en-US" altLang="en-US"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355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6C6BA36-1093-4B84-9FA2-4DFDE5FA8AD2}" type="slidenum">
              <a:rPr lang="en-US" altLang="en-US"/>
              <a:pPr>
                <a:spcBef>
                  <a:spcPct val="0"/>
                </a:spcBef>
              </a:pPr>
              <a:t>38</a:t>
            </a:fld>
            <a:endParaRPr lang="en-US" altLang="en-US"/>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59418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r>
              <a:rPr lang="en-US"/>
              <a:t>ER/CORP/CRS/LA06/003</a:t>
            </a:r>
          </a:p>
        </p:txBody>
      </p:sp>
      <p:sp>
        <p:nvSpPr>
          <p:cNvPr id="5" name="Slide Number Placeholder 4"/>
          <p:cNvSpPr>
            <a:spLocks noGrp="1"/>
          </p:cNvSpPr>
          <p:nvPr>
            <p:ph type="sldNum" sz="quarter" idx="11"/>
          </p:nvPr>
        </p:nvSpPr>
        <p:spPr/>
        <p:txBody>
          <a:bodyPr/>
          <a:lstStyle/>
          <a:p>
            <a:pPr>
              <a:defRPr/>
            </a:pPr>
            <a:fld id="{057FEF3E-92B1-46BD-AF58-250FF3AA454B}" type="slidenum">
              <a:rPr lang="en-US" altLang="en-US" smtClean="0"/>
              <a:pPr>
                <a:defRPr/>
              </a:pPr>
              <a:t>41</a:t>
            </a:fld>
            <a:endParaRPr lang="en-US" altLang="en-US"/>
          </a:p>
        </p:txBody>
      </p:sp>
    </p:spTree>
    <p:extLst>
      <p:ext uri="{BB962C8B-B14F-4D97-AF65-F5344CB8AC3E}">
        <p14:creationId xmlns:p14="http://schemas.microsoft.com/office/powerpoint/2010/main" val="4093127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194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6B044C2-53DB-42E0-B67F-8351412FF633}" type="slidenum">
              <a:rPr lang="en-US" altLang="en-US"/>
              <a:pPr>
                <a:spcBef>
                  <a:spcPct val="0"/>
                </a:spcBef>
              </a:pPr>
              <a:t>44</a:t>
            </a:fld>
            <a:endParaRPr lang="en-US" altLang="en-US"/>
          </a:p>
        </p:txBody>
      </p:sp>
      <p:sp>
        <p:nvSpPr>
          <p:cNvPr id="19460" name="Rectangle 2"/>
          <p:cNvSpPr>
            <a:spLocks noGrp="1" noRot="1" noChangeAspect="1" noChangeArrowheads="1" noTextEdit="1"/>
          </p:cNvSpPr>
          <p:nvPr>
            <p:ph type="sldImg"/>
          </p:nvPr>
        </p:nvSpPr>
        <p:spPr>
          <a:ln/>
        </p:spPr>
      </p:sp>
      <p:sp>
        <p:nvSpPr>
          <p:cNvPr id="194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15521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355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6C6BA36-1093-4B84-9FA2-4DFDE5FA8AD2}" type="slidenum">
              <a:rPr lang="en-US" altLang="en-US"/>
              <a:pPr>
                <a:spcBef>
                  <a:spcPct val="0"/>
                </a:spcBef>
              </a:pPr>
              <a:t>45</a:t>
            </a:fld>
            <a:endParaRPr lang="en-US" altLang="en-US"/>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91590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pPr>
              <a:defRPr/>
            </a:pPr>
            <a:r>
              <a:rPr lang="en-US"/>
              <a:t>ER/CORP/CRS/LA06/003</a:t>
            </a:r>
          </a:p>
        </p:txBody>
      </p:sp>
      <p:sp>
        <p:nvSpPr>
          <p:cNvPr id="5" name="Slide Number Placeholder 4"/>
          <p:cNvSpPr>
            <a:spLocks noGrp="1"/>
          </p:cNvSpPr>
          <p:nvPr>
            <p:ph type="sldNum" sz="quarter" idx="5"/>
          </p:nvPr>
        </p:nvSpPr>
        <p:spPr/>
        <p:txBody>
          <a:bodyPr/>
          <a:lstStyle/>
          <a:p>
            <a:pPr>
              <a:defRPr/>
            </a:pPr>
            <a:fld id="{057FEF3E-92B1-46BD-AF58-250FF3AA454B}" type="slidenum">
              <a:rPr lang="en-US" altLang="en-US" smtClean="0"/>
              <a:pPr>
                <a:defRPr/>
              </a:pPr>
              <a:t>46</a:t>
            </a:fld>
            <a:endParaRPr lang="en-US" altLang="en-US"/>
          </a:p>
        </p:txBody>
      </p:sp>
    </p:spTree>
    <p:extLst>
      <p:ext uri="{BB962C8B-B14F-4D97-AF65-F5344CB8AC3E}">
        <p14:creationId xmlns:p14="http://schemas.microsoft.com/office/powerpoint/2010/main" val="37882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pPr>
              <a:defRPr/>
            </a:pPr>
            <a:r>
              <a:rPr lang="en-US"/>
              <a:t>ER/CORP/CRS/LA06/003</a:t>
            </a:r>
          </a:p>
        </p:txBody>
      </p:sp>
      <p:sp>
        <p:nvSpPr>
          <p:cNvPr id="5" name="Slide Number Placeholder 4"/>
          <p:cNvSpPr>
            <a:spLocks noGrp="1"/>
          </p:cNvSpPr>
          <p:nvPr>
            <p:ph type="sldNum" sz="quarter" idx="5"/>
          </p:nvPr>
        </p:nvSpPr>
        <p:spPr/>
        <p:txBody>
          <a:bodyPr/>
          <a:lstStyle/>
          <a:p>
            <a:pPr>
              <a:defRPr/>
            </a:pPr>
            <a:fld id="{057FEF3E-92B1-46BD-AF58-250FF3AA454B}" type="slidenum">
              <a:rPr lang="en-US" altLang="en-US" smtClean="0"/>
              <a:pPr>
                <a:defRPr/>
              </a:pPr>
              <a:t>50</a:t>
            </a:fld>
            <a:endParaRPr lang="en-US" altLang="en-US"/>
          </a:p>
        </p:txBody>
      </p:sp>
    </p:spTree>
    <p:extLst>
      <p:ext uri="{BB962C8B-B14F-4D97-AF65-F5344CB8AC3E}">
        <p14:creationId xmlns:p14="http://schemas.microsoft.com/office/powerpoint/2010/main" val="3076326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7F1682-3BA7-4B6F-8512-47D952FCBF1A}" type="slidenum">
              <a:rPr lang="en-US" altLang="en-US"/>
              <a:pPr>
                <a:spcBef>
                  <a:spcPct val="0"/>
                </a:spcBef>
              </a:pPr>
              <a:t>62</a:t>
            </a:fld>
            <a:endParaRPr lang="en-US" altLang="en-US"/>
          </a:p>
        </p:txBody>
      </p:sp>
      <p:sp>
        <p:nvSpPr>
          <p:cNvPr id="21508" name="Rectangle 2"/>
          <p:cNvSpPr>
            <a:spLocks noGrp="1" noRot="1" noChangeAspect="1" noChangeArrowheads="1" noTextEdit="1"/>
          </p:cNvSpPr>
          <p:nvPr>
            <p:ph type="sldImg"/>
          </p:nvPr>
        </p:nvSpPr>
        <p:spPr>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70555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194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6B044C2-53DB-42E0-B67F-8351412FF633}" type="slidenum">
              <a:rPr lang="en-US" altLang="en-US"/>
              <a:pPr>
                <a:spcBef>
                  <a:spcPct val="0"/>
                </a:spcBef>
              </a:pPr>
              <a:t>63</a:t>
            </a:fld>
            <a:endParaRPr lang="en-US" altLang="en-US"/>
          </a:p>
        </p:txBody>
      </p:sp>
      <p:sp>
        <p:nvSpPr>
          <p:cNvPr id="19460" name="Rectangle 2"/>
          <p:cNvSpPr>
            <a:spLocks noGrp="1" noRot="1" noChangeAspect="1" noChangeArrowheads="1" noTextEdit="1"/>
          </p:cNvSpPr>
          <p:nvPr>
            <p:ph type="sldImg"/>
          </p:nvPr>
        </p:nvSpPr>
        <p:spPr>
          <a:ln/>
        </p:spPr>
      </p:sp>
      <p:sp>
        <p:nvSpPr>
          <p:cNvPr id="194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83937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355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6C6BA36-1093-4B84-9FA2-4DFDE5FA8AD2}" type="slidenum">
              <a:rPr lang="en-US" altLang="en-US"/>
              <a:pPr>
                <a:spcBef>
                  <a:spcPct val="0"/>
                </a:spcBef>
              </a:pPr>
              <a:t>65</a:t>
            </a:fld>
            <a:endParaRPr lang="en-US" altLang="en-US"/>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14472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560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2507871-7251-4BCD-93F1-FADD7EC0FEB8}" type="slidenum">
              <a:rPr lang="en-US" altLang="en-US"/>
              <a:pPr>
                <a:spcBef>
                  <a:spcPct val="0"/>
                </a:spcBef>
              </a:pPr>
              <a:t>66</a:t>
            </a:fld>
            <a:endParaRPr lang="en-US" altLang="en-US"/>
          </a:p>
        </p:txBody>
      </p:sp>
      <p:sp>
        <p:nvSpPr>
          <p:cNvPr id="25604" name="Rectangle 2"/>
          <p:cNvSpPr>
            <a:spLocks noGrp="1" noRot="1" noChangeAspect="1" noChangeArrowheads="1" noTextEdit="1"/>
          </p:cNvSpPr>
          <p:nvPr>
            <p:ph type="sldImg"/>
          </p:nvPr>
        </p:nvSpPr>
        <p:spPr>
          <a:ln/>
        </p:spPr>
      </p:sp>
      <p:sp>
        <p:nvSpPr>
          <p:cNvPr id="256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Tx/>
              <a:buAutoNum type="arabicPeriod"/>
            </a:pPr>
            <a:endParaRPr lang="en-US" altLang="en-US" sz="1000"/>
          </a:p>
        </p:txBody>
      </p:sp>
    </p:spTree>
    <p:extLst>
      <p:ext uri="{BB962C8B-B14F-4D97-AF65-F5344CB8AC3E}">
        <p14:creationId xmlns:p14="http://schemas.microsoft.com/office/powerpoint/2010/main" val="3047760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765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EEF67D-D4BC-4BE6-9E3A-51A875DA0604}" type="slidenum">
              <a:rPr lang="en-US" altLang="en-US"/>
              <a:pPr>
                <a:spcBef>
                  <a:spcPct val="0"/>
                </a:spcBef>
              </a:pPr>
              <a:t>67</a:t>
            </a:fld>
            <a:endParaRPr lang="en-US" altLang="en-US"/>
          </a:p>
        </p:txBody>
      </p:sp>
      <p:sp>
        <p:nvSpPr>
          <p:cNvPr id="27652" name="Rectangle 2"/>
          <p:cNvSpPr>
            <a:spLocks noGrp="1" noRot="1" noChangeAspect="1" noChangeArrowheads="1" noTextEdit="1"/>
          </p:cNvSpPr>
          <p:nvPr>
            <p:ph type="sldImg"/>
          </p:nvPr>
        </p:nvSpPr>
        <p:spPr>
          <a:ln/>
        </p:spPr>
      </p:sp>
      <p:sp>
        <p:nvSpPr>
          <p:cNvPr id="276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14982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7F1682-3BA7-4B6F-8512-47D952FCBF1A}" type="slidenum">
              <a:rPr lang="en-US" altLang="en-US"/>
              <a:pPr>
                <a:spcBef>
                  <a:spcPct val="0"/>
                </a:spcBef>
              </a:pPr>
              <a:t>77</a:t>
            </a:fld>
            <a:endParaRPr lang="en-US" altLang="en-US"/>
          </a:p>
        </p:txBody>
      </p:sp>
      <p:sp>
        <p:nvSpPr>
          <p:cNvPr id="21508" name="Rectangle 2"/>
          <p:cNvSpPr>
            <a:spLocks noGrp="1" noRot="1" noChangeAspect="1" noChangeArrowheads="1" noTextEdit="1"/>
          </p:cNvSpPr>
          <p:nvPr>
            <p:ph type="sldImg"/>
          </p:nvPr>
        </p:nvSpPr>
        <p:spPr>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44273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pPr>
              <a:defRPr/>
            </a:pPr>
            <a:r>
              <a:rPr lang="en-US"/>
              <a:t>ER/CORP/CRS/LA06/003</a:t>
            </a:r>
          </a:p>
        </p:txBody>
      </p:sp>
      <p:sp>
        <p:nvSpPr>
          <p:cNvPr id="5" name="Slide Number Placeholder 4"/>
          <p:cNvSpPr>
            <a:spLocks noGrp="1"/>
          </p:cNvSpPr>
          <p:nvPr>
            <p:ph type="sldNum" sz="quarter" idx="5"/>
          </p:nvPr>
        </p:nvSpPr>
        <p:spPr/>
        <p:txBody>
          <a:bodyPr/>
          <a:lstStyle/>
          <a:p>
            <a:pPr>
              <a:defRPr/>
            </a:pPr>
            <a:fld id="{057FEF3E-92B1-46BD-AF58-250FF3AA454B}" type="slidenum">
              <a:rPr lang="en-US" altLang="en-US" smtClean="0"/>
              <a:pPr>
                <a:defRPr/>
              </a:pPr>
              <a:t>83</a:t>
            </a:fld>
            <a:endParaRPr lang="en-US" altLang="en-US"/>
          </a:p>
        </p:txBody>
      </p:sp>
    </p:spTree>
    <p:extLst>
      <p:ext uri="{BB962C8B-B14F-4D97-AF65-F5344CB8AC3E}">
        <p14:creationId xmlns:p14="http://schemas.microsoft.com/office/powerpoint/2010/main" val="3107153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pPr>
              <a:defRPr/>
            </a:pPr>
            <a:r>
              <a:rPr lang="en-US"/>
              <a:t>ER/CORP/CRS/LA06/003</a:t>
            </a:r>
          </a:p>
        </p:txBody>
      </p:sp>
      <p:sp>
        <p:nvSpPr>
          <p:cNvPr id="5" name="Slide Number Placeholder 4"/>
          <p:cNvSpPr>
            <a:spLocks noGrp="1"/>
          </p:cNvSpPr>
          <p:nvPr>
            <p:ph type="sldNum" sz="quarter" idx="5"/>
          </p:nvPr>
        </p:nvSpPr>
        <p:spPr/>
        <p:txBody>
          <a:bodyPr/>
          <a:lstStyle/>
          <a:p>
            <a:pPr>
              <a:defRPr/>
            </a:pPr>
            <a:fld id="{057FEF3E-92B1-46BD-AF58-250FF3AA454B}" type="slidenum">
              <a:rPr lang="en-US" altLang="en-US" smtClean="0"/>
              <a:pPr>
                <a:defRPr/>
              </a:pPr>
              <a:t>84</a:t>
            </a:fld>
            <a:endParaRPr lang="en-US" altLang="en-US"/>
          </a:p>
        </p:txBody>
      </p:sp>
    </p:spTree>
    <p:extLst>
      <p:ext uri="{BB962C8B-B14F-4D97-AF65-F5344CB8AC3E}">
        <p14:creationId xmlns:p14="http://schemas.microsoft.com/office/powerpoint/2010/main" val="3777632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pPr>
              <a:defRPr/>
            </a:pPr>
            <a:r>
              <a:rPr lang="en-US"/>
              <a:t>ER/CORP/CRS/LA06/003</a:t>
            </a:r>
          </a:p>
        </p:txBody>
      </p:sp>
      <p:sp>
        <p:nvSpPr>
          <p:cNvPr id="5" name="Slide Number Placeholder 4"/>
          <p:cNvSpPr>
            <a:spLocks noGrp="1"/>
          </p:cNvSpPr>
          <p:nvPr>
            <p:ph type="sldNum" sz="quarter" idx="5"/>
          </p:nvPr>
        </p:nvSpPr>
        <p:spPr/>
        <p:txBody>
          <a:bodyPr/>
          <a:lstStyle/>
          <a:p>
            <a:pPr>
              <a:defRPr/>
            </a:pPr>
            <a:fld id="{057FEF3E-92B1-46BD-AF58-250FF3AA454B}" type="slidenum">
              <a:rPr lang="en-US" altLang="en-US" smtClean="0"/>
              <a:pPr>
                <a:defRPr/>
              </a:pPr>
              <a:t>85</a:t>
            </a:fld>
            <a:endParaRPr lang="en-US" altLang="en-US"/>
          </a:p>
        </p:txBody>
      </p:sp>
    </p:spTree>
    <p:extLst>
      <p:ext uri="{BB962C8B-B14F-4D97-AF65-F5344CB8AC3E}">
        <p14:creationId xmlns:p14="http://schemas.microsoft.com/office/powerpoint/2010/main" val="3308633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194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6B044C2-53DB-42E0-B67F-8351412FF633}" type="slidenum">
              <a:rPr lang="en-US" altLang="en-US"/>
              <a:pPr>
                <a:spcBef>
                  <a:spcPct val="0"/>
                </a:spcBef>
              </a:pPr>
              <a:t>89</a:t>
            </a:fld>
            <a:endParaRPr lang="en-US" altLang="en-US"/>
          </a:p>
        </p:txBody>
      </p:sp>
      <p:sp>
        <p:nvSpPr>
          <p:cNvPr id="19460" name="Rectangle 2"/>
          <p:cNvSpPr>
            <a:spLocks noGrp="1" noRot="1" noChangeAspect="1" noChangeArrowheads="1" noTextEdit="1"/>
          </p:cNvSpPr>
          <p:nvPr>
            <p:ph type="sldImg"/>
          </p:nvPr>
        </p:nvSpPr>
        <p:spPr>
          <a:ln/>
        </p:spPr>
      </p:sp>
      <p:sp>
        <p:nvSpPr>
          <p:cNvPr id="194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64097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a:t>ER/CORP/CRS/LA06/003</a:t>
            </a: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7F1682-3BA7-4B6F-8512-47D952FCBF1A}" type="slidenum">
              <a:rPr lang="en-US" altLang="en-US"/>
              <a:pPr>
                <a:spcBef>
                  <a:spcPct val="0"/>
                </a:spcBef>
              </a:pPr>
              <a:t>95</a:t>
            </a:fld>
            <a:endParaRPr lang="en-US" altLang="en-US"/>
          </a:p>
        </p:txBody>
      </p:sp>
      <p:sp>
        <p:nvSpPr>
          <p:cNvPr id="21508" name="Rectangle 2"/>
          <p:cNvSpPr>
            <a:spLocks noGrp="1" noRot="1" noChangeAspect="1" noChangeArrowheads="1" noTextEdit="1"/>
          </p:cNvSpPr>
          <p:nvPr>
            <p:ph type="sldImg"/>
          </p:nvPr>
        </p:nvSpPr>
        <p:spPr>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012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7FC23-DC3C-4975-8DCB-2795A0CB1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6C2EBD-6428-424A-AB09-E849006311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390710-2C21-4F7B-AC75-1310A1F39059}"/>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5" name="Footer Placeholder 4">
            <a:extLst>
              <a:ext uri="{FF2B5EF4-FFF2-40B4-BE49-F238E27FC236}">
                <a16:creationId xmlns:a16="http://schemas.microsoft.com/office/drawing/2014/main" id="{17A72BF9-398B-4ADF-A330-8F296D65B7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C5BE17-7F3D-4DF2-AD0A-645247928993}"/>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42000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4D6-AF50-48C2-AB24-C411B58B7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7B44B5-7B2D-482E-B6ED-EE8E61C0EB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E8E04E-5EB0-4DA0-9AA3-948A4D3D9CE6}"/>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5" name="Footer Placeholder 4">
            <a:extLst>
              <a:ext uri="{FF2B5EF4-FFF2-40B4-BE49-F238E27FC236}">
                <a16:creationId xmlns:a16="http://schemas.microsoft.com/office/drawing/2014/main" id="{DC9640F3-0D3A-4AC4-A743-D54F6E4683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B91DBE-20E1-488B-B5AD-EE53CD429512}"/>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929111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0DB7-59E7-421B-A237-D9A70DF279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5A2C80-D6B8-4453-8A9B-C01A50200F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2982E6-E9EA-4F35-91A3-04C6097A427E}"/>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5" name="Footer Placeholder 4">
            <a:extLst>
              <a:ext uri="{FF2B5EF4-FFF2-40B4-BE49-F238E27FC236}">
                <a16:creationId xmlns:a16="http://schemas.microsoft.com/office/drawing/2014/main" id="{D0576876-FB0F-48BD-B089-A496C5744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F2E17C-7EB8-4F87-81E7-D181921C316A}"/>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2783512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7B35-6DA6-4653-9E07-6627AEF0F6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EEC093-FF92-406C-B790-378E285B7D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C54F64-7E64-4F6D-9355-9E5A3E201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D2B062-A67D-4362-9C45-9A97CD6353EF}"/>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6" name="Footer Placeholder 5">
            <a:extLst>
              <a:ext uri="{FF2B5EF4-FFF2-40B4-BE49-F238E27FC236}">
                <a16:creationId xmlns:a16="http://schemas.microsoft.com/office/drawing/2014/main" id="{E8DEF338-F5A9-4E23-B682-3E406F4FA7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39FC52-739A-4FD3-8910-FE53BBAF55B1}"/>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478452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6E454-D218-4F4E-A368-FBEE3F97DC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7EAA9A-5DF3-4183-B564-B6CC0945DB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DFB04D-B315-459D-BC2F-3667943208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09C9F4-EC3B-44AE-9551-1A3C4DEE96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37A7A-B4F8-462D-B14D-274A4CA37D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DB300B-411A-4E2B-A48F-F169F3928DE5}"/>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8" name="Footer Placeholder 7">
            <a:extLst>
              <a:ext uri="{FF2B5EF4-FFF2-40B4-BE49-F238E27FC236}">
                <a16:creationId xmlns:a16="http://schemas.microsoft.com/office/drawing/2014/main" id="{D99ADB9F-F1D7-4263-84D4-C8997C7504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007ABD-0D32-4391-9271-D3EB5D6EDA7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392452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B8B1-85FD-4B2B-8B0A-C482F674CC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180D04-685B-4AD6-9FC7-506AA6F7EDAC}"/>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4" name="Footer Placeholder 3">
            <a:extLst>
              <a:ext uri="{FF2B5EF4-FFF2-40B4-BE49-F238E27FC236}">
                <a16:creationId xmlns:a16="http://schemas.microsoft.com/office/drawing/2014/main" id="{C5655466-2CC6-434A-996E-7D9464B9EA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37E820-2156-4049-A50E-A2BB70766F35}"/>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378065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59D5CB-3008-41B8-B50F-F5F466F75BD1}"/>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3" name="Footer Placeholder 2">
            <a:extLst>
              <a:ext uri="{FF2B5EF4-FFF2-40B4-BE49-F238E27FC236}">
                <a16:creationId xmlns:a16="http://schemas.microsoft.com/office/drawing/2014/main" id="{2B57AFA4-987E-4FD7-9558-F40157927E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0D4924-6375-49BA-9A25-D7F70D56D7C6}"/>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464146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20F96-8997-4ED8-95F1-17E6479D3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FB63FC-B48D-4EF0-8B37-36F6229B8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14628F-6C39-4E33-A915-783C27B09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A0233-603C-497E-894E-6C826F22B440}"/>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6" name="Footer Placeholder 5">
            <a:extLst>
              <a:ext uri="{FF2B5EF4-FFF2-40B4-BE49-F238E27FC236}">
                <a16:creationId xmlns:a16="http://schemas.microsoft.com/office/drawing/2014/main" id="{B098A6E7-3AB1-4B03-9D91-8647EA08AF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959B93-986F-4A61-887E-8B39AFD1F618}"/>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4275544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DC66-60A2-4D51-99BA-FE33E882C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E1DAC0-37D9-4822-9AD8-602341F5BD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B5FC53-D94B-46F4-B681-D40233A28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E78DB6-C05F-4D29-AF1D-E642CE0A9317}"/>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6" name="Footer Placeholder 5">
            <a:extLst>
              <a:ext uri="{FF2B5EF4-FFF2-40B4-BE49-F238E27FC236}">
                <a16:creationId xmlns:a16="http://schemas.microsoft.com/office/drawing/2014/main" id="{029E0BC2-B76C-40C1-97C4-77E4C91A2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FB614-A2B4-4AC3-97D0-666DE9AD6B1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015516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F81E-A5ED-4059-9145-48654E0BCD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65B84A-3625-4887-8F36-31EF2C3C3A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B3D81-B51D-48BD-82A5-DEA3B3E5E3DE}"/>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5" name="Footer Placeholder 4">
            <a:extLst>
              <a:ext uri="{FF2B5EF4-FFF2-40B4-BE49-F238E27FC236}">
                <a16:creationId xmlns:a16="http://schemas.microsoft.com/office/drawing/2014/main" id="{CBACECB2-BB94-4675-8371-EDAC0F06EB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A20FEF-D8F6-4F1A-AB87-5B575760B68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353210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78DC66-A94F-4B9C-9D19-70B1DE88A4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80612-68DB-41C2-A42C-F6A0A3F754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B5A7F2-4DF9-46B8-ACAC-82E6B005C6AC}"/>
              </a:ext>
            </a:extLst>
          </p:cNvPr>
          <p:cNvSpPr>
            <a:spLocks noGrp="1"/>
          </p:cNvSpPr>
          <p:nvPr>
            <p:ph type="dt" sz="half" idx="10"/>
          </p:nvPr>
        </p:nvSpPr>
        <p:spPr/>
        <p:txBody>
          <a:bodyPr/>
          <a:lstStyle/>
          <a:p>
            <a:fld id="{4A24E43A-7563-42F7-A1DD-3F9A93A3C453}" type="datetimeFigureOut">
              <a:rPr lang="en-IN" smtClean="0"/>
              <a:t>09-01-2026</a:t>
            </a:fld>
            <a:endParaRPr lang="en-IN"/>
          </a:p>
        </p:txBody>
      </p:sp>
      <p:sp>
        <p:nvSpPr>
          <p:cNvPr id="5" name="Footer Placeholder 4">
            <a:extLst>
              <a:ext uri="{FF2B5EF4-FFF2-40B4-BE49-F238E27FC236}">
                <a16:creationId xmlns:a16="http://schemas.microsoft.com/office/drawing/2014/main" id="{B26F5E13-8993-4BCC-A065-A5591B7D1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A4D39A-E59D-4D88-B7F9-38CA41323F6B}"/>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978758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9B8D37-55D8-411D-BAFE-91252650CF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049584"/>
            <a:ext cx="12192000" cy="808416"/>
          </a:xfrm>
          <a:prstGeom prst="rect">
            <a:avLst/>
          </a:prstGeom>
        </p:spPr>
      </p:pic>
      <p:sp>
        <p:nvSpPr>
          <p:cNvPr id="8" name="Rectangle 7">
            <a:extLst>
              <a:ext uri="{FF2B5EF4-FFF2-40B4-BE49-F238E27FC236}">
                <a16:creationId xmlns:a16="http://schemas.microsoft.com/office/drawing/2014/main" id="{735DF99C-8FB5-48F5-90C6-0C0CA690D195}"/>
              </a:ext>
            </a:extLst>
          </p:cNvPr>
          <p:cNvSpPr/>
          <p:nvPr userDrawn="1"/>
        </p:nvSpPr>
        <p:spPr>
          <a:xfrm>
            <a:off x="0" y="1"/>
            <a:ext cx="12192000" cy="8084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433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1026" name="Picture 2" descr="White Computer Wallpapers - Top Free White Computer Backgrounds -  WallpaperAccess"/>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0886"/>
            <a:ext cx="12192000" cy="68471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9"/>
          <p:cNvSpPr>
            <a:spLocks noChangeArrowheads="1"/>
          </p:cNvSpPr>
          <p:nvPr userDrawn="1"/>
        </p:nvSpPr>
        <p:spPr bwMode="auto">
          <a:xfrm>
            <a:off x="0" y="6527800"/>
            <a:ext cx="12192000" cy="330200"/>
          </a:xfrm>
          <a:prstGeom prst="rect">
            <a:avLst/>
          </a:prstGeom>
          <a:solidFill>
            <a:schemeClr val="tx2">
              <a:lumMod val="85000"/>
              <a:lumOff val="15000"/>
              <a:alpha val="61000"/>
            </a:schemeClr>
          </a:solidFill>
          <a:ln w="9525">
            <a:noFill/>
            <a:miter lim="800000"/>
            <a:headEnd/>
            <a:tailEnd/>
          </a:ln>
          <a:effectLst/>
        </p:spPr>
        <p:txBody>
          <a:bodyPr wrap="none" anchor="ctr"/>
          <a:lstStyle/>
          <a:p>
            <a:pPr eaLnBrk="1" hangingPunct="1">
              <a:lnSpc>
                <a:spcPct val="80000"/>
              </a:lnSpc>
              <a:spcBef>
                <a:spcPct val="20000"/>
              </a:spcBef>
              <a:buClr>
                <a:schemeClr val="tx2"/>
              </a:buClr>
              <a:defRPr/>
            </a:pPr>
            <a:endParaRPr lang="en-US"/>
          </a:p>
        </p:txBody>
      </p:sp>
      <p:sp>
        <p:nvSpPr>
          <p:cNvPr id="5" name="Text Box 8"/>
          <p:cNvSpPr txBox="1">
            <a:spLocks noChangeArrowheads="1"/>
          </p:cNvSpPr>
          <p:nvPr userDrawn="1"/>
        </p:nvSpPr>
        <p:spPr bwMode="auto">
          <a:xfrm>
            <a:off x="-93663" y="6583363"/>
            <a:ext cx="1500188" cy="274637"/>
          </a:xfrm>
          <a:prstGeom prst="rect">
            <a:avLst/>
          </a:prstGeom>
          <a:noFill/>
          <a:ln w="12700">
            <a:noFill/>
            <a:miter lim="800000"/>
            <a:headEnd/>
            <a:tailEnd/>
          </a:ln>
          <a:effectLst>
            <a:outerShdw dist="17961" dir="2700000" algn="ctr" rotWithShape="0">
              <a:schemeClr val="tx1"/>
            </a:outerShdw>
          </a:effectLst>
        </p:spPr>
        <p:txBody>
          <a:bodyPr>
            <a:spAutoFit/>
          </a:bodyPr>
          <a:lstStyle>
            <a:lvl1pPr eaLnBrk="0" hangingPunct="0">
              <a:defRPr>
                <a:solidFill>
                  <a:schemeClr val="tx1"/>
                </a:solidFill>
                <a:latin typeface="Courier New" panose="02070309020205020404" pitchFamily="49" charset="0"/>
              </a:defRPr>
            </a:lvl1pPr>
            <a:lvl2pPr marL="742950" indent="-285750" eaLnBrk="0" hangingPunct="0">
              <a:defRPr>
                <a:solidFill>
                  <a:schemeClr val="tx1"/>
                </a:solidFill>
                <a:latin typeface="Courier New" panose="02070309020205020404" pitchFamily="49" charset="0"/>
              </a:defRPr>
            </a:lvl2pPr>
            <a:lvl3pPr marL="1143000" indent="-228600" eaLnBrk="0" hangingPunct="0">
              <a:defRPr>
                <a:solidFill>
                  <a:schemeClr val="tx1"/>
                </a:solidFill>
                <a:latin typeface="Courier New" panose="02070309020205020404" pitchFamily="49" charset="0"/>
              </a:defRPr>
            </a:lvl3pPr>
            <a:lvl4pPr marL="1600200" indent="-228600" eaLnBrk="0" hangingPunct="0">
              <a:defRPr>
                <a:solidFill>
                  <a:schemeClr val="tx1"/>
                </a:solidFill>
                <a:latin typeface="Courier New" panose="02070309020205020404" pitchFamily="49" charset="0"/>
              </a:defRPr>
            </a:lvl4pPr>
            <a:lvl5pPr marL="2057400" indent="-228600" eaLnBrk="0" hangingPunct="0">
              <a:defRPr>
                <a:solidFill>
                  <a:schemeClr val="tx1"/>
                </a:solidFill>
                <a:latin typeface="Courier New" panose="02070309020205020404" pitchFamily="49" charset="0"/>
              </a:defRPr>
            </a:lvl5pPr>
            <a:lvl6pPr marL="25146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6pPr>
            <a:lvl7pPr marL="29718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7pPr>
            <a:lvl8pPr marL="34290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8pPr>
            <a:lvl9pPr marL="38862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9pPr>
          </a:lstStyle>
          <a:p>
            <a:pPr algn="ctr">
              <a:spcBef>
                <a:spcPct val="50000"/>
              </a:spcBef>
              <a:buClr>
                <a:srgbClr val="0033CC"/>
              </a:buClr>
              <a:buSzPct val="155000"/>
              <a:buFont typeface="Symbol" panose="05050102010706020507" pitchFamily="18" charset="2"/>
              <a:buNone/>
              <a:defRPr/>
            </a:pPr>
            <a:r>
              <a:rPr lang="en-US" altLang="en-US" sz="1200" dirty="0">
                <a:solidFill>
                  <a:srgbClr val="FFFFCC"/>
                </a:solidFill>
                <a:latin typeface="Arial" panose="020B0604020202020204" pitchFamily="34" charset="0"/>
              </a:rPr>
              <a:t>Ver. No.: 1.1</a:t>
            </a:r>
          </a:p>
        </p:txBody>
      </p:sp>
      <p:sp>
        <p:nvSpPr>
          <p:cNvPr id="6" name="Rectangle 5"/>
          <p:cNvSpPr>
            <a:spLocks noChangeArrowheads="1"/>
          </p:cNvSpPr>
          <p:nvPr userDrawn="1"/>
        </p:nvSpPr>
        <p:spPr bwMode="auto">
          <a:xfrm>
            <a:off x="8096250" y="6540500"/>
            <a:ext cx="3290888" cy="277813"/>
          </a:xfrm>
          <a:prstGeom prst="rect">
            <a:avLst/>
          </a:prstGeom>
          <a:noFill/>
          <a:ln w="12700" algn="ctr">
            <a:noFill/>
            <a:miter lim="800000"/>
            <a:headEnd/>
            <a:tailEnd/>
          </a:ln>
          <a:effectLst>
            <a:outerShdw dist="17961" dir="2700000" algn="ctr" rotWithShape="0">
              <a:schemeClr val="tx1"/>
            </a:outerShdw>
          </a:effectLst>
        </p:spPr>
        <p:txBody>
          <a:bodyPr wrap="none" lIns="92075" tIns="46038" rIns="92075" bIns="46038">
            <a:spAutoFit/>
          </a:bodyPr>
          <a:lstStyle>
            <a:lvl1pPr marL="173038" indent="-173038" eaLnBrk="0" hangingPunct="0">
              <a:defRPr>
                <a:solidFill>
                  <a:schemeClr val="tx1"/>
                </a:solidFill>
                <a:latin typeface="Courier New" panose="02070309020205020404" pitchFamily="49" charset="0"/>
              </a:defRPr>
            </a:lvl1pPr>
            <a:lvl2pPr marL="742950" indent="-285750" eaLnBrk="0" hangingPunct="0">
              <a:defRPr>
                <a:solidFill>
                  <a:schemeClr val="tx1"/>
                </a:solidFill>
                <a:latin typeface="Courier New" panose="02070309020205020404" pitchFamily="49" charset="0"/>
              </a:defRPr>
            </a:lvl2pPr>
            <a:lvl3pPr marL="1143000" indent="-228600" eaLnBrk="0" hangingPunct="0">
              <a:defRPr>
                <a:solidFill>
                  <a:schemeClr val="tx1"/>
                </a:solidFill>
                <a:latin typeface="Courier New" panose="02070309020205020404" pitchFamily="49" charset="0"/>
              </a:defRPr>
            </a:lvl3pPr>
            <a:lvl4pPr marL="1600200" indent="-228600" eaLnBrk="0" hangingPunct="0">
              <a:defRPr>
                <a:solidFill>
                  <a:schemeClr val="tx1"/>
                </a:solidFill>
                <a:latin typeface="Courier New" panose="02070309020205020404" pitchFamily="49" charset="0"/>
              </a:defRPr>
            </a:lvl4pPr>
            <a:lvl5pPr marL="2057400" indent="-228600" eaLnBrk="0" hangingPunct="0">
              <a:defRPr>
                <a:solidFill>
                  <a:schemeClr val="tx1"/>
                </a:solidFill>
                <a:latin typeface="Courier New" panose="02070309020205020404" pitchFamily="49" charset="0"/>
              </a:defRPr>
            </a:lvl5pPr>
            <a:lvl6pPr marL="25146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6pPr>
            <a:lvl7pPr marL="29718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7pPr>
            <a:lvl8pPr marL="34290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8pPr>
            <a:lvl9pPr marL="38862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9pPr>
          </a:lstStyle>
          <a:p>
            <a:pPr>
              <a:spcBef>
                <a:spcPct val="50000"/>
              </a:spcBef>
              <a:defRPr/>
            </a:pPr>
            <a:r>
              <a:rPr lang="en-US" altLang="en-US" sz="1200" dirty="0">
                <a:solidFill>
                  <a:srgbClr val="FFFFCC"/>
                </a:solidFill>
                <a:latin typeface="Arial" panose="020B0604020202020204" pitchFamily="34" charset="0"/>
              </a:rPr>
              <a:t>Copyright © 2021, ABES Engineering College</a:t>
            </a:r>
          </a:p>
        </p:txBody>
      </p:sp>
      <p:sp>
        <p:nvSpPr>
          <p:cNvPr id="24" name="Title 1"/>
          <p:cNvSpPr>
            <a:spLocks noGrp="1"/>
          </p:cNvSpPr>
          <p:nvPr>
            <p:ph type="title"/>
          </p:nvPr>
        </p:nvSpPr>
        <p:spPr>
          <a:xfrm>
            <a:off x="656492" y="762000"/>
            <a:ext cx="9941169" cy="973138"/>
          </a:xfrm>
        </p:spPr>
        <p:txBody>
          <a:bodyPr/>
          <a:lstStyle>
            <a:lvl1pPr>
              <a:defRPr>
                <a:solidFill>
                  <a:schemeClr val="tx2">
                    <a:lumMod val="65000"/>
                    <a:lumOff val="35000"/>
                  </a:schemeClr>
                </a:solidFill>
              </a:defRPr>
            </a:lvl1pPr>
          </a:lstStyle>
          <a:p>
            <a:r>
              <a:rPr lang="en-US" dirty="0"/>
              <a:t>Click to edit Master title style</a:t>
            </a:r>
          </a:p>
        </p:txBody>
      </p:sp>
      <p:sp>
        <p:nvSpPr>
          <p:cNvPr id="8" name="Text Box 26"/>
          <p:cNvSpPr txBox="1">
            <a:spLocks noChangeArrowheads="1"/>
          </p:cNvSpPr>
          <p:nvPr userDrawn="1"/>
        </p:nvSpPr>
        <p:spPr bwMode="auto">
          <a:xfrm>
            <a:off x="304800" y="76200"/>
            <a:ext cx="8472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0000"/>
              </a:lnSpc>
              <a:spcBef>
                <a:spcPct val="20000"/>
              </a:spcBef>
              <a:buClr>
                <a:schemeClr val="tx2"/>
              </a:buClr>
              <a:defRPr>
                <a:solidFill>
                  <a:schemeClr val="tx1"/>
                </a:solidFill>
                <a:latin typeface="Courier New" panose="02070309020205020404" pitchFamily="49" charset="0"/>
              </a:defRPr>
            </a:lvl1pPr>
            <a:lvl2pPr marL="742950" indent="-285750">
              <a:lnSpc>
                <a:spcPct val="80000"/>
              </a:lnSpc>
              <a:spcBef>
                <a:spcPct val="20000"/>
              </a:spcBef>
              <a:buClr>
                <a:schemeClr val="tx2"/>
              </a:buClr>
              <a:defRPr>
                <a:solidFill>
                  <a:schemeClr val="tx1"/>
                </a:solidFill>
                <a:latin typeface="Courier New" panose="02070309020205020404" pitchFamily="49" charset="0"/>
              </a:defRPr>
            </a:lvl2pPr>
            <a:lvl3pPr marL="1143000" indent="-228600">
              <a:lnSpc>
                <a:spcPct val="80000"/>
              </a:lnSpc>
              <a:spcBef>
                <a:spcPct val="20000"/>
              </a:spcBef>
              <a:buClr>
                <a:schemeClr val="tx2"/>
              </a:buClr>
              <a:defRPr>
                <a:solidFill>
                  <a:schemeClr val="tx1"/>
                </a:solidFill>
                <a:latin typeface="Courier New" panose="02070309020205020404" pitchFamily="49" charset="0"/>
              </a:defRPr>
            </a:lvl3pPr>
            <a:lvl4pPr marL="1600200" indent="-228600">
              <a:lnSpc>
                <a:spcPct val="80000"/>
              </a:lnSpc>
              <a:spcBef>
                <a:spcPct val="20000"/>
              </a:spcBef>
              <a:buClr>
                <a:schemeClr val="tx2"/>
              </a:buClr>
              <a:defRPr>
                <a:solidFill>
                  <a:schemeClr val="tx1"/>
                </a:solidFill>
                <a:latin typeface="Courier New" panose="02070309020205020404" pitchFamily="49" charset="0"/>
              </a:defRPr>
            </a:lvl4pPr>
            <a:lvl5pPr marL="2057400" indent="-228600">
              <a:lnSpc>
                <a:spcPct val="80000"/>
              </a:lnSpc>
              <a:spcBef>
                <a:spcPct val="20000"/>
              </a:spcBef>
              <a:buClr>
                <a:schemeClr val="tx2"/>
              </a:buClr>
              <a:defRPr>
                <a:solidFill>
                  <a:schemeClr val="tx1"/>
                </a:solidFill>
                <a:latin typeface="Courier New" panose="02070309020205020404" pitchFamily="49" charset="0"/>
              </a:defRPr>
            </a:lvl5pPr>
            <a:lvl6pPr marL="25146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6pPr>
            <a:lvl7pPr marL="29718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7pPr>
            <a:lvl8pPr marL="34290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8pPr>
            <a:lvl9pPr marL="38862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9pPr>
          </a:lstStyle>
          <a:p>
            <a:pPr eaLnBrk="1" hangingPunct="1">
              <a:lnSpc>
                <a:spcPct val="100000"/>
              </a:lnSpc>
              <a:spcBef>
                <a:spcPct val="0"/>
              </a:spcBef>
              <a:buClrTx/>
            </a:pPr>
            <a:r>
              <a:rPr lang="en-US" altLang="en-US" sz="1600" b="1" dirty="0">
                <a:solidFill>
                  <a:srgbClr val="752E2E"/>
                </a:solidFill>
                <a:latin typeface="Arial" panose="020B0604020202020204" pitchFamily="34" charset="0"/>
              </a:rPr>
              <a:t>Quality Content for Outcome based Learning </a:t>
            </a:r>
            <a:endParaRPr lang="en-US" altLang="en-US" sz="1200" i="1" dirty="0">
              <a:solidFill>
                <a:srgbClr val="752E2E"/>
              </a:solidFill>
              <a:latin typeface="Arial" panose="020B0604020202020204" pitchFamily="34" charset="0"/>
            </a:endParaRPr>
          </a:p>
        </p:txBody>
      </p:sp>
      <p:pic>
        <p:nvPicPr>
          <p:cNvPr id="11" name="Picture 8" descr="ABES ENGINEERING COLLEGE, Ghāziābād"/>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l="29861" r="30270"/>
          <a:stretch>
            <a:fillRect/>
          </a:stretch>
        </p:blipFill>
        <p:spPr bwMode="auto">
          <a:xfrm>
            <a:off x="11125200" y="12700"/>
            <a:ext cx="6445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056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nodeType="withEffect">
                                  <p:stCondLst>
                                    <p:cond delay="0"/>
                                  </p:stCondLst>
                                  <p:iterate type="lt">
                                    <p:tmPct val="10000"/>
                                  </p:iterate>
                                  <p:childTnLst>
                                    <p:animScale>
                                      <p:cBhvr>
                                        <p:cTn id="6" dur="250" autoRev="1" fill="hold">
                                          <p:stCondLst>
                                            <p:cond delay="0"/>
                                          </p:stCondLst>
                                        </p:cTn>
                                        <p:tgtEl>
                                          <p:spTgt spid="8">
                                            <p:txEl>
                                              <p:pRg st="0" end="0"/>
                                            </p:txEl>
                                          </p:spTgt>
                                        </p:tgtEl>
                                      </p:cBhvr>
                                      <p:to x="80000" y="100000"/>
                                    </p:animScale>
                                    <p:anim by="(#ppt_w*0.10)" calcmode="lin" valueType="num">
                                      <p:cBhvr>
                                        <p:cTn id="7" dur="250" autoRev="1" fill="hold">
                                          <p:stCondLst>
                                            <p:cond delay="0"/>
                                          </p:stCondLst>
                                        </p:cTn>
                                        <p:tgtEl>
                                          <p:spTgt spid="8">
                                            <p:txEl>
                                              <p:pRg st="0" end="0"/>
                                            </p:txEl>
                                          </p:spTgt>
                                        </p:tgtEl>
                                        <p:attrNameLst>
                                          <p:attrName>ppt_x</p:attrName>
                                        </p:attrNameLst>
                                      </p:cBhvr>
                                    </p:anim>
                                    <p:anim by="(-#ppt_w*0.10)" calcmode="lin" valueType="num">
                                      <p:cBhvr>
                                        <p:cTn id="8" dur="250" autoRev="1" fill="hold">
                                          <p:stCondLst>
                                            <p:cond delay="0"/>
                                          </p:stCondLst>
                                        </p:cTn>
                                        <p:tgtEl>
                                          <p:spTgt spid="8">
                                            <p:txEl>
                                              <p:pRg st="0" end="0"/>
                                            </p:txEl>
                                          </p:spTgt>
                                        </p:tgtEl>
                                        <p:attrNameLst>
                                          <p:attrName>ppt_y</p:attrName>
                                        </p:attrNameLst>
                                      </p:cBhvr>
                                    </p:anim>
                                    <p:animRot by="-480000">
                                      <p:cBhvr>
                                        <p:cTn id="9" dur="250" autoRev="1" fill="hold">
                                          <p:stCondLst>
                                            <p:cond delay="0"/>
                                          </p:stCondLst>
                                        </p:cTn>
                                        <p:tgtEl>
                                          <p:spTgt spid="8">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7A755E-E234-4AB6-B770-0DB01A5737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D02AE2-10BA-4962-8F9C-9FF87476C9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287E46-BBD2-491D-A435-E5A951E312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4E43A-7563-42F7-A1DD-3F9A93A3C453}" type="datetimeFigureOut">
              <a:rPr lang="en-IN" smtClean="0"/>
              <a:t>09-01-2026</a:t>
            </a:fld>
            <a:endParaRPr lang="en-IN"/>
          </a:p>
        </p:txBody>
      </p:sp>
      <p:sp>
        <p:nvSpPr>
          <p:cNvPr id="5" name="Footer Placeholder 4">
            <a:extLst>
              <a:ext uri="{FF2B5EF4-FFF2-40B4-BE49-F238E27FC236}">
                <a16:creationId xmlns:a16="http://schemas.microsoft.com/office/drawing/2014/main" id="{A20ACAA0-F85E-420D-A81F-3444ADC75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5765A6-C49E-4D7A-9668-2809C59C6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E4A24-71E9-4E5B-9577-D5B8E3E876B3}" type="slidenum">
              <a:rPr lang="en-IN" smtClean="0"/>
              <a:t>‹#›</a:t>
            </a:fld>
            <a:endParaRPr lang="en-IN"/>
          </a:p>
        </p:txBody>
      </p:sp>
    </p:spTree>
    <p:extLst>
      <p:ext uri="{BB962C8B-B14F-4D97-AF65-F5344CB8AC3E}">
        <p14:creationId xmlns:p14="http://schemas.microsoft.com/office/powerpoint/2010/main" val="21300155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5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extBox 4">
            <a:extLst>
              <a:ext uri="{FF2B5EF4-FFF2-40B4-BE49-F238E27FC236}">
                <a16:creationId xmlns:a16="http://schemas.microsoft.com/office/drawing/2014/main" id="{5BE3190F-E39B-47B6-8735-2379B9352A76}"/>
              </a:ext>
            </a:extLst>
          </p:cNvPr>
          <p:cNvSpPr txBox="1"/>
          <p:nvPr/>
        </p:nvSpPr>
        <p:spPr>
          <a:xfrm>
            <a:off x="535020" y="685800"/>
            <a:ext cx="2780271" cy="51054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Calibri Light" panose="020F0302020204030204"/>
                <a:ea typeface="+mn-ea"/>
                <a:cs typeface="+mn-cs"/>
              </a:rPr>
              <a:t>Lecture 1</a:t>
            </a:r>
          </a:p>
        </p:txBody>
      </p:sp>
      <p:pic>
        <p:nvPicPr>
          <p:cNvPr id="4" name="Picture 3">
            <a:extLst>
              <a:ext uri="{FF2B5EF4-FFF2-40B4-BE49-F238E27FC236}">
                <a16:creationId xmlns:a16="http://schemas.microsoft.com/office/drawing/2014/main" id="{98970251-A8FE-4E9C-8058-EA07F600ECB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49584"/>
            <a:ext cx="12192000" cy="808416"/>
          </a:xfrm>
          <a:prstGeom prst="rect">
            <a:avLst/>
          </a:prstGeom>
        </p:spPr>
      </p:pic>
      <p:graphicFrame>
        <p:nvGraphicFramePr>
          <p:cNvPr id="10" name="TextBox 7">
            <a:extLst>
              <a:ext uri="{FF2B5EF4-FFF2-40B4-BE49-F238E27FC236}">
                <a16:creationId xmlns:a16="http://schemas.microsoft.com/office/drawing/2014/main" id="{74681802-50A8-4E81-99BA-CCC5465706AE}"/>
              </a:ext>
            </a:extLst>
          </p:cNvPr>
          <p:cNvGraphicFramePr/>
          <p:nvPr/>
        </p:nvGraphicFramePr>
        <p:xfrm>
          <a:off x="5010150" y="1378634"/>
          <a:ext cx="6492875" cy="3319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8208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7AB8BFD-5C1F-445C-8050-CE8F451E95B0}"/>
              </a:ext>
            </a:extLst>
          </p:cNvPr>
          <p:cNvSpPr txBox="1"/>
          <p:nvPr/>
        </p:nvSpPr>
        <p:spPr>
          <a:xfrm>
            <a:off x="594360" y="637125"/>
            <a:ext cx="3802276" cy="5256371"/>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800" b="0" i="0" u="none" strike="noStrike" kern="1200" cap="none" spc="0" normalizeH="0" baseline="0" noProof="0">
                <a:ln>
                  <a:noFill/>
                </a:ln>
                <a:solidFill>
                  <a:prstClr val="white"/>
                </a:solidFill>
                <a:effectLst/>
                <a:uLnTx/>
                <a:uFillTx/>
                <a:latin typeface="Calibri Light" panose="020F0302020204030204"/>
                <a:ea typeface="+mn-ea"/>
                <a:cs typeface="+mn-cs"/>
              </a:rPr>
              <a:t>Course Structure</a:t>
            </a:r>
          </a:p>
        </p:txBody>
      </p:sp>
      <p:graphicFrame>
        <p:nvGraphicFramePr>
          <p:cNvPr id="9" name="Content Placeholder 2">
            <a:extLst>
              <a:ext uri="{FF2B5EF4-FFF2-40B4-BE49-F238E27FC236}">
                <a16:creationId xmlns:a16="http://schemas.microsoft.com/office/drawing/2014/main" id="{677A2F44-B6C4-46EC-80A5-608E145F351C}"/>
              </a:ext>
            </a:extLst>
          </p:cNvPr>
          <p:cNvGraphicFramePr/>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146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a:bodyPr>
          <a:lstStyle/>
          <a:p>
            <a:pPr lvl="0" algn="ctr">
              <a:lnSpc>
                <a:spcPct val="90000"/>
              </a:lnSpc>
              <a:spcBef>
                <a:spcPct val="0"/>
              </a:spcBef>
              <a:spcAft>
                <a:spcPts val="600"/>
              </a:spcAft>
            </a:pPr>
            <a:r>
              <a:rPr lang="en-US" sz="4600" dirty="0">
                <a:solidFill>
                  <a:schemeClr val="bg1"/>
                </a:solidFill>
                <a:latin typeface="Times New Roman" panose="02020603050405020304" pitchFamily="18" charset="0"/>
                <a:ea typeface="+mj-ea"/>
                <a:cs typeface="Times New Roman" panose="02020603050405020304" pitchFamily="18" charset="0"/>
              </a:rPr>
              <a:t>Evaluation Policy</a:t>
            </a:r>
            <a:endParaRPr lang="en-US" sz="4600" kern="1200" dirty="0">
              <a:solidFill>
                <a:schemeClr val="bg1"/>
              </a:solidFill>
              <a:latin typeface="Times New Roman" panose="02020603050405020304" pitchFamily="18" charset="0"/>
              <a:ea typeface="+mj-ea"/>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E1D0FDE-BDB7-09DE-4D57-3B9655573388}"/>
              </a:ext>
            </a:extLst>
          </p:cNvPr>
          <p:cNvGraphicFramePr>
            <a:graphicFrameLocks noGrp="1"/>
          </p:cNvGraphicFramePr>
          <p:nvPr>
            <p:extLst>
              <p:ext uri="{D42A27DB-BD31-4B8C-83A1-F6EECF244321}">
                <p14:modId xmlns:p14="http://schemas.microsoft.com/office/powerpoint/2010/main" val="506459921"/>
              </p:ext>
            </p:extLst>
          </p:nvPr>
        </p:nvGraphicFramePr>
        <p:xfrm>
          <a:off x="838199" y="1152525"/>
          <a:ext cx="10515600" cy="3770440"/>
        </p:xfrm>
        <a:graphic>
          <a:graphicData uri="http://schemas.openxmlformats.org/drawingml/2006/table">
            <a:tbl>
              <a:tblPr firstRow="1" firstCol="1" lastRow="1" lastCol="1" bandRow="1" bandCol="1">
                <a:tableStyleId>{5C22544A-7EE6-4342-B048-85BDC9FD1C3A}</a:tableStyleId>
              </a:tblPr>
              <a:tblGrid>
                <a:gridCol w="7854245">
                  <a:extLst>
                    <a:ext uri="{9D8B030D-6E8A-4147-A177-3AD203B41FA5}">
                      <a16:colId xmlns:a16="http://schemas.microsoft.com/office/drawing/2014/main" val="1229710689"/>
                    </a:ext>
                  </a:extLst>
                </a:gridCol>
                <a:gridCol w="2661355">
                  <a:extLst>
                    <a:ext uri="{9D8B030D-6E8A-4147-A177-3AD203B41FA5}">
                      <a16:colId xmlns:a16="http://schemas.microsoft.com/office/drawing/2014/main" val="4143759376"/>
                    </a:ext>
                  </a:extLst>
                </a:gridCol>
              </a:tblGrid>
              <a:tr h="173355">
                <a:tc>
                  <a:txBody>
                    <a:bodyPr/>
                    <a:lstStyle/>
                    <a:p>
                      <a:pPr marL="24130" algn="just">
                        <a:lnSpc>
                          <a:spcPct val="115000"/>
                        </a:lnSpc>
                        <a:spcBef>
                          <a:spcPts val="410"/>
                        </a:spcBef>
                        <a:spcAft>
                          <a:spcPts val="800"/>
                        </a:spcAft>
                      </a:pPr>
                      <a:r>
                        <a:rPr lang="en-US" sz="2800" dirty="0">
                          <a:effectLst/>
                          <a:latin typeface="Times New Roman"/>
                          <a:cs typeface="Times New Roman"/>
                        </a:rPr>
                        <a:t>Components</a:t>
                      </a:r>
                      <a:r>
                        <a:rPr lang="en-US" sz="2800" spc="30" dirty="0">
                          <a:effectLst/>
                          <a:latin typeface="Times New Roman"/>
                          <a:cs typeface="Times New Roman"/>
                        </a:rPr>
                        <a:t> </a:t>
                      </a:r>
                      <a:r>
                        <a:rPr lang="en-US" sz="2800" dirty="0">
                          <a:effectLst/>
                          <a:latin typeface="Times New Roman"/>
                          <a:cs typeface="Times New Roman"/>
                        </a:rPr>
                        <a:t>of</a:t>
                      </a:r>
                      <a:r>
                        <a:rPr lang="en-US" sz="2800" spc="30" dirty="0">
                          <a:effectLst/>
                          <a:latin typeface="Times New Roman"/>
                          <a:cs typeface="Times New Roman"/>
                        </a:rPr>
                        <a:t> </a:t>
                      </a:r>
                      <a:r>
                        <a:rPr lang="en-US" sz="2800" dirty="0">
                          <a:effectLst/>
                          <a:latin typeface="Times New Roman"/>
                          <a:cs typeface="Times New Roman"/>
                        </a:rPr>
                        <a:t>Course</a:t>
                      </a:r>
                      <a:r>
                        <a:rPr lang="en-US" sz="2800" spc="35" dirty="0">
                          <a:effectLst/>
                          <a:latin typeface="Times New Roman"/>
                          <a:cs typeface="Times New Roman"/>
                        </a:rPr>
                        <a:t> </a:t>
                      </a:r>
                      <a:r>
                        <a:rPr lang="en-US" sz="2800" spc="-10" dirty="0">
                          <a:effectLst/>
                          <a:latin typeface="Times New Roman"/>
                          <a:cs typeface="Times New Roman"/>
                        </a:rPr>
                        <a:t>Evaluation</a:t>
                      </a:r>
                      <a:endParaRPr lang="en-IN" sz="2800" dirty="0">
                        <a:effectLst/>
                        <a:latin typeface="Times New Roman"/>
                        <a:ea typeface="Times New Roman" panose="02020603050405020304" pitchFamily="18" charset="0"/>
                        <a:cs typeface="Times New Roman"/>
                      </a:endParaRPr>
                    </a:p>
                  </a:txBody>
                  <a:tcPr marL="0" marR="0" marT="0" marB="0"/>
                </a:tc>
                <a:tc>
                  <a:txBody>
                    <a:bodyPr/>
                    <a:lstStyle/>
                    <a:p>
                      <a:pPr marL="24765" algn="just">
                        <a:lnSpc>
                          <a:spcPct val="115000"/>
                        </a:lnSpc>
                        <a:spcBef>
                          <a:spcPts val="410"/>
                        </a:spcBef>
                        <a:spcAft>
                          <a:spcPts val="800"/>
                        </a:spcAft>
                      </a:pPr>
                      <a:r>
                        <a:rPr lang="en-US" sz="2800" dirty="0">
                          <a:effectLst/>
                          <a:latin typeface="Times New Roman"/>
                          <a:cs typeface="Times New Roman"/>
                        </a:rPr>
                        <a:t>Marks</a:t>
                      </a:r>
                      <a:endParaRPr lang="en-IN" sz="2800" dirty="0">
                        <a:effectLst/>
                        <a:latin typeface="Times New Roman"/>
                        <a:ea typeface="Times New Roman" panose="02020603050405020304" pitchFamily="18" charset="0"/>
                        <a:cs typeface="Times New Roman"/>
                      </a:endParaRPr>
                    </a:p>
                  </a:txBody>
                  <a:tcPr marL="0" marR="0" marT="0" marB="0"/>
                </a:tc>
                <a:extLst>
                  <a:ext uri="{0D108BD9-81ED-4DB2-BD59-A6C34878D82A}">
                    <a16:rowId xmlns:a16="http://schemas.microsoft.com/office/drawing/2014/main" val="958693681"/>
                  </a:ext>
                </a:extLst>
              </a:tr>
              <a:tr h="173355">
                <a:tc>
                  <a:txBody>
                    <a:bodyPr/>
                    <a:lstStyle/>
                    <a:p>
                      <a:pPr marL="24130" lvl="0" algn="just">
                        <a:lnSpc>
                          <a:spcPct val="114999"/>
                        </a:lnSpc>
                        <a:spcBef>
                          <a:spcPts val="409"/>
                        </a:spcBef>
                        <a:spcAft>
                          <a:spcPts val="800"/>
                        </a:spcAft>
                        <a:buNone/>
                      </a:pPr>
                      <a:r>
                        <a:rPr lang="en-US" sz="2800">
                          <a:effectLst/>
                          <a:latin typeface="Times New Roman"/>
                          <a:cs typeface="Times New Roman"/>
                        </a:rPr>
                        <a:t>Mid</a:t>
                      </a:r>
                      <a:r>
                        <a:rPr lang="en-US" sz="2800" spc="35" dirty="0">
                          <a:effectLst/>
                          <a:latin typeface="Times New Roman"/>
                          <a:cs typeface="Times New Roman"/>
                        </a:rPr>
                        <a:t> </a:t>
                      </a:r>
                      <a:r>
                        <a:rPr lang="en-US" sz="2800">
                          <a:effectLst/>
                          <a:latin typeface="Times New Roman"/>
                          <a:cs typeface="Times New Roman"/>
                        </a:rPr>
                        <a:t>Semester</a:t>
                      </a:r>
                      <a:r>
                        <a:rPr lang="en-US" sz="2800" spc="35" dirty="0">
                          <a:effectLst/>
                          <a:latin typeface="Times New Roman"/>
                          <a:cs typeface="Times New Roman"/>
                        </a:rPr>
                        <a:t> </a:t>
                      </a:r>
                      <a:r>
                        <a:rPr lang="en-US" sz="2800" spc="-10">
                          <a:effectLst/>
                          <a:latin typeface="Times New Roman"/>
                          <a:cs typeface="Times New Roman"/>
                        </a:rPr>
                        <a:t>Examination</a:t>
                      </a:r>
                      <a:endParaRPr lang="en-IN" sz="2800">
                        <a:effectLst/>
                        <a:latin typeface="Times New Roman"/>
                        <a:cs typeface="Times New Roman"/>
                      </a:endParaRPr>
                    </a:p>
                  </a:txBody>
                  <a:tcPr marL="0" marR="0" marT="0" marB="0"/>
                </a:tc>
                <a:tc>
                  <a:txBody>
                    <a:bodyPr/>
                    <a:lstStyle/>
                    <a:p>
                      <a:pPr marL="24765" algn="just">
                        <a:lnSpc>
                          <a:spcPct val="115000"/>
                        </a:lnSpc>
                        <a:spcBef>
                          <a:spcPts val="410"/>
                        </a:spcBef>
                        <a:spcAft>
                          <a:spcPts val="800"/>
                        </a:spcAft>
                      </a:pPr>
                      <a:r>
                        <a:rPr lang="en-US" sz="2800" spc="-25" dirty="0">
                          <a:effectLst/>
                          <a:latin typeface="Times New Roman"/>
                          <a:cs typeface="Times New Roman"/>
                        </a:rPr>
                        <a:t>20</a:t>
                      </a:r>
                    </a:p>
                  </a:txBody>
                  <a:tcPr marL="0" marR="0" marT="0" marB="0"/>
                </a:tc>
                <a:extLst>
                  <a:ext uri="{0D108BD9-81ED-4DB2-BD59-A6C34878D82A}">
                    <a16:rowId xmlns:a16="http://schemas.microsoft.com/office/drawing/2014/main" val="748488437"/>
                  </a:ext>
                </a:extLst>
              </a:tr>
              <a:tr h="173355">
                <a:tc>
                  <a:txBody>
                    <a:bodyPr/>
                    <a:lstStyle/>
                    <a:p>
                      <a:pPr marL="24130" algn="just">
                        <a:lnSpc>
                          <a:spcPct val="115000"/>
                        </a:lnSpc>
                        <a:spcBef>
                          <a:spcPts val="410"/>
                        </a:spcBef>
                        <a:spcAft>
                          <a:spcPts val="800"/>
                        </a:spcAft>
                      </a:pPr>
                      <a:r>
                        <a:rPr lang="en-US" sz="2800" dirty="0">
                          <a:effectLst/>
                          <a:latin typeface="Times New Roman"/>
                          <a:cs typeface="Times New Roman"/>
                        </a:rPr>
                        <a:t>End</a:t>
                      </a:r>
                      <a:r>
                        <a:rPr lang="en-US" sz="2800" spc="-30" dirty="0">
                          <a:effectLst/>
                          <a:latin typeface="Times New Roman"/>
                          <a:cs typeface="Times New Roman"/>
                        </a:rPr>
                        <a:t> </a:t>
                      </a:r>
                      <a:r>
                        <a:rPr lang="en-US" sz="2800" dirty="0">
                          <a:effectLst/>
                          <a:latin typeface="Times New Roman"/>
                          <a:cs typeface="Times New Roman"/>
                        </a:rPr>
                        <a:t>Semester</a:t>
                      </a:r>
                      <a:r>
                        <a:rPr lang="en-US" sz="2800" spc="-30" dirty="0">
                          <a:effectLst/>
                          <a:latin typeface="Times New Roman"/>
                          <a:cs typeface="Times New Roman"/>
                        </a:rPr>
                        <a:t> </a:t>
                      </a:r>
                      <a:r>
                        <a:rPr lang="en-US" sz="2800" spc="-10" dirty="0">
                          <a:effectLst/>
                          <a:latin typeface="Times New Roman"/>
                          <a:cs typeface="Times New Roman"/>
                        </a:rPr>
                        <a:t>Examination</a:t>
                      </a:r>
                      <a:endParaRPr lang="en-IN" sz="2800" dirty="0">
                        <a:effectLst/>
                        <a:latin typeface="Times New Roman"/>
                        <a:ea typeface="Times New Roman" panose="02020603050405020304" pitchFamily="18" charset="0"/>
                        <a:cs typeface="Times New Roman"/>
                      </a:endParaRPr>
                    </a:p>
                  </a:txBody>
                  <a:tcPr marL="0" marR="0" marT="0" marB="0"/>
                </a:tc>
                <a:tc>
                  <a:txBody>
                    <a:bodyPr/>
                    <a:lstStyle/>
                    <a:p>
                      <a:pPr marL="24765" algn="just">
                        <a:lnSpc>
                          <a:spcPct val="115000"/>
                        </a:lnSpc>
                        <a:spcBef>
                          <a:spcPts val="410"/>
                        </a:spcBef>
                        <a:spcAft>
                          <a:spcPts val="800"/>
                        </a:spcAft>
                      </a:pPr>
                      <a:r>
                        <a:rPr lang="en-US" sz="2800" spc="-25" dirty="0">
                          <a:effectLst/>
                          <a:latin typeface="Times New Roman"/>
                          <a:cs typeface="Times New Roman"/>
                        </a:rPr>
                        <a:t>40</a:t>
                      </a:r>
                      <a:endParaRPr lang="en-IN" sz="2800" dirty="0">
                        <a:effectLst/>
                        <a:latin typeface="Times New Roman"/>
                        <a:ea typeface="Times New Roman" panose="02020603050405020304" pitchFamily="18" charset="0"/>
                        <a:cs typeface="Times New Roman"/>
                      </a:endParaRPr>
                    </a:p>
                  </a:txBody>
                  <a:tcPr marL="0" marR="0" marT="0" marB="0"/>
                </a:tc>
                <a:extLst>
                  <a:ext uri="{0D108BD9-81ED-4DB2-BD59-A6C34878D82A}">
                    <a16:rowId xmlns:a16="http://schemas.microsoft.com/office/drawing/2014/main" val="3370164709"/>
                  </a:ext>
                </a:extLst>
              </a:tr>
              <a:tr h="173355">
                <a:tc>
                  <a:txBody>
                    <a:bodyPr/>
                    <a:lstStyle/>
                    <a:p>
                      <a:pPr marL="24130" algn="just">
                        <a:lnSpc>
                          <a:spcPct val="115000"/>
                        </a:lnSpc>
                        <a:spcBef>
                          <a:spcPts val="410"/>
                        </a:spcBef>
                        <a:spcAft>
                          <a:spcPts val="800"/>
                        </a:spcAft>
                      </a:pPr>
                      <a:r>
                        <a:rPr lang="en-US" sz="2800" dirty="0">
                          <a:effectLst/>
                          <a:latin typeface="Times New Roman"/>
                          <a:cs typeface="Times New Roman"/>
                        </a:rPr>
                        <a:t>Lab (Continuous</a:t>
                      </a:r>
                      <a:r>
                        <a:rPr lang="en-US" sz="2800" spc="40" dirty="0">
                          <a:effectLst/>
                          <a:latin typeface="Times New Roman"/>
                          <a:cs typeface="Times New Roman"/>
                        </a:rPr>
                        <a:t> </a:t>
                      </a:r>
                      <a:r>
                        <a:rPr lang="en-US" sz="2800" spc="-10" dirty="0">
                          <a:effectLst/>
                          <a:latin typeface="Times New Roman"/>
                          <a:cs typeface="Times New Roman"/>
                        </a:rPr>
                        <a:t>Evaluation) *</a:t>
                      </a:r>
                      <a:endParaRPr lang="en-IN" sz="2800" dirty="0">
                        <a:effectLst/>
                        <a:latin typeface="Times New Roman"/>
                        <a:ea typeface="Times New Roman" panose="02020603050405020304" pitchFamily="18" charset="0"/>
                        <a:cs typeface="Times New Roman"/>
                      </a:endParaRPr>
                    </a:p>
                  </a:txBody>
                  <a:tcPr marL="0" marR="0" marT="0" marB="0"/>
                </a:tc>
                <a:tc>
                  <a:txBody>
                    <a:bodyPr/>
                    <a:lstStyle/>
                    <a:p>
                      <a:pPr marL="24765" algn="just">
                        <a:lnSpc>
                          <a:spcPct val="115000"/>
                        </a:lnSpc>
                        <a:spcBef>
                          <a:spcPts val="410"/>
                        </a:spcBef>
                        <a:spcAft>
                          <a:spcPts val="800"/>
                        </a:spcAft>
                      </a:pPr>
                      <a:r>
                        <a:rPr lang="en-US" sz="2800" spc="-25" dirty="0">
                          <a:effectLst/>
                          <a:latin typeface="Times New Roman"/>
                          <a:cs typeface="Times New Roman"/>
                        </a:rPr>
                        <a:t>20</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72879127"/>
                  </a:ext>
                </a:extLst>
              </a:tr>
              <a:tr h="173355">
                <a:tc>
                  <a:txBody>
                    <a:bodyPr/>
                    <a:lstStyle/>
                    <a:p>
                      <a:pPr marL="24130" algn="just">
                        <a:lnSpc>
                          <a:spcPct val="115000"/>
                        </a:lnSpc>
                        <a:spcBef>
                          <a:spcPts val="410"/>
                        </a:spcBef>
                        <a:spcAft>
                          <a:spcPts val="800"/>
                        </a:spcAft>
                      </a:pPr>
                      <a:r>
                        <a:rPr lang="en-GB" sz="1800" b="1" kern="1200" dirty="0">
                          <a:solidFill>
                            <a:schemeClr val="lt1"/>
                          </a:solidFill>
                          <a:effectLst/>
                          <a:latin typeface="+mn-lt"/>
                          <a:ea typeface="+mn-ea"/>
                          <a:cs typeface="+mn-cs"/>
                        </a:rPr>
                        <a:t>This project is based on the problems presented in the Smart India Hackathon (SIH).</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765" algn="just">
                        <a:lnSpc>
                          <a:spcPct val="115000"/>
                        </a:lnSpc>
                        <a:spcBef>
                          <a:spcPts val="410"/>
                        </a:spcBef>
                        <a:spcAft>
                          <a:spcPts val="800"/>
                        </a:spcAft>
                      </a:pPr>
                      <a:r>
                        <a:rPr lang="en-US" sz="2800" spc="-25" dirty="0">
                          <a:effectLst/>
                          <a:latin typeface="Times New Roman"/>
                          <a:ea typeface="Times New Roman" panose="02020603050405020304" pitchFamily="18" charset="0"/>
                          <a:cs typeface="Times New Roman"/>
                        </a:rPr>
                        <a:t>10</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892524453"/>
                  </a:ext>
                </a:extLst>
              </a:tr>
              <a:tr h="173355">
                <a:tc>
                  <a:txBody>
                    <a:bodyPr/>
                    <a:lstStyle/>
                    <a:p>
                      <a:pPr marL="24130" algn="just">
                        <a:lnSpc>
                          <a:spcPct val="115000"/>
                        </a:lnSpc>
                        <a:spcBef>
                          <a:spcPts val="410"/>
                        </a:spcBef>
                        <a:spcAft>
                          <a:spcPts val="800"/>
                        </a:spcAft>
                      </a:pPr>
                      <a:r>
                        <a:rPr lang="en-US" sz="2800" dirty="0">
                          <a:effectLst/>
                          <a:latin typeface="Times New Roman" panose="02020603050405020304" pitchFamily="18" charset="0"/>
                          <a:cs typeface="Times New Roman" panose="02020603050405020304" pitchFamily="18" charset="0"/>
                        </a:rPr>
                        <a:t>Hackathon </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765" algn="just">
                        <a:lnSpc>
                          <a:spcPct val="115000"/>
                        </a:lnSpc>
                        <a:spcBef>
                          <a:spcPts val="410"/>
                        </a:spcBef>
                        <a:spcAft>
                          <a:spcPts val="800"/>
                        </a:spcAft>
                      </a:pPr>
                      <a:r>
                        <a:rPr lang="en-US" sz="2800" spc="-25" dirty="0">
                          <a:effectLst/>
                          <a:latin typeface="Times New Roman"/>
                          <a:cs typeface="Times New Roman"/>
                        </a:rPr>
                        <a:t>5</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33934459"/>
                  </a:ext>
                </a:extLst>
              </a:tr>
              <a:tr h="173355">
                <a:tc>
                  <a:txBody>
                    <a:bodyPr/>
                    <a:lstStyle/>
                    <a:p>
                      <a:pPr marL="24130" algn="just">
                        <a:lnSpc>
                          <a:spcPct val="115000"/>
                        </a:lnSpc>
                        <a:spcBef>
                          <a:spcPts val="410"/>
                        </a:spcBef>
                        <a:spcAft>
                          <a:spcPts val="800"/>
                        </a:spcAft>
                      </a:pPr>
                      <a:r>
                        <a:rPr lang="en-US" sz="2800" dirty="0">
                          <a:effectLst/>
                          <a:latin typeface="Times New Roman" panose="02020603050405020304" pitchFamily="18" charset="0"/>
                          <a:cs typeface="Times New Roman" panose="02020603050405020304" pitchFamily="18" charset="0"/>
                        </a:rPr>
                        <a:t>Certification***</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765" algn="just">
                        <a:lnSpc>
                          <a:spcPct val="115000"/>
                        </a:lnSpc>
                        <a:spcBef>
                          <a:spcPts val="410"/>
                        </a:spcBef>
                        <a:spcAft>
                          <a:spcPts val="800"/>
                        </a:spcAft>
                      </a:pPr>
                      <a:r>
                        <a:rPr lang="en-US" sz="2800" spc="-25" dirty="0">
                          <a:effectLst/>
                          <a:latin typeface="Times New Roman"/>
                          <a:cs typeface="Times New Roman"/>
                        </a:rPr>
                        <a:t>5</a:t>
                      </a:r>
                      <a:endParaRPr lang="en-IN" sz="2800" dirty="0">
                        <a:effectLst/>
                        <a:latin typeface="Times New Roman"/>
                        <a:ea typeface="Times New Roman" panose="02020603050405020304" pitchFamily="18" charset="0"/>
                        <a:cs typeface="Times New Roman"/>
                      </a:endParaRPr>
                    </a:p>
                  </a:txBody>
                  <a:tcPr marL="0" marR="0" marT="0" marB="0"/>
                </a:tc>
                <a:extLst>
                  <a:ext uri="{0D108BD9-81ED-4DB2-BD59-A6C34878D82A}">
                    <a16:rowId xmlns:a16="http://schemas.microsoft.com/office/drawing/2014/main" val="1396790570"/>
                  </a:ext>
                </a:extLst>
              </a:tr>
              <a:tr h="173355">
                <a:tc>
                  <a:txBody>
                    <a:bodyPr/>
                    <a:lstStyle/>
                    <a:p>
                      <a:pPr marL="24130" algn="just">
                        <a:lnSpc>
                          <a:spcPct val="115000"/>
                        </a:lnSpc>
                        <a:spcBef>
                          <a:spcPts val="410"/>
                        </a:spcBef>
                        <a:spcAft>
                          <a:spcPts val="800"/>
                        </a:spcAft>
                      </a:pPr>
                      <a:r>
                        <a:rPr lang="en-US" sz="2800" spc="-10" dirty="0">
                          <a:effectLst/>
                          <a:highlight>
                            <a:srgbClr val="000080"/>
                          </a:highlight>
                          <a:latin typeface="Times New Roman" panose="02020603050405020304" pitchFamily="18" charset="0"/>
                          <a:cs typeface="Times New Roman" panose="02020603050405020304" pitchFamily="18" charset="0"/>
                        </a:rPr>
                        <a:t>Total</a:t>
                      </a:r>
                      <a:endParaRPr lang="en-IN" sz="2800" dirty="0">
                        <a:effectLst/>
                        <a:highlight>
                          <a:srgbClr val="000080"/>
                        </a:highligh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765" algn="just">
                        <a:lnSpc>
                          <a:spcPct val="115000"/>
                        </a:lnSpc>
                        <a:spcBef>
                          <a:spcPts val="410"/>
                        </a:spcBef>
                        <a:spcAft>
                          <a:spcPts val="800"/>
                        </a:spcAft>
                      </a:pPr>
                      <a:r>
                        <a:rPr lang="en-US" sz="2800" spc="-20" dirty="0">
                          <a:effectLst/>
                          <a:highlight>
                            <a:srgbClr val="000080"/>
                          </a:highlight>
                          <a:latin typeface="Times New Roman" panose="02020603050405020304" pitchFamily="18" charset="0"/>
                          <a:cs typeface="Times New Roman" panose="02020603050405020304" pitchFamily="18" charset="0"/>
                        </a:rPr>
                        <a:t>100</a:t>
                      </a:r>
                      <a:endParaRPr lang="en-IN" sz="2800" dirty="0">
                        <a:effectLst/>
                        <a:highlight>
                          <a:srgbClr val="000080"/>
                        </a:highligh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19381482"/>
                  </a:ext>
                </a:extLst>
              </a:tr>
            </a:tbl>
          </a:graphicData>
        </a:graphic>
      </p:graphicFrame>
    </p:spTree>
    <p:extLst>
      <p:ext uri="{BB962C8B-B14F-4D97-AF65-F5344CB8AC3E}">
        <p14:creationId xmlns:p14="http://schemas.microsoft.com/office/powerpoint/2010/main" val="3248911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a:bodyPr>
          <a:lstStyle/>
          <a:p>
            <a:pPr lvl="0" algn="ctr">
              <a:lnSpc>
                <a:spcPct val="90000"/>
              </a:lnSpc>
              <a:spcBef>
                <a:spcPct val="0"/>
              </a:spcBef>
              <a:spcAft>
                <a:spcPts val="600"/>
              </a:spcAft>
            </a:pPr>
            <a:endParaRPr lang="en-US" sz="4600" kern="1200" dirty="0">
              <a:solidFill>
                <a:schemeClr val="bg1"/>
              </a:solidFill>
              <a:latin typeface="Times New Roman" panose="02020603050405020304" pitchFamily="18" charset="0"/>
              <a:ea typeface="+mj-ea"/>
              <a:cs typeface="Times New Roman" panose="02020603050405020304" pitchFamily="18" charset="0"/>
            </a:endParaRPr>
          </a:p>
        </p:txBody>
      </p:sp>
      <p:graphicFrame>
        <p:nvGraphicFramePr>
          <p:cNvPr id="4" name="Content Placeholder 2">
            <a:extLst>
              <a:ext uri="{FF2B5EF4-FFF2-40B4-BE49-F238E27FC236}">
                <a16:creationId xmlns:a16="http://schemas.microsoft.com/office/drawing/2014/main" id="{8B479D2B-7E9C-4F75-9D50-4CDBC7518B85}"/>
              </a:ext>
            </a:extLst>
          </p:cNvPr>
          <p:cNvGraphicFramePr>
            <a:graphicFrameLocks/>
          </p:cNvGraphicFramePr>
          <p:nvPr>
            <p:extLst>
              <p:ext uri="{D42A27DB-BD31-4B8C-83A1-F6EECF244321}">
                <p14:modId xmlns:p14="http://schemas.microsoft.com/office/powerpoint/2010/main" val="879906671"/>
              </p:ext>
            </p:extLst>
          </p:nvPr>
        </p:nvGraphicFramePr>
        <p:xfrm>
          <a:off x="632084" y="1332597"/>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CD013164-6BC1-44D0-8EB0-323DEDAF0736}"/>
              </a:ext>
            </a:extLst>
          </p:cNvPr>
          <p:cNvSpPr txBox="1">
            <a:spLocks/>
          </p:cNvSpPr>
          <p:nvPr/>
        </p:nvSpPr>
        <p:spPr>
          <a:xfrm>
            <a:off x="1309776" y="0"/>
            <a:ext cx="10044023" cy="877729"/>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solidFill>
                  <a:srgbClr val="FFFFFF"/>
                </a:solidFill>
                <a:latin typeface="Times New Roman" panose="02020603050405020304" pitchFamily="18" charset="0"/>
                <a:cs typeface="Times New Roman" panose="02020603050405020304" pitchFamily="18" charset="0"/>
              </a:rPr>
              <a:t>Foundation of the course (Prerequisite)</a:t>
            </a:r>
          </a:p>
        </p:txBody>
      </p:sp>
    </p:spTree>
    <p:extLst>
      <p:ext uri="{BB962C8B-B14F-4D97-AF65-F5344CB8AC3E}">
        <p14:creationId xmlns:p14="http://schemas.microsoft.com/office/powerpoint/2010/main" val="3824573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a:bodyPr>
          <a:lstStyle/>
          <a:p>
            <a:pPr lvl="0" algn="ctr">
              <a:lnSpc>
                <a:spcPct val="90000"/>
              </a:lnSpc>
              <a:spcBef>
                <a:spcPct val="0"/>
              </a:spcBef>
              <a:spcAft>
                <a:spcPts val="600"/>
              </a:spcAft>
            </a:pPr>
            <a:r>
              <a:rPr lang="en-US" sz="4600" dirty="0">
                <a:solidFill>
                  <a:schemeClr val="bg1"/>
                </a:solidFill>
                <a:latin typeface="Times New Roman" panose="02020603050405020304" pitchFamily="18" charset="0"/>
                <a:ea typeface="+mj-ea"/>
                <a:cs typeface="Times New Roman" panose="02020603050405020304" pitchFamily="18" charset="0"/>
              </a:rPr>
              <a:t>References</a:t>
            </a:r>
            <a:endParaRPr lang="en-US" sz="4600" kern="1200" dirty="0">
              <a:solidFill>
                <a:schemeClr val="bg1"/>
              </a:solidFill>
              <a:latin typeface="Times New Roman" panose="02020603050405020304" pitchFamily="18" charset="0"/>
              <a:ea typeface="+mj-ea"/>
              <a:cs typeface="Times New Roman" panose="02020603050405020304" pitchFamily="18" charset="0"/>
            </a:endParaRPr>
          </a:p>
        </p:txBody>
      </p:sp>
      <p:graphicFrame>
        <p:nvGraphicFramePr>
          <p:cNvPr id="4" name="Table 4">
            <a:extLst>
              <a:ext uri="{FF2B5EF4-FFF2-40B4-BE49-F238E27FC236}">
                <a16:creationId xmlns:a16="http://schemas.microsoft.com/office/drawing/2014/main" id="{B670C2FB-5DF2-4FEF-98E4-FBE06AE2F733}"/>
              </a:ext>
            </a:extLst>
          </p:cNvPr>
          <p:cNvGraphicFramePr>
            <a:graphicFrameLocks noGrp="1"/>
          </p:cNvGraphicFramePr>
          <p:nvPr>
            <p:extLst>
              <p:ext uri="{D42A27DB-BD31-4B8C-83A1-F6EECF244321}">
                <p14:modId xmlns:p14="http://schemas.microsoft.com/office/powerpoint/2010/main" val="1739249510"/>
              </p:ext>
            </p:extLst>
          </p:nvPr>
        </p:nvGraphicFramePr>
        <p:xfrm>
          <a:off x="1280939" y="1580047"/>
          <a:ext cx="9630120" cy="4166297"/>
        </p:xfrm>
        <a:graphic>
          <a:graphicData uri="http://schemas.openxmlformats.org/drawingml/2006/table">
            <a:tbl>
              <a:tblPr firstRow="1" bandRow="1">
                <a:tableStyleId>{9D7B26C5-4107-4FEC-AEDC-1716B250A1EF}</a:tableStyleId>
              </a:tblPr>
              <a:tblGrid>
                <a:gridCol w="767472">
                  <a:extLst>
                    <a:ext uri="{9D8B030D-6E8A-4147-A177-3AD203B41FA5}">
                      <a16:colId xmlns:a16="http://schemas.microsoft.com/office/drawing/2014/main" val="3169419503"/>
                    </a:ext>
                  </a:extLst>
                </a:gridCol>
                <a:gridCol w="2897945">
                  <a:extLst>
                    <a:ext uri="{9D8B030D-6E8A-4147-A177-3AD203B41FA5}">
                      <a16:colId xmlns:a16="http://schemas.microsoft.com/office/drawing/2014/main" val="3497920571"/>
                    </a:ext>
                  </a:extLst>
                </a:gridCol>
                <a:gridCol w="3557173">
                  <a:extLst>
                    <a:ext uri="{9D8B030D-6E8A-4147-A177-3AD203B41FA5}">
                      <a16:colId xmlns:a16="http://schemas.microsoft.com/office/drawing/2014/main" val="1123539546"/>
                    </a:ext>
                  </a:extLst>
                </a:gridCol>
                <a:gridCol w="2407530">
                  <a:extLst>
                    <a:ext uri="{9D8B030D-6E8A-4147-A177-3AD203B41FA5}">
                      <a16:colId xmlns:a16="http://schemas.microsoft.com/office/drawing/2014/main" val="981486704"/>
                    </a:ext>
                  </a:extLst>
                </a:gridCol>
              </a:tblGrid>
              <a:tr h="600137">
                <a:tc>
                  <a:txBody>
                    <a:bodyPr/>
                    <a:lstStyle/>
                    <a:p>
                      <a:r>
                        <a:rPr lang="en-US" sz="240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Book 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Authors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Press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6270390"/>
                  </a:ext>
                </a:extLst>
              </a:tr>
              <a:tr h="725747">
                <a:tc>
                  <a:txBody>
                    <a:bodyPr/>
                    <a:lstStyle/>
                    <a:p>
                      <a:r>
                        <a:rPr lang="en-US" sz="240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Introduction to Algorithms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Thomas H. Cormen, Charles E. Leiserson, Ronald L. Rivest, Clifford Stein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MIT Press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8845514"/>
                  </a:ext>
                </a:extLst>
              </a:tr>
              <a:tr h="697834">
                <a:tc>
                  <a:txBody>
                    <a:bodyPr/>
                    <a:lstStyle/>
                    <a:p>
                      <a:r>
                        <a:rPr lang="en-US" sz="2400">
                          <a:latin typeface="Times New Roman" panose="02020603050405020304" pitchFamily="18" charset="0"/>
                          <a:cs typeface="Times New Roman" panose="02020603050405020304" pitchFamily="18" charset="0"/>
                        </a:rPr>
                        <a:t>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Algorithm Design </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Jon Kleinberg &amp; Eva Tardos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Pearson</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3184990"/>
                  </a:ext>
                </a:extLst>
              </a:tr>
              <a:tr h="1071175">
                <a:tc>
                  <a:txBody>
                    <a:bodyPr/>
                    <a:lstStyle/>
                    <a:p>
                      <a:r>
                        <a:rPr lang="en-US" sz="240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Computer Algorithms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a:latin typeface="Times New Roman" panose="02020603050405020304" pitchFamily="18" charset="0"/>
                          <a:cs typeface="Times New Roman" panose="02020603050405020304" pitchFamily="18" charset="0"/>
                        </a:rPr>
                        <a:t>Ellis Horowitz, Sartaj Sahni, Sanguthevar Rajasekaran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Computer Science Press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3932387"/>
                  </a:ext>
                </a:extLst>
              </a:tr>
            </a:tbl>
          </a:graphicData>
        </a:graphic>
      </p:graphicFrame>
      <p:sp>
        <p:nvSpPr>
          <p:cNvPr id="5" name="TextBox 4">
            <a:extLst>
              <a:ext uri="{FF2B5EF4-FFF2-40B4-BE49-F238E27FC236}">
                <a16:creationId xmlns:a16="http://schemas.microsoft.com/office/drawing/2014/main" id="{E2F6EE28-237E-45AE-9941-D8F8579B1838}"/>
              </a:ext>
            </a:extLst>
          </p:cNvPr>
          <p:cNvSpPr txBox="1"/>
          <p:nvPr/>
        </p:nvSpPr>
        <p:spPr>
          <a:xfrm>
            <a:off x="308482" y="801226"/>
            <a:ext cx="1944914"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Books: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555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a:bodyPr>
          <a:lstStyle/>
          <a:p>
            <a:pPr lvl="0" algn="ctr">
              <a:lnSpc>
                <a:spcPct val="90000"/>
              </a:lnSpc>
              <a:spcBef>
                <a:spcPct val="0"/>
              </a:spcBef>
              <a:spcAft>
                <a:spcPts val="600"/>
              </a:spcAft>
            </a:pPr>
            <a:r>
              <a:rPr lang="en-US" sz="4600" dirty="0">
                <a:solidFill>
                  <a:schemeClr val="bg1"/>
                </a:solidFill>
                <a:latin typeface="Times New Roman" panose="02020603050405020304" pitchFamily="18" charset="0"/>
                <a:ea typeface="+mj-ea"/>
                <a:cs typeface="Times New Roman" panose="02020603050405020304" pitchFamily="18" charset="0"/>
              </a:rPr>
              <a:t>Reference</a:t>
            </a:r>
            <a:r>
              <a:rPr lang="en-US" sz="4600" kern="1200" dirty="0">
                <a:solidFill>
                  <a:schemeClr val="bg1"/>
                </a:solidFill>
                <a:latin typeface="Times New Roman" panose="02020603050405020304" pitchFamily="18" charset="0"/>
                <a:ea typeface="+mj-ea"/>
                <a:cs typeface="Times New Roman" panose="02020603050405020304" pitchFamily="18" charset="0"/>
              </a:rPr>
              <a:t>s</a:t>
            </a:r>
          </a:p>
        </p:txBody>
      </p:sp>
      <p:graphicFrame>
        <p:nvGraphicFramePr>
          <p:cNvPr id="11" name="TextBox 1">
            <a:extLst>
              <a:ext uri="{FF2B5EF4-FFF2-40B4-BE49-F238E27FC236}">
                <a16:creationId xmlns:a16="http://schemas.microsoft.com/office/drawing/2014/main" id="{24C398E7-EE35-47A6-B80C-4B2557771682}"/>
              </a:ext>
            </a:extLst>
          </p:cNvPr>
          <p:cNvGraphicFramePr/>
          <p:nvPr>
            <p:extLst>
              <p:ext uri="{D42A27DB-BD31-4B8C-83A1-F6EECF244321}">
                <p14:modId xmlns:p14="http://schemas.microsoft.com/office/powerpoint/2010/main" val="1173514982"/>
              </p:ext>
            </p:extLst>
          </p:nvPr>
        </p:nvGraphicFramePr>
        <p:xfrm>
          <a:off x="725658" y="1225150"/>
          <a:ext cx="11020865" cy="37856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AA8B4A5F-7374-467D-9452-C7B9966EDC88}"/>
              </a:ext>
            </a:extLst>
          </p:cNvPr>
          <p:cNvSpPr txBox="1"/>
          <p:nvPr/>
        </p:nvSpPr>
        <p:spPr>
          <a:xfrm>
            <a:off x="332935" y="1225150"/>
            <a:ext cx="3001108" cy="730291"/>
          </a:xfrm>
          <a:prstGeom prst="rect">
            <a:avLst/>
          </a:prstGeom>
        </p:spPr>
        <p:txBody>
          <a:bodyPr vert="horz" lIns="91440" tIns="45720" rIns="91440" bIns="45720" rtlCol="0" anchor="b">
            <a:normAutofit fontScale="70000" lnSpcReduction="20000"/>
          </a:bodyPr>
          <a:lstStyle/>
          <a:p>
            <a:pPr lvl="0" algn="ctr">
              <a:lnSpc>
                <a:spcPct val="90000"/>
              </a:lnSpc>
              <a:spcBef>
                <a:spcPct val="0"/>
              </a:spcBef>
              <a:spcAft>
                <a:spcPts val="600"/>
              </a:spcAft>
            </a:pPr>
            <a:r>
              <a:rPr lang="en-US" sz="4600" kern="1200" dirty="0">
                <a:solidFill>
                  <a:schemeClr val="tx1">
                    <a:lumMod val="95000"/>
                    <a:lumOff val="5000"/>
                  </a:schemeClr>
                </a:solidFill>
                <a:latin typeface="Times New Roman" panose="02020603050405020304" pitchFamily="18" charset="0"/>
                <a:ea typeface="+mj-ea"/>
                <a:cs typeface="Times New Roman" panose="02020603050405020304" pitchFamily="18" charset="0"/>
              </a:rPr>
              <a:t>Other Resources:</a:t>
            </a:r>
          </a:p>
        </p:txBody>
      </p:sp>
    </p:spTree>
    <p:extLst>
      <p:ext uri="{BB962C8B-B14F-4D97-AF65-F5344CB8AC3E}">
        <p14:creationId xmlns:p14="http://schemas.microsoft.com/office/powerpoint/2010/main" val="473541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a:bodyPr>
          <a:lstStyle/>
          <a:p>
            <a:pPr lvl="0" algn="ctr">
              <a:lnSpc>
                <a:spcPct val="90000"/>
              </a:lnSpc>
              <a:spcBef>
                <a:spcPct val="0"/>
              </a:spcBef>
              <a:spcAft>
                <a:spcPts val="600"/>
              </a:spcAft>
            </a:pPr>
            <a:r>
              <a:rPr lang="en-US" sz="4600" dirty="0">
                <a:solidFill>
                  <a:schemeClr val="bg1"/>
                </a:solidFill>
                <a:latin typeface="Times New Roman" panose="02020603050405020304" pitchFamily="18" charset="0"/>
                <a:ea typeface="+mj-ea"/>
                <a:cs typeface="Times New Roman" panose="02020603050405020304" pitchFamily="18" charset="0"/>
              </a:rPr>
              <a:t>Lab Assignments</a:t>
            </a:r>
            <a:endParaRPr lang="en-US" sz="4600" kern="1200" dirty="0">
              <a:solidFill>
                <a:schemeClr val="bg1"/>
              </a:solidFill>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479C7726-6B3B-439C-8F84-45E608FAEDC3}"/>
              </a:ext>
            </a:extLst>
          </p:cNvPr>
          <p:cNvSpPr txBox="1"/>
          <p:nvPr/>
        </p:nvSpPr>
        <p:spPr>
          <a:xfrm>
            <a:off x="220394" y="1991918"/>
            <a:ext cx="11971606"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Programming language to follow: C++</a:t>
            </a:r>
          </a:p>
        </p:txBody>
      </p:sp>
    </p:spTree>
    <p:extLst>
      <p:ext uri="{BB962C8B-B14F-4D97-AF65-F5344CB8AC3E}">
        <p14:creationId xmlns:p14="http://schemas.microsoft.com/office/powerpoint/2010/main" val="1426803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40000" lnSpcReduction="20000"/>
          </a:bodyPr>
          <a:lstStyle/>
          <a:p>
            <a:pPr lvl="0" algn="ctr">
              <a:lnSpc>
                <a:spcPct val="90000"/>
              </a:lnSpc>
              <a:spcBef>
                <a:spcPct val="0"/>
              </a:spcBef>
              <a:spcAft>
                <a:spcPts val="600"/>
              </a:spcAft>
            </a:pPr>
            <a:r>
              <a:rPr lang="en-IN" sz="9600" dirty="0">
                <a:solidFill>
                  <a:schemeClr val="bg1"/>
                </a:solidFill>
                <a:latin typeface="Times New Roman" panose="02020603050405020304" pitchFamily="18" charset="0"/>
                <a:cs typeface="Times New Roman" panose="02020603050405020304" pitchFamily="18" charset="0"/>
              </a:rPr>
              <a:t>Broad list of topics to be covered in the course</a:t>
            </a:r>
            <a:endParaRPr lang="en-US" sz="4600" kern="1200" dirty="0">
              <a:solidFill>
                <a:schemeClr val="bg1"/>
              </a:solidFill>
              <a:latin typeface="Times New Roman" panose="02020603050405020304" pitchFamily="18" charset="0"/>
              <a:ea typeface="+mj-ea"/>
              <a:cs typeface="Times New Roman" panose="02020603050405020304" pitchFamily="18" charset="0"/>
            </a:endParaRPr>
          </a:p>
        </p:txBody>
      </p:sp>
      <p:graphicFrame>
        <p:nvGraphicFramePr>
          <p:cNvPr id="4" name="Content Placeholder 2">
            <a:extLst>
              <a:ext uri="{FF2B5EF4-FFF2-40B4-BE49-F238E27FC236}">
                <a16:creationId xmlns:a16="http://schemas.microsoft.com/office/drawing/2014/main" id="{8AC91B58-D0F7-453B-9786-E090B9274279}"/>
              </a:ext>
            </a:extLst>
          </p:cNvPr>
          <p:cNvGraphicFramePr>
            <a:graphicFrameLocks/>
          </p:cNvGraphicFramePr>
          <p:nvPr>
            <p:extLst>
              <p:ext uri="{D42A27DB-BD31-4B8C-83A1-F6EECF244321}">
                <p14:modId xmlns:p14="http://schemas.microsoft.com/office/powerpoint/2010/main" val="707289232"/>
              </p:ext>
            </p:extLst>
          </p:nvPr>
        </p:nvGraphicFramePr>
        <p:xfrm>
          <a:off x="838199" y="125333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9962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a:extLst>
              <a:ext uri="{FF2B5EF4-FFF2-40B4-BE49-F238E27FC236}">
                <a16:creationId xmlns:a16="http://schemas.microsoft.com/office/drawing/2014/main" id="{C4E359BD-D97A-F174-A667-330FF96E6173}"/>
              </a:ext>
            </a:extLst>
          </p:cNvPr>
          <p:cNvSpPr>
            <a:spLocks noGrp="1"/>
          </p:cNvSpPr>
          <p:nvPr>
            <p:ph type="title" idx="4294967295"/>
          </p:nvPr>
        </p:nvSpPr>
        <p:spPr>
          <a:xfrm>
            <a:off x="0" y="365126"/>
            <a:ext cx="10515600" cy="315912"/>
          </a:xfrm>
        </p:spPr>
        <p:txBody>
          <a:bodyPr>
            <a:normAutofit fontScale="90000"/>
          </a:bodyPr>
          <a:lstStyle/>
          <a:p>
            <a:r>
              <a:rPr lang="en-US" altLang="en-US" dirty="0">
                <a:solidFill>
                  <a:schemeClr val="bg1"/>
                </a:solidFill>
              </a:rPr>
              <a:t>Algorithm</a:t>
            </a:r>
            <a:endParaRPr lang="en-IN" altLang="en-US" dirty="0">
              <a:solidFill>
                <a:schemeClr val="bg1"/>
              </a:solidFill>
            </a:endParaRPr>
          </a:p>
        </p:txBody>
      </p:sp>
      <p:sp>
        <p:nvSpPr>
          <p:cNvPr id="9219" name="Content Placeholder 4">
            <a:extLst>
              <a:ext uri="{FF2B5EF4-FFF2-40B4-BE49-F238E27FC236}">
                <a16:creationId xmlns:a16="http://schemas.microsoft.com/office/drawing/2014/main" id="{FBFCE089-4290-85E8-5E99-06603F79778D}"/>
              </a:ext>
            </a:extLst>
          </p:cNvPr>
          <p:cNvSpPr>
            <a:spLocks noGrp="1"/>
          </p:cNvSpPr>
          <p:nvPr>
            <p:ph idx="4294967295"/>
          </p:nvPr>
        </p:nvSpPr>
        <p:spPr>
          <a:xfrm>
            <a:off x="0" y="1825625"/>
            <a:ext cx="10515600" cy="4351338"/>
          </a:xfrm>
        </p:spPr>
        <p:txBody>
          <a:bodyPr/>
          <a:lstStyle/>
          <a:p>
            <a:pPr algn="just"/>
            <a:r>
              <a:rPr lang="en-US" altLang="en-US"/>
              <a:t>The word “Algorithm” comes from the name of a Persian author, Abu Jafar Mohammad Ibn Musa Al-Khwarizmi.</a:t>
            </a:r>
          </a:p>
          <a:p>
            <a:pPr algn="just"/>
            <a:endParaRPr lang="en-US" altLang="en-US"/>
          </a:p>
          <a:p>
            <a:pPr algn="just"/>
            <a:r>
              <a:rPr lang="en-US" altLang="en-US"/>
              <a:t>An algorithm is a finite set of instructions that if followed, accomplishes a particular task.</a:t>
            </a:r>
            <a:endParaRPr lang="en-I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14D39F41-7C90-D0E3-1733-BC00D8E92E36}"/>
              </a:ext>
            </a:extLst>
          </p:cNvPr>
          <p:cNvSpPr>
            <a:spLocks noGrp="1"/>
          </p:cNvSpPr>
          <p:nvPr>
            <p:ph type="title" idx="4294967295"/>
          </p:nvPr>
        </p:nvSpPr>
        <p:spPr>
          <a:xfrm>
            <a:off x="0" y="365125"/>
            <a:ext cx="10515600" cy="493291"/>
          </a:xfrm>
        </p:spPr>
        <p:txBody>
          <a:bodyPr>
            <a:normAutofit fontScale="90000"/>
          </a:bodyPr>
          <a:lstStyle/>
          <a:p>
            <a:r>
              <a:rPr lang="en-US" altLang="en-US" dirty="0">
                <a:solidFill>
                  <a:schemeClr val="bg1"/>
                </a:solidFill>
              </a:rPr>
              <a:t>Algorithm</a:t>
            </a:r>
            <a:endParaRPr lang="en-IN" altLang="en-US" dirty="0">
              <a:solidFill>
                <a:schemeClr val="bg1"/>
              </a:solidFill>
            </a:endParaRPr>
          </a:p>
        </p:txBody>
      </p:sp>
      <p:sp>
        <p:nvSpPr>
          <p:cNvPr id="10243" name="Content Placeholder 4">
            <a:extLst>
              <a:ext uri="{FF2B5EF4-FFF2-40B4-BE49-F238E27FC236}">
                <a16:creationId xmlns:a16="http://schemas.microsoft.com/office/drawing/2014/main" id="{40909940-0D2B-9FF5-C6DC-243C2C5A9A94}"/>
              </a:ext>
            </a:extLst>
          </p:cNvPr>
          <p:cNvSpPr>
            <a:spLocks noGrp="1"/>
          </p:cNvSpPr>
          <p:nvPr>
            <p:ph idx="4294967295"/>
          </p:nvPr>
        </p:nvSpPr>
        <p:spPr>
          <a:xfrm>
            <a:off x="0" y="1825625"/>
            <a:ext cx="10515600" cy="4351338"/>
          </a:xfrm>
        </p:spPr>
        <p:txBody>
          <a:bodyPr/>
          <a:lstStyle/>
          <a:p>
            <a:pPr algn="just"/>
            <a:r>
              <a:rPr lang="en-US" altLang="en-US"/>
              <a:t>Informally, an algorithm is any well defined computational procedure that takes some value, or set of values as input and produces some value or a set of values as output.</a:t>
            </a:r>
          </a:p>
          <a:p>
            <a:pPr algn="just"/>
            <a:endParaRPr lang="en-US" altLang="en-US"/>
          </a:p>
          <a:p>
            <a:pPr algn="just"/>
            <a:r>
              <a:rPr lang="en-US" altLang="en-US"/>
              <a:t>An algorithm is thus a sequence of computational steps that transforms the input into output.</a:t>
            </a:r>
            <a:endParaRPr lang="en-I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13B3FF3-0EE1-B223-BF77-286203499126}"/>
              </a:ext>
            </a:extLst>
          </p:cNvPr>
          <p:cNvSpPr>
            <a:spLocks noGrp="1"/>
          </p:cNvSpPr>
          <p:nvPr>
            <p:ph type="title" idx="4294967295"/>
          </p:nvPr>
        </p:nvSpPr>
        <p:spPr>
          <a:xfrm>
            <a:off x="0" y="-204042"/>
            <a:ext cx="10515600" cy="1325563"/>
          </a:xfrm>
        </p:spPr>
        <p:txBody>
          <a:bodyPr/>
          <a:lstStyle/>
          <a:p>
            <a:r>
              <a:rPr lang="en-US" altLang="en-US" dirty="0">
                <a:solidFill>
                  <a:schemeClr val="bg1"/>
                </a:solidFill>
              </a:rPr>
              <a:t>Alternative Definition of Algorithm</a:t>
            </a:r>
            <a:endParaRPr lang="en-IN" altLang="en-US" dirty="0">
              <a:solidFill>
                <a:schemeClr val="bg1"/>
              </a:solidFill>
            </a:endParaRPr>
          </a:p>
        </p:txBody>
      </p:sp>
      <p:sp>
        <p:nvSpPr>
          <p:cNvPr id="11267" name="Content Placeholder 2">
            <a:extLst>
              <a:ext uri="{FF2B5EF4-FFF2-40B4-BE49-F238E27FC236}">
                <a16:creationId xmlns:a16="http://schemas.microsoft.com/office/drawing/2014/main" id="{285A824F-A84A-99FA-DF18-9801B4AF9CC9}"/>
              </a:ext>
            </a:extLst>
          </p:cNvPr>
          <p:cNvSpPr>
            <a:spLocks noGrp="1"/>
          </p:cNvSpPr>
          <p:nvPr>
            <p:ph idx="4294967295"/>
          </p:nvPr>
        </p:nvSpPr>
        <p:spPr>
          <a:xfrm>
            <a:off x="0" y="1825625"/>
            <a:ext cx="10515600" cy="4351338"/>
          </a:xfrm>
        </p:spPr>
        <p:txBody>
          <a:bodyPr/>
          <a:lstStyle/>
          <a:p>
            <a:pPr algn="just"/>
            <a:r>
              <a:rPr lang="en-US" altLang="en-US" dirty="0"/>
              <a:t>An algorithm can also be viewed as a tool for solving a well specified computational problem.</a:t>
            </a:r>
          </a:p>
          <a:p>
            <a:pPr algn="just"/>
            <a:r>
              <a:rPr lang="en-US" altLang="en-US" dirty="0"/>
              <a:t>The statement of a problem specifies in general terms the desired input-output relationship.</a:t>
            </a:r>
          </a:p>
          <a:p>
            <a:pPr algn="just"/>
            <a:r>
              <a:rPr lang="en-US" altLang="en-US" dirty="0"/>
              <a:t>The algorithm describes a specific computational procedure for achieving that input-output relationship.</a:t>
            </a:r>
            <a:endParaRPr lang="en-I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96A4804-4706-A255-630F-F01FA7CA61C3}"/>
              </a:ext>
            </a:extLst>
          </p:cNvPr>
          <p:cNvSpPr>
            <a:spLocks noGrp="1"/>
          </p:cNvSpPr>
          <p:nvPr>
            <p:ph type="title" idx="4294967295"/>
          </p:nvPr>
        </p:nvSpPr>
        <p:spPr>
          <a:xfrm>
            <a:off x="0" y="-204042"/>
            <a:ext cx="10515600" cy="1325563"/>
          </a:xfrm>
        </p:spPr>
        <p:txBody>
          <a:bodyPr/>
          <a:lstStyle/>
          <a:p>
            <a:r>
              <a:rPr lang="en-US" altLang="en-US" dirty="0">
                <a:solidFill>
                  <a:schemeClr val="bg1"/>
                </a:solidFill>
              </a:rPr>
              <a:t>Properties of an Algorithm</a:t>
            </a:r>
            <a:endParaRPr lang="en-IN" altLang="en-US" dirty="0">
              <a:solidFill>
                <a:schemeClr val="bg1"/>
              </a:solidFill>
            </a:endParaRPr>
          </a:p>
        </p:txBody>
      </p:sp>
      <p:sp>
        <p:nvSpPr>
          <p:cNvPr id="12291" name="Content Placeholder 2">
            <a:extLst>
              <a:ext uri="{FF2B5EF4-FFF2-40B4-BE49-F238E27FC236}">
                <a16:creationId xmlns:a16="http://schemas.microsoft.com/office/drawing/2014/main" id="{BE493F01-BF6C-AAAA-3C2E-165F02EEF678}"/>
              </a:ext>
            </a:extLst>
          </p:cNvPr>
          <p:cNvSpPr>
            <a:spLocks noGrp="1"/>
          </p:cNvSpPr>
          <p:nvPr>
            <p:ph idx="4294967295"/>
          </p:nvPr>
        </p:nvSpPr>
        <p:spPr>
          <a:xfrm>
            <a:off x="0" y="1825625"/>
            <a:ext cx="10515600" cy="4351338"/>
          </a:xfrm>
        </p:spPr>
        <p:txBody>
          <a:bodyPr/>
          <a:lstStyle/>
          <a:p>
            <a:r>
              <a:rPr lang="en-US" altLang="en-US"/>
              <a:t>Input</a:t>
            </a:r>
          </a:p>
          <a:p>
            <a:r>
              <a:rPr lang="en-US" altLang="en-US"/>
              <a:t>Output</a:t>
            </a:r>
          </a:p>
          <a:p>
            <a:r>
              <a:rPr lang="en-US" altLang="en-US"/>
              <a:t>Finiteness</a:t>
            </a:r>
          </a:p>
          <a:p>
            <a:r>
              <a:rPr lang="en-US" altLang="en-US"/>
              <a:t>Definiteness</a:t>
            </a:r>
          </a:p>
          <a:p>
            <a:r>
              <a:rPr lang="en-US" altLang="en-US"/>
              <a:t>Effectiveness</a:t>
            </a:r>
            <a:endParaRPr lang="en-I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E93ED53-6792-98C4-FE45-805283AA533E}"/>
              </a:ext>
            </a:extLst>
          </p:cNvPr>
          <p:cNvSpPr>
            <a:spLocks noGrp="1"/>
          </p:cNvSpPr>
          <p:nvPr>
            <p:ph type="title" idx="4294967295"/>
          </p:nvPr>
        </p:nvSpPr>
        <p:spPr>
          <a:xfrm>
            <a:off x="0" y="-232035"/>
            <a:ext cx="10515600" cy="1325563"/>
          </a:xfrm>
        </p:spPr>
        <p:txBody>
          <a:bodyPr/>
          <a:lstStyle/>
          <a:p>
            <a:r>
              <a:rPr lang="en-US" altLang="en-US" dirty="0">
                <a:solidFill>
                  <a:schemeClr val="bg1"/>
                </a:solidFill>
              </a:rPr>
              <a:t>Input</a:t>
            </a:r>
            <a:endParaRPr lang="en-IN" altLang="en-US" dirty="0">
              <a:solidFill>
                <a:schemeClr val="bg1"/>
              </a:solidFill>
            </a:endParaRPr>
          </a:p>
        </p:txBody>
      </p:sp>
      <p:sp>
        <p:nvSpPr>
          <p:cNvPr id="13315" name="Content Placeholder 2">
            <a:extLst>
              <a:ext uri="{FF2B5EF4-FFF2-40B4-BE49-F238E27FC236}">
                <a16:creationId xmlns:a16="http://schemas.microsoft.com/office/drawing/2014/main" id="{DB6F2626-5C92-B817-73BB-C17EA32C5D34}"/>
              </a:ext>
            </a:extLst>
          </p:cNvPr>
          <p:cNvSpPr>
            <a:spLocks noGrp="1"/>
          </p:cNvSpPr>
          <p:nvPr>
            <p:ph idx="4294967295"/>
          </p:nvPr>
        </p:nvSpPr>
        <p:spPr>
          <a:xfrm>
            <a:off x="0" y="1825625"/>
            <a:ext cx="10515600" cy="4351338"/>
          </a:xfrm>
        </p:spPr>
        <p:txBody>
          <a:bodyPr/>
          <a:lstStyle/>
          <a:p>
            <a:r>
              <a:rPr lang="en-US" altLang="en-US"/>
              <a:t>An algorithm must receive some input data supplied externally.</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470D8E47-B99F-7A6A-0A50-5F799BEC6A9E}"/>
              </a:ext>
            </a:extLst>
          </p:cNvPr>
          <p:cNvSpPr>
            <a:spLocks noGrp="1"/>
          </p:cNvSpPr>
          <p:nvPr>
            <p:ph type="title" idx="4294967295"/>
          </p:nvPr>
        </p:nvSpPr>
        <p:spPr>
          <a:xfrm>
            <a:off x="83975" y="-222703"/>
            <a:ext cx="10515600" cy="1325563"/>
          </a:xfrm>
        </p:spPr>
        <p:txBody>
          <a:bodyPr/>
          <a:lstStyle/>
          <a:p>
            <a:r>
              <a:rPr lang="en-US" altLang="en-US" dirty="0">
                <a:solidFill>
                  <a:schemeClr val="bg1"/>
                </a:solidFill>
              </a:rPr>
              <a:t>Output</a:t>
            </a:r>
            <a:endParaRPr lang="en-IN" altLang="en-US" dirty="0">
              <a:solidFill>
                <a:schemeClr val="bg1"/>
              </a:solidFill>
            </a:endParaRPr>
          </a:p>
        </p:txBody>
      </p:sp>
      <p:sp>
        <p:nvSpPr>
          <p:cNvPr id="14339" name="Content Placeholder 2">
            <a:extLst>
              <a:ext uri="{FF2B5EF4-FFF2-40B4-BE49-F238E27FC236}">
                <a16:creationId xmlns:a16="http://schemas.microsoft.com/office/drawing/2014/main" id="{7BEA91B2-83BB-3091-6B83-EF85C4FA41C0}"/>
              </a:ext>
            </a:extLst>
          </p:cNvPr>
          <p:cNvSpPr>
            <a:spLocks noGrp="1"/>
          </p:cNvSpPr>
          <p:nvPr>
            <p:ph idx="4294967295"/>
          </p:nvPr>
        </p:nvSpPr>
        <p:spPr>
          <a:xfrm>
            <a:off x="0" y="1825625"/>
            <a:ext cx="10515600" cy="4351338"/>
          </a:xfrm>
        </p:spPr>
        <p:txBody>
          <a:bodyPr/>
          <a:lstStyle/>
          <a:p>
            <a:r>
              <a:rPr lang="en-US" altLang="en-US"/>
              <a:t>An algorithm must produce at least one output as the result.</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7E4D896-E6ED-3944-DDA5-0070513B5A7D}"/>
              </a:ext>
            </a:extLst>
          </p:cNvPr>
          <p:cNvSpPr>
            <a:spLocks noGrp="1"/>
          </p:cNvSpPr>
          <p:nvPr>
            <p:ph type="title" idx="4294967295"/>
          </p:nvPr>
        </p:nvSpPr>
        <p:spPr>
          <a:xfrm>
            <a:off x="0" y="-222704"/>
            <a:ext cx="10515600" cy="1325563"/>
          </a:xfrm>
        </p:spPr>
        <p:txBody>
          <a:bodyPr/>
          <a:lstStyle/>
          <a:p>
            <a:r>
              <a:rPr lang="en-US" altLang="en-US" dirty="0">
                <a:solidFill>
                  <a:schemeClr val="bg1"/>
                </a:solidFill>
              </a:rPr>
              <a:t>Finiteness</a:t>
            </a:r>
            <a:endParaRPr lang="en-IN" altLang="en-US" dirty="0">
              <a:solidFill>
                <a:schemeClr val="bg1"/>
              </a:solidFill>
            </a:endParaRPr>
          </a:p>
        </p:txBody>
      </p:sp>
      <p:sp>
        <p:nvSpPr>
          <p:cNvPr id="15363" name="Content Placeholder 2">
            <a:extLst>
              <a:ext uri="{FF2B5EF4-FFF2-40B4-BE49-F238E27FC236}">
                <a16:creationId xmlns:a16="http://schemas.microsoft.com/office/drawing/2014/main" id="{8A159414-0AFA-9E1A-99E3-E3BC87C831B5}"/>
              </a:ext>
            </a:extLst>
          </p:cNvPr>
          <p:cNvSpPr>
            <a:spLocks noGrp="1"/>
          </p:cNvSpPr>
          <p:nvPr>
            <p:ph idx="4294967295"/>
          </p:nvPr>
        </p:nvSpPr>
        <p:spPr>
          <a:xfrm>
            <a:off x="0" y="1825625"/>
            <a:ext cx="10515600" cy="4351338"/>
          </a:xfrm>
        </p:spPr>
        <p:txBody>
          <a:bodyPr/>
          <a:lstStyle/>
          <a:p>
            <a:pPr algn="just"/>
            <a:r>
              <a:rPr lang="en-US" altLang="en-US"/>
              <a:t>No matter what is the input, the algorithm must terminate after a finite number of steps.</a:t>
            </a:r>
          </a:p>
          <a:p>
            <a:pPr algn="just"/>
            <a:r>
              <a:rPr lang="en-US" altLang="en-US"/>
              <a:t>For example a procedure which goes on performing a series of steps infinitely is not an algorithm.</a:t>
            </a:r>
            <a:endParaRPr lang="en-I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B6BD431-7120-DC24-D30A-167388A0603E}"/>
              </a:ext>
            </a:extLst>
          </p:cNvPr>
          <p:cNvSpPr>
            <a:spLocks noGrp="1"/>
          </p:cNvSpPr>
          <p:nvPr>
            <p:ph type="title" idx="4294967295"/>
          </p:nvPr>
        </p:nvSpPr>
        <p:spPr>
          <a:xfrm>
            <a:off x="102636" y="-288018"/>
            <a:ext cx="10515600" cy="1325563"/>
          </a:xfrm>
        </p:spPr>
        <p:txBody>
          <a:bodyPr/>
          <a:lstStyle/>
          <a:p>
            <a:r>
              <a:rPr lang="en-US" altLang="en-US" dirty="0">
                <a:solidFill>
                  <a:schemeClr val="bg1"/>
                </a:solidFill>
              </a:rPr>
              <a:t>Definiteness</a:t>
            </a:r>
            <a:endParaRPr lang="en-IN" altLang="en-US" dirty="0">
              <a:solidFill>
                <a:schemeClr val="bg1"/>
              </a:solidFill>
            </a:endParaRPr>
          </a:p>
        </p:txBody>
      </p:sp>
      <p:sp>
        <p:nvSpPr>
          <p:cNvPr id="16387" name="Content Placeholder 2">
            <a:extLst>
              <a:ext uri="{FF2B5EF4-FFF2-40B4-BE49-F238E27FC236}">
                <a16:creationId xmlns:a16="http://schemas.microsoft.com/office/drawing/2014/main" id="{89C02432-E777-A455-336C-3AD88E7BD5D5}"/>
              </a:ext>
            </a:extLst>
          </p:cNvPr>
          <p:cNvSpPr>
            <a:spLocks noGrp="1"/>
          </p:cNvSpPr>
          <p:nvPr>
            <p:ph idx="4294967295"/>
          </p:nvPr>
        </p:nvSpPr>
        <p:spPr>
          <a:xfrm>
            <a:off x="0" y="1825625"/>
            <a:ext cx="10515600" cy="4351338"/>
          </a:xfrm>
        </p:spPr>
        <p:txBody>
          <a:bodyPr/>
          <a:lstStyle/>
          <a:p>
            <a:pPr algn="just"/>
            <a:r>
              <a:rPr lang="en-US" altLang="en-US"/>
              <a:t>The steps to be performed in the algorithm must be clear and unambiguous.</a:t>
            </a:r>
            <a:endParaRPr lang="en-I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AF6E77A-3238-0C71-3854-A2268ADDF393}"/>
              </a:ext>
            </a:extLst>
          </p:cNvPr>
          <p:cNvSpPr>
            <a:spLocks noGrp="1"/>
          </p:cNvSpPr>
          <p:nvPr>
            <p:ph type="title" idx="4294967295"/>
          </p:nvPr>
        </p:nvSpPr>
        <p:spPr>
          <a:xfrm>
            <a:off x="0" y="-157389"/>
            <a:ext cx="10515600" cy="1325563"/>
          </a:xfrm>
        </p:spPr>
        <p:txBody>
          <a:bodyPr/>
          <a:lstStyle/>
          <a:p>
            <a:r>
              <a:rPr lang="en-US" altLang="en-US" dirty="0">
                <a:solidFill>
                  <a:schemeClr val="bg1"/>
                </a:solidFill>
              </a:rPr>
              <a:t>Effectiveness</a:t>
            </a:r>
            <a:endParaRPr lang="en-IN" altLang="en-US" dirty="0">
              <a:solidFill>
                <a:schemeClr val="bg1"/>
              </a:solidFill>
            </a:endParaRPr>
          </a:p>
        </p:txBody>
      </p:sp>
      <p:sp>
        <p:nvSpPr>
          <p:cNvPr id="17411" name="Content Placeholder 2">
            <a:extLst>
              <a:ext uri="{FF2B5EF4-FFF2-40B4-BE49-F238E27FC236}">
                <a16:creationId xmlns:a16="http://schemas.microsoft.com/office/drawing/2014/main" id="{3DEFDA91-28CA-85D8-C166-843881AEDB62}"/>
              </a:ext>
            </a:extLst>
          </p:cNvPr>
          <p:cNvSpPr>
            <a:spLocks noGrp="1"/>
          </p:cNvSpPr>
          <p:nvPr>
            <p:ph idx="4294967295"/>
          </p:nvPr>
        </p:nvSpPr>
        <p:spPr>
          <a:xfrm>
            <a:off x="0" y="1825625"/>
            <a:ext cx="10515600" cy="4351338"/>
          </a:xfrm>
        </p:spPr>
        <p:txBody>
          <a:bodyPr/>
          <a:lstStyle/>
          <a:p>
            <a:pPr algn="just"/>
            <a:r>
              <a:rPr lang="en-US" altLang="en-US"/>
              <a:t>One must be able to perform steps in the algorithm without applying any intelligence.</a:t>
            </a:r>
          </a:p>
          <a:p>
            <a:pPr algn="just"/>
            <a:r>
              <a:rPr lang="en-US" altLang="en-US"/>
              <a:t>For example, the step – select three numbers which form a Pythagorean triplet is not effective.</a:t>
            </a:r>
            <a:endParaRPr lang="en-I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15991F5-FD23-2FCC-1AE2-2001EEAE67CB}"/>
              </a:ext>
            </a:extLst>
          </p:cNvPr>
          <p:cNvSpPr>
            <a:spLocks noGrp="1"/>
          </p:cNvSpPr>
          <p:nvPr>
            <p:ph type="title" idx="4294967295"/>
          </p:nvPr>
        </p:nvSpPr>
        <p:spPr>
          <a:xfrm>
            <a:off x="102636" y="-194712"/>
            <a:ext cx="10515600" cy="1325563"/>
          </a:xfrm>
        </p:spPr>
        <p:txBody>
          <a:bodyPr/>
          <a:lstStyle/>
          <a:p>
            <a:r>
              <a:rPr lang="en-US" altLang="en-US" dirty="0">
                <a:solidFill>
                  <a:schemeClr val="bg1"/>
                </a:solidFill>
              </a:rPr>
              <a:t>Program</a:t>
            </a:r>
            <a:endParaRPr lang="en-IN" altLang="en-US" dirty="0">
              <a:solidFill>
                <a:schemeClr val="bg1"/>
              </a:solidFill>
            </a:endParaRPr>
          </a:p>
        </p:txBody>
      </p:sp>
      <p:sp>
        <p:nvSpPr>
          <p:cNvPr id="18435" name="Content Placeholder 2">
            <a:extLst>
              <a:ext uri="{FF2B5EF4-FFF2-40B4-BE49-F238E27FC236}">
                <a16:creationId xmlns:a16="http://schemas.microsoft.com/office/drawing/2014/main" id="{0A513ED4-DEFD-48E4-2E11-FCEEF09DD3BF}"/>
              </a:ext>
            </a:extLst>
          </p:cNvPr>
          <p:cNvSpPr>
            <a:spLocks noGrp="1"/>
          </p:cNvSpPr>
          <p:nvPr>
            <p:ph idx="4294967295"/>
          </p:nvPr>
        </p:nvSpPr>
        <p:spPr>
          <a:xfrm>
            <a:off x="0" y="1825625"/>
            <a:ext cx="10515600" cy="4351338"/>
          </a:xfrm>
        </p:spPr>
        <p:txBody>
          <a:bodyPr/>
          <a:lstStyle/>
          <a:p>
            <a:pPr algn="just"/>
            <a:r>
              <a:rPr lang="en-US" altLang="en-US"/>
              <a:t>A Program is the expression of an algorithm in a programming language.</a:t>
            </a:r>
            <a:endParaRPr lang="en-I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459944F-AC58-010E-D3DB-D2D460D95299}"/>
              </a:ext>
            </a:extLst>
          </p:cNvPr>
          <p:cNvSpPr>
            <a:spLocks noGrp="1"/>
          </p:cNvSpPr>
          <p:nvPr>
            <p:ph type="title" idx="4294967295"/>
          </p:nvPr>
        </p:nvSpPr>
        <p:spPr>
          <a:xfrm>
            <a:off x="83975" y="-288018"/>
            <a:ext cx="10515600" cy="1325563"/>
          </a:xfrm>
        </p:spPr>
        <p:txBody>
          <a:bodyPr/>
          <a:lstStyle/>
          <a:p>
            <a:r>
              <a:rPr lang="en-US" altLang="en-US" dirty="0">
                <a:solidFill>
                  <a:schemeClr val="bg1"/>
                </a:solidFill>
              </a:rPr>
              <a:t>Types of Algorithms</a:t>
            </a:r>
            <a:endParaRPr lang="en-IN" altLang="en-US" dirty="0">
              <a:solidFill>
                <a:schemeClr val="bg1"/>
              </a:solidFill>
            </a:endParaRPr>
          </a:p>
        </p:txBody>
      </p:sp>
      <p:sp>
        <p:nvSpPr>
          <p:cNvPr id="19459" name="Content Placeholder 2">
            <a:extLst>
              <a:ext uri="{FF2B5EF4-FFF2-40B4-BE49-F238E27FC236}">
                <a16:creationId xmlns:a16="http://schemas.microsoft.com/office/drawing/2014/main" id="{CDB6D36F-4945-A89C-F556-BD3234BA9727}"/>
              </a:ext>
            </a:extLst>
          </p:cNvPr>
          <p:cNvSpPr>
            <a:spLocks noGrp="1"/>
          </p:cNvSpPr>
          <p:nvPr>
            <p:ph idx="4294967295"/>
          </p:nvPr>
        </p:nvSpPr>
        <p:spPr>
          <a:xfrm>
            <a:off x="0" y="1825625"/>
            <a:ext cx="10515600" cy="4351338"/>
          </a:xfrm>
        </p:spPr>
        <p:txBody>
          <a:bodyPr/>
          <a:lstStyle/>
          <a:p>
            <a:r>
              <a:rPr lang="en-US" altLang="en-US"/>
              <a:t>Iterative (Use loops and Conditional Statements)</a:t>
            </a:r>
          </a:p>
          <a:p>
            <a:r>
              <a:rPr lang="en-US" altLang="en-US"/>
              <a:t>Recursive (Use Divide and Conquer Approach)</a:t>
            </a:r>
            <a:endParaRPr lang="en-I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8FF3ADE1-CFDB-3FC7-267B-B1B07958533A}"/>
              </a:ext>
            </a:extLst>
          </p:cNvPr>
          <p:cNvSpPr>
            <a:spLocks noGrp="1"/>
          </p:cNvSpPr>
          <p:nvPr>
            <p:ph type="title" idx="4294967295"/>
          </p:nvPr>
        </p:nvSpPr>
        <p:spPr>
          <a:xfrm>
            <a:off x="93306" y="-213373"/>
            <a:ext cx="10515600" cy="1325563"/>
          </a:xfrm>
        </p:spPr>
        <p:txBody>
          <a:bodyPr/>
          <a:lstStyle/>
          <a:p>
            <a:r>
              <a:rPr lang="en-US" altLang="en-US" dirty="0">
                <a:solidFill>
                  <a:schemeClr val="bg1"/>
                </a:solidFill>
              </a:rPr>
              <a:t>Algorithm Design Techniques</a:t>
            </a:r>
            <a:endParaRPr lang="en-IN" altLang="en-US" dirty="0">
              <a:solidFill>
                <a:schemeClr val="bg1"/>
              </a:solidFill>
            </a:endParaRPr>
          </a:p>
        </p:txBody>
      </p:sp>
      <p:sp>
        <p:nvSpPr>
          <p:cNvPr id="20483" name="Content Placeholder 2">
            <a:extLst>
              <a:ext uri="{FF2B5EF4-FFF2-40B4-BE49-F238E27FC236}">
                <a16:creationId xmlns:a16="http://schemas.microsoft.com/office/drawing/2014/main" id="{D2D0FBD2-59BD-A0E3-6B05-8046FE908636}"/>
              </a:ext>
            </a:extLst>
          </p:cNvPr>
          <p:cNvSpPr>
            <a:spLocks noGrp="1"/>
          </p:cNvSpPr>
          <p:nvPr>
            <p:ph idx="4294967295"/>
          </p:nvPr>
        </p:nvSpPr>
        <p:spPr>
          <a:xfrm>
            <a:off x="0" y="1825625"/>
            <a:ext cx="10515600" cy="4351338"/>
          </a:xfrm>
        </p:spPr>
        <p:txBody>
          <a:bodyPr/>
          <a:lstStyle/>
          <a:p>
            <a:r>
              <a:rPr lang="en-IN" altLang="en-US" sz="2400"/>
              <a:t>Brute-force or Exhaustive Search</a:t>
            </a:r>
          </a:p>
          <a:p>
            <a:r>
              <a:rPr lang="en-IN" altLang="en-US" sz="2400"/>
              <a:t>Divide and Conquer</a:t>
            </a:r>
          </a:p>
          <a:p>
            <a:r>
              <a:rPr lang="en-IN" altLang="en-US" sz="2400"/>
              <a:t>Greedy </a:t>
            </a:r>
            <a:r>
              <a:rPr lang="en-IN" altLang="en-US" sz="2400" b="1"/>
              <a:t>Algorithms</a:t>
            </a:r>
            <a:endParaRPr lang="en-IN" altLang="en-US" sz="2400"/>
          </a:p>
          <a:p>
            <a:r>
              <a:rPr lang="en-IN" altLang="en-US" sz="2400"/>
              <a:t>Dynamic Programming</a:t>
            </a:r>
          </a:p>
          <a:p>
            <a:r>
              <a:rPr lang="en-IN" altLang="en-US" sz="2400"/>
              <a:t>Branch and Bound </a:t>
            </a:r>
            <a:r>
              <a:rPr lang="en-IN" altLang="en-US" sz="2400" b="1"/>
              <a:t>Algorithms</a:t>
            </a:r>
            <a:endParaRPr lang="en-IN" altLang="en-US" sz="2400"/>
          </a:p>
          <a:p>
            <a:r>
              <a:rPr lang="en-IN" altLang="en-US" sz="2400"/>
              <a:t>Randomized </a:t>
            </a:r>
            <a:r>
              <a:rPr lang="en-IN" altLang="en-US" sz="2400" b="1"/>
              <a:t>Algorithms</a:t>
            </a:r>
            <a:endParaRPr lang="en-IN" altLang="en-US" sz="2400"/>
          </a:p>
          <a:p>
            <a:r>
              <a:rPr lang="en-IN" altLang="en-US" sz="2400"/>
              <a:t>Backtracking</a:t>
            </a:r>
          </a:p>
          <a:p>
            <a:r>
              <a:rPr lang="en-US" altLang="en-US" sz="2400"/>
              <a:t>Approximation Algorithms</a:t>
            </a:r>
            <a:endParaRPr lang="en-IN" alt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8D6F7B3-5689-F5F4-43C5-C3B41DBBFC39}"/>
              </a:ext>
            </a:extLst>
          </p:cNvPr>
          <p:cNvSpPr>
            <a:spLocks noGrp="1"/>
          </p:cNvSpPr>
          <p:nvPr>
            <p:ph type="title" idx="4294967295"/>
          </p:nvPr>
        </p:nvSpPr>
        <p:spPr>
          <a:xfrm>
            <a:off x="-1" y="400050"/>
            <a:ext cx="10011747" cy="4181475"/>
          </a:xfrm>
        </p:spPr>
        <p:txBody>
          <a:bodyPr/>
          <a:lstStyle/>
          <a:p>
            <a:r>
              <a:rPr lang="en-US" altLang="en-US" dirty="0"/>
              <a:t>Types of Problems solved by Algorithms</a:t>
            </a:r>
            <a:endParaRPr lang="en-I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94611ADB-292C-8C56-C590-5AA381223B85}"/>
              </a:ext>
            </a:extLst>
          </p:cNvPr>
          <p:cNvSpPr>
            <a:spLocks noGrp="1"/>
          </p:cNvSpPr>
          <p:nvPr>
            <p:ph type="title" idx="4294967295"/>
          </p:nvPr>
        </p:nvSpPr>
        <p:spPr>
          <a:xfrm>
            <a:off x="74645" y="-73414"/>
            <a:ext cx="11681926"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24579" name="Content Placeholder 2">
            <a:extLst>
              <a:ext uri="{FF2B5EF4-FFF2-40B4-BE49-F238E27FC236}">
                <a16:creationId xmlns:a16="http://schemas.microsoft.com/office/drawing/2014/main" id="{143AE309-B4ED-A810-AD07-3113C824C376}"/>
              </a:ext>
            </a:extLst>
          </p:cNvPr>
          <p:cNvSpPr>
            <a:spLocks noGrp="1"/>
          </p:cNvSpPr>
          <p:nvPr>
            <p:ph idx="4294967295"/>
          </p:nvPr>
        </p:nvSpPr>
        <p:spPr>
          <a:xfrm>
            <a:off x="0" y="1825625"/>
            <a:ext cx="10515600" cy="4351338"/>
          </a:xfrm>
        </p:spPr>
        <p:txBody>
          <a:bodyPr/>
          <a:lstStyle/>
          <a:p>
            <a:pPr algn="just"/>
            <a:r>
              <a:rPr lang="en-US" altLang="en-US" sz="2000"/>
              <a:t>Sorting is by no means the only computational problem for which algorithms have been developed.</a:t>
            </a:r>
          </a:p>
          <a:p>
            <a:pPr algn="just"/>
            <a:r>
              <a:rPr lang="en-US" altLang="en-US" sz="2000"/>
              <a:t>Practical applications of algorithms are ubiquitous and include the following examples:</a:t>
            </a:r>
          </a:p>
          <a:p>
            <a:pPr algn="just"/>
            <a:r>
              <a:rPr lang="en-US" altLang="en-US" sz="2000"/>
              <a:t>The Human Genome Project has made great progress toward the goals of identifying all the 100,000 genes in human DNA, determining the sequences of the 3 billion chemical base pairs that make up human DNA, storing this information in databases, and developing tools for data analysis. Each of these steps requires sophisticated algorithms.</a:t>
            </a:r>
            <a:endParaRPr lang="en-IN"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9315C9F-CE18-495A-BA7F-E3D20644240D}"/>
              </a:ext>
            </a:extLst>
          </p:cNvPr>
          <p:cNvSpPr>
            <a:spLocks noGrp="1"/>
          </p:cNvSpPr>
          <p:nvPr>
            <p:ph type="title" idx="4294967295"/>
          </p:nvPr>
        </p:nvSpPr>
        <p:spPr>
          <a:xfrm>
            <a:off x="74645" y="-176051"/>
            <a:ext cx="11644604"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25603" name="Content Placeholder 2">
            <a:extLst>
              <a:ext uri="{FF2B5EF4-FFF2-40B4-BE49-F238E27FC236}">
                <a16:creationId xmlns:a16="http://schemas.microsoft.com/office/drawing/2014/main" id="{88325DF8-F4A2-54C1-E01C-8F54A8F76CDE}"/>
              </a:ext>
            </a:extLst>
          </p:cNvPr>
          <p:cNvSpPr>
            <a:spLocks noGrp="1"/>
          </p:cNvSpPr>
          <p:nvPr>
            <p:ph idx="4294967295"/>
          </p:nvPr>
        </p:nvSpPr>
        <p:spPr>
          <a:xfrm>
            <a:off x="-1" y="1790700"/>
            <a:ext cx="11719249" cy="4375150"/>
          </a:xfrm>
        </p:spPr>
        <p:txBody>
          <a:bodyPr/>
          <a:lstStyle/>
          <a:p>
            <a:pPr algn="just"/>
            <a:r>
              <a:rPr lang="en-US" altLang="en-US" dirty="0"/>
              <a:t>The Internet enables people all around the world to quickly access and retrieve large amounts of information. With the aid of clever algorithms, sites on the Internet are able to manage and manipulate this large volume of data. Examples of problems that make essential use of algorithms include finding good routes on which the data will travel and using a search engine to quickly find pages on which particular information resides.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AF67376-FB50-F632-2323-31F4CF377813}"/>
              </a:ext>
            </a:extLst>
          </p:cNvPr>
          <p:cNvSpPr>
            <a:spLocks noGrp="1"/>
          </p:cNvSpPr>
          <p:nvPr>
            <p:ph type="title" idx="4294967295"/>
          </p:nvPr>
        </p:nvSpPr>
        <p:spPr>
          <a:xfrm>
            <a:off x="0" y="-177282"/>
            <a:ext cx="11961845"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26627" name="Content Placeholder 2">
            <a:extLst>
              <a:ext uri="{FF2B5EF4-FFF2-40B4-BE49-F238E27FC236}">
                <a16:creationId xmlns:a16="http://schemas.microsoft.com/office/drawing/2014/main" id="{1071A133-15F6-55FE-E2A0-3B02D11CFD58}"/>
              </a:ext>
            </a:extLst>
          </p:cNvPr>
          <p:cNvSpPr>
            <a:spLocks noGrp="1"/>
          </p:cNvSpPr>
          <p:nvPr>
            <p:ph idx="4294967295"/>
          </p:nvPr>
        </p:nvSpPr>
        <p:spPr>
          <a:xfrm>
            <a:off x="0" y="1825625"/>
            <a:ext cx="11793894" cy="4351338"/>
          </a:xfrm>
        </p:spPr>
        <p:txBody>
          <a:bodyPr/>
          <a:lstStyle/>
          <a:p>
            <a:pPr algn="just"/>
            <a:r>
              <a:rPr lang="en-US" altLang="en-US" sz="2400" dirty="0"/>
              <a:t>Electronic commerce enables goods and services to be negotiated and exchanged electronically, and it depends on the privacy of personal information such as credit card numbers, passwords, and bank statements. The core technologies used in electronic commerce include public-key cryptography and digital signatures which are based on numerical algorithms and number theory.</a:t>
            </a:r>
            <a:endParaRPr lang="en-IN" altLang="en-US" sz="2400" dirty="0"/>
          </a:p>
          <a:p>
            <a:endParaRPr lang="en-I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DE20A452-2946-EA93-7E99-4C074CDE7D97}"/>
              </a:ext>
            </a:extLst>
          </p:cNvPr>
          <p:cNvSpPr>
            <a:spLocks noGrp="1"/>
          </p:cNvSpPr>
          <p:nvPr>
            <p:ph type="title" idx="4294967295"/>
          </p:nvPr>
        </p:nvSpPr>
        <p:spPr>
          <a:xfrm>
            <a:off x="0" y="-157389"/>
            <a:ext cx="11635273"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27651" name="Content Placeholder 2">
            <a:extLst>
              <a:ext uri="{FF2B5EF4-FFF2-40B4-BE49-F238E27FC236}">
                <a16:creationId xmlns:a16="http://schemas.microsoft.com/office/drawing/2014/main" id="{45E1F5F6-BC45-97C0-AAAA-B04DDFEF63EC}"/>
              </a:ext>
            </a:extLst>
          </p:cNvPr>
          <p:cNvSpPr>
            <a:spLocks noGrp="1"/>
          </p:cNvSpPr>
          <p:nvPr>
            <p:ph idx="4294967295"/>
          </p:nvPr>
        </p:nvSpPr>
        <p:spPr>
          <a:xfrm>
            <a:off x="0" y="1825625"/>
            <a:ext cx="10515600" cy="4351338"/>
          </a:xfrm>
        </p:spPr>
        <p:txBody>
          <a:bodyPr/>
          <a:lstStyle/>
          <a:p>
            <a:pPr algn="just"/>
            <a:r>
              <a:rPr lang="en-US" altLang="en-US" sz="2400"/>
              <a:t>Manufacturing and other commercial enterprises often need to allocate scarce resources in the most beneficial way. An oil company may wish to know where to place its wells in order to maximize its expected profit.</a:t>
            </a:r>
          </a:p>
          <a:p>
            <a:pPr algn="just"/>
            <a:r>
              <a:rPr lang="en-US" altLang="en-US" sz="2400"/>
              <a:t>A political candidate may want to determine where to spend money buying campaign advertising in order to maximize the chances of winning an election.</a:t>
            </a:r>
            <a:endParaRPr lang="en-IN" altLang="en-US"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3ADBB32D-5703-AD57-7843-27987CAE4E24}"/>
              </a:ext>
            </a:extLst>
          </p:cNvPr>
          <p:cNvSpPr>
            <a:spLocks noGrp="1"/>
          </p:cNvSpPr>
          <p:nvPr>
            <p:ph type="title" idx="4294967295"/>
          </p:nvPr>
        </p:nvSpPr>
        <p:spPr>
          <a:xfrm>
            <a:off x="130628" y="-166720"/>
            <a:ext cx="11635273"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28675" name="Content Placeholder 2">
            <a:extLst>
              <a:ext uri="{FF2B5EF4-FFF2-40B4-BE49-F238E27FC236}">
                <a16:creationId xmlns:a16="http://schemas.microsoft.com/office/drawing/2014/main" id="{C635D8B8-9F44-437A-EA78-FD9076142FF3}"/>
              </a:ext>
            </a:extLst>
          </p:cNvPr>
          <p:cNvSpPr>
            <a:spLocks noGrp="1"/>
          </p:cNvSpPr>
          <p:nvPr>
            <p:ph idx="4294967295"/>
          </p:nvPr>
        </p:nvSpPr>
        <p:spPr>
          <a:xfrm>
            <a:off x="0" y="1825625"/>
            <a:ext cx="10515600" cy="4351338"/>
          </a:xfrm>
        </p:spPr>
        <p:txBody>
          <a:bodyPr/>
          <a:lstStyle/>
          <a:p>
            <a:pPr algn="just"/>
            <a:r>
              <a:rPr lang="en-US" altLang="en-US" sz="2400"/>
              <a:t>An airline may wish to assign crews to flights in the least expensive way possible, making sure that each flight is covered and that government regulations regarding crew scheduling are met. </a:t>
            </a:r>
          </a:p>
          <a:p>
            <a:pPr algn="just"/>
            <a:r>
              <a:rPr lang="en-US" altLang="en-US" sz="2400"/>
              <a:t>An Internet service provider may wish to determine where to place additional resources in order to serve its customers more effectively.</a:t>
            </a:r>
            <a:endParaRPr lang="en-IN" altLang="en-US"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9DEAACDE-D014-1448-64E2-D0E62E6AA81F}"/>
              </a:ext>
            </a:extLst>
          </p:cNvPr>
          <p:cNvSpPr>
            <a:spLocks noGrp="1"/>
          </p:cNvSpPr>
          <p:nvPr>
            <p:ph type="title" idx="4294967295"/>
          </p:nvPr>
        </p:nvSpPr>
        <p:spPr>
          <a:xfrm>
            <a:off x="0" y="-222704"/>
            <a:ext cx="11887200"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29699" name="Content Placeholder 2">
            <a:extLst>
              <a:ext uri="{FF2B5EF4-FFF2-40B4-BE49-F238E27FC236}">
                <a16:creationId xmlns:a16="http://schemas.microsoft.com/office/drawing/2014/main" id="{CFF60E54-B50E-874C-447D-D4B470B0598D}"/>
              </a:ext>
            </a:extLst>
          </p:cNvPr>
          <p:cNvSpPr>
            <a:spLocks noGrp="1"/>
          </p:cNvSpPr>
          <p:nvPr>
            <p:ph idx="4294967295"/>
          </p:nvPr>
        </p:nvSpPr>
        <p:spPr>
          <a:xfrm>
            <a:off x="0" y="1825625"/>
            <a:ext cx="10515600" cy="4351338"/>
          </a:xfrm>
        </p:spPr>
        <p:txBody>
          <a:bodyPr/>
          <a:lstStyle/>
          <a:p>
            <a:pPr algn="just"/>
            <a:r>
              <a:rPr lang="en-US" altLang="en-US"/>
              <a:t>We are given a road map on which the distance between each pair of adjacent intersections is marked, and we wish to determine the shortest route from one intersection to another. The number of possible routes can be huge, even if we disallow routes that cross over themselves. How do we choose which of all possible routes is the shortest?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3097B4C7-B5E2-BC5D-0194-D2ACCC11F3BD}"/>
              </a:ext>
            </a:extLst>
          </p:cNvPr>
          <p:cNvSpPr>
            <a:spLocks noGrp="1"/>
          </p:cNvSpPr>
          <p:nvPr>
            <p:ph type="title" idx="4294967295"/>
          </p:nvPr>
        </p:nvSpPr>
        <p:spPr>
          <a:xfrm>
            <a:off x="0" y="-241364"/>
            <a:ext cx="11775233"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30723" name="Content Placeholder 4">
            <a:extLst>
              <a:ext uri="{FF2B5EF4-FFF2-40B4-BE49-F238E27FC236}">
                <a16:creationId xmlns:a16="http://schemas.microsoft.com/office/drawing/2014/main" id="{309B2C33-62BC-EAC4-0B6B-D5776DDB5FB4}"/>
              </a:ext>
            </a:extLst>
          </p:cNvPr>
          <p:cNvSpPr>
            <a:spLocks noGrp="1"/>
          </p:cNvSpPr>
          <p:nvPr>
            <p:ph idx="4294967295"/>
          </p:nvPr>
        </p:nvSpPr>
        <p:spPr>
          <a:xfrm>
            <a:off x="0" y="1825625"/>
            <a:ext cx="10515600" cy="4351338"/>
          </a:xfrm>
        </p:spPr>
        <p:txBody>
          <a:bodyPr/>
          <a:lstStyle/>
          <a:p>
            <a:pPr algn="just"/>
            <a:r>
              <a:rPr lang="en-US" altLang="en-US"/>
              <a:t>We are given a mechanical design in terms of a library of parts, where each part may include instances of other parts, and we need to list the parts in order so that each part appears before any part that uses it. If the design comprises n parts, then there are n factorial possible orders.</a:t>
            </a:r>
            <a:endParaRPr lang="en-I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FC99B754-6C4B-3422-98D2-A078495665DA}"/>
              </a:ext>
            </a:extLst>
          </p:cNvPr>
          <p:cNvSpPr>
            <a:spLocks noGrp="1"/>
          </p:cNvSpPr>
          <p:nvPr>
            <p:ph type="title" idx="4294967295"/>
          </p:nvPr>
        </p:nvSpPr>
        <p:spPr>
          <a:xfrm>
            <a:off x="0" y="-185382"/>
            <a:ext cx="11840547" cy="1325563"/>
          </a:xfrm>
        </p:spPr>
        <p:txBody>
          <a:bodyPr/>
          <a:lstStyle/>
          <a:p>
            <a:r>
              <a:rPr lang="en-US" altLang="en-US" dirty="0">
                <a:solidFill>
                  <a:schemeClr val="bg1"/>
                </a:solidFill>
              </a:rPr>
              <a:t>Types of Problems solved by Algorithms (Cont.)</a:t>
            </a:r>
            <a:endParaRPr lang="en-IN" altLang="en-US" dirty="0">
              <a:solidFill>
                <a:schemeClr val="bg1"/>
              </a:solidFill>
            </a:endParaRPr>
          </a:p>
        </p:txBody>
      </p:sp>
      <p:sp>
        <p:nvSpPr>
          <p:cNvPr id="31747" name="Content Placeholder 2">
            <a:extLst>
              <a:ext uri="{FF2B5EF4-FFF2-40B4-BE49-F238E27FC236}">
                <a16:creationId xmlns:a16="http://schemas.microsoft.com/office/drawing/2014/main" id="{4444E409-3B88-74F7-D768-5F616DD9C522}"/>
              </a:ext>
            </a:extLst>
          </p:cNvPr>
          <p:cNvSpPr>
            <a:spLocks noGrp="1"/>
          </p:cNvSpPr>
          <p:nvPr>
            <p:ph idx="4294967295"/>
          </p:nvPr>
        </p:nvSpPr>
        <p:spPr>
          <a:xfrm>
            <a:off x="0" y="1825625"/>
            <a:ext cx="10515600" cy="4351338"/>
          </a:xfrm>
        </p:spPr>
        <p:txBody>
          <a:bodyPr/>
          <a:lstStyle/>
          <a:p>
            <a:pPr algn="just"/>
            <a:r>
              <a:rPr lang="en-US" altLang="en-US"/>
              <a:t>We are given n points in the plane, and we wish to find the convex hull of these points. The convex hull is the smallest convex polygon containing the points. Intuitively, we can think of each point as being represented by a nail sticking out from a board. The convex hull would be represented by a tight rubber band that surrounds all the nails.</a:t>
            </a:r>
            <a:endParaRPr lang="en-I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7DB931F5-D124-D369-B424-3D9AA8514476}"/>
              </a:ext>
            </a:extLst>
          </p:cNvPr>
          <p:cNvSpPr>
            <a:spLocks noGrp="1"/>
          </p:cNvSpPr>
          <p:nvPr>
            <p:ph type="title" idx="4294967295"/>
          </p:nvPr>
        </p:nvSpPr>
        <p:spPr>
          <a:xfrm>
            <a:off x="65314" y="-269357"/>
            <a:ext cx="10515600" cy="1325563"/>
          </a:xfrm>
        </p:spPr>
        <p:txBody>
          <a:bodyPr/>
          <a:lstStyle/>
          <a:p>
            <a:r>
              <a:rPr lang="en-US" altLang="en-US" dirty="0">
                <a:solidFill>
                  <a:schemeClr val="bg1"/>
                </a:solidFill>
              </a:rPr>
              <a:t>Study of Algorithms</a:t>
            </a:r>
            <a:endParaRPr lang="en-IN" altLang="en-US" dirty="0">
              <a:solidFill>
                <a:schemeClr val="bg1"/>
              </a:solidFill>
            </a:endParaRPr>
          </a:p>
        </p:txBody>
      </p:sp>
      <p:sp>
        <p:nvSpPr>
          <p:cNvPr id="32771" name="Content Placeholder 2">
            <a:extLst>
              <a:ext uri="{FF2B5EF4-FFF2-40B4-BE49-F238E27FC236}">
                <a16:creationId xmlns:a16="http://schemas.microsoft.com/office/drawing/2014/main" id="{5E410F35-E706-961C-DE92-1C47CEE1F4C6}"/>
              </a:ext>
            </a:extLst>
          </p:cNvPr>
          <p:cNvSpPr>
            <a:spLocks noGrp="1"/>
          </p:cNvSpPr>
          <p:nvPr>
            <p:ph idx="4294967295"/>
          </p:nvPr>
        </p:nvSpPr>
        <p:spPr>
          <a:xfrm>
            <a:off x="0" y="1825625"/>
            <a:ext cx="10515600" cy="4351338"/>
          </a:xfrm>
        </p:spPr>
        <p:txBody>
          <a:bodyPr/>
          <a:lstStyle/>
          <a:p>
            <a:pPr algn="just"/>
            <a:r>
              <a:rPr lang="en-US" altLang="en-US"/>
              <a:t>The study of Algorithms includes many important and active areas of research which one can identify as:</a:t>
            </a:r>
          </a:p>
          <a:p>
            <a:pPr algn="just"/>
            <a:r>
              <a:rPr lang="en-US" altLang="en-US"/>
              <a:t>How to devise Algorithms</a:t>
            </a:r>
          </a:p>
          <a:p>
            <a:pPr algn="just"/>
            <a:r>
              <a:rPr lang="en-US" altLang="en-US"/>
              <a:t>How to validate Algorithms</a:t>
            </a:r>
          </a:p>
          <a:p>
            <a:pPr algn="just"/>
            <a:r>
              <a:rPr lang="en-US" altLang="en-US"/>
              <a:t>How to analyze Algorithms</a:t>
            </a:r>
          </a:p>
          <a:p>
            <a:pPr algn="just"/>
            <a:r>
              <a:rPr lang="en-US" altLang="en-US"/>
              <a:t>How to test a Program</a:t>
            </a:r>
            <a:endParaRPr lang="en-I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6EEBD102-C64C-5C93-98F7-7CA6803E6D4D}"/>
              </a:ext>
            </a:extLst>
          </p:cNvPr>
          <p:cNvSpPr>
            <a:spLocks noGrp="1"/>
          </p:cNvSpPr>
          <p:nvPr>
            <p:ph type="title" idx="4294967295"/>
          </p:nvPr>
        </p:nvSpPr>
        <p:spPr>
          <a:xfrm>
            <a:off x="83976" y="-316010"/>
            <a:ext cx="10515600" cy="1325563"/>
          </a:xfrm>
        </p:spPr>
        <p:txBody>
          <a:bodyPr/>
          <a:lstStyle/>
          <a:p>
            <a:r>
              <a:rPr lang="en-US" altLang="en-US" dirty="0">
                <a:solidFill>
                  <a:schemeClr val="bg1"/>
                </a:solidFill>
              </a:rPr>
              <a:t>Space Complexity</a:t>
            </a:r>
            <a:endParaRPr lang="en-IN" altLang="en-US" dirty="0">
              <a:solidFill>
                <a:schemeClr val="bg1"/>
              </a:solidFill>
            </a:endParaRPr>
          </a:p>
        </p:txBody>
      </p:sp>
      <p:sp>
        <p:nvSpPr>
          <p:cNvPr id="33795" name="Content Placeholder 2">
            <a:extLst>
              <a:ext uri="{FF2B5EF4-FFF2-40B4-BE49-F238E27FC236}">
                <a16:creationId xmlns:a16="http://schemas.microsoft.com/office/drawing/2014/main" id="{49DAAFAD-F67C-1EBC-7C91-245BA2DCF780}"/>
              </a:ext>
            </a:extLst>
          </p:cNvPr>
          <p:cNvSpPr>
            <a:spLocks noGrp="1"/>
          </p:cNvSpPr>
          <p:nvPr>
            <p:ph idx="4294967295"/>
          </p:nvPr>
        </p:nvSpPr>
        <p:spPr>
          <a:xfrm>
            <a:off x="0" y="1825625"/>
            <a:ext cx="10515600" cy="4351338"/>
          </a:xfrm>
        </p:spPr>
        <p:txBody>
          <a:bodyPr/>
          <a:lstStyle/>
          <a:p>
            <a:pPr algn="just"/>
            <a:r>
              <a:rPr lang="en-US" altLang="en-US"/>
              <a:t>The space complexity of an algorithm is the amount of memory it needs to run to completion.</a:t>
            </a:r>
            <a:endParaRPr lang="en-I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79067C56-CBC6-678B-5F09-7C9E9D0BE40D}"/>
              </a:ext>
            </a:extLst>
          </p:cNvPr>
          <p:cNvSpPr>
            <a:spLocks noGrp="1"/>
          </p:cNvSpPr>
          <p:nvPr>
            <p:ph type="title" idx="4294967295"/>
          </p:nvPr>
        </p:nvSpPr>
        <p:spPr>
          <a:xfrm>
            <a:off x="0" y="-185382"/>
            <a:ext cx="10515600" cy="1325563"/>
          </a:xfrm>
        </p:spPr>
        <p:txBody>
          <a:bodyPr/>
          <a:lstStyle/>
          <a:p>
            <a:r>
              <a:rPr lang="en-US" altLang="en-US" dirty="0">
                <a:solidFill>
                  <a:schemeClr val="bg1"/>
                </a:solidFill>
              </a:rPr>
              <a:t>Time Complexity</a:t>
            </a:r>
            <a:endParaRPr lang="en-IN" altLang="en-US" dirty="0">
              <a:solidFill>
                <a:schemeClr val="bg1"/>
              </a:solidFill>
            </a:endParaRPr>
          </a:p>
        </p:txBody>
      </p:sp>
      <p:sp>
        <p:nvSpPr>
          <p:cNvPr id="34819" name="Content Placeholder 2">
            <a:extLst>
              <a:ext uri="{FF2B5EF4-FFF2-40B4-BE49-F238E27FC236}">
                <a16:creationId xmlns:a16="http://schemas.microsoft.com/office/drawing/2014/main" id="{A1611C37-B24A-250B-47C7-25C3D8E7B0ED}"/>
              </a:ext>
            </a:extLst>
          </p:cNvPr>
          <p:cNvSpPr>
            <a:spLocks noGrp="1"/>
          </p:cNvSpPr>
          <p:nvPr>
            <p:ph idx="4294967295"/>
          </p:nvPr>
        </p:nvSpPr>
        <p:spPr>
          <a:xfrm>
            <a:off x="0" y="1825625"/>
            <a:ext cx="10515600" cy="4351338"/>
          </a:xfrm>
        </p:spPr>
        <p:txBody>
          <a:bodyPr/>
          <a:lstStyle/>
          <a:p>
            <a:pPr algn="just"/>
            <a:r>
              <a:rPr lang="en-US" altLang="en-US"/>
              <a:t>The time complexity of an algorithm is the amount of computer time it needs to run to completion.</a:t>
            </a:r>
            <a:endParaRPr lang="en-I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EC54535C-68F6-E0D7-D423-88C40BD922E6}"/>
              </a:ext>
            </a:extLst>
          </p:cNvPr>
          <p:cNvSpPr>
            <a:spLocks noGrp="1"/>
          </p:cNvSpPr>
          <p:nvPr>
            <p:ph type="title" idx="4294967295"/>
          </p:nvPr>
        </p:nvSpPr>
        <p:spPr>
          <a:xfrm>
            <a:off x="139960" y="-269357"/>
            <a:ext cx="10515600" cy="1325563"/>
          </a:xfrm>
        </p:spPr>
        <p:txBody>
          <a:bodyPr/>
          <a:lstStyle/>
          <a:p>
            <a:r>
              <a:rPr lang="en-US" altLang="en-US" dirty="0">
                <a:solidFill>
                  <a:schemeClr val="bg1"/>
                </a:solidFill>
              </a:rPr>
              <a:t>Performance Evaluation</a:t>
            </a:r>
            <a:endParaRPr lang="en-IN" altLang="en-US" dirty="0">
              <a:solidFill>
                <a:schemeClr val="bg1"/>
              </a:solidFill>
            </a:endParaRPr>
          </a:p>
        </p:txBody>
      </p:sp>
      <p:sp>
        <p:nvSpPr>
          <p:cNvPr id="35843" name="Content Placeholder 2">
            <a:extLst>
              <a:ext uri="{FF2B5EF4-FFF2-40B4-BE49-F238E27FC236}">
                <a16:creationId xmlns:a16="http://schemas.microsoft.com/office/drawing/2014/main" id="{9851BC8E-250C-0576-8F0E-A6991EEC9090}"/>
              </a:ext>
            </a:extLst>
          </p:cNvPr>
          <p:cNvSpPr>
            <a:spLocks noGrp="1"/>
          </p:cNvSpPr>
          <p:nvPr>
            <p:ph idx="4294967295"/>
          </p:nvPr>
        </p:nvSpPr>
        <p:spPr>
          <a:xfrm>
            <a:off x="0" y="1825625"/>
            <a:ext cx="10515600" cy="4351338"/>
          </a:xfrm>
        </p:spPr>
        <p:txBody>
          <a:bodyPr/>
          <a:lstStyle/>
          <a:p>
            <a:r>
              <a:rPr lang="en-US" altLang="en-US"/>
              <a:t>It can be loosely divided into two major phases:</a:t>
            </a:r>
          </a:p>
          <a:p>
            <a:r>
              <a:rPr lang="en-US" altLang="en-US"/>
              <a:t>1. a-priori estimate – also known as performance analysis</a:t>
            </a:r>
          </a:p>
          <a:p>
            <a:r>
              <a:rPr lang="en-US" altLang="en-US"/>
              <a:t>2. a posteriori testing – also known as performance measurement.</a:t>
            </a:r>
            <a:endParaRPr lang="en-I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A0BBF70C-97F1-F5F7-60DB-BEF339E3C9CC}"/>
              </a:ext>
            </a:extLst>
          </p:cNvPr>
          <p:cNvSpPr>
            <a:spLocks noGrp="1"/>
          </p:cNvSpPr>
          <p:nvPr>
            <p:ph type="title" idx="4294967295"/>
          </p:nvPr>
        </p:nvSpPr>
        <p:spPr>
          <a:xfrm>
            <a:off x="65314" y="-278687"/>
            <a:ext cx="10515600" cy="1325563"/>
          </a:xfrm>
        </p:spPr>
        <p:txBody>
          <a:bodyPr/>
          <a:lstStyle/>
          <a:p>
            <a:r>
              <a:rPr lang="en-US" altLang="en-US" dirty="0">
                <a:solidFill>
                  <a:schemeClr val="bg1"/>
                </a:solidFill>
              </a:rPr>
              <a:t>Performance Measurement</a:t>
            </a:r>
            <a:endParaRPr lang="en-IN" altLang="en-US" dirty="0">
              <a:solidFill>
                <a:schemeClr val="bg1"/>
              </a:solidFill>
            </a:endParaRPr>
          </a:p>
        </p:txBody>
      </p:sp>
      <p:sp>
        <p:nvSpPr>
          <p:cNvPr id="36867" name="Content Placeholder 2">
            <a:extLst>
              <a:ext uri="{FF2B5EF4-FFF2-40B4-BE49-F238E27FC236}">
                <a16:creationId xmlns:a16="http://schemas.microsoft.com/office/drawing/2014/main" id="{D88A41E8-83D1-CC5A-4CD4-19E37502495E}"/>
              </a:ext>
            </a:extLst>
          </p:cNvPr>
          <p:cNvSpPr>
            <a:spLocks noGrp="1"/>
          </p:cNvSpPr>
          <p:nvPr>
            <p:ph idx="4294967295"/>
          </p:nvPr>
        </p:nvSpPr>
        <p:spPr>
          <a:xfrm>
            <a:off x="0" y="1825625"/>
            <a:ext cx="10515600" cy="4351338"/>
          </a:xfrm>
        </p:spPr>
        <p:txBody>
          <a:bodyPr/>
          <a:lstStyle/>
          <a:p>
            <a:pPr algn="just"/>
            <a:r>
              <a:rPr lang="en-US" altLang="en-US"/>
              <a:t>It is concerned with obtaining the space and time requirements of a particular algorithm. </a:t>
            </a:r>
          </a:p>
          <a:p>
            <a:pPr algn="just"/>
            <a:r>
              <a:rPr lang="en-US" altLang="en-US"/>
              <a:t>These quantities depend on the compiler and options used as well as on the computer on which the algorithm is run.</a:t>
            </a:r>
            <a:endParaRPr lang="en-I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DA38-5B06-477F-A96E-A0E04D497C15}"/>
              </a:ext>
            </a:extLst>
          </p:cNvPr>
          <p:cNvSpPr>
            <a:spLocks noGrp="1"/>
          </p:cNvSpPr>
          <p:nvPr>
            <p:ph type="title" idx="4294967295"/>
          </p:nvPr>
        </p:nvSpPr>
        <p:spPr>
          <a:xfrm>
            <a:off x="0" y="116681"/>
            <a:ext cx="10668000" cy="1138238"/>
          </a:xfrm>
        </p:spPr>
        <p:txBody>
          <a:bodyPr>
            <a:normAutofit fontScale="90000"/>
          </a:bodyPr>
          <a:lstStyle/>
          <a:p>
            <a:r>
              <a:rPr lang="en-US" sz="4000" dirty="0">
                <a:solidFill>
                  <a:schemeClr val="bg1"/>
                </a:solidFill>
                <a:latin typeface="Calibri" pitchFamily="34" charset="0"/>
                <a:cs typeface="Calibri" pitchFamily="34" charset="0"/>
              </a:rPr>
              <a:t>Importance of Design and Analysis of Algorithm: </a:t>
            </a:r>
            <a:br>
              <a:rPr lang="en-US" sz="4000" b="0" dirty="0">
                <a:solidFill>
                  <a:schemeClr val="bg1"/>
                </a:solidFill>
                <a:latin typeface="Arial" panose="020B0604020202020204" pitchFamily="34" charset="0"/>
              </a:rPr>
            </a:br>
            <a:endParaRPr lang="en-IN" sz="4000" dirty="0">
              <a:solidFill>
                <a:schemeClr val="bg1"/>
              </a:solidFill>
            </a:endParaRPr>
          </a:p>
        </p:txBody>
      </p:sp>
      <p:sp>
        <p:nvSpPr>
          <p:cNvPr id="4" name="Slide Number Placeholder 3">
            <a:extLst>
              <a:ext uri="{FF2B5EF4-FFF2-40B4-BE49-F238E27FC236}">
                <a16:creationId xmlns:a16="http://schemas.microsoft.com/office/drawing/2014/main" id="{5BB82F6C-BF1D-425B-91C7-DD1519C6B3AE}"/>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35</a:t>
            </a:fld>
            <a:endParaRPr lang="en-US" altLang="en-US"/>
          </a:p>
        </p:txBody>
      </p:sp>
      <p:sp>
        <p:nvSpPr>
          <p:cNvPr id="5" name="Content Placeholder 4">
            <a:extLst>
              <a:ext uri="{FF2B5EF4-FFF2-40B4-BE49-F238E27FC236}">
                <a16:creationId xmlns:a16="http://schemas.microsoft.com/office/drawing/2014/main" id="{71417F1B-9BAB-4D82-A460-DA4A2E1CC818}"/>
              </a:ext>
            </a:extLst>
          </p:cNvPr>
          <p:cNvSpPr>
            <a:spLocks noGrp="1"/>
          </p:cNvSpPr>
          <p:nvPr>
            <p:ph idx="4294967295"/>
          </p:nvPr>
        </p:nvSpPr>
        <p:spPr>
          <a:xfrm>
            <a:off x="0" y="1066800"/>
            <a:ext cx="10972800" cy="5105400"/>
          </a:xfrm>
        </p:spPr>
        <p:txBody>
          <a:bodyPr>
            <a:normAutofit lnSpcReduction="10000"/>
          </a:bodyPr>
          <a:lstStyle/>
          <a:p>
            <a:pPr marL="0" indent="0">
              <a:buNone/>
            </a:pPr>
            <a:endParaRPr lang="en-US" dirty="0"/>
          </a:p>
          <a:p>
            <a:pPr algn="just"/>
            <a:r>
              <a:rPr lang="en-US" dirty="0">
                <a:latin typeface="Calibri" pitchFamily="34" charset="0"/>
                <a:cs typeface="Calibri" pitchFamily="34" charset="0"/>
              </a:rPr>
              <a:t>Design and Analysis of Algorithm </a:t>
            </a:r>
            <a:r>
              <a:rPr lang="en-US" b="1" dirty="0">
                <a:latin typeface="Calibri" pitchFamily="34" charset="0"/>
                <a:cs typeface="Calibri" pitchFamily="34" charset="0"/>
              </a:rPr>
              <a:t>help to design the algorithms for solving different types of problems in Computer Science</a:t>
            </a:r>
            <a:r>
              <a:rPr lang="en-US" dirty="0">
                <a:latin typeface="Calibri" pitchFamily="34" charset="0"/>
                <a:cs typeface="Calibri" pitchFamily="34" charset="0"/>
              </a:rPr>
              <a:t>.</a:t>
            </a:r>
          </a:p>
          <a:p>
            <a:pPr algn="just"/>
            <a:r>
              <a:rPr lang="en-US" dirty="0">
                <a:latin typeface="Calibri" pitchFamily="34" charset="0"/>
                <a:cs typeface="Calibri" pitchFamily="34" charset="0"/>
              </a:rPr>
              <a:t>The Algorithm gives a clear description of requirements and goal of the problem to the designer.</a:t>
            </a:r>
          </a:p>
          <a:p>
            <a:pPr algn="just"/>
            <a:r>
              <a:rPr lang="en-US" dirty="0">
                <a:latin typeface="Calibri" pitchFamily="34" charset="0"/>
                <a:cs typeface="Calibri" pitchFamily="34" charset="0"/>
              </a:rPr>
              <a:t>To measure the behavior (or performance) of the methods in all cases (best cases, worst cases, average cases).</a:t>
            </a:r>
          </a:p>
          <a:p>
            <a:pPr algn="just"/>
            <a:r>
              <a:rPr lang="en-US" dirty="0">
                <a:latin typeface="Calibri" pitchFamily="34" charset="0"/>
                <a:cs typeface="Calibri" pitchFamily="34" charset="0"/>
              </a:rPr>
              <a:t>With the help of an algorithm, we can also identify the resources (memory, input-output) cycles required by the algorithm.</a:t>
            </a:r>
          </a:p>
          <a:p>
            <a:pPr algn="just"/>
            <a:r>
              <a:rPr lang="en-US" dirty="0">
                <a:latin typeface="Calibri" pitchFamily="34" charset="0"/>
                <a:cs typeface="Calibri" pitchFamily="34" charset="0"/>
              </a:rPr>
              <a:t>We can measure and analyze the complexity (time and space) of the problems concerning input size without implementing and running it; it will reduce the cost of design.</a:t>
            </a:r>
          </a:p>
          <a:p>
            <a:endParaRPr lang="en-US" dirty="0"/>
          </a:p>
          <a:p>
            <a:endParaRPr lang="en-IN" dirty="0"/>
          </a:p>
        </p:txBody>
      </p:sp>
    </p:spTree>
    <p:extLst>
      <p:ext uri="{BB962C8B-B14F-4D97-AF65-F5344CB8AC3E}">
        <p14:creationId xmlns:p14="http://schemas.microsoft.com/office/powerpoint/2010/main" val="3863976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3820" y="-542926"/>
            <a:ext cx="10515600" cy="1325563"/>
          </a:xfrm>
        </p:spPr>
        <p:txBody>
          <a:bodyPr/>
          <a:lstStyle/>
          <a:p>
            <a:br>
              <a:rPr dirty="0">
                <a:solidFill>
                  <a:schemeClr val="bg1"/>
                </a:solidFill>
              </a:rPr>
            </a:br>
            <a:r>
              <a:rPr dirty="0">
                <a:solidFill>
                  <a:schemeClr val="bg1"/>
                </a:solidFill>
              </a:rPr>
              <a:t>Case Study 1:</a:t>
            </a:r>
            <a:endParaRPr lang="en-US" dirty="0">
              <a:solidFill>
                <a:schemeClr val="bg1"/>
              </a:solidFill>
            </a:endParaRPr>
          </a:p>
        </p:txBody>
      </p:sp>
      <p:sp>
        <p:nvSpPr>
          <p:cNvPr id="3" name="Content Placeholder 2"/>
          <p:cNvSpPr>
            <a:spLocks noGrp="1"/>
          </p:cNvSpPr>
          <p:nvPr>
            <p:ph idx="4294967295"/>
          </p:nvPr>
        </p:nvSpPr>
        <p:spPr>
          <a:xfrm>
            <a:off x="0" y="1282700"/>
            <a:ext cx="11160125" cy="1217613"/>
          </a:xfrm>
        </p:spPr>
        <p:txBody>
          <a:bodyPr/>
          <a:lstStyle/>
          <a:p>
            <a:pPr lvl="0">
              <a:buNone/>
            </a:pPr>
            <a:r>
              <a:rPr lang="en-IN" sz="3200" b="1" dirty="0">
                <a:latin typeface="Calibri" pitchFamily="34" charset="0"/>
                <a:cs typeface="Calibri" pitchFamily="34" charset="0"/>
              </a:rPr>
              <a:t>Dictionary</a:t>
            </a:r>
            <a:r>
              <a:rPr lang="en-IN" sz="3200" dirty="0">
                <a:latin typeface="Calibri" pitchFamily="34" charset="0"/>
                <a:cs typeface="Calibri" pitchFamily="34" charset="0"/>
              </a:rPr>
              <a:t>: - Find a word in a dictionary. We may apply the following approaches: -</a:t>
            </a:r>
            <a:r>
              <a:rPr lang="en-IN" sz="3600" dirty="0">
                <a:latin typeface="Calibri" pitchFamily="34" charset="0"/>
                <a:cs typeface="Calibri" pitchFamily="34" charset="0"/>
              </a:rPr>
              <a:t> </a:t>
            </a:r>
          </a:p>
          <a:p>
            <a:pPr lvl="0">
              <a:buNone/>
            </a:pPr>
            <a:endParaRPr lang="en-IN" sz="3600" dirty="0">
              <a:latin typeface="Calibri" pitchFamily="34" charset="0"/>
              <a:cs typeface="Calibri" pitchFamily="34" charset="0"/>
            </a:endParaRPr>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36</a:t>
            </a:fld>
            <a:endParaRPr lang="en-US" altLang="en-US"/>
          </a:p>
        </p:txBody>
      </p:sp>
      <p:sp>
        <p:nvSpPr>
          <p:cNvPr id="5" name="TextBox 4"/>
          <p:cNvSpPr txBox="1"/>
          <p:nvPr/>
        </p:nvSpPr>
        <p:spPr>
          <a:xfrm>
            <a:off x="238084" y="2500306"/>
            <a:ext cx="5143536" cy="584775"/>
          </a:xfrm>
          <a:prstGeom prst="rect">
            <a:avLst/>
          </a:prstGeom>
          <a:noFill/>
        </p:spPr>
        <p:txBody>
          <a:bodyPr wrap="square" rtlCol="0">
            <a:spAutoFit/>
          </a:bodyPr>
          <a:lstStyle/>
          <a:p>
            <a:pPr>
              <a:buNone/>
            </a:pPr>
            <a:r>
              <a:rPr lang="en-IN" sz="3200" b="1" dirty="0">
                <a:latin typeface="Calibri" pitchFamily="34" charset="0"/>
                <a:cs typeface="Calibri" pitchFamily="34" charset="0"/>
              </a:rPr>
              <a:t>Approach 1: </a:t>
            </a:r>
            <a:r>
              <a:rPr lang="en-IN" sz="3200" dirty="0">
                <a:latin typeface="Calibri" pitchFamily="34" charset="0"/>
                <a:cs typeface="Calibri" pitchFamily="34" charset="0"/>
              </a:rPr>
              <a:t>Linear Search</a:t>
            </a:r>
            <a:endParaRPr lang="en-US" sz="3200" dirty="0">
              <a:latin typeface="Calibri" pitchFamily="34" charset="0"/>
              <a:cs typeface="Calibri" pitchFamily="34" charset="0"/>
            </a:endParaRPr>
          </a:p>
        </p:txBody>
      </p:sp>
      <p:sp>
        <p:nvSpPr>
          <p:cNvPr id="7" name="TextBox 6"/>
          <p:cNvSpPr txBox="1"/>
          <p:nvPr/>
        </p:nvSpPr>
        <p:spPr>
          <a:xfrm>
            <a:off x="6453190" y="2500306"/>
            <a:ext cx="5286412" cy="584775"/>
          </a:xfrm>
          <a:prstGeom prst="rect">
            <a:avLst/>
          </a:prstGeom>
          <a:noFill/>
        </p:spPr>
        <p:txBody>
          <a:bodyPr wrap="square" rtlCol="0">
            <a:spAutoFit/>
          </a:bodyPr>
          <a:lstStyle/>
          <a:p>
            <a:r>
              <a:rPr lang="en-IN" sz="3200" b="1" dirty="0">
                <a:latin typeface="Calibri" pitchFamily="34" charset="0"/>
                <a:cs typeface="Calibri" pitchFamily="34" charset="0"/>
              </a:rPr>
              <a:t>Approach 2: </a:t>
            </a:r>
            <a:r>
              <a:rPr lang="en-IN" sz="3200" dirty="0">
                <a:latin typeface="Calibri" pitchFamily="34" charset="0"/>
                <a:cs typeface="Calibri" pitchFamily="34" charset="0"/>
              </a:rPr>
              <a:t>Binary Search</a:t>
            </a:r>
          </a:p>
        </p:txBody>
      </p:sp>
      <p:pic>
        <p:nvPicPr>
          <p:cNvPr id="8" name="Picture 7" descr="C:\Users\ravik\Downloads\dict.jpg"/>
          <p:cNvPicPr/>
          <p:nvPr/>
        </p:nvPicPr>
        <p:blipFill>
          <a:blip r:embed="rId2"/>
          <a:srcRect/>
          <a:stretch>
            <a:fillRect/>
          </a:stretch>
        </p:blipFill>
        <p:spPr bwMode="auto">
          <a:xfrm>
            <a:off x="2524100" y="3500438"/>
            <a:ext cx="7500990" cy="2357454"/>
          </a:xfrm>
          <a:prstGeom prst="rect">
            <a:avLst/>
          </a:prstGeom>
          <a:noFill/>
          <a:ln w="9525">
            <a:noFill/>
            <a:miter lim="800000"/>
            <a:headEnd/>
            <a:tailEnd/>
          </a:ln>
        </p:spPr>
      </p:pic>
    </p:spTree>
    <p:extLst>
      <p:ext uri="{BB962C8B-B14F-4D97-AF65-F5344CB8AC3E}">
        <p14:creationId xmlns:p14="http://schemas.microsoft.com/office/powerpoint/2010/main" val="25869887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913938" cy="1017588"/>
          </a:xfrm>
        </p:spPr>
        <p:txBody>
          <a:bodyPr/>
          <a:lstStyle/>
          <a:p>
            <a:r>
              <a:rPr dirty="0">
                <a:solidFill>
                  <a:schemeClr val="bg1"/>
                </a:solidFill>
              </a:rPr>
              <a:t>Case Study 2:</a:t>
            </a:r>
            <a:endParaRPr lang="en-US" dirty="0">
              <a:solidFill>
                <a:schemeClr val="bg1"/>
              </a:solidFill>
            </a:endParaRPr>
          </a:p>
        </p:txBody>
      </p:sp>
      <p:sp>
        <p:nvSpPr>
          <p:cNvPr id="3" name="Content Placeholder 2"/>
          <p:cNvSpPr>
            <a:spLocks noGrp="1"/>
          </p:cNvSpPr>
          <p:nvPr>
            <p:ph idx="4294967295"/>
          </p:nvPr>
        </p:nvSpPr>
        <p:spPr>
          <a:xfrm>
            <a:off x="0" y="981075"/>
            <a:ext cx="10972800" cy="5575300"/>
          </a:xfrm>
        </p:spPr>
        <p:txBody>
          <a:bodyPr>
            <a:normAutofit fontScale="92500" lnSpcReduction="20000"/>
          </a:bodyPr>
          <a:lstStyle/>
          <a:p>
            <a:pPr lvl="0" algn="just">
              <a:buNone/>
            </a:pPr>
            <a:r>
              <a:rPr lang="en-IN" b="1" dirty="0">
                <a:latin typeface="Calibri" pitchFamily="34" charset="0"/>
                <a:cs typeface="Calibri" pitchFamily="34" charset="0"/>
              </a:rPr>
              <a:t>   (ii) Google Maps</a:t>
            </a:r>
            <a:r>
              <a:rPr lang="en-IN" dirty="0">
                <a:latin typeface="Calibri" pitchFamily="34" charset="0"/>
                <a:cs typeface="Calibri" pitchFamily="34" charset="0"/>
              </a:rPr>
              <a:t>: - Google maps to find the shortest path from place A to place B. Google maps also use the shortest route-finding algorithm. The Google map is based on a single-source shortest path algorithm (Dijkstra's  algorithm).</a:t>
            </a:r>
            <a:endParaRPr lang="en-US" dirty="0">
              <a:latin typeface="Calibri" pitchFamily="34" charset="0"/>
              <a:cs typeface="Calibri" pitchFamily="34" charset="0"/>
            </a:endParaRPr>
          </a:p>
          <a:p>
            <a:endParaRPr lang="en-IN" dirty="0"/>
          </a:p>
          <a:p>
            <a:endParaRPr lang="en-IN" dirty="0"/>
          </a:p>
          <a:p>
            <a:endParaRPr lang="en-IN" dirty="0"/>
          </a:p>
          <a:p>
            <a:endParaRPr lang="en-IN" dirty="0"/>
          </a:p>
          <a:p>
            <a:endParaRPr lang="en-IN" dirty="0"/>
          </a:p>
          <a:p>
            <a:endParaRPr lang="en-IN" dirty="0"/>
          </a:p>
          <a:p>
            <a:endParaRPr lang="en-IN" dirty="0"/>
          </a:p>
          <a:p>
            <a:pPr>
              <a:buNone/>
            </a:pPr>
            <a:r>
              <a:rPr lang="en-IN" dirty="0"/>
              <a:t>			</a:t>
            </a:r>
            <a:endParaRPr lang="en-US" dirty="0"/>
          </a:p>
          <a:p>
            <a:endParaRPr lang="en-IN" dirty="0"/>
          </a:p>
          <a:p>
            <a:pPr>
              <a:buNone/>
            </a:pPr>
            <a:r>
              <a:rPr lang="en-IN" dirty="0"/>
              <a:t>				</a:t>
            </a:r>
            <a:endParaRPr lang="en-US" dirty="0"/>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37</a:t>
            </a:fld>
            <a:endParaRPr lang="en-US" altLang="en-US"/>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881290" y="2643182"/>
            <a:ext cx="7715304" cy="3143272"/>
          </a:xfrm>
          <a:prstGeom prst="rect">
            <a:avLst/>
          </a:prstGeom>
          <a:noFill/>
          <a:ln>
            <a:noFill/>
          </a:ln>
        </p:spPr>
      </p:pic>
      <p:sp>
        <p:nvSpPr>
          <p:cNvPr id="1026" name="Curved Down Arrow 46"/>
          <p:cNvSpPr>
            <a:spLocks/>
          </p:cNvSpPr>
          <p:nvPr/>
        </p:nvSpPr>
        <p:spPr bwMode="auto">
          <a:xfrm rot="-3242449">
            <a:off x="3548691" y="3428635"/>
            <a:ext cx="1831975" cy="1171208"/>
          </a:xfrm>
          <a:prstGeom prst="curvedDownArrow">
            <a:avLst>
              <a:gd name="adj1" fmla="val 13846"/>
              <a:gd name="adj2" fmla="val 49967"/>
              <a:gd name="adj3" fmla="val 25000"/>
            </a:avLst>
          </a:prstGeom>
          <a:solidFill>
            <a:srgbClr val="92278F"/>
          </a:solidFill>
          <a:ln w="19050">
            <a:solidFill>
              <a:srgbClr val="481346"/>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027" name="Notched Right Arrow 48"/>
          <p:cNvSpPr>
            <a:spLocks/>
          </p:cNvSpPr>
          <p:nvPr/>
        </p:nvSpPr>
        <p:spPr bwMode="auto">
          <a:xfrm>
            <a:off x="2809852" y="4786322"/>
            <a:ext cx="1341442" cy="357190"/>
          </a:xfrm>
          <a:prstGeom prst="notchedRightArrow">
            <a:avLst>
              <a:gd name="adj1" fmla="val 50000"/>
              <a:gd name="adj2" fmla="val 49803"/>
            </a:avLst>
          </a:prstGeom>
          <a:solidFill>
            <a:srgbClr val="92278F"/>
          </a:solidFill>
          <a:ln w="19050">
            <a:solidFill>
              <a:srgbClr val="481346"/>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952464" y="4572008"/>
          <a:ext cx="1857388" cy="914400"/>
        </p:xfrm>
        <a:graphic>
          <a:graphicData uri="http://schemas.openxmlformats.org/drawingml/2006/table">
            <a:tbl>
              <a:tblPr firstRow="1" bandRow="1">
                <a:tableStyleId>{5C22544A-7EE6-4342-B048-85BDC9FD1C3A}</a:tableStyleId>
              </a:tblPr>
              <a:tblGrid>
                <a:gridCol w="1857388">
                  <a:extLst>
                    <a:ext uri="{9D8B030D-6E8A-4147-A177-3AD203B41FA5}">
                      <a16:colId xmlns:a16="http://schemas.microsoft.com/office/drawing/2014/main" val="20000"/>
                    </a:ext>
                  </a:extLst>
                </a:gridCol>
              </a:tblGrid>
              <a:tr h="78581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Shortest Route as per time </a:t>
                      </a:r>
                    </a:p>
                    <a:p>
                      <a:endParaRPr lang="en-US"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62096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70DDE78E-B150-43FA-B8BC-938F06DC96EB}" type="slidenum">
              <a:rPr lang="en-US" altLang="en-US" sz="1200">
                <a:solidFill>
                  <a:schemeClr val="bg1"/>
                </a:solidFill>
              </a:rPr>
              <a:pPr>
                <a:spcBef>
                  <a:spcPct val="0"/>
                </a:spcBef>
                <a:buClrTx/>
                <a:buFontTx/>
                <a:buNone/>
              </a:pPr>
              <a:t>38</a:t>
            </a:fld>
            <a:endParaRPr lang="en-US" altLang="en-US" sz="1200">
              <a:solidFill>
                <a:schemeClr val="bg1"/>
              </a:solidFill>
            </a:endParaRPr>
          </a:p>
        </p:txBody>
      </p:sp>
      <p:sp>
        <p:nvSpPr>
          <p:cNvPr id="22532" name="Content Placeholder 2"/>
          <p:cNvSpPr>
            <a:spLocks noGrp="1"/>
          </p:cNvSpPr>
          <p:nvPr>
            <p:ph idx="4294967295"/>
          </p:nvPr>
        </p:nvSpPr>
        <p:spPr>
          <a:xfrm>
            <a:off x="0" y="1125538"/>
            <a:ext cx="11233150" cy="4881562"/>
          </a:xfrm>
        </p:spPr>
        <p:txBody>
          <a:bodyPr/>
          <a:lstStyle/>
          <a:p>
            <a:pPr algn="just">
              <a:lnSpc>
                <a:spcPct val="115000"/>
              </a:lnSpc>
              <a:spcAft>
                <a:spcPts val="800"/>
              </a:spcAft>
              <a:tabLst>
                <a:tab pos="57150" algn="l"/>
              </a:tabLst>
            </a:pPr>
            <a:r>
              <a:rPr lang="en-IN" sz="2800" dirty="0">
                <a:effectLst/>
                <a:latin typeface="Calibri" panose="020F0502020204030204" pitchFamily="34" charset="0"/>
                <a:ea typeface="Corbel" panose="020B0503020204020204" pitchFamily="34" charset="0"/>
                <a:cs typeface="Calibri" pitchFamily="34" charset="0"/>
              </a:rPr>
              <a:t>An algorithm is any well-defined computational procedure that takes some value, or set of values, as input and produces some value, or set of values, as output. </a:t>
            </a:r>
          </a:p>
          <a:p>
            <a:pPr algn="just">
              <a:lnSpc>
                <a:spcPct val="115000"/>
              </a:lnSpc>
              <a:spcAft>
                <a:spcPts val="800"/>
              </a:spcAft>
              <a:tabLst>
                <a:tab pos="57150" algn="l"/>
              </a:tabLst>
            </a:pPr>
            <a:r>
              <a:rPr lang="en-IN" sz="2800" dirty="0">
                <a:effectLst/>
                <a:latin typeface="Calibri" panose="020F0502020204030204" pitchFamily="34" charset="0"/>
                <a:ea typeface="Corbel" panose="020B0503020204020204" pitchFamily="34" charset="0"/>
                <a:cs typeface="Calibri" pitchFamily="34" charset="0"/>
              </a:rPr>
              <a:t>An algorithm is thus a sequence of computational steps that transform the input into the output.</a:t>
            </a:r>
          </a:p>
          <a:p>
            <a:pPr eaLnBrk="1" hangingPunct="1">
              <a:spcBef>
                <a:spcPts val="100"/>
              </a:spcBef>
              <a:buFont typeface="Wingdings" panose="05000000000000000000" pitchFamily="2" charset="2"/>
              <a:buChar char="§"/>
            </a:pPr>
            <a:endParaRPr lang="en-US" altLang="en-US" sz="1600" b="1" dirty="0"/>
          </a:p>
        </p:txBody>
      </p:sp>
      <p:sp>
        <p:nvSpPr>
          <p:cNvPr id="8" name="Title 7"/>
          <p:cNvSpPr>
            <a:spLocks noGrp="1"/>
          </p:cNvSpPr>
          <p:nvPr>
            <p:ph type="title" idx="4294967295"/>
          </p:nvPr>
        </p:nvSpPr>
        <p:spPr>
          <a:xfrm>
            <a:off x="74645" y="-288018"/>
            <a:ext cx="10515600" cy="1325563"/>
          </a:xfrm>
        </p:spPr>
        <p:txBody>
          <a:bodyPr/>
          <a:lstStyle/>
          <a:p>
            <a:r>
              <a:rPr dirty="0">
                <a:solidFill>
                  <a:schemeClr val="bg1"/>
                </a:solidFill>
              </a:rPr>
              <a:t>Definition of Algorithm</a:t>
            </a:r>
            <a:endParaRPr lang="en-US" dirty="0">
              <a:solidFill>
                <a:schemeClr val="bg1"/>
              </a:solidFill>
            </a:endParaRPr>
          </a:p>
        </p:txBody>
      </p:sp>
      <p:pic>
        <p:nvPicPr>
          <p:cNvPr id="5" name="Picture 4" descr="Informal definition of an algorithm used in a computer - nutncsie11012">
            <a:extLst>
              <a:ext uri="{FF2B5EF4-FFF2-40B4-BE49-F238E27FC236}">
                <a16:creationId xmlns:a16="http://schemas.microsoft.com/office/drawing/2014/main" id="{877653A9-2603-497E-988E-E3B37C153F1F}"/>
              </a:ext>
            </a:extLst>
          </p:cNvPr>
          <p:cNvPicPr/>
          <p:nvPr/>
        </p:nvPicPr>
        <p:blipFill>
          <a:blip r:embed="rId3"/>
          <a:stretch>
            <a:fillRect/>
          </a:stretch>
        </p:blipFill>
        <p:spPr bwMode="auto">
          <a:xfrm>
            <a:off x="1447470" y="4050754"/>
            <a:ext cx="4724400" cy="2114550"/>
          </a:xfrm>
          <a:prstGeom prst="rect">
            <a:avLst/>
          </a:prstGeom>
          <a:noFill/>
          <a:ln w="9525">
            <a:noFill/>
            <a:miter lim="800000"/>
            <a:headEnd/>
            <a:tailEnd/>
          </a:ln>
        </p:spPr>
      </p:pic>
      <p:pic>
        <p:nvPicPr>
          <p:cNvPr id="7" name="Picture 2">
            <a:extLst>
              <a:ext uri="{FF2B5EF4-FFF2-40B4-BE49-F238E27FC236}">
                <a16:creationId xmlns:a16="http://schemas.microsoft.com/office/drawing/2014/main" id="{987FE418-216B-4FD9-B575-F9424326F7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1576" y="3908673"/>
            <a:ext cx="3429000" cy="2256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757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FE73D-D06F-4BAE-8007-5982FA4468A6}"/>
              </a:ext>
            </a:extLst>
          </p:cNvPr>
          <p:cNvSpPr>
            <a:spLocks noGrp="1"/>
          </p:cNvSpPr>
          <p:nvPr>
            <p:ph type="title" idx="4294967295"/>
          </p:nvPr>
        </p:nvSpPr>
        <p:spPr>
          <a:xfrm>
            <a:off x="0" y="-6350"/>
            <a:ext cx="9915525" cy="1017588"/>
          </a:xfrm>
        </p:spPr>
        <p:txBody>
          <a:bodyPr/>
          <a:lstStyle/>
          <a:p>
            <a:r>
              <a:rPr lang="en-IN" dirty="0">
                <a:solidFill>
                  <a:schemeClr val="bg1"/>
                </a:solidFill>
              </a:rPr>
              <a:t>How to Write Algorithm?</a:t>
            </a:r>
          </a:p>
        </p:txBody>
      </p:sp>
      <p:sp>
        <p:nvSpPr>
          <p:cNvPr id="3" name="Content Placeholder 2">
            <a:extLst>
              <a:ext uri="{FF2B5EF4-FFF2-40B4-BE49-F238E27FC236}">
                <a16:creationId xmlns:a16="http://schemas.microsoft.com/office/drawing/2014/main" id="{E0035E6E-CC89-43FA-8838-C2BAF1E4B86F}"/>
              </a:ext>
            </a:extLst>
          </p:cNvPr>
          <p:cNvSpPr>
            <a:spLocks noGrp="1"/>
          </p:cNvSpPr>
          <p:nvPr>
            <p:ph idx="4294967295"/>
          </p:nvPr>
        </p:nvSpPr>
        <p:spPr>
          <a:xfrm>
            <a:off x="0" y="1825625"/>
            <a:ext cx="10515600" cy="4351338"/>
          </a:xfrm>
        </p:spPr>
        <p:txBody>
          <a:bodyPr/>
          <a:lstStyle/>
          <a:p>
            <a:r>
              <a:rPr lang="en-IN" sz="3200" dirty="0">
                <a:latin typeface="Calibri" pitchFamily="34" charset="0"/>
                <a:cs typeface="Calibri" pitchFamily="34" charset="0"/>
              </a:rPr>
              <a:t>Natural Language</a:t>
            </a:r>
          </a:p>
          <a:p>
            <a:endParaRPr lang="en-IN" sz="3200" dirty="0">
              <a:latin typeface="Calibri" pitchFamily="34" charset="0"/>
              <a:cs typeface="Calibri" pitchFamily="34" charset="0"/>
            </a:endParaRPr>
          </a:p>
          <a:p>
            <a:r>
              <a:rPr lang="en-IN" sz="3200" dirty="0">
                <a:latin typeface="Calibri" pitchFamily="34" charset="0"/>
                <a:cs typeface="Calibri" pitchFamily="34" charset="0"/>
              </a:rPr>
              <a:t>Flow Chart</a:t>
            </a:r>
          </a:p>
          <a:p>
            <a:endParaRPr lang="en-IN" sz="3200" dirty="0">
              <a:latin typeface="Calibri" pitchFamily="34" charset="0"/>
              <a:cs typeface="Calibri" pitchFamily="34" charset="0"/>
            </a:endParaRPr>
          </a:p>
          <a:p>
            <a:r>
              <a:rPr lang="en-IN" sz="3200" dirty="0">
                <a:latin typeface="Calibri" pitchFamily="34" charset="0"/>
                <a:cs typeface="Calibri" pitchFamily="34" charset="0"/>
              </a:rPr>
              <a:t>Programming Language</a:t>
            </a:r>
          </a:p>
          <a:p>
            <a:pPr marL="0" indent="0">
              <a:buNone/>
            </a:pPr>
            <a:endParaRPr lang="en-IN" sz="3200" dirty="0">
              <a:latin typeface="Calibri" pitchFamily="34" charset="0"/>
              <a:cs typeface="Calibri" pitchFamily="34" charset="0"/>
            </a:endParaRPr>
          </a:p>
          <a:p>
            <a:r>
              <a:rPr lang="en-IN" sz="3200" dirty="0">
                <a:latin typeface="Calibri" pitchFamily="34" charset="0"/>
                <a:cs typeface="Calibri" pitchFamily="34" charset="0"/>
              </a:rPr>
              <a:t>Pseudo code</a:t>
            </a:r>
          </a:p>
          <a:p>
            <a:endParaRPr lang="en-IN" dirty="0"/>
          </a:p>
        </p:txBody>
      </p:sp>
      <p:sp>
        <p:nvSpPr>
          <p:cNvPr id="4" name="Slide Number Placeholder 3">
            <a:extLst>
              <a:ext uri="{FF2B5EF4-FFF2-40B4-BE49-F238E27FC236}">
                <a16:creationId xmlns:a16="http://schemas.microsoft.com/office/drawing/2014/main" id="{B339D407-5F23-41FB-B6AA-FE3101376432}"/>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39</a:t>
            </a:fld>
            <a:endParaRPr lang="en-US" altLang="en-US"/>
          </a:p>
        </p:txBody>
      </p:sp>
    </p:spTree>
    <p:extLst>
      <p:ext uri="{BB962C8B-B14F-4D97-AF65-F5344CB8AC3E}">
        <p14:creationId xmlns:p14="http://schemas.microsoft.com/office/powerpoint/2010/main" val="1688237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2258-1B06-4195-BC7E-5270E3067BD3}"/>
              </a:ext>
            </a:extLst>
          </p:cNvPr>
          <p:cNvSpPr>
            <a:spLocks noGrp="1"/>
          </p:cNvSpPr>
          <p:nvPr>
            <p:ph type="title" idx="4294967295"/>
          </p:nvPr>
        </p:nvSpPr>
        <p:spPr>
          <a:xfrm>
            <a:off x="0" y="-31750"/>
            <a:ext cx="10615613" cy="1017588"/>
          </a:xfrm>
        </p:spPr>
        <p:txBody>
          <a:bodyPr/>
          <a:lstStyle/>
          <a:p>
            <a:r>
              <a:rPr lang="en-IN" dirty="0">
                <a:solidFill>
                  <a:schemeClr val="bg1"/>
                </a:solidFill>
              </a:rPr>
              <a:t>Natural Language                              Flow Chart</a:t>
            </a:r>
          </a:p>
        </p:txBody>
      </p:sp>
      <p:sp>
        <p:nvSpPr>
          <p:cNvPr id="4" name="Slide Number Placeholder 3">
            <a:extLst>
              <a:ext uri="{FF2B5EF4-FFF2-40B4-BE49-F238E27FC236}">
                <a16:creationId xmlns:a16="http://schemas.microsoft.com/office/drawing/2014/main" id="{A5012DDE-DCAF-460F-A25D-732406A9B759}"/>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40</a:t>
            </a:fld>
            <a:endParaRPr lang="en-US" altLang="en-US"/>
          </a:p>
        </p:txBody>
      </p:sp>
      <p:sp>
        <p:nvSpPr>
          <p:cNvPr id="5" name="Content Placeholder 4">
            <a:extLst>
              <a:ext uri="{FF2B5EF4-FFF2-40B4-BE49-F238E27FC236}">
                <a16:creationId xmlns:a16="http://schemas.microsoft.com/office/drawing/2014/main" id="{9C7F9F22-F5FE-4DB3-B50F-523D72FE5702}"/>
              </a:ext>
            </a:extLst>
          </p:cNvPr>
          <p:cNvSpPr>
            <a:spLocks noGrp="1"/>
          </p:cNvSpPr>
          <p:nvPr>
            <p:ph idx="4294967295"/>
          </p:nvPr>
        </p:nvSpPr>
        <p:spPr>
          <a:xfrm>
            <a:off x="0" y="1524000"/>
            <a:ext cx="5032375" cy="442595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lnSpc>
                <a:spcPct val="107000"/>
              </a:lnSpc>
              <a:spcAft>
                <a:spcPts val="800"/>
              </a:spcAft>
            </a:pPr>
            <a:r>
              <a:rPr lang="en-IN" sz="2000" b="1" dirty="0">
                <a:effectLst/>
                <a:latin typeface="Calibri" pitchFamily="34" charset="0"/>
                <a:ea typeface="Corbel" panose="020B0503020204020204" pitchFamily="34" charset="0"/>
                <a:cs typeface="Calibri" pitchFamily="34" charset="0"/>
              </a:rPr>
              <a:t>Step 1: Start</a:t>
            </a:r>
            <a:endParaRPr lang="en-IN" sz="2000" dirty="0">
              <a:effectLst/>
              <a:latin typeface="Calibri" pitchFamily="34" charset="0"/>
              <a:ea typeface="Corbel" panose="020B0503020204020204" pitchFamily="34" charset="0"/>
              <a:cs typeface="Calibri" pitchFamily="34" charset="0"/>
            </a:endParaRPr>
          </a:p>
          <a:p>
            <a:pPr algn="just">
              <a:lnSpc>
                <a:spcPct val="107000"/>
              </a:lnSpc>
              <a:spcAft>
                <a:spcPts val="800"/>
              </a:spcAft>
            </a:pPr>
            <a:r>
              <a:rPr lang="en-IN" sz="2000" b="1" dirty="0">
                <a:effectLst/>
                <a:latin typeface="Calibri" pitchFamily="34" charset="0"/>
                <a:ea typeface="Corbel" panose="020B0503020204020204" pitchFamily="34" charset="0"/>
                <a:cs typeface="Calibri" pitchFamily="34" charset="0"/>
              </a:rPr>
              <a:t>Step 2: Declare variables a, b and sum.</a:t>
            </a:r>
            <a:endParaRPr lang="en-IN" sz="2000" dirty="0">
              <a:effectLst/>
              <a:latin typeface="Calibri" pitchFamily="34" charset="0"/>
              <a:ea typeface="Corbel" panose="020B0503020204020204" pitchFamily="34" charset="0"/>
              <a:cs typeface="Calibri" pitchFamily="34" charset="0"/>
            </a:endParaRPr>
          </a:p>
          <a:p>
            <a:pPr algn="just">
              <a:lnSpc>
                <a:spcPct val="107000"/>
              </a:lnSpc>
              <a:spcAft>
                <a:spcPts val="800"/>
              </a:spcAft>
            </a:pPr>
            <a:r>
              <a:rPr lang="en-IN" sz="2000" b="1" dirty="0">
                <a:effectLst/>
                <a:latin typeface="Calibri" pitchFamily="34" charset="0"/>
                <a:ea typeface="Corbel" panose="020B0503020204020204" pitchFamily="34" charset="0"/>
                <a:cs typeface="Calibri" pitchFamily="34" charset="0"/>
              </a:rPr>
              <a:t>Step 3: Read values for a and b.</a:t>
            </a:r>
            <a:endParaRPr lang="en-IN" sz="2000" dirty="0">
              <a:effectLst/>
              <a:latin typeface="Calibri" pitchFamily="34" charset="0"/>
              <a:ea typeface="Corbel" panose="020B0503020204020204" pitchFamily="34" charset="0"/>
              <a:cs typeface="Calibri" pitchFamily="34" charset="0"/>
            </a:endParaRPr>
          </a:p>
          <a:p>
            <a:pPr algn="just">
              <a:lnSpc>
                <a:spcPct val="107000"/>
              </a:lnSpc>
              <a:spcAft>
                <a:spcPts val="800"/>
              </a:spcAft>
            </a:pPr>
            <a:r>
              <a:rPr lang="en-IN" sz="2000" b="1" dirty="0">
                <a:effectLst/>
                <a:latin typeface="Calibri" pitchFamily="34" charset="0"/>
                <a:ea typeface="Corbel" panose="020B0503020204020204" pitchFamily="34" charset="0"/>
                <a:cs typeface="Calibri" pitchFamily="34" charset="0"/>
              </a:rPr>
              <a:t>Step 4: Add a and b and assign the result to a variable sum.</a:t>
            </a:r>
            <a:endParaRPr lang="en-IN" sz="2000" dirty="0">
              <a:effectLst/>
              <a:latin typeface="Calibri" pitchFamily="34" charset="0"/>
              <a:ea typeface="Corbel" panose="020B0503020204020204" pitchFamily="34" charset="0"/>
              <a:cs typeface="Calibri" pitchFamily="34" charset="0"/>
            </a:endParaRPr>
          </a:p>
          <a:p>
            <a:pPr algn="just">
              <a:lnSpc>
                <a:spcPct val="107000"/>
              </a:lnSpc>
              <a:spcAft>
                <a:spcPts val="800"/>
              </a:spcAft>
            </a:pPr>
            <a:r>
              <a:rPr lang="en-IN" sz="2000" b="1" dirty="0">
                <a:effectLst/>
                <a:latin typeface="Calibri" pitchFamily="34" charset="0"/>
                <a:ea typeface="Corbel" panose="020B0503020204020204" pitchFamily="34" charset="0"/>
                <a:cs typeface="Calibri" pitchFamily="34" charset="0"/>
              </a:rPr>
              <a:t>Step 5: Display sum</a:t>
            </a:r>
            <a:endParaRPr lang="en-IN" sz="2000" dirty="0">
              <a:effectLst/>
              <a:latin typeface="Calibri" pitchFamily="34" charset="0"/>
              <a:ea typeface="Corbel" panose="020B0503020204020204" pitchFamily="34" charset="0"/>
              <a:cs typeface="Calibri" pitchFamily="34" charset="0"/>
            </a:endParaRPr>
          </a:p>
          <a:p>
            <a:pPr algn="just">
              <a:lnSpc>
                <a:spcPct val="107000"/>
              </a:lnSpc>
              <a:spcAft>
                <a:spcPts val="800"/>
              </a:spcAft>
            </a:pPr>
            <a:r>
              <a:rPr lang="en-IN" sz="2000" b="1" dirty="0">
                <a:effectLst/>
                <a:latin typeface="Calibri" pitchFamily="34" charset="0"/>
                <a:ea typeface="Corbel" panose="020B0503020204020204" pitchFamily="34" charset="0"/>
                <a:cs typeface="Calibri" pitchFamily="34" charset="0"/>
              </a:rPr>
              <a:t>Step 6: Stop</a:t>
            </a:r>
            <a:endParaRPr lang="en-IN" sz="2000" dirty="0">
              <a:effectLst/>
              <a:latin typeface="Calibri" pitchFamily="34" charset="0"/>
              <a:ea typeface="Corbel" panose="020B0503020204020204" pitchFamily="34" charset="0"/>
              <a:cs typeface="Calibri" pitchFamily="34" charset="0"/>
            </a:endParaRPr>
          </a:p>
          <a:p>
            <a:pPr marL="0" indent="0" algn="ctr">
              <a:lnSpc>
                <a:spcPct val="107000"/>
              </a:lnSpc>
              <a:spcAft>
                <a:spcPts val="800"/>
              </a:spcAft>
              <a:buNone/>
            </a:pPr>
            <a:r>
              <a:rPr lang="en-IN" sz="1100" dirty="0">
                <a:effectLst/>
                <a:ea typeface="Corbel" panose="020B0503020204020204" pitchFamily="34" charset="0"/>
                <a:cs typeface="Times New Roman" panose="02020603050405020304" pitchFamily="18" charset="0"/>
              </a:rPr>
              <a:t> </a:t>
            </a:r>
          </a:p>
        </p:txBody>
      </p:sp>
      <p:pic>
        <p:nvPicPr>
          <p:cNvPr id="6" name="Picture 5">
            <a:extLst>
              <a:ext uri="{FF2B5EF4-FFF2-40B4-BE49-F238E27FC236}">
                <a16:creationId xmlns:a16="http://schemas.microsoft.com/office/drawing/2014/main" id="{5526371B-80C5-4616-B66B-14221B50F249}"/>
              </a:ext>
            </a:extLst>
          </p:cNvPr>
          <p:cNvPicPr/>
          <p:nvPr/>
        </p:nvPicPr>
        <p:blipFill>
          <a:blip r:embed="rId2"/>
          <a:stretch>
            <a:fillRect/>
          </a:stretch>
        </p:blipFill>
        <p:spPr>
          <a:xfrm>
            <a:off x="6483515" y="1524000"/>
            <a:ext cx="4292804" cy="4691082"/>
          </a:xfrm>
          <a:prstGeom prst="rect">
            <a:avLst/>
          </a:prstGeom>
        </p:spPr>
      </p:pic>
    </p:spTree>
    <p:extLst>
      <p:ext uri="{BB962C8B-B14F-4D97-AF65-F5344CB8AC3E}">
        <p14:creationId xmlns:p14="http://schemas.microsoft.com/office/powerpoint/2010/main" val="3757361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8C5B-F3AF-45AB-9BAD-8B771B69E5DE}"/>
              </a:ext>
            </a:extLst>
          </p:cNvPr>
          <p:cNvSpPr>
            <a:spLocks noGrp="1"/>
          </p:cNvSpPr>
          <p:nvPr>
            <p:ph type="title" idx="4294967295"/>
          </p:nvPr>
        </p:nvSpPr>
        <p:spPr>
          <a:xfrm>
            <a:off x="93306" y="-288018"/>
            <a:ext cx="10515600" cy="1325563"/>
          </a:xfrm>
        </p:spPr>
        <p:txBody>
          <a:bodyPr/>
          <a:lstStyle/>
          <a:p>
            <a:r>
              <a:rPr lang="en-IN" dirty="0">
                <a:solidFill>
                  <a:schemeClr val="bg1"/>
                </a:solidFill>
              </a:rPr>
              <a:t>Programming Language              Pseudo Code</a:t>
            </a:r>
          </a:p>
        </p:txBody>
      </p:sp>
      <p:sp>
        <p:nvSpPr>
          <p:cNvPr id="4" name="Slide Number Placeholder 3">
            <a:extLst>
              <a:ext uri="{FF2B5EF4-FFF2-40B4-BE49-F238E27FC236}">
                <a16:creationId xmlns:a16="http://schemas.microsoft.com/office/drawing/2014/main" id="{9C83D757-CBC6-4A0C-86BE-5EA0CFDB3768}"/>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41</a:t>
            </a:fld>
            <a:endParaRPr lang="en-US" altLang="en-US"/>
          </a:p>
        </p:txBody>
      </p:sp>
      <p:sp>
        <p:nvSpPr>
          <p:cNvPr id="5" name="Content Placeholder 4">
            <a:extLst>
              <a:ext uri="{FF2B5EF4-FFF2-40B4-BE49-F238E27FC236}">
                <a16:creationId xmlns:a16="http://schemas.microsoft.com/office/drawing/2014/main" id="{BCE2C372-3841-4109-910B-673A81969C00}"/>
              </a:ext>
            </a:extLst>
          </p:cNvPr>
          <p:cNvSpPr>
            <a:spLocks noGrp="1"/>
          </p:cNvSpPr>
          <p:nvPr>
            <p:ph idx="4294967295"/>
          </p:nvPr>
        </p:nvSpPr>
        <p:spPr>
          <a:xfrm>
            <a:off x="0" y="1306827"/>
            <a:ext cx="6024563" cy="495300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indent="0">
              <a:lnSpc>
                <a:spcPct val="107000"/>
              </a:lnSpc>
              <a:spcAft>
                <a:spcPts val="800"/>
              </a:spcAft>
              <a:buNone/>
            </a:pPr>
            <a:r>
              <a:rPr lang="en-IN" b="1" dirty="0" err="1">
                <a:effectLst/>
                <a:latin typeface="Calibri" panose="020F0502020204030204" pitchFamily="34" charset="0"/>
                <a:ea typeface="Corbel" panose="020B0503020204020204" pitchFamily="34" charset="0"/>
                <a:cs typeface="Times New Roman" panose="02020603050405020304" pitchFamily="18" charset="0"/>
              </a:rPr>
              <a:t>int</a:t>
            </a:r>
            <a:r>
              <a:rPr lang="en-IN" b="1" dirty="0">
                <a:effectLst/>
                <a:latin typeface="Calibri" panose="020F0502020204030204" pitchFamily="34" charset="0"/>
                <a:ea typeface="Corbel" panose="020B0503020204020204" pitchFamily="34" charset="0"/>
                <a:cs typeface="Times New Roman" panose="02020603050405020304" pitchFamily="18" charset="0"/>
              </a:rPr>
              <a:t> main()</a:t>
            </a:r>
            <a:endParaRPr lang="en-IN" dirty="0">
              <a:effectLst/>
              <a:ea typeface="Corbel" panose="020B0503020204020204" pitchFamily="34" charset="0"/>
              <a:cs typeface="Times New Roman" panose="02020603050405020304" pitchFamily="18" charset="0"/>
            </a:endParaRPr>
          </a:p>
          <a:p>
            <a:pPr marL="0" indent="0">
              <a:lnSpc>
                <a:spcPct val="107000"/>
              </a:lnSpc>
              <a:spcAft>
                <a:spcPts val="800"/>
              </a:spcAft>
              <a:buNone/>
            </a:pPr>
            <a:r>
              <a:rPr lang="en-IN" b="1" dirty="0">
                <a:effectLst/>
                <a:latin typeface="Calibri" panose="020F0502020204030204" pitchFamily="34" charset="0"/>
                <a:ea typeface="Corbel" panose="020B0503020204020204" pitchFamily="34" charset="0"/>
                <a:cs typeface="Times New Roman" panose="02020603050405020304" pitchFamily="18" charset="0"/>
              </a:rPr>
              <a:t>{</a:t>
            </a:r>
            <a:br>
              <a:rPr lang="en-IN" b="1" dirty="0">
                <a:effectLst/>
                <a:latin typeface="Calibri" panose="020F0502020204030204" pitchFamily="34" charset="0"/>
                <a:ea typeface="Corbel" panose="020B0503020204020204" pitchFamily="34" charset="0"/>
                <a:cs typeface="Times New Roman" panose="02020603050405020304" pitchFamily="18" charset="0"/>
              </a:rPr>
            </a:br>
            <a:r>
              <a:rPr lang="en-IN" b="1" dirty="0">
                <a:effectLst/>
                <a:latin typeface="Calibri" panose="020F0502020204030204" pitchFamily="34" charset="0"/>
                <a:ea typeface="Corbel" panose="020B0503020204020204" pitchFamily="34" charset="0"/>
                <a:cs typeface="Times New Roman" panose="02020603050405020304" pitchFamily="18" charset="0"/>
              </a:rPr>
              <a:t>  int a, b, sum;</a:t>
            </a:r>
            <a:endParaRPr lang="en-IN" dirty="0">
              <a:effectLst/>
              <a:ea typeface="Corbel" panose="020B0503020204020204" pitchFamily="34" charset="0"/>
              <a:cs typeface="Times New Roman" panose="02020603050405020304" pitchFamily="18" charset="0"/>
            </a:endParaRPr>
          </a:p>
          <a:p>
            <a:pPr marL="0" indent="0">
              <a:lnSpc>
                <a:spcPct val="107000"/>
              </a:lnSpc>
              <a:spcAft>
                <a:spcPts val="800"/>
              </a:spcAft>
              <a:buNone/>
            </a:pPr>
            <a:r>
              <a:rPr lang="en-IN" b="1" dirty="0">
                <a:effectLst/>
                <a:latin typeface="Calibri" panose="020F0502020204030204" pitchFamily="34" charset="0"/>
                <a:ea typeface="Corbel" panose="020B0503020204020204" pitchFamily="34" charset="0"/>
                <a:cs typeface="Times New Roman" panose="02020603050405020304" pitchFamily="18" charset="0"/>
              </a:rPr>
              <a:t>  printf("Enter two numbers to add\n");</a:t>
            </a:r>
            <a:br>
              <a:rPr lang="en-IN" b="1" dirty="0">
                <a:effectLst/>
                <a:latin typeface="Calibri" panose="020F0502020204030204" pitchFamily="34" charset="0"/>
                <a:ea typeface="Corbel" panose="020B0503020204020204" pitchFamily="34" charset="0"/>
                <a:cs typeface="Times New Roman" panose="02020603050405020304" pitchFamily="18" charset="0"/>
              </a:rPr>
            </a:br>
            <a:r>
              <a:rPr lang="en-IN" b="1" dirty="0">
                <a:effectLst/>
                <a:latin typeface="Calibri" panose="020F0502020204030204" pitchFamily="34" charset="0"/>
                <a:ea typeface="Corbel" panose="020B0503020204020204" pitchFamily="34" charset="0"/>
                <a:cs typeface="Times New Roman" panose="02020603050405020304" pitchFamily="18" charset="0"/>
              </a:rPr>
              <a:t>  scanf("%d%d", &amp;a, &amp;b);</a:t>
            </a:r>
            <a:endParaRPr lang="en-IN" dirty="0">
              <a:effectLst/>
              <a:ea typeface="Corbel" panose="020B0503020204020204" pitchFamily="34" charset="0"/>
              <a:cs typeface="Times New Roman" panose="02020603050405020304" pitchFamily="18" charset="0"/>
            </a:endParaRPr>
          </a:p>
          <a:p>
            <a:pPr marL="0" indent="0">
              <a:lnSpc>
                <a:spcPct val="107000"/>
              </a:lnSpc>
              <a:spcAft>
                <a:spcPts val="800"/>
              </a:spcAft>
              <a:buNone/>
            </a:pPr>
            <a:r>
              <a:rPr lang="en-IN" b="1" dirty="0">
                <a:latin typeface="Calibri" panose="020F0502020204030204" pitchFamily="34" charset="0"/>
                <a:ea typeface="Corbel" panose="020B0503020204020204" pitchFamily="34" charset="0"/>
                <a:cs typeface="Times New Roman" panose="02020603050405020304" pitchFamily="18" charset="0"/>
              </a:rPr>
              <a:t>  </a:t>
            </a:r>
            <a:r>
              <a:rPr lang="en-IN" b="1" dirty="0">
                <a:effectLst/>
                <a:latin typeface="Calibri" panose="020F0502020204030204" pitchFamily="34" charset="0"/>
                <a:ea typeface="Corbel" panose="020B0503020204020204" pitchFamily="34" charset="0"/>
                <a:cs typeface="Times New Roman" panose="02020603050405020304" pitchFamily="18" charset="0"/>
              </a:rPr>
              <a:t>sum = a + b;</a:t>
            </a:r>
            <a:endParaRPr lang="en-IN" dirty="0">
              <a:ea typeface="Corbel" panose="020B0503020204020204" pitchFamily="34" charset="0"/>
              <a:cs typeface="Times New Roman" panose="02020603050405020304" pitchFamily="18" charset="0"/>
            </a:endParaRPr>
          </a:p>
          <a:p>
            <a:pPr marL="0" indent="0">
              <a:lnSpc>
                <a:spcPct val="107000"/>
              </a:lnSpc>
              <a:spcAft>
                <a:spcPts val="800"/>
              </a:spcAft>
              <a:buNone/>
            </a:pPr>
            <a:r>
              <a:rPr lang="en-IN" b="1" dirty="0">
                <a:effectLst/>
                <a:latin typeface="Calibri" panose="020F0502020204030204" pitchFamily="34" charset="0"/>
                <a:ea typeface="Corbel" panose="020B0503020204020204" pitchFamily="34" charset="0"/>
                <a:cs typeface="Times New Roman" panose="02020603050405020304" pitchFamily="18" charset="0"/>
              </a:rPr>
              <a:t>  </a:t>
            </a:r>
            <a:r>
              <a:rPr lang="en-IN" b="1" dirty="0" err="1">
                <a:effectLst/>
                <a:latin typeface="Calibri" panose="020F0502020204030204" pitchFamily="34" charset="0"/>
                <a:ea typeface="Corbel" panose="020B0503020204020204" pitchFamily="34" charset="0"/>
                <a:cs typeface="Times New Roman" panose="02020603050405020304" pitchFamily="18" charset="0"/>
              </a:rPr>
              <a:t>printf</a:t>
            </a:r>
            <a:r>
              <a:rPr lang="en-IN" b="1" dirty="0">
                <a:effectLst/>
                <a:latin typeface="Calibri" panose="020F0502020204030204" pitchFamily="34" charset="0"/>
                <a:ea typeface="Corbel" panose="020B0503020204020204" pitchFamily="34" charset="0"/>
                <a:cs typeface="Times New Roman" panose="02020603050405020304" pitchFamily="18" charset="0"/>
              </a:rPr>
              <a:t>("Sum of the numbers = %d\n", sum);</a:t>
            </a:r>
            <a:endParaRPr lang="en-IN" dirty="0">
              <a:effectLst/>
              <a:ea typeface="Corbel" panose="020B0503020204020204" pitchFamily="34" charset="0"/>
              <a:cs typeface="Times New Roman" panose="02020603050405020304" pitchFamily="18" charset="0"/>
            </a:endParaRPr>
          </a:p>
          <a:p>
            <a:pPr marL="0" indent="0">
              <a:lnSpc>
                <a:spcPct val="107000"/>
              </a:lnSpc>
              <a:spcAft>
                <a:spcPts val="800"/>
              </a:spcAft>
              <a:buNone/>
            </a:pPr>
            <a:r>
              <a:rPr lang="en-IN" b="1" dirty="0">
                <a:effectLst/>
                <a:latin typeface="Calibri" panose="020F0502020204030204" pitchFamily="34" charset="0"/>
                <a:ea typeface="Corbel" panose="020B0503020204020204" pitchFamily="34" charset="0"/>
                <a:cs typeface="Times New Roman" panose="02020603050405020304" pitchFamily="18" charset="0"/>
              </a:rPr>
              <a:t>  return 0;</a:t>
            </a:r>
            <a:br>
              <a:rPr lang="en-IN" dirty="0">
                <a:effectLst/>
                <a:ea typeface="Corbel" panose="020B0503020204020204" pitchFamily="34" charset="0"/>
                <a:cs typeface="Times New Roman" panose="02020603050405020304" pitchFamily="18" charset="0"/>
              </a:rPr>
            </a:br>
            <a:r>
              <a:rPr lang="en-IN" dirty="0">
                <a:effectLst/>
                <a:ea typeface="Corbel" panose="020B0503020204020204" pitchFamily="34" charset="0"/>
                <a:cs typeface="Times New Roman" panose="02020603050405020304" pitchFamily="18" charset="0"/>
              </a:rPr>
              <a:t>}</a:t>
            </a:r>
          </a:p>
          <a:p>
            <a:pPr marL="0" indent="0" algn="ctr">
              <a:lnSpc>
                <a:spcPct val="107000"/>
              </a:lnSpc>
              <a:spcAft>
                <a:spcPts val="800"/>
              </a:spcAft>
              <a:buNone/>
            </a:pPr>
            <a:r>
              <a:rPr lang="en-IN" sz="1100" dirty="0">
                <a:effectLst/>
                <a:ea typeface="Corbel" panose="020B0503020204020204" pitchFamily="34" charset="0"/>
                <a:cs typeface="Times New Roman" panose="02020603050405020304" pitchFamily="18" charset="0"/>
              </a:rPr>
              <a:t> </a:t>
            </a:r>
          </a:p>
        </p:txBody>
      </p:sp>
      <p:sp>
        <p:nvSpPr>
          <p:cNvPr id="7" name="Rectangle 6">
            <a:extLst>
              <a:ext uri="{FF2B5EF4-FFF2-40B4-BE49-F238E27FC236}">
                <a16:creationId xmlns:a16="http://schemas.microsoft.com/office/drawing/2014/main" id="{7834D07C-3988-42D3-B212-04B0092C037A}"/>
              </a:ext>
            </a:extLst>
          </p:cNvPr>
          <p:cNvSpPr>
            <a:spLocks/>
          </p:cNvSpPr>
          <p:nvPr/>
        </p:nvSpPr>
        <p:spPr>
          <a:xfrm>
            <a:off x="6754762" y="1412776"/>
            <a:ext cx="5029870" cy="4824536"/>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BEGIN</a:t>
            </a:r>
            <a:endParaRPr lang="en-IN" sz="2000" dirty="0">
              <a:effectLst/>
              <a:ea typeface="Corbel" panose="020B0503020204020204" pitchFamily="34" charset="0"/>
              <a:cs typeface="Times New Roman" panose="02020603050405020304" pitchFamily="18" charset="0"/>
            </a:endParaRPr>
          </a:p>
          <a:p>
            <a:pPr indent="457200">
              <a:lnSpc>
                <a:spcPct val="107000"/>
              </a:lnSpc>
              <a:spcAft>
                <a:spcPts val="800"/>
              </a:spcAft>
            </a:pPr>
            <a:r>
              <a:rPr lang="en-IN"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Read a, b</a:t>
            </a:r>
            <a:endParaRPr lang="en-IN" sz="2000" dirty="0">
              <a:effectLst/>
              <a:ea typeface="Corbel" panose="020B0503020204020204" pitchFamily="34" charset="0"/>
              <a:cs typeface="Times New Roman" panose="02020603050405020304" pitchFamily="18" charset="0"/>
            </a:endParaRPr>
          </a:p>
          <a:p>
            <a:pPr indent="457200">
              <a:lnSpc>
                <a:spcPct val="107000"/>
              </a:lnSpc>
              <a:spcAft>
                <a:spcPts val="800"/>
              </a:spcAft>
            </a:pPr>
            <a:r>
              <a:rPr lang="en-IN"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Set sum to </a:t>
            </a:r>
            <a:r>
              <a:rPr lang="en-IN" sz="2000" b="1" dirty="0" err="1">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a+b</a:t>
            </a:r>
            <a:endParaRPr lang="en-IN" sz="2000" dirty="0">
              <a:effectLst/>
              <a:ea typeface="Corbel" panose="020B0503020204020204" pitchFamily="34" charset="0"/>
              <a:cs typeface="Times New Roman" panose="02020603050405020304" pitchFamily="18" charset="0"/>
            </a:endParaRPr>
          </a:p>
          <a:p>
            <a:pPr>
              <a:lnSpc>
                <a:spcPct val="107000"/>
              </a:lnSpc>
              <a:spcAft>
                <a:spcPts val="800"/>
              </a:spcAft>
            </a:pPr>
            <a:r>
              <a:rPr lang="en-IN"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END:</a:t>
            </a:r>
            <a:endParaRPr lang="en-IN" sz="20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Tree>
    <p:extLst>
      <p:ext uri="{BB962C8B-B14F-4D97-AF65-F5344CB8AC3E}">
        <p14:creationId xmlns:p14="http://schemas.microsoft.com/office/powerpoint/2010/main" val="3355114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FE73D-D06F-4BAE-8007-5982FA4468A6}"/>
              </a:ext>
            </a:extLst>
          </p:cNvPr>
          <p:cNvSpPr>
            <a:spLocks noGrp="1"/>
          </p:cNvSpPr>
          <p:nvPr>
            <p:ph type="title" idx="4294967295"/>
          </p:nvPr>
        </p:nvSpPr>
        <p:spPr>
          <a:xfrm>
            <a:off x="0" y="-6350"/>
            <a:ext cx="9915525" cy="1017588"/>
          </a:xfrm>
        </p:spPr>
        <p:txBody>
          <a:bodyPr/>
          <a:lstStyle/>
          <a:p>
            <a:r>
              <a:rPr lang="en-IN" dirty="0">
                <a:solidFill>
                  <a:schemeClr val="bg1"/>
                </a:solidFill>
              </a:rPr>
              <a:t>Qualities of Good Algorithm:</a:t>
            </a:r>
          </a:p>
        </p:txBody>
      </p:sp>
      <p:sp>
        <p:nvSpPr>
          <p:cNvPr id="3" name="Content Placeholder 2">
            <a:extLst>
              <a:ext uri="{FF2B5EF4-FFF2-40B4-BE49-F238E27FC236}">
                <a16:creationId xmlns:a16="http://schemas.microsoft.com/office/drawing/2014/main" id="{E0035E6E-CC89-43FA-8838-C2BAF1E4B86F}"/>
              </a:ext>
            </a:extLst>
          </p:cNvPr>
          <p:cNvSpPr>
            <a:spLocks noGrp="1"/>
          </p:cNvSpPr>
          <p:nvPr>
            <p:ph idx="4294967295"/>
          </p:nvPr>
        </p:nvSpPr>
        <p:spPr>
          <a:xfrm>
            <a:off x="0" y="1125538"/>
            <a:ext cx="11449050" cy="5038725"/>
          </a:xfrm>
        </p:spPr>
        <p:txBody>
          <a:bodyPr/>
          <a:lstStyle/>
          <a:p>
            <a:pPr marL="0" indent="0" algn="just">
              <a:buNone/>
            </a:pPr>
            <a:r>
              <a:rPr lang="en-US" sz="2800" dirty="0">
                <a:latin typeface="Calibri" pitchFamily="34" charset="0"/>
                <a:cs typeface="Calibri" pitchFamily="34" charset="0"/>
              </a:rPr>
              <a:t>The factors that we need to consider while determining the quality of a good Algorithm are:</a:t>
            </a:r>
          </a:p>
          <a:p>
            <a:pPr algn="just"/>
            <a:r>
              <a:rPr lang="en-US" sz="2800" b="1" dirty="0">
                <a:latin typeface="Calibri" pitchFamily="34" charset="0"/>
                <a:cs typeface="Calibri" pitchFamily="34" charset="0"/>
              </a:rPr>
              <a:t>Time</a:t>
            </a:r>
            <a:r>
              <a:rPr lang="en-US" sz="2800" dirty="0">
                <a:latin typeface="Calibri" pitchFamily="34" charset="0"/>
                <a:cs typeface="Calibri" pitchFamily="34" charset="0"/>
              </a:rPr>
              <a:t>: The amount of time it takes an algorithm to run as a function of the length of the input is known as time requirement. The number of operations to be done by the algorithm is indicated by the length of input.</a:t>
            </a:r>
          </a:p>
          <a:p>
            <a:pPr algn="just"/>
            <a:r>
              <a:rPr lang="en-US" sz="2800" b="1" dirty="0">
                <a:latin typeface="Calibri" pitchFamily="34" charset="0"/>
                <a:cs typeface="Calibri" pitchFamily="34" charset="0"/>
              </a:rPr>
              <a:t>Memory: </a:t>
            </a:r>
            <a:r>
              <a:rPr lang="en-US" sz="2800" dirty="0">
                <a:latin typeface="Calibri" pitchFamily="34" charset="0"/>
                <a:cs typeface="Calibri" pitchFamily="34" charset="0"/>
              </a:rPr>
              <a:t>The amount of memory utilized by the algorithm (including the inputs) to execute and create the output is referred to its memory requirement.</a:t>
            </a:r>
          </a:p>
          <a:p>
            <a:pPr algn="just"/>
            <a:r>
              <a:rPr lang="en-US" sz="2800" b="1" dirty="0">
                <a:latin typeface="Calibri" pitchFamily="34" charset="0"/>
                <a:cs typeface="Calibri" pitchFamily="34" charset="0"/>
              </a:rPr>
              <a:t>Accuracy: </a:t>
            </a:r>
            <a:r>
              <a:rPr lang="en-US" sz="2800" dirty="0">
                <a:latin typeface="Calibri" pitchFamily="34" charset="0"/>
                <a:cs typeface="Calibri" pitchFamily="34" charset="0"/>
              </a:rPr>
              <a:t>There can be more than one solution to the given problem, but the one which is the most optimal is termed as accurate.</a:t>
            </a:r>
            <a:endParaRPr lang="en-IN" sz="2800" dirty="0">
              <a:latin typeface="Calibri" pitchFamily="34" charset="0"/>
              <a:cs typeface="Calibri" pitchFamily="34" charset="0"/>
            </a:endParaRPr>
          </a:p>
        </p:txBody>
      </p:sp>
      <p:sp>
        <p:nvSpPr>
          <p:cNvPr id="4" name="Slide Number Placeholder 3">
            <a:extLst>
              <a:ext uri="{FF2B5EF4-FFF2-40B4-BE49-F238E27FC236}">
                <a16:creationId xmlns:a16="http://schemas.microsoft.com/office/drawing/2014/main" id="{B339D407-5F23-41FB-B6AA-FE3101376432}"/>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42</a:t>
            </a:fld>
            <a:endParaRPr lang="en-US" altLang="en-US"/>
          </a:p>
        </p:txBody>
      </p:sp>
    </p:spTree>
    <p:extLst>
      <p:ext uri="{BB962C8B-B14F-4D97-AF65-F5344CB8AC3E}">
        <p14:creationId xmlns:p14="http://schemas.microsoft.com/office/powerpoint/2010/main" val="743979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975" y="-252413"/>
            <a:ext cx="10515600" cy="1325563"/>
          </a:xfrm>
        </p:spPr>
        <p:txBody>
          <a:bodyPr/>
          <a:lstStyle/>
          <a:p>
            <a:r>
              <a:rPr lang="en-US" dirty="0">
                <a:solidFill>
                  <a:schemeClr val="bg1"/>
                </a:solidFill>
              </a:rPr>
              <a:t>How to Compare Algorithms</a:t>
            </a:r>
          </a:p>
        </p:txBody>
      </p:sp>
      <p:sp>
        <p:nvSpPr>
          <p:cNvPr id="3" name="Content Placeholder 2"/>
          <p:cNvSpPr>
            <a:spLocks noGrp="1"/>
          </p:cNvSpPr>
          <p:nvPr>
            <p:ph idx="4294967295"/>
          </p:nvPr>
        </p:nvSpPr>
        <p:spPr>
          <a:xfrm>
            <a:off x="83975" y="1073150"/>
            <a:ext cx="12008498" cy="4351338"/>
          </a:xfrm>
        </p:spPr>
        <p:txBody>
          <a:bodyPr>
            <a:normAutofit/>
          </a:bodyPr>
          <a:lstStyle/>
          <a:p>
            <a:r>
              <a:rPr lang="en-US" dirty="0"/>
              <a:t>To compare algorithms, let us define a few objective measures: </a:t>
            </a:r>
          </a:p>
          <a:p>
            <a:r>
              <a:rPr lang="en-US" dirty="0"/>
              <a:t>Execution times? Not a good measure as execution times are specific to a particular computer. </a:t>
            </a:r>
          </a:p>
          <a:p>
            <a:r>
              <a:rPr lang="en-US" dirty="0"/>
              <a:t>Number of statements executed? Not a good measure, since the number of statements varies with the programming language as well as the style of the individual programmer. </a:t>
            </a:r>
          </a:p>
          <a:p>
            <a:r>
              <a:rPr lang="en-US" dirty="0"/>
              <a:t>Ideal solution? Let us assume that we express the running time of a given algorithm as a function of the input size n (i.e., f(n)) and compare these different functions corresponding to running times. This kind of comparison is independent of machine time, programming style, etc.</a:t>
            </a:r>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43</a:t>
            </a:fld>
            <a:endParaRPr lang="en-US" altLang="en-US"/>
          </a:p>
        </p:txBody>
      </p:sp>
    </p:spTree>
    <p:extLst>
      <p:ext uri="{BB962C8B-B14F-4D97-AF65-F5344CB8AC3E}">
        <p14:creationId xmlns:p14="http://schemas.microsoft.com/office/powerpoint/2010/main" val="2449024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011D34F3-5805-4D19-B06A-648977BA2228}" type="slidenum">
              <a:rPr lang="en-US" altLang="en-US" sz="1200">
                <a:solidFill>
                  <a:schemeClr val="bg1"/>
                </a:solidFill>
              </a:rPr>
              <a:pPr>
                <a:spcBef>
                  <a:spcPct val="0"/>
                </a:spcBef>
                <a:buClrTx/>
                <a:buFontTx/>
                <a:buNone/>
              </a:pPr>
              <a:t>44</a:t>
            </a:fld>
            <a:endParaRPr lang="en-US" altLang="en-US" sz="1200">
              <a:solidFill>
                <a:schemeClr val="bg1"/>
              </a:solidFill>
            </a:endParaRPr>
          </a:p>
        </p:txBody>
      </p:sp>
      <p:sp>
        <p:nvSpPr>
          <p:cNvPr id="18436" name="Content Placeholder 2"/>
          <p:cNvSpPr>
            <a:spLocks noGrp="1"/>
          </p:cNvSpPr>
          <p:nvPr>
            <p:ph idx="4294967295"/>
          </p:nvPr>
        </p:nvSpPr>
        <p:spPr>
          <a:xfrm>
            <a:off x="0" y="1282700"/>
            <a:ext cx="11353800" cy="3594100"/>
          </a:xfrm>
        </p:spPr>
        <p:txBody>
          <a:bodyPr/>
          <a:lstStyle/>
          <a:p>
            <a:pPr marL="0" indent="0" eaLnBrk="1" hangingPunct="1">
              <a:spcBef>
                <a:spcPts val="100"/>
              </a:spcBef>
              <a:buNone/>
            </a:pPr>
            <a:r>
              <a:rPr lang="en-IN" sz="2800" dirty="0">
                <a:effectLst/>
                <a:latin typeface="Calibri" pitchFamily="34" charset="0"/>
                <a:ea typeface="Corbel" panose="020B0503020204020204" pitchFamily="34" charset="0"/>
                <a:cs typeface="Calibri" pitchFamily="34" charset="0"/>
              </a:rPr>
              <a:t>The main goal to study this subject is to judge an Algorithm, as we already discussed that we can judge an algorithm on the basis of computing time and storage requirement. </a:t>
            </a:r>
          </a:p>
          <a:p>
            <a:pPr marL="0" indent="0" eaLnBrk="1" hangingPunct="1">
              <a:spcBef>
                <a:spcPts val="100"/>
              </a:spcBef>
              <a:buNone/>
            </a:pPr>
            <a:endParaRPr lang="en-IN" sz="2800" dirty="0">
              <a:latin typeface="Calibri" pitchFamily="34" charset="0"/>
              <a:ea typeface="Corbel" panose="020B0503020204020204" pitchFamily="34" charset="0"/>
              <a:cs typeface="Calibri" pitchFamily="34" charset="0"/>
            </a:endParaRPr>
          </a:p>
          <a:p>
            <a:pPr marL="0" indent="0" eaLnBrk="1" hangingPunct="1">
              <a:spcBef>
                <a:spcPts val="100"/>
              </a:spcBef>
              <a:buNone/>
            </a:pPr>
            <a:r>
              <a:rPr lang="en-IN" sz="2800" b="1" i="1" dirty="0">
                <a:solidFill>
                  <a:srgbClr val="FF0000"/>
                </a:solidFill>
                <a:effectLst/>
                <a:latin typeface="Calibri" pitchFamily="34" charset="0"/>
                <a:ea typeface="Corbel" panose="020B0503020204020204" pitchFamily="34" charset="0"/>
                <a:cs typeface="Calibri" pitchFamily="34" charset="0"/>
              </a:rPr>
              <a:t>Analysing the algorithm depend on the space (storage) complexity (space acquired by the algorithm) and time taken for algorithm execution (time complexity).</a:t>
            </a:r>
          </a:p>
          <a:p>
            <a:pPr eaLnBrk="1" hangingPunct="1">
              <a:spcBef>
                <a:spcPts val="100"/>
              </a:spcBef>
              <a:buFont typeface="Wingdings" panose="05000000000000000000" pitchFamily="2" charset="2"/>
              <a:buChar char="§"/>
            </a:pPr>
            <a:endParaRPr lang="en-US" altLang="en-US" sz="1600" b="1" dirty="0"/>
          </a:p>
        </p:txBody>
      </p:sp>
      <p:sp>
        <p:nvSpPr>
          <p:cNvPr id="2" name="Title 1"/>
          <p:cNvSpPr>
            <a:spLocks noGrp="1"/>
          </p:cNvSpPr>
          <p:nvPr>
            <p:ph type="title" idx="4294967295"/>
          </p:nvPr>
        </p:nvSpPr>
        <p:spPr>
          <a:xfrm>
            <a:off x="0" y="-297349"/>
            <a:ext cx="10515600" cy="1325563"/>
          </a:xfrm>
          <a:effectLst/>
        </p:spPr>
        <p:txBody>
          <a:bodyPr/>
          <a:lstStyle/>
          <a:p>
            <a:r>
              <a:rPr lang="en-US" altLang="en-US" dirty="0">
                <a:solidFill>
                  <a:schemeClr val="bg1"/>
                </a:solidFill>
              </a:rPr>
              <a:t>Performance Analysis:</a:t>
            </a:r>
            <a:endParaRPr lang="en-US" dirty="0">
              <a:solidFill>
                <a:schemeClr val="bg1"/>
              </a:solidFill>
            </a:endParaRPr>
          </a:p>
        </p:txBody>
      </p:sp>
    </p:spTree>
    <p:extLst>
      <p:ext uri="{BB962C8B-B14F-4D97-AF65-F5344CB8AC3E}">
        <p14:creationId xmlns:p14="http://schemas.microsoft.com/office/powerpoint/2010/main" val="117999874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70DDE78E-B150-43FA-B8BC-938F06DC96EB}" type="slidenum">
              <a:rPr lang="en-US" altLang="en-US" sz="1200">
                <a:solidFill>
                  <a:schemeClr val="bg1"/>
                </a:solidFill>
              </a:rPr>
              <a:pPr>
                <a:spcBef>
                  <a:spcPct val="0"/>
                </a:spcBef>
                <a:buClrTx/>
                <a:buFontTx/>
                <a:buNone/>
              </a:pPr>
              <a:t>45</a:t>
            </a:fld>
            <a:endParaRPr lang="en-US" altLang="en-US" sz="1200">
              <a:solidFill>
                <a:schemeClr val="bg1"/>
              </a:solidFill>
            </a:endParaRPr>
          </a:p>
        </p:txBody>
      </p:sp>
      <p:sp>
        <p:nvSpPr>
          <p:cNvPr id="6" name="Title 1"/>
          <p:cNvSpPr>
            <a:spLocks noGrp="1"/>
          </p:cNvSpPr>
          <p:nvPr>
            <p:ph type="title" idx="4294967295"/>
          </p:nvPr>
        </p:nvSpPr>
        <p:spPr>
          <a:xfrm>
            <a:off x="0" y="12700"/>
            <a:ext cx="9940925" cy="973138"/>
          </a:xfrm>
          <a:effectLst/>
        </p:spPr>
        <p:txBody>
          <a:bodyPr/>
          <a:lstStyle/>
          <a:p>
            <a:r>
              <a:rPr lang="en-US" dirty="0">
                <a:solidFill>
                  <a:schemeClr val="bg1"/>
                </a:solidFill>
              </a:rPr>
              <a:t>Categorization of Complexity:</a:t>
            </a:r>
          </a:p>
        </p:txBody>
      </p:sp>
      <p:pic>
        <p:nvPicPr>
          <p:cNvPr id="5" name="Picture 4">
            <a:extLst>
              <a:ext uri="{FF2B5EF4-FFF2-40B4-BE49-F238E27FC236}">
                <a16:creationId xmlns:a16="http://schemas.microsoft.com/office/drawing/2014/main" id="{D90C97A1-CBFA-4F11-84D2-2D9F22EEECA3}"/>
              </a:ext>
            </a:extLst>
          </p:cNvPr>
          <p:cNvPicPr/>
          <p:nvPr/>
        </p:nvPicPr>
        <p:blipFill>
          <a:blip r:embed="rId3">
            <a:extLst>
              <a:ext uri="{28A0092B-C50C-407E-A947-70E740481C1C}">
                <a14:useLocalDpi xmlns:a14="http://schemas.microsoft.com/office/drawing/2010/main" val="0"/>
              </a:ext>
            </a:extLst>
          </a:blip>
          <a:stretch>
            <a:fillRect/>
          </a:stretch>
        </p:blipFill>
        <p:spPr>
          <a:xfrm>
            <a:off x="1524000" y="1295400"/>
            <a:ext cx="8686800" cy="4038600"/>
          </a:xfrm>
          <a:prstGeom prst="rect">
            <a:avLst/>
          </a:prstGeom>
        </p:spPr>
      </p:pic>
    </p:spTree>
    <p:extLst>
      <p:ext uri="{BB962C8B-B14F-4D97-AF65-F5344CB8AC3E}">
        <p14:creationId xmlns:p14="http://schemas.microsoft.com/office/powerpoint/2010/main" val="29662741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A42A3-39F7-44DF-95E7-F8C7580ED4DB}"/>
              </a:ext>
            </a:extLst>
          </p:cNvPr>
          <p:cNvSpPr>
            <a:spLocks noGrp="1"/>
          </p:cNvSpPr>
          <p:nvPr>
            <p:ph type="title" idx="4294967295"/>
          </p:nvPr>
        </p:nvSpPr>
        <p:spPr>
          <a:xfrm>
            <a:off x="37322" y="-222704"/>
            <a:ext cx="10515600" cy="1325563"/>
          </a:xfrm>
        </p:spPr>
        <p:txBody>
          <a:bodyPr/>
          <a:lstStyle/>
          <a:p>
            <a:r>
              <a:rPr lang="en-IN" sz="4000" dirty="0">
                <a:solidFill>
                  <a:schemeClr val="bg1"/>
                </a:solidFill>
                <a:effectLst/>
                <a:latin typeface="Calibri" panose="020F0502020204030204" pitchFamily="34" charset="0"/>
                <a:ea typeface="Corbel" panose="020B0503020204020204" pitchFamily="34" charset="0"/>
              </a:rPr>
              <a:t>Space Complexity:</a:t>
            </a:r>
            <a:endParaRPr lang="en-IN" sz="4000" dirty="0">
              <a:solidFill>
                <a:schemeClr val="bg1"/>
              </a:solidFill>
            </a:endParaRPr>
          </a:p>
        </p:txBody>
      </p:sp>
      <p:sp>
        <p:nvSpPr>
          <p:cNvPr id="3" name="Content Placeholder 2">
            <a:extLst>
              <a:ext uri="{FF2B5EF4-FFF2-40B4-BE49-F238E27FC236}">
                <a16:creationId xmlns:a16="http://schemas.microsoft.com/office/drawing/2014/main" id="{F055EA23-4E83-4E67-955D-64D2442F5468}"/>
              </a:ext>
            </a:extLst>
          </p:cNvPr>
          <p:cNvSpPr>
            <a:spLocks noGrp="1"/>
          </p:cNvSpPr>
          <p:nvPr>
            <p:ph idx="4294967295"/>
          </p:nvPr>
        </p:nvSpPr>
        <p:spPr>
          <a:xfrm>
            <a:off x="0" y="1366838"/>
            <a:ext cx="10972800" cy="4881562"/>
          </a:xfrm>
        </p:spPr>
        <p:txBody>
          <a:bodyPr/>
          <a:lstStyle/>
          <a:p>
            <a:r>
              <a:rPr lang="en-IN" sz="2800" b="1" i="1" spc="10" dirty="0">
                <a:solidFill>
                  <a:srgbClr val="FF0000"/>
                </a:solidFill>
                <a:effectLst/>
                <a:latin typeface="Calibri" panose="020F0502020204030204" pitchFamily="34" charset="0"/>
                <a:ea typeface="Corbel" panose="020B0503020204020204" pitchFamily="34" charset="0"/>
              </a:rPr>
              <a:t>Space Complexity of an algorithm is total space taken by the algorithm with respect to the input size.</a:t>
            </a:r>
          </a:p>
          <a:p>
            <a:r>
              <a:rPr lang="en-IN" sz="2800" spc="10" dirty="0">
                <a:solidFill>
                  <a:srgbClr val="000000"/>
                </a:solidFill>
                <a:effectLst/>
                <a:latin typeface="Calibri" panose="020F0502020204030204" pitchFamily="34" charset="0"/>
                <a:ea typeface="Corbel" panose="020B0503020204020204" pitchFamily="34" charset="0"/>
              </a:rPr>
              <a:t>Space complexity includes </a:t>
            </a:r>
          </a:p>
          <a:p>
            <a:pPr>
              <a:buFont typeface="Arial" pitchFamily="34" charset="0"/>
              <a:buChar char="•"/>
            </a:pPr>
            <a:r>
              <a:rPr lang="en-IN" sz="2800" spc="10" dirty="0">
                <a:latin typeface="Calibri" panose="020F0502020204030204" pitchFamily="34" charset="0"/>
                <a:ea typeface="Corbel" panose="020B0503020204020204" pitchFamily="34" charset="0"/>
              </a:rPr>
              <a:t>	</a:t>
            </a:r>
            <a:r>
              <a:rPr lang="en-IN" sz="2800" spc="10" dirty="0">
                <a:solidFill>
                  <a:srgbClr val="000000"/>
                </a:solidFill>
                <a:effectLst/>
                <a:latin typeface="Calibri" panose="020F0502020204030204" pitchFamily="34" charset="0"/>
                <a:ea typeface="Corbel" panose="020B0503020204020204" pitchFamily="34" charset="0"/>
              </a:rPr>
              <a:t>Auxiliary space (Temporary Space) </a:t>
            </a:r>
          </a:p>
          <a:p>
            <a:pPr>
              <a:buFont typeface="Arial" pitchFamily="34" charset="0"/>
              <a:buChar char="•"/>
            </a:pPr>
            <a:r>
              <a:rPr lang="en-IN" sz="2800" spc="10" dirty="0">
                <a:latin typeface="Calibri" panose="020F0502020204030204" pitchFamily="34" charset="0"/>
                <a:ea typeface="Corbel" panose="020B0503020204020204" pitchFamily="34" charset="0"/>
              </a:rPr>
              <a:t>	S</a:t>
            </a:r>
            <a:r>
              <a:rPr lang="en-IN" sz="2800" spc="10" dirty="0">
                <a:solidFill>
                  <a:srgbClr val="000000"/>
                </a:solidFill>
                <a:effectLst/>
                <a:latin typeface="Calibri" panose="020F0502020204030204" pitchFamily="34" charset="0"/>
                <a:ea typeface="Corbel" panose="020B0503020204020204" pitchFamily="34" charset="0"/>
              </a:rPr>
              <a:t>pace used by input</a:t>
            </a:r>
            <a:endParaRPr lang="en-IN" sz="2800" dirty="0"/>
          </a:p>
        </p:txBody>
      </p:sp>
      <p:sp>
        <p:nvSpPr>
          <p:cNvPr id="4" name="Slide Number Placeholder 3">
            <a:extLst>
              <a:ext uri="{FF2B5EF4-FFF2-40B4-BE49-F238E27FC236}">
                <a16:creationId xmlns:a16="http://schemas.microsoft.com/office/drawing/2014/main" id="{B86C6300-F676-4326-8537-689CA17DB7E6}"/>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46</a:t>
            </a:fld>
            <a:endParaRPr lang="en-US" altLang="en-US"/>
          </a:p>
        </p:txBody>
      </p:sp>
    </p:spTree>
    <p:extLst>
      <p:ext uri="{BB962C8B-B14F-4D97-AF65-F5344CB8AC3E}">
        <p14:creationId xmlns:p14="http://schemas.microsoft.com/office/powerpoint/2010/main" val="2904709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3099-D4BE-47B7-97E9-9C3BC988126A}"/>
              </a:ext>
            </a:extLst>
          </p:cNvPr>
          <p:cNvSpPr>
            <a:spLocks noGrp="1"/>
          </p:cNvSpPr>
          <p:nvPr>
            <p:ph type="title" idx="4294967295"/>
          </p:nvPr>
        </p:nvSpPr>
        <p:spPr>
          <a:xfrm>
            <a:off x="-1" y="-148058"/>
            <a:ext cx="11999167" cy="1325563"/>
          </a:xfrm>
        </p:spPr>
        <p:txBody>
          <a:bodyPr>
            <a:normAutofit/>
          </a:bodyPr>
          <a:lstStyle/>
          <a:p>
            <a:r>
              <a:rPr lang="en-IN" sz="2800" dirty="0">
                <a:solidFill>
                  <a:schemeClr val="bg1"/>
                </a:solidFill>
              </a:rPr>
              <a:t>Component to Calculate Space Required by the Algorithm: Space Complexity</a:t>
            </a:r>
          </a:p>
        </p:txBody>
      </p:sp>
      <p:sp>
        <p:nvSpPr>
          <p:cNvPr id="3" name="Content Placeholder 2">
            <a:extLst>
              <a:ext uri="{FF2B5EF4-FFF2-40B4-BE49-F238E27FC236}">
                <a16:creationId xmlns:a16="http://schemas.microsoft.com/office/drawing/2014/main" id="{68017CCA-5975-459A-928B-E9DEF59306E1}"/>
              </a:ext>
            </a:extLst>
          </p:cNvPr>
          <p:cNvSpPr>
            <a:spLocks noGrp="1"/>
          </p:cNvSpPr>
          <p:nvPr>
            <p:ph idx="4294967295"/>
          </p:nvPr>
        </p:nvSpPr>
        <p:spPr>
          <a:xfrm>
            <a:off x="180975" y="1046956"/>
            <a:ext cx="10515600" cy="4351338"/>
          </a:xfrm>
        </p:spPr>
        <p:txBody>
          <a:bodyPr/>
          <a:lstStyle/>
          <a:p>
            <a:pPr marL="0" indent="0">
              <a:buNone/>
            </a:pPr>
            <a:r>
              <a:rPr lang="en-IN" sz="3200" b="1" spc="10" dirty="0">
                <a:solidFill>
                  <a:srgbClr val="000000"/>
                </a:solidFill>
                <a:effectLst/>
                <a:latin typeface="Calibri" panose="020F0502020204030204" pitchFamily="34" charset="0"/>
                <a:ea typeface="Corbel" panose="020B0503020204020204" pitchFamily="34" charset="0"/>
              </a:rPr>
              <a:t>1. Fixed Part</a:t>
            </a:r>
          </a:p>
          <a:p>
            <a:pPr marL="0" indent="0">
              <a:buNone/>
            </a:pPr>
            <a:r>
              <a:rPr lang="en-IN" sz="2800" spc="10" dirty="0">
                <a:solidFill>
                  <a:srgbClr val="000000"/>
                </a:solidFill>
                <a:effectLst/>
                <a:latin typeface="Calibri" panose="020F0502020204030204" pitchFamily="34" charset="0"/>
                <a:ea typeface="Corbel" panose="020B0503020204020204" pitchFamily="34" charset="0"/>
              </a:rPr>
              <a:t>fixed part is space for code this is independent of the input and output. This part includes the instruction space, space for simple variables, space for constant, so on.</a:t>
            </a:r>
          </a:p>
          <a:p>
            <a:pPr marL="0" indent="0">
              <a:buNone/>
            </a:pPr>
            <a:endParaRPr lang="en-IN" sz="2800" dirty="0"/>
          </a:p>
        </p:txBody>
      </p:sp>
      <p:sp>
        <p:nvSpPr>
          <p:cNvPr id="4" name="Slide Number Placeholder 3">
            <a:extLst>
              <a:ext uri="{FF2B5EF4-FFF2-40B4-BE49-F238E27FC236}">
                <a16:creationId xmlns:a16="http://schemas.microsoft.com/office/drawing/2014/main" id="{10CD2D23-3D52-467F-81C3-FA0E10A2354E}"/>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47</a:t>
            </a:fld>
            <a:endParaRPr lang="en-US" altLang="en-US"/>
          </a:p>
        </p:txBody>
      </p:sp>
      <p:sp>
        <p:nvSpPr>
          <p:cNvPr id="5" name="Text Box 50">
            <a:extLst>
              <a:ext uri="{FF2B5EF4-FFF2-40B4-BE49-F238E27FC236}">
                <a16:creationId xmlns:a16="http://schemas.microsoft.com/office/drawing/2014/main" id="{2EF08B2D-C8BB-4696-9DBD-13ADF72137AC}"/>
              </a:ext>
            </a:extLst>
          </p:cNvPr>
          <p:cNvSpPr txBox="1">
            <a:spLocks/>
          </p:cNvSpPr>
          <p:nvPr/>
        </p:nvSpPr>
        <p:spPr>
          <a:xfrm>
            <a:off x="1143000" y="3429000"/>
            <a:ext cx="2743200" cy="2514600"/>
          </a:xfrm>
          <a:prstGeom prst="rect">
            <a:avLst/>
          </a:prstGeom>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4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main()</a:t>
            </a:r>
            <a:endParaRPr lang="en-IN" sz="2400" dirty="0">
              <a:effectLst/>
              <a:ea typeface="Corbel" panose="020B0503020204020204" pitchFamily="34" charset="0"/>
              <a:cs typeface="Times New Roman" panose="02020603050405020304" pitchFamily="18" charset="0"/>
            </a:endParaRPr>
          </a:p>
          <a:p>
            <a:pPr>
              <a:lnSpc>
                <a:spcPct val="107000"/>
              </a:lnSpc>
              <a:spcAft>
                <a:spcPts val="800"/>
              </a:spcAft>
            </a:pPr>
            <a:r>
              <a:rPr lang="en-US" sz="24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a:t>
            </a:r>
            <a:endParaRPr lang="en-IN" sz="2400" dirty="0">
              <a:effectLst/>
              <a:ea typeface="Corbel" panose="020B0503020204020204" pitchFamily="34" charset="0"/>
              <a:cs typeface="Times New Roman" panose="02020603050405020304" pitchFamily="18" charset="0"/>
            </a:endParaRPr>
          </a:p>
          <a:p>
            <a:pPr>
              <a:lnSpc>
                <a:spcPct val="107000"/>
              </a:lnSpc>
              <a:spcAft>
                <a:spcPts val="800"/>
              </a:spcAft>
            </a:pPr>
            <a:r>
              <a:rPr lang="en-US" sz="24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int n =10;</a:t>
            </a:r>
            <a:endParaRPr lang="en-IN" sz="2400" dirty="0">
              <a:effectLst/>
              <a:ea typeface="Corbel" panose="020B0503020204020204" pitchFamily="34" charset="0"/>
              <a:cs typeface="Times New Roman" panose="02020603050405020304" pitchFamily="18" charset="0"/>
            </a:endParaRPr>
          </a:p>
          <a:p>
            <a:pPr>
              <a:lnSpc>
                <a:spcPct val="107000"/>
              </a:lnSpc>
              <a:spcAft>
                <a:spcPts val="800"/>
              </a:spcAft>
            </a:pPr>
            <a:r>
              <a:rPr lang="en-US" sz="2400" b="1" dirty="0" err="1">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printf</a:t>
            </a:r>
            <a:r>
              <a:rPr lang="en-US" sz="24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(“%d”, n);</a:t>
            </a:r>
            <a:endParaRPr lang="en-IN" sz="2400" dirty="0">
              <a:effectLst/>
              <a:ea typeface="Corbel" panose="020B0503020204020204" pitchFamily="34" charset="0"/>
              <a:cs typeface="Times New Roman" panose="02020603050405020304" pitchFamily="18" charset="0"/>
            </a:endParaRPr>
          </a:p>
          <a:p>
            <a:pPr>
              <a:lnSpc>
                <a:spcPct val="107000"/>
              </a:lnSpc>
              <a:spcAft>
                <a:spcPts val="800"/>
              </a:spcAft>
            </a:pPr>
            <a:r>
              <a:rPr lang="en-US" sz="24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a:t>
            </a:r>
            <a:endParaRPr lang="en-IN" sz="2400" dirty="0">
              <a:effectLst/>
              <a:ea typeface="Corbel" panose="020B0503020204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B7B2E8C-7CE9-43EF-AD48-2BB451EFB5C1}"/>
              </a:ext>
            </a:extLst>
          </p:cNvPr>
          <p:cNvSpPr>
            <a:spLocks/>
          </p:cNvSpPr>
          <p:nvPr/>
        </p:nvSpPr>
        <p:spPr>
          <a:xfrm>
            <a:off x="5438775" y="3581400"/>
            <a:ext cx="4665345" cy="14249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457200">
              <a:lnSpc>
                <a:spcPct val="107000"/>
              </a:lnSpc>
              <a:spcAft>
                <a:spcPts val="800"/>
              </a:spcAft>
            </a:pPr>
            <a:r>
              <a:rPr lang="en-IN" sz="1600" b="1" dirty="0">
                <a:solidFill>
                  <a:srgbClr val="000000"/>
                </a:solidFill>
                <a:effectLst/>
                <a:highlight>
                  <a:srgbClr val="00FF00"/>
                </a:highlight>
                <a:latin typeface="Calibri" panose="020F0502020204030204" pitchFamily="34" charset="0"/>
                <a:ea typeface="Corbel" panose="020B0503020204020204" pitchFamily="34" charset="0"/>
                <a:cs typeface="Times New Roman" panose="02020603050405020304" pitchFamily="18" charset="0"/>
              </a:rPr>
              <a:t>n has fixed value that is 10 and size of integer type data is fixed in Memory (2 for 32-bit compiler and 4 for 64 bit) compiler).</a:t>
            </a:r>
            <a:endParaRPr lang="en-IN" sz="16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7" name="Arrow: Right 6">
            <a:extLst>
              <a:ext uri="{FF2B5EF4-FFF2-40B4-BE49-F238E27FC236}">
                <a16:creationId xmlns:a16="http://schemas.microsoft.com/office/drawing/2014/main" id="{3A8B86C8-117E-4880-9180-F4B4DFFA3BC3}"/>
              </a:ext>
            </a:extLst>
          </p:cNvPr>
          <p:cNvSpPr>
            <a:spLocks/>
          </p:cNvSpPr>
          <p:nvPr/>
        </p:nvSpPr>
        <p:spPr>
          <a:xfrm>
            <a:off x="3864964" y="3808095"/>
            <a:ext cx="1573811" cy="971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Tree>
    <p:extLst>
      <p:ext uri="{BB962C8B-B14F-4D97-AF65-F5344CB8AC3E}">
        <p14:creationId xmlns:p14="http://schemas.microsoft.com/office/powerpoint/2010/main" val="38301340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E3DF3-9C1F-4107-ADA8-7A5C1809CAE9}"/>
              </a:ext>
            </a:extLst>
          </p:cNvPr>
          <p:cNvSpPr>
            <a:spLocks noGrp="1"/>
          </p:cNvSpPr>
          <p:nvPr>
            <p:ph type="title" idx="4294967295"/>
          </p:nvPr>
        </p:nvSpPr>
        <p:spPr>
          <a:xfrm>
            <a:off x="77755" y="-80168"/>
            <a:ext cx="12036490" cy="1325563"/>
          </a:xfrm>
        </p:spPr>
        <p:txBody>
          <a:bodyPr>
            <a:normAutofit/>
          </a:bodyPr>
          <a:lstStyle/>
          <a:p>
            <a:r>
              <a:rPr lang="en-IN" sz="4000" dirty="0">
                <a:solidFill>
                  <a:schemeClr val="bg1"/>
                </a:solidFill>
              </a:rPr>
              <a:t>Component to Calculate Space Required by the Algorithm</a:t>
            </a:r>
          </a:p>
        </p:txBody>
      </p:sp>
      <p:sp>
        <p:nvSpPr>
          <p:cNvPr id="3" name="Content Placeholder 2">
            <a:extLst>
              <a:ext uri="{FF2B5EF4-FFF2-40B4-BE49-F238E27FC236}">
                <a16:creationId xmlns:a16="http://schemas.microsoft.com/office/drawing/2014/main" id="{7D2AE617-071A-4624-AD54-DA02EF81EC10}"/>
              </a:ext>
            </a:extLst>
          </p:cNvPr>
          <p:cNvSpPr>
            <a:spLocks noGrp="1"/>
          </p:cNvSpPr>
          <p:nvPr>
            <p:ph idx="4294967295"/>
          </p:nvPr>
        </p:nvSpPr>
        <p:spPr>
          <a:xfrm>
            <a:off x="186612" y="1062203"/>
            <a:ext cx="10515600" cy="4351338"/>
          </a:xfrm>
        </p:spPr>
        <p:txBody>
          <a:bodyPr/>
          <a:lstStyle/>
          <a:p>
            <a:pPr marL="0" indent="0">
              <a:buNone/>
            </a:pPr>
            <a:r>
              <a:rPr lang="en-IN" sz="3200" b="1" dirty="0">
                <a:latin typeface="Calibri" panose="020F0502020204030204" pitchFamily="34" charset="0"/>
                <a:cs typeface="Calibri" panose="020F0502020204030204" pitchFamily="34" charset="0"/>
              </a:rPr>
              <a:t>2. Variable Part</a:t>
            </a:r>
          </a:p>
          <a:p>
            <a:pPr marL="0" indent="0">
              <a:buNone/>
            </a:pPr>
            <a:r>
              <a:rPr lang="en-IN" sz="2800" spc="10" dirty="0">
                <a:solidFill>
                  <a:srgbClr val="000000"/>
                </a:solidFill>
                <a:effectLst/>
                <a:latin typeface="Calibri" panose="020F0502020204030204" pitchFamily="34" charset="0"/>
                <a:ea typeface="Corbel" panose="020B0503020204020204" pitchFamily="34" charset="0"/>
                <a:cs typeface="Calibri" panose="020F0502020204030204" pitchFamily="34" charset="0"/>
              </a:rPr>
              <a:t>Variable part that consists of the space needed by component variable whose size is dependent on the particular problem. This part includes space needed by referenced variables and the recursion stack space.</a:t>
            </a:r>
            <a:endParaRPr lang="en-IN" sz="2800" b="1"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2B5B139-96AF-4AD9-BB1B-248BEFE056D0}"/>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48</a:t>
            </a:fld>
            <a:endParaRPr lang="en-US" altLang="en-US"/>
          </a:p>
        </p:txBody>
      </p:sp>
      <p:sp>
        <p:nvSpPr>
          <p:cNvPr id="5" name="Text Box 51">
            <a:extLst>
              <a:ext uri="{FF2B5EF4-FFF2-40B4-BE49-F238E27FC236}">
                <a16:creationId xmlns:a16="http://schemas.microsoft.com/office/drawing/2014/main" id="{0A7B338D-C60A-4680-8790-1C5E6339D640}"/>
              </a:ext>
            </a:extLst>
          </p:cNvPr>
          <p:cNvSpPr txBox="1">
            <a:spLocks/>
          </p:cNvSpPr>
          <p:nvPr/>
        </p:nvSpPr>
        <p:spPr>
          <a:xfrm>
            <a:off x="1143000" y="3070638"/>
            <a:ext cx="2743200" cy="2613653"/>
          </a:xfrm>
          <a:prstGeom prst="rect">
            <a:avLst/>
          </a:prstGeom>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Algorithm fact(int n) </a:t>
            </a:r>
            <a:endParaRPr lang="en-IN" sz="2000" dirty="0">
              <a:effectLst/>
              <a:ea typeface="Corbel" panose="020B0503020204020204" pitchFamily="34" charset="0"/>
              <a:cs typeface="Times New Roman" panose="02020603050405020304" pitchFamily="18" charset="0"/>
            </a:endParaRPr>
          </a:p>
          <a:p>
            <a:pPr>
              <a:lnSpc>
                <a:spcPct val="107000"/>
              </a:lnSpc>
              <a:spcAft>
                <a:spcPts val="800"/>
              </a:spcAft>
            </a:pPr>
            <a:r>
              <a:rPr lang="en-US"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a:t>
            </a:r>
            <a:endParaRPr lang="en-IN" sz="2000" dirty="0">
              <a:effectLst/>
              <a:ea typeface="Corbel" panose="020B0503020204020204" pitchFamily="34" charset="0"/>
              <a:cs typeface="Times New Roman" panose="02020603050405020304" pitchFamily="18" charset="0"/>
            </a:endParaRPr>
          </a:p>
          <a:p>
            <a:pPr>
              <a:lnSpc>
                <a:spcPct val="107000"/>
              </a:lnSpc>
              <a:spcAft>
                <a:spcPts val="800"/>
              </a:spcAft>
            </a:pPr>
            <a:r>
              <a:rPr lang="en-US"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If (n==0)</a:t>
            </a:r>
            <a:endParaRPr lang="en-IN" sz="2000" dirty="0">
              <a:effectLst/>
              <a:ea typeface="Corbel" panose="020B0503020204020204" pitchFamily="34" charset="0"/>
              <a:cs typeface="Times New Roman" panose="02020603050405020304" pitchFamily="18" charset="0"/>
            </a:endParaRPr>
          </a:p>
          <a:p>
            <a:pPr>
              <a:lnSpc>
                <a:spcPct val="107000"/>
              </a:lnSpc>
              <a:spcAft>
                <a:spcPts val="800"/>
              </a:spcAft>
            </a:pPr>
            <a:r>
              <a:rPr lang="en-US"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 return 1;</a:t>
            </a:r>
            <a:endParaRPr lang="en-IN" sz="2000" dirty="0">
              <a:effectLst/>
              <a:ea typeface="Corbel" panose="020B0503020204020204" pitchFamily="34" charset="0"/>
              <a:cs typeface="Times New Roman" panose="02020603050405020304" pitchFamily="18" charset="0"/>
            </a:endParaRPr>
          </a:p>
          <a:p>
            <a:pPr>
              <a:lnSpc>
                <a:spcPct val="107000"/>
              </a:lnSpc>
              <a:spcAft>
                <a:spcPts val="800"/>
              </a:spcAft>
            </a:pPr>
            <a:r>
              <a:rPr lang="en-US"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return n* fact(n-1);</a:t>
            </a:r>
            <a:endParaRPr lang="en-IN" sz="2000" dirty="0">
              <a:effectLst/>
              <a:ea typeface="Corbel" panose="020B0503020204020204" pitchFamily="34" charset="0"/>
              <a:cs typeface="Times New Roman" panose="02020603050405020304" pitchFamily="18" charset="0"/>
            </a:endParaRPr>
          </a:p>
          <a:p>
            <a:pPr>
              <a:lnSpc>
                <a:spcPct val="107000"/>
              </a:lnSpc>
              <a:spcAft>
                <a:spcPts val="800"/>
              </a:spcAft>
            </a:pPr>
            <a:r>
              <a:rPr lang="en-US" sz="2000" b="1"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a:t>
            </a:r>
            <a:endParaRPr lang="en-IN" sz="2000" dirty="0">
              <a:effectLst/>
              <a:ea typeface="Corbel" panose="020B0503020204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F57171D-3B3D-4737-A515-87EE80359E04}"/>
              </a:ext>
            </a:extLst>
          </p:cNvPr>
          <p:cNvSpPr>
            <a:spLocks/>
          </p:cNvSpPr>
          <p:nvPr/>
        </p:nvSpPr>
        <p:spPr>
          <a:xfrm>
            <a:off x="5714999" y="3431314"/>
            <a:ext cx="4902200" cy="1760669"/>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a:lnSpc>
                <a:spcPct val="107000"/>
              </a:lnSpc>
              <a:spcAft>
                <a:spcPts val="800"/>
              </a:spcAft>
            </a:pPr>
            <a:r>
              <a:rPr lang="en-IN" sz="2000" b="1" spc="10" dirty="0">
                <a:solidFill>
                  <a:srgbClr val="000000"/>
                </a:solidFill>
                <a:effectLst/>
                <a:highlight>
                  <a:srgbClr val="00FF00"/>
                </a:highlight>
                <a:ea typeface="Corbel" panose="020B0503020204020204" pitchFamily="34" charset="0"/>
                <a:cs typeface="Corbel" panose="020B0503020204020204" pitchFamily="34" charset="0"/>
              </a:rPr>
              <a:t>Memory taken by the Algorithm fact is dependent upon the value of n.</a:t>
            </a:r>
            <a:endParaRPr lang="en-IN" sz="20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7" name="Arrow: Right 6">
            <a:extLst>
              <a:ext uri="{FF2B5EF4-FFF2-40B4-BE49-F238E27FC236}">
                <a16:creationId xmlns:a16="http://schemas.microsoft.com/office/drawing/2014/main" id="{57C40D84-6067-4D92-A199-4042333759F6}"/>
              </a:ext>
            </a:extLst>
          </p:cNvPr>
          <p:cNvSpPr>
            <a:spLocks/>
          </p:cNvSpPr>
          <p:nvPr/>
        </p:nvSpPr>
        <p:spPr>
          <a:xfrm>
            <a:off x="3886200" y="4311649"/>
            <a:ext cx="1828799" cy="5651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Tree>
    <p:extLst>
      <p:ext uri="{BB962C8B-B14F-4D97-AF65-F5344CB8AC3E}">
        <p14:creationId xmlns:p14="http://schemas.microsoft.com/office/powerpoint/2010/main" val="3014018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3ADD-8441-4015-ACB6-1B003D866380}"/>
              </a:ext>
            </a:extLst>
          </p:cNvPr>
          <p:cNvSpPr>
            <a:spLocks noGrp="1"/>
          </p:cNvSpPr>
          <p:nvPr>
            <p:ph type="title" idx="4294967295"/>
          </p:nvPr>
        </p:nvSpPr>
        <p:spPr>
          <a:xfrm>
            <a:off x="0" y="-361823"/>
            <a:ext cx="10515600" cy="1325563"/>
          </a:xfrm>
        </p:spPr>
        <p:txBody>
          <a:bodyPr/>
          <a:lstStyle/>
          <a:p>
            <a:r>
              <a:rPr lang="en-IN" dirty="0">
                <a:solidFill>
                  <a:schemeClr val="bg1"/>
                </a:solidFill>
              </a:rPr>
              <a:t>Time Complexity</a:t>
            </a:r>
          </a:p>
        </p:txBody>
      </p:sp>
      <p:sp>
        <p:nvSpPr>
          <p:cNvPr id="3" name="Content Placeholder 2">
            <a:extLst>
              <a:ext uri="{FF2B5EF4-FFF2-40B4-BE49-F238E27FC236}">
                <a16:creationId xmlns:a16="http://schemas.microsoft.com/office/drawing/2014/main" id="{62E9FA4E-A7B0-4683-8220-D7A0DF5584A2}"/>
              </a:ext>
            </a:extLst>
          </p:cNvPr>
          <p:cNvSpPr>
            <a:spLocks noGrp="1"/>
          </p:cNvSpPr>
          <p:nvPr>
            <p:ph idx="4294967295"/>
          </p:nvPr>
        </p:nvSpPr>
        <p:spPr>
          <a:xfrm>
            <a:off x="0" y="1066800"/>
            <a:ext cx="10972800" cy="4881563"/>
          </a:xfrm>
        </p:spPr>
        <p:txBody>
          <a:bodyPr/>
          <a:lstStyle/>
          <a:p>
            <a:pPr marL="0" indent="0" algn="just">
              <a:buNone/>
            </a:pPr>
            <a:r>
              <a:rPr lang="en-IN" sz="2800" spc="10" dirty="0">
                <a:solidFill>
                  <a:srgbClr val="000000"/>
                </a:solidFill>
                <a:effectLst/>
                <a:latin typeface="Calibri" panose="020F0502020204030204" pitchFamily="34" charset="0"/>
                <a:ea typeface="Corbel" panose="020B0503020204020204" pitchFamily="34" charset="0"/>
                <a:cs typeface="Calibri" panose="020F0502020204030204" pitchFamily="34" charset="0"/>
              </a:rPr>
              <a:t>The time complexity T(P) taken by a program P is the sum of the compile time and run (execution) time. Compiler time does not depend on the instance characteristics. Also we assume that a compiled program will be run several times without recompilation. That is why we focus only on Run (Execution) Time.</a:t>
            </a:r>
            <a:endParaRPr lang="en-IN" sz="2800" dirty="0">
              <a:effectLst/>
              <a:latin typeface="Calibri" panose="020F0502020204030204" pitchFamily="34" charset="0"/>
              <a:ea typeface="Corbel" panose="020B0503020204020204" pitchFamily="34" charset="0"/>
              <a:cs typeface="Calibri" panose="020F0502020204030204" pitchFamily="34" charset="0"/>
            </a:endParaRPr>
          </a:p>
          <a:p>
            <a:pPr marL="0" indent="0">
              <a:buNone/>
            </a:pPr>
            <a:r>
              <a:rPr lang="en-IN" b="1" i="1" spc="10" dirty="0">
                <a:solidFill>
                  <a:srgbClr val="FF0000"/>
                </a:solidFill>
                <a:effectLst/>
                <a:latin typeface="Calibri" panose="020F0502020204030204" pitchFamily="34" charset="0"/>
                <a:ea typeface="Corbel" panose="020B0503020204020204" pitchFamily="34" charset="0"/>
              </a:rPr>
              <a:t>Given the set of instruction (Pseudo code), Compute time complexity </a:t>
            </a:r>
          </a:p>
          <a:p>
            <a:pPr marL="0" indent="0">
              <a:buNone/>
            </a:pPr>
            <a:endParaRPr lang="en-IN" dirty="0">
              <a:solidFill>
                <a:srgbClr val="FF0000"/>
              </a:solidFill>
            </a:endParaRPr>
          </a:p>
        </p:txBody>
      </p:sp>
      <p:sp>
        <p:nvSpPr>
          <p:cNvPr id="4" name="Slide Number Placeholder 3">
            <a:extLst>
              <a:ext uri="{FF2B5EF4-FFF2-40B4-BE49-F238E27FC236}">
                <a16:creationId xmlns:a16="http://schemas.microsoft.com/office/drawing/2014/main" id="{A57BE431-FEAB-47BB-97DE-0833B4F19E14}"/>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49</a:t>
            </a:fld>
            <a:endParaRPr lang="en-US" altLang="en-US"/>
          </a:p>
        </p:txBody>
      </p:sp>
      <p:graphicFrame>
        <p:nvGraphicFramePr>
          <p:cNvPr id="5" name="Table 4">
            <a:extLst>
              <a:ext uri="{FF2B5EF4-FFF2-40B4-BE49-F238E27FC236}">
                <a16:creationId xmlns:a16="http://schemas.microsoft.com/office/drawing/2014/main" id="{87E27150-ADB1-4E24-AC95-3030AB4E77E7}"/>
              </a:ext>
            </a:extLst>
          </p:cNvPr>
          <p:cNvGraphicFramePr>
            <a:graphicFrameLocks noGrp="1"/>
          </p:cNvGraphicFramePr>
          <p:nvPr>
            <p:extLst>
              <p:ext uri="{D42A27DB-BD31-4B8C-83A1-F6EECF244321}">
                <p14:modId xmlns:p14="http://schemas.microsoft.com/office/powerpoint/2010/main" val="815943024"/>
              </p:ext>
            </p:extLst>
          </p:nvPr>
        </p:nvGraphicFramePr>
        <p:xfrm>
          <a:off x="620486" y="3513437"/>
          <a:ext cx="3276600" cy="2434926"/>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1448896294"/>
                    </a:ext>
                  </a:extLst>
                </a:gridCol>
              </a:tblGrid>
              <a:tr h="363393">
                <a:tc>
                  <a:txBody>
                    <a:bodyPr/>
                    <a:lstStyle/>
                    <a:p>
                      <a:pPr>
                        <a:lnSpc>
                          <a:spcPct val="115000"/>
                        </a:lnSpc>
                        <a:spcAft>
                          <a:spcPts val="800"/>
                        </a:spcAft>
                      </a:pPr>
                      <a:r>
                        <a:rPr lang="en-IN" sz="2000" b="1" dirty="0">
                          <a:effectLst/>
                        </a:rPr>
                        <a:t>Algorithm sum(</a:t>
                      </a:r>
                      <a:r>
                        <a:rPr lang="en-IN" sz="2000" b="1" dirty="0" err="1">
                          <a:effectLst/>
                        </a:rPr>
                        <a:t>a,n</a:t>
                      </a:r>
                      <a:r>
                        <a:rPr lang="en-IN" sz="2000" b="1" dirty="0">
                          <a:effectLst/>
                        </a:rPr>
                        <a:t>)</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2414932"/>
                  </a:ext>
                </a:extLst>
              </a:tr>
              <a:tr h="377370">
                <a:tc>
                  <a:txBody>
                    <a:bodyPr/>
                    <a:lstStyle/>
                    <a:p>
                      <a:pPr>
                        <a:lnSpc>
                          <a:spcPct val="115000"/>
                        </a:lnSpc>
                        <a:spcAft>
                          <a:spcPts val="800"/>
                        </a:spcAft>
                      </a:pPr>
                      <a:r>
                        <a:rPr lang="en-IN" sz="2000" b="1" dirty="0">
                          <a:effectLst/>
                        </a:rPr>
                        <a:t>{</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9062516"/>
                  </a:ext>
                </a:extLst>
              </a:tr>
              <a:tr h="363393">
                <a:tc>
                  <a:txBody>
                    <a:bodyPr/>
                    <a:lstStyle/>
                    <a:p>
                      <a:pPr>
                        <a:lnSpc>
                          <a:spcPct val="115000"/>
                        </a:lnSpc>
                        <a:spcAft>
                          <a:spcPts val="800"/>
                        </a:spcAft>
                      </a:pPr>
                      <a:r>
                        <a:rPr lang="en-IN" sz="2000" b="1" dirty="0">
                          <a:effectLst/>
                        </a:rPr>
                        <a:t>        s=0.0;</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1309958"/>
                  </a:ext>
                </a:extLst>
              </a:tr>
              <a:tr h="335439">
                <a:tc>
                  <a:txBody>
                    <a:bodyPr/>
                    <a:lstStyle/>
                    <a:p>
                      <a:pPr>
                        <a:lnSpc>
                          <a:spcPct val="115000"/>
                        </a:lnSpc>
                        <a:spcAft>
                          <a:spcPts val="800"/>
                        </a:spcAft>
                      </a:pPr>
                      <a:r>
                        <a:rPr lang="en-IN" sz="2000" b="1" dirty="0">
                          <a:effectLst/>
                        </a:rPr>
                        <a:t>        for </a:t>
                      </a:r>
                      <a:r>
                        <a:rPr lang="en-IN" sz="2000" b="1" dirty="0" err="1">
                          <a:effectLst/>
                        </a:rPr>
                        <a:t>i</a:t>
                      </a:r>
                      <a:r>
                        <a:rPr lang="en-IN" sz="2000" b="1" dirty="0">
                          <a:effectLst/>
                        </a:rPr>
                        <a:t>=1 to n do</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510892"/>
                  </a:ext>
                </a:extLst>
              </a:tr>
              <a:tr h="335439">
                <a:tc>
                  <a:txBody>
                    <a:bodyPr/>
                    <a:lstStyle/>
                    <a:p>
                      <a:pPr>
                        <a:lnSpc>
                          <a:spcPct val="115000"/>
                        </a:lnSpc>
                        <a:spcAft>
                          <a:spcPts val="800"/>
                        </a:spcAft>
                      </a:pPr>
                      <a:r>
                        <a:rPr lang="en-IN" sz="2000" b="1" dirty="0">
                          <a:effectLst/>
                        </a:rPr>
                        <a:t>                  s=</a:t>
                      </a:r>
                      <a:r>
                        <a:rPr lang="en-IN" sz="2000" b="1" dirty="0" err="1">
                          <a:effectLst/>
                        </a:rPr>
                        <a:t>s+a</a:t>
                      </a:r>
                      <a:r>
                        <a:rPr lang="en-IN" sz="2000" b="1" dirty="0">
                          <a:effectLst/>
                        </a:rPr>
                        <a:t>[</a:t>
                      </a:r>
                      <a:r>
                        <a:rPr lang="en-IN" sz="2000" b="1" dirty="0" err="1">
                          <a:effectLst/>
                        </a:rPr>
                        <a:t>i</a:t>
                      </a:r>
                      <a:r>
                        <a:rPr lang="en-IN" sz="2000" b="1" dirty="0">
                          <a:effectLst/>
                        </a:rPr>
                        <a:t>];</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00968680"/>
                  </a:ext>
                </a:extLst>
              </a:tr>
              <a:tr h="44115">
                <a:tc>
                  <a:txBody>
                    <a:bodyPr/>
                    <a:lstStyle/>
                    <a:p>
                      <a:pPr>
                        <a:lnSpc>
                          <a:spcPct val="115000"/>
                        </a:lnSpc>
                        <a:spcAft>
                          <a:spcPts val="800"/>
                        </a:spcAft>
                      </a:pPr>
                      <a:r>
                        <a:rPr lang="en-IN" sz="2000" b="1" dirty="0">
                          <a:effectLst/>
                        </a:rPr>
                        <a:t>        return s;</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55811709"/>
                  </a:ext>
                </a:extLst>
              </a:tr>
              <a:tr h="288758">
                <a:tc>
                  <a:txBody>
                    <a:bodyPr/>
                    <a:lstStyle/>
                    <a:p>
                      <a:pPr>
                        <a:lnSpc>
                          <a:spcPct val="115000"/>
                        </a:lnSpc>
                        <a:spcAft>
                          <a:spcPts val="800"/>
                        </a:spcAft>
                      </a:pPr>
                      <a:r>
                        <a:rPr lang="en-IN" sz="2000" b="1" dirty="0">
                          <a:effectLst/>
                        </a:rPr>
                        <a:t>}</a:t>
                      </a:r>
                      <a:endParaRPr lang="en-IN" sz="2000" b="1" dirty="0">
                        <a:effectLst/>
                        <a:latin typeface="Corbel" panose="020B0503020204020204" pitchFamily="34" charset="0"/>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3571641"/>
                  </a:ext>
                </a:extLst>
              </a:tr>
            </a:tbl>
          </a:graphicData>
        </a:graphic>
      </p:graphicFrame>
    </p:spTree>
    <p:extLst>
      <p:ext uri="{BB962C8B-B14F-4D97-AF65-F5344CB8AC3E}">
        <p14:creationId xmlns:p14="http://schemas.microsoft.com/office/powerpoint/2010/main" val="12981983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325FD-9CBA-4C19-AB16-BA6DA908AB03}"/>
              </a:ext>
            </a:extLst>
          </p:cNvPr>
          <p:cNvSpPr>
            <a:spLocks noGrp="1"/>
          </p:cNvSpPr>
          <p:nvPr>
            <p:ph type="title" idx="4294967295"/>
          </p:nvPr>
        </p:nvSpPr>
        <p:spPr>
          <a:xfrm>
            <a:off x="0" y="0"/>
            <a:ext cx="9915525" cy="1017588"/>
          </a:xfrm>
        </p:spPr>
        <p:txBody>
          <a:bodyPr/>
          <a:lstStyle/>
          <a:p>
            <a:r>
              <a:rPr lang="en-IN" dirty="0">
                <a:solidFill>
                  <a:schemeClr val="bg1"/>
                </a:solidFill>
              </a:rPr>
              <a:t>Example 1: </a:t>
            </a:r>
          </a:p>
        </p:txBody>
      </p:sp>
      <p:graphicFrame>
        <p:nvGraphicFramePr>
          <p:cNvPr id="5" name="Content Placeholder 4">
            <a:extLst>
              <a:ext uri="{FF2B5EF4-FFF2-40B4-BE49-F238E27FC236}">
                <a16:creationId xmlns:a16="http://schemas.microsoft.com/office/drawing/2014/main" id="{5E0F797C-A9F0-4F1C-A6F0-51689B15455C}"/>
              </a:ext>
            </a:extLst>
          </p:cNvPr>
          <p:cNvGraphicFramePr>
            <a:graphicFrameLocks noGrp="1"/>
          </p:cNvGraphicFramePr>
          <p:nvPr>
            <p:ph idx="4294967295"/>
            <p:extLst>
              <p:ext uri="{D42A27DB-BD31-4B8C-83A1-F6EECF244321}">
                <p14:modId xmlns:p14="http://schemas.microsoft.com/office/powerpoint/2010/main" val="1626000078"/>
              </p:ext>
            </p:extLst>
          </p:nvPr>
        </p:nvGraphicFramePr>
        <p:xfrm>
          <a:off x="276808" y="908684"/>
          <a:ext cx="10515599" cy="4530749"/>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2108704358"/>
                    </a:ext>
                  </a:extLst>
                </a:gridCol>
                <a:gridCol w="3048000">
                  <a:extLst>
                    <a:ext uri="{9D8B030D-6E8A-4147-A177-3AD203B41FA5}">
                      <a16:colId xmlns:a16="http://schemas.microsoft.com/office/drawing/2014/main" val="2142880207"/>
                    </a:ext>
                  </a:extLst>
                </a:gridCol>
                <a:gridCol w="2057400">
                  <a:extLst>
                    <a:ext uri="{9D8B030D-6E8A-4147-A177-3AD203B41FA5}">
                      <a16:colId xmlns:a16="http://schemas.microsoft.com/office/drawing/2014/main" val="2045267364"/>
                    </a:ext>
                  </a:extLst>
                </a:gridCol>
                <a:gridCol w="1752600">
                  <a:extLst>
                    <a:ext uri="{9D8B030D-6E8A-4147-A177-3AD203B41FA5}">
                      <a16:colId xmlns:a16="http://schemas.microsoft.com/office/drawing/2014/main" val="2242780268"/>
                    </a:ext>
                  </a:extLst>
                </a:gridCol>
              </a:tblGrid>
              <a:tr h="925838">
                <a:tc>
                  <a:txBody>
                    <a:bodyPr/>
                    <a:lstStyle/>
                    <a:p>
                      <a:pPr>
                        <a:lnSpc>
                          <a:spcPct val="115000"/>
                        </a:lnSpc>
                        <a:spcAft>
                          <a:spcPts val="800"/>
                        </a:spcAft>
                      </a:pPr>
                      <a:r>
                        <a:rPr lang="en-IN" sz="2400" b="1" dirty="0">
                          <a:effectLst/>
                          <a:latin typeface="Calibri" pitchFamily="34" charset="0"/>
                          <a:cs typeface="Calibri" pitchFamily="34" charset="0"/>
                        </a:rPr>
                        <a:t>Statement</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Step/execution (s/e)</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Frequency</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Total step</a:t>
                      </a:r>
                      <a:endParaRPr lang="en-IN" sz="2400" b="1">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2623812368"/>
                  </a:ext>
                </a:extLst>
              </a:tr>
              <a:tr h="521962">
                <a:tc>
                  <a:txBody>
                    <a:bodyPr/>
                    <a:lstStyle/>
                    <a:p>
                      <a:pPr>
                        <a:lnSpc>
                          <a:spcPct val="115000"/>
                        </a:lnSpc>
                        <a:spcAft>
                          <a:spcPts val="800"/>
                        </a:spcAft>
                      </a:pPr>
                      <a:r>
                        <a:rPr lang="en-IN" sz="2400" b="1" dirty="0">
                          <a:effectLst/>
                          <a:latin typeface="Calibri" pitchFamily="34" charset="0"/>
                          <a:cs typeface="Calibri" pitchFamily="34" charset="0"/>
                        </a:rPr>
                        <a:t>Algorithm sum(</a:t>
                      </a:r>
                      <a:r>
                        <a:rPr lang="en-IN" sz="2400" b="1" dirty="0" err="1">
                          <a:effectLst/>
                          <a:latin typeface="Calibri" pitchFamily="34" charset="0"/>
                          <a:cs typeface="Calibri" pitchFamily="34" charset="0"/>
                        </a:rPr>
                        <a:t>a,n</a:t>
                      </a:r>
                      <a:r>
                        <a:rPr lang="en-IN" sz="2400" b="1" dirty="0">
                          <a:effectLst/>
                          <a:latin typeface="Calibri" pitchFamily="34" charset="0"/>
                          <a:cs typeface="Calibri" pitchFamily="34" charset="0"/>
                        </a:rPr>
                        <a:t>)</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0</a:t>
                      </a:r>
                      <a:endParaRPr lang="en-IN" sz="2400" b="1">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1</a:t>
                      </a:r>
                      <a:endParaRPr lang="en-IN" sz="2400" b="1">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3615377344"/>
                  </a:ext>
                </a:extLst>
              </a:tr>
              <a:tr h="584876">
                <a:tc>
                  <a:txBody>
                    <a:bodyPr/>
                    <a:lstStyle/>
                    <a:p>
                      <a:pPr>
                        <a:lnSpc>
                          <a:spcPct val="115000"/>
                        </a:lnSpc>
                        <a:spcAft>
                          <a:spcPts val="800"/>
                        </a:spcAft>
                      </a:pPr>
                      <a:r>
                        <a:rPr lang="en-IN" sz="2400" b="1" dirty="0">
                          <a:effectLst/>
                          <a:latin typeface="Calibri" pitchFamily="34" charset="0"/>
                          <a:cs typeface="Calibri" pitchFamily="34" charset="0"/>
                        </a:rPr>
                        <a:t>{</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1</a:t>
                      </a:r>
                      <a:endParaRPr lang="en-IN" sz="2400" b="1">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0</a:t>
                      </a:r>
                      <a:endParaRPr lang="en-IN" sz="2400" b="1">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639712791"/>
                  </a:ext>
                </a:extLst>
              </a:tr>
              <a:tr h="563213">
                <a:tc>
                  <a:txBody>
                    <a:bodyPr/>
                    <a:lstStyle/>
                    <a:p>
                      <a:pPr>
                        <a:lnSpc>
                          <a:spcPct val="115000"/>
                        </a:lnSpc>
                        <a:spcAft>
                          <a:spcPts val="800"/>
                        </a:spcAft>
                      </a:pPr>
                      <a:r>
                        <a:rPr lang="en-IN" sz="2400" b="1" dirty="0">
                          <a:effectLst/>
                          <a:latin typeface="Calibri" pitchFamily="34" charset="0"/>
                          <a:cs typeface="Calibri" pitchFamily="34" charset="0"/>
                        </a:rPr>
                        <a:t>        s=0.0;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1</a:t>
                      </a:r>
                      <a:endParaRPr lang="en-IN" sz="2400" b="1">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0</a:t>
                      </a:r>
                      <a:endParaRPr lang="en-IN" sz="2400" b="1">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3304659521"/>
                  </a:ext>
                </a:extLst>
              </a:tr>
              <a:tr h="519890">
                <a:tc>
                  <a:txBody>
                    <a:bodyPr/>
                    <a:lstStyle/>
                    <a:p>
                      <a:pPr>
                        <a:lnSpc>
                          <a:spcPct val="115000"/>
                        </a:lnSpc>
                        <a:spcAft>
                          <a:spcPts val="800"/>
                        </a:spcAft>
                      </a:pPr>
                      <a:r>
                        <a:rPr lang="en-IN" sz="2400" b="1" dirty="0">
                          <a:effectLst/>
                          <a:latin typeface="Calibri" pitchFamily="34" charset="0"/>
                          <a:cs typeface="Calibri" pitchFamily="34" charset="0"/>
                        </a:rPr>
                        <a:t>        for </a:t>
                      </a:r>
                      <a:r>
                        <a:rPr lang="en-IN" sz="2400" b="1" dirty="0" err="1">
                          <a:effectLst/>
                          <a:latin typeface="Calibri" pitchFamily="34" charset="0"/>
                          <a:cs typeface="Calibri" pitchFamily="34" charset="0"/>
                        </a:rPr>
                        <a:t>i</a:t>
                      </a:r>
                      <a:r>
                        <a:rPr lang="en-IN" sz="2400" b="1" dirty="0">
                          <a:effectLst/>
                          <a:latin typeface="Calibri" pitchFamily="34" charset="0"/>
                          <a:cs typeface="Calibri" pitchFamily="34" charset="0"/>
                        </a:rPr>
                        <a:t>=1 to n do</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1</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n+1</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n+1</a:t>
                      </a:r>
                      <a:endParaRPr lang="en-IN" sz="2400" b="1" dirty="0">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4141644448"/>
                  </a:ext>
                </a:extLst>
              </a:tr>
              <a:tr h="519890">
                <a:tc>
                  <a:txBody>
                    <a:bodyPr/>
                    <a:lstStyle/>
                    <a:p>
                      <a:pPr>
                        <a:lnSpc>
                          <a:spcPct val="115000"/>
                        </a:lnSpc>
                        <a:spcAft>
                          <a:spcPts val="800"/>
                        </a:spcAft>
                      </a:pPr>
                      <a:r>
                        <a:rPr lang="en-IN" sz="2400" b="1" dirty="0">
                          <a:effectLst/>
                          <a:latin typeface="Calibri" pitchFamily="34" charset="0"/>
                          <a:cs typeface="Calibri" pitchFamily="34" charset="0"/>
                        </a:rPr>
                        <a:t>                  s=</a:t>
                      </a:r>
                      <a:r>
                        <a:rPr lang="en-IN" sz="2400" b="1" dirty="0" err="1">
                          <a:effectLst/>
                          <a:latin typeface="Calibri" pitchFamily="34" charset="0"/>
                          <a:cs typeface="Calibri" pitchFamily="34" charset="0"/>
                        </a:rPr>
                        <a:t>s+a</a:t>
                      </a:r>
                      <a:r>
                        <a:rPr lang="en-IN" sz="2400" b="1" dirty="0">
                          <a:effectLst/>
                          <a:latin typeface="Calibri" pitchFamily="34" charset="0"/>
                          <a:cs typeface="Calibri" pitchFamily="34" charset="0"/>
                        </a:rPr>
                        <a:t>[</a:t>
                      </a:r>
                      <a:r>
                        <a:rPr lang="en-IN" sz="2400" b="1" dirty="0" err="1">
                          <a:effectLst/>
                          <a:latin typeface="Calibri" pitchFamily="34" charset="0"/>
                          <a:cs typeface="Calibri" pitchFamily="34" charset="0"/>
                        </a:rPr>
                        <a:t>i</a:t>
                      </a:r>
                      <a:r>
                        <a:rPr lang="en-IN" sz="2400" b="1" dirty="0">
                          <a:effectLst/>
                          <a:latin typeface="Calibri" pitchFamily="34" charset="0"/>
                          <a:cs typeface="Calibri" pitchFamily="34" charset="0"/>
                        </a:rPr>
                        <a:t>];</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1</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n</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n</a:t>
                      </a:r>
                      <a:endParaRPr lang="en-IN" sz="2400" b="1" dirty="0">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912522306"/>
                  </a:ext>
                </a:extLst>
              </a:tr>
              <a:tr h="447540">
                <a:tc>
                  <a:txBody>
                    <a:bodyPr/>
                    <a:lstStyle/>
                    <a:p>
                      <a:pPr>
                        <a:lnSpc>
                          <a:spcPct val="115000"/>
                        </a:lnSpc>
                        <a:spcAft>
                          <a:spcPts val="800"/>
                        </a:spcAft>
                      </a:pPr>
                      <a:r>
                        <a:rPr lang="en-IN" sz="2400" b="1">
                          <a:effectLst/>
                          <a:latin typeface="Calibri" pitchFamily="34" charset="0"/>
                          <a:cs typeface="Calibri" pitchFamily="34" charset="0"/>
                        </a:rPr>
                        <a:t>        return s;</a:t>
                      </a:r>
                      <a:endParaRPr lang="en-IN" sz="2400" b="1">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1</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2682770402"/>
                  </a:ext>
                </a:extLst>
              </a:tr>
              <a:tr h="447540">
                <a:tc>
                  <a:txBody>
                    <a:bodyPr/>
                    <a:lstStyle/>
                    <a:p>
                      <a:pPr>
                        <a:lnSpc>
                          <a:spcPct val="115000"/>
                        </a:lnSpc>
                        <a:spcAft>
                          <a:spcPts val="800"/>
                        </a:spcAft>
                      </a:pPr>
                      <a:r>
                        <a:rPr lang="en-IN" sz="2400" b="1" dirty="0">
                          <a:effectLst/>
                          <a:latin typeface="Calibri" pitchFamily="34" charset="0"/>
                          <a:cs typeface="Calibri" pitchFamily="34" charset="0"/>
                        </a:rPr>
                        <a:t>}</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a:effectLst/>
                          <a:latin typeface="Calibri" pitchFamily="34" charset="0"/>
                          <a:cs typeface="Calibri" pitchFamily="34" charset="0"/>
                        </a:rPr>
                        <a:t>1</a:t>
                      </a:r>
                      <a:endParaRPr lang="en-IN" sz="2400" b="1">
                        <a:effectLst/>
                        <a:latin typeface="Calibri" pitchFamily="34" charset="0"/>
                        <a:ea typeface="Corbel" panose="020B0503020204020204" pitchFamily="34" charset="0"/>
                        <a:cs typeface="Calibri" pitchFamily="34" charset="0"/>
                      </a:endParaRPr>
                    </a:p>
                  </a:txBody>
                  <a:tcPr marL="68580" marR="68580" marT="0" marB="0"/>
                </a:tc>
                <a:tc>
                  <a:txBody>
                    <a:bodyPr/>
                    <a:lstStyle/>
                    <a:p>
                      <a:pPr>
                        <a:lnSpc>
                          <a:spcPct val="115000"/>
                        </a:lnSpc>
                        <a:spcAft>
                          <a:spcPts val="800"/>
                        </a:spcAft>
                      </a:pPr>
                      <a:r>
                        <a:rPr lang="en-IN" sz="2400" b="1" dirty="0">
                          <a:effectLst/>
                          <a:latin typeface="Calibri" pitchFamily="34" charset="0"/>
                          <a:cs typeface="Calibri" pitchFamily="34" charset="0"/>
                        </a:rPr>
                        <a:t>0</a:t>
                      </a:r>
                      <a:endParaRPr lang="en-IN" sz="2400" b="1" dirty="0">
                        <a:effectLst/>
                        <a:latin typeface="Calibri" pitchFamily="34" charset="0"/>
                        <a:ea typeface="Corbel" panose="020B0503020204020204" pitchFamily="34" charset="0"/>
                        <a:cs typeface="Calibri" pitchFamily="34" charset="0"/>
                      </a:endParaRPr>
                    </a:p>
                  </a:txBody>
                  <a:tcPr marL="68580" marR="68580" marT="0" marB="0"/>
                </a:tc>
                <a:extLst>
                  <a:ext uri="{0D108BD9-81ED-4DB2-BD59-A6C34878D82A}">
                    <a16:rowId xmlns:a16="http://schemas.microsoft.com/office/drawing/2014/main" val="3272854454"/>
                  </a:ext>
                </a:extLst>
              </a:tr>
            </a:tbl>
          </a:graphicData>
        </a:graphic>
      </p:graphicFrame>
      <p:sp>
        <p:nvSpPr>
          <p:cNvPr id="4" name="Slide Number Placeholder 3">
            <a:extLst>
              <a:ext uri="{FF2B5EF4-FFF2-40B4-BE49-F238E27FC236}">
                <a16:creationId xmlns:a16="http://schemas.microsoft.com/office/drawing/2014/main" id="{C90CA812-D208-45A8-8BEA-4C7E44736495}"/>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50</a:t>
            </a:fld>
            <a:endParaRPr lang="en-US" altLang="en-US"/>
          </a:p>
        </p:txBody>
      </p:sp>
      <p:sp>
        <p:nvSpPr>
          <p:cNvPr id="9" name="TextBox 8">
            <a:extLst>
              <a:ext uri="{FF2B5EF4-FFF2-40B4-BE49-F238E27FC236}">
                <a16:creationId xmlns:a16="http://schemas.microsoft.com/office/drawing/2014/main" id="{DD6A58E5-7D38-406C-B95F-5223E5436A1E}"/>
              </a:ext>
            </a:extLst>
          </p:cNvPr>
          <p:cNvSpPr txBox="1"/>
          <p:nvPr/>
        </p:nvSpPr>
        <p:spPr>
          <a:xfrm>
            <a:off x="765874" y="5542281"/>
            <a:ext cx="9788576" cy="407035"/>
          </a:xfrm>
          <a:custGeom>
            <a:avLst/>
            <a:gdLst>
              <a:gd name="connsiteX0" fmla="*/ 0 w 6100996"/>
              <a:gd name="connsiteY0" fmla="*/ 0 h 671915"/>
              <a:gd name="connsiteX1" fmla="*/ 6100996 w 6100996"/>
              <a:gd name="connsiteY1" fmla="*/ 0 h 671915"/>
              <a:gd name="connsiteX2" fmla="*/ 6100996 w 6100996"/>
              <a:gd name="connsiteY2" fmla="*/ 671915 h 671915"/>
              <a:gd name="connsiteX3" fmla="*/ 0 w 6100996"/>
              <a:gd name="connsiteY3" fmla="*/ 671915 h 671915"/>
              <a:gd name="connsiteX4" fmla="*/ 0 w 6100996"/>
              <a:gd name="connsiteY4" fmla="*/ 0 h 671915"/>
              <a:gd name="connsiteX0" fmla="*/ 1933731 w 8034727"/>
              <a:gd name="connsiteY0" fmla="*/ 0 h 3130302"/>
              <a:gd name="connsiteX1" fmla="*/ 8034727 w 8034727"/>
              <a:gd name="connsiteY1" fmla="*/ 0 h 3130302"/>
              <a:gd name="connsiteX2" fmla="*/ 8034727 w 8034727"/>
              <a:gd name="connsiteY2" fmla="*/ 671915 h 3130302"/>
              <a:gd name="connsiteX3" fmla="*/ 0 w 8034727"/>
              <a:gd name="connsiteY3" fmla="*/ 3130302 h 3130302"/>
              <a:gd name="connsiteX4" fmla="*/ 1933731 w 8034727"/>
              <a:gd name="connsiteY4" fmla="*/ 0 h 3130302"/>
              <a:gd name="connsiteX0" fmla="*/ 1933731 w 9788576"/>
              <a:gd name="connsiteY0" fmla="*/ 0 h 3130302"/>
              <a:gd name="connsiteX1" fmla="*/ 8034727 w 9788576"/>
              <a:gd name="connsiteY1" fmla="*/ 0 h 3130302"/>
              <a:gd name="connsiteX2" fmla="*/ 9788576 w 9788576"/>
              <a:gd name="connsiteY2" fmla="*/ 3130302 h 3130302"/>
              <a:gd name="connsiteX3" fmla="*/ 0 w 9788576"/>
              <a:gd name="connsiteY3" fmla="*/ 3130302 h 3130302"/>
              <a:gd name="connsiteX4" fmla="*/ 1933731 w 9788576"/>
              <a:gd name="connsiteY4" fmla="*/ 0 h 3130302"/>
              <a:gd name="connsiteX0" fmla="*/ 89941 w 9788576"/>
              <a:gd name="connsiteY0" fmla="*/ 2803161 h 3130302"/>
              <a:gd name="connsiteX1" fmla="*/ 8034727 w 9788576"/>
              <a:gd name="connsiteY1" fmla="*/ 0 h 3130302"/>
              <a:gd name="connsiteX2" fmla="*/ 9788576 w 9788576"/>
              <a:gd name="connsiteY2" fmla="*/ 3130302 h 3130302"/>
              <a:gd name="connsiteX3" fmla="*/ 0 w 9788576"/>
              <a:gd name="connsiteY3" fmla="*/ 3130302 h 3130302"/>
              <a:gd name="connsiteX4" fmla="*/ 89941 w 9788576"/>
              <a:gd name="connsiteY4" fmla="*/ 2803161 h 3130302"/>
              <a:gd name="connsiteX0" fmla="*/ 89941 w 9788576"/>
              <a:gd name="connsiteY0" fmla="*/ 0 h 327141"/>
              <a:gd name="connsiteX1" fmla="*/ 9743606 w 9788576"/>
              <a:gd name="connsiteY1" fmla="*/ 14989 h 327141"/>
              <a:gd name="connsiteX2" fmla="*/ 9788576 w 9788576"/>
              <a:gd name="connsiteY2" fmla="*/ 327141 h 327141"/>
              <a:gd name="connsiteX3" fmla="*/ 0 w 9788576"/>
              <a:gd name="connsiteY3" fmla="*/ 327141 h 327141"/>
              <a:gd name="connsiteX4" fmla="*/ 89941 w 9788576"/>
              <a:gd name="connsiteY4" fmla="*/ 0 h 327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8576" h="327141">
                <a:moveTo>
                  <a:pt x="89941" y="0"/>
                </a:moveTo>
                <a:lnTo>
                  <a:pt x="9743606" y="14989"/>
                </a:lnTo>
                <a:lnTo>
                  <a:pt x="9788576" y="327141"/>
                </a:lnTo>
                <a:lnTo>
                  <a:pt x="0" y="327141"/>
                </a:lnTo>
                <a:lnTo>
                  <a:pt x="89941" y="0"/>
                </a:lnTo>
                <a:close/>
              </a:path>
            </a:pathLst>
          </a:custGeom>
          <a:noFill/>
        </p:spPr>
        <p:txBody>
          <a:bodyPr wrap="square">
            <a:spAutoFit/>
          </a:bodyPr>
          <a:lstStyle/>
          <a:p>
            <a:pPr marL="457200" algn="just">
              <a:lnSpc>
                <a:spcPct val="107000"/>
              </a:lnSpc>
              <a:spcAft>
                <a:spcPts val="800"/>
              </a:spcAft>
            </a:pPr>
            <a:r>
              <a:rPr lang="en-IN" sz="2000" b="1" spc="10" dirty="0">
                <a:solidFill>
                  <a:srgbClr val="000000"/>
                </a:solidFill>
                <a:effectLst/>
                <a:latin typeface="Calibri" panose="020F0502020204030204" pitchFamily="34" charset="0"/>
                <a:ea typeface="Corbel" panose="020B0503020204020204" pitchFamily="34" charset="0"/>
                <a:cs typeface="Times New Roman" panose="02020603050405020304" pitchFamily="18" charset="0"/>
              </a:rPr>
              <a:t>Time complexity/ time taken by the above code = 0 + 0 + 0 + n+1 + n + 0 + 0 =2n + 1</a:t>
            </a:r>
            <a:endParaRPr lang="en-IN" sz="2000" dirty="0">
              <a:effectLst/>
              <a:latin typeface="Corbel" panose="020B0503020204020204" pitchFamily="34" charset="0"/>
              <a:ea typeface="Corbel" panose="020B0503020204020204" pitchFamily="34" charset="0"/>
              <a:cs typeface="Times New Roman" panose="02020603050405020304" pitchFamily="18" charset="0"/>
            </a:endParaRPr>
          </a:p>
        </p:txBody>
      </p:sp>
    </p:spTree>
    <p:extLst>
      <p:ext uri="{BB962C8B-B14F-4D97-AF65-F5344CB8AC3E}">
        <p14:creationId xmlns:p14="http://schemas.microsoft.com/office/powerpoint/2010/main" val="14607018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FD8E1-0621-41B6-94AC-E29D42232EFF}"/>
              </a:ext>
            </a:extLst>
          </p:cNvPr>
          <p:cNvSpPr>
            <a:spLocks noGrp="1"/>
          </p:cNvSpPr>
          <p:nvPr>
            <p:ph type="title" idx="4294967295"/>
          </p:nvPr>
        </p:nvSpPr>
        <p:spPr>
          <a:xfrm>
            <a:off x="0" y="-252413"/>
            <a:ext cx="10515600" cy="1325563"/>
          </a:xfrm>
        </p:spPr>
        <p:txBody>
          <a:bodyPr/>
          <a:lstStyle/>
          <a:p>
            <a:r>
              <a:rPr lang="en-IN" dirty="0">
                <a:solidFill>
                  <a:schemeClr val="bg1"/>
                </a:solidFill>
              </a:rPr>
              <a:t>Example 2: </a:t>
            </a:r>
          </a:p>
        </p:txBody>
      </p:sp>
      <p:sp>
        <p:nvSpPr>
          <p:cNvPr id="3" name="Content Placeholder 2">
            <a:extLst>
              <a:ext uri="{FF2B5EF4-FFF2-40B4-BE49-F238E27FC236}">
                <a16:creationId xmlns:a16="http://schemas.microsoft.com/office/drawing/2014/main" id="{05AB15AD-6FB8-44EF-B727-D373F2D465F1}"/>
              </a:ext>
            </a:extLst>
          </p:cNvPr>
          <p:cNvSpPr>
            <a:spLocks noGrp="1"/>
          </p:cNvSpPr>
          <p:nvPr>
            <p:ph idx="4294967295"/>
          </p:nvPr>
        </p:nvSpPr>
        <p:spPr>
          <a:xfrm>
            <a:off x="0" y="1825625"/>
            <a:ext cx="10515600" cy="4351338"/>
          </a:xfrm>
        </p:spPr>
        <p:txBody>
          <a:bodyPr/>
          <a:lstStyle/>
          <a:p>
            <a:pPr marL="0" indent="0">
              <a:buNone/>
            </a:pPr>
            <a:r>
              <a:rPr lang="en-IN" sz="4400" b="1" i="1" dirty="0">
                <a:solidFill>
                  <a:srgbClr val="C00000"/>
                </a:solidFill>
                <a:latin typeface="Calibri" pitchFamily="34" charset="0"/>
                <a:cs typeface="Calibri" pitchFamily="34" charset="0"/>
              </a:rPr>
              <a:t>Write a Code for Sum of n natural numbers:</a:t>
            </a:r>
          </a:p>
        </p:txBody>
      </p:sp>
      <p:sp>
        <p:nvSpPr>
          <p:cNvPr id="4" name="Slide Number Placeholder 3">
            <a:extLst>
              <a:ext uri="{FF2B5EF4-FFF2-40B4-BE49-F238E27FC236}">
                <a16:creationId xmlns:a16="http://schemas.microsoft.com/office/drawing/2014/main" id="{A60417C4-2C4D-44C1-A915-51AE734518DA}"/>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51</a:t>
            </a:fld>
            <a:endParaRPr lang="en-US" altLang="en-US"/>
          </a:p>
        </p:txBody>
      </p:sp>
    </p:spTree>
    <p:extLst>
      <p:ext uri="{BB962C8B-B14F-4D97-AF65-F5344CB8AC3E}">
        <p14:creationId xmlns:p14="http://schemas.microsoft.com/office/powerpoint/2010/main" val="757979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0" y="-142081"/>
            <a:ext cx="10515600" cy="1325563"/>
          </a:xfrm>
        </p:spPr>
        <p:txBody>
          <a:bodyPr/>
          <a:lstStyle/>
          <a:p>
            <a:r>
              <a:rPr lang="en-IN" dirty="0">
                <a:solidFill>
                  <a:schemeClr val="bg1"/>
                </a:solidFill>
              </a:rPr>
              <a:t>Solution 1:</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fontScale="92500" lnSpcReduction="20000"/>
          </a:bodyPr>
          <a:lstStyle/>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fun1(int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int sum=0;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&lt;=n;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j=1; j&lt;=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j++</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52</a:t>
            </a:fld>
            <a:endParaRPr lang="en-US" altLang="en-US"/>
          </a:p>
        </p:txBody>
      </p:sp>
      <p:sp>
        <p:nvSpPr>
          <p:cNvPr id="5" name="TextBox 4">
            <a:extLst>
              <a:ext uri="{FF2B5EF4-FFF2-40B4-BE49-F238E27FC236}">
                <a16:creationId xmlns:a16="http://schemas.microsoft.com/office/drawing/2014/main" id="{9BDE71D1-E91D-45C9-9206-D3CE571710E2}"/>
              </a:ext>
            </a:extLst>
          </p:cNvPr>
          <p:cNvSpPr txBox="1"/>
          <p:nvPr/>
        </p:nvSpPr>
        <p:spPr>
          <a:xfrm>
            <a:off x="6324600" y="1219200"/>
            <a:ext cx="5257800" cy="2123658"/>
          </a:xfrm>
          <a:prstGeom prst="rect">
            <a:avLst/>
          </a:prstGeom>
          <a:noFill/>
        </p:spPr>
        <p:txBody>
          <a:bodyPr wrap="square" rtlCol="0">
            <a:spAutoFit/>
          </a:bodyPr>
          <a:lstStyle/>
          <a:p>
            <a:r>
              <a:rPr lang="en-IN" sz="4400" b="1" dirty="0"/>
              <a:t>Time and Space Complexity</a:t>
            </a:r>
          </a:p>
          <a:p>
            <a:endParaRPr lang="en-IN" sz="4400" b="1" dirty="0"/>
          </a:p>
        </p:txBody>
      </p:sp>
      <p:pic>
        <p:nvPicPr>
          <p:cNvPr id="3074" name="Picture 2" descr="Emoji Emojisticker Sticker Stickers Confused Smiley - Omg Smiley, HD Png  Download - 1024x1024(#71834) - PngFind">
            <a:extLst>
              <a:ext uri="{FF2B5EF4-FFF2-40B4-BE49-F238E27FC236}">
                <a16:creationId xmlns:a16="http://schemas.microsoft.com/office/drawing/2014/main" id="{DAB91485-917A-4AF4-9404-0E9B060D9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3612" y="2743200"/>
            <a:ext cx="3279775" cy="321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564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83975" y="-234950"/>
            <a:ext cx="10515600" cy="1325563"/>
          </a:xfrm>
        </p:spPr>
        <p:txBody>
          <a:bodyPr/>
          <a:lstStyle/>
          <a:p>
            <a:r>
              <a:rPr lang="en-IN" dirty="0">
                <a:solidFill>
                  <a:schemeClr val="bg1"/>
                </a:solidFill>
              </a:rPr>
              <a:t>Solution 1: </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fontScale="92500" lnSpcReduction="20000"/>
          </a:bodyPr>
          <a:lstStyle/>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fun1(int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int sum=0;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&lt;=n;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j=1; j&lt;=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j++</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53</a:t>
            </a:fld>
            <a:endParaRPr lang="en-US" altLang="en-US"/>
          </a:p>
        </p:txBody>
      </p:sp>
      <p:sp>
        <p:nvSpPr>
          <p:cNvPr id="5" name="TextBox 4">
            <a:extLst>
              <a:ext uri="{FF2B5EF4-FFF2-40B4-BE49-F238E27FC236}">
                <a16:creationId xmlns:a16="http://schemas.microsoft.com/office/drawing/2014/main" id="{9BDE71D1-E91D-45C9-9206-D3CE571710E2}"/>
              </a:ext>
            </a:extLst>
          </p:cNvPr>
          <p:cNvSpPr txBox="1"/>
          <p:nvPr/>
        </p:nvSpPr>
        <p:spPr>
          <a:xfrm>
            <a:off x="5954712" y="1320730"/>
            <a:ext cx="5486400" cy="4216539"/>
          </a:xfrm>
          <a:prstGeom prst="rect">
            <a:avLst/>
          </a:prstGeom>
          <a:noFill/>
        </p:spPr>
        <p:txBody>
          <a:bodyPr wrap="square" rtlCol="0">
            <a:spAutoFit/>
          </a:bodyPr>
          <a:lstStyle/>
          <a:p>
            <a:r>
              <a:rPr lang="en-IN" sz="3200" b="1" dirty="0">
                <a:solidFill>
                  <a:srgbClr val="C00000"/>
                </a:solidFill>
              </a:rPr>
              <a:t>Time Complexity= order of n^2</a:t>
            </a:r>
          </a:p>
          <a:p>
            <a:endParaRPr lang="en-IN" sz="3200" b="1" dirty="0">
              <a:solidFill>
                <a:srgbClr val="C00000"/>
              </a:solidFill>
            </a:endParaRPr>
          </a:p>
          <a:p>
            <a:r>
              <a:rPr lang="en-IN" sz="3200" b="1" dirty="0">
                <a:solidFill>
                  <a:srgbClr val="C00000"/>
                </a:solidFill>
              </a:rPr>
              <a:t>and </a:t>
            </a:r>
          </a:p>
          <a:p>
            <a:endParaRPr lang="en-IN" sz="3200" b="1" dirty="0">
              <a:solidFill>
                <a:srgbClr val="C00000"/>
              </a:solidFill>
            </a:endParaRPr>
          </a:p>
          <a:p>
            <a:r>
              <a:rPr lang="en-IN" sz="3200" b="1" dirty="0">
                <a:solidFill>
                  <a:srgbClr val="C00000"/>
                </a:solidFill>
              </a:rPr>
              <a:t>Space Complexity= order of 1 (constant)</a:t>
            </a:r>
          </a:p>
          <a:p>
            <a:endParaRPr lang="en-IN" sz="4400" b="1" dirty="0"/>
          </a:p>
        </p:txBody>
      </p:sp>
    </p:spTree>
    <p:extLst>
      <p:ext uri="{BB962C8B-B14F-4D97-AF65-F5344CB8AC3E}">
        <p14:creationId xmlns:p14="http://schemas.microsoft.com/office/powerpoint/2010/main" val="12864431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0" y="-234950"/>
            <a:ext cx="10515600" cy="1325563"/>
          </a:xfrm>
        </p:spPr>
        <p:txBody>
          <a:bodyPr/>
          <a:lstStyle/>
          <a:p>
            <a:r>
              <a:rPr lang="en-IN" dirty="0">
                <a:solidFill>
                  <a:schemeClr val="bg1"/>
                </a:solidFill>
              </a:rPr>
              <a:t>Solution 2:</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fontScale="92500" lnSpcReduction="20000"/>
          </a:bodyPr>
          <a:lstStyle/>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sum =0;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fun1(n)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If(n==1)</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return 1;</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 = n+ fun1(n-1);</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54</a:t>
            </a:fld>
            <a:endParaRPr lang="en-US" altLang="en-US"/>
          </a:p>
        </p:txBody>
      </p:sp>
      <p:sp>
        <p:nvSpPr>
          <p:cNvPr id="5" name="TextBox 4">
            <a:extLst>
              <a:ext uri="{FF2B5EF4-FFF2-40B4-BE49-F238E27FC236}">
                <a16:creationId xmlns:a16="http://schemas.microsoft.com/office/drawing/2014/main" id="{9BDE71D1-E91D-45C9-9206-D3CE571710E2}"/>
              </a:ext>
            </a:extLst>
          </p:cNvPr>
          <p:cNvSpPr txBox="1"/>
          <p:nvPr/>
        </p:nvSpPr>
        <p:spPr>
          <a:xfrm>
            <a:off x="6324600" y="1219200"/>
            <a:ext cx="5257800" cy="2123658"/>
          </a:xfrm>
          <a:prstGeom prst="rect">
            <a:avLst/>
          </a:prstGeom>
          <a:noFill/>
        </p:spPr>
        <p:txBody>
          <a:bodyPr wrap="square" rtlCol="0">
            <a:spAutoFit/>
          </a:bodyPr>
          <a:lstStyle/>
          <a:p>
            <a:r>
              <a:rPr lang="en-IN" sz="4400" b="1" dirty="0">
                <a:latin typeface="Calibri" pitchFamily="34" charset="0"/>
                <a:cs typeface="Calibri" pitchFamily="34" charset="0"/>
              </a:rPr>
              <a:t>Time and Space Complexity:</a:t>
            </a:r>
          </a:p>
          <a:p>
            <a:endParaRPr lang="en-IN" sz="4400" b="1" dirty="0"/>
          </a:p>
        </p:txBody>
      </p:sp>
      <p:pic>
        <p:nvPicPr>
          <p:cNvPr id="3074" name="Picture 2" descr="Emoji Emojisticker Sticker Stickers Confused Smiley - Omg Smiley, HD Png  Download - 1024x1024(#71834) - PngFind">
            <a:extLst>
              <a:ext uri="{FF2B5EF4-FFF2-40B4-BE49-F238E27FC236}">
                <a16:creationId xmlns:a16="http://schemas.microsoft.com/office/drawing/2014/main" id="{DAB91485-917A-4AF4-9404-0E9B060D9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3612" y="2743200"/>
            <a:ext cx="3279775" cy="321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7178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0" y="-234950"/>
            <a:ext cx="10515600" cy="1325563"/>
          </a:xfrm>
        </p:spPr>
        <p:txBody>
          <a:bodyPr/>
          <a:lstStyle/>
          <a:p>
            <a:r>
              <a:rPr lang="en-IN" dirty="0">
                <a:solidFill>
                  <a:schemeClr val="bg1"/>
                </a:solidFill>
              </a:rPr>
              <a:t>Solution 2:</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fontScale="92500" lnSpcReduction="20000"/>
          </a:bodyPr>
          <a:lstStyle/>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sum =0;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fun1(n)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If(n==1)</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return 1;</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 = n+ fun1(n-1);</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55</a:t>
            </a:fld>
            <a:endParaRPr lang="en-US" altLang="en-US"/>
          </a:p>
        </p:txBody>
      </p:sp>
      <p:sp>
        <p:nvSpPr>
          <p:cNvPr id="8" name="TextBox 7">
            <a:extLst>
              <a:ext uri="{FF2B5EF4-FFF2-40B4-BE49-F238E27FC236}">
                <a16:creationId xmlns:a16="http://schemas.microsoft.com/office/drawing/2014/main" id="{C38C9BA0-95EE-41EE-930F-D9F332C05718}"/>
              </a:ext>
            </a:extLst>
          </p:cNvPr>
          <p:cNvSpPr txBox="1"/>
          <p:nvPr/>
        </p:nvSpPr>
        <p:spPr>
          <a:xfrm>
            <a:off x="5819480" y="3864451"/>
            <a:ext cx="5486400" cy="2246769"/>
          </a:xfrm>
          <a:prstGeom prst="rect">
            <a:avLst/>
          </a:prstGeom>
          <a:noFill/>
        </p:spPr>
        <p:txBody>
          <a:bodyPr wrap="square" rtlCol="0">
            <a:spAutoFit/>
          </a:bodyPr>
          <a:lstStyle/>
          <a:p>
            <a:r>
              <a:rPr lang="en-IN" sz="2800" b="1" dirty="0">
                <a:solidFill>
                  <a:srgbClr val="C00000"/>
                </a:solidFill>
                <a:latin typeface="Calibri" pitchFamily="34" charset="0"/>
                <a:cs typeface="Calibri" pitchFamily="34" charset="0"/>
              </a:rPr>
              <a:t>Time Complexity= order of n</a:t>
            </a:r>
          </a:p>
          <a:p>
            <a:endParaRPr lang="en-IN" sz="2800" b="1" dirty="0">
              <a:solidFill>
                <a:srgbClr val="C00000"/>
              </a:solidFill>
              <a:latin typeface="Calibri" pitchFamily="34" charset="0"/>
              <a:cs typeface="Calibri" pitchFamily="34" charset="0"/>
            </a:endParaRPr>
          </a:p>
          <a:p>
            <a:r>
              <a:rPr lang="en-IN" sz="2800" b="1" dirty="0">
                <a:solidFill>
                  <a:srgbClr val="C00000"/>
                </a:solidFill>
                <a:latin typeface="Calibri" pitchFamily="34" charset="0"/>
                <a:cs typeface="Calibri" pitchFamily="34" charset="0"/>
              </a:rPr>
              <a:t>and </a:t>
            </a:r>
          </a:p>
          <a:p>
            <a:endParaRPr lang="en-IN" sz="2800" b="1" dirty="0">
              <a:solidFill>
                <a:srgbClr val="C00000"/>
              </a:solidFill>
              <a:latin typeface="Calibri" pitchFamily="34" charset="0"/>
              <a:cs typeface="Calibri" pitchFamily="34" charset="0"/>
            </a:endParaRPr>
          </a:p>
          <a:p>
            <a:r>
              <a:rPr lang="en-IN" sz="2800" b="1" dirty="0">
                <a:solidFill>
                  <a:srgbClr val="C00000"/>
                </a:solidFill>
                <a:latin typeface="Calibri" pitchFamily="34" charset="0"/>
                <a:cs typeface="Calibri" pitchFamily="34" charset="0"/>
              </a:rPr>
              <a:t>Space Complexity= order of n</a:t>
            </a:r>
          </a:p>
        </p:txBody>
      </p:sp>
      <p:pic>
        <p:nvPicPr>
          <p:cNvPr id="9" name="Picture 8">
            <a:extLst>
              <a:ext uri="{FF2B5EF4-FFF2-40B4-BE49-F238E27FC236}">
                <a16:creationId xmlns:a16="http://schemas.microsoft.com/office/drawing/2014/main" id="{3E850153-E762-4B4E-9D63-49D29FCDF27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282700"/>
            <a:ext cx="6400800" cy="2284889"/>
          </a:xfrm>
          <a:prstGeom prst="rect">
            <a:avLst/>
          </a:prstGeom>
          <a:noFill/>
          <a:ln>
            <a:noFill/>
          </a:ln>
        </p:spPr>
      </p:pic>
    </p:spTree>
    <p:extLst>
      <p:ext uri="{BB962C8B-B14F-4D97-AF65-F5344CB8AC3E}">
        <p14:creationId xmlns:p14="http://schemas.microsoft.com/office/powerpoint/2010/main" val="1803802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77787" y="-234950"/>
            <a:ext cx="10515600" cy="1325563"/>
          </a:xfrm>
        </p:spPr>
        <p:txBody>
          <a:bodyPr/>
          <a:lstStyle/>
          <a:p>
            <a:r>
              <a:rPr lang="en-IN" dirty="0">
                <a:solidFill>
                  <a:schemeClr val="bg1"/>
                </a:solidFill>
              </a:rPr>
              <a:t>Solution 3:</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lnSpcReduction="10000"/>
          </a:bodyPr>
          <a:lstStyle/>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fun2(int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sum=0;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=1;i&lt;=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sum=sum +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56</a:t>
            </a:fld>
            <a:endParaRPr lang="en-US" altLang="en-US"/>
          </a:p>
        </p:txBody>
      </p:sp>
      <p:sp>
        <p:nvSpPr>
          <p:cNvPr id="5" name="TextBox 4">
            <a:extLst>
              <a:ext uri="{FF2B5EF4-FFF2-40B4-BE49-F238E27FC236}">
                <a16:creationId xmlns:a16="http://schemas.microsoft.com/office/drawing/2014/main" id="{9BDE71D1-E91D-45C9-9206-D3CE571710E2}"/>
              </a:ext>
            </a:extLst>
          </p:cNvPr>
          <p:cNvSpPr txBox="1"/>
          <p:nvPr/>
        </p:nvSpPr>
        <p:spPr>
          <a:xfrm>
            <a:off x="6324600" y="1219200"/>
            <a:ext cx="5257800" cy="2123658"/>
          </a:xfrm>
          <a:prstGeom prst="rect">
            <a:avLst/>
          </a:prstGeom>
          <a:noFill/>
        </p:spPr>
        <p:txBody>
          <a:bodyPr wrap="square" rtlCol="0">
            <a:spAutoFit/>
          </a:bodyPr>
          <a:lstStyle/>
          <a:p>
            <a:r>
              <a:rPr lang="en-IN" sz="4400" b="1" dirty="0">
                <a:latin typeface="Calibri" pitchFamily="34" charset="0"/>
                <a:cs typeface="Calibri" pitchFamily="34" charset="0"/>
              </a:rPr>
              <a:t>Time and Space Complexity</a:t>
            </a:r>
          </a:p>
          <a:p>
            <a:endParaRPr lang="en-IN" sz="4400" b="1" dirty="0"/>
          </a:p>
        </p:txBody>
      </p:sp>
      <p:pic>
        <p:nvPicPr>
          <p:cNvPr id="3074" name="Picture 2" descr="Emoji Emojisticker Sticker Stickers Confused Smiley - Omg Smiley, HD Png  Download - 1024x1024(#71834) - PngFind">
            <a:extLst>
              <a:ext uri="{FF2B5EF4-FFF2-40B4-BE49-F238E27FC236}">
                <a16:creationId xmlns:a16="http://schemas.microsoft.com/office/drawing/2014/main" id="{DAB91485-917A-4AF4-9404-0E9B060D9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3612" y="2743200"/>
            <a:ext cx="3279775" cy="321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104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0" y="-234950"/>
            <a:ext cx="10515600" cy="1325563"/>
          </a:xfrm>
        </p:spPr>
        <p:txBody>
          <a:bodyPr/>
          <a:lstStyle/>
          <a:p>
            <a:r>
              <a:rPr lang="en-IN" dirty="0">
                <a:solidFill>
                  <a:schemeClr val="bg1"/>
                </a:solidFill>
              </a:rPr>
              <a:t>Solution 3</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lnSpcReduction="10000"/>
          </a:bodyPr>
          <a:lstStyle/>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fun2(int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sum=0;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=1;i&lt;=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sum=sum +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57</a:t>
            </a:fld>
            <a:endParaRPr lang="en-US" altLang="en-US"/>
          </a:p>
        </p:txBody>
      </p:sp>
      <p:sp>
        <p:nvSpPr>
          <p:cNvPr id="8" name="TextBox 7">
            <a:extLst>
              <a:ext uri="{FF2B5EF4-FFF2-40B4-BE49-F238E27FC236}">
                <a16:creationId xmlns:a16="http://schemas.microsoft.com/office/drawing/2014/main" id="{C38C9BA0-95EE-41EE-930F-D9F332C05718}"/>
              </a:ext>
            </a:extLst>
          </p:cNvPr>
          <p:cNvSpPr txBox="1"/>
          <p:nvPr/>
        </p:nvSpPr>
        <p:spPr>
          <a:xfrm>
            <a:off x="5954712" y="1320730"/>
            <a:ext cx="5486400" cy="2554545"/>
          </a:xfrm>
          <a:prstGeom prst="rect">
            <a:avLst/>
          </a:prstGeom>
          <a:noFill/>
        </p:spPr>
        <p:txBody>
          <a:bodyPr wrap="square" rtlCol="0">
            <a:spAutoFit/>
          </a:bodyPr>
          <a:lstStyle/>
          <a:p>
            <a:r>
              <a:rPr lang="en-IN" sz="3200" b="1" dirty="0">
                <a:solidFill>
                  <a:srgbClr val="C00000"/>
                </a:solidFill>
                <a:latin typeface="Calibri" pitchFamily="34" charset="0"/>
                <a:cs typeface="Calibri" pitchFamily="34" charset="0"/>
              </a:rPr>
              <a:t>Time Complexity= order of n</a:t>
            </a:r>
          </a:p>
          <a:p>
            <a:endParaRPr lang="en-IN" sz="3200" b="1" dirty="0">
              <a:solidFill>
                <a:srgbClr val="C00000"/>
              </a:solidFill>
              <a:latin typeface="Calibri" pitchFamily="34" charset="0"/>
              <a:cs typeface="Calibri" pitchFamily="34" charset="0"/>
            </a:endParaRPr>
          </a:p>
          <a:p>
            <a:r>
              <a:rPr lang="en-IN" sz="3200" b="1" dirty="0">
                <a:solidFill>
                  <a:srgbClr val="C00000"/>
                </a:solidFill>
                <a:latin typeface="Calibri" pitchFamily="34" charset="0"/>
                <a:cs typeface="Calibri" pitchFamily="34" charset="0"/>
              </a:rPr>
              <a:t>and </a:t>
            </a:r>
          </a:p>
          <a:p>
            <a:endParaRPr lang="en-IN" sz="3200" b="1" dirty="0">
              <a:solidFill>
                <a:srgbClr val="C00000"/>
              </a:solidFill>
              <a:latin typeface="Calibri" pitchFamily="34" charset="0"/>
              <a:cs typeface="Calibri" pitchFamily="34" charset="0"/>
            </a:endParaRPr>
          </a:p>
          <a:p>
            <a:r>
              <a:rPr lang="en-IN" sz="3200" b="1" dirty="0">
                <a:solidFill>
                  <a:srgbClr val="C00000"/>
                </a:solidFill>
                <a:latin typeface="Calibri" pitchFamily="34" charset="0"/>
                <a:cs typeface="Calibri" pitchFamily="34" charset="0"/>
              </a:rPr>
              <a:t>Space Complexity= order of 1</a:t>
            </a:r>
            <a:endParaRPr lang="en-IN" sz="4400" b="1" dirty="0">
              <a:solidFill>
                <a:srgbClr val="C00000"/>
              </a:solidFill>
              <a:latin typeface="Calibri" pitchFamily="34" charset="0"/>
              <a:cs typeface="Calibri" pitchFamily="34" charset="0"/>
            </a:endParaRPr>
          </a:p>
        </p:txBody>
      </p:sp>
    </p:spTree>
    <p:extLst>
      <p:ext uri="{BB962C8B-B14F-4D97-AF65-F5344CB8AC3E}">
        <p14:creationId xmlns:p14="http://schemas.microsoft.com/office/powerpoint/2010/main" val="19719876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77787" y="-205581"/>
            <a:ext cx="10515600" cy="1325563"/>
          </a:xfrm>
        </p:spPr>
        <p:txBody>
          <a:bodyPr/>
          <a:lstStyle/>
          <a:p>
            <a:r>
              <a:rPr lang="en-IN" dirty="0">
                <a:solidFill>
                  <a:schemeClr val="bg1"/>
                </a:solidFill>
              </a:rPr>
              <a:t>Solution 4:</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lstStyle/>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fun3(int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Return n*(n+1)/2;</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58</a:t>
            </a:fld>
            <a:endParaRPr lang="en-US" altLang="en-US"/>
          </a:p>
        </p:txBody>
      </p:sp>
      <p:sp>
        <p:nvSpPr>
          <p:cNvPr id="5" name="TextBox 4">
            <a:extLst>
              <a:ext uri="{FF2B5EF4-FFF2-40B4-BE49-F238E27FC236}">
                <a16:creationId xmlns:a16="http://schemas.microsoft.com/office/drawing/2014/main" id="{9BDE71D1-E91D-45C9-9206-D3CE571710E2}"/>
              </a:ext>
            </a:extLst>
          </p:cNvPr>
          <p:cNvSpPr txBox="1"/>
          <p:nvPr/>
        </p:nvSpPr>
        <p:spPr>
          <a:xfrm>
            <a:off x="6324600" y="1219200"/>
            <a:ext cx="5257800" cy="2123658"/>
          </a:xfrm>
          <a:prstGeom prst="rect">
            <a:avLst/>
          </a:prstGeom>
          <a:noFill/>
        </p:spPr>
        <p:txBody>
          <a:bodyPr wrap="square" rtlCol="0">
            <a:spAutoFit/>
          </a:bodyPr>
          <a:lstStyle/>
          <a:p>
            <a:r>
              <a:rPr lang="en-IN" sz="4400" b="1" dirty="0">
                <a:latin typeface="Calibri" pitchFamily="34" charset="0"/>
                <a:cs typeface="Calibri" pitchFamily="34" charset="0"/>
              </a:rPr>
              <a:t>Time and Space Complexity:</a:t>
            </a:r>
          </a:p>
          <a:p>
            <a:endParaRPr lang="en-IN" sz="4400" b="1" dirty="0"/>
          </a:p>
        </p:txBody>
      </p:sp>
      <p:pic>
        <p:nvPicPr>
          <p:cNvPr id="3074" name="Picture 2" descr="Emoji Emojisticker Sticker Stickers Confused Smiley - Omg Smiley, HD Png  Download - 1024x1024(#71834) - PngFind">
            <a:extLst>
              <a:ext uri="{FF2B5EF4-FFF2-40B4-BE49-F238E27FC236}">
                <a16:creationId xmlns:a16="http://schemas.microsoft.com/office/drawing/2014/main" id="{DAB91485-917A-4AF4-9404-0E9B060D9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3612" y="2743200"/>
            <a:ext cx="3279775" cy="321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01159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0" y="-234950"/>
            <a:ext cx="10515600" cy="1325563"/>
          </a:xfrm>
        </p:spPr>
        <p:txBody>
          <a:bodyPr/>
          <a:lstStyle/>
          <a:p>
            <a:r>
              <a:rPr lang="en-IN" dirty="0">
                <a:solidFill>
                  <a:schemeClr val="bg1"/>
                </a:solidFill>
              </a:rPr>
              <a:t>Solution 4</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lstStyle/>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fun3(int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Return n*(n+1)/2;</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59</a:t>
            </a:fld>
            <a:endParaRPr lang="en-US" altLang="en-US"/>
          </a:p>
        </p:txBody>
      </p:sp>
      <p:sp>
        <p:nvSpPr>
          <p:cNvPr id="8" name="TextBox 7">
            <a:extLst>
              <a:ext uri="{FF2B5EF4-FFF2-40B4-BE49-F238E27FC236}">
                <a16:creationId xmlns:a16="http://schemas.microsoft.com/office/drawing/2014/main" id="{C38C9BA0-95EE-41EE-930F-D9F332C05718}"/>
              </a:ext>
            </a:extLst>
          </p:cNvPr>
          <p:cNvSpPr txBox="1"/>
          <p:nvPr/>
        </p:nvSpPr>
        <p:spPr>
          <a:xfrm>
            <a:off x="5954712" y="1320730"/>
            <a:ext cx="5486400" cy="2554545"/>
          </a:xfrm>
          <a:prstGeom prst="rect">
            <a:avLst/>
          </a:prstGeom>
          <a:noFill/>
        </p:spPr>
        <p:txBody>
          <a:bodyPr wrap="square" rtlCol="0">
            <a:spAutoFit/>
          </a:bodyPr>
          <a:lstStyle/>
          <a:p>
            <a:r>
              <a:rPr lang="en-IN" sz="3200" b="1" dirty="0">
                <a:solidFill>
                  <a:srgbClr val="C00000"/>
                </a:solidFill>
                <a:latin typeface="Calibri" pitchFamily="34" charset="0"/>
                <a:cs typeface="Calibri" pitchFamily="34" charset="0"/>
              </a:rPr>
              <a:t>Time Complexity= order of 1</a:t>
            </a:r>
          </a:p>
          <a:p>
            <a:endParaRPr lang="en-IN" sz="3200" b="1" dirty="0">
              <a:solidFill>
                <a:srgbClr val="C00000"/>
              </a:solidFill>
              <a:latin typeface="Calibri" pitchFamily="34" charset="0"/>
              <a:cs typeface="Calibri" pitchFamily="34" charset="0"/>
            </a:endParaRPr>
          </a:p>
          <a:p>
            <a:r>
              <a:rPr lang="en-IN" sz="3200" b="1" dirty="0">
                <a:solidFill>
                  <a:srgbClr val="C00000"/>
                </a:solidFill>
                <a:latin typeface="Calibri" pitchFamily="34" charset="0"/>
                <a:cs typeface="Calibri" pitchFamily="34" charset="0"/>
              </a:rPr>
              <a:t>and </a:t>
            </a:r>
          </a:p>
          <a:p>
            <a:endParaRPr lang="en-IN" sz="3200" b="1" dirty="0">
              <a:solidFill>
                <a:srgbClr val="C00000"/>
              </a:solidFill>
              <a:latin typeface="Calibri" pitchFamily="34" charset="0"/>
              <a:cs typeface="Calibri" pitchFamily="34" charset="0"/>
            </a:endParaRPr>
          </a:p>
          <a:p>
            <a:r>
              <a:rPr lang="en-IN" sz="3200" b="1" dirty="0">
                <a:solidFill>
                  <a:srgbClr val="C00000"/>
                </a:solidFill>
                <a:latin typeface="Calibri" pitchFamily="34" charset="0"/>
                <a:cs typeface="Calibri" pitchFamily="34" charset="0"/>
              </a:rPr>
              <a:t>Space Complexity= order of 1</a:t>
            </a:r>
            <a:endParaRPr lang="en-IN" sz="4400" b="1" dirty="0">
              <a:solidFill>
                <a:srgbClr val="C00000"/>
              </a:solidFill>
              <a:latin typeface="Calibri" pitchFamily="34" charset="0"/>
              <a:cs typeface="Calibri" pitchFamily="34" charset="0"/>
            </a:endParaRPr>
          </a:p>
        </p:txBody>
      </p:sp>
    </p:spTree>
    <p:extLst>
      <p:ext uri="{BB962C8B-B14F-4D97-AF65-F5344CB8AC3E}">
        <p14:creationId xmlns:p14="http://schemas.microsoft.com/office/powerpoint/2010/main" val="37233385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77787" y="-205581"/>
            <a:ext cx="10515600" cy="1325563"/>
          </a:xfrm>
        </p:spPr>
        <p:txBody>
          <a:bodyPr/>
          <a:lstStyle/>
          <a:p>
            <a:r>
              <a:rPr lang="en-IN" dirty="0">
                <a:solidFill>
                  <a:schemeClr val="bg1"/>
                </a:solidFill>
              </a:rPr>
              <a:t>Solution 5:</a:t>
            </a:r>
          </a:p>
        </p:txBody>
      </p:sp>
      <p:sp>
        <p:nvSpPr>
          <p:cNvPr id="3"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775200" cy="4881563"/>
          </a:xfrm>
        </p:spPr>
        <p:txBody>
          <a:bodyPr>
            <a:normAutofit lnSpcReduction="10000"/>
          </a:bodyPr>
          <a:lstStyle/>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fun2(int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arr</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sum=0;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=0;i&lt;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sum=sum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arr</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60</a:t>
            </a:fld>
            <a:endParaRPr lang="en-US" altLang="en-US"/>
          </a:p>
        </p:txBody>
      </p:sp>
      <p:sp>
        <p:nvSpPr>
          <p:cNvPr id="5" name="TextBox 4">
            <a:extLst>
              <a:ext uri="{FF2B5EF4-FFF2-40B4-BE49-F238E27FC236}">
                <a16:creationId xmlns:a16="http://schemas.microsoft.com/office/drawing/2014/main" id="{9BDE71D1-E91D-45C9-9206-D3CE571710E2}"/>
              </a:ext>
            </a:extLst>
          </p:cNvPr>
          <p:cNvSpPr txBox="1"/>
          <p:nvPr/>
        </p:nvSpPr>
        <p:spPr>
          <a:xfrm>
            <a:off x="6324600" y="1219200"/>
            <a:ext cx="5257800" cy="2123658"/>
          </a:xfrm>
          <a:prstGeom prst="rect">
            <a:avLst/>
          </a:prstGeom>
          <a:noFill/>
        </p:spPr>
        <p:txBody>
          <a:bodyPr wrap="square" rtlCol="0">
            <a:spAutoFit/>
          </a:bodyPr>
          <a:lstStyle/>
          <a:p>
            <a:r>
              <a:rPr lang="en-IN" sz="4400" b="1" dirty="0">
                <a:latin typeface="Calibri" pitchFamily="34" charset="0"/>
                <a:cs typeface="Calibri" pitchFamily="34" charset="0"/>
              </a:rPr>
              <a:t>Time and Space Complexity:</a:t>
            </a:r>
          </a:p>
          <a:p>
            <a:endParaRPr lang="en-IN" sz="4400" b="1" dirty="0"/>
          </a:p>
        </p:txBody>
      </p:sp>
      <p:pic>
        <p:nvPicPr>
          <p:cNvPr id="3074" name="Picture 2" descr="Emoji Emojisticker Sticker Stickers Confused Smiley - Omg Smiley, HD Png  Download - 1024x1024(#71834) - PngFind">
            <a:extLst>
              <a:ext uri="{FF2B5EF4-FFF2-40B4-BE49-F238E27FC236}">
                <a16:creationId xmlns:a16="http://schemas.microsoft.com/office/drawing/2014/main" id="{DAB91485-917A-4AF4-9404-0E9B060D9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3612" y="2743200"/>
            <a:ext cx="3279775" cy="321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3634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9706-FC2D-41CB-B9FB-5A42E1C3E29F}"/>
              </a:ext>
            </a:extLst>
          </p:cNvPr>
          <p:cNvSpPr>
            <a:spLocks noGrp="1"/>
          </p:cNvSpPr>
          <p:nvPr>
            <p:ph type="title" idx="4294967295"/>
          </p:nvPr>
        </p:nvSpPr>
        <p:spPr>
          <a:xfrm>
            <a:off x="0" y="-234950"/>
            <a:ext cx="10515600" cy="1325563"/>
          </a:xfrm>
        </p:spPr>
        <p:txBody>
          <a:bodyPr/>
          <a:lstStyle/>
          <a:p>
            <a:r>
              <a:rPr lang="en-IN" dirty="0">
                <a:solidFill>
                  <a:schemeClr val="bg1"/>
                </a:solidFill>
              </a:rPr>
              <a:t>Solution 5:</a:t>
            </a:r>
          </a:p>
        </p:txBody>
      </p:sp>
      <p:sp>
        <p:nvSpPr>
          <p:cNvPr id="4" name="Slide Number Placeholder 3">
            <a:extLst>
              <a:ext uri="{FF2B5EF4-FFF2-40B4-BE49-F238E27FC236}">
                <a16:creationId xmlns:a16="http://schemas.microsoft.com/office/drawing/2014/main" id="{F39E6045-6301-4966-A44F-C862572BD7C1}"/>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61</a:t>
            </a:fld>
            <a:endParaRPr lang="en-US" altLang="en-US"/>
          </a:p>
        </p:txBody>
      </p:sp>
      <p:sp>
        <p:nvSpPr>
          <p:cNvPr id="7" name="Content Placeholder 2">
            <a:extLst>
              <a:ext uri="{FF2B5EF4-FFF2-40B4-BE49-F238E27FC236}">
                <a16:creationId xmlns:a16="http://schemas.microsoft.com/office/drawing/2014/main" id="{45F9F70F-D0A7-4331-858C-564DED4E9B49}"/>
              </a:ext>
            </a:extLst>
          </p:cNvPr>
          <p:cNvSpPr>
            <a:spLocks noGrp="1"/>
          </p:cNvSpPr>
          <p:nvPr>
            <p:ph idx="4294967295"/>
          </p:nvPr>
        </p:nvSpPr>
        <p:spPr>
          <a:xfrm>
            <a:off x="0" y="1282700"/>
            <a:ext cx="4394200" cy="4881563"/>
          </a:xfrm>
        </p:spPr>
        <p:txBody>
          <a:bodyPr>
            <a:normAutofit fontScale="92500"/>
          </a:bodyPr>
          <a:lstStyle/>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fun2(int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arr</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int n)</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Int sum=0;</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for(int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=0;i&lt;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sum=sum +</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arr</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r>
              <a:rPr lang="en-IN"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a:t>
            </a: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return sum;</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457200" indent="-457200">
              <a:lnSpc>
                <a:spcPct val="115000"/>
              </a:lnSpc>
              <a:spcAft>
                <a:spcPts val="800"/>
              </a:spcAft>
              <a:buFont typeface="+mj-lt"/>
              <a:buAutoNum type="arabicPeriod"/>
            </a:pPr>
            <a:r>
              <a:rPr lang="en-IN"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endParaRPr lang="en-IN" dirty="0"/>
          </a:p>
        </p:txBody>
      </p:sp>
      <p:sp>
        <p:nvSpPr>
          <p:cNvPr id="8" name="TextBox 7">
            <a:extLst>
              <a:ext uri="{FF2B5EF4-FFF2-40B4-BE49-F238E27FC236}">
                <a16:creationId xmlns:a16="http://schemas.microsoft.com/office/drawing/2014/main" id="{C38C9BA0-95EE-41EE-930F-D9F332C05718}"/>
              </a:ext>
            </a:extLst>
          </p:cNvPr>
          <p:cNvSpPr txBox="1"/>
          <p:nvPr/>
        </p:nvSpPr>
        <p:spPr>
          <a:xfrm>
            <a:off x="5954712" y="1320730"/>
            <a:ext cx="5486400" cy="2554545"/>
          </a:xfrm>
          <a:prstGeom prst="rect">
            <a:avLst/>
          </a:prstGeom>
          <a:noFill/>
        </p:spPr>
        <p:txBody>
          <a:bodyPr wrap="square" rtlCol="0">
            <a:spAutoFit/>
          </a:bodyPr>
          <a:lstStyle/>
          <a:p>
            <a:r>
              <a:rPr lang="en-IN" sz="3200" b="1" dirty="0">
                <a:solidFill>
                  <a:srgbClr val="C00000"/>
                </a:solidFill>
                <a:latin typeface="Calibri" pitchFamily="34" charset="0"/>
                <a:cs typeface="Calibri" pitchFamily="34" charset="0"/>
              </a:rPr>
              <a:t>Time Complexity= order of n</a:t>
            </a:r>
          </a:p>
          <a:p>
            <a:endParaRPr lang="en-IN" sz="3200" b="1" dirty="0">
              <a:solidFill>
                <a:srgbClr val="C00000"/>
              </a:solidFill>
              <a:latin typeface="Calibri" pitchFamily="34" charset="0"/>
              <a:cs typeface="Calibri" pitchFamily="34" charset="0"/>
            </a:endParaRPr>
          </a:p>
          <a:p>
            <a:r>
              <a:rPr lang="en-IN" sz="3200" b="1" dirty="0">
                <a:solidFill>
                  <a:srgbClr val="C00000"/>
                </a:solidFill>
                <a:latin typeface="Calibri" pitchFamily="34" charset="0"/>
                <a:cs typeface="Calibri" pitchFamily="34" charset="0"/>
              </a:rPr>
              <a:t>and </a:t>
            </a:r>
          </a:p>
          <a:p>
            <a:endParaRPr lang="en-IN" sz="3200" b="1" dirty="0">
              <a:solidFill>
                <a:srgbClr val="C00000"/>
              </a:solidFill>
              <a:latin typeface="Calibri" pitchFamily="34" charset="0"/>
              <a:cs typeface="Calibri" pitchFamily="34" charset="0"/>
            </a:endParaRPr>
          </a:p>
          <a:p>
            <a:r>
              <a:rPr lang="en-IN" sz="3200" b="1" dirty="0">
                <a:solidFill>
                  <a:srgbClr val="C00000"/>
                </a:solidFill>
                <a:latin typeface="Calibri" pitchFamily="34" charset="0"/>
                <a:cs typeface="Calibri" pitchFamily="34" charset="0"/>
              </a:rPr>
              <a:t>Space Complexity= order of n</a:t>
            </a:r>
            <a:endParaRPr lang="en-IN" sz="4400" b="1" dirty="0">
              <a:solidFill>
                <a:srgbClr val="C00000"/>
              </a:solidFill>
              <a:latin typeface="Calibri" pitchFamily="34" charset="0"/>
              <a:cs typeface="Calibri" pitchFamily="34" charset="0"/>
            </a:endParaRPr>
          </a:p>
        </p:txBody>
      </p:sp>
    </p:spTree>
    <p:extLst>
      <p:ext uri="{BB962C8B-B14F-4D97-AF65-F5344CB8AC3E}">
        <p14:creationId xmlns:p14="http://schemas.microsoft.com/office/powerpoint/2010/main" val="11236117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266" name="Rectangle 2"/>
          <p:cNvSpPr>
            <a:spLocks noGrp="1" noChangeArrowheads="1"/>
          </p:cNvSpPr>
          <p:nvPr>
            <p:ph type="ctrTitle" idx="4294967295"/>
          </p:nvPr>
        </p:nvSpPr>
        <p:spPr>
          <a:xfrm>
            <a:off x="0" y="1143000"/>
            <a:ext cx="8420100" cy="1447800"/>
          </a:xfrm>
          <a:effectLst/>
        </p:spPr>
        <p:txBody>
          <a:bodyPr/>
          <a:lstStyle/>
          <a:p>
            <a:pPr eaLnBrk="1" hangingPunct="1">
              <a:defRPr/>
            </a:pPr>
            <a:r>
              <a:rPr lang="en-US" sz="3600" dirty="0">
                <a:solidFill>
                  <a:srgbClr val="002060"/>
                </a:solidFill>
                <a:latin typeface="Calibri" pitchFamily="34" charset="0"/>
                <a:cs typeface="Calibri" pitchFamily="34" charset="0"/>
              </a:rPr>
              <a:t>Common Mathematical Functions used in Complexity Analysis:</a:t>
            </a:r>
            <a:endParaRPr lang="en-US" sz="3600" dirty="0">
              <a:solidFill>
                <a:schemeClr val="accent6">
                  <a:lumMod val="75000"/>
                </a:schemeClr>
              </a:solidFill>
              <a:latin typeface="Calibri" pitchFamily="34" charset="0"/>
              <a:cs typeface="Calibri" pitchFamily="34" charset="0"/>
            </a:endParaRPr>
          </a:p>
        </p:txBody>
      </p:sp>
    </p:spTree>
    <p:extLst>
      <p:ext uri="{BB962C8B-B14F-4D97-AF65-F5344CB8AC3E}">
        <p14:creationId xmlns:p14="http://schemas.microsoft.com/office/powerpoint/2010/main" val="394224692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011D34F3-5805-4D19-B06A-648977BA2228}" type="slidenum">
              <a:rPr lang="en-US" altLang="en-US" sz="1200">
                <a:solidFill>
                  <a:schemeClr val="bg1"/>
                </a:solidFill>
              </a:rPr>
              <a:pPr>
                <a:spcBef>
                  <a:spcPct val="0"/>
                </a:spcBef>
                <a:buClrTx/>
                <a:buFontTx/>
                <a:buNone/>
              </a:pPr>
              <a:t>63</a:t>
            </a:fld>
            <a:endParaRPr lang="en-US" altLang="en-US" sz="1200">
              <a:solidFill>
                <a:schemeClr val="bg1"/>
              </a:solidFill>
            </a:endParaRPr>
          </a:p>
        </p:txBody>
      </p:sp>
      <p:sp>
        <p:nvSpPr>
          <p:cNvPr id="2" name="Title 1"/>
          <p:cNvSpPr>
            <a:spLocks noGrp="1"/>
          </p:cNvSpPr>
          <p:nvPr>
            <p:ph type="title" idx="4294967295"/>
          </p:nvPr>
        </p:nvSpPr>
        <p:spPr>
          <a:xfrm>
            <a:off x="0" y="-31750"/>
            <a:ext cx="11125200" cy="1017588"/>
          </a:xfrm>
          <a:effectLst/>
        </p:spPr>
        <p:txBody>
          <a:bodyPr>
            <a:normAutofit/>
          </a:bodyPr>
          <a:lstStyle/>
          <a:p>
            <a:pPr algn="ctr"/>
            <a:r>
              <a:rPr lang="en-US" sz="3200" dirty="0">
                <a:solidFill>
                  <a:schemeClr val="bg1"/>
                </a:solidFill>
                <a:latin typeface="Calibri" pitchFamily="34" charset="0"/>
                <a:cs typeface="Calibri" pitchFamily="34" charset="0"/>
              </a:rPr>
              <a:t>Common Mathematical Functions used in Complexity Analysis</a:t>
            </a:r>
          </a:p>
        </p:txBody>
      </p:sp>
      <p:sp>
        <p:nvSpPr>
          <p:cNvPr id="5" name="TextBox 4"/>
          <p:cNvSpPr txBox="1"/>
          <p:nvPr/>
        </p:nvSpPr>
        <p:spPr>
          <a:xfrm>
            <a:off x="8021" y="1143000"/>
            <a:ext cx="7543800" cy="110799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Constant Function f(n) = C</a:t>
            </a:r>
          </a:p>
          <a:p>
            <a:pPr marL="285750" indent="-285750">
              <a:buFont typeface="Wingdings" panose="05000000000000000000" pitchFamily="2" charset="2"/>
              <a:buChar char="Ø"/>
            </a:pPr>
            <a:endParaRPr lang="en-IN" sz="2400" dirty="0">
              <a:solidFill>
                <a:srgbClr val="FF0000"/>
              </a:solidFill>
              <a:latin typeface="+mn-lt"/>
            </a:endParaRPr>
          </a:p>
          <a:p>
            <a:pPr marL="285750" indent="-285750">
              <a:buFont typeface="Wingdings" panose="05000000000000000000" pitchFamily="2" charset="2"/>
              <a:buChar char="Ø"/>
            </a:pPr>
            <a:endParaRPr lang="en-IN" dirty="0"/>
          </a:p>
        </p:txBody>
      </p:sp>
      <p:sp>
        <p:nvSpPr>
          <p:cNvPr id="3" name="Rectangle 2"/>
          <p:cNvSpPr/>
          <p:nvPr/>
        </p:nvSpPr>
        <p:spPr>
          <a:xfrm>
            <a:off x="304801" y="1696998"/>
            <a:ext cx="11582399" cy="707886"/>
          </a:xfrm>
          <a:prstGeom prst="rect">
            <a:avLst/>
          </a:prstGeom>
        </p:spPr>
        <p:txBody>
          <a:bodyPr wrap="square">
            <a:spAutoFit/>
          </a:bodyPr>
          <a:lstStyle/>
          <a:p>
            <a:pPr algn="just"/>
            <a:r>
              <a:rPr lang="en-IN" sz="2000" dirty="0">
                <a:latin typeface="Calibri" panose="020F0502020204030204" pitchFamily="34" charset="0"/>
                <a:cs typeface="Calibri" panose="020F0502020204030204" pitchFamily="34" charset="0"/>
              </a:rPr>
              <a:t>For any argument </a:t>
            </a:r>
            <a:r>
              <a:rPr lang="en-IN" sz="2000" i="1" dirty="0">
                <a:latin typeface="Calibri" panose="020F0502020204030204" pitchFamily="34" charset="0"/>
                <a:cs typeface="Calibri" panose="020F0502020204030204" pitchFamily="34" charset="0"/>
              </a:rPr>
              <a:t>n</a:t>
            </a:r>
            <a:r>
              <a:rPr lang="en-IN" sz="2000" dirty="0">
                <a:latin typeface="Calibri" panose="020F0502020204030204" pitchFamily="34" charset="0"/>
                <a:cs typeface="Calibri" panose="020F0502020204030204" pitchFamily="34" charset="0"/>
              </a:rPr>
              <a:t>, the constant function </a:t>
            </a:r>
            <a:r>
              <a:rPr lang="en-IN" sz="2000" i="1" dirty="0">
                <a:latin typeface="Calibri" panose="020F0502020204030204" pitchFamily="34" charset="0"/>
                <a:cs typeface="Calibri" panose="020F0502020204030204" pitchFamily="34" charset="0"/>
              </a:rPr>
              <a:t>f</a:t>
            </a:r>
            <a:r>
              <a:rPr lang="en-IN" sz="2000" dirty="0">
                <a:latin typeface="Calibri" panose="020F0502020204030204" pitchFamily="34" charset="0"/>
                <a:cs typeface="Calibri" panose="020F0502020204030204" pitchFamily="34" charset="0"/>
              </a:rPr>
              <a:t>(</a:t>
            </a:r>
            <a:r>
              <a:rPr lang="en-IN" sz="2000" i="1" dirty="0">
                <a:latin typeface="Calibri" panose="020F0502020204030204" pitchFamily="34" charset="0"/>
                <a:cs typeface="Calibri" panose="020F0502020204030204" pitchFamily="34" charset="0"/>
              </a:rPr>
              <a:t>n</a:t>
            </a:r>
            <a:r>
              <a:rPr lang="en-IN" sz="2000" dirty="0">
                <a:latin typeface="Calibri" panose="020F0502020204030204" pitchFamily="34" charset="0"/>
                <a:cs typeface="Calibri" panose="020F0502020204030204" pitchFamily="34" charset="0"/>
              </a:rPr>
              <a:t>) will execute some finite set of instructions only. The Algorithm that takes constant time does not depend on the input size. </a:t>
            </a:r>
          </a:p>
        </p:txBody>
      </p:sp>
      <p:sp>
        <p:nvSpPr>
          <p:cNvPr id="7" name="Rectangle 6"/>
          <p:cNvSpPr>
            <a:spLocks/>
          </p:cNvSpPr>
          <p:nvPr/>
        </p:nvSpPr>
        <p:spPr>
          <a:xfrm>
            <a:off x="475499" y="2466187"/>
            <a:ext cx="3733800" cy="3248813"/>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IN" sz="2400" b="1" dirty="0">
                <a:solidFill>
                  <a:srgbClr val="000000"/>
                </a:solidFill>
                <a:effectLst/>
                <a:ea typeface="Times New Roman" panose="02020603050405020304" pitchFamily="18" charset="0"/>
                <a:cs typeface="Times New Roman" panose="02020603050405020304" pitchFamily="18" charset="0"/>
              </a:rPr>
              <a:t>for(i=0;i&lt;100;i++)</a:t>
            </a:r>
            <a:endParaRPr lang="en-IN" sz="2400" dirty="0">
              <a:effectLst/>
              <a:ea typeface="Corbel" panose="020B0503020204020204" pitchFamily="34" charset="0"/>
              <a:cs typeface="Times New Roman" panose="02020603050405020304" pitchFamily="18" charset="0"/>
            </a:endParaRPr>
          </a:p>
          <a:p>
            <a:pPr>
              <a:lnSpc>
                <a:spcPct val="115000"/>
              </a:lnSpc>
              <a:spcAft>
                <a:spcPts val="0"/>
              </a:spcAft>
            </a:pPr>
            <a:r>
              <a:rPr lang="en-IN" sz="2400" b="1" dirty="0">
                <a:solidFill>
                  <a:srgbClr val="000000"/>
                </a:solidFill>
                <a:effectLst/>
                <a:ea typeface="Times New Roman" panose="02020603050405020304" pitchFamily="18" charset="0"/>
                <a:cs typeface="Times New Roman" panose="02020603050405020304" pitchFamily="18" charset="0"/>
              </a:rPr>
              <a:t>{</a:t>
            </a:r>
            <a:endParaRPr lang="en-IN" sz="2400" dirty="0">
              <a:effectLst/>
              <a:ea typeface="Corbel" panose="020B0503020204020204" pitchFamily="34" charset="0"/>
              <a:cs typeface="Times New Roman" panose="02020603050405020304" pitchFamily="18" charset="0"/>
            </a:endParaRPr>
          </a:p>
          <a:p>
            <a:pPr>
              <a:lnSpc>
                <a:spcPct val="115000"/>
              </a:lnSpc>
              <a:spcAft>
                <a:spcPts val="0"/>
              </a:spcAft>
            </a:pPr>
            <a:r>
              <a:rPr lang="en-IN" sz="2400" b="1" dirty="0" err="1">
                <a:solidFill>
                  <a:srgbClr val="000000"/>
                </a:solidFill>
                <a:effectLst/>
                <a:ea typeface="Times New Roman" panose="02020603050405020304" pitchFamily="18" charset="0"/>
                <a:cs typeface="Times New Roman" panose="02020603050405020304" pitchFamily="18" charset="0"/>
              </a:rPr>
              <a:t>printf</a:t>
            </a:r>
            <a:r>
              <a:rPr lang="en-IN" sz="2400" b="1" dirty="0">
                <a:solidFill>
                  <a:srgbClr val="000000"/>
                </a:solidFill>
                <a:effectLst/>
                <a:ea typeface="Times New Roman" panose="02020603050405020304" pitchFamily="18" charset="0"/>
                <a:cs typeface="Times New Roman" panose="02020603050405020304" pitchFamily="18" charset="0"/>
              </a:rPr>
              <a:t>(“%d”, *);</a:t>
            </a:r>
            <a:endParaRPr lang="en-IN" sz="24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400" b="1" dirty="0">
                <a:solidFill>
                  <a:srgbClr val="000000"/>
                </a:solidFill>
                <a:effectLst/>
                <a:ea typeface="Times New Roman" panose="02020603050405020304" pitchFamily="18" charset="0"/>
                <a:cs typeface="Times New Roman" panose="02020603050405020304" pitchFamily="18" charset="0"/>
              </a:rPr>
              <a:t>}</a:t>
            </a:r>
            <a:endParaRPr lang="en-IN" sz="24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11" name="Explosion 2 10"/>
          <p:cNvSpPr/>
          <p:nvPr/>
        </p:nvSpPr>
        <p:spPr bwMode="auto">
          <a:xfrm>
            <a:off x="4379997" y="2100800"/>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12" name="TextBox 11"/>
          <p:cNvSpPr txBox="1"/>
          <p:nvPr/>
        </p:nvSpPr>
        <p:spPr>
          <a:xfrm>
            <a:off x="5124450" y="3072398"/>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pic>
        <p:nvPicPr>
          <p:cNvPr id="13" name="Picture 12"/>
          <p:cNvPicPr>
            <a:picLocks noChangeAspect="1"/>
          </p:cNvPicPr>
          <p:nvPr/>
        </p:nvPicPr>
        <p:blipFill rotWithShape="1">
          <a:blip r:embed="rId3"/>
          <a:srcRect l="12499" t="5457" r="18421" b="4506"/>
          <a:stretch/>
        </p:blipFill>
        <p:spPr>
          <a:xfrm>
            <a:off x="8768764" y="3072398"/>
            <a:ext cx="2947737" cy="2514600"/>
          </a:xfrm>
          <a:prstGeom prst="rect">
            <a:avLst/>
          </a:prstGeom>
        </p:spPr>
      </p:pic>
    </p:spTree>
    <p:extLst>
      <p:ext uri="{BB962C8B-B14F-4D97-AF65-F5344CB8AC3E}">
        <p14:creationId xmlns:p14="http://schemas.microsoft.com/office/powerpoint/2010/main" val="7024120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64</a:t>
            </a:fld>
            <a:endParaRPr lang="en-US" altLang="en-US"/>
          </a:p>
        </p:txBody>
      </p:sp>
      <p:sp>
        <p:nvSpPr>
          <p:cNvPr id="3" name="Title 1"/>
          <p:cNvSpPr txBox="1">
            <a:spLocks/>
          </p:cNvSpPr>
          <p:nvPr/>
        </p:nvSpPr>
        <p:spPr>
          <a:xfrm>
            <a:off x="433137" y="-32084"/>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bg1"/>
                </a:solidFill>
              </a:rPr>
              <a:t>Solution:</a:t>
            </a:r>
          </a:p>
        </p:txBody>
      </p:sp>
      <p:sp>
        <p:nvSpPr>
          <p:cNvPr id="4" name="Rectangle 3"/>
          <p:cNvSpPr>
            <a:spLocks/>
          </p:cNvSpPr>
          <p:nvPr/>
        </p:nvSpPr>
        <p:spPr>
          <a:xfrm>
            <a:off x="433136" y="3048000"/>
            <a:ext cx="4291263" cy="274320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IN" sz="2400" b="1" dirty="0">
                <a:solidFill>
                  <a:srgbClr val="000000"/>
                </a:solidFill>
                <a:effectLst/>
                <a:ea typeface="Times New Roman" panose="02020603050405020304" pitchFamily="18" charset="0"/>
                <a:cs typeface="Times New Roman" panose="02020603050405020304" pitchFamily="18" charset="0"/>
              </a:rPr>
              <a:t>for(i=0;i&lt;100;i++)</a:t>
            </a:r>
            <a:endParaRPr lang="en-IN" sz="2400" dirty="0">
              <a:effectLst/>
              <a:ea typeface="Corbel" panose="020B0503020204020204" pitchFamily="34" charset="0"/>
              <a:cs typeface="Times New Roman" panose="02020603050405020304" pitchFamily="18" charset="0"/>
            </a:endParaRPr>
          </a:p>
          <a:p>
            <a:pPr>
              <a:lnSpc>
                <a:spcPct val="115000"/>
              </a:lnSpc>
              <a:spcAft>
                <a:spcPts val="0"/>
              </a:spcAft>
            </a:pPr>
            <a:r>
              <a:rPr lang="en-IN" sz="2400" b="1" dirty="0">
                <a:solidFill>
                  <a:srgbClr val="000000"/>
                </a:solidFill>
                <a:effectLst/>
                <a:ea typeface="Times New Roman" panose="02020603050405020304" pitchFamily="18" charset="0"/>
                <a:cs typeface="Times New Roman" panose="02020603050405020304" pitchFamily="18" charset="0"/>
              </a:rPr>
              <a:t>{</a:t>
            </a:r>
            <a:endParaRPr lang="en-IN" sz="2400" dirty="0">
              <a:effectLst/>
              <a:ea typeface="Corbel" panose="020B0503020204020204" pitchFamily="34" charset="0"/>
              <a:cs typeface="Times New Roman" panose="02020603050405020304" pitchFamily="18" charset="0"/>
            </a:endParaRPr>
          </a:p>
          <a:p>
            <a:pPr>
              <a:lnSpc>
                <a:spcPct val="115000"/>
              </a:lnSpc>
              <a:spcAft>
                <a:spcPts val="0"/>
              </a:spcAft>
            </a:pPr>
            <a:r>
              <a:rPr lang="en-IN" sz="2400" b="1" dirty="0" err="1">
                <a:solidFill>
                  <a:srgbClr val="000000"/>
                </a:solidFill>
                <a:effectLst/>
                <a:ea typeface="Times New Roman" panose="02020603050405020304" pitchFamily="18" charset="0"/>
                <a:cs typeface="Times New Roman" panose="02020603050405020304" pitchFamily="18" charset="0"/>
              </a:rPr>
              <a:t>printf</a:t>
            </a:r>
            <a:r>
              <a:rPr lang="en-IN" sz="2400" b="1" dirty="0">
                <a:solidFill>
                  <a:srgbClr val="000000"/>
                </a:solidFill>
                <a:effectLst/>
                <a:ea typeface="Times New Roman" panose="02020603050405020304" pitchFamily="18" charset="0"/>
                <a:cs typeface="Times New Roman" panose="02020603050405020304" pitchFamily="18" charset="0"/>
              </a:rPr>
              <a:t>(“%d”, *);</a:t>
            </a:r>
            <a:endParaRPr lang="en-IN" sz="24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400" b="1" dirty="0">
                <a:solidFill>
                  <a:srgbClr val="000000"/>
                </a:solidFill>
                <a:effectLst/>
                <a:ea typeface="Times New Roman" panose="02020603050405020304" pitchFamily="18" charset="0"/>
                <a:cs typeface="Times New Roman" panose="02020603050405020304" pitchFamily="18" charset="0"/>
              </a:rPr>
              <a:t>}</a:t>
            </a:r>
            <a:endParaRPr lang="en-IN" sz="24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5" name="Curved Down Arrow 4"/>
          <p:cNvSpPr>
            <a:spLocks/>
          </p:cNvSpPr>
          <p:nvPr/>
        </p:nvSpPr>
        <p:spPr>
          <a:xfrm flipH="1">
            <a:off x="2233946" y="1419726"/>
            <a:ext cx="6312570" cy="1624263"/>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6" name="Rectangle 5"/>
          <p:cNvSpPr>
            <a:spLocks/>
          </p:cNvSpPr>
          <p:nvPr/>
        </p:nvSpPr>
        <p:spPr>
          <a:xfrm>
            <a:off x="7010400" y="3076072"/>
            <a:ext cx="4724400" cy="271512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b="1" dirty="0">
                <a:solidFill>
                  <a:srgbClr val="000000"/>
                </a:solidFill>
                <a:effectLst/>
                <a:highlight>
                  <a:srgbClr val="00FF00"/>
                </a:highlight>
                <a:ea typeface="Times New Roman" panose="02020603050405020304" pitchFamily="18" charset="0"/>
                <a:cs typeface="Times New Roman" panose="02020603050405020304" pitchFamily="18" charset="0"/>
              </a:rPr>
              <a:t>for loop will execute 100 times every time. Execution of loop is fixed (constant) times.</a:t>
            </a:r>
            <a:endParaRPr lang="en-IN"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dirty="0">
                <a:effectLst/>
                <a:ea typeface="Corbel" panose="020B0503020204020204" pitchFamily="34" charset="0"/>
                <a:cs typeface="Times New Roman" panose="02020603050405020304" pitchFamily="18" charset="0"/>
              </a:rPr>
              <a:t> </a:t>
            </a:r>
          </a:p>
        </p:txBody>
      </p:sp>
      <p:sp>
        <p:nvSpPr>
          <p:cNvPr id="7" name="Arrow: Right 10"/>
          <p:cNvSpPr>
            <a:spLocks/>
          </p:cNvSpPr>
          <p:nvPr/>
        </p:nvSpPr>
        <p:spPr>
          <a:xfrm>
            <a:off x="4914900" y="4107961"/>
            <a:ext cx="1904999" cy="621776"/>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solidFill>
                <a:srgbClr val="7030A0"/>
              </a:solidFill>
            </a:endParaRPr>
          </a:p>
        </p:txBody>
      </p:sp>
    </p:spTree>
    <p:extLst>
      <p:ext uri="{BB962C8B-B14F-4D97-AF65-F5344CB8AC3E}">
        <p14:creationId xmlns:p14="http://schemas.microsoft.com/office/powerpoint/2010/main" val="242580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70DDE78E-B150-43FA-B8BC-938F06DC96EB}" type="slidenum">
              <a:rPr lang="en-US" altLang="en-US" sz="1200">
                <a:solidFill>
                  <a:schemeClr val="bg1"/>
                </a:solidFill>
              </a:rPr>
              <a:pPr>
                <a:spcBef>
                  <a:spcPct val="0"/>
                </a:spcBef>
                <a:buClrTx/>
                <a:buFontTx/>
                <a:buNone/>
              </a:pPr>
              <a:t>65</a:t>
            </a:fld>
            <a:endParaRPr lang="en-US" altLang="en-US" sz="1200">
              <a:solidFill>
                <a:schemeClr val="bg1"/>
              </a:solidFill>
            </a:endParaRPr>
          </a:p>
        </p:txBody>
      </p:sp>
      <p:sp>
        <p:nvSpPr>
          <p:cNvPr id="7" name="Title 1"/>
          <p:cNvSpPr>
            <a:spLocks noGrp="1"/>
          </p:cNvSpPr>
          <p:nvPr>
            <p:ph type="title" idx="4294967295"/>
          </p:nvPr>
        </p:nvSpPr>
        <p:spPr>
          <a:xfrm>
            <a:off x="0" y="0"/>
            <a:ext cx="11125200" cy="973138"/>
          </a:xfrm>
          <a:effectLst/>
        </p:spPr>
        <p:txBody>
          <a:bodyPr>
            <a:normAutofit/>
          </a:bodyPr>
          <a:lstStyle/>
          <a:p>
            <a:pPr algn="ctr"/>
            <a:r>
              <a:rPr lang="en-US" sz="3200" dirty="0">
                <a:solidFill>
                  <a:schemeClr val="bg1"/>
                </a:solidFill>
                <a:latin typeface="Calibri" pitchFamily="34" charset="0"/>
                <a:cs typeface="Calibri" pitchFamily="34" charset="0"/>
              </a:rPr>
              <a:t>Common Mathematical Functions used in Complexity Analysis</a:t>
            </a:r>
          </a:p>
        </p:txBody>
      </p:sp>
      <p:sp>
        <p:nvSpPr>
          <p:cNvPr id="8" name="TextBox 7"/>
          <p:cNvSpPr txBox="1"/>
          <p:nvPr/>
        </p:nvSpPr>
        <p:spPr>
          <a:xfrm>
            <a:off x="8021" y="1143000"/>
            <a:ext cx="7543800" cy="110799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Logarithm Function f(n) =  log n</a:t>
            </a:r>
          </a:p>
          <a:p>
            <a:pPr marL="285750" indent="-285750">
              <a:buFont typeface="Wingdings" panose="05000000000000000000" pitchFamily="2" charset="2"/>
              <a:buChar char="Ø"/>
            </a:pPr>
            <a:endParaRPr lang="en-IN" sz="2400" dirty="0">
              <a:solidFill>
                <a:srgbClr val="FF0000"/>
              </a:solidFill>
              <a:latin typeface="+mn-lt"/>
            </a:endParaRPr>
          </a:p>
          <a:p>
            <a:pPr marL="285750" indent="-285750">
              <a:buFont typeface="Wingdings" panose="05000000000000000000" pitchFamily="2" charset="2"/>
              <a:buChar char="Ø"/>
            </a:pPr>
            <a:endParaRPr lang="en-IN" dirty="0"/>
          </a:p>
        </p:txBody>
      </p:sp>
      <p:sp>
        <p:nvSpPr>
          <p:cNvPr id="2" name="Rectangle 1"/>
          <p:cNvSpPr/>
          <p:nvPr/>
        </p:nvSpPr>
        <p:spPr>
          <a:xfrm>
            <a:off x="228599" y="1678728"/>
            <a:ext cx="11734801" cy="770147"/>
          </a:xfrm>
          <a:prstGeom prst="rect">
            <a:avLst/>
          </a:prstGeom>
        </p:spPr>
        <p:txBody>
          <a:bodyPr wrap="square">
            <a:spAutoFit/>
          </a:bodyPr>
          <a:lstStyle/>
          <a:p>
            <a:pPr marL="38100" algn="just">
              <a:lnSpc>
                <a:spcPct val="115000"/>
              </a:lnSpc>
              <a:spcAft>
                <a:spcPts val="0"/>
              </a:spcAft>
            </a:pPr>
            <a:r>
              <a:rPr lang="en-IN" sz="2000" dirty="0">
                <a:solidFill>
                  <a:srgbClr val="000000"/>
                </a:solidFill>
                <a:latin typeface="+mn-lt"/>
                <a:ea typeface="Times New Roman" panose="02020603050405020304" pitchFamily="18" charset="0"/>
                <a:cs typeface="Times New Roman" panose="02020603050405020304" pitchFamily="18" charset="0"/>
              </a:rPr>
              <a:t>For some change in input, the function grows as a function of logarithmic. This function is defined as follows:</a:t>
            </a:r>
          </a:p>
        </p:txBody>
      </p:sp>
      <p:sp>
        <p:nvSpPr>
          <p:cNvPr id="10" name="Rectangle 9"/>
          <p:cNvSpPr>
            <a:spLocks/>
          </p:cNvSpPr>
          <p:nvPr/>
        </p:nvSpPr>
        <p:spPr>
          <a:xfrm>
            <a:off x="1265322" y="3139278"/>
            <a:ext cx="4173454" cy="279286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endParaRPr lang="en-IN" b="1" dirty="0">
              <a:solidFill>
                <a:srgbClr val="000000"/>
              </a:solidFill>
              <a:effectLst/>
              <a:ea typeface="Times New Roman" panose="02020603050405020304" pitchFamily="18" charset="0"/>
              <a:cs typeface="Times New Roman" panose="02020603050405020304" pitchFamily="18" charset="0"/>
            </a:endParaRPr>
          </a:p>
          <a:p>
            <a:pPr marL="38100">
              <a:lnSpc>
                <a:spcPct val="115000"/>
              </a:lnSpc>
              <a:spcAft>
                <a:spcPts val="0"/>
              </a:spcAft>
            </a:pPr>
            <a:r>
              <a:rPr lang="en-IN" sz="2000" b="1" dirty="0">
                <a:solidFill>
                  <a:srgbClr val="000000"/>
                </a:solidFill>
                <a:effectLst/>
                <a:ea typeface="Times New Roman" panose="02020603050405020304" pitchFamily="18" charset="0"/>
                <a:cs typeface="Times New Roman" panose="02020603050405020304" pitchFamily="18" charset="0"/>
              </a:rPr>
              <a:t>for(i=1;i&lt;=n;2*i)</a:t>
            </a:r>
            <a:endParaRPr lang="en-IN" sz="20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000" b="1" dirty="0">
                <a:solidFill>
                  <a:srgbClr val="000000"/>
                </a:solidFill>
                <a:effectLst/>
                <a:ea typeface="Times New Roman" panose="02020603050405020304" pitchFamily="18" charset="0"/>
                <a:cs typeface="Times New Roman" panose="02020603050405020304" pitchFamily="18" charset="0"/>
              </a:rPr>
              <a:t>{</a:t>
            </a:r>
            <a:endParaRPr lang="en-IN" sz="20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000" b="1" dirty="0" err="1">
                <a:solidFill>
                  <a:srgbClr val="000000"/>
                </a:solidFill>
                <a:effectLst/>
                <a:ea typeface="Times New Roman" panose="02020603050405020304" pitchFamily="18" charset="0"/>
                <a:cs typeface="Times New Roman" panose="02020603050405020304" pitchFamily="18" charset="0"/>
              </a:rPr>
              <a:t>printf</a:t>
            </a:r>
            <a:r>
              <a:rPr lang="en-IN" sz="2000" b="1" dirty="0">
                <a:solidFill>
                  <a:srgbClr val="000000"/>
                </a:solidFill>
                <a:effectLst/>
                <a:ea typeface="Times New Roman" panose="02020603050405020304" pitchFamily="18" charset="0"/>
                <a:cs typeface="Times New Roman" panose="02020603050405020304" pitchFamily="18" charset="0"/>
              </a:rPr>
              <a:t> (“%d”, *);</a:t>
            </a:r>
            <a:endParaRPr lang="en-IN" sz="20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000" b="1" dirty="0">
                <a:solidFill>
                  <a:srgbClr val="000000"/>
                </a:solidFill>
                <a:effectLst/>
                <a:ea typeface="Times New Roman" panose="02020603050405020304" pitchFamily="18" charset="0"/>
                <a:cs typeface="Times New Roman" panose="02020603050405020304" pitchFamily="18" charset="0"/>
              </a:rPr>
              <a:t>}</a:t>
            </a:r>
            <a:endParaRPr lang="en-IN" sz="20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15" name="Rectangle 14"/>
          <p:cNvSpPr>
            <a:spLocks/>
          </p:cNvSpPr>
          <p:nvPr/>
        </p:nvSpPr>
        <p:spPr>
          <a:xfrm>
            <a:off x="1857376" y="2354412"/>
            <a:ext cx="2514600" cy="68145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2000" b="1" dirty="0">
                <a:solidFill>
                  <a:srgbClr val="000000"/>
                </a:solidFill>
                <a:effectLst/>
                <a:highlight>
                  <a:srgbClr val="00FF00"/>
                </a:highlight>
                <a:ea typeface="Times New Roman" panose="02020603050405020304" pitchFamily="18" charset="0"/>
                <a:cs typeface="Times New Roman" panose="02020603050405020304" pitchFamily="18" charset="0"/>
              </a:rPr>
              <a:t>Assume that n=25</a:t>
            </a:r>
            <a:endParaRPr lang="en-IN" sz="2000" dirty="0">
              <a:effectLst/>
              <a:ea typeface="Corbel" panose="020B0503020204020204" pitchFamily="34" charset="0"/>
              <a:cs typeface="Times New Roman" panose="02020603050405020304" pitchFamily="18" charset="0"/>
            </a:endParaRPr>
          </a:p>
        </p:txBody>
      </p:sp>
      <p:pic>
        <p:nvPicPr>
          <p:cNvPr id="9" name="Picture 8"/>
          <p:cNvPicPr>
            <a:picLocks noChangeAspect="1"/>
          </p:cNvPicPr>
          <p:nvPr/>
        </p:nvPicPr>
        <p:blipFill rotWithShape="1">
          <a:blip r:embed="rId3"/>
          <a:srcRect l="12499" t="5457" r="18421" b="4506"/>
          <a:stretch/>
        </p:blipFill>
        <p:spPr>
          <a:xfrm>
            <a:off x="8965531" y="2984603"/>
            <a:ext cx="2947737" cy="2514600"/>
          </a:xfrm>
          <a:prstGeom prst="rect">
            <a:avLst/>
          </a:prstGeom>
        </p:spPr>
      </p:pic>
      <p:sp>
        <p:nvSpPr>
          <p:cNvPr id="14" name="Explosion 2 13"/>
          <p:cNvSpPr/>
          <p:nvPr/>
        </p:nvSpPr>
        <p:spPr bwMode="auto">
          <a:xfrm>
            <a:off x="5438776" y="1977921"/>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16" name="TextBox 15"/>
          <p:cNvSpPr txBox="1"/>
          <p:nvPr/>
        </p:nvSpPr>
        <p:spPr>
          <a:xfrm>
            <a:off x="6154654" y="2941398"/>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spTree>
    <p:extLst>
      <p:ext uri="{BB962C8B-B14F-4D97-AF65-F5344CB8AC3E}">
        <p14:creationId xmlns:p14="http://schemas.microsoft.com/office/powerpoint/2010/main" val="353721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6BCBFA40-D794-4967-85D7-FA0C32CDE7AF}" type="slidenum">
              <a:rPr lang="en-US" altLang="en-US" sz="1200">
                <a:solidFill>
                  <a:schemeClr val="bg1"/>
                </a:solidFill>
              </a:rPr>
              <a:pPr>
                <a:spcBef>
                  <a:spcPct val="0"/>
                </a:spcBef>
                <a:buClrTx/>
                <a:buFontTx/>
                <a:buNone/>
              </a:pPr>
              <a:t>66</a:t>
            </a:fld>
            <a:endParaRPr lang="en-US" altLang="en-US" sz="1200">
              <a:solidFill>
                <a:schemeClr val="bg1"/>
              </a:solidFill>
            </a:endParaRPr>
          </a:p>
        </p:txBody>
      </p:sp>
      <p:sp>
        <p:nvSpPr>
          <p:cNvPr id="2" name="Title 1"/>
          <p:cNvSpPr>
            <a:spLocks noGrp="1"/>
          </p:cNvSpPr>
          <p:nvPr>
            <p:ph type="title" idx="4294967295"/>
          </p:nvPr>
        </p:nvSpPr>
        <p:spPr>
          <a:xfrm>
            <a:off x="251926" y="-120559"/>
            <a:ext cx="10515600" cy="1325563"/>
          </a:xfrm>
          <a:effectLst/>
        </p:spPr>
        <p:txBody>
          <a:bodyPr/>
          <a:lstStyle/>
          <a:p>
            <a:r>
              <a:rPr lang="en-US" dirty="0">
                <a:solidFill>
                  <a:schemeClr val="bg1"/>
                </a:solidFill>
              </a:rPr>
              <a:t>Solution:</a:t>
            </a:r>
          </a:p>
        </p:txBody>
      </p:sp>
      <p:graphicFrame>
        <p:nvGraphicFramePr>
          <p:cNvPr id="5" name="Table 4"/>
          <p:cNvGraphicFramePr>
            <a:graphicFrameLocks noGrp="1"/>
          </p:cNvGraphicFramePr>
          <p:nvPr/>
        </p:nvGraphicFramePr>
        <p:xfrm>
          <a:off x="4339387" y="1371599"/>
          <a:ext cx="7467601" cy="1142336"/>
        </p:xfrm>
        <a:graphic>
          <a:graphicData uri="http://schemas.openxmlformats.org/drawingml/2006/table">
            <a:tbl>
              <a:tblPr firstRow="1" bandRow="1">
                <a:tableStyleId>{93296810-A885-4BE3-A3E7-6D5BEEA58F35}</a:tableStyleId>
              </a:tblPr>
              <a:tblGrid>
                <a:gridCol w="802439">
                  <a:extLst>
                    <a:ext uri="{9D8B030D-6E8A-4147-A177-3AD203B41FA5}">
                      <a16:colId xmlns:a16="http://schemas.microsoft.com/office/drawing/2014/main" val="20000"/>
                    </a:ext>
                  </a:extLst>
                </a:gridCol>
                <a:gridCol w="1297823">
                  <a:extLst>
                    <a:ext uri="{9D8B030D-6E8A-4147-A177-3AD203B41FA5}">
                      <a16:colId xmlns:a16="http://schemas.microsoft.com/office/drawing/2014/main" val="20001"/>
                    </a:ext>
                  </a:extLst>
                </a:gridCol>
                <a:gridCol w="1176338">
                  <a:extLst>
                    <a:ext uri="{9D8B030D-6E8A-4147-A177-3AD203B41FA5}">
                      <a16:colId xmlns:a16="http://schemas.microsoft.com/office/drawing/2014/main" val="20002"/>
                    </a:ext>
                  </a:extLst>
                </a:gridCol>
                <a:gridCol w="1468438">
                  <a:extLst>
                    <a:ext uri="{9D8B030D-6E8A-4147-A177-3AD203B41FA5}">
                      <a16:colId xmlns:a16="http://schemas.microsoft.com/office/drawing/2014/main" val="20003"/>
                    </a:ext>
                  </a:extLst>
                </a:gridCol>
                <a:gridCol w="1400175">
                  <a:extLst>
                    <a:ext uri="{9D8B030D-6E8A-4147-A177-3AD203B41FA5}">
                      <a16:colId xmlns:a16="http://schemas.microsoft.com/office/drawing/2014/main" val="20004"/>
                    </a:ext>
                  </a:extLst>
                </a:gridCol>
                <a:gridCol w="1322388">
                  <a:extLst>
                    <a:ext uri="{9D8B030D-6E8A-4147-A177-3AD203B41FA5}">
                      <a16:colId xmlns:a16="http://schemas.microsoft.com/office/drawing/2014/main" val="20005"/>
                    </a:ext>
                  </a:extLst>
                </a:gridCol>
              </a:tblGrid>
              <a:tr h="598014">
                <a:tc>
                  <a:txBody>
                    <a:bodyPr/>
                    <a:lstStyle/>
                    <a:p>
                      <a:pPr algn="ctr"/>
                      <a:r>
                        <a:rPr lang="en-IN" sz="1600" dirty="0">
                          <a:latin typeface="+mn-lt"/>
                        </a:rPr>
                        <a:t>i</a:t>
                      </a:r>
                    </a:p>
                  </a:txBody>
                  <a:tcPr/>
                </a:tc>
                <a:tc>
                  <a:txBody>
                    <a:bodyPr/>
                    <a:lstStyle/>
                    <a:p>
                      <a:pPr algn="ctr"/>
                      <a:r>
                        <a:rPr lang="en-IN" sz="1600" dirty="0">
                          <a:latin typeface="+mn-lt"/>
                        </a:rPr>
                        <a:t>2</a:t>
                      </a:r>
                    </a:p>
                  </a:txBody>
                  <a:tcPr/>
                </a:tc>
                <a:tc>
                  <a:txBody>
                    <a:bodyPr/>
                    <a:lstStyle/>
                    <a:p>
                      <a:pPr algn="ctr"/>
                      <a:r>
                        <a:rPr lang="en-IN" sz="1600" dirty="0">
                          <a:latin typeface="+mn-lt"/>
                        </a:rPr>
                        <a:t>4</a:t>
                      </a:r>
                    </a:p>
                  </a:txBody>
                  <a:tcPr/>
                </a:tc>
                <a:tc>
                  <a:txBody>
                    <a:bodyPr/>
                    <a:lstStyle/>
                    <a:p>
                      <a:pPr algn="ctr"/>
                      <a:r>
                        <a:rPr lang="en-IN" sz="1600" dirty="0">
                          <a:latin typeface="+mn-lt"/>
                        </a:rPr>
                        <a:t>8</a:t>
                      </a:r>
                    </a:p>
                  </a:txBody>
                  <a:tcPr/>
                </a:tc>
                <a:tc>
                  <a:txBody>
                    <a:bodyPr/>
                    <a:lstStyle/>
                    <a:p>
                      <a:pPr algn="ctr"/>
                      <a:r>
                        <a:rPr lang="en-IN" sz="1600" dirty="0">
                          <a:latin typeface="+mn-lt"/>
                        </a:rPr>
                        <a:t>16</a:t>
                      </a:r>
                    </a:p>
                  </a:txBody>
                  <a:tcPr/>
                </a:tc>
                <a:tc>
                  <a:txBody>
                    <a:bodyPr/>
                    <a:lstStyle/>
                    <a:p>
                      <a:pPr algn="ctr"/>
                      <a:r>
                        <a:rPr lang="en-IN" sz="1600" dirty="0">
                          <a:latin typeface="+mn-lt"/>
                        </a:rPr>
                        <a:t>32</a:t>
                      </a:r>
                    </a:p>
                  </a:txBody>
                  <a:tcPr/>
                </a:tc>
                <a:extLst>
                  <a:ext uri="{0D108BD9-81ED-4DB2-BD59-A6C34878D82A}">
                    <a16:rowId xmlns:a16="http://schemas.microsoft.com/office/drawing/2014/main" val="10000"/>
                  </a:ext>
                </a:extLst>
              </a:tr>
              <a:tr h="206551">
                <a:tc>
                  <a:txBody>
                    <a:bodyPr/>
                    <a:lstStyle/>
                    <a:p>
                      <a:pPr algn="ctr">
                        <a:lnSpc>
                          <a:spcPct val="115000"/>
                        </a:lnSpc>
                        <a:spcAft>
                          <a:spcPts val="800"/>
                        </a:spcAft>
                      </a:pPr>
                      <a:r>
                        <a:rPr lang="en-IN" sz="1600" b="1" dirty="0">
                          <a:solidFill>
                            <a:srgbClr val="000000"/>
                          </a:solidFill>
                          <a:effectLst/>
                          <a:latin typeface="+mn-lt"/>
                          <a:ea typeface="Corbel" panose="020B0503020204020204" pitchFamily="34" charset="0"/>
                          <a:cs typeface="Times New Roman" panose="02020603050405020304" pitchFamily="18" charset="0"/>
                        </a:rPr>
                        <a:t>True/ false</a:t>
                      </a:r>
                      <a:endParaRPr lang="en-IN" sz="1600" b="1" dirty="0">
                        <a:effectLst/>
                        <a:latin typeface="+mn-lt"/>
                        <a:ea typeface="Corbel" panose="020B0503020204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pPr>
                      <a:r>
                        <a:rPr lang="en-IN" sz="1600" b="1" dirty="0">
                          <a:solidFill>
                            <a:srgbClr val="000000"/>
                          </a:solidFill>
                          <a:effectLst/>
                          <a:latin typeface="+mn-lt"/>
                          <a:ea typeface="Corbel" panose="020B0503020204020204" pitchFamily="34" charset="0"/>
                          <a:cs typeface="Times New Roman" panose="02020603050405020304" pitchFamily="18" charset="0"/>
                        </a:rPr>
                        <a:t>2&lt;25(true)</a:t>
                      </a:r>
                      <a:endParaRPr lang="en-IN" sz="1600" b="1" dirty="0">
                        <a:effectLst/>
                        <a:latin typeface="+mn-lt"/>
                        <a:ea typeface="Corbel" panose="020B0503020204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pPr>
                      <a:r>
                        <a:rPr lang="en-IN" sz="1600" b="1" dirty="0">
                          <a:solidFill>
                            <a:srgbClr val="000000"/>
                          </a:solidFill>
                          <a:effectLst/>
                          <a:latin typeface="+mn-lt"/>
                          <a:ea typeface="Corbel" panose="020B0503020204020204" pitchFamily="34" charset="0"/>
                          <a:cs typeface="Times New Roman" panose="02020603050405020304" pitchFamily="18" charset="0"/>
                        </a:rPr>
                        <a:t>4&lt;25(true)</a:t>
                      </a:r>
                      <a:endParaRPr lang="en-IN" sz="1600" b="1" dirty="0">
                        <a:effectLst/>
                        <a:latin typeface="+mn-lt"/>
                        <a:ea typeface="Corbel" panose="020B0503020204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pPr>
                      <a:r>
                        <a:rPr lang="en-IN" sz="1600" b="1" dirty="0">
                          <a:solidFill>
                            <a:srgbClr val="000000"/>
                          </a:solidFill>
                          <a:effectLst/>
                          <a:latin typeface="+mn-lt"/>
                          <a:ea typeface="Corbel" panose="020B0503020204020204" pitchFamily="34" charset="0"/>
                          <a:cs typeface="Times New Roman" panose="02020603050405020304" pitchFamily="18" charset="0"/>
                        </a:rPr>
                        <a:t>8&lt;25 (true)</a:t>
                      </a:r>
                      <a:endParaRPr lang="en-IN" sz="1600" b="1" dirty="0">
                        <a:effectLst/>
                        <a:latin typeface="+mn-lt"/>
                        <a:ea typeface="Corbel" panose="020B0503020204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pPr>
                      <a:r>
                        <a:rPr lang="en-IN" sz="1600" b="1" dirty="0">
                          <a:solidFill>
                            <a:srgbClr val="000000"/>
                          </a:solidFill>
                          <a:effectLst/>
                          <a:latin typeface="+mn-lt"/>
                          <a:ea typeface="Corbel" panose="020B0503020204020204" pitchFamily="34" charset="0"/>
                          <a:cs typeface="Times New Roman" panose="02020603050405020304" pitchFamily="18" charset="0"/>
                        </a:rPr>
                        <a:t>16&lt;25(true)</a:t>
                      </a:r>
                      <a:endParaRPr lang="en-IN" sz="1600" b="1" dirty="0">
                        <a:effectLst/>
                        <a:latin typeface="+mn-lt"/>
                        <a:ea typeface="Corbel" panose="020B0503020204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pPr>
                      <a:r>
                        <a:rPr lang="en-IN" sz="1600" b="1" dirty="0">
                          <a:solidFill>
                            <a:srgbClr val="000000"/>
                          </a:solidFill>
                          <a:effectLst/>
                          <a:latin typeface="+mn-lt"/>
                          <a:ea typeface="Corbel" panose="020B0503020204020204" pitchFamily="34" charset="0"/>
                          <a:cs typeface="Times New Roman" panose="02020603050405020304" pitchFamily="18" charset="0"/>
                        </a:rPr>
                        <a:t>32&gt;25(false)</a:t>
                      </a:r>
                      <a:endParaRPr lang="en-IN" sz="1600" b="1" dirty="0">
                        <a:effectLst/>
                        <a:latin typeface="+mn-lt"/>
                        <a:ea typeface="Corbel" panose="020B0503020204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6" name="Rectangle 5"/>
          <p:cNvSpPr>
            <a:spLocks/>
          </p:cNvSpPr>
          <p:nvPr/>
        </p:nvSpPr>
        <p:spPr>
          <a:xfrm>
            <a:off x="385012" y="2590800"/>
            <a:ext cx="3733800" cy="237975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endParaRPr lang="en-IN" b="1" dirty="0">
              <a:solidFill>
                <a:srgbClr val="000000"/>
              </a:solidFill>
              <a:effectLst/>
              <a:ea typeface="Times New Roman" panose="02020603050405020304" pitchFamily="18" charset="0"/>
              <a:cs typeface="Times New Roman" panose="02020603050405020304" pitchFamily="18" charset="0"/>
            </a:endParaRPr>
          </a:p>
          <a:p>
            <a:pPr marL="38100">
              <a:lnSpc>
                <a:spcPct val="115000"/>
              </a:lnSpc>
              <a:spcAft>
                <a:spcPts val="0"/>
              </a:spcAft>
            </a:pPr>
            <a:r>
              <a:rPr lang="en-IN" sz="2000" b="1" dirty="0">
                <a:solidFill>
                  <a:srgbClr val="000000"/>
                </a:solidFill>
                <a:effectLst/>
                <a:ea typeface="Times New Roman" panose="02020603050405020304" pitchFamily="18" charset="0"/>
                <a:cs typeface="Times New Roman" panose="02020603050405020304" pitchFamily="18" charset="0"/>
              </a:rPr>
              <a:t>for(i=1;i&lt;=n;2*i)</a:t>
            </a:r>
            <a:endParaRPr lang="en-IN" sz="20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000" b="1" dirty="0">
                <a:solidFill>
                  <a:srgbClr val="000000"/>
                </a:solidFill>
                <a:effectLst/>
                <a:ea typeface="Times New Roman" panose="02020603050405020304" pitchFamily="18" charset="0"/>
                <a:cs typeface="Times New Roman" panose="02020603050405020304" pitchFamily="18" charset="0"/>
              </a:rPr>
              <a:t>{</a:t>
            </a:r>
            <a:endParaRPr lang="en-IN" sz="20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000" b="1" dirty="0" err="1">
                <a:solidFill>
                  <a:srgbClr val="000000"/>
                </a:solidFill>
                <a:effectLst/>
                <a:ea typeface="Times New Roman" panose="02020603050405020304" pitchFamily="18" charset="0"/>
                <a:cs typeface="Times New Roman" panose="02020603050405020304" pitchFamily="18" charset="0"/>
              </a:rPr>
              <a:t>printf</a:t>
            </a:r>
            <a:r>
              <a:rPr lang="en-IN" sz="2000" b="1" dirty="0">
                <a:solidFill>
                  <a:srgbClr val="000000"/>
                </a:solidFill>
                <a:effectLst/>
                <a:ea typeface="Times New Roman" panose="02020603050405020304" pitchFamily="18" charset="0"/>
                <a:cs typeface="Times New Roman" panose="02020603050405020304" pitchFamily="18" charset="0"/>
              </a:rPr>
              <a:t> (“%d”, *);</a:t>
            </a:r>
            <a:endParaRPr lang="en-IN" sz="2000" dirty="0">
              <a:effectLst/>
              <a:ea typeface="Corbel" panose="020B0503020204020204" pitchFamily="34" charset="0"/>
              <a:cs typeface="Times New Roman" panose="02020603050405020304" pitchFamily="18" charset="0"/>
            </a:endParaRPr>
          </a:p>
          <a:p>
            <a:pPr marL="38100">
              <a:lnSpc>
                <a:spcPct val="115000"/>
              </a:lnSpc>
              <a:spcAft>
                <a:spcPts val="0"/>
              </a:spcAft>
            </a:pPr>
            <a:r>
              <a:rPr lang="en-IN" sz="2000" b="1" dirty="0">
                <a:solidFill>
                  <a:srgbClr val="000000"/>
                </a:solidFill>
                <a:effectLst/>
                <a:ea typeface="Times New Roman" panose="02020603050405020304" pitchFamily="18" charset="0"/>
                <a:cs typeface="Times New Roman" panose="02020603050405020304" pitchFamily="18" charset="0"/>
              </a:rPr>
              <a:t>}</a:t>
            </a:r>
            <a:endParaRPr lang="en-IN" sz="2000" dirty="0">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7" name="TextBox 6"/>
          <p:cNvSpPr txBox="1"/>
          <p:nvPr/>
        </p:nvSpPr>
        <p:spPr>
          <a:xfrm>
            <a:off x="5101388" y="3195672"/>
            <a:ext cx="6705600" cy="2616101"/>
          </a:xfrm>
          <a:prstGeom prst="rect">
            <a:avLst/>
          </a:prstGeom>
          <a:solidFill>
            <a:srgbClr val="F4B930"/>
          </a:solidFill>
        </p:spPr>
        <p:txBody>
          <a:bodyPr wrap="square" rtlCol="0">
            <a:spAutoFit/>
          </a:bodyPr>
          <a:lstStyle/>
          <a:p>
            <a:r>
              <a:rPr lang="en-IN" dirty="0">
                <a:latin typeface="Calibri" panose="020F0502020204030204" pitchFamily="34" charset="0"/>
                <a:cs typeface="Calibri" panose="020F0502020204030204" pitchFamily="34" charset="0"/>
              </a:rPr>
              <a:t>Now we can see that i increases in 2</a:t>
            </a:r>
            <a:r>
              <a:rPr lang="en-IN" baseline="30000" dirty="0">
                <a:latin typeface="Calibri" panose="020F0502020204030204" pitchFamily="34" charset="0"/>
                <a:cs typeface="Calibri" panose="020F0502020204030204" pitchFamily="34" charset="0"/>
              </a:rPr>
              <a:t>1</a:t>
            </a:r>
            <a:r>
              <a:rPr lang="en-IN" dirty="0">
                <a:latin typeface="Calibri" panose="020F0502020204030204" pitchFamily="34" charset="0"/>
                <a:cs typeface="Calibri" panose="020F0502020204030204" pitchFamily="34" charset="0"/>
              </a:rPr>
              <a:t>, 2</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2</a:t>
            </a:r>
            <a:r>
              <a:rPr lang="en-IN" baseline="30000" dirty="0">
                <a:latin typeface="Calibri" panose="020F0502020204030204" pitchFamily="34" charset="0"/>
                <a:cs typeface="Calibri" panose="020F0502020204030204" pitchFamily="34" charset="0"/>
              </a:rPr>
              <a:t>3</a:t>
            </a:r>
            <a:r>
              <a:rPr lang="en-IN" dirty="0">
                <a:latin typeface="Calibri" panose="020F0502020204030204" pitchFamily="34" charset="0"/>
                <a:cs typeface="Calibri" panose="020F0502020204030204" pitchFamily="34" charset="0"/>
              </a:rPr>
              <a:t>, ……manner and the value of 2</a:t>
            </a:r>
            <a:r>
              <a:rPr lang="en-IN" baseline="30000" dirty="0">
                <a:latin typeface="Calibri" panose="020F0502020204030204" pitchFamily="34" charset="0"/>
                <a:cs typeface="Calibri" panose="020F0502020204030204" pitchFamily="34" charset="0"/>
              </a:rPr>
              <a:t>i</a:t>
            </a:r>
            <a:r>
              <a:rPr lang="en-IN" dirty="0">
                <a:latin typeface="Calibri" panose="020F0502020204030204" pitchFamily="34" charset="0"/>
                <a:cs typeface="Calibri" panose="020F0502020204030204" pitchFamily="34" charset="0"/>
              </a:rPr>
              <a:t>must be less or equal to n.</a:t>
            </a:r>
          </a:p>
          <a:p>
            <a:r>
              <a:rPr lang="en-IN" dirty="0">
                <a:latin typeface="Calibri" panose="020F0502020204030204" pitchFamily="34" charset="0"/>
                <a:cs typeface="Calibri" panose="020F0502020204030204" pitchFamily="34" charset="0"/>
              </a:rPr>
              <a:t>2</a:t>
            </a:r>
            <a:r>
              <a:rPr lang="en-IN" baseline="30000" dirty="0">
                <a:latin typeface="Calibri" panose="020F0502020204030204" pitchFamily="34" charset="0"/>
                <a:cs typeface="Calibri" panose="020F0502020204030204" pitchFamily="34" charset="0"/>
              </a:rPr>
              <a:t>i</a:t>
            </a:r>
            <a:r>
              <a:rPr lang="en-IN" dirty="0">
                <a:latin typeface="Calibri" panose="020F0502020204030204" pitchFamily="34" charset="0"/>
                <a:cs typeface="Calibri" panose="020F0502020204030204" pitchFamily="34" charset="0"/>
              </a:rPr>
              <a:t>&lt;= n</a:t>
            </a:r>
          </a:p>
          <a:p>
            <a:r>
              <a:rPr lang="en-IN" dirty="0">
                <a:latin typeface="Calibri" panose="020F0502020204030204" pitchFamily="34" charset="0"/>
                <a:cs typeface="Calibri" panose="020F0502020204030204" pitchFamily="34" charset="0"/>
              </a:rPr>
              <a:t>Take log both side</a:t>
            </a:r>
          </a:p>
          <a:p>
            <a:r>
              <a:rPr lang="en-IN" dirty="0">
                <a:latin typeface="Calibri" panose="020F0502020204030204" pitchFamily="34" charset="0"/>
                <a:cs typeface="Calibri" panose="020F0502020204030204" pitchFamily="34" charset="0"/>
              </a:rPr>
              <a:t>i log 2&lt;= log n</a:t>
            </a:r>
          </a:p>
          <a:p>
            <a:r>
              <a:rPr lang="en-IN" dirty="0">
                <a:latin typeface="Calibri" panose="020F0502020204030204" pitchFamily="34" charset="0"/>
                <a:cs typeface="Calibri" panose="020F0502020204030204" pitchFamily="34" charset="0"/>
              </a:rPr>
              <a:t>i &lt;= (log n)/ (log 2)</a:t>
            </a:r>
          </a:p>
          <a:p>
            <a:r>
              <a:rPr lang="en-IN" dirty="0">
                <a:latin typeface="Calibri" panose="020F0502020204030204" pitchFamily="34" charset="0"/>
                <a:cs typeface="Calibri" panose="020F0502020204030204" pitchFamily="34" charset="0"/>
              </a:rPr>
              <a:t>i&lt;= log</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n</a:t>
            </a:r>
          </a:p>
          <a:p>
            <a:pPr algn="ctr"/>
            <a:r>
              <a:rPr lang="en-IN" b="1" dirty="0">
                <a:latin typeface="Calibri" panose="020F0502020204030204" pitchFamily="34" charset="0"/>
                <a:cs typeface="Calibri" panose="020F0502020204030204" pitchFamily="34" charset="0"/>
              </a:rPr>
              <a:t>Then the complexity of above example is order of log</a:t>
            </a:r>
            <a:r>
              <a:rPr lang="en-IN" b="1" baseline="-25000" dirty="0">
                <a:latin typeface="Calibri" panose="020F0502020204030204" pitchFamily="34" charset="0"/>
                <a:cs typeface="Calibri" panose="020F0502020204030204" pitchFamily="34" charset="0"/>
              </a:rPr>
              <a:t>2</a:t>
            </a:r>
            <a:r>
              <a:rPr lang="en-IN" b="1" dirty="0">
                <a:latin typeface="Calibri" panose="020F0502020204030204" pitchFamily="34" charset="0"/>
                <a:cs typeface="Calibri" panose="020F0502020204030204" pitchFamily="34" charset="0"/>
              </a:rPr>
              <a:t>n</a:t>
            </a:r>
            <a:r>
              <a:rPr lang="en-IN" sz="2000" b="1" dirty="0">
                <a:latin typeface="Calibri" panose="020F0502020204030204" pitchFamily="34" charset="0"/>
                <a:cs typeface="Calibri" panose="020F0502020204030204" pitchFamily="34" charset="0"/>
              </a:rPr>
              <a:t>.</a:t>
            </a:r>
            <a:endParaRPr lang="en-IN" sz="2000" dirty="0">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26812170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A029915C-DC77-49D2-9074-1F790919B99D}" type="slidenum">
              <a:rPr lang="en-US" altLang="en-US" sz="1200">
                <a:solidFill>
                  <a:schemeClr val="bg1"/>
                </a:solidFill>
              </a:rPr>
              <a:pPr>
                <a:spcBef>
                  <a:spcPct val="0"/>
                </a:spcBef>
                <a:buClrTx/>
                <a:buFontTx/>
                <a:buNone/>
              </a:pPr>
              <a:t>67</a:t>
            </a:fld>
            <a:endParaRPr lang="en-US" altLang="en-US" sz="1200">
              <a:solidFill>
                <a:schemeClr val="bg1"/>
              </a:solidFill>
            </a:endParaRPr>
          </a:p>
        </p:txBody>
      </p:sp>
      <p:sp>
        <p:nvSpPr>
          <p:cNvPr id="6" name="Title 1"/>
          <p:cNvSpPr>
            <a:spLocks noGrp="1"/>
          </p:cNvSpPr>
          <p:nvPr>
            <p:ph type="title" idx="4294967295"/>
          </p:nvPr>
        </p:nvSpPr>
        <p:spPr>
          <a:xfrm>
            <a:off x="0" y="-31750"/>
            <a:ext cx="11117263" cy="1017588"/>
          </a:xfrm>
          <a:effectLst/>
        </p:spPr>
        <p:txBody>
          <a:bodyPr>
            <a:normAutofit/>
          </a:bodyPr>
          <a:lstStyle/>
          <a:p>
            <a:pPr algn="ctr"/>
            <a:r>
              <a:rPr lang="en-US" sz="3200" dirty="0">
                <a:solidFill>
                  <a:schemeClr val="bg1"/>
                </a:solidFill>
                <a:latin typeface="Calibri" pitchFamily="34" charset="0"/>
                <a:cs typeface="Calibri" pitchFamily="34" charset="0"/>
              </a:rPr>
              <a:t>Common Mathematical Functions used in Complexity Analysis</a:t>
            </a:r>
          </a:p>
        </p:txBody>
      </p:sp>
      <p:sp>
        <p:nvSpPr>
          <p:cNvPr id="5" name="TextBox 4"/>
          <p:cNvSpPr txBox="1"/>
          <p:nvPr/>
        </p:nvSpPr>
        <p:spPr>
          <a:xfrm>
            <a:off x="8021" y="1143000"/>
            <a:ext cx="7543800" cy="110799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Linear Function f(n)= n</a:t>
            </a:r>
          </a:p>
          <a:p>
            <a:pPr marL="285750" indent="-285750">
              <a:buFont typeface="Wingdings" panose="05000000000000000000" pitchFamily="2" charset="2"/>
              <a:buChar char="Ø"/>
            </a:pPr>
            <a:endParaRPr lang="en-IN" sz="2400" dirty="0">
              <a:solidFill>
                <a:srgbClr val="FF0000"/>
              </a:solidFill>
              <a:latin typeface="+mn-lt"/>
            </a:endParaRPr>
          </a:p>
          <a:p>
            <a:pPr marL="285750" indent="-285750">
              <a:buFont typeface="Wingdings" panose="05000000000000000000" pitchFamily="2" charset="2"/>
              <a:buChar char="Ø"/>
            </a:pPr>
            <a:endParaRPr lang="en-IN" dirty="0"/>
          </a:p>
        </p:txBody>
      </p:sp>
      <p:sp>
        <p:nvSpPr>
          <p:cNvPr id="7" name="Rectangle 6"/>
          <p:cNvSpPr/>
          <p:nvPr/>
        </p:nvSpPr>
        <p:spPr>
          <a:xfrm>
            <a:off x="228599" y="1678728"/>
            <a:ext cx="11734801" cy="707886"/>
          </a:xfrm>
          <a:prstGeom prst="rect">
            <a:avLst/>
          </a:prstGeom>
        </p:spPr>
        <p:txBody>
          <a:bodyPr wrap="square">
            <a:spAutoFit/>
          </a:bodyPr>
          <a:lstStyle/>
          <a:p>
            <a:r>
              <a:rPr lang="en-IN" sz="2000" dirty="0">
                <a:latin typeface="Calibri" panose="020F0502020204030204" pitchFamily="34" charset="0"/>
                <a:cs typeface="Calibri" panose="020F0502020204030204" pitchFamily="34" charset="0"/>
              </a:rPr>
              <a:t>The Linear Function grows in a constant order. In another word it, it is a function which grows as a function whose graph can be plotted linearly</a:t>
            </a:r>
            <a:r>
              <a:rPr lang="en-IN" sz="2000" dirty="0"/>
              <a:t>.</a:t>
            </a:r>
          </a:p>
        </p:txBody>
      </p:sp>
      <p:sp>
        <p:nvSpPr>
          <p:cNvPr id="9" name="Rectangle 8"/>
          <p:cNvSpPr>
            <a:spLocks/>
          </p:cNvSpPr>
          <p:nvPr/>
        </p:nvSpPr>
        <p:spPr>
          <a:xfrm>
            <a:off x="542730" y="2697721"/>
            <a:ext cx="3048000" cy="281940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4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marL="38100" indent="419100">
              <a:lnSpc>
                <a:spcPct val="115000"/>
              </a:lnSpc>
              <a:spcAft>
                <a:spcPts val="0"/>
              </a:spcAft>
            </a:pPr>
            <a:r>
              <a:rPr lang="en-IN" sz="24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10" name="Explosion 2 9"/>
          <p:cNvSpPr/>
          <p:nvPr/>
        </p:nvSpPr>
        <p:spPr bwMode="auto">
          <a:xfrm>
            <a:off x="4572000" y="1987376"/>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11" name="TextBox 10"/>
          <p:cNvSpPr txBox="1"/>
          <p:nvPr/>
        </p:nvSpPr>
        <p:spPr>
          <a:xfrm>
            <a:off x="5438775" y="2976129"/>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pic>
        <p:nvPicPr>
          <p:cNvPr id="12" name="Picture 11"/>
          <p:cNvPicPr>
            <a:picLocks noChangeAspect="1"/>
          </p:cNvPicPr>
          <p:nvPr/>
        </p:nvPicPr>
        <p:blipFill rotWithShape="1">
          <a:blip r:embed="rId3"/>
          <a:srcRect l="12499" t="5457" r="18421" b="4506"/>
          <a:stretch/>
        </p:blipFill>
        <p:spPr>
          <a:xfrm>
            <a:off x="8886590" y="2850121"/>
            <a:ext cx="2947737" cy="2514600"/>
          </a:xfrm>
          <a:prstGeom prst="rect">
            <a:avLst/>
          </a:prstGeom>
        </p:spPr>
      </p:pic>
    </p:spTree>
    <p:extLst>
      <p:ext uri="{BB962C8B-B14F-4D97-AF65-F5344CB8AC3E}">
        <p14:creationId xmlns:p14="http://schemas.microsoft.com/office/powerpoint/2010/main" val="50387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68</a:t>
            </a:fld>
            <a:endParaRPr lang="en-US" altLang="en-US"/>
          </a:p>
        </p:txBody>
      </p:sp>
      <p:sp>
        <p:nvSpPr>
          <p:cNvPr id="3" name="Title 1"/>
          <p:cNvSpPr txBox="1">
            <a:spLocks/>
          </p:cNvSpPr>
          <p:nvPr/>
        </p:nvSpPr>
        <p:spPr>
          <a:xfrm>
            <a:off x="433137" y="-32084"/>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bg1"/>
                </a:solidFill>
              </a:rPr>
              <a:t>Solution:</a:t>
            </a:r>
          </a:p>
        </p:txBody>
      </p:sp>
      <p:sp>
        <p:nvSpPr>
          <p:cNvPr id="4" name="Rectangle 3"/>
          <p:cNvSpPr>
            <a:spLocks/>
          </p:cNvSpPr>
          <p:nvPr/>
        </p:nvSpPr>
        <p:spPr>
          <a:xfrm>
            <a:off x="685800" y="2819400"/>
            <a:ext cx="3048000" cy="281940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4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marL="38100" indent="419100">
              <a:lnSpc>
                <a:spcPct val="115000"/>
              </a:lnSpc>
              <a:spcAft>
                <a:spcPts val="0"/>
              </a:spcAft>
            </a:pPr>
            <a:r>
              <a:rPr lang="en-IN" sz="24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5" name="Arrow: Right 1025"/>
          <p:cNvSpPr>
            <a:spLocks/>
          </p:cNvSpPr>
          <p:nvPr/>
        </p:nvSpPr>
        <p:spPr>
          <a:xfrm>
            <a:off x="4328987" y="3619500"/>
            <a:ext cx="2122488" cy="609600"/>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6" name="Rectangle 5"/>
          <p:cNvSpPr>
            <a:spLocks/>
          </p:cNvSpPr>
          <p:nvPr/>
        </p:nvSpPr>
        <p:spPr>
          <a:xfrm>
            <a:off x="6858000" y="2819401"/>
            <a:ext cx="4052570" cy="28194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24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For loop will execute n times from 1 to n. Hence, running time complexity will be n</a:t>
            </a:r>
            <a:endParaRPr lang="en-IN" sz="24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b="1" dirty="0">
                <a:effectLst/>
                <a:ea typeface="Corbel" panose="020B0503020204020204" pitchFamily="34" charset="0"/>
                <a:cs typeface="Times New Roman" panose="02020603050405020304" pitchFamily="18" charset="0"/>
              </a:rPr>
              <a:t> </a:t>
            </a:r>
            <a:endParaRPr lang="en-IN" sz="1100" dirty="0">
              <a:effectLst/>
              <a:ea typeface="Corbel" panose="020B0503020204020204" pitchFamily="34" charset="0"/>
              <a:cs typeface="Times New Roman" panose="02020603050405020304" pitchFamily="18" charset="0"/>
            </a:endParaRPr>
          </a:p>
        </p:txBody>
      </p:sp>
      <p:sp>
        <p:nvSpPr>
          <p:cNvPr id="7" name="Curved Down Arrow 6"/>
          <p:cNvSpPr>
            <a:spLocks/>
          </p:cNvSpPr>
          <p:nvPr/>
        </p:nvSpPr>
        <p:spPr>
          <a:xfrm flipH="1">
            <a:off x="2282490" y="1143001"/>
            <a:ext cx="6312570" cy="1676400"/>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Tree>
    <p:extLst>
      <p:ext uri="{BB962C8B-B14F-4D97-AF65-F5344CB8AC3E}">
        <p14:creationId xmlns:p14="http://schemas.microsoft.com/office/powerpoint/2010/main" val="21678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69</a:t>
            </a:fld>
            <a:endParaRPr lang="en-US" altLang="en-US"/>
          </a:p>
        </p:txBody>
      </p:sp>
      <p:sp>
        <p:nvSpPr>
          <p:cNvPr id="3" name="Title 1"/>
          <p:cNvSpPr txBox="1">
            <a:spLocks/>
          </p:cNvSpPr>
          <p:nvPr/>
        </p:nvSpPr>
        <p:spPr bwMode="auto">
          <a:xfrm>
            <a:off x="8022" y="0"/>
            <a:ext cx="11117178" cy="1017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pPr algn="ctr"/>
            <a:r>
              <a:rPr lang="en-IN" kern="0" dirty="0">
                <a:solidFill>
                  <a:schemeClr val="bg1"/>
                </a:solidFill>
                <a:latin typeface="Calibri" pitchFamily="34" charset="0"/>
                <a:cs typeface="Calibri" pitchFamily="34" charset="0"/>
              </a:rPr>
              <a:t>Common Mathematical Functions used in Complexity Analysis</a:t>
            </a:r>
          </a:p>
        </p:txBody>
      </p:sp>
      <p:sp>
        <p:nvSpPr>
          <p:cNvPr id="4" name="TextBox 3"/>
          <p:cNvSpPr txBox="1"/>
          <p:nvPr/>
        </p:nvSpPr>
        <p:spPr>
          <a:xfrm>
            <a:off x="8021" y="1143000"/>
            <a:ext cx="7543800" cy="110799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Function f(n)= n log n</a:t>
            </a:r>
          </a:p>
          <a:p>
            <a:pPr marL="285750" indent="-285750">
              <a:buFont typeface="Wingdings" panose="05000000000000000000" pitchFamily="2" charset="2"/>
              <a:buChar char="Ø"/>
            </a:pPr>
            <a:endParaRPr lang="en-IN" sz="2400" dirty="0">
              <a:solidFill>
                <a:srgbClr val="FF0000"/>
              </a:solidFill>
              <a:latin typeface="+mn-lt"/>
            </a:endParaRPr>
          </a:p>
          <a:p>
            <a:pPr marL="285750" indent="-285750">
              <a:buFont typeface="Wingdings" panose="05000000000000000000" pitchFamily="2" charset="2"/>
              <a:buChar char="Ø"/>
            </a:pPr>
            <a:endParaRPr lang="en-IN" dirty="0"/>
          </a:p>
        </p:txBody>
      </p:sp>
      <p:sp>
        <p:nvSpPr>
          <p:cNvPr id="5" name="Rectangle 4"/>
          <p:cNvSpPr/>
          <p:nvPr/>
        </p:nvSpPr>
        <p:spPr>
          <a:xfrm>
            <a:off x="228600" y="1658789"/>
            <a:ext cx="11811000" cy="736355"/>
          </a:xfrm>
          <a:prstGeom prst="rect">
            <a:avLst/>
          </a:prstGeom>
        </p:spPr>
        <p:txBody>
          <a:bodyPr wrap="square">
            <a:spAutoFit/>
          </a:bodyPr>
          <a:lstStyle/>
          <a:p>
            <a:pPr>
              <a:lnSpc>
                <a:spcPct val="107000"/>
              </a:lnSpc>
              <a:spcAft>
                <a:spcPts val="800"/>
              </a:spcAft>
            </a:pPr>
            <a:r>
              <a:rPr lang="en-IN" sz="2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This type of function growth is bounded between linear growth and those functions which grow to exactly square of the input provided.</a:t>
            </a:r>
            <a:endParaRPr lang="en-IN" sz="2000" dirty="0">
              <a:effectLst/>
              <a:latin typeface="Corbel" panose="020B0503020204020204" pitchFamily="34" charset="0"/>
              <a:ea typeface="Corbel" panose="020B0503020204020204" pitchFamily="34" charset="0"/>
              <a:cs typeface="Times New Roman" panose="02020603050405020304" pitchFamily="18" charset="0"/>
            </a:endParaRPr>
          </a:p>
        </p:txBody>
      </p:sp>
      <p:sp>
        <p:nvSpPr>
          <p:cNvPr id="6" name="Rectangle 5"/>
          <p:cNvSpPr>
            <a:spLocks/>
          </p:cNvSpPr>
          <p:nvPr/>
        </p:nvSpPr>
        <p:spPr>
          <a:xfrm>
            <a:off x="914400" y="2889890"/>
            <a:ext cx="3810000" cy="2804067"/>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for(j=2;j&lt;n;2*j)</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495300">
              <a:lnSpc>
                <a:spcPct val="115000"/>
              </a:lnSpc>
              <a:spcAft>
                <a:spcPts val="0"/>
              </a:spcAft>
            </a:pP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7" name="Explosion 2 6"/>
          <p:cNvSpPr/>
          <p:nvPr/>
        </p:nvSpPr>
        <p:spPr bwMode="auto">
          <a:xfrm>
            <a:off x="4795087" y="1852978"/>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8" name="TextBox 7"/>
          <p:cNvSpPr txBox="1"/>
          <p:nvPr/>
        </p:nvSpPr>
        <p:spPr>
          <a:xfrm>
            <a:off x="5438775" y="2976129"/>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pic>
        <p:nvPicPr>
          <p:cNvPr id="9" name="Picture 8"/>
          <p:cNvPicPr>
            <a:picLocks noChangeAspect="1"/>
          </p:cNvPicPr>
          <p:nvPr/>
        </p:nvPicPr>
        <p:blipFill rotWithShape="1">
          <a:blip r:embed="rId2"/>
          <a:srcRect l="12499" t="5457" r="18421" b="4506"/>
          <a:stretch/>
        </p:blipFill>
        <p:spPr>
          <a:xfrm>
            <a:off x="8656721" y="3195758"/>
            <a:ext cx="2947737" cy="2514600"/>
          </a:xfrm>
          <a:prstGeom prst="rect">
            <a:avLst/>
          </a:prstGeom>
        </p:spPr>
      </p:pic>
    </p:spTree>
    <p:extLst>
      <p:ext uri="{BB962C8B-B14F-4D97-AF65-F5344CB8AC3E}">
        <p14:creationId xmlns:p14="http://schemas.microsoft.com/office/powerpoint/2010/main" val="203879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70</a:t>
            </a:fld>
            <a:endParaRPr lang="en-US" altLang="en-US"/>
          </a:p>
        </p:txBody>
      </p:sp>
      <p:sp>
        <p:nvSpPr>
          <p:cNvPr id="3" name="Title 1"/>
          <p:cNvSpPr txBox="1">
            <a:spLocks/>
          </p:cNvSpPr>
          <p:nvPr/>
        </p:nvSpPr>
        <p:spPr>
          <a:xfrm>
            <a:off x="433137" y="-32084"/>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accent6">
                    <a:lumMod val="75000"/>
                  </a:schemeClr>
                </a:solidFill>
              </a:rPr>
              <a:t>Solution</a:t>
            </a:r>
          </a:p>
        </p:txBody>
      </p:sp>
      <p:sp>
        <p:nvSpPr>
          <p:cNvPr id="4" name="Rectangle 3"/>
          <p:cNvSpPr>
            <a:spLocks/>
          </p:cNvSpPr>
          <p:nvPr/>
        </p:nvSpPr>
        <p:spPr>
          <a:xfrm>
            <a:off x="429126" y="2743200"/>
            <a:ext cx="3810000" cy="2804067"/>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for(j=2;j&lt;n;2*j)</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495300">
              <a:lnSpc>
                <a:spcPct val="115000"/>
              </a:lnSpc>
              <a:spcAft>
                <a:spcPts val="0"/>
              </a:spcAft>
            </a:pP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5" name="Rectangle 4"/>
          <p:cNvSpPr>
            <a:spLocks/>
          </p:cNvSpPr>
          <p:nvPr/>
        </p:nvSpPr>
        <p:spPr>
          <a:xfrm>
            <a:off x="5607530" y="2584580"/>
            <a:ext cx="6324600" cy="3429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There are two nested loops</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When i=0 then second loop will execute log</a:t>
            </a:r>
            <a:r>
              <a:rPr lang="en-IN" sz="2000" b="1" baseline="-2500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2</a:t>
            </a: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 times (already discussed).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Again, when i=1 then second loop will execute log</a:t>
            </a:r>
            <a:r>
              <a:rPr lang="en-IN" sz="2000" b="1" baseline="-2500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2</a:t>
            </a: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 times again.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Similarly, first loop will execute n times and each time second loop will execute log</a:t>
            </a:r>
            <a:r>
              <a:rPr lang="en-IN" sz="2000" b="1" baseline="-2500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2</a:t>
            </a: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 times.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So, the total execution is n* log</a:t>
            </a:r>
            <a:r>
              <a:rPr lang="en-IN" sz="2000" b="1" baseline="-2500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2</a:t>
            </a: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 times.</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2060"/>
                </a:solidFill>
                <a:effectLst/>
                <a:latin typeface="Calibri" panose="020F0502020204030204" pitchFamily="34" charset="0"/>
                <a:ea typeface="Times New Roman" panose="02020603050405020304" pitchFamily="18" charset="0"/>
                <a:cs typeface="Times New Roman" panose="02020603050405020304" pitchFamily="18" charset="0"/>
              </a:rPr>
              <a:t>So the complexity is order of n log</a:t>
            </a:r>
            <a:r>
              <a:rPr lang="en-IN" sz="2000" b="1" baseline="-25000" dirty="0">
                <a:solidFill>
                  <a:srgbClr val="002060"/>
                </a:solidFill>
                <a:effectLst/>
                <a:latin typeface="Calibri" panose="020F0502020204030204" pitchFamily="34" charset="0"/>
                <a:ea typeface="Times New Roman" panose="02020603050405020304" pitchFamily="18" charset="0"/>
                <a:cs typeface="Times New Roman" panose="02020603050405020304" pitchFamily="18" charset="0"/>
              </a:rPr>
              <a:t>2</a:t>
            </a:r>
            <a:r>
              <a:rPr lang="en-IN" sz="2000" b="1" dirty="0">
                <a:solidFill>
                  <a:srgbClr val="002060"/>
                </a:solidFill>
                <a:effectLst/>
                <a:latin typeface="Calibri" panose="020F0502020204030204" pitchFamily="34" charset="0"/>
                <a:ea typeface="Times New Roman" panose="02020603050405020304" pitchFamily="18" charset="0"/>
                <a:cs typeface="Times New Roman" panose="02020603050405020304" pitchFamily="18" charset="0"/>
              </a:rPr>
              <a:t>n.</a:t>
            </a:r>
            <a:endParaRPr lang="en-IN" sz="2000" b="1" dirty="0">
              <a:solidFill>
                <a:srgbClr val="002060"/>
              </a:solidFill>
              <a:effectLst/>
              <a:ea typeface="Corbel" panose="020B0503020204020204" pitchFamily="34" charset="0"/>
              <a:cs typeface="Times New Roman" panose="02020603050405020304" pitchFamily="18"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6" name="Arrow: Right 1025"/>
          <p:cNvSpPr>
            <a:spLocks/>
          </p:cNvSpPr>
          <p:nvPr/>
        </p:nvSpPr>
        <p:spPr>
          <a:xfrm>
            <a:off x="4474556" y="3577744"/>
            <a:ext cx="964219" cy="609600"/>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 name="Curved Down Arrow 6"/>
          <p:cNvSpPr>
            <a:spLocks/>
          </p:cNvSpPr>
          <p:nvPr/>
        </p:nvSpPr>
        <p:spPr>
          <a:xfrm flipH="1">
            <a:off x="2286000" y="985838"/>
            <a:ext cx="6248400" cy="1757362"/>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 name="Title 1"/>
          <p:cNvSpPr txBox="1">
            <a:spLocks/>
          </p:cNvSpPr>
          <p:nvPr/>
        </p:nvSpPr>
        <p:spPr>
          <a:xfrm>
            <a:off x="433137" y="-80210"/>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bg1"/>
                </a:solidFill>
              </a:rPr>
              <a:t>Solution:</a:t>
            </a:r>
          </a:p>
        </p:txBody>
      </p:sp>
    </p:spTree>
    <p:extLst>
      <p:ext uri="{BB962C8B-B14F-4D97-AF65-F5344CB8AC3E}">
        <p14:creationId xmlns:p14="http://schemas.microsoft.com/office/powerpoint/2010/main" val="78893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71</a:t>
            </a:fld>
            <a:endParaRPr lang="en-US" altLang="en-US"/>
          </a:p>
        </p:txBody>
      </p:sp>
      <p:sp>
        <p:nvSpPr>
          <p:cNvPr id="3" name="Title 1"/>
          <p:cNvSpPr txBox="1">
            <a:spLocks/>
          </p:cNvSpPr>
          <p:nvPr/>
        </p:nvSpPr>
        <p:spPr bwMode="auto">
          <a:xfrm>
            <a:off x="8022" y="0"/>
            <a:ext cx="11117178" cy="1017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pPr algn="ctr"/>
            <a:r>
              <a:rPr lang="en-IN" kern="0" dirty="0">
                <a:solidFill>
                  <a:schemeClr val="bg1"/>
                </a:solidFill>
                <a:latin typeface="Calibri" pitchFamily="34" charset="0"/>
                <a:cs typeface="Calibri" pitchFamily="34" charset="0"/>
              </a:rPr>
              <a:t>Common Mathematical Functions used in Complexity Analysis</a:t>
            </a:r>
          </a:p>
        </p:txBody>
      </p:sp>
      <p:sp>
        <p:nvSpPr>
          <p:cNvPr id="4" name="TextBox 3"/>
          <p:cNvSpPr txBox="1"/>
          <p:nvPr/>
        </p:nvSpPr>
        <p:spPr>
          <a:xfrm>
            <a:off x="8021" y="1143000"/>
            <a:ext cx="7543800" cy="110799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Quadratic Function f(n)= </a:t>
            </a:r>
            <a:r>
              <a:rPr lang="en-IN" sz="2400" b="1" i="1" dirty="0">
                <a:solidFill>
                  <a:srgbClr val="FF0000"/>
                </a:solidFill>
                <a:latin typeface="Calibri" panose="020F0502020204030204" pitchFamily="34" charset="0"/>
                <a:cs typeface="Calibri" panose="020F0502020204030204" pitchFamily="34" charset="0"/>
              </a:rPr>
              <a:t>n</a:t>
            </a:r>
            <a:r>
              <a:rPr lang="en-IN" sz="2400" b="1" baseline="30000" dirty="0">
                <a:solidFill>
                  <a:srgbClr val="FF0000"/>
                </a:solidFill>
                <a:latin typeface="Calibri" panose="020F0502020204030204" pitchFamily="34" charset="0"/>
                <a:cs typeface="Calibri" panose="020F0502020204030204" pitchFamily="34" charset="0"/>
              </a:rPr>
              <a:t>2</a:t>
            </a:r>
            <a:endParaRPr lang="en-IN" sz="2400" b="1" dirty="0">
              <a:solidFill>
                <a:srgbClr val="FF0000"/>
              </a:solidFill>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IN" sz="2400" dirty="0">
              <a:solidFill>
                <a:srgbClr val="FF0000"/>
              </a:solidFill>
              <a:latin typeface="+mn-lt"/>
            </a:endParaRPr>
          </a:p>
          <a:p>
            <a:pPr marL="285750" indent="-285750">
              <a:buFont typeface="Wingdings" panose="05000000000000000000" pitchFamily="2" charset="2"/>
              <a:buChar char="Ø"/>
            </a:pPr>
            <a:endParaRPr lang="en-IN" dirty="0"/>
          </a:p>
        </p:txBody>
      </p:sp>
      <p:sp>
        <p:nvSpPr>
          <p:cNvPr id="5" name="Rectangle 4"/>
          <p:cNvSpPr/>
          <p:nvPr/>
        </p:nvSpPr>
        <p:spPr>
          <a:xfrm>
            <a:off x="228600" y="1684966"/>
            <a:ext cx="11658600" cy="707886"/>
          </a:xfrm>
          <a:prstGeom prst="rect">
            <a:avLst/>
          </a:prstGeom>
        </p:spPr>
        <p:txBody>
          <a:bodyPr wrap="square">
            <a:spAutoFit/>
          </a:bodyPr>
          <a:lstStyle/>
          <a:p>
            <a:r>
              <a:rPr lang="en-IN" sz="2000" dirty="0">
                <a:solidFill>
                  <a:srgbClr val="000000"/>
                </a:solidFill>
                <a:latin typeface="Calibri" panose="020F0502020204030204" pitchFamily="34" charset="0"/>
                <a:ea typeface="Times New Roman" panose="02020603050405020304" pitchFamily="18" charset="0"/>
              </a:rPr>
              <a:t>All those functions grow to like when we double the input size, and the function grows four times. For example, in nested loops,</a:t>
            </a:r>
            <a:endParaRPr lang="en-IN" sz="2000" dirty="0"/>
          </a:p>
        </p:txBody>
      </p:sp>
      <p:sp>
        <p:nvSpPr>
          <p:cNvPr id="7" name="Rectangle 6"/>
          <p:cNvSpPr>
            <a:spLocks/>
          </p:cNvSpPr>
          <p:nvPr/>
        </p:nvSpPr>
        <p:spPr>
          <a:xfrm>
            <a:off x="481013" y="2392852"/>
            <a:ext cx="3657600" cy="3491326"/>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for(j=0;j&lt;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n;j</a:t>
            </a:r>
            <a:r>
              <a:rPr lang="en-IN" sz="2000" b="1" baseline="30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495300" indent="419100">
              <a:lnSpc>
                <a:spcPct val="115000"/>
              </a:lnSpc>
              <a:spcAft>
                <a:spcPts val="0"/>
              </a:spcAft>
            </a:pP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07000"/>
              </a:lnSpc>
              <a:spcAft>
                <a:spcPts val="800"/>
              </a:spcAft>
            </a:pPr>
            <a:r>
              <a:rPr lang="en-IN" sz="2000" b="1" dirty="0">
                <a:solidFill>
                  <a:srgbClr val="000000"/>
                </a:solidFill>
                <a:effectLst/>
                <a:latin typeface="Calibri" panose="020F0502020204030204" pitchFamily="34" charset="0"/>
                <a:ea typeface="Corbel" panose="020B0503020204020204" pitchFamily="34"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07000"/>
              </a:lnSpc>
              <a:spcAft>
                <a:spcPts val="800"/>
              </a:spcAft>
            </a:pPr>
            <a:r>
              <a:rPr lang="en-IN" sz="2000" b="1" dirty="0">
                <a:solidFill>
                  <a:srgbClr val="000000"/>
                </a:solidFill>
                <a:effectLst/>
                <a:latin typeface="Calibri" panose="020F0502020204030204" pitchFamily="34" charset="0"/>
                <a:ea typeface="Corbel" panose="020B0503020204020204" pitchFamily="34"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2000" dirty="0">
                <a:effectLst/>
                <a:latin typeface="Calibri" panose="020F0502020204030204" pitchFamily="34" charset="0"/>
                <a:ea typeface="Corbel" panose="020B0503020204020204" pitchFamily="34" charset="0"/>
                <a:cs typeface="Calibri" panose="020F0502020204030204" pitchFamily="34" charset="0"/>
              </a:rPr>
              <a:t> </a:t>
            </a:r>
          </a:p>
        </p:txBody>
      </p:sp>
      <p:sp>
        <p:nvSpPr>
          <p:cNvPr id="8" name="Explosion 2 7"/>
          <p:cNvSpPr/>
          <p:nvPr/>
        </p:nvSpPr>
        <p:spPr bwMode="auto">
          <a:xfrm>
            <a:off x="4572000" y="1987376"/>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9" name="TextBox 8"/>
          <p:cNvSpPr txBox="1"/>
          <p:nvPr/>
        </p:nvSpPr>
        <p:spPr>
          <a:xfrm>
            <a:off x="5438775" y="2976129"/>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pic>
        <p:nvPicPr>
          <p:cNvPr id="10" name="Picture 9"/>
          <p:cNvPicPr>
            <a:picLocks noChangeAspect="1"/>
          </p:cNvPicPr>
          <p:nvPr/>
        </p:nvPicPr>
        <p:blipFill rotWithShape="1">
          <a:blip r:embed="rId2"/>
          <a:srcRect l="12499" t="5457" r="18421" b="4506"/>
          <a:stretch/>
        </p:blipFill>
        <p:spPr>
          <a:xfrm>
            <a:off x="8482013" y="3369578"/>
            <a:ext cx="2947737" cy="2514600"/>
          </a:xfrm>
          <a:prstGeom prst="rect">
            <a:avLst/>
          </a:prstGeom>
        </p:spPr>
      </p:pic>
    </p:spTree>
    <p:extLst>
      <p:ext uri="{BB962C8B-B14F-4D97-AF65-F5344CB8AC3E}">
        <p14:creationId xmlns:p14="http://schemas.microsoft.com/office/powerpoint/2010/main" val="104141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72</a:t>
            </a:fld>
            <a:endParaRPr lang="en-US" altLang="en-US"/>
          </a:p>
        </p:txBody>
      </p:sp>
      <p:sp>
        <p:nvSpPr>
          <p:cNvPr id="3" name="Title 1"/>
          <p:cNvSpPr txBox="1">
            <a:spLocks/>
          </p:cNvSpPr>
          <p:nvPr/>
        </p:nvSpPr>
        <p:spPr>
          <a:xfrm>
            <a:off x="433137" y="-80210"/>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bg1"/>
                </a:solidFill>
              </a:rPr>
              <a:t>Solution:</a:t>
            </a:r>
          </a:p>
        </p:txBody>
      </p:sp>
      <p:sp>
        <p:nvSpPr>
          <p:cNvPr id="4" name="Rectangle 3"/>
          <p:cNvSpPr>
            <a:spLocks/>
          </p:cNvSpPr>
          <p:nvPr/>
        </p:nvSpPr>
        <p:spPr>
          <a:xfrm>
            <a:off x="499645" y="2526633"/>
            <a:ext cx="4110789" cy="350520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for(i=0;i&lt;n;i++)</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for(j=0;j&lt;n;j</a:t>
            </a:r>
            <a:r>
              <a:rPr lang="en-IN" sz="2000" b="1" baseline="30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marL="495300" indent="419100">
              <a:lnSpc>
                <a:spcPct val="115000"/>
              </a:lnSpc>
              <a:spcAft>
                <a:spcPts val="0"/>
              </a:spcAft>
            </a:pPr>
            <a:r>
              <a:rPr lang="en-IN" sz="2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printf(“%d”, *);</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a:lnSpc>
                <a:spcPct val="107000"/>
              </a:lnSpc>
              <a:spcAft>
                <a:spcPts val="800"/>
              </a:spcAft>
            </a:pPr>
            <a:r>
              <a:rPr lang="en-IN" sz="2000" b="1">
                <a:solidFill>
                  <a:srgbClr val="000000"/>
                </a:solidFill>
                <a:effectLst/>
                <a:latin typeface="Calibri" panose="020F0502020204030204" pitchFamily="34" charset="0"/>
                <a:ea typeface="Corbel" panose="020B0503020204020204" pitchFamily="34" charset="0"/>
                <a:cs typeface="Calibri" panose="020F0502020204030204" pitchFamily="34" charset="0"/>
              </a:rPr>
              <a:t>                }</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a:lnSpc>
                <a:spcPct val="107000"/>
              </a:lnSpc>
              <a:spcAft>
                <a:spcPts val="800"/>
              </a:spcAft>
            </a:pPr>
            <a:r>
              <a:rPr lang="en-IN" sz="2000" b="1">
                <a:solidFill>
                  <a:srgbClr val="000000"/>
                </a:solidFill>
                <a:effectLst/>
                <a:latin typeface="Calibri" panose="020F0502020204030204" pitchFamily="34" charset="0"/>
                <a:ea typeface="Corbel" panose="020B0503020204020204" pitchFamily="34" charset="0"/>
                <a:cs typeface="Calibri" panose="020F0502020204030204" pitchFamily="34" charset="0"/>
              </a:rPr>
              <a:t>}</a:t>
            </a:r>
            <a:endParaRPr lang="en-IN" sz="200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2000">
                <a:effectLst/>
                <a:latin typeface="Calibri" panose="020F0502020204030204" pitchFamily="34" charset="0"/>
                <a:ea typeface="Corbel" panose="020B0503020204020204" pitchFamily="34" charset="0"/>
                <a:cs typeface="Calibri" panose="020F0502020204030204" pitchFamily="34" charset="0"/>
              </a:rPr>
              <a:t> </a:t>
            </a:r>
          </a:p>
        </p:txBody>
      </p:sp>
      <p:sp>
        <p:nvSpPr>
          <p:cNvPr id="5" name="Arrow: Right 1025"/>
          <p:cNvSpPr>
            <a:spLocks/>
          </p:cNvSpPr>
          <p:nvPr/>
        </p:nvSpPr>
        <p:spPr>
          <a:xfrm>
            <a:off x="4800600" y="3753853"/>
            <a:ext cx="1447800" cy="609600"/>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6" name="Rectangle 5"/>
          <p:cNvSpPr>
            <a:spLocks/>
          </p:cNvSpPr>
          <p:nvPr/>
        </p:nvSpPr>
        <p:spPr>
          <a:xfrm>
            <a:off x="6438566" y="2514601"/>
            <a:ext cx="5220034" cy="351723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There are two nested loops.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When i=0 then second loop will execute n times (already discussed).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Again, when i=1 then second loop will execute n times again.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Similarly, first loop will execute n times and each time second loop will execute n times.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So, the total execution is n* n times.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 So, the complexity is order of n</a:t>
            </a:r>
            <a:r>
              <a:rPr lang="en-IN" sz="2000" b="1" baseline="3000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2</a:t>
            </a: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7" name="Curved Down Arrow 6"/>
          <p:cNvSpPr>
            <a:spLocks/>
          </p:cNvSpPr>
          <p:nvPr/>
        </p:nvSpPr>
        <p:spPr>
          <a:xfrm flipH="1">
            <a:off x="2282490" y="1143001"/>
            <a:ext cx="6251910" cy="1435767"/>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Tree>
    <p:extLst>
      <p:ext uri="{BB962C8B-B14F-4D97-AF65-F5344CB8AC3E}">
        <p14:creationId xmlns:p14="http://schemas.microsoft.com/office/powerpoint/2010/main" val="286420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73</a:t>
            </a:fld>
            <a:endParaRPr lang="en-US" altLang="en-US"/>
          </a:p>
        </p:txBody>
      </p:sp>
      <p:sp>
        <p:nvSpPr>
          <p:cNvPr id="3" name="Title 1"/>
          <p:cNvSpPr txBox="1">
            <a:spLocks/>
          </p:cNvSpPr>
          <p:nvPr/>
        </p:nvSpPr>
        <p:spPr bwMode="auto">
          <a:xfrm>
            <a:off x="8022" y="0"/>
            <a:ext cx="11117178" cy="1017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pPr algn="ctr"/>
            <a:r>
              <a:rPr lang="en-IN" kern="0" dirty="0">
                <a:solidFill>
                  <a:schemeClr val="bg1"/>
                </a:solidFill>
                <a:latin typeface="Calibri" pitchFamily="34" charset="0"/>
                <a:cs typeface="Calibri" pitchFamily="34" charset="0"/>
              </a:rPr>
              <a:t>Common Mathematical Functions used in Complexity Analysis</a:t>
            </a:r>
          </a:p>
        </p:txBody>
      </p:sp>
      <p:sp>
        <p:nvSpPr>
          <p:cNvPr id="4" name="TextBox 3"/>
          <p:cNvSpPr txBox="1"/>
          <p:nvPr/>
        </p:nvSpPr>
        <p:spPr>
          <a:xfrm>
            <a:off x="8021" y="1143000"/>
            <a:ext cx="7543800" cy="110799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Cubic Function and other Polynomial</a:t>
            </a:r>
          </a:p>
          <a:p>
            <a:pPr marL="285750" indent="-285750">
              <a:buFont typeface="Wingdings" panose="05000000000000000000" pitchFamily="2" charset="2"/>
              <a:buChar char="Ø"/>
            </a:pPr>
            <a:endParaRPr lang="en-IN" sz="2400" dirty="0">
              <a:solidFill>
                <a:srgbClr val="FF0000"/>
              </a:solidFill>
              <a:latin typeface="+mn-lt"/>
            </a:endParaRPr>
          </a:p>
          <a:p>
            <a:pPr marL="285750" indent="-285750">
              <a:buFont typeface="Wingdings" panose="05000000000000000000" pitchFamily="2" charset="2"/>
              <a:buChar char="Ø"/>
            </a:pPr>
            <a:endParaRPr lang="en-IN" dirty="0"/>
          </a:p>
        </p:txBody>
      </p:sp>
      <p:sp>
        <p:nvSpPr>
          <p:cNvPr id="5" name="Rectangle 4"/>
          <p:cNvSpPr/>
          <p:nvPr/>
        </p:nvSpPr>
        <p:spPr>
          <a:xfrm>
            <a:off x="109954" y="1567732"/>
            <a:ext cx="11929645" cy="800219"/>
          </a:xfrm>
          <a:prstGeom prst="rect">
            <a:avLst/>
          </a:prstGeom>
        </p:spPr>
        <p:txBody>
          <a:bodyPr wrap="square">
            <a:spAutoFit/>
          </a:bodyPr>
          <a:lstStyle/>
          <a:p>
            <a:pPr>
              <a:lnSpc>
                <a:spcPct val="115000"/>
              </a:lnSpc>
              <a:spcAft>
                <a:spcPts val="0"/>
              </a:spcAft>
            </a:pPr>
            <a:r>
              <a:rPr lang="en-IN" sz="2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This function grows faster than its counterpart that is Linear Search and quadratic equation. If we double the size of the input variable, then the function will grow eight times; hence the rate of growth will be cubic.</a:t>
            </a:r>
            <a:endParaRPr lang="en-IN" sz="2000" dirty="0">
              <a:effectLst/>
              <a:latin typeface="Corbel" panose="020B0503020204020204" pitchFamily="34" charset="0"/>
              <a:ea typeface="Corbel" panose="020B0503020204020204" pitchFamily="34" charset="0"/>
              <a:cs typeface="Times New Roman" panose="02020603050405020304" pitchFamily="18" charset="0"/>
            </a:endParaRPr>
          </a:p>
        </p:txBody>
      </p:sp>
      <p:sp>
        <p:nvSpPr>
          <p:cNvPr id="6" name="Rectangle 5"/>
          <p:cNvSpPr>
            <a:spLocks/>
          </p:cNvSpPr>
          <p:nvPr/>
        </p:nvSpPr>
        <p:spPr>
          <a:xfrm>
            <a:off x="585203" y="2436993"/>
            <a:ext cx="4114800" cy="361640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for(j=0;j&lt;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n;j</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495300" indent="419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for(k=0;k&lt;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n;k</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952500" indent="419100">
              <a:lnSpc>
                <a:spcPct val="115000"/>
              </a:lnSpc>
              <a:spcAft>
                <a:spcPts val="0"/>
              </a:spcAft>
            </a:pP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7" name="Explosion 2 6"/>
          <p:cNvSpPr/>
          <p:nvPr/>
        </p:nvSpPr>
        <p:spPr bwMode="auto">
          <a:xfrm>
            <a:off x="5566611" y="2250996"/>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8" name="TextBox 7"/>
          <p:cNvSpPr txBox="1"/>
          <p:nvPr/>
        </p:nvSpPr>
        <p:spPr>
          <a:xfrm>
            <a:off x="6450597" y="3201262"/>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pic>
        <p:nvPicPr>
          <p:cNvPr id="9" name="Picture 8"/>
          <p:cNvPicPr>
            <a:picLocks noChangeAspect="1"/>
          </p:cNvPicPr>
          <p:nvPr/>
        </p:nvPicPr>
        <p:blipFill rotWithShape="1">
          <a:blip r:embed="rId2"/>
          <a:srcRect l="12499" t="5457" r="18421" b="4506"/>
          <a:stretch/>
        </p:blipFill>
        <p:spPr>
          <a:xfrm>
            <a:off x="9067800" y="3546395"/>
            <a:ext cx="2667000" cy="2133600"/>
          </a:xfrm>
          <a:prstGeom prst="rect">
            <a:avLst/>
          </a:prstGeom>
        </p:spPr>
      </p:pic>
    </p:spTree>
    <p:extLst>
      <p:ext uri="{BB962C8B-B14F-4D97-AF65-F5344CB8AC3E}">
        <p14:creationId xmlns:p14="http://schemas.microsoft.com/office/powerpoint/2010/main" val="184936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74</a:t>
            </a:fld>
            <a:endParaRPr lang="en-US" altLang="en-US"/>
          </a:p>
        </p:txBody>
      </p:sp>
      <p:sp>
        <p:nvSpPr>
          <p:cNvPr id="3" name="Rectangle 2"/>
          <p:cNvSpPr>
            <a:spLocks/>
          </p:cNvSpPr>
          <p:nvPr/>
        </p:nvSpPr>
        <p:spPr>
          <a:xfrm>
            <a:off x="381000" y="2210420"/>
            <a:ext cx="4114800" cy="384500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for(i=0;i&lt;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n;i</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for(j=0;j&lt;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n;j</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495300" indent="419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for(k=0;k&lt;</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n;k</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952500" indent="419100">
              <a:lnSpc>
                <a:spcPct val="115000"/>
              </a:lnSpc>
              <a:spcAft>
                <a:spcPts val="0"/>
              </a:spcAft>
            </a:pP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printf</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4" name="Arrow: Right 1025"/>
          <p:cNvSpPr>
            <a:spLocks/>
          </p:cNvSpPr>
          <p:nvPr/>
        </p:nvSpPr>
        <p:spPr>
          <a:xfrm>
            <a:off x="4800600" y="3753853"/>
            <a:ext cx="1447800" cy="609600"/>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 name="Rectangle 4"/>
          <p:cNvSpPr>
            <a:spLocks/>
          </p:cNvSpPr>
          <p:nvPr/>
        </p:nvSpPr>
        <p:spPr>
          <a:xfrm>
            <a:off x="6394451" y="2210420"/>
            <a:ext cx="5416549" cy="384500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8100">
              <a:lnSpc>
                <a:spcPct val="115000"/>
              </a:lnSpc>
              <a:spcAft>
                <a:spcPts val="0"/>
              </a:spcAft>
            </a:pPr>
            <a:endPar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There are three nested loops.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When i=0 then second loop j=0 and third loop execute k=0 to n-1 times (total n times).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Again, when i=0 then second loop j=0, 1, 2, 3……n-1 will execute n times and k=0, 1, 2, 3……n-1.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Similarly, first loop will execute n times, second loop will execute n times and Third loop will execute n times.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38100">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So, the total execution is n* n* n times. So, the complexity is order of n</a:t>
            </a:r>
            <a:r>
              <a:rPr lang="en-IN" sz="2000" b="1" baseline="3000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3</a:t>
            </a: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gn="ctr">
              <a:lnSpc>
                <a:spcPct val="107000"/>
              </a:lnSpc>
              <a:spcAft>
                <a:spcPts val="800"/>
              </a:spcAft>
            </a:pPr>
            <a:r>
              <a:rPr lang="en-IN" sz="2000" dirty="0">
                <a:effectLst/>
                <a:latin typeface="Calibri" panose="020F0502020204030204" pitchFamily="34" charset="0"/>
                <a:ea typeface="Corbel" panose="020B0503020204020204" pitchFamily="34" charset="0"/>
                <a:cs typeface="Calibri" panose="020F0502020204030204" pitchFamily="34" charset="0"/>
              </a:rPr>
              <a:t> </a:t>
            </a:r>
          </a:p>
        </p:txBody>
      </p:sp>
      <p:sp>
        <p:nvSpPr>
          <p:cNvPr id="6" name="Curved Down Arrow 5"/>
          <p:cNvSpPr>
            <a:spLocks/>
          </p:cNvSpPr>
          <p:nvPr/>
        </p:nvSpPr>
        <p:spPr>
          <a:xfrm flipH="1">
            <a:off x="2438400" y="841454"/>
            <a:ext cx="6019800" cy="1371600"/>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 name="Title 1"/>
          <p:cNvSpPr txBox="1">
            <a:spLocks/>
          </p:cNvSpPr>
          <p:nvPr/>
        </p:nvSpPr>
        <p:spPr>
          <a:xfrm>
            <a:off x="381000" y="149517"/>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bg1"/>
                </a:solidFill>
              </a:rPr>
              <a:t>Solution:</a:t>
            </a:r>
          </a:p>
        </p:txBody>
      </p:sp>
    </p:spTree>
    <p:extLst>
      <p:ext uri="{BB962C8B-B14F-4D97-AF65-F5344CB8AC3E}">
        <p14:creationId xmlns:p14="http://schemas.microsoft.com/office/powerpoint/2010/main" val="217662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75</a:t>
            </a:fld>
            <a:endParaRPr lang="en-US" altLang="en-US"/>
          </a:p>
        </p:txBody>
      </p:sp>
      <p:sp>
        <p:nvSpPr>
          <p:cNvPr id="3" name="Title 1"/>
          <p:cNvSpPr txBox="1">
            <a:spLocks/>
          </p:cNvSpPr>
          <p:nvPr/>
        </p:nvSpPr>
        <p:spPr bwMode="auto">
          <a:xfrm>
            <a:off x="8022" y="0"/>
            <a:ext cx="11117178" cy="1017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pPr algn="ctr"/>
            <a:r>
              <a:rPr lang="en-IN" kern="0" dirty="0">
                <a:solidFill>
                  <a:schemeClr val="bg1"/>
                </a:solidFill>
                <a:latin typeface="Calibri" pitchFamily="34" charset="0"/>
                <a:cs typeface="Calibri" pitchFamily="34" charset="0"/>
              </a:rPr>
              <a:t>Common Mathematical Functions used in Complexity Analysis</a:t>
            </a:r>
          </a:p>
        </p:txBody>
      </p:sp>
      <p:sp>
        <p:nvSpPr>
          <p:cNvPr id="4" name="TextBox 3"/>
          <p:cNvSpPr txBox="1"/>
          <p:nvPr/>
        </p:nvSpPr>
        <p:spPr>
          <a:xfrm>
            <a:off x="8021" y="1143000"/>
            <a:ext cx="7543800" cy="738664"/>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solidFill>
                  <a:srgbClr val="FF0000"/>
                </a:solidFill>
                <a:latin typeface="Calibri" panose="020F0502020204030204" pitchFamily="34" charset="0"/>
                <a:cs typeface="Calibri" panose="020F0502020204030204" pitchFamily="34" charset="0"/>
              </a:rPr>
              <a:t>Factorial Function f(n)=n!</a:t>
            </a:r>
          </a:p>
          <a:p>
            <a:pPr marL="285750" indent="-285750">
              <a:buFont typeface="Wingdings" panose="05000000000000000000" pitchFamily="2" charset="2"/>
              <a:buChar char="Ø"/>
            </a:pPr>
            <a:endParaRPr lang="en-IN" dirty="0"/>
          </a:p>
        </p:txBody>
      </p:sp>
      <p:sp>
        <p:nvSpPr>
          <p:cNvPr id="5" name="Rectangle 4"/>
          <p:cNvSpPr/>
          <p:nvPr/>
        </p:nvSpPr>
        <p:spPr>
          <a:xfrm>
            <a:off x="228600" y="1520353"/>
            <a:ext cx="11811000" cy="800219"/>
          </a:xfrm>
          <a:prstGeom prst="rect">
            <a:avLst/>
          </a:prstGeom>
        </p:spPr>
        <p:txBody>
          <a:bodyPr wrap="square">
            <a:spAutoFit/>
          </a:bodyPr>
          <a:lstStyle/>
          <a:p>
            <a:pPr algn="just">
              <a:lnSpc>
                <a:spcPct val="115000"/>
              </a:lnSpc>
              <a:spcAft>
                <a:spcPts val="0"/>
              </a:spcAft>
            </a:pPr>
            <a:r>
              <a:rPr lang="en-IN" sz="2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The running time of this function is worst among all discussed till so far? If we are going to increase the value of n, then the function will grow using the concept of the Factorial function. </a:t>
            </a:r>
            <a:endParaRPr lang="en-IN" sz="2000" dirty="0">
              <a:effectLst/>
              <a:latin typeface="Corbel" panose="020B0503020204020204" pitchFamily="34" charset="0"/>
              <a:ea typeface="Corbel" panose="020B0503020204020204" pitchFamily="34" charset="0"/>
              <a:cs typeface="Times New Roman" panose="02020603050405020304" pitchFamily="18" charset="0"/>
            </a:endParaRPr>
          </a:p>
        </p:txBody>
      </p:sp>
      <p:sp>
        <p:nvSpPr>
          <p:cNvPr id="6" name="Rectangle 5"/>
          <p:cNvSpPr>
            <a:spLocks/>
          </p:cNvSpPr>
          <p:nvPr/>
        </p:nvSpPr>
        <p:spPr>
          <a:xfrm>
            <a:off x="533400" y="2823003"/>
            <a:ext cx="3550285" cy="2968197"/>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IN" sz="1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1100" dirty="0">
              <a:effectLst/>
              <a:ea typeface="Corbel" panose="020B0503020204020204" pitchFamily="34" charset="0"/>
              <a:cs typeface="Times New Roman" panose="02020603050405020304" pitchFamily="18"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Permutation (a) = {a}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Permutation (ab) = {ab,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07000"/>
              </a:lnSpc>
              <a:spcAft>
                <a:spcPts val="80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Permutation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abc</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abc</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acb</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bac,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bca</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cab,cba</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IN" sz="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1100" dirty="0">
              <a:effectLst/>
              <a:ea typeface="Corbel" panose="020B0503020204020204" pitchFamily="34" charset="0"/>
              <a:cs typeface="Times New Roman" panose="02020603050405020304" pitchFamily="18" charset="0"/>
            </a:endParaRPr>
          </a:p>
        </p:txBody>
      </p:sp>
      <p:sp>
        <p:nvSpPr>
          <p:cNvPr id="7" name="Explosion 2 6"/>
          <p:cNvSpPr/>
          <p:nvPr/>
        </p:nvSpPr>
        <p:spPr bwMode="auto">
          <a:xfrm>
            <a:off x="4572000" y="2038826"/>
            <a:ext cx="5000624" cy="2362199"/>
          </a:xfrm>
          <a:prstGeom prst="irregularSeal2">
            <a:avLst/>
          </a:prstGeom>
          <a:solidFill>
            <a:srgbClr val="002060">
              <a:alpha val="20000"/>
            </a:srgbClr>
          </a:solidFill>
          <a:ln w="9525" cap="flat" cmpd="sng" algn="ctr">
            <a:noFill/>
            <a:prstDash val="solid"/>
            <a:round/>
            <a:headEnd type="none" w="med" len="med"/>
            <a:tailEnd type="none" w="med" len="med"/>
          </a:ln>
          <a:effectLst/>
        </p:spPr>
        <p:txBody>
          <a:bodyPr vert="horz" wrap="square" lIns="0" tIns="0" rIns="91440" bIns="45720" numCol="1" rtlCol="0" anchor="t" anchorCtr="0" compatLnSpc="1">
            <a:prstTxWarp prst="textNoShape">
              <a:avLst/>
            </a:prstTxWarp>
          </a:bodyPr>
          <a:lstStyle/>
          <a:p>
            <a:pPr marL="0" marR="0" indent="0" algn="l" defTabSz="914400" rtl="0" eaLnBrk="1" fontAlgn="base" latinLnBrk="0" hangingPunct="1">
              <a:lnSpc>
                <a:spcPct val="80000"/>
              </a:lnSpc>
              <a:spcBef>
                <a:spcPct val="20000"/>
              </a:spcBef>
              <a:spcAft>
                <a:spcPct val="0"/>
              </a:spcAft>
              <a:buClr>
                <a:schemeClr val="tx2"/>
              </a:buClr>
              <a:buSzTx/>
              <a:buFontTx/>
              <a:buNone/>
              <a:tabLst/>
            </a:pPr>
            <a:endParaRPr kumimoji="0" lang="en-IN" sz="1800" b="0" i="0" u="none" strike="noStrike" cap="none" normalizeH="0" baseline="0">
              <a:ln>
                <a:noFill/>
              </a:ln>
              <a:solidFill>
                <a:schemeClr val="tx1"/>
              </a:solidFill>
              <a:effectLst/>
              <a:latin typeface="Courier New" pitchFamily="49" charset="0"/>
            </a:endParaRPr>
          </a:p>
        </p:txBody>
      </p:sp>
      <p:sp>
        <p:nvSpPr>
          <p:cNvPr id="8" name="TextBox 7"/>
          <p:cNvSpPr txBox="1"/>
          <p:nvPr/>
        </p:nvSpPr>
        <p:spPr>
          <a:xfrm>
            <a:off x="5463339" y="3085876"/>
            <a:ext cx="3217946" cy="461665"/>
          </a:xfrm>
          <a:prstGeom prst="rect">
            <a:avLst/>
          </a:prstGeom>
          <a:noFill/>
        </p:spPr>
        <p:txBody>
          <a:bodyPr wrap="square" rtlCol="0">
            <a:spAutoFit/>
          </a:bodyPr>
          <a:lstStyle/>
          <a:p>
            <a:r>
              <a:rPr lang="en-IN" sz="2400" dirty="0">
                <a:solidFill>
                  <a:srgbClr val="002060"/>
                </a:solidFill>
                <a:latin typeface="+mn-lt"/>
              </a:rPr>
              <a:t>Time Complexity ??</a:t>
            </a:r>
          </a:p>
        </p:txBody>
      </p:sp>
      <p:pic>
        <p:nvPicPr>
          <p:cNvPr id="9" name="Picture 8"/>
          <p:cNvPicPr>
            <a:picLocks noChangeAspect="1"/>
          </p:cNvPicPr>
          <p:nvPr/>
        </p:nvPicPr>
        <p:blipFill rotWithShape="1">
          <a:blip r:embed="rId2"/>
          <a:srcRect l="12499" t="5457" r="18421" b="4506"/>
          <a:stretch/>
        </p:blipFill>
        <p:spPr>
          <a:xfrm>
            <a:off x="9105123" y="3657600"/>
            <a:ext cx="2667000" cy="2133600"/>
          </a:xfrm>
          <a:prstGeom prst="rect">
            <a:avLst/>
          </a:prstGeom>
        </p:spPr>
      </p:pic>
    </p:spTree>
    <p:extLst>
      <p:ext uri="{BB962C8B-B14F-4D97-AF65-F5344CB8AC3E}">
        <p14:creationId xmlns:p14="http://schemas.microsoft.com/office/powerpoint/2010/main" val="20452863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356350"/>
            <a:ext cx="2743200" cy="365125"/>
          </a:xfrm>
        </p:spPr>
        <p:txBody>
          <a:bodyPr/>
          <a:lstStyle/>
          <a:p>
            <a:pPr>
              <a:defRPr/>
            </a:pPr>
            <a:fld id="{99D8F1AC-1087-4FCA-B6F0-FFC28D76A876}" type="slidenum">
              <a:rPr lang="en-US" altLang="en-US" smtClean="0"/>
              <a:pPr>
                <a:defRPr/>
              </a:pPr>
              <a:t>76</a:t>
            </a:fld>
            <a:endParaRPr lang="en-US" altLang="en-US"/>
          </a:p>
        </p:txBody>
      </p:sp>
      <p:sp>
        <p:nvSpPr>
          <p:cNvPr id="3" name="Title 1"/>
          <p:cNvSpPr txBox="1">
            <a:spLocks/>
          </p:cNvSpPr>
          <p:nvPr/>
        </p:nvSpPr>
        <p:spPr>
          <a:xfrm>
            <a:off x="381000" y="149517"/>
            <a:ext cx="9914188" cy="1017922"/>
          </a:xfrm>
          <a:prstGeom prst="rect">
            <a:avLst/>
          </a:prstGeom>
          <a:effectLst/>
        </p:spPr>
        <p:txBody>
          <a:bodyPr/>
          <a:lst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a:lstStyle>
          <a:p>
            <a:r>
              <a:rPr lang="en-IN" kern="0" dirty="0">
                <a:solidFill>
                  <a:schemeClr val="bg1"/>
                </a:solidFill>
              </a:rPr>
              <a:t>Solution:</a:t>
            </a:r>
          </a:p>
        </p:txBody>
      </p:sp>
      <p:sp>
        <p:nvSpPr>
          <p:cNvPr id="4" name="Rectangle 3"/>
          <p:cNvSpPr>
            <a:spLocks/>
          </p:cNvSpPr>
          <p:nvPr/>
        </p:nvSpPr>
        <p:spPr>
          <a:xfrm>
            <a:off x="533400" y="2743200"/>
            <a:ext cx="3550285" cy="2968197"/>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IN" sz="1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1100" dirty="0">
              <a:effectLst/>
              <a:ea typeface="Corbel" panose="020B0503020204020204" pitchFamily="34" charset="0"/>
              <a:cs typeface="Times New Roman" panose="02020603050405020304" pitchFamily="18"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Permutation (a) = {a}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Aft>
                <a:spcPts val="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Permutation (ab) = {ab,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07000"/>
              </a:lnSpc>
              <a:spcAft>
                <a:spcPts val="80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Permutation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abc</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abc</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acb</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bac,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bca</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cab,cba</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IN" sz="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1100" dirty="0">
              <a:effectLst/>
              <a:ea typeface="Corbel" panose="020B0503020204020204" pitchFamily="34" charset="0"/>
              <a:cs typeface="Times New Roman" panose="02020603050405020304" pitchFamily="18" charset="0"/>
            </a:endParaRPr>
          </a:p>
        </p:txBody>
      </p:sp>
      <p:sp>
        <p:nvSpPr>
          <p:cNvPr id="5" name="Rectangle 4"/>
          <p:cNvSpPr>
            <a:spLocks/>
          </p:cNvSpPr>
          <p:nvPr/>
        </p:nvSpPr>
        <p:spPr>
          <a:xfrm>
            <a:off x="6324600" y="2743200"/>
            <a:ext cx="4487863" cy="296819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n=1, n! = 1! = 1</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a:lnSpc>
                <a:spcPct val="115000"/>
              </a:lnSpc>
              <a:spcBef>
                <a:spcPts val="1200"/>
              </a:spcBef>
              <a:spcAft>
                <a:spcPts val="0"/>
              </a:spcAft>
            </a:pPr>
            <a:r>
              <a:rPr lang="en-IN" sz="2000" b="1" u="sng" kern="0"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n=2, n! = 2! = 2*1 = 2</a:t>
            </a:r>
            <a:endParaRPr lang="en-IN" sz="2000" b="1" kern="0" dirty="0">
              <a:solidFill>
                <a:srgbClr val="6D1D6A"/>
              </a:solidFill>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Aft>
                <a:spcPts val="0"/>
              </a:spcAft>
            </a:pPr>
            <a:r>
              <a:rPr lang="en-IN" sz="2000" b="1" dirty="0">
                <a:solidFill>
                  <a:srgbClr val="000000"/>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n=3, n! = 3! = 3*2*1 = 6</a:t>
            </a:r>
            <a:endParaRPr lang="en-IN" sz="2000" dirty="0">
              <a:effectLst/>
              <a:latin typeface="Calibri" panose="020F0502020204030204" pitchFamily="34" charset="0"/>
              <a:ea typeface="Corbel" panose="020B0503020204020204" pitchFamily="34" charset="0"/>
              <a:cs typeface="Calibri" panose="020F0502020204030204" pitchFamily="34" charset="0"/>
            </a:endParaRPr>
          </a:p>
          <a:p>
            <a:pPr marL="457200">
              <a:lnSpc>
                <a:spcPct val="115000"/>
              </a:lnSpc>
              <a:spcBef>
                <a:spcPts val="1200"/>
              </a:spcBef>
              <a:spcAft>
                <a:spcPts val="0"/>
              </a:spcAft>
            </a:pPr>
            <a:r>
              <a:rPr lang="en-IN" sz="2000" b="1" kern="0" dirty="0">
                <a:solidFill>
                  <a:srgbClr val="6D1D6A"/>
                </a:solidFill>
                <a:effectLst/>
                <a:latin typeface="Calibri" panose="020F0502020204030204" pitchFamily="34" charset="0"/>
                <a:ea typeface="Times New Roman" panose="02020603050405020304" pitchFamily="18" charset="0"/>
                <a:cs typeface="Calibri" panose="020F0502020204030204" pitchFamily="34" charset="0"/>
              </a:rPr>
              <a:t> </a:t>
            </a:r>
          </a:p>
          <a:p>
            <a:pPr algn="ctr">
              <a:lnSpc>
                <a:spcPct val="107000"/>
              </a:lnSpc>
              <a:spcAft>
                <a:spcPts val="800"/>
              </a:spcAft>
            </a:pPr>
            <a:r>
              <a:rPr lang="en-IN" sz="1100" dirty="0">
                <a:effectLst/>
                <a:ea typeface="Corbel" panose="020B0503020204020204" pitchFamily="34" charset="0"/>
                <a:cs typeface="Times New Roman" panose="02020603050405020304" pitchFamily="18" charset="0"/>
              </a:rPr>
              <a:t> </a:t>
            </a:r>
          </a:p>
        </p:txBody>
      </p:sp>
      <p:sp>
        <p:nvSpPr>
          <p:cNvPr id="6" name="Arrow: Right 1025"/>
          <p:cNvSpPr>
            <a:spLocks/>
          </p:cNvSpPr>
          <p:nvPr/>
        </p:nvSpPr>
        <p:spPr>
          <a:xfrm>
            <a:off x="4614194" y="3810000"/>
            <a:ext cx="1447800" cy="609600"/>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 name="Curved Down Arrow 6"/>
          <p:cNvSpPr>
            <a:spLocks/>
          </p:cNvSpPr>
          <p:nvPr/>
        </p:nvSpPr>
        <p:spPr>
          <a:xfrm flipH="1">
            <a:off x="2282490" y="1143001"/>
            <a:ext cx="6251910" cy="1600199"/>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Tree>
    <p:extLst>
      <p:ext uri="{BB962C8B-B14F-4D97-AF65-F5344CB8AC3E}">
        <p14:creationId xmlns:p14="http://schemas.microsoft.com/office/powerpoint/2010/main" val="255238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266" name="Rectangle 2"/>
          <p:cNvSpPr>
            <a:spLocks noGrp="1" noChangeArrowheads="1"/>
          </p:cNvSpPr>
          <p:nvPr>
            <p:ph type="ctrTitle" idx="4294967295"/>
          </p:nvPr>
        </p:nvSpPr>
        <p:spPr>
          <a:xfrm>
            <a:off x="317241" y="172616"/>
            <a:ext cx="8420100" cy="685800"/>
          </a:xfrm>
          <a:effectLst/>
        </p:spPr>
        <p:txBody>
          <a:bodyPr/>
          <a:lstStyle/>
          <a:p>
            <a:pPr eaLnBrk="1" hangingPunct="1">
              <a:defRPr/>
            </a:pPr>
            <a:r>
              <a:rPr lang="en-US" sz="3600" dirty="0">
                <a:solidFill>
                  <a:schemeClr val="bg1"/>
                </a:solidFill>
              </a:rPr>
              <a:t>Growth Of Functions</a:t>
            </a:r>
          </a:p>
        </p:txBody>
      </p:sp>
    </p:spTree>
    <p:extLst>
      <p:ext uri="{BB962C8B-B14F-4D97-AF65-F5344CB8AC3E}">
        <p14:creationId xmlns:p14="http://schemas.microsoft.com/office/powerpoint/2010/main" val="3946571357"/>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AC67-8209-4650-91AB-E6AE274FE586}"/>
              </a:ext>
            </a:extLst>
          </p:cNvPr>
          <p:cNvSpPr>
            <a:spLocks noGrp="1"/>
          </p:cNvSpPr>
          <p:nvPr>
            <p:ph type="title" idx="4294967295"/>
          </p:nvPr>
        </p:nvSpPr>
        <p:spPr>
          <a:xfrm>
            <a:off x="0" y="-265901"/>
            <a:ext cx="10515600" cy="1325563"/>
          </a:xfrm>
        </p:spPr>
        <p:txBody>
          <a:bodyPr/>
          <a:lstStyle/>
          <a:p>
            <a:r>
              <a:rPr lang="en-IN" dirty="0">
                <a:solidFill>
                  <a:schemeClr val="bg1"/>
                </a:solidFill>
              </a:rPr>
              <a:t>1. Constant (C)</a:t>
            </a:r>
          </a:p>
        </p:txBody>
      </p:sp>
      <p:sp>
        <p:nvSpPr>
          <p:cNvPr id="3" name="Content Placeholder 2">
            <a:extLst>
              <a:ext uri="{FF2B5EF4-FFF2-40B4-BE49-F238E27FC236}">
                <a16:creationId xmlns:a16="http://schemas.microsoft.com/office/drawing/2014/main" id="{4C5A2BF7-4DDC-447A-AF5D-C81D6A1D639F}"/>
              </a:ext>
            </a:extLst>
          </p:cNvPr>
          <p:cNvSpPr>
            <a:spLocks noGrp="1"/>
          </p:cNvSpPr>
          <p:nvPr>
            <p:ph idx="4294967295"/>
          </p:nvPr>
        </p:nvSpPr>
        <p:spPr>
          <a:xfrm>
            <a:off x="0" y="1282700"/>
            <a:ext cx="3937000" cy="4881563"/>
          </a:xfrm>
        </p:spPr>
        <p:txBody>
          <a:bodyPr/>
          <a:lstStyle/>
          <a:p>
            <a:pPr marL="0" indent="0">
              <a:buNone/>
            </a:pPr>
            <a:r>
              <a:rPr lang="en-IN" sz="3200" b="1" spc="10" dirty="0">
                <a:solidFill>
                  <a:srgbClr val="C00000"/>
                </a:solidFill>
                <a:effectLst/>
                <a:latin typeface="Calibri" panose="020F0502020204030204" pitchFamily="34" charset="0"/>
                <a:ea typeface="Times New Roman" panose="02020603050405020304" pitchFamily="18" charset="0"/>
              </a:rPr>
              <a:t>Always order of 1. No matter value of C is 1, 10, 100, 1000 or any number</a:t>
            </a:r>
            <a:endParaRPr lang="en-IN" sz="3200" dirty="0">
              <a:solidFill>
                <a:srgbClr val="C00000"/>
              </a:solidFill>
            </a:endParaRPr>
          </a:p>
        </p:txBody>
      </p:sp>
      <p:sp>
        <p:nvSpPr>
          <p:cNvPr id="4" name="Slide Number Placeholder 3">
            <a:extLst>
              <a:ext uri="{FF2B5EF4-FFF2-40B4-BE49-F238E27FC236}">
                <a16:creationId xmlns:a16="http://schemas.microsoft.com/office/drawing/2014/main" id="{7BFF9293-F715-4335-BA34-7380C1961E64}"/>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78</a:t>
            </a:fld>
            <a:endParaRPr lang="en-US" altLang="en-US"/>
          </a:p>
        </p:txBody>
      </p:sp>
      <p:sp>
        <p:nvSpPr>
          <p:cNvPr id="8" name="Rectangle 4">
            <a:extLst>
              <a:ext uri="{FF2B5EF4-FFF2-40B4-BE49-F238E27FC236}">
                <a16:creationId xmlns:a16="http://schemas.microsoft.com/office/drawing/2014/main" id="{13A32F63-F8B5-442C-8540-1EAFFDA65947}"/>
              </a:ext>
            </a:extLst>
          </p:cNvPr>
          <p:cNvSpPr>
            <a:spLocks noChangeArrowheads="1"/>
          </p:cNvSpPr>
          <p:nvPr/>
        </p:nvSpPr>
        <p:spPr bwMode="auto">
          <a:xfrm>
            <a:off x="5417538" y="2751136"/>
            <a:ext cx="2256858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B448ECDC-5160-45F3-82BF-641A7A841BAE}"/>
              </a:ext>
            </a:extLst>
          </p:cNvPr>
          <p:cNvGraphicFramePr>
            <a:graphicFrameLocks noChangeAspect="1"/>
          </p:cNvGraphicFramePr>
          <p:nvPr/>
        </p:nvGraphicFramePr>
        <p:xfrm>
          <a:off x="5417538" y="1752599"/>
          <a:ext cx="5860061" cy="3352793"/>
        </p:xfrm>
        <a:graphic>
          <a:graphicData uri="http://schemas.openxmlformats.org/presentationml/2006/ole">
            <mc:AlternateContent xmlns:mc="http://schemas.openxmlformats.org/markup-compatibility/2006">
              <mc:Choice xmlns:v="urn:schemas-microsoft-com:vml" Requires="v">
                <p:oleObj name="Bitmap Image" r:id="rId2" imgW="2964437" imgH="1821338" progId="Paint.Picture">
                  <p:embed/>
                </p:oleObj>
              </mc:Choice>
              <mc:Fallback>
                <p:oleObj name="Bitmap Image" r:id="rId2" imgW="2964437" imgH="1821338" progId="Paint.Picture">
                  <p:embed/>
                  <p:pic>
                    <p:nvPicPr>
                      <p:cNvPr id="9" name="Object 8">
                        <a:extLst>
                          <a:ext uri="{FF2B5EF4-FFF2-40B4-BE49-F238E27FC236}">
                            <a16:creationId xmlns:a16="http://schemas.microsoft.com/office/drawing/2014/main" id="{B448ECDC-5160-45F3-82BF-641A7A841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7538" y="1752599"/>
                        <a:ext cx="5860061" cy="3352793"/>
                      </a:xfrm>
                      <a:prstGeom prst="rect">
                        <a:avLst/>
                      </a:prstGeom>
                      <a:noFill/>
                    </p:spPr>
                  </p:pic>
                </p:oleObj>
              </mc:Fallback>
            </mc:AlternateContent>
          </a:graphicData>
        </a:graphic>
      </p:graphicFrame>
    </p:spTree>
    <p:extLst>
      <p:ext uri="{BB962C8B-B14F-4D97-AF65-F5344CB8AC3E}">
        <p14:creationId xmlns:p14="http://schemas.microsoft.com/office/powerpoint/2010/main" val="40785720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34BB8-30FC-4DC3-AC46-94F2BCBF8727}"/>
              </a:ext>
            </a:extLst>
          </p:cNvPr>
          <p:cNvSpPr>
            <a:spLocks noGrp="1"/>
          </p:cNvSpPr>
          <p:nvPr>
            <p:ph type="title" idx="4294967295"/>
          </p:nvPr>
        </p:nvSpPr>
        <p:spPr>
          <a:xfrm>
            <a:off x="0" y="-222250"/>
            <a:ext cx="10515600" cy="1325563"/>
          </a:xfrm>
        </p:spPr>
        <p:txBody>
          <a:bodyPr/>
          <a:lstStyle/>
          <a:p>
            <a:r>
              <a:rPr lang="en-IN" dirty="0">
                <a:solidFill>
                  <a:schemeClr val="bg1"/>
                </a:solidFill>
              </a:rPr>
              <a:t>2. Logarithmic (log n)</a:t>
            </a:r>
          </a:p>
        </p:txBody>
      </p:sp>
      <p:sp>
        <p:nvSpPr>
          <p:cNvPr id="3" name="Content Placeholder 2">
            <a:extLst>
              <a:ext uri="{FF2B5EF4-FFF2-40B4-BE49-F238E27FC236}">
                <a16:creationId xmlns:a16="http://schemas.microsoft.com/office/drawing/2014/main" id="{9556191D-A632-4A4D-BDA4-1F7CED586592}"/>
              </a:ext>
            </a:extLst>
          </p:cNvPr>
          <p:cNvSpPr>
            <a:spLocks noGrp="1"/>
          </p:cNvSpPr>
          <p:nvPr>
            <p:ph idx="4294967295"/>
          </p:nvPr>
        </p:nvSpPr>
        <p:spPr>
          <a:xfrm>
            <a:off x="0" y="952896"/>
            <a:ext cx="4721290" cy="5194300"/>
          </a:xfrm>
        </p:spPr>
        <p:txBody>
          <a:bodyPr>
            <a:normAutofit fontScale="92500" lnSpcReduction="10000"/>
          </a:bodyPr>
          <a:lstStyle/>
          <a:p>
            <a:pPr marL="0" indent="0" algn="just" fontAlgn="base">
              <a:lnSpc>
                <a:spcPct val="115000"/>
              </a:lnSpc>
              <a:spcAft>
                <a:spcPts val="800"/>
              </a:spcAft>
              <a:buNone/>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Complexity is order of log n. </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 then log(1)=0</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n=2 then log(2)=.3010</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n=3 then log(3)=.4771</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n=4 then log(2)=.6020</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n=10 then log(10)=1</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r>
              <a:rPr lang="en-IN" b="1" spc="10" dirty="0">
                <a:solidFill>
                  <a:srgbClr val="C00000"/>
                </a:solidFill>
                <a:effectLst/>
                <a:latin typeface="Calibri" panose="020F0502020204030204" pitchFamily="34" charset="0"/>
                <a:ea typeface="Times New Roman" panose="02020603050405020304" pitchFamily="18" charset="0"/>
              </a:rPr>
              <a:t>Faster than constant( C )</a:t>
            </a:r>
            <a:endParaRPr lang="en-IN" dirty="0">
              <a:solidFill>
                <a:srgbClr val="C00000"/>
              </a:solidFill>
            </a:endParaRPr>
          </a:p>
        </p:txBody>
      </p:sp>
      <p:sp>
        <p:nvSpPr>
          <p:cNvPr id="4" name="Slide Number Placeholder 3">
            <a:extLst>
              <a:ext uri="{FF2B5EF4-FFF2-40B4-BE49-F238E27FC236}">
                <a16:creationId xmlns:a16="http://schemas.microsoft.com/office/drawing/2014/main" id="{7854F122-1A56-4421-84D1-EEDF65E2FD65}"/>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79</a:t>
            </a:fld>
            <a:endParaRPr lang="en-US" altLang="en-US"/>
          </a:p>
        </p:txBody>
      </p:sp>
      <p:sp>
        <p:nvSpPr>
          <p:cNvPr id="5" name="Rectangle 2">
            <a:extLst>
              <a:ext uri="{FF2B5EF4-FFF2-40B4-BE49-F238E27FC236}">
                <a16:creationId xmlns:a16="http://schemas.microsoft.com/office/drawing/2014/main" id="{FD235E49-22CC-4E8B-B85F-7C27230ACB17}"/>
              </a:ext>
            </a:extLst>
          </p:cNvPr>
          <p:cNvSpPr>
            <a:spLocks noChangeArrowheads="1"/>
          </p:cNvSpPr>
          <p:nvPr/>
        </p:nvSpPr>
        <p:spPr bwMode="auto">
          <a:xfrm>
            <a:off x="2427817" y="1766093"/>
            <a:ext cx="2173683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2967A5DD-605D-4C5E-90C0-DB8B497BC06D}"/>
              </a:ext>
            </a:extLst>
          </p:cNvPr>
          <p:cNvGraphicFramePr>
            <a:graphicFrameLocks noChangeAspect="1"/>
          </p:cNvGraphicFramePr>
          <p:nvPr/>
        </p:nvGraphicFramePr>
        <p:xfrm>
          <a:off x="5257800" y="1766093"/>
          <a:ext cx="6521050" cy="3567907"/>
        </p:xfrm>
        <a:graphic>
          <a:graphicData uri="http://schemas.openxmlformats.org/presentationml/2006/ole">
            <mc:AlternateContent xmlns:mc="http://schemas.openxmlformats.org/markup-compatibility/2006">
              <mc:Choice xmlns:v="urn:schemas-microsoft-com:vml" Requires="v">
                <p:oleObj name="Bitmap Image" r:id="rId2" imgW="3657917" imgH="1966130" progId="Paint.Picture">
                  <p:embed/>
                </p:oleObj>
              </mc:Choice>
              <mc:Fallback>
                <p:oleObj name="Bitmap Image" r:id="rId2" imgW="3657917" imgH="1966130" progId="Paint.Picture">
                  <p:embed/>
                  <p:pic>
                    <p:nvPicPr>
                      <p:cNvPr id="6" name="Object 5">
                        <a:extLst>
                          <a:ext uri="{FF2B5EF4-FFF2-40B4-BE49-F238E27FC236}">
                            <a16:creationId xmlns:a16="http://schemas.microsoft.com/office/drawing/2014/main" id="{2967A5DD-605D-4C5E-90C0-DB8B497BC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766093"/>
                        <a:ext cx="6521050" cy="3567907"/>
                      </a:xfrm>
                      <a:prstGeom prst="rect">
                        <a:avLst/>
                      </a:prstGeom>
                      <a:noFill/>
                    </p:spPr>
                  </p:pic>
                </p:oleObj>
              </mc:Fallback>
            </mc:AlternateContent>
          </a:graphicData>
        </a:graphic>
      </p:graphicFrame>
    </p:spTree>
    <p:extLst>
      <p:ext uri="{BB962C8B-B14F-4D97-AF65-F5344CB8AC3E}">
        <p14:creationId xmlns:p14="http://schemas.microsoft.com/office/powerpoint/2010/main" val="6979515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6FB75-D2CA-48C0-907A-8CDF54FF8F09}"/>
              </a:ext>
            </a:extLst>
          </p:cNvPr>
          <p:cNvSpPr>
            <a:spLocks noGrp="1"/>
          </p:cNvSpPr>
          <p:nvPr>
            <p:ph type="title" idx="4294967295"/>
          </p:nvPr>
        </p:nvSpPr>
        <p:spPr>
          <a:xfrm>
            <a:off x="0" y="-234950"/>
            <a:ext cx="10515600" cy="1325563"/>
          </a:xfrm>
        </p:spPr>
        <p:txBody>
          <a:bodyPr/>
          <a:lstStyle/>
          <a:p>
            <a:r>
              <a:rPr lang="en-IN" dirty="0">
                <a:solidFill>
                  <a:schemeClr val="bg1"/>
                </a:solidFill>
              </a:rPr>
              <a:t>3. Square root</a:t>
            </a:r>
          </a:p>
        </p:txBody>
      </p:sp>
      <p:sp>
        <p:nvSpPr>
          <p:cNvPr id="3" name="Content Placeholder 2">
            <a:extLst>
              <a:ext uri="{FF2B5EF4-FFF2-40B4-BE49-F238E27FC236}">
                <a16:creationId xmlns:a16="http://schemas.microsoft.com/office/drawing/2014/main" id="{C1762ECF-220A-40F3-85BE-7AD6A6CFAAA6}"/>
              </a:ext>
            </a:extLst>
          </p:cNvPr>
          <p:cNvSpPr>
            <a:spLocks noGrp="1"/>
          </p:cNvSpPr>
          <p:nvPr>
            <p:ph idx="4294967295"/>
          </p:nvPr>
        </p:nvSpPr>
        <p:spPr>
          <a:xfrm>
            <a:off x="0" y="1064418"/>
            <a:ext cx="4622800" cy="4881563"/>
          </a:xfrm>
        </p:spPr>
        <p:txBody>
          <a:bodyPr>
            <a:normAutofit lnSpcReduction="10000"/>
          </a:bodyPr>
          <a:lstStyle/>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 then √1= 1</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n=2 then √2=1.414</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n=3 then √2=1.732</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n=4 then √4=2</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n=16 then √16=4</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r>
              <a:rPr lang="en-IN" b="1" spc="10" dirty="0">
                <a:solidFill>
                  <a:srgbClr val="C00000"/>
                </a:solidFill>
                <a:effectLst/>
                <a:latin typeface="Calibri" panose="020F0502020204030204" pitchFamily="34" charset="0"/>
                <a:ea typeface="Times New Roman" panose="02020603050405020304" pitchFamily="18" charset="0"/>
              </a:rPr>
              <a:t>Faster than logarithmic (log n)</a:t>
            </a:r>
            <a:endParaRPr lang="en-IN" dirty="0">
              <a:solidFill>
                <a:srgbClr val="C00000"/>
              </a:solidFill>
            </a:endParaRPr>
          </a:p>
        </p:txBody>
      </p:sp>
      <p:sp>
        <p:nvSpPr>
          <p:cNvPr id="4" name="Slide Number Placeholder 3">
            <a:extLst>
              <a:ext uri="{FF2B5EF4-FFF2-40B4-BE49-F238E27FC236}">
                <a16:creationId xmlns:a16="http://schemas.microsoft.com/office/drawing/2014/main" id="{DF8A4E8F-E469-41A2-88CD-D1FFA4FEC585}"/>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80</a:t>
            </a:fld>
            <a:endParaRPr lang="en-US" altLang="en-US"/>
          </a:p>
        </p:txBody>
      </p:sp>
      <p:sp>
        <p:nvSpPr>
          <p:cNvPr id="6" name="Rectangle 2">
            <a:extLst>
              <a:ext uri="{FF2B5EF4-FFF2-40B4-BE49-F238E27FC236}">
                <a16:creationId xmlns:a16="http://schemas.microsoft.com/office/drawing/2014/main" id="{76E6B0C3-FC9D-47D1-956A-2BEF78F4A2B2}"/>
              </a:ext>
            </a:extLst>
          </p:cNvPr>
          <p:cNvSpPr>
            <a:spLocks noChangeArrowheads="1"/>
          </p:cNvSpPr>
          <p:nvPr/>
        </p:nvSpPr>
        <p:spPr bwMode="auto">
          <a:xfrm>
            <a:off x="3456339" y="1905000"/>
            <a:ext cx="2188756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599EE795-F87E-4473-B744-AF36D48347C5}"/>
              </a:ext>
            </a:extLst>
          </p:cNvPr>
          <p:cNvGraphicFramePr>
            <a:graphicFrameLocks noChangeAspect="1"/>
          </p:cNvGraphicFramePr>
          <p:nvPr/>
        </p:nvGraphicFramePr>
        <p:xfrm>
          <a:off x="5438775" y="1524000"/>
          <a:ext cx="6346825" cy="3962400"/>
        </p:xfrm>
        <a:graphic>
          <a:graphicData uri="http://schemas.openxmlformats.org/presentationml/2006/ole">
            <mc:AlternateContent xmlns:mc="http://schemas.openxmlformats.org/markup-compatibility/2006">
              <mc:Choice xmlns:v="urn:schemas-microsoft-com:vml" Requires="v">
                <p:oleObj name="Bitmap Image" r:id="rId2" imgW="3535238" imgH="2049958" progId="Paint.Picture">
                  <p:embed/>
                </p:oleObj>
              </mc:Choice>
              <mc:Fallback>
                <p:oleObj name="Bitmap Image" r:id="rId2" imgW="3535238" imgH="2049958" progId="Paint.Picture">
                  <p:embed/>
                  <p:pic>
                    <p:nvPicPr>
                      <p:cNvPr id="7" name="Object 6">
                        <a:extLst>
                          <a:ext uri="{FF2B5EF4-FFF2-40B4-BE49-F238E27FC236}">
                            <a16:creationId xmlns:a16="http://schemas.microsoft.com/office/drawing/2014/main" id="{599EE795-F87E-4473-B744-AF36D4834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75" y="1524000"/>
                        <a:ext cx="6346825" cy="3962400"/>
                      </a:xfrm>
                      <a:prstGeom prst="rect">
                        <a:avLst/>
                      </a:prstGeom>
                      <a:noFill/>
                    </p:spPr>
                  </p:pic>
                </p:oleObj>
              </mc:Fallback>
            </mc:AlternateContent>
          </a:graphicData>
        </a:graphic>
      </p:graphicFrame>
    </p:spTree>
    <p:extLst>
      <p:ext uri="{BB962C8B-B14F-4D97-AF65-F5344CB8AC3E}">
        <p14:creationId xmlns:p14="http://schemas.microsoft.com/office/powerpoint/2010/main" val="12559385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57D4-FB3D-4987-A690-52B973F249C9}"/>
              </a:ext>
            </a:extLst>
          </p:cNvPr>
          <p:cNvSpPr>
            <a:spLocks noGrp="1"/>
          </p:cNvSpPr>
          <p:nvPr>
            <p:ph type="title" idx="4294967295"/>
          </p:nvPr>
        </p:nvSpPr>
        <p:spPr>
          <a:xfrm>
            <a:off x="0" y="-296863"/>
            <a:ext cx="10515600" cy="1325563"/>
          </a:xfrm>
        </p:spPr>
        <p:txBody>
          <a:bodyPr/>
          <a:lstStyle/>
          <a:p>
            <a:r>
              <a:rPr lang="en-IN" dirty="0">
                <a:solidFill>
                  <a:schemeClr val="bg1"/>
                </a:solidFill>
              </a:rPr>
              <a:t>4. Linear</a:t>
            </a:r>
          </a:p>
        </p:txBody>
      </p:sp>
      <p:sp>
        <p:nvSpPr>
          <p:cNvPr id="3" name="Content Placeholder 2">
            <a:extLst>
              <a:ext uri="{FF2B5EF4-FFF2-40B4-BE49-F238E27FC236}">
                <a16:creationId xmlns:a16="http://schemas.microsoft.com/office/drawing/2014/main" id="{A08C0932-4468-4E78-ABD0-63DE74996A2F}"/>
              </a:ext>
            </a:extLst>
          </p:cNvPr>
          <p:cNvSpPr>
            <a:spLocks noGrp="1"/>
          </p:cNvSpPr>
          <p:nvPr>
            <p:ph idx="4294967295"/>
          </p:nvPr>
        </p:nvSpPr>
        <p:spPr>
          <a:xfrm>
            <a:off x="0" y="990600"/>
            <a:ext cx="5458408" cy="5257800"/>
          </a:xfrm>
        </p:spPr>
        <p:txBody>
          <a:bodyPr/>
          <a:lstStyle/>
          <a:p>
            <a:pPr marL="0" indent="0" algn="just" fontAlgn="base">
              <a:lnSpc>
                <a:spcPct val="115000"/>
              </a:lnSpc>
              <a:spcAft>
                <a:spcPts val="800"/>
              </a:spcAft>
              <a:buNone/>
            </a:pPr>
            <a:r>
              <a:rPr lang="en-IN" b="1" spc="10" dirty="0">
                <a:solidFill>
                  <a:srgbClr val="C00000"/>
                </a:solidFill>
                <a:effectLst/>
                <a:latin typeface="Calibri" pitchFamily="34" charset="0"/>
                <a:ea typeface="Times New Roman" panose="02020603050405020304" pitchFamily="18" charset="0"/>
                <a:cs typeface="Calibri" pitchFamily="34" charset="0"/>
              </a:rPr>
              <a:t>Complexity is order of n. Always grow in linear manner.</a:t>
            </a:r>
            <a:endParaRPr lang="en-IN" dirty="0">
              <a:solidFill>
                <a:srgbClr val="C00000"/>
              </a:solidFill>
              <a:effectLst/>
              <a:latin typeface="Calibri" pitchFamily="34" charset="0"/>
              <a:ea typeface="Corbel" panose="020B0503020204020204" pitchFamily="34" charset="0"/>
              <a:cs typeface="Calibri" pitchFamily="34"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Calibri" pitchFamily="34" charset="0"/>
              </a:rPr>
              <a:t>If n=1 then complexity is 1</a:t>
            </a:r>
            <a:endParaRPr lang="en-IN" dirty="0">
              <a:solidFill>
                <a:srgbClr val="C00000"/>
              </a:solidFill>
              <a:effectLst/>
              <a:latin typeface="Calibri" pitchFamily="34" charset="0"/>
              <a:ea typeface="Corbel" panose="020B0503020204020204" pitchFamily="34" charset="0"/>
              <a:cs typeface="Calibri" pitchFamily="34"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Calibri" pitchFamily="34" charset="0"/>
              </a:rPr>
              <a:t>If n=2 then  complexity is 2</a:t>
            </a:r>
            <a:endParaRPr lang="en-IN" dirty="0">
              <a:solidFill>
                <a:srgbClr val="C00000"/>
              </a:solidFill>
              <a:effectLst/>
              <a:latin typeface="Calibri" pitchFamily="34" charset="0"/>
              <a:ea typeface="Corbel" panose="020B0503020204020204" pitchFamily="34" charset="0"/>
              <a:cs typeface="Calibri" pitchFamily="34"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Calibri" pitchFamily="34" charset="0"/>
              </a:rPr>
              <a:t>Complexity is dependent on the value of n, and n is variable.</a:t>
            </a:r>
            <a:r>
              <a:rPr lang="en-IN" dirty="0">
                <a:solidFill>
                  <a:srgbClr val="C00000"/>
                </a:solidFill>
                <a:latin typeface="Calibri" pitchFamily="34" charset="0"/>
                <a:ea typeface="Times New Roman" panose="02020603050405020304" pitchFamily="18" charset="0"/>
                <a:cs typeface="Calibri" pitchFamily="34" charset="0"/>
              </a:rPr>
              <a:t> </a:t>
            </a:r>
            <a:r>
              <a:rPr lang="en-IN" b="1" spc="10" dirty="0">
                <a:solidFill>
                  <a:srgbClr val="C00000"/>
                </a:solidFill>
                <a:effectLst/>
                <a:latin typeface="Calibri" panose="020F0502020204030204" pitchFamily="34" charset="0"/>
                <a:ea typeface="Times New Roman" panose="02020603050405020304" pitchFamily="18" charset="0"/>
                <a:cs typeface="Calibri" pitchFamily="34" charset="0"/>
              </a:rPr>
              <a:t>Faster than square root(√n)</a:t>
            </a:r>
            <a:endParaRPr lang="en-IN" dirty="0">
              <a:solidFill>
                <a:srgbClr val="C00000"/>
              </a:solidFill>
              <a:latin typeface="Calibri" pitchFamily="34" charset="0"/>
              <a:cs typeface="Calibri" pitchFamily="34" charset="0"/>
            </a:endParaRPr>
          </a:p>
        </p:txBody>
      </p:sp>
      <p:sp>
        <p:nvSpPr>
          <p:cNvPr id="4" name="Slide Number Placeholder 3">
            <a:extLst>
              <a:ext uri="{FF2B5EF4-FFF2-40B4-BE49-F238E27FC236}">
                <a16:creationId xmlns:a16="http://schemas.microsoft.com/office/drawing/2014/main" id="{2385BD26-EC1A-4A08-899F-49F8A99B83FA}"/>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81</a:t>
            </a:fld>
            <a:endParaRPr lang="en-US" altLang="en-US"/>
          </a:p>
        </p:txBody>
      </p:sp>
      <p:sp>
        <p:nvSpPr>
          <p:cNvPr id="5" name="Rectangle 2">
            <a:extLst>
              <a:ext uri="{FF2B5EF4-FFF2-40B4-BE49-F238E27FC236}">
                <a16:creationId xmlns:a16="http://schemas.microsoft.com/office/drawing/2014/main" id="{B5C6E08F-5BF7-469E-B33A-B39CCF3703B5}"/>
              </a:ext>
            </a:extLst>
          </p:cNvPr>
          <p:cNvSpPr>
            <a:spLocks noChangeArrowheads="1"/>
          </p:cNvSpPr>
          <p:nvPr/>
        </p:nvSpPr>
        <p:spPr bwMode="auto">
          <a:xfrm>
            <a:off x="5056013" y="2286000"/>
            <a:ext cx="2278141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580EFAFC-4B8F-42D6-9F8B-1B9C9555AA61}"/>
              </a:ext>
            </a:extLst>
          </p:cNvPr>
          <p:cNvGraphicFramePr>
            <a:graphicFrameLocks noChangeAspect="1"/>
          </p:cNvGraphicFramePr>
          <p:nvPr/>
        </p:nvGraphicFramePr>
        <p:xfrm>
          <a:off x="5715000" y="1447800"/>
          <a:ext cx="5867400" cy="3962400"/>
        </p:xfrm>
        <a:graphic>
          <a:graphicData uri="http://schemas.openxmlformats.org/presentationml/2006/ole">
            <mc:AlternateContent xmlns:mc="http://schemas.openxmlformats.org/markup-compatibility/2006">
              <mc:Choice xmlns:v="urn:schemas-microsoft-com:vml" Requires="v">
                <p:oleObj name="Bitmap Image" r:id="rId2" imgW="3139712" imgH="1836190" progId="Paint.Picture">
                  <p:embed/>
                </p:oleObj>
              </mc:Choice>
              <mc:Fallback>
                <p:oleObj name="Bitmap Image" r:id="rId2" imgW="3139712" imgH="1836190" progId="Paint.Picture">
                  <p:embed/>
                  <p:pic>
                    <p:nvPicPr>
                      <p:cNvPr id="6" name="Object 5">
                        <a:extLst>
                          <a:ext uri="{FF2B5EF4-FFF2-40B4-BE49-F238E27FC236}">
                            <a16:creationId xmlns:a16="http://schemas.microsoft.com/office/drawing/2014/main" id="{580EFAFC-4B8F-42D6-9F8B-1B9C9555AA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447800"/>
                        <a:ext cx="5867400" cy="3962400"/>
                      </a:xfrm>
                      <a:prstGeom prst="rect">
                        <a:avLst/>
                      </a:prstGeom>
                      <a:noFill/>
                    </p:spPr>
                  </p:pic>
                </p:oleObj>
              </mc:Fallback>
            </mc:AlternateContent>
          </a:graphicData>
        </a:graphic>
      </p:graphicFrame>
    </p:spTree>
    <p:extLst>
      <p:ext uri="{BB962C8B-B14F-4D97-AF65-F5344CB8AC3E}">
        <p14:creationId xmlns:p14="http://schemas.microsoft.com/office/powerpoint/2010/main" val="32073024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301C-FF6E-43FE-9B71-0F6566AEDDDD}"/>
              </a:ext>
            </a:extLst>
          </p:cNvPr>
          <p:cNvSpPr>
            <a:spLocks noGrp="1"/>
          </p:cNvSpPr>
          <p:nvPr>
            <p:ph type="title" idx="4294967295"/>
          </p:nvPr>
        </p:nvSpPr>
        <p:spPr>
          <a:xfrm>
            <a:off x="0" y="-234950"/>
            <a:ext cx="10515600" cy="1325563"/>
          </a:xfrm>
        </p:spPr>
        <p:txBody>
          <a:bodyPr/>
          <a:lstStyle/>
          <a:p>
            <a:r>
              <a:rPr lang="en-IN" dirty="0">
                <a:solidFill>
                  <a:schemeClr val="bg1"/>
                </a:solidFill>
              </a:rPr>
              <a:t>5. Quadratic (n^2)</a:t>
            </a:r>
          </a:p>
        </p:txBody>
      </p:sp>
      <p:sp>
        <p:nvSpPr>
          <p:cNvPr id="3" name="Content Placeholder 2">
            <a:extLst>
              <a:ext uri="{FF2B5EF4-FFF2-40B4-BE49-F238E27FC236}">
                <a16:creationId xmlns:a16="http://schemas.microsoft.com/office/drawing/2014/main" id="{6688668B-7C43-4254-9C00-BDD92261BF46}"/>
              </a:ext>
            </a:extLst>
          </p:cNvPr>
          <p:cNvSpPr>
            <a:spLocks noGrp="1"/>
          </p:cNvSpPr>
          <p:nvPr>
            <p:ph idx="4294967295"/>
          </p:nvPr>
        </p:nvSpPr>
        <p:spPr>
          <a:xfrm>
            <a:off x="0" y="1282700"/>
            <a:ext cx="4241800" cy="4881563"/>
          </a:xfrm>
        </p:spPr>
        <p:txBody>
          <a:bodyPr>
            <a:normAutofit fontScale="85000" lnSpcReduction="10000"/>
          </a:bodyPr>
          <a:lstStyle/>
          <a:p>
            <a:pPr marL="0" indent="0" algn="just" fontAlgn="base">
              <a:lnSpc>
                <a:spcPct val="115000"/>
              </a:lnSpc>
              <a:spcAft>
                <a:spcPts val="800"/>
              </a:spcAft>
              <a:buNone/>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Function growth is fast</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 then complexity is 1 </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n=2 then complexity is 4</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n=3 then complexity is 9</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lgn="just" fontAlgn="base">
              <a:lnSpc>
                <a:spcPct val="115000"/>
              </a:lnSpc>
              <a:spcAft>
                <a:spcPts val="800"/>
              </a:spcAft>
              <a:buNone/>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n=6 then complexity is 36.</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Hence, (n</a:t>
            </a:r>
            <a:r>
              <a:rPr lang="en-IN" b="1" spc="10" baseline="3000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2</a:t>
            </a: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r>
              <a:rPr lang="en-IN" b="1" spc="10" dirty="0">
                <a:solidFill>
                  <a:srgbClr val="C00000"/>
                </a:solidFill>
                <a:effectLst/>
                <a:latin typeface="Calibri" panose="020F0502020204030204" pitchFamily="34" charset="0"/>
                <a:ea typeface="Times New Roman" panose="02020603050405020304" pitchFamily="18" charset="0"/>
              </a:rPr>
              <a:t>Faster than Linear (n)</a:t>
            </a:r>
            <a:endParaRPr lang="en-IN" dirty="0">
              <a:solidFill>
                <a:srgbClr val="C00000"/>
              </a:solidFill>
            </a:endParaRPr>
          </a:p>
        </p:txBody>
      </p:sp>
      <p:sp>
        <p:nvSpPr>
          <p:cNvPr id="4" name="Slide Number Placeholder 3">
            <a:extLst>
              <a:ext uri="{FF2B5EF4-FFF2-40B4-BE49-F238E27FC236}">
                <a16:creationId xmlns:a16="http://schemas.microsoft.com/office/drawing/2014/main" id="{2081143D-F08F-4E99-86B5-5681910EA499}"/>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82</a:t>
            </a:fld>
            <a:endParaRPr lang="en-US" altLang="en-US"/>
          </a:p>
        </p:txBody>
      </p:sp>
      <p:sp>
        <p:nvSpPr>
          <p:cNvPr id="5" name="Rectangle 2">
            <a:extLst>
              <a:ext uri="{FF2B5EF4-FFF2-40B4-BE49-F238E27FC236}">
                <a16:creationId xmlns:a16="http://schemas.microsoft.com/office/drawing/2014/main" id="{5A475336-FF24-4082-B369-3CDEBAB4544A}"/>
              </a:ext>
            </a:extLst>
          </p:cNvPr>
          <p:cNvSpPr>
            <a:spLocks noChangeArrowheads="1"/>
          </p:cNvSpPr>
          <p:nvPr/>
        </p:nvSpPr>
        <p:spPr bwMode="auto">
          <a:xfrm>
            <a:off x="2289868" y="2397919"/>
            <a:ext cx="2242207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C288C3A7-5DE3-4C86-9957-21DB3E2971F3}"/>
              </a:ext>
            </a:extLst>
          </p:cNvPr>
          <p:cNvGraphicFramePr>
            <a:graphicFrameLocks noChangeAspect="1"/>
          </p:cNvGraphicFramePr>
          <p:nvPr/>
        </p:nvGraphicFramePr>
        <p:xfrm>
          <a:off x="5334000" y="1676400"/>
          <a:ext cx="6096000" cy="3733800"/>
        </p:xfrm>
        <a:graphic>
          <a:graphicData uri="http://schemas.openxmlformats.org/presentationml/2006/ole">
            <mc:AlternateContent xmlns:mc="http://schemas.openxmlformats.org/markup-compatibility/2006">
              <mc:Choice xmlns:v="urn:schemas-microsoft-com:vml" Requires="v">
                <p:oleObj name="Bitmap Image" r:id="rId2" imgW="3314987" imgH="1340952" progId="Paint.Picture">
                  <p:embed/>
                </p:oleObj>
              </mc:Choice>
              <mc:Fallback>
                <p:oleObj name="Bitmap Image" r:id="rId2" imgW="3314987" imgH="1340952" progId="Paint.Picture">
                  <p:embed/>
                  <p:pic>
                    <p:nvPicPr>
                      <p:cNvPr id="6" name="Object 5">
                        <a:extLst>
                          <a:ext uri="{FF2B5EF4-FFF2-40B4-BE49-F238E27FC236}">
                            <a16:creationId xmlns:a16="http://schemas.microsoft.com/office/drawing/2014/main" id="{C288C3A7-5DE3-4C86-9957-21DB3E297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76400"/>
                        <a:ext cx="6096000" cy="3733800"/>
                      </a:xfrm>
                      <a:prstGeom prst="rect">
                        <a:avLst/>
                      </a:prstGeom>
                      <a:noFill/>
                    </p:spPr>
                  </p:pic>
                </p:oleObj>
              </mc:Fallback>
            </mc:AlternateContent>
          </a:graphicData>
        </a:graphic>
      </p:graphicFrame>
    </p:spTree>
    <p:extLst>
      <p:ext uri="{BB962C8B-B14F-4D97-AF65-F5344CB8AC3E}">
        <p14:creationId xmlns:p14="http://schemas.microsoft.com/office/powerpoint/2010/main" val="37224123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8B7C8-DBC7-4F9E-8474-1E629DFC811A}"/>
              </a:ext>
            </a:extLst>
          </p:cNvPr>
          <p:cNvSpPr>
            <a:spLocks noGrp="1"/>
          </p:cNvSpPr>
          <p:nvPr>
            <p:ph type="title" idx="4294967295"/>
          </p:nvPr>
        </p:nvSpPr>
        <p:spPr>
          <a:xfrm>
            <a:off x="0" y="-235743"/>
            <a:ext cx="10515600" cy="1325563"/>
          </a:xfrm>
        </p:spPr>
        <p:txBody>
          <a:bodyPr/>
          <a:lstStyle/>
          <a:p>
            <a:r>
              <a:rPr lang="en-IN" dirty="0">
                <a:solidFill>
                  <a:schemeClr val="bg1"/>
                </a:solidFill>
              </a:rPr>
              <a:t>6. Cubic (n^3)</a:t>
            </a:r>
          </a:p>
        </p:txBody>
      </p:sp>
      <p:sp>
        <p:nvSpPr>
          <p:cNvPr id="3" name="Content Placeholder 2">
            <a:extLst>
              <a:ext uri="{FF2B5EF4-FFF2-40B4-BE49-F238E27FC236}">
                <a16:creationId xmlns:a16="http://schemas.microsoft.com/office/drawing/2014/main" id="{7AAC9E89-47B0-4F8C-84CB-7EC8E830EA31}"/>
              </a:ext>
            </a:extLst>
          </p:cNvPr>
          <p:cNvSpPr>
            <a:spLocks noGrp="1"/>
          </p:cNvSpPr>
          <p:nvPr>
            <p:ph idx="4294967295"/>
          </p:nvPr>
        </p:nvSpPr>
        <p:spPr>
          <a:xfrm>
            <a:off x="0" y="1117600"/>
            <a:ext cx="4394200" cy="4881563"/>
          </a:xfrm>
        </p:spPr>
        <p:txBody>
          <a:bodyPr>
            <a:normAutofit fontScale="92500"/>
          </a:bodyPr>
          <a:lstStyle/>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 then complexity is 1 </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n=2 then complexity is 8</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n=3 then complexity is 27</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n=5 then complexity is 125</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lgn="just" fontAlgn="base">
              <a:lnSpc>
                <a:spcPct val="115000"/>
              </a:lnSpc>
              <a:spcAft>
                <a:spcPts val="800"/>
              </a:spcAft>
              <a:buNone/>
            </a:pPr>
            <a:endParaRPr lang="en-IN" b="1" spc="10" dirty="0">
              <a:solidFill>
                <a:srgbClr val="C0000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just" fontAlgn="base">
              <a:lnSpc>
                <a:spcPct val="115000"/>
              </a:lnSpc>
              <a:spcAft>
                <a:spcPts val="800"/>
              </a:spcAft>
              <a:buNone/>
            </a:pPr>
            <a:r>
              <a:rPr lang="en-IN" b="1" spc="10" dirty="0">
                <a:solidFill>
                  <a:srgbClr val="C00000"/>
                </a:solidFill>
                <a:effectLst/>
                <a:latin typeface="Calibri" panose="020F0502020204030204" pitchFamily="34" charset="0"/>
                <a:ea typeface="Times New Roman" panose="02020603050405020304" pitchFamily="18" charset="0"/>
              </a:rPr>
              <a:t>Faster than Quadratic (n</a:t>
            </a:r>
            <a:r>
              <a:rPr lang="en-IN" b="1" spc="10" baseline="30000" dirty="0">
                <a:solidFill>
                  <a:srgbClr val="C00000"/>
                </a:solidFill>
                <a:effectLst/>
                <a:latin typeface="Calibri" panose="020F0502020204030204" pitchFamily="34" charset="0"/>
                <a:ea typeface="Times New Roman" panose="02020603050405020304" pitchFamily="18" charset="0"/>
              </a:rPr>
              <a:t>2</a:t>
            </a:r>
            <a:r>
              <a:rPr lang="en-IN" b="1" spc="10" dirty="0">
                <a:solidFill>
                  <a:srgbClr val="C00000"/>
                </a:solidFill>
                <a:effectLst/>
                <a:latin typeface="Calibri" panose="020F0502020204030204" pitchFamily="34" charset="0"/>
                <a:ea typeface="Times New Roman" panose="02020603050405020304" pitchFamily="18" charset="0"/>
              </a:rPr>
              <a:t>)</a:t>
            </a:r>
            <a:endParaRPr lang="en-IN" dirty="0">
              <a:solidFill>
                <a:srgbClr val="C00000"/>
              </a:solidFill>
            </a:endParaRPr>
          </a:p>
        </p:txBody>
      </p:sp>
      <p:sp>
        <p:nvSpPr>
          <p:cNvPr id="4" name="Slide Number Placeholder 3">
            <a:extLst>
              <a:ext uri="{FF2B5EF4-FFF2-40B4-BE49-F238E27FC236}">
                <a16:creationId xmlns:a16="http://schemas.microsoft.com/office/drawing/2014/main" id="{3A3291E6-07B3-4859-B7CD-3BC12BBAF208}"/>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83</a:t>
            </a:fld>
            <a:endParaRPr lang="en-US" altLang="en-US"/>
          </a:p>
        </p:txBody>
      </p:sp>
      <p:sp>
        <p:nvSpPr>
          <p:cNvPr id="5" name="Rectangle 2">
            <a:extLst>
              <a:ext uri="{FF2B5EF4-FFF2-40B4-BE49-F238E27FC236}">
                <a16:creationId xmlns:a16="http://schemas.microsoft.com/office/drawing/2014/main" id="{DE0DE40D-286F-43DC-9B6F-E6BB1E022126}"/>
              </a:ext>
            </a:extLst>
          </p:cNvPr>
          <p:cNvSpPr>
            <a:spLocks noChangeArrowheads="1"/>
          </p:cNvSpPr>
          <p:nvPr/>
        </p:nvSpPr>
        <p:spPr bwMode="auto">
          <a:xfrm>
            <a:off x="3482511" y="1752600"/>
            <a:ext cx="2333086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F192C470-DE78-419F-A8D9-EDE9A15C38C2}"/>
              </a:ext>
            </a:extLst>
          </p:cNvPr>
          <p:cNvGraphicFramePr>
            <a:graphicFrameLocks noChangeAspect="1"/>
          </p:cNvGraphicFramePr>
          <p:nvPr/>
        </p:nvGraphicFramePr>
        <p:xfrm>
          <a:off x="5105400" y="1752600"/>
          <a:ext cx="6400800" cy="3657600"/>
        </p:xfrm>
        <a:graphic>
          <a:graphicData uri="http://schemas.openxmlformats.org/presentationml/2006/ole">
            <mc:AlternateContent xmlns:mc="http://schemas.openxmlformats.org/markup-compatibility/2006">
              <mc:Choice xmlns:v="urn:schemas-microsoft-com:vml" Requires="v">
                <p:oleObj name="Bitmap Image" r:id="rId3" imgW="3345470" imgH="2201905" progId="Paint.Picture">
                  <p:embed/>
                </p:oleObj>
              </mc:Choice>
              <mc:Fallback>
                <p:oleObj name="Bitmap Image" r:id="rId3" imgW="3345470" imgH="2201905" progId="Paint.Picture">
                  <p:embed/>
                  <p:pic>
                    <p:nvPicPr>
                      <p:cNvPr id="6" name="Object 5">
                        <a:extLst>
                          <a:ext uri="{FF2B5EF4-FFF2-40B4-BE49-F238E27FC236}">
                            <a16:creationId xmlns:a16="http://schemas.microsoft.com/office/drawing/2014/main" id="{F192C470-DE78-419F-A8D9-EDE9A15C38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752600"/>
                        <a:ext cx="6400800" cy="3657600"/>
                      </a:xfrm>
                      <a:prstGeom prst="rect">
                        <a:avLst/>
                      </a:prstGeom>
                      <a:noFill/>
                    </p:spPr>
                  </p:pic>
                </p:oleObj>
              </mc:Fallback>
            </mc:AlternateContent>
          </a:graphicData>
        </a:graphic>
      </p:graphicFrame>
    </p:spTree>
    <p:extLst>
      <p:ext uri="{BB962C8B-B14F-4D97-AF65-F5344CB8AC3E}">
        <p14:creationId xmlns:p14="http://schemas.microsoft.com/office/powerpoint/2010/main" val="42061138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0F75B-3B31-4C94-AFEC-A73EE191B8AD}"/>
              </a:ext>
            </a:extLst>
          </p:cNvPr>
          <p:cNvSpPr>
            <a:spLocks noGrp="1"/>
          </p:cNvSpPr>
          <p:nvPr>
            <p:ph type="title" idx="4294967295"/>
          </p:nvPr>
        </p:nvSpPr>
        <p:spPr>
          <a:xfrm>
            <a:off x="0" y="-234950"/>
            <a:ext cx="10515600" cy="1325563"/>
          </a:xfrm>
        </p:spPr>
        <p:txBody>
          <a:bodyPr/>
          <a:lstStyle/>
          <a:p>
            <a:r>
              <a:rPr lang="en-IN" dirty="0">
                <a:solidFill>
                  <a:schemeClr val="bg1"/>
                </a:solidFill>
              </a:rPr>
              <a:t>7. Exponential (2^n)</a:t>
            </a:r>
          </a:p>
        </p:txBody>
      </p:sp>
      <p:sp>
        <p:nvSpPr>
          <p:cNvPr id="3" name="Content Placeholder 2">
            <a:extLst>
              <a:ext uri="{FF2B5EF4-FFF2-40B4-BE49-F238E27FC236}">
                <a16:creationId xmlns:a16="http://schemas.microsoft.com/office/drawing/2014/main" id="{E7470A2C-09A6-4B1F-9F03-F5A38615C398}"/>
              </a:ext>
            </a:extLst>
          </p:cNvPr>
          <p:cNvSpPr>
            <a:spLocks noGrp="1"/>
          </p:cNvSpPr>
          <p:nvPr>
            <p:ph idx="4294967295"/>
          </p:nvPr>
        </p:nvSpPr>
        <p:spPr>
          <a:xfrm>
            <a:off x="0" y="1090613"/>
            <a:ext cx="5032375" cy="4881563"/>
          </a:xfrm>
        </p:spPr>
        <p:txBody>
          <a:bodyPr/>
          <a:lstStyle/>
          <a:p>
            <a:pPr algn="just" fontAlgn="base">
              <a:lnSpc>
                <a:spcPct val="115000"/>
              </a:lnSpc>
              <a:spcAft>
                <a:spcPts val="800"/>
              </a:spcAft>
            </a:pPr>
            <a:r>
              <a:rPr lang="en-IN" sz="2800"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 then complexity is 2</a:t>
            </a:r>
            <a:endParaRPr lang="en-IN" sz="2800"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sz="2800"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n=2 then complexity is 4</a:t>
            </a:r>
            <a:endParaRPr lang="en-IN" sz="2800"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sz="2800"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n=3 then complexity is 8</a:t>
            </a:r>
            <a:endParaRPr lang="en-IN" sz="2800"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sz="2800"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n=4 then complexity is 16</a:t>
            </a:r>
            <a:endParaRPr lang="en-IN" sz="2800" dirty="0">
              <a:solidFill>
                <a:srgbClr val="C00000"/>
              </a:solidFill>
              <a:latin typeface="Corbel" panose="020B0503020204020204" pitchFamily="34" charset="0"/>
              <a:ea typeface="Times New Roman" panose="02020603050405020304" pitchFamily="18" charset="0"/>
              <a:cs typeface="Times New Roman" panose="02020603050405020304" pitchFamily="18" charset="0"/>
            </a:endParaRPr>
          </a:p>
          <a:p>
            <a:pPr marL="0" indent="0" algn="just" fontAlgn="base">
              <a:lnSpc>
                <a:spcPct val="115000"/>
              </a:lnSpc>
              <a:spcAft>
                <a:spcPts val="800"/>
              </a:spcAft>
              <a:buNone/>
            </a:pPr>
            <a:r>
              <a:rPr lang="en-IN" sz="2800"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sz="2800"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r>
              <a:rPr lang="en-IN" sz="2800" b="1" spc="10" dirty="0">
                <a:solidFill>
                  <a:srgbClr val="C00000"/>
                </a:solidFill>
                <a:effectLst/>
                <a:latin typeface="Calibri" panose="020F0502020204030204" pitchFamily="34" charset="0"/>
                <a:ea typeface="Times New Roman" panose="02020603050405020304" pitchFamily="18" charset="0"/>
              </a:rPr>
              <a:t>It is slow in starting but for larger value it is Faster than Cubic (n</a:t>
            </a:r>
            <a:r>
              <a:rPr lang="en-IN" sz="2800" b="1" spc="10" baseline="30000" dirty="0">
                <a:solidFill>
                  <a:srgbClr val="C00000"/>
                </a:solidFill>
                <a:effectLst/>
                <a:latin typeface="Calibri" panose="020F0502020204030204" pitchFamily="34" charset="0"/>
                <a:ea typeface="Times New Roman" panose="02020603050405020304" pitchFamily="18" charset="0"/>
              </a:rPr>
              <a:t>3</a:t>
            </a:r>
            <a:r>
              <a:rPr lang="en-IN" sz="2800" b="1" spc="10" dirty="0">
                <a:solidFill>
                  <a:srgbClr val="C00000"/>
                </a:solidFill>
                <a:effectLst/>
                <a:latin typeface="Calibri" panose="020F0502020204030204" pitchFamily="34" charset="0"/>
                <a:ea typeface="Times New Roman" panose="02020603050405020304" pitchFamily="18" charset="0"/>
              </a:rPr>
              <a:t>)</a:t>
            </a:r>
            <a:endParaRPr lang="en-IN" sz="2800" dirty="0">
              <a:solidFill>
                <a:srgbClr val="C00000"/>
              </a:solidFill>
            </a:endParaRPr>
          </a:p>
        </p:txBody>
      </p:sp>
      <p:sp>
        <p:nvSpPr>
          <p:cNvPr id="4" name="Slide Number Placeholder 3">
            <a:extLst>
              <a:ext uri="{FF2B5EF4-FFF2-40B4-BE49-F238E27FC236}">
                <a16:creationId xmlns:a16="http://schemas.microsoft.com/office/drawing/2014/main" id="{45173A7B-8BBF-4C9F-A92F-9A403EBE34DE}"/>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84</a:t>
            </a:fld>
            <a:endParaRPr lang="en-US" altLang="en-US"/>
          </a:p>
        </p:txBody>
      </p:sp>
      <p:sp>
        <p:nvSpPr>
          <p:cNvPr id="5" name="Rectangle 2">
            <a:extLst>
              <a:ext uri="{FF2B5EF4-FFF2-40B4-BE49-F238E27FC236}">
                <a16:creationId xmlns:a16="http://schemas.microsoft.com/office/drawing/2014/main" id="{A09E5E71-305E-4B97-A16B-5F123761AF98}"/>
              </a:ext>
            </a:extLst>
          </p:cNvPr>
          <p:cNvSpPr>
            <a:spLocks noChangeArrowheads="1"/>
          </p:cNvSpPr>
          <p:nvPr/>
        </p:nvSpPr>
        <p:spPr bwMode="auto">
          <a:xfrm>
            <a:off x="5638799" y="1818481"/>
            <a:ext cx="2140347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154B131D-A324-4B51-83D3-076CAD48A86A}"/>
              </a:ext>
            </a:extLst>
          </p:cNvPr>
          <p:cNvGraphicFramePr>
            <a:graphicFrameLocks noChangeAspect="1"/>
          </p:cNvGraphicFramePr>
          <p:nvPr/>
        </p:nvGraphicFramePr>
        <p:xfrm>
          <a:off x="5638800" y="1818480"/>
          <a:ext cx="5791200" cy="3744120"/>
        </p:xfrm>
        <a:graphic>
          <a:graphicData uri="http://schemas.openxmlformats.org/presentationml/2006/ole">
            <mc:AlternateContent xmlns:mc="http://schemas.openxmlformats.org/markup-compatibility/2006">
              <mc:Choice xmlns:v="urn:schemas-microsoft-com:vml" Requires="v">
                <p:oleObj name="Bitmap Image" r:id="rId3" imgW="3299746" imgH="1912786" progId="Paint.Picture">
                  <p:embed/>
                </p:oleObj>
              </mc:Choice>
              <mc:Fallback>
                <p:oleObj name="Bitmap Image" r:id="rId3" imgW="3299746" imgH="1912786" progId="Paint.Picture">
                  <p:embed/>
                  <p:pic>
                    <p:nvPicPr>
                      <p:cNvPr id="6" name="Object 5">
                        <a:extLst>
                          <a:ext uri="{FF2B5EF4-FFF2-40B4-BE49-F238E27FC236}">
                            <a16:creationId xmlns:a16="http://schemas.microsoft.com/office/drawing/2014/main" id="{154B131D-A324-4B51-83D3-076CAD48A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818480"/>
                        <a:ext cx="5791200" cy="3744120"/>
                      </a:xfrm>
                      <a:prstGeom prst="rect">
                        <a:avLst/>
                      </a:prstGeom>
                      <a:noFill/>
                    </p:spPr>
                  </p:pic>
                </p:oleObj>
              </mc:Fallback>
            </mc:AlternateContent>
          </a:graphicData>
        </a:graphic>
      </p:graphicFrame>
    </p:spTree>
    <p:extLst>
      <p:ext uri="{BB962C8B-B14F-4D97-AF65-F5344CB8AC3E}">
        <p14:creationId xmlns:p14="http://schemas.microsoft.com/office/powerpoint/2010/main" val="7621745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0DEBD-21A0-41F3-A280-60005C5F0541}"/>
              </a:ext>
            </a:extLst>
          </p:cNvPr>
          <p:cNvSpPr>
            <a:spLocks noGrp="1"/>
          </p:cNvSpPr>
          <p:nvPr>
            <p:ph type="title" idx="4294967295"/>
          </p:nvPr>
        </p:nvSpPr>
        <p:spPr>
          <a:xfrm>
            <a:off x="0" y="-234950"/>
            <a:ext cx="10515600" cy="1325563"/>
          </a:xfrm>
        </p:spPr>
        <p:txBody>
          <a:bodyPr/>
          <a:lstStyle/>
          <a:p>
            <a:r>
              <a:rPr lang="en-IN" dirty="0">
                <a:solidFill>
                  <a:schemeClr val="bg1"/>
                </a:solidFill>
              </a:rPr>
              <a:t>8. Factorial (n!)</a:t>
            </a:r>
          </a:p>
        </p:txBody>
      </p:sp>
      <p:sp>
        <p:nvSpPr>
          <p:cNvPr id="3" name="Content Placeholder 2">
            <a:extLst>
              <a:ext uri="{FF2B5EF4-FFF2-40B4-BE49-F238E27FC236}">
                <a16:creationId xmlns:a16="http://schemas.microsoft.com/office/drawing/2014/main" id="{F56A6FAA-FAB9-4F94-8B70-609CDBB0E385}"/>
              </a:ext>
            </a:extLst>
          </p:cNvPr>
          <p:cNvSpPr>
            <a:spLocks noGrp="1"/>
          </p:cNvSpPr>
          <p:nvPr>
            <p:ph idx="4294967295"/>
          </p:nvPr>
        </p:nvSpPr>
        <p:spPr>
          <a:xfrm>
            <a:off x="0" y="1282700"/>
            <a:ext cx="4622800" cy="4881563"/>
          </a:xfrm>
        </p:spPr>
        <p:txBody>
          <a:bodyPr/>
          <a:lstStyle/>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n=1 then complexity is 1=1 </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n=2 then complexity is 2*1=2</a:t>
            </a:r>
          </a:p>
          <a:p>
            <a:pPr algn="just" fontAlgn="base">
              <a:lnSpc>
                <a:spcPct val="115000"/>
              </a:lnSpc>
              <a:spcAft>
                <a:spcPts val="800"/>
              </a:spcAft>
            </a:pPr>
            <a:r>
              <a:rPr lang="en-IN" b="1" spc="10" dirty="0">
                <a:solidFill>
                  <a:srgbClr val="C00000"/>
                </a:solidFill>
                <a:latin typeface="Calibri" panose="020F0502020204030204" pitchFamily="34" charset="0"/>
                <a:ea typeface="Corbel" panose="020B0503020204020204" pitchFamily="34" charset="0"/>
                <a:cs typeface="Times New Roman" panose="02020603050405020304" pitchFamily="18" charset="0"/>
              </a:rPr>
              <a:t>----------------</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algn="just" fontAlgn="base">
              <a:lnSpc>
                <a:spcPct val="115000"/>
              </a:lnSpc>
              <a:spcAft>
                <a:spcPts val="800"/>
              </a:spcAft>
            </a:pPr>
            <a:r>
              <a:rPr lang="en-IN" b="1" spc="1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If n=5 then complexity is 5*4*3*2*1 = 120</a:t>
            </a:r>
            <a:endParaRPr lang="en-IN" dirty="0">
              <a:solidFill>
                <a:srgbClr val="C00000"/>
              </a:solidFill>
              <a:effectLst/>
              <a:latin typeface="Corbel" panose="020B0503020204020204" pitchFamily="34" charset="0"/>
              <a:ea typeface="Corbel" panose="020B0503020204020204" pitchFamily="34" charset="0"/>
              <a:cs typeface="Times New Roman" panose="02020603050405020304" pitchFamily="18" charset="0"/>
            </a:endParaRPr>
          </a:p>
          <a:p>
            <a:pPr marL="0" indent="0">
              <a:buNone/>
            </a:pPr>
            <a:r>
              <a:rPr lang="en-IN" b="1" spc="10" dirty="0">
                <a:solidFill>
                  <a:srgbClr val="C00000"/>
                </a:solidFill>
                <a:effectLst/>
                <a:latin typeface="Calibri" panose="020F0502020204030204" pitchFamily="34" charset="0"/>
                <a:ea typeface="Times New Roman" panose="02020603050405020304" pitchFamily="18" charset="0"/>
              </a:rPr>
              <a:t>Faster than Exponential (2</a:t>
            </a:r>
            <a:r>
              <a:rPr lang="en-IN" b="1" spc="10" baseline="30000" dirty="0">
                <a:solidFill>
                  <a:srgbClr val="C00000"/>
                </a:solidFill>
                <a:effectLst/>
                <a:latin typeface="Calibri" panose="020F0502020204030204" pitchFamily="34" charset="0"/>
                <a:ea typeface="Times New Roman" panose="02020603050405020304" pitchFamily="18" charset="0"/>
              </a:rPr>
              <a:t>n</a:t>
            </a:r>
            <a:r>
              <a:rPr lang="en-IN" b="1" spc="10" dirty="0">
                <a:solidFill>
                  <a:srgbClr val="C00000"/>
                </a:solidFill>
                <a:effectLst/>
                <a:latin typeface="Calibri" panose="020F0502020204030204" pitchFamily="34" charset="0"/>
                <a:ea typeface="Times New Roman" panose="02020603050405020304" pitchFamily="18" charset="0"/>
              </a:rPr>
              <a:t>)</a:t>
            </a:r>
            <a:endParaRPr lang="en-IN" dirty="0">
              <a:solidFill>
                <a:srgbClr val="C00000"/>
              </a:solidFill>
            </a:endParaRPr>
          </a:p>
        </p:txBody>
      </p:sp>
      <p:sp>
        <p:nvSpPr>
          <p:cNvPr id="4" name="Slide Number Placeholder 3">
            <a:extLst>
              <a:ext uri="{FF2B5EF4-FFF2-40B4-BE49-F238E27FC236}">
                <a16:creationId xmlns:a16="http://schemas.microsoft.com/office/drawing/2014/main" id="{FC696464-E503-41A3-9275-FCB4D2238092}"/>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85</a:t>
            </a:fld>
            <a:endParaRPr lang="en-US" altLang="en-US"/>
          </a:p>
        </p:txBody>
      </p:sp>
      <p:sp>
        <p:nvSpPr>
          <p:cNvPr id="5" name="Rectangle 2">
            <a:extLst>
              <a:ext uri="{FF2B5EF4-FFF2-40B4-BE49-F238E27FC236}">
                <a16:creationId xmlns:a16="http://schemas.microsoft.com/office/drawing/2014/main" id="{D0022FEF-5A58-4042-B766-6FC622EAC216}"/>
              </a:ext>
            </a:extLst>
          </p:cNvPr>
          <p:cNvSpPr>
            <a:spLocks noChangeArrowheads="1"/>
          </p:cNvSpPr>
          <p:nvPr/>
        </p:nvSpPr>
        <p:spPr bwMode="auto">
          <a:xfrm>
            <a:off x="5050819" y="1537493"/>
            <a:ext cx="206867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D50C697A-E990-434B-9FFF-CEC98CB61E51}"/>
              </a:ext>
            </a:extLst>
          </p:cNvPr>
          <p:cNvGraphicFramePr>
            <a:graphicFrameLocks noChangeAspect="1"/>
          </p:cNvGraphicFramePr>
          <p:nvPr/>
        </p:nvGraphicFramePr>
        <p:xfrm>
          <a:off x="5638800" y="1537493"/>
          <a:ext cx="5791200" cy="4101307"/>
        </p:xfrm>
        <a:graphic>
          <a:graphicData uri="http://schemas.openxmlformats.org/presentationml/2006/ole">
            <mc:AlternateContent xmlns:mc="http://schemas.openxmlformats.org/markup-compatibility/2006">
              <mc:Choice xmlns:v="urn:schemas-microsoft-com:vml" Requires="v">
                <p:oleObj name="Bitmap Image" r:id="rId3" imgW="3414056" imgH="2201905" progId="Paint.Picture">
                  <p:embed/>
                </p:oleObj>
              </mc:Choice>
              <mc:Fallback>
                <p:oleObj name="Bitmap Image" r:id="rId3" imgW="3414056" imgH="2201905" progId="Paint.Picture">
                  <p:embed/>
                  <p:pic>
                    <p:nvPicPr>
                      <p:cNvPr id="6" name="Object 5">
                        <a:extLst>
                          <a:ext uri="{FF2B5EF4-FFF2-40B4-BE49-F238E27FC236}">
                            <a16:creationId xmlns:a16="http://schemas.microsoft.com/office/drawing/2014/main" id="{D50C697A-E990-434B-9FFF-CEC98CB61E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537493"/>
                        <a:ext cx="5791200" cy="4101307"/>
                      </a:xfrm>
                      <a:prstGeom prst="rect">
                        <a:avLst/>
                      </a:prstGeom>
                      <a:noFill/>
                    </p:spPr>
                  </p:pic>
                </p:oleObj>
              </mc:Fallback>
            </mc:AlternateContent>
          </a:graphicData>
        </a:graphic>
      </p:graphicFrame>
    </p:spTree>
    <p:extLst>
      <p:ext uri="{BB962C8B-B14F-4D97-AF65-F5344CB8AC3E}">
        <p14:creationId xmlns:p14="http://schemas.microsoft.com/office/powerpoint/2010/main" val="4001783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3EC8-9268-4873-AE8B-9E2F0D28F48B}"/>
              </a:ext>
            </a:extLst>
          </p:cNvPr>
          <p:cNvSpPr>
            <a:spLocks noGrp="1"/>
          </p:cNvSpPr>
          <p:nvPr>
            <p:ph type="title" idx="4294967295"/>
          </p:nvPr>
        </p:nvSpPr>
        <p:spPr>
          <a:xfrm>
            <a:off x="0" y="-301625"/>
            <a:ext cx="10515600" cy="1325563"/>
          </a:xfrm>
        </p:spPr>
        <p:txBody>
          <a:bodyPr/>
          <a:lstStyle/>
          <a:p>
            <a:r>
              <a:rPr lang="en-IN" dirty="0">
                <a:solidFill>
                  <a:schemeClr val="bg1"/>
                </a:solidFill>
              </a:rPr>
              <a:t>Growth of Functions</a:t>
            </a:r>
          </a:p>
        </p:txBody>
      </p:sp>
      <p:sp>
        <p:nvSpPr>
          <p:cNvPr id="3" name="Content Placeholder 2">
            <a:extLst>
              <a:ext uri="{FF2B5EF4-FFF2-40B4-BE49-F238E27FC236}">
                <a16:creationId xmlns:a16="http://schemas.microsoft.com/office/drawing/2014/main" id="{2637EAFF-D4B1-43C4-8E47-1E30F2E66BCC}"/>
              </a:ext>
            </a:extLst>
          </p:cNvPr>
          <p:cNvSpPr>
            <a:spLocks noGrp="1"/>
          </p:cNvSpPr>
          <p:nvPr>
            <p:ph idx="4294967295"/>
          </p:nvPr>
        </p:nvSpPr>
        <p:spPr>
          <a:xfrm>
            <a:off x="0" y="957878"/>
            <a:ext cx="11793894" cy="4351338"/>
          </a:xfrm>
        </p:spPr>
        <p:txBody>
          <a:bodyPr/>
          <a:lstStyle/>
          <a:p>
            <a:pPr marL="0" indent="0" algn="just">
              <a:buNone/>
            </a:pPr>
            <a:r>
              <a:rPr lang="en-IN" sz="2800" spc="1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growth of function provides the understanding of the Algorithm's efficiency in order to understand its performance. The aim is to predict the performance of different algorithms in order to predict their behaviour with changes in input. </a:t>
            </a:r>
            <a:endParaRPr lang="en-IN" sz="2800" dirty="0">
              <a:effectLst/>
              <a:latin typeface="Calibri" panose="020F0502020204030204" pitchFamily="34" charset="0"/>
              <a:ea typeface="Corbel" panose="020B0503020204020204" pitchFamily="34" charset="0"/>
              <a:cs typeface="Calibri" panose="020F0502020204030204" pitchFamily="34" charset="0"/>
            </a:endParaRPr>
          </a:p>
          <a:p>
            <a:pPr marL="0" indent="0">
              <a:buNone/>
            </a:pPr>
            <a:endParaRPr lang="en-IN" dirty="0"/>
          </a:p>
        </p:txBody>
      </p:sp>
      <p:sp>
        <p:nvSpPr>
          <p:cNvPr id="4" name="Slide Number Placeholder 3">
            <a:extLst>
              <a:ext uri="{FF2B5EF4-FFF2-40B4-BE49-F238E27FC236}">
                <a16:creationId xmlns:a16="http://schemas.microsoft.com/office/drawing/2014/main" id="{7414DB81-3373-4557-AC05-EFF2C3886BED}"/>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86</a:t>
            </a:fld>
            <a:endParaRPr lang="en-US" altLang="en-US"/>
          </a:p>
        </p:txBody>
      </p:sp>
      <p:pic>
        <p:nvPicPr>
          <p:cNvPr id="5" name="Picture 4" descr="Algorithm Analysis &amp;amp; Time Complexity Simplified | by randerson112358 |  Medium">
            <a:extLst>
              <a:ext uri="{FF2B5EF4-FFF2-40B4-BE49-F238E27FC236}">
                <a16:creationId xmlns:a16="http://schemas.microsoft.com/office/drawing/2014/main" id="{FAD4696A-B08B-4016-AFCA-857C5526E15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71700" y="2738533"/>
            <a:ext cx="6172200" cy="2735263"/>
          </a:xfrm>
          <a:prstGeom prst="rect">
            <a:avLst/>
          </a:prstGeom>
          <a:noFill/>
          <a:ln>
            <a:noFill/>
          </a:ln>
        </p:spPr>
      </p:pic>
    </p:spTree>
    <p:extLst>
      <p:ext uri="{BB962C8B-B14F-4D97-AF65-F5344CB8AC3E}">
        <p14:creationId xmlns:p14="http://schemas.microsoft.com/office/powerpoint/2010/main" val="29345778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D5EE78-932D-2F6F-7E35-15B05E01E96F}"/>
              </a:ext>
            </a:extLst>
          </p:cNvPr>
          <p:cNvPicPr>
            <a:picLocks noChangeAspect="1"/>
          </p:cNvPicPr>
          <p:nvPr/>
        </p:nvPicPr>
        <p:blipFill>
          <a:blip r:embed="rId2"/>
          <a:stretch>
            <a:fillRect/>
          </a:stretch>
        </p:blipFill>
        <p:spPr>
          <a:xfrm>
            <a:off x="2133047" y="452022"/>
            <a:ext cx="7925906" cy="5953956"/>
          </a:xfrm>
          <a:prstGeom prst="rect">
            <a:avLst/>
          </a:prstGeom>
        </p:spPr>
      </p:pic>
    </p:spTree>
    <p:extLst>
      <p:ext uri="{BB962C8B-B14F-4D97-AF65-F5344CB8AC3E}">
        <p14:creationId xmlns:p14="http://schemas.microsoft.com/office/powerpoint/2010/main" val="12922223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D7BA2-44A1-4893-9FC5-3869276C2635}"/>
              </a:ext>
            </a:extLst>
          </p:cNvPr>
          <p:cNvSpPr>
            <a:spLocks noGrp="1"/>
          </p:cNvSpPr>
          <p:nvPr>
            <p:ph type="title" idx="4294967295"/>
          </p:nvPr>
        </p:nvSpPr>
        <p:spPr>
          <a:xfrm>
            <a:off x="0" y="-252413"/>
            <a:ext cx="10515600" cy="1325563"/>
          </a:xfrm>
        </p:spPr>
        <p:txBody>
          <a:bodyPr/>
          <a:lstStyle/>
          <a:p>
            <a:r>
              <a:rPr lang="en-IN" dirty="0">
                <a:solidFill>
                  <a:schemeClr val="bg1"/>
                </a:solidFill>
              </a:rPr>
              <a:t>Conclusion</a:t>
            </a:r>
          </a:p>
        </p:txBody>
      </p:sp>
      <p:sp>
        <p:nvSpPr>
          <p:cNvPr id="3" name="Content Placeholder 2">
            <a:extLst>
              <a:ext uri="{FF2B5EF4-FFF2-40B4-BE49-F238E27FC236}">
                <a16:creationId xmlns:a16="http://schemas.microsoft.com/office/drawing/2014/main" id="{0234FCDC-A702-4323-BC91-F15058F2DCA2}"/>
              </a:ext>
            </a:extLst>
          </p:cNvPr>
          <p:cNvSpPr>
            <a:spLocks noGrp="1"/>
          </p:cNvSpPr>
          <p:nvPr>
            <p:ph idx="4294967295"/>
          </p:nvPr>
        </p:nvSpPr>
        <p:spPr>
          <a:xfrm>
            <a:off x="0" y="1825625"/>
            <a:ext cx="10515600" cy="4351338"/>
          </a:xfrm>
        </p:spPr>
        <p:txBody>
          <a:bodyPr/>
          <a:lstStyle/>
          <a:p>
            <a:pPr marL="0" indent="0" algn="just" fontAlgn="base">
              <a:lnSpc>
                <a:spcPct val="115000"/>
              </a:lnSpc>
              <a:spcAft>
                <a:spcPts val="800"/>
              </a:spcAft>
              <a:buNone/>
            </a:pPr>
            <a:r>
              <a:rPr lang="en-IN" sz="3200" b="1" spc="10" dirty="0">
                <a:solidFill>
                  <a:srgbClr val="C00000"/>
                </a:solidFill>
                <a:effectLst/>
                <a:latin typeface="Calibri" pitchFamily="34" charset="0"/>
                <a:ea typeface="Times New Roman" panose="02020603050405020304" pitchFamily="18" charset="0"/>
                <a:cs typeface="Calibri" pitchFamily="34" charset="0"/>
              </a:rPr>
              <a:t>Comparison of various mathematical functions will result as follows: </a:t>
            </a:r>
            <a:endParaRPr lang="en-IN" sz="3200" dirty="0">
              <a:solidFill>
                <a:srgbClr val="C00000"/>
              </a:solidFill>
              <a:effectLst/>
              <a:latin typeface="Calibri" pitchFamily="34" charset="0"/>
              <a:ea typeface="Corbel" panose="020B0503020204020204" pitchFamily="34" charset="0"/>
              <a:cs typeface="Calibri" pitchFamily="34" charset="0"/>
            </a:endParaRPr>
          </a:p>
          <a:p>
            <a:pPr marL="0" indent="0">
              <a:buNone/>
            </a:pPr>
            <a:r>
              <a:rPr lang="en-IN" sz="3200" b="1" spc="10" dirty="0">
                <a:solidFill>
                  <a:srgbClr val="C00000"/>
                </a:solidFill>
                <a:effectLst/>
                <a:latin typeface="Calibri" panose="020F0502020204030204" pitchFamily="34" charset="0"/>
                <a:ea typeface="Times New Roman" panose="02020603050405020304" pitchFamily="18" charset="0"/>
                <a:cs typeface="Calibri" pitchFamily="34" charset="0"/>
              </a:rPr>
              <a:t>Constant &lt; log n &lt; n &lt; n</a:t>
            </a:r>
            <a:r>
              <a:rPr lang="en-IN" sz="3200" b="1" spc="10" baseline="30000" dirty="0">
                <a:solidFill>
                  <a:srgbClr val="C00000"/>
                </a:solidFill>
                <a:effectLst/>
                <a:latin typeface="Calibri" panose="020F0502020204030204" pitchFamily="34" charset="0"/>
                <a:ea typeface="Times New Roman" panose="02020603050405020304" pitchFamily="18" charset="0"/>
                <a:cs typeface="Calibri" pitchFamily="34" charset="0"/>
              </a:rPr>
              <a:t>2</a:t>
            </a:r>
            <a:r>
              <a:rPr lang="en-IN" sz="3200" b="1" spc="10" dirty="0">
                <a:solidFill>
                  <a:srgbClr val="C00000"/>
                </a:solidFill>
                <a:effectLst/>
                <a:latin typeface="Calibri" panose="020F0502020204030204" pitchFamily="34" charset="0"/>
                <a:ea typeface="Times New Roman" panose="02020603050405020304" pitchFamily="18" charset="0"/>
                <a:cs typeface="Calibri" pitchFamily="34" charset="0"/>
              </a:rPr>
              <a:t>&lt; n</a:t>
            </a:r>
            <a:r>
              <a:rPr lang="en-IN" sz="3200" b="1" spc="10" baseline="30000" dirty="0">
                <a:solidFill>
                  <a:srgbClr val="C00000"/>
                </a:solidFill>
                <a:effectLst/>
                <a:latin typeface="Calibri" panose="020F0502020204030204" pitchFamily="34" charset="0"/>
                <a:ea typeface="Times New Roman" panose="02020603050405020304" pitchFamily="18" charset="0"/>
                <a:cs typeface="Calibri" pitchFamily="34" charset="0"/>
              </a:rPr>
              <a:t>3 </a:t>
            </a:r>
            <a:r>
              <a:rPr lang="en-IN" sz="3200" b="1" spc="10" dirty="0">
                <a:solidFill>
                  <a:srgbClr val="C00000"/>
                </a:solidFill>
                <a:effectLst/>
                <a:latin typeface="Calibri" panose="020F0502020204030204" pitchFamily="34" charset="0"/>
                <a:ea typeface="Times New Roman" panose="02020603050405020304" pitchFamily="18" charset="0"/>
                <a:cs typeface="Calibri" pitchFamily="34" charset="0"/>
              </a:rPr>
              <a:t>&lt; 2</a:t>
            </a:r>
            <a:r>
              <a:rPr lang="en-IN" sz="3200" b="1" spc="10" baseline="30000" dirty="0">
                <a:solidFill>
                  <a:srgbClr val="C00000"/>
                </a:solidFill>
                <a:effectLst/>
                <a:latin typeface="Calibri" panose="020F0502020204030204" pitchFamily="34" charset="0"/>
                <a:ea typeface="Times New Roman" panose="02020603050405020304" pitchFamily="18" charset="0"/>
                <a:cs typeface="Calibri" pitchFamily="34" charset="0"/>
              </a:rPr>
              <a:t>n</a:t>
            </a:r>
            <a:r>
              <a:rPr lang="en-IN" sz="3200" b="1" spc="10" dirty="0">
                <a:solidFill>
                  <a:srgbClr val="C00000"/>
                </a:solidFill>
                <a:effectLst/>
                <a:latin typeface="Calibri" panose="020F0502020204030204" pitchFamily="34" charset="0"/>
                <a:ea typeface="Times New Roman" panose="02020603050405020304" pitchFamily="18" charset="0"/>
                <a:cs typeface="Calibri" pitchFamily="34" charset="0"/>
              </a:rPr>
              <a:t>&lt; n!</a:t>
            </a:r>
            <a:endParaRPr lang="en-IN" sz="3200" dirty="0">
              <a:solidFill>
                <a:srgbClr val="C00000"/>
              </a:solidFill>
              <a:latin typeface="Calibri" pitchFamily="34" charset="0"/>
              <a:cs typeface="Calibri" pitchFamily="34" charset="0"/>
            </a:endParaRPr>
          </a:p>
        </p:txBody>
      </p:sp>
      <p:sp>
        <p:nvSpPr>
          <p:cNvPr id="4" name="Slide Number Placeholder 3">
            <a:extLst>
              <a:ext uri="{FF2B5EF4-FFF2-40B4-BE49-F238E27FC236}">
                <a16:creationId xmlns:a16="http://schemas.microsoft.com/office/drawing/2014/main" id="{12F98CE9-7B52-4032-BB40-E397E96ED044}"/>
              </a:ext>
            </a:extLst>
          </p:cNvPr>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88</a:t>
            </a:fld>
            <a:endParaRPr lang="en-US" altLang="en-US"/>
          </a:p>
        </p:txBody>
      </p:sp>
    </p:spTree>
    <p:extLst>
      <p:ext uri="{BB962C8B-B14F-4D97-AF65-F5344CB8AC3E}">
        <p14:creationId xmlns:p14="http://schemas.microsoft.com/office/powerpoint/2010/main" val="22647957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a:spcBef>
                <a:spcPct val="0"/>
              </a:spcBef>
              <a:buClrTx/>
              <a:buFontTx/>
              <a:buNone/>
            </a:pPr>
            <a:fld id="{011D34F3-5805-4D19-B06A-648977BA2228}" type="slidenum">
              <a:rPr lang="en-US" altLang="en-US" sz="1200">
                <a:solidFill>
                  <a:schemeClr val="bg1"/>
                </a:solidFill>
              </a:rPr>
              <a:pPr>
                <a:spcBef>
                  <a:spcPct val="0"/>
                </a:spcBef>
                <a:buClrTx/>
                <a:buFontTx/>
                <a:buNone/>
              </a:pPr>
              <a:t>89</a:t>
            </a:fld>
            <a:endParaRPr lang="en-US" altLang="en-US" sz="1200">
              <a:solidFill>
                <a:schemeClr val="bg1"/>
              </a:solidFill>
            </a:endParaRPr>
          </a:p>
        </p:txBody>
      </p:sp>
      <p:sp>
        <p:nvSpPr>
          <p:cNvPr id="18436" name="Content Placeholder 2"/>
          <p:cNvSpPr>
            <a:spLocks noGrp="1"/>
          </p:cNvSpPr>
          <p:nvPr>
            <p:ph idx="4294967295"/>
          </p:nvPr>
        </p:nvSpPr>
        <p:spPr>
          <a:xfrm>
            <a:off x="0" y="1066800"/>
            <a:ext cx="10896600" cy="5257800"/>
          </a:xfrm>
        </p:spPr>
        <p:txBody>
          <a:bodyPr/>
          <a:lstStyle/>
          <a:p>
            <a:pPr marL="0" indent="0">
              <a:buNone/>
            </a:pPr>
            <a:r>
              <a:rPr lang="en-IN" dirty="0">
                <a:latin typeface="Calibri" pitchFamily="34" charset="0"/>
                <a:cs typeface="Calibri" pitchFamily="34" charset="0"/>
              </a:rPr>
              <a:t>Let's understand the importance for performing the analysis of algorithm with the help of an example:</a:t>
            </a:r>
            <a:endParaRPr lang="en-US" dirty="0">
              <a:latin typeface="Calibri" pitchFamily="34" charset="0"/>
              <a:cs typeface="Calibri" pitchFamily="34" charset="0"/>
            </a:endParaRPr>
          </a:p>
          <a:p>
            <a:r>
              <a:rPr lang="en-IN" b="1" dirty="0">
                <a:latin typeface="Calibri" pitchFamily="34" charset="0"/>
                <a:cs typeface="Calibri" pitchFamily="34" charset="0"/>
              </a:rPr>
              <a:t>Example1: (Dictionary)</a:t>
            </a:r>
            <a:endParaRPr lang="en-US" dirty="0">
              <a:latin typeface="Calibri" pitchFamily="34" charset="0"/>
              <a:cs typeface="Calibri" pitchFamily="34" charset="0"/>
            </a:endParaRPr>
          </a:p>
          <a:p>
            <a:pPr>
              <a:buNone/>
            </a:pPr>
            <a:r>
              <a:rPr lang="en-IN" dirty="0">
                <a:latin typeface="Calibri" pitchFamily="34" charset="0"/>
                <a:cs typeface="Calibri" pitchFamily="34" charset="0"/>
              </a:rPr>
              <a:t>Let us assume that we have a dictionary of 1000 pages and we want to search a word “</a:t>
            </a:r>
            <a:r>
              <a:rPr lang="en-IN" i="1" dirty="0">
                <a:latin typeface="Calibri" pitchFamily="34" charset="0"/>
                <a:cs typeface="Calibri" pitchFamily="34" charset="0"/>
              </a:rPr>
              <a:t>Space”</a:t>
            </a:r>
            <a:r>
              <a:rPr lang="en-IN" dirty="0">
                <a:latin typeface="Calibri" pitchFamily="34" charset="0"/>
                <a:cs typeface="Calibri" pitchFamily="34" charset="0"/>
              </a:rPr>
              <a:t> in dictionary. This word is at 800</a:t>
            </a:r>
            <a:r>
              <a:rPr lang="en-IN" baseline="30000" dirty="0">
                <a:latin typeface="Calibri" pitchFamily="34" charset="0"/>
                <a:cs typeface="Calibri" pitchFamily="34" charset="0"/>
              </a:rPr>
              <a:t>th</a:t>
            </a:r>
            <a:r>
              <a:rPr lang="en-IN" dirty="0">
                <a:latin typeface="Calibri" pitchFamily="34" charset="0"/>
                <a:cs typeface="Calibri" pitchFamily="34" charset="0"/>
              </a:rPr>
              <a:t>page number.</a:t>
            </a:r>
            <a:endParaRPr lang="en-US" dirty="0">
              <a:latin typeface="Calibri" pitchFamily="34" charset="0"/>
              <a:cs typeface="Calibri" pitchFamily="34" charset="0"/>
            </a:endParaRPr>
          </a:p>
          <a:p>
            <a:pPr>
              <a:buNone/>
            </a:pPr>
            <a:r>
              <a:rPr lang="en-IN" dirty="0">
                <a:latin typeface="Calibri" pitchFamily="34" charset="0"/>
                <a:cs typeface="Calibri" pitchFamily="34" charset="0"/>
              </a:rPr>
              <a:t> </a:t>
            </a:r>
            <a:endParaRPr lang="en-US" dirty="0">
              <a:latin typeface="Calibri" pitchFamily="34" charset="0"/>
              <a:cs typeface="Calibri" pitchFamily="34" charset="0"/>
            </a:endParaRPr>
          </a:p>
          <a:p>
            <a:r>
              <a:rPr lang="en-IN" b="1" dirty="0">
                <a:latin typeface="Calibri" pitchFamily="34" charset="0"/>
                <a:cs typeface="Calibri" pitchFamily="34" charset="0"/>
              </a:rPr>
              <a:t>First method:</a:t>
            </a:r>
            <a:r>
              <a:rPr lang="en-IN" dirty="0">
                <a:latin typeface="Calibri" pitchFamily="34" charset="0"/>
                <a:cs typeface="Calibri" pitchFamily="34" charset="0"/>
              </a:rPr>
              <a:t> Turn the pages one by one and after turning 799 pages we got the word “</a:t>
            </a:r>
            <a:r>
              <a:rPr lang="en-IN" i="1" dirty="0">
                <a:latin typeface="Calibri" pitchFamily="34" charset="0"/>
                <a:cs typeface="Calibri" pitchFamily="34" charset="0"/>
              </a:rPr>
              <a:t>Space”.</a:t>
            </a:r>
            <a:r>
              <a:rPr lang="en-US" i="1" dirty="0">
                <a:latin typeface="Calibri" pitchFamily="34" charset="0"/>
                <a:cs typeface="Calibri" pitchFamily="34" charset="0"/>
              </a:rPr>
              <a:t> </a:t>
            </a:r>
            <a:r>
              <a:rPr lang="en-IN" dirty="0">
                <a:latin typeface="Calibri" pitchFamily="34" charset="0"/>
                <a:cs typeface="Calibri" pitchFamily="34" charset="0"/>
              </a:rPr>
              <a:t>In this method we made 799 comparisons.</a:t>
            </a:r>
            <a:endParaRPr lang="en-US" dirty="0">
              <a:latin typeface="Calibri" pitchFamily="34" charset="0"/>
              <a:cs typeface="Calibri" pitchFamily="34" charset="0"/>
            </a:endParaRPr>
          </a:p>
          <a:p>
            <a:pPr eaLnBrk="1" hangingPunct="1">
              <a:spcBef>
                <a:spcPts val="100"/>
              </a:spcBef>
              <a:buFont typeface="Wingdings" panose="05000000000000000000" pitchFamily="2" charset="2"/>
              <a:buChar char="§"/>
            </a:pPr>
            <a:endParaRPr lang="en-US" altLang="en-US" sz="1600" b="1" dirty="0"/>
          </a:p>
        </p:txBody>
      </p:sp>
      <p:sp>
        <p:nvSpPr>
          <p:cNvPr id="2" name="Title 1"/>
          <p:cNvSpPr>
            <a:spLocks noGrp="1"/>
          </p:cNvSpPr>
          <p:nvPr>
            <p:ph type="title" idx="4294967295"/>
          </p:nvPr>
        </p:nvSpPr>
        <p:spPr>
          <a:xfrm>
            <a:off x="0" y="-258763"/>
            <a:ext cx="10515600" cy="1325563"/>
          </a:xfrm>
          <a:effectLst/>
        </p:spPr>
        <p:txBody>
          <a:bodyPr/>
          <a:lstStyle/>
          <a:p>
            <a:r>
              <a:rPr lang="en-US" dirty="0">
                <a:solidFill>
                  <a:schemeClr val="bg1"/>
                </a:solidFill>
                <a:effectLst>
                  <a:outerShdw blurRad="38100" dist="38100" dir="2700000" algn="tl">
                    <a:srgbClr val="000000">
                      <a:alpha val="43137"/>
                    </a:srgbClr>
                  </a:outerShdw>
                </a:effectLst>
                <a:latin typeface="Calibri" pitchFamily="34" charset="0"/>
                <a:cs typeface="Calibri" pitchFamily="34" charset="0"/>
              </a:rPr>
              <a:t>Why Analysis of Algorithms is important?</a:t>
            </a:r>
            <a:endParaRPr lang="en-US" dirty="0">
              <a:solidFill>
                <a:schemeClr val="bg1"/>
              </a:solidFill>
              <a:effectLst>
                <a:outerShdw blurRad="38100" dist="38100" dir="2700000" algn="tl">
                  <a:srgbClr val="000000">
                    <a:alpha val="43137"/>
                  </a:srgbClr>
                </a:outerShdw>
              </a:effectLst>
              <a:latin typeface="+mj-lt"/>
            </a:endParaRPr>
          </a:p>
        </p:txBody>
      </p:sp>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648277"/>
            <a:ext cx="8215370" cy="1458609"/>
          </a:xfrm>
          <a:prstGeom prst="rect">
            <a:avLst/>
          </a:prstGeom>
          <a:noFill/>
          <a:ln>
            <a:noFill/>
          </a:ln>
        </p:spPr>
      </p:pic>
    </p:spTree>
    <p:extLst>
      <p:ext uri="{BB962C8B-B14F-4D97-AF65-F5344CB8AC3E}">
        <p14:creationId xmlns:p14="http://schemas.microsoft.com/office/powerpoint/2010/main" val="502294803"/>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10344"/>
            <a:ext cx="10515600" cy="1325563"/>
          </a:xfrm>
        </p:spPr>
        <p:txBody>
          <a:bodyPr/>
          <a:lstStyle/>
          <a:p>
            <a:r>
              <a:rPr lang="en-IN" dirty="0">
                <a:solidFill>
                  <a:schemeClr val="bg1"/>
                </a:solidFill>
                <a:latin typeface="Calibri" pitchFamily="34" charset="0"/>
                <a:cs typeface="Calibri" pitchFamily="34" charset="0"/>
              </a:rPr>
              <a:t>Why Analysis of Algorithms is important?</a:t>
            </a:r>
            <a:endParaRPr lang="en-US" dirty="0">
              <a:solidFill>
                <a:schemeClr val="bg1"/>
              </a:solidFill>
              <a:latin typeface="Calibri" pitchFamily="34" charset="0"/>
              <a:cs typeface="Calibri" pitchFamily="34" charset="0"/>
            </a:endParaRPr>
          </a:p>
        </p:txBody>
      </p:sp>
      <p:sp>
        <p:nvSpPr>
          <p:cNvPr id="3" name="Content Placeholder 2"/>
          <p:cNvSpPr>
            <a:spLocks noGrp="1"/>
          </p:cNvSpPr>
          <p:nvPr>
            <p:ph idx="4294967295"/>
          </p:nvPr>
        </p:nvSpPr>
        <p:spPr>
          <a:xfrm>
            <a:off x="0" y="985838"/>
            <a:ext cx="10972800" cy="4881562"/>
          </a:xfrm>
        </p:spPr>
        <p:txBody>
          <a:bodyPr/>
          <a:lstStyle/>
          <a:p>
            <a:r>
              <a:rPr lang="en-IN" b="1" dirty="0">
                <a:latin typeface="Calibri" pitchFamily="34" charset="0"/>
                <a:cs typeface="Calibri" pitchFamily="34" charset="0"/>
              </a:rPr>
              <a:t>Second Method: </a:t>
            </a:r>
            <a:r>
              <a:rPr lang="en-IN" dirty="0">
                <a:latin typeface="Calibri" pitchFamily="34" charset="0"/>
                <a:cs typeface="Calibri" pitchFamily="34" charset="0"/>
              </a:rPr>
              <a:t>Open the dictionary from the mid (500) now I know that word “</a:t>
            </a:r>
            <a:r>
              <a:rPr lang="en-IN" i="1" dirty="0">
                <a:latin typeface="Calibri" pitchFamily="34" charset="0"/>
                <a:cs typeface="Calibri" pitchFamily="34" charset="0"/>
              </a:rPr>
              <a:t>Space” </a:t>
            </a:r>
            <a:r>
              <a:rPr lang="en-IN" dirty="0">
                <a:latin typeface="Calibri" pitchFamily="34" charset="0"/>
                <a:cs typeface="Calibri" pitchFamily="34" charset="0"/>
              </a:rPr>
              <a:t>is in second half (501 to 1000), then again, I divide the pages (501-1000) from the mid (750). Now search the word between pages 750 to 1000. Repeat this step till reach page 800.</a:t>
            </a:r>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US" sz="1600" dirty="0"/>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90</a:t>
            </a:fld>
            <a:endParaRPr lang="en-US" altLang="en-US"/>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809588" y="2514600"/>
            <a:ext cx="10501386" cy="3886200"/>
          </a:xfrm>
          <a:prstGeom prst="rect">
            <a:avLst/>
          </a:prstGeom>
          <a:noFill/>
          <a:ln>
            <a:noFill/>
          </a:ln>
        </p:spPr>
      </p:pic>
    </p:spTree>
    <p:extLst>
      <p:ext uri="{BB962C8B-B14F-4D97-AF65-F5344CB8AC3E}">
        <p14:creationId xmlns:p14="http://schemas.microsoft.com/office/powerpoint/2010/main" val="128309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82563"/>
            <a:ext cx="10515600" cy="1325563"/>
          </a:xfrm>
        </p:spPr>
        <p:txBody>
          <a:bodyPr/>
          <a:lstStyle/>
          <a:p>
            <a:r>
              <a:rPr lang="en-IN" dirty="0">
                <a:solidFill>
                  <a:schemeClr val="bg1"/>
                </a:solidFill>
                <a:latin typeface="Calibri" pitchFamily="34" charset="0"/>
                <a:cs typeface="Calibri" pitchFamily="34" charset="0"/>
              </a:rPr>
              <a:t>Why</a:t>
            </a:r>
            <a:r>
              <a:rPr lang="en-IN" dirty="0">
                <a:solidFill>
                  <a:schemeClr val="bg1"/>
                </a:solidFill>
              </a:rPr>
              <a:t> Analysis of Algorithms is important?</a:t>
            </a:r>
            <a:endParaRPr lang="en-US" dirty="0">
              <a:solidFill>
                <a:schemeClr val="bg1"/>
              </a:solidFill>
            </a:endParaRPr>
          </a:p>
        </p:txBody>
      </p:sp>
      <p:sp>
        <p:nvSpPr>
          <p:cNvPr id="3" name="Content Placeholder 2"/>
          <p:cNvSpPr>
            <a:spLocks noGrp="1"/>
          </p:cNvSpPr>
          <p:nvPr>
            <p:ph idx="4294967295"/>
          </p:nvPr>
        </p:nvSpPr>
        <p:spPr>
          <a:xfrm>
            <a:off x="0" y="1143000"/>
            <a:ext cx="10972800" cy="5021263"/>
          </a:xfrm>
        </p:spPr>
        <p:txBody>
          <a:bodyPr/>
          <a:lstStyle/>
          <a:p>
            <a:pPr marL="0" indent="0" algn="just">
              <a:buNone/>
            </a:pPr>
            <a:r>
              <a:rPr lang="en-IN" sz="2800" dirty="0">
                <a:latin typeface="Calibri" pitchFamily="34" charset="0"/>
                <a:cs typeface="Calibri" pitchFamily="34" charset="0"/>
              </a:rPr>
              <a:t>Red line represents the page number and number written with line represents the comparison. </a:t>
            </a:r>
          </a:p>
          <a:p>
            <a:pPr marL="0" indent="0" algn="just">
              <a:buNone/>
            </a:pPr>
            <a:r>
              <a:rPr lang="en-IN" sz="2800" dirty="0">
                <a:latin typeface="Calibri" pitchFamily="34" charset="0"/>
                <a:cs typeface="Calibri" pitchFamily="34" charset="0"/>
              </a:rPr>
              <a:t>With the help of this example, we can say that we need only 6 comparisons to reach page number 800, but in previous method 799 comparisons was required to reach page number 800.</a:t>
            </a:r>
          </a:p>
          <a:p>
            <a:pPr algn="just">
              <a:buNone/>
            </a:pPr>
            <a:r>
              <a:rPr lang="en-IN" sz="2800" b="1" dirty="0">
                <a:latin typeface="Calibri" pitchFamily="34" charset="0"/>
                <a:cs typeface="Calibri" pitchFamily="34" charset="0"/>
              </a:rPr>
              <a:t>Example 2:</a:t>
            </a:r>
            <a:endParaRPr lang="en-US" sz="2800" dirty="0">
              <a:latin typeface="Calibri" pitchFamily="34" charset="0"/>
              <a:cs typeface="Calibri" pitchFamily="34" charset="0"/>
            </a:endParaRPr>
          </a:p>
          <a:p>
            <a:pPr algn="just">
              <a:buNone/>
            </a:pPr>
            <a:r>
              <a:rPr lang="en-IN" sz="2800" dirty="0">
                <a:latin typeface="Calibri" pitchFamily="34" charset="0"/>
                <a:cs typeface="Calibri" pitchFamily="34" charset="0"/>
              </a:rPr>
              <a:t>As we have already discussed the example for writing different codes for sum of natural number in Day 3 PPT.</a:t>
            </a:r>
            <a:endParaRPr lang="en-IN" sz="2800" b="1" dirty="0">
              <a:latin typeface="Calibri" pitchFamily="34" charset="0"/>
              <a:cs typeface="Calibri" pitchFamily="34" charset="0"/>
            </a:endParaRPr>
          </a:p>
          <a:p>
            <a:pPr algn="just">
              <a:buNone/>
            </a:pPr>
            <a:r>
              <a:rPr lang="en-IN" sz="2800" b="1" dirty="0">
                <a:latin typeface="Calibri" pitchFamily="34" charset="0"/>
                <a:cs typeface="Calibri" pitchFamily="34" charset="0"/>
              </a:rPr>
              <a:t>Solution 2: </a:t>
            </a:r>
          </a:p>
          <a:p>
            <a:pPr algn="just">
              <a:buNone/>
            </a:pPr>
            <a:r>
              <a:rPr lang="en-IN" sz="2800" dirty="0">
                <a:latin typeface="Calibri" pitchFamily="34" charset="0"/>
                <a:cs typeface="Calibri" pitchFamily="34" charset="0"/>
              </a:rPr>
              <a:t>Here we analyse each code in terms of time and space complexity</a:t>
            </a:r>
            <a:endParaRPr lang="en-US" sz="2800" dirty="0">
              <a:latin typeface="Calibri" pitchFamily="34" charset="0"/>
              <a:cs typeface="Calibri" pitchFamily="34" charset="0"/>
            </a:endParaRPr>
          </a:p>
          <a:p>
            <a:endParaRPr lang="en-US" dirty="0"/>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91</a:t>
            </a:fld>
            <a:endParaRPr lang="en-US" altLang="en-US"/>
          </a:p>
        </p:txBody>
      </p:sp>
    </p:spTree>
    <p:extLst>
      <p:ext uri="{BB962C8B-B14F-4D97-AF65-F5344CB8AC3E}">
        <p14:creationId xmlns:p14="http://schemas.microsoft.com/office/powerpoint/2010/main" val="22594626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10515600" cy="1325563"/>
          </a:xfrm>
        </p:spPr>
        <p:txBody>
          <a:bodyPr/>
          <a:lstStyle/>
          <a:p>
            <a:r>
              <a:rPr lang="en-IN" dirty="0">
                <a:solidFill>
                  <a:schemeClr val="bg1"/>
                </a:solidFill>
              </a:rPr>
              <a:t>Analysis:</a:t>
            </a:r>
            <a:endParaRPr lang="en-US" dirty="0">
              <a:solidFill>
                <a:schemeClr val="bg1"/>
              </a:solidFill>
            </a:endParaRPr>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92</a:t>
            </a:fld>
            <a:endParaRPr lang="en-US" altLang="en-US"/>
          </a:p>
        </p:txBody>
      </p:sp>
      <p:pic>
        <p:nvPicPr>
          <p:cNvPr id="1026" name="Picture 2"/>
          <p:cNvPicPr>
            <a:picLocks noGrp="1" noChangeAspect="1" noChangeArrowheads="1"/>
          </p:cNvPicPr>
          <p:nvPr>
            <p:ph idx="4294967295"/>
          </p:nvPr>
        </p:nvPicPr>
        <p:blipFill>
          <a:blip r:embed="rId2"/>
          <a:srcRect/>
          <a:stretch>
            <a:fillRect/>
          </a:stretch>
        </p:blipFill>
        <p:spPr bwMode="auto">
          <a:xfrm>
            <a:off x="0" y="914400"/>
            <a:ext cx="11812555" cy="5029200"/>
          </a:xfrm>
          <a:prstGeom prst="rect">
            <a:avLst/>
          </a:prstGeom>
          <a:noFill/>
          <a:ln w="9525">
            <a:noFill/>
            <a:miter lim="800000"/>
            <a:headEnd/>
            <a:tailEnd/>
          </a:ln>
          <a:effectLst/>
        </p:spPr>
      </p:pic>
    </p:spTree>
    <p:extLst>
      <p:ext uri="{BB962C8B-B14F-4D97-AF65-F5344CB8AC3E}">
        <p14:creationId xmlns:p14="http://schemas.microsoft.com/office/powerpoint/2010/main" val="36257167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9357"/>
            <a:ext cx="10515600" cy="1325563"/>
          </a:xfrm>
        </p:spPr>
        <p:txBody>
          <a:bodyPr/>
          <a:lstStyle/>
          <a:p>
            <a:r>
              <a:rPr lang="en-IN" dirty="0">
                <a:solidFill>
                  <a:schemeClr val="bg1"/>
                </a:solidFill>
              </a:rPr>
              <a:t>Ana</a:t>
            </a:r>
            <a:r>
              <a:rPr lang="en-IN" dirty="0">
                <a:solidFill>
                  <a:schemeClr val="bg1"/>
                </a:solidFill>
                <a:latin typeface="Calibri" pitchFamily="34" charset="0"/>
                <a:cs typeface="Calibri" pitchFamily="34" charset="0"/>
              </a:rPr>
              <a:t>lysis</a:t>
            </a:r>
            <a:endParaRPr lang="en-US" dirty="0">
              <a:solidFill>
                <a:schemeClr val="bg1"/>
              </a:solidFill>
              <a:latin typeface="Calibri" pitchFamily="34" charset="0"/>
              <a:cs typeface="Calibri" pitchFamily="34" charset="0"/>
            </a:endParaRPr>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93</a:t>
            </a:fld>
            <a:endParaRPr lang="en-US" altLang="en-US"/>
          </a:p>
        </p:txBody>
      </p:sp>
      <p:pic>
        <p:nvPicPr>
          <p:cNvPr id="2050" name="Picture 2"/>
          <p:cNvPicPr>
            <a:picLocks noGrp="1" noChangeAspect="1" noChangeArrowheads="1"/>
          </p:cNvPicPr>
          <p:nvPr>
            <p:ph idx="4294967295"/>
          </p:nvPr>
        </p:nvPicPr>
        <p:blipFill>
          <a:blip r:embed="rId2"/>
          <a:srcRect/>
          <a:stretch>
            <a:fillRect/>
          </a:stretch>
        </p:blipFill>
        <p:spPr bwMode="auto">
          <a:xfrm>
            <a:off x="0" y="1219200"/>
            <a:ext cx="10972800" cy="3748088"/>
          </a:xfrm>
          <a:prstGeom prst="rect">
            <a:avLst/>
          </a:prstGeom>
          <a:noFill/>
          <a:ln w="9525">
            <a:noFill/>
            <a:miter lim="800000"/>
            <a:headEnd/>
            <a:tailEnd/>
          </a:ln>
          <a:effectLst/>
        </p:spPr>
      </p:pic>
    </p:spTree>
    <p:extLst>
      <p:ext uri="{BB962C8B-B14F-4D97-AF65-F5344CB8AC3E}">
        <p14:creationId xmlns:p14="http://schemas.microsoft.com/office/powerpoint/2010/main" val="32209753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1943184" cy="1325563"/>
          </a:xfrm>
        </p:spPr>
        <p:txBody>
          <a:bodyPr>
            <a:normAutofit/>
          </a:bodyPr>
          <a:lstStyle/>
          <a:p>
            <a:r>
              <a:rPr lang="en-IN" sz="3200" dirty="0">
                <a:solidFill>
                  <a:schemeClr val="bg1"/>
                </a:solidFill>
                <a:latin typeface="Calibri" pitchFamily="34" charset="0"/>
                <a:cs typeface="Calibri" pitchFamily="34" charset="0"/>
              </a:rPr>
              <a:t>Which method is better: Outcome of comparing different codes</a:t>
            </a:r>
            <a:endParaRPr lang="en-US" sz="3200" dirty="0">
              <a:solidFill>
                <a:schemeClr val="bg1"/>
              </a:solidFill>
              <a:latin typeface="Calibri" pitchFamily="34" charset="0"/>
              <a:cs typeface="Calibri" pitchFamily="34" charset="0"/>
            </a:endParaRPr>
          </a:p>
        </p:txBody>
      </p:sp>
      <p:sp>
        <p:nvSpPr>
          <p:cNvPr id="3" name="Content Placeholder 2"/>
          <p:cNvSpPr>
            <a:spLocks noGrp="1"/>
          </p:cNvSpPr>
          <p:nvPr>
            <p:ph idx="4294967295"/>
          </p:nvPr>
        </p:nvSpPr>
        <p:spPr>
          <a:xfrm>
            <a:off x="0" y="1452400"/>
            <a:ext cx="12008498" cy="4351338"/>
          </a:xfrm>
        </p:spPr>
        <p:txBody>
          <a:bodyPr/>
          <a:lstStyle/>
          <a:p>
            <a:pPr algn="just"/>
            <a:r>
              <a:rPr lang="en-IN" sz="2800" dirty="0">
                <a:latin typeface="Calibri" pitchFamily="34" charset="0"/>
                <a:cs typeface="Calibri" pitchFamily="34" charset="0"/>
              </a:rPr>
              <a:t>In day-to-day life we solve many problems and there are many possible ways to solve any problem. To find a best possible solution among them is analysis of algorithm.</a:t>
            </a:r>
          </a:p>
          <a:p>
            <a:pPr marL="0" indent="0" algn="just">
              <a:buNone/>
            </a:pPr>
            <a:endParaRPr lang="en-US" sz="2800" dirty="0">
              <a:latin typeface="Calibri" pitchFamily="34" charset="0"/>
              <a:cs typeface="Calibri" pitchFamily="34" charset="0"/>
            </a:endParaRPr>
          </a:p>
          <a:p>
            <a:pPr algn="just"/>
            <a:r>
              <a:rPr lang="en-IN" sz="2800" dirty="0">
                <a:latin typeface="Calibri" pitchFamily="34" charset="0"/>
                <a:cs typeface="Calibri" pitchFamily="34" charset="0"/>
              </a:rPr>
              <a:t>So, we can say that if we have any many possible solution of any problem and we analyse all the solution to select best one to reduce the complexity (made it easy) in terms of time and space</a:t>
            </a:r>
            <a:endParaRPr lang="en-US" sz="2800" dirty="0">
              <a:latin typeface="Calibri" pitchFamily="34" charset="0"/>
              <a:cs typeface="Calibri" pitchFamily="34" charset="0"/>
            </a:endParaRPr>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94</a:t>
            </a:fld>
            <a:endParaRPr lang="en-US" altLang="en-US"/>
          </a:p>
        </p:txBody>
      </p:sp>
    </p:spTree>
    <p:extLst>
      <p:ext uri="{BB962C8B-B14F-4D97-AF65-F5344CB8AC3E}">
        <p14:creationId xmlns:p14="http://schemas.microsoft.com/office/powerpoint/2010/main" val="16016480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266" name="Rectangle 2"/>
          <p:cNvSpPr>
            <a:spLocks noGrp="1" noChangeArrowheads="1"/>
          </p:cNvSpPr>
          <p:nvPr>
            <p:ph type="ctrTitle" idx="4294967295"/>
          </p:nvPr>
        </p:nvSpPr>
        <p:spPr>
          <a:xfrm>
            <a:off x="0" y="1295400"/>
            <a:ext cx="8420100" cy="914400"/>
          </a:xfrm>
          <a:effectLst/>
        </p:spPr>
        <p:txBody>
          <a:bodyPr>
            <a:normAutofit fontScale="90000"/>
          </a:bodyPr>
          <a:lstStyle/>
          <a:p>
            <a:br>
              <a:rPr lang="en-IN" sz="3600" dirty="0">
                <a:solidFill>
                  <a:schemeClr val="tx1"/>
                </a:solidFill>
                <a:effectLst>
                  <a:outerShdw blurRad="38100" dist="38100" dir="2700000" algn="tl">
                    <a:srgbClr val="000000">
                      <a:alpha val="43137"/>
                    </a:srgbClr>
                  </a:outerShdw>
                </a:effectLst>
                <a:latin typeface="Calibri" pitchFamily="34" charset="0"/>
                <a:cs typeface="Calibri" pitchFamily="34" charset="0"/>
              </a:rPr>
            </a:br>
            <a:r>
              <a:rPr lang="en-IN" sz="3600" dirty="0">
                <a:solidFill>
                  <a:schemeClr val="tx1"/>
                </a:solidFill>
                <a:effectLst>
                  <a:outerShdw blurRad="38100" dist="38100" dir="2700000" algn="tl">
                    <a:srgbClr val="000000">
                      <a:alpha val="43137"/>
                    </a:srgbClr>
                  </a:outerShdw>
                </a:effectLst>
                <a:latin typeface="Calibri" pitchFamily="34" charset="0"/>
                <a:cs typeface="Calibri" pitchFamily="34" charset="0"/>
              </a:rPr>
              <a:t>Different Cases of Analysing a Problem:</a:t>
            </a:r>
            <a:br>
              <a:rPr sz="3600" dirty="0"/>
            </a:br>
            <a:r>
              <a:rPr lang="en-IN" sz="3600" dirty="0"/>
              <a:t> </a:t>
            </a:r>
            <a:endParaRPr sz="3600" dirty="0"/>
          </a:p>
        </p:txBody>
      </p:sp>
    </p:spTree>
    <p:extLst>
      <p:ext uri="{BB962C8B-B14F-4D97-AF65-F5344CB8AC3E}">
        <p14:creationId xmlns:p14="http://schemas.microsoft.com/office/powerpoint/2010/main" val="1336667048"/>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3844"/>
            <a:ext cx="10515600" cy="1325563"/>
          </a:xfrm>
        </p:spPr>
        <p:txBody>
          <a:bodyPr/>
          <a:lstStyle/>
          <a:p>
            <a:r>
              <a:rPr dirty="0">
                <a:solidFill>
                  <a:schemeClr val="bg1"/>
                </a:solidFill>
                <a:latin typeface="Calibri" pitchFamily="34" charset="0"/>
                <a:ea typeface="Times New Roman" pitchFamily="18" charset="0"/>
                <a:cs typeface="Calibri" pitchFamily="34" charset="0"/>
              </a:rPr>
              <a:t>Different Cases to analyze any problem</a:t>
            </a:r>
            <a:endParaRPr lang="en-US" dirty="0">
              <a:solidFill>
                <a:schemeClr val="bg1"/>
              </a:solidFill>
            </a:endParaRPr>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96</a:t>
            </a:fld>
            <a:endParaRPr lang="en-US" altLang="en-US"/>
          </a:p>
        </p:txBody>
      </p:sp>
      <p:sp>
        <p:nvSpPr>
          <p:cNvPr id="16385" name="Rectangle 1"/>
          <p:cNvSpPr>
            <a:spLocks noGrp="1" noChangeArrowheads="1"/>
          </p:cNvSpPr>
          <p:nvPr>
            <p:ph idx="4294967295"/>
          </p:nvPr>
        </p:nvSpPr>
        <p:spPr bwMode="auto">
          <a:xfrm>
            <a:off x="0" y="575604"/>
            <a:ext cx="11756571" cy="491621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1" i="1" u="none" strike="noStrike" cap="none" normalizeH="0" baseline="0" dirty="0">
                <a:ln>
                  <a:noFill/>
                </a:ln>
                <a:solidFill>
                  <a:schemeClr val="tx1"/>
                </a:solidFill>
                <a:effectLst/>
                <a:latin typeface="Calibri" panose="020F0502020204030204" pitchFamily="34" charset="0"/>
                <a:ea typeface="Times New Roman" pitchFamily="18" charset="0"/>
                <a:cs typeface="Calibri" pitchFamily="34" charset="0"/>
              </a:rPr>
              <a:t>In order to analyze the solutions of any problem we have to understand three cases:</a:t>
            </a:r>
            <a:endParaRPr kumimoji="0" 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Calibri" panose="020F0502020204030204" pitchFamily="34" charset="0"/>
                <a:ea typeface="Times New Roman" pitchFamily="18" charset="0"/>
                <a:cs typeface="Calibri" pitchFamily="34" charset="0"/>
              </a:rPr>
              <a:t>Three cases to analyze any problem:</a:t>
            </a:r>
            <a:endParaRPr kumimoji="0" 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Calibri" pitchFamily="34" charset="0"/>
                <a:ea typeface="Times New Roman" pitchFamily="18" charset="0"/>
                <a:cs typeface="Calibri" pitchFamily="34" charset="0"/>
              </a:rPr>
              <a:t>Best Case</a:t>
            </a:r>
            <a:endParaRPr kumimoji="0" lang="en-US" b="0" i="0" u="none" strike="noStrike" cap="none" normalizeH="0" baseline="0" dirty="0">
              <a:ln>
                <a:noFill/>
              </a:ln>
              <a:solidFill>
                <a:schemeClr val="tx1"/>
              </a:solidFill>
              <a:effectLst/>
              <a:latin typeface="Calibri" pitchFamily="34" charset="0"/>
              <a:cs typeface="Calibri"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Calibri" pitchFamily="34" charset="0"/>
                <a:ea typeface="Times New Roman" pitchFamily="18" charset="0"/>
                <a:cs typeface="Calibri" pitchFamily="34" charset="0"/>
              </a:rPr>
              <a:t>Average Case</a:t>
            </a:r>
            <a:endParaRPr kumimoji="0" lang="en-US" b="0" i="0" u="none" strike="noStrike" cap="none" normalizeH="0" baseline="0" dirty="0">
              <a:ln>
                <a:noFill/>
              </a:ln>
              <a:solidFill>
                <a:schemeClr val="tx1"/>
              </a:solidFill>
              <a:effectLst/>
              <a:latin typeface="Calibri" pitchFamily="34" charset="0"/>
              <a:cs typeface="Calibri"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Calibri" pitchFamily="34" charset="0"/>
                <a:ea typeface="Times New Roman" pitchFamily="18" charset="0"/>
                <a:cs typeface="Calibri" pitchFamily="34" charset="0"/>
              </a:rPr>
              <a:t>Worst Case</a:t>
            </a:r>
          </a:p>
          <a:p>
            <a:pPr>
              <a:buNone/>
            </a:pPr>
            <a:r>
              <a:rPr lang="en-IN" dirty="0">
                <a:latin typeface="Calibri" pitchFamily="34" charset="0"/>
                <a:cs typeface="Calibri" pitchFamily="34" charset="0"/>
              </a:rPr>
              <a:t>To understand these cases,</a:t>
            </a:r>
            <a:r>
              <a:rPr lang="en-IN" b="1" dirty="0">
                <a:latin typeface="Calibri" pitchFamily="34" charset="0"/>
                <a:cs typeface="Calibri" pitchFamily="34" charset="0"/>
              </a:rPr>
              <a:t> </a:t>
            </a:r>
            <a:endParaRPr lang="en-US" dirty="0">
              <a:latin typeface="Calibri" pitchFamily="34" charset="0"/>
              <a:cs typeface="Calibri" pitchFamily="34" charset="0"/>
            </a:endParaRPr>
          </a:p>
          <a:p>
            <a:r>
              <a:rPr lang="en-IN" b="1" dirty="0">
                <a:latin typeface="Calibri" pitchFamily="34" charset="0"/>
                <a:cs typeface="Calibri" pitchFamily="34" charset="0"/>
              </a:rPr>
              <a:t>Problem 1</a:t>
            </a:r>
            <a:r>
              <a:rPr lang="en-IN" dirty="0">
                <a:latin typeface="Calibri" pitchFamily="34" charset="0"/>
                <a:cs typeface="Calibri" pitchFamily="34" charset="0"/>
              </a:rPr>
              <a:t>: Consider given array of random elements, we have to categorize best, worst and average case. In this example, searching of an element is done.</a:t>
            </a:r>
            <a:endParaRPr kumimoji="0" lang="en-IN" b="0" i="0" u="none" strike="noStrike" cap="none" normalizeH="0" baseline="0" dirty="0">
              <a:ln>
                <a:noFill/>
              </a:ln>
              <a:solidFill>
                <a:schemeClr val="tx1"/>
              </a:solidFill>
              <a:effectLst/>
              <a:latin typeface="Calibri" pitchFamily="34" charset="0"/>
              <a:cs typeface="Calibri"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IN" dirty="0">
              <a:solidFill>
                <a:schemeClr val="tx1"/>
              </a:solidFill>
              <a:latin typeface="Calibri" pitchFamily="34" charset="0"/>
              <a:cs typeface="Calibri" pitchFamily="34"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857286"/>
            <a:ext cx="9677400" cy="1066800"/>
          </a:xfrm>
          <a:prstGeom prst="rect">
            <a:avLst/>
          </a:prstGeom>
          <a:noFill/>
          <a:ln>
            <a:noFill/>
          </a:ln>
        </p:spPr>
      </p:pic>
    </p:spTree>
    <p:extLst>
      <p:ext uri="{BB962C8B-B14F-4D97-AF65-F5344CB8AC3E}">
        <p14:creationId xmlns:p14="http://schemas.microsoft.com/office/powerpoint/2010/main" val="30126673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3414"/>
            <a:ext cx="10515600" cy="1325563"/>
          </a:xfrm>
        </p:spPr>
        <p:txBody>
          <a:bodyPr/>
          <a:lstStyle/>
          <a:p>
            <a:pPr lvl="0"/>
            <a:r>
              <a:rPr lang="en-IN" dirty="0">
                <a:solidFill>
                  <a:schemeClr val="bg1"/>
                </a:solidFill>
              </a:rPr>
              <a:t>Best Case: </a:t>
            </a:r>
            <a:br>
              <a:rPr dirty="0">
                <a:solidFill>
                  <a:schemeClr val="bg1"/>
                </a:solidFill>
              </a:rPr>
            </a:br>
            <a:endParaRPr lang="en-US" dirty="0">
              <a:solidFill>
                <a:schemeClr val="bg1"/>
              </a:solidFill>
            </a:endParaRPr>
          </a:p>
        </p:txBody>
      </p:sp>
      <p:sp>
        <p:nvSpPr>
          <p:cNvPr id="3" name="Content Placeholder 2"/>
          <p:cNvSpPr>
            <a:spLocks noGrp="1"/>
          </p:cNvSpPr>
          <p:nvPr>
            <p:ph idx="4294967295"/>
          </p:nvPr>
        </p:nvSpPr>
        <p:spPr>
          <a:xfrm>
            <a:off x="0" y="1825625"/>
            <a:ext cx="10515600" cy="4351338"/>
          </a:xfrm>
        </p:spPr>
        <p:txBody>
          <a:bodyPr/>
          <a:lstStyle/>
          <a:p>
            <a:pPr lvl="0"/>
            <a:r>
              <a:rPr lang="en-IN" dirty="0">
                <a:latin typeface="Calibri" pitchFamily="34" charset="0"/>
                <a:cs typeface="Calibri" pitchFamily="34" charset="0"/>
              </a:rPr>
              <a:t>Search element 5 in given array and check element one by one.</a:t>
            </a:r>
          </a:p>
          <a:p>
            <a:pPr lvl="0"/>
            <a:endParaRPr lang="en-US" dirty="0">
              <a:latin typeface="Calibri" pitchFamily="34" charset="0"/>
              <a:cs typeface="Calibri" pitchFamily="34" charset="0"/>
            </a:endParaRPr>
          </a:p>
          <a:p>
            <a:pPr lvl="0"/>
            <a:r>
              <a:rPr lang="en-IN" dirty="0">
                <a:latin typeface="Calibri" pitchFamily="34" charset="0"/>
                <a:cs typeface="Calibri" pitchFamily="34" charset="0"/>
              </a:rPr>
              <a:t>Start with index 0and found the element at first attempt. </a:t>
            </a:r>
          </a:p>
          <a:p>
            <a:pPr lvl="0"/>
            <a:endParaRPr lang="en-US" dirty="0">
              <a:latin typeface="Calibri" pitchFamily="34" charset="0"/>
              <a:cs typeface="Calibri" pitchFamily="34" charset="0"/>
            </a:endParaRPr>
          </a:p>
          <a:p>
            <a:r>
              <a:rPr lang="en-IN" dirty="0">
                <a:latin typeface="Calibri" pitchFamily="34" charset="0"/>
                <a:cs typeface="Calibri" pitchFamily="34" charset="0"/>
              </a:rPr>
              <a:t>What could be better than this that element found in first attempt? This is best condition to search any element.</a:t>
            </a:r>
            <a:endParaRPr lang="en-US" dirty="0">
              <a:latin typeface="Calibri" pitchFamily="34" charset="0"/>
              <a:cs typeface="Calibri" pitchFamily="34" charset="0"/>
            </a:endParaRPr>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97</a:t>
            </a:fld>
            <a:endParaRPr lang="en-US" altLang="en-US"/>
          </a:p>
        </p:txBody>
      </p:sp>
    </p:spTree>
    <p:extLst>
      <p:ext uri="{BB962C8B-B14F-4D97-AF65-F5344CB8AC3E}">
        <p14:creationId xmlns:p14="http://schemas.microsoft.com/office/powerpoint/2010/main" val="13382869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7322" y="0"/>
            <a:ext cx="10515600" cy="1325563"/>
          </a:xfrm>
        </p:spPr>
        <p:txBody>
          <a:bodyPr/>
          <a:lstStyle/>
          <a:p>
            <a:pPr lvl="0"/>
            <a:r>
              <a:rPr lang="en-IN" dirty="0">
                <a:solidFill>
                  <a:schemeClr val="bg1"/>
                </a:solidFill>
              </a:rPr>
              <a:t>Average Case:</a:t>
            </a:r>
            <a:br>
              <a:rPr dirty="0">
                <a:solidFill>
                  <a:schemeClr val="bg1"/>
                </a:solidFill>
              </a:rPr>
            </a:br>
            <a:endParaRPr lang="en-US" dirty="0">
              <a:solidFill>
                <a:schemeClr val="bg1"/>
              </a:solidFill>
            </a:endParaRPr>
          </a:p>
        </p:txBody>
      </p:sp>
      <p:sp>
        <p:nvSpPr>
          <p:cNvPr id="3" name="Content Placeholder 2"/>
          <p:cNvSpPr>
            <a:spLocks noGrp="1"/>
          </p:cNvSpPr>
          <p:nvPr>
            <p:ph idx="4294967295"/>
          </p:nvPr>
        </p:nvSpPr>
        <p:spPr>
          <a:xfrm>
            <a:off x="-1" y="1066800"/>
            <a:ext cx="11691257" cy="4634204"/>
          </a:xfrm>
        </p:spPr>
        <p:txBody>
          <a:bodyPr>
            <a:normAutofit fontScale="85000" lnSpcReduction="20000"/>
          </a:bodyPr>
          <a:lstStyle/>
          <a:p>
            <a:pPr lvl="0"/>
            <a:r>
              <a:rPr lang="en-IN" dirty="0">
                <a:latin typeface="Calibri" pitchFamily="34" charset="0"/>
                <a:cs typeface="Calibri" pitchFamily="34" charset="0"/>
              </a:rPr>
              <a:t>Search element 15 in given array and check element one by one.</a:t>
            </a:r>
            <a:endParaRPr lang="en-US" dirty="0">
              <a:latin typeface="Calibri" pitchFamily="34" charset="0"/>
              <a:cs typeface="Calibri" pitchFamily="34" charset="0"/>
            </a:endParaRPr>
          </a:p>
          <a:p>
            <a:pPr lvl="0"/>
            <a:r>
              <a:rPr lang="en-IN" dirty="0">
                <a:latin typeface="Calibri" pitchFamily="34" charset="0"/>
                <a:cs typeface="Calibri" pitchFamily="34" charset="0"/>
              </a:rPr>
              <a:t>Start with index 0. First search at 0th index not found.</a:t>
            </a:r>
            <a:endParaRPr lang="en-US" dirty="0">
              <a:latin typeface="Calibri" pitchFamily="34" charset="0"/>
              <a:cs typeface="Calibri" pitchFamily="34" charset="0"/>
            </a:endParaRPr>
          </a:p>
          <a:p>
            <a:pPr lvl="0"/>
            <a:r>
              <a:rPr lang="en-IN" dirty="0">
                <a:latin typeface="Calibri" pitchFamily="34" charset="0"/>
                <a:cs typeface="Calibri" pitchFamily="34" charset="0"/>
              </a:rPr>
              <a:t>Search at 1st index not found </a:t>
            </a:r>
            <a:endParaRPr lang="en-US" dirty="0">
              <a:latin typeface="Calibri" pitchFamily="34" charset="0"/>
              <a:cs typeface="Calibri" pitchFamily="34" charset="0"/>
            </a:endParaRPr>
          </a:p>
          <a:p>
            <a:pPr lvl="0"/>
            <a:r>
              <a:rPr lang="en-IN" dirty="0">
                <a:latin typeface="Calibri" pitchFamily="34" charset="0"/>
                <a:cs typeface="Calibri" pitchFamily="34" charset="0"/>
              </a:rPr>
              <a:t>Repeat this step till element found.</a:t>
            </a:r>
            <a:endParaRPr lang="en-US" dirty="0">
              <a:latin typeface="Calibri" pitchFamily="34" charset="0"/>
              <a:cs typeface="Calibri" pitchFamily="34" charset="0"/>
            </a:endParaRPr>
          </a:p>
          <a:p>
            <a:pPr lvl="0"/>
            <a:r>
              <a:rPr lang="en-IN" dirty="0">
                <a:latin typeface="Calibri" pitchFamily="34" charset="0"/>
                <a:cs typeface="Calibri" pitchFamily="34" charset="0"/>
              </a:rPr>
              <a:t>Element 15 found at 4th index.</a:t>
            </a:r>
            <a:endParaRPr lang="en-US" dirty="0">
              <a:latin typeface="Calibri" pitchFamily="34" charset="0"/>
              <a:cs typeface="Calibri" pitchFamily="34" charset="0"/>
            </a:endParaRPr>
          </a:p>
          <a:p>
            <a:pPr marL="0" indent="0">
              <a:buNone/>
            </a:pPr>
            <a:endParaRPr lang="en-IN" b="1" dirty="0">
              <a:latin typeface="Calibri" pitchFamily="34" charset="0"/>
              <a:cs typeface="Calibri" pitchFamily="34" charset="0"/>
            </a:endParaRPr>
          </a:p>
          <a:p>
            <a:pPr marL="0" indent="0">
              <a:buNone/>
            </a:pPr>
            <a:r>
              <a:rPr lang="en-IN" b="1" dirty="0">
                <a:latin typeface="Calibri" pitchFamily="34" charset="0"/>
                <a:cs typeface="Calibri" pitchFamily="34" charset="0"/>
              </a:rPr>
              <a:t>Size of array=</a:t>
            </a:r>
            <a:r>
              <a:rPr lang="en-IN" dirty="0">
                <a:latin typeface="Calibri" pitchFamily="34" charset="0"/>
                <a:cs typeface="Calibri" pitchFamily="34" charset="0"/>
              </a:rPr>
              <a:t> 10 (0 to 9)</a:t>
            </a:r>
            <a:endParaRPr lang="en-US" dirty="0">
              <a:latin typeface="Calibri" pitchFamily="34" charset="0"/>
              <a:cs typeface="Calibri" pitchFamily="34" charset="0"/>
            </a:endParaRPr>
          </a:p>
          <a:p>
            <a:pPr marL="0" indent="0">
              <a:buNone/>
            </a:pPr>
            <a:r>
              <a:rPr lang="en-IN" b="1" dirty="0">
                <a:latin typeface="Calibri" pitchFamily="34" charset="0"/>
                <a:cs typeface="Calibri" pitchFamily="34" charset="0"/>
              </a:rPr>
              <a:t>Number of comparisons required</a:t>
            </a:r>
            <a:r>
              <a:rPr lang="en-IN" dirty="0">
                <a:latin typeface="Calibri" pitchFamily="34" charset="0"/>
                <a:cs typeface="Calibri" pitchFamily="34" charset="0"/>
              </a:rPr>
              <a:t>= 5 (0, 1, 2, 3, 4)</a:t>
            </a:r>
          </a:p>
          <a:p>
            <a:pPr marL="0" indent="0">
              <a:buNone/>
            </a:pPr>
            <a:endParaRPr lang="en-US" dirty="0">
              <a:latin typeface="Calibri" pitchFamily="34" charset="0"/>
              <a:cs typeface="Calibri" pitchFamily="34" charset="0"/>
            </a:endParaRPr>
          </a:p>
          <a:p>
            <a:r>
              <a:rPr lang="en-IN" dirty="0">
                <a:latin typeface="Calibri" pitchFamily="34" charset="0"/>
                <a:cs typeface="Calibri" pitchFamily="34" charset="0"/>
              </a:rPr>
              <a:t>  Almost half of the array size comparison required to search element (n/2 where n is size of array)</a:t>
            </a:r>
            <a:endParaRPr lang="en-US" dirty="0">
              <a:latin typeface="Calibri" pitchFamily="34" charset="0"/>
              <a:cs typeface="Calibri" pitchFamily="34" charset="0"/>
            </a:endParaRPr>
          </a:p>
          <a:p>
            <a:r>
              <a:rPr lang="en-IN" dirty="0">
                <a:latin typeface="Calibri" pitchFamily="34" charset="0"/>
                <a:cs typeface="Calibri" pitchFamily="34" charset="0"/>
              </a:rPr>
              <a:t>  This is average case where we found the element after n/2 comparisons.</a:t>
            </a:r>
            <a:endParaRPr lang="en-US" dirty="0">
              <a:latin typeface="Calibri" pitchFamily="34" charset="0"/>
              <a:cs typeface="Calibri" pitchFamily="34" charset="0"/>
            </a:endParaRPr>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98</a:t>
            </a:fld>
            <a:endParaRPr lang="en-US" altLang="en-US"/>
          </a:p>
        </p:txBody>
      </p:sp>
    </p:spTree>
    <p:extLst>
      <p:ext uri="{BB962C8B-B14F-4D97-AF65-F5344CB8AC3E}">
        <p14:creationId xmlns:p14="http://schemas.microsoft.com/office/powerpoint/2010/main" val="4297246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76050"/>
            <a:ext cx="10515600" cy="1325563"/>
          </a:xfrm>
        </p:spPr>
        <p:txBody>
          <a:bodyPr/>
          <a:lstStyle/>
          <a:p>
            <a:pPr lvl="0"/>
            <a:r>
              <a:rPr lang="en-IN" dirty="0">
                <a:solidFill>
                  <a:schemeClr val="bg1"/>
                </a:solidFill>
              </a:rPr>
              <a:t> Worst Case:</a:t>
            </a:r>
            <a:endParaRPr lang="en-US" dirty="0">
              <a:solidFill>
                <a:schemeClr val="bg1"/>
              </a:solidFill>
            </a:endParaRPr>
          </a:p>
        </p:txBody>
      </p:sp>
      <p:sp>
        <p:nvSpPr>
          <p:cNvPr id="3" name="Content Placeholder 2"/>
          <p:cNvSpPr>
            <a:spLocks noGrp="1"/>
          </p:cNvSpPr>
          <p:nvPr>
            <p:ph idx="4294967295"/>
          </p:nvPr>
        </p:nvSpPr>
        <p:spPr>
          <a:xfrm>
            <a:off x="130628" y="1149513"/>
            <a:ext cx="11719250" cy="4351338"/>
          </a:xfrm>
        </p:spPr>
        <p:txBody>
          <a:bodyPr>
            <a:normAutofit fontScale="85000" lnSpcReduction="20000"/>
          </a:bodyPr>
          <a:lstStyle/>
          <a:p>
            <a:pPr lvl="0"/>
            <a:r>
              <a:rPr lang="en-IN" dirty="0">
                <a:latin typeface="Calibri" pitchFamily="34" charset="0"/>
                <a:cs typeface="Calibri" pitchFamily="34" charset="0"/>
              </a:rPr>
              <a:t>Search element 4 in given array and check element one by one.</a:t>
            </a:r>
            <a:endParaRPr lang="en-US" dirty="0">
              <a:latin typeface="Calibri" pitchFamily="34" charset="0"/>
              <a:cs typeface="Calibri" pitchFamily="34" charset="0"/>
            </a:endParaRPr>
          </a:p>
          <a:p>
            <a:pPr lvl="0"/>
            <a:r>
              <a:rPr lang="en-IN" dirty="0">
                <a:latin typeface="Calibri" pitchFamily="34" charset="0"/>
                <a:cs typeface="Calibri" pitchFamily="34" charset="0"/>
              </a:rPr>
              <a:t>Start with index 0. First search at 0th index not found.</a:t>
            </a:r>
            <a:endParaRPr lang="en-US" dirty="0">
              <a:latin typeface="Calibri" pitchFamily="34" charset="0"/>
              <a:cs typeface="Calibri" pitchFamily="34" charset="0"/>
            </a:endParaRPr>
          </a:p>
          <a:p>
            <a:pPr lvl="0"/>
            <a:r>
              <a:rPr lang="en-IN" dirty="0">
                <a:latin typeface="Calibri" pitchFamily="34" charset="0"/>
                <a:cs typeface="Calibri" pitchFamily="34" charset="0"/>
              </a:rPr>
              <a:t>Search at 1st index not found </a:t>
            </a:r>
            <a:endParaRPr lang="en-US" dirty="0">
              <a:latin typeface="Calibri" pitchFamily="34" charset="0"/>
              <a:cs typeface="Calibri" pitchFamily="34" charset="0"/>
            </a:endParaRPr>
          </a:p>
          <a:p>
            <a:pPr lvl="0"/>
            <a:r>
              <a:rPr lang="en-IN" dirty="0">
                <a:latin typeface="Calibri" pitchFamily="34" charset="0"/>
                <a:cs typeface="Calibri" pitchFamily="34" charset="0"/>
              </a:rPr>
              <a:t>Repeat this step till element found.</a:t>
            </a:r>
            <a:endParaRPr lang="en-US" dirty="0">
              <a:latin typeface="Calibri" pitchFamily="34" charset="0"/>
              <a:cs typeface="Calibri" pitchFamily="34" charset="0"/>
            </a:endParaRPr>
          </a:p>
          <a:p>
            <a:pPr lvl="0"/>
            <a:r>
              <a:rPr lang="en-IN" dirty="0">
                <a:latin typeface="Calibri" pitchFamily="34" charset="0"/>
                <a:cs typeface="Calibri" pitchFamily="34" charset="0"/>
              </a:rPr>
              <a:t>Element 4 found at last index.</a:t>
            </a:r>
          </a:p>
          <a:p>
            <a:pPr lvl="0"/>
            <a:endParaRPr lang="en-US" dirty="0">
              <a:latin typeface="Calibri" pitchFamily="34" charset="0"/>
              <a:cs typeface="Calibri" pitchFamily="34" charset="0"/>
            </a:endParaRPr>
          </a:p>
          <a:p>
            <a:pPr marL="0" indent="0">
              <a:buNone/>
            </a:pPr>
            <a:r>
              <a:rPr lang="en-IN" b="1" dirty="0">
                <a:latin typeface="Calibri" pitchFamily="34" charset="0"/>
                <a:cs typeface="Calibri" pitchFamily="34" charset="0"/>
              </a:rPr>
              <a:t>Size of array=</a:t>
            </a:r>
            <a:r>
              <a:rPr lang="en-IN" dirty="0">
                <a:latin typeface="Calibri" pitchFamily="34" charset="0"/>
                <a:cs typeface="Calibri" pitchFamily="34" charset="0"/>
              </a:rPr>
              <a:t> 10 (0 to 9)</a:t>
            </a:r>
            <a:endParaRPr lang="en-US" dirty="0">
              <a:latin typeface="Calibri" pitchFamily="34" charset="0"/>
              <a:cs typeface="Calibri" pitchFamily="34" charset="0"/>
            </a:endParaRPr>
          </a:p>
          <a:p>
            <a:pPr marL="0" indent="0">
              <a:buNone/>
            </a:pPr>
            <a:r>
              <a:rPr lang="en-IN" b="1" dirty="0">
                <a:latin typeface="Calibri" pitchFamily="34" charset="0"/>
                <a:cs typeface="Calibri" pitchFamily="34" charset="0"/>
              </a:rPr>
              <a:t>Number of comparisons required=</a:t>
            </a:r>
            <a:r>
              <a:rPr lang="en-IN" dirty="0">
                <a:latin typeface="Calibri" pitchFamily="34" charset="0"/>
                <a:cs typeface="Calibri" pitchFamily="34" charset="0"/>
              </a:rPr>
              <a:t> 10 (0, 1, 2, ….9)</a:t>
            </a:r>
          </a:p>
          <a:p>
            <a:pPr>
              <a:buNone/>
            </a:pPr>
            <a:endParaRPr lang="en-US" dirty="0">
              <a:latin typeface="Calibri" pitchFamily="34" charset="0"/>
              <a:cs typeface="Calibri" pitchFamily="34" charset="0"/>
            </a:endParaRPr>
          </a:p>
          <a:p>
            <a:pPr>
              <a:buNone/>
            </a:pPr>
            <a:r>
              <a:rPr lang="en-IN" dirty="0">
                <a:latin typeface="Calibri" pitchFamily="34" charset="0"/>
                <a:cs typeface="Calibri" pitchFamily="34" charset="0"/>
              </a:rPr>
              <a:t>In this case we have traversed complete array and element found at last index.</a:t>
            </a:r>
          </a:p>
          <a:p>
            <a:pPr>
              <a:buNone/>
            </a:pPr>
            <a:r>
              <a:rPr lang="en-IN" dirty="0">
                <a:latin typeface="Calibri" pitchFamily="34" charset="0"/>
                <a:cs typeface="Calibri" pitchFamily="34" charset="0"/>
              </a:rPr>
              <a:t>Maximum comparison can be made is size of array this is worst case. </a:t>
            </a:r>
            <a:endParaRPr lang="en-US" dirty="0">
              <a:latin typeface="Calibri" pitchFamily="34" charset="0"/>
              <a:cs typeface="Calibri" pitchFamily="34" charset="0"/>
            </a:endParaRPr>
          </a:p>
          <a:p>
            <a:endParaRPr lang="en-US" dirty="0"/>
          </a:p>
          <a:p>
            <a:endParaRPr lang="en-US" dirty="0"/>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99</a:t>
            </a:fld>
            <a:endParaRPr lang="en-US" altLang="en-US"/>
          </a:p>
        </p:txBody>
      </p:sp>
    </p:spTree>
    <p:extLst>
      <p:ext uri="{BB962C8B-B14F-4D97-AF65-F5344CB8AC3E}">
        <p14:creationId xmlns:p14="http://schemas.microsoft.com/office/powerpoint/2010/main" val="8109126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913938" cy="1017588"/>
          </a:xfrm>
        </p:spPr>
        <p:txBody>
          <a:bodyPr/>
          <a:lstStyle/>
          <a:p>
            <a:r>
              <a:rPr lang="en-IN" dirty="0">
                <a:solidFill>
                  <a:schemeClr val="bg1"/>
                </a:solidFill>
              </a:rPr>
              <a:t>Searching another element in an array </a:t>
            </a:r>
            <a:endParaRPr lang="en-US" dirty="0">
              <a:solidFill>
                <a:schemeClr val="bg1"/>
              </a:solidFill>
            </a:endParaRPr>
          </a:p>
        </p:txBody>
      </p:sp>
      <p:sp>
        <p:nvSpPr>
          <p:cNvPr id="3" name="Content Placeholder 2"/>
          <p:cNvSpPr>
            <a:spLocks noGrp="1"/>
          </p:cNvSpPr>
          <p:nvPr>
            <p:ph idx="4294967295"/>
          </p:nvPr>
        </p:nvSpPr>
        <p:spPr>
          <a:xfrm>
            <a:off x="167950" y="1253331"/>
            <a:ext cx="11756571" cy="4351338"/>
          </a:xfrm>
        </p:spPr>
        <p:txBody>
          <a:bodyPr>
            <a:normAutofit fontScale="85000" lnSpcReduction="20000"/>
          </a:bodyPr>
          <a:lstStyle/>
          <a:p>
            <a:pPr lvl="0"/>
            <a:r>
              <a:rPr lang="en-IN" dirty="0">
                <a:latin typeface="Calibri" pitchFamily="34" charset="0"/>
                <a:cs typeface="Calibri" pitchFamily="34" charset="0"/>
              </a:rPr>
              <a:t>Search element 19 in given array and check element one by one.</a:t>
            </a:r>
            <a:endParaRPr lang="en-US" dirty="0">
              <a:latin typeface="Calibri" pitchFamily="34" charset="0"/>
              <a:cs typeface="Calibri" pitchFamily="34" charset="0"/>
            </a:endParaRPr>
          </a:p>
          <a:p>
            <a:pPr lvl="0"/>
            <a:r>
              <a:rPr lang="en-IN" dirty="0">
                <a:latin typeface="Calibri" pitchFamily="34" charset="0"/>
                <a:cs typeface="Calibri" pitchFamily="34" charset="0"/>
              </a:rPr>
              <a:t>Start with index 0. First search at 0th index not found.</a:t>
            </a:r>
            <a:endParaRPr lang="en-US" dirty="0">
              <a:latin typeface="Calibri" pitchFamily="34" charset="0"/>
              <a:cs typeface="Calibri" pitchFamily="34" charset="0"/>
            </a:endParaRPr>
          </a:p>
          <a:p>
            <a:pPr lvl="0"/>
            <a:r>
              <a:rPr lang="en-IN" dirty="0">
                <a:latin typeface="Calibri" pitchFamily="34" charset="0"/>
                <a:cs typeface="Calibri" pitchFamily="34" charset="0"/>
              </a:rPr>
              <a:t>Search at 1st index not found </a:t>
            </a:r>
            <a:endParaRPr lang="en-US" dirty="0">
              <a:latin typeface="Calibri" pitchFamily="34" charset="0"/>
              <a:cs typeface="Calibri" pitchFamily="34" charset="0"/>
            </a:endParaRPr>
          </a:p>
          <a:p>
            <a:pPr lvl="0"/>
            <a:r>
              <a:rPr lang="en-IN" dirty="0">
                <a:latin typeface="Calibri" pitchFamily="34" charset="0"/>
                <a:cs typeface="Calibri" pitchFamily="34" charset="0"/>
              </a:rPr>
              <a:t>Repeat this step till element found.</a:t>
            </a:r>
            <a:endParaRPr lang="en-US" dirty="0">
              <a:latin typeface="Calibri" pitchFamily="34" charset="0"/>
              <a:cs typeface="Calibri" pitchFamily="34" charset="0"/>
            </a:endParaRPr>
          </a:p>
          <a:p>
            <a:pPr lvl="0"/>
            <a:r>
              <a:rPr lang="en-IN" dirty="0">
                <a:latin typeface="Calibri" pitchFamily="34" charset="0"/>
                <a:cs typeface="Calibri" pitchFamily="34" charset="0"/>
              </a:rPr>
              <a:t>Element 19 not found in array.</a:t>
            </a:r>
            <a:endParaRPr lang="en-US" dirty="0">
              <a:latin typeface="Calibri" pitchFamily="34" charset="0"/>
              <a:cs typeface="Calibri" pitchFamily="34" charset="0"/>
            </a:endParaRPr>
          </a:p>
          <a:p>
            <a:pPr marL="0" indent="0">
              <a:buNone/>
            </a:pPr>
            <a:endParaRPr lang="en-IN" b="1" dirty="0">
              <a:latin typeface="Calibri" pitchFamily="34" charset="0"/>
              <a:cs typeface="Calibri" pitchFamily="34" charset="0"/>
            </a:endParaRPr>
          </a:p>
          <a:p>
            <a:pPr marL="0" indent="0">
              <a:buNone/>
            </a:pPr>
            <a:r>
              <a:rPr lang="en-IN" b="1" dirty="0">
                <a:latin typeface="Calibri" pitchFamily="34" charset="0"/>
                <a:cs typeface="Calibri" pitchFamily="34" charset="0"/>
              </a:rPr>
              <a:t>Size of array=</a:t>
            </a:r>
            <a:r>
              <a:rPr lang="en-IN" dirty="0">
                <a:latin typeface="Calibri" pitchFamily="34" charset="0"/>
                <a:cs typeface="Calibri" pitchFamily="34" charset="0"/>
              </a:rPr>
              <a:t> 10 (0 to 9)</a:t>
            </a:r>
            <a:endParaRPr lang="en-US" dirty="0">
              <a:latin typeface="Calibri" pitchFamily="34" charset="0"/>
              <a:cs typeface="Calibri" pitchFamily="34" charset="0"/>
            </a:endParaRPr>
          </a:p>
          <a:p>
            <a:pPr marL="0" indent="0">
              <a:buNone/>
            </a:pPr>
            <a:r>
              <a:rPr lang="en-IN" b="1" dirty="0">
                <a:latin typeface="Calibri" pitchFamily="34" charset="0"/>
                <a:cs typeface="Calibri" pitchFamily="34" charset="0"/>
              </a:rPr>
              <a:t>Number of comparisons required=</a:t>
            </a:r>
            <a:r>
              <a:rPr lang="en-IN" dirty="0">
                <a:latin typeface="Calibri" pitchFamily="34" charset="0"/>
                <a:cs typeface="Calibri" pitchFamily="34" charset="0"/>
              </a:rPr>
              <a:t> 10 (0, 1, 2, ….9).</a:t>
            </a:r>
            <a:endParaRPr lang="en-US" dirty="0">
              <a:latin typeface="Calibri" pitchFamily="34" charset="0"/>
              <a:cs typeface="Calibri" pitchFamily="34" charset="0"/>
            </a:endParaRPr>
          </a:p>
          <a:p>
            <a:pPr>
              <a:buNone/>
            </a:pPr>
            <a:r>
              <a:rPr lang="en-IN" dirty="0">
                <a:latin typeface="Calibri" pitchFamily="34" charset="0"/>
                <a:cs typeface="Calibri" pitchFamily="34" charset="0"/>
              </a:rPr>
              <a:t>Element 19 is not in array but total number of comparisons made = maximum possible</a:t>
            </a:r>
          </a:p>
          <a:p>
            <a:pPr>
              <a:buNone/>
            </a:pPr>
            <a:r>
              <a:rPr lang="en-IN" dirty="0">
                <a:latin typeface="Calibri" pitchFamily="34" charset="0"/>
                <a:cs typeface="Calibri" pitchFamily="34" charset="0"/>
              </a:rPr>
              <a:t>comparison = array size. </a:t>
            </a:r>
          </a:p>
          <a:p>
            <a:pPr>
              <a:buNone/>
            </a:pPr>
            <a:r>
              <a:rPr lang="en-IN" dirty="0">
                <a:latin typeface="Calibri" pitchFamily="34" charset="0"/>
                <a:cs typeface="Calibri" pitchFamily="34" charset="0"/>
              </a:rPr>
              <a:t>This is also an example of worst case.</a:t>
            </a:r>
            <a:endParaRPr lang="en-US" dirty="0">
              <a:latin typeface="Calibri" pitchFamily="34" charset="0"/>
              <a:cs typeface="Calibri" pitchFamily="34" charset="0"/>
            </a:endParaRPr>
          </a:p>
          <a:p>
            <a:pPr>
              <a:buNone/>
            </a:pPr>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100</a:t>
            </a:fld>
            <a:endParaRPr lang="en-US" altLang="en-US"/>
          </a:p>
        </p:txBody>
      </p:sp>
    </p:spTree>
    <p:extLst>
      <p:ext uri="{BB962C8B-B14F-4D97-AF65-F5344CB8AC3E}">
        <p14:creationId xmlns:p14="http://schemas.microsoft.com/office/powerpoint/2010/main" val="162802695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975" y="-234950"/>
            <a:ext cx="10515600" cy="1325563"/>
          </a:xfrm>
        </p:spPr>
        <p:txBody>
          <a:bodyPr/>
          <a:lstStyle/>
          <a:p>
            <a:r>
              <a:rPr lang="en-IN" dirty="0">
                <a:solidFill>
                  <a:schemeClr val="bg1"/>
                </a:solidFill>
              </a:rPr>
              <a:t>Conclusion:</a:t>
            </a:r>
            <a:endParaRPr lang="en-US" dirty="0">
              <a:solidFill>
                <a:schemeClr val="bg1"/>
              </a:solidFill>
            </a:endParaRPr>
          </a:p>
        </p:txBody>
      </p:sp>
      <p:sp>
        <p:nvSpPr>
          <p:cNvPr id="3" name="Content Placeholder 2"/>
          <p:cNvSpPr>
            <a:spLocks noGrp="1"/>
          </p:cNvSpPr>
          <p:nvPr>
            <p:ph idx="4294967295"/>
          </p:nvPr>
        </p:nvSpPr>
        <p:spPr>
          <a:xfrm>
            <a:off x="0" y="1282700"/>
            <a:ext cx="11734800" cy="4881563"/>
          </a:xfrm>
        </p:spPr>
        <p:txBody>
          <a:bodyPr/>
          <a:lstStyle/>
          <a:p>
            <a:pPr lvl="0">
              <a:buNone/>
            </a:pPr>
            <a:r>
              <a:rPr lang="en-IN" sz="2800" dirty="0">
                <a:latin typeface="Calibri" pitchFamily="34" charset="0"/>
                <a:cs typeface="Calibri" pitchFamily="34" charset="0"/>
              </a:rPr>
              <a:t>Now conclusion is that </a:t>
            </a:r>
            <a:endParaRPr lang="en-US" sz="2800" b="1" dirty="0">
              <a:latin typeface="Calibri" pitchFamily="34" charset="0"/>
              <a:cs typeface="Calibri" pitchFamily="34" charset="0"/>
            </a:endParaRPr>
          </a:p>
          <a:p>
            <a:pPr lvl="0"/>
            <a:r>
              <a:rPr lang="en-US" sz="2800" b="1" i="1" dirty="0">
                <a:solidFill>
                  <a:srgbClr val="C00000"/>
                </a:solidFill>
                <a:latin typeface="Calibri" pitchFamily="34" charset="0"/>
                <a:cs typeface="Calibri" pitchFamily="34" charset="0"/>
              </a:rPr>
              <a:t>If Minimum number of steps (comparisons) required to solve a problem (Best Case).</a:t>
            </a:r>
            <a:endParaRPr lang="en-US" sz="2800" i="1" dirty="0">
              <a:solidFill>
                <a:srgbClr val="C00000"/>
              </a:solidFill>
              <a:latin typeface="Calibri" pitchFamily="34" charset="0"/>
              <a:cs typeface="Calibri" pitchFamily="34" charset="0"/>
            </a:endParaRPr>
          </a:p>
          <a:p>
            <a:pPr lvl="0"/>
            <a:r>
              <a:rPr lang="en-US" sz="2800" b="1" i="1" dirty="0">
                <a:solidFill>
                  <a:srgbClr val="C00000"/>
                </a:solidFill>
                <a:latin typeface="Calibri" pitchFamily="34" charset="0"/>
                <a:cs typeface="Calibri" pitchFamily="34" charset="0"/>
              </a:rPr>
              <a:t>If Average number of steps (comparisons) required to solve a problem (Average Case).</a:t>
            </a:r>
            <a:endParaRPr lang="en-US" sz="2800" i="1" dirty="0">
              <a:solidFill>
                <a:srgbClr val="C00000"/>
              </a:solidFill>
              <a:latin typeface="Calibri" pitchFamily="34" charset="0"/>
              <a:cs typeface="Calibri" pitchFamily="34" charset="0"/>
            </a:endParaRPr>
          </a:p>
          <a:p>
            <a:pPr lvl="0"/>
            <a:r>
              <a:rPr lang="en-IN" sz="2800" b="1" i="1" dirty="0">
                <a:solidFill>
                  <a:srgbClr val="C00000"/>
                </a:solidFill>
                <a:latin typeface="Calibri" pitchFamily="34" charset="0"/>
                <a:cs typeface="Calibri" pitchFamily="34" charset="0"/>
              </a:rPr>
              <a:t>If Maximum number of steps (comparisons) required to solve a problem (Worst Case).</a:t>
            </a:r>
            <a:endParaRPr lang="en-US" sz="2800" i="1" dirty="0">
              <a:solidFill>
                <a:srgbClr val="C00000"/>
              </a:solidFill>
              <a:latin typeface="Calibri" pitchFamily="34" charset="0"/>
              <a:cs typeface="Calibri" pitchFamily="34" charset="0"/>
            </a:endParaRPr>
          </a:p>
          <a:p>
            <a:endParaRPr lang="en-US" dirty="0"/>
          </a:p>
        </p:txBody>
      </p:sp>
      <p:sp>
        <p:nvSpPr>
          <p:cNvPr id="4" name="Slide Number Placeholder 3"/>
          <p:cNvSpPr>
            <a:spLocks noGrp="1"/>
          </p:cNvSpPr>
          <p:nvPr>
            <p:ph type="sldNum" sz="quarter" idx="4294967295"/>
          </p:nvPr>
        </p:nvSpPr>
        <p:spPr>
          <a:xfrm>
            <a:off x="0" y="6356350"/>
            <a:ext cx="2743200" cy="365125"/>
          </a:xfrm>
        </p:spPr>
        <p:txBody>
          <a:bodyPr/>
          <a:lstStyle/>
          <a:p>
            <a:pPr>
              <a:defRPr/>
            </a:pPr>
            <a:fld id="{ABFF5F4A-8FC7-419E-B94C-CDDC8DE310AE}" type="slidenum">
              <a:rPr lang="en-US" altLang="en-US" smtClean="0"/>
              <a:pPr>
                <a:defRPr/>
              </a:pPr>
              <a:t>101</a:t>
            </a:fld>
            <a:endParaRPr lang="en-US" altLang="en-US"/>
          </a:p>
        </p:txBody>
      </p:sp>
    </p:spTree>
    <p:extLst>
      <p:ext uri="{BB962C8B-B14F-4D97-AF65-F5344CB8AC3E}">
        <p14:creationId xmlns:p14="http://schemas.microsoft.com/office/powerpoint/2010/main" val="31936175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a:bodyPr>
          <a:lstStyle/>
          <a:p>
            <a:pPr lvl="0" algn="ctr">
              <a:lnSpc>
                <a:spcPct val="90000"/>
              </a:lnSpc>
              <a:spcBef>
                <a:spcPct val="0"/>
              </a:spcBef>
              <a:spcAft>
                <a:spcPts val="600"/>
              </a:spcAft>
            </a:pPr>
            <a:r>
              <a:rPr lang="en-US" sz="4600" kern="1200">
                <a:solidFill>
                  <a:schemeClr val="bg1"/>
                </a:solidFill>
                <a:latin typeface="Times New Roman" panose="02020603050405020304" pitchFamily="18" charset="0"/>
                <a:ea typeface="+mj-ea"/>
                <a:cs typeface="Times New Roman" panose="02020603050405020304" pitchFamily="18" charset="0"/>
              </a:rPr>
              <a:t>Introduction to algorithm</a:t>
            </a:r>
            <a:endParaRPr lang="en-US" sz="4600" kern="1200" dirty="0">
              <a:solidFill>
                <a:schemeClr val="bg1"/>
              </a:solidFill>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7B451F4C-70E6-4E36-A7FD-2E293CEADCB4}"/>
              </a:ext>
            </a:extLst>
          </p:cNvPr>
          <p:cNvSpPr txBox="1"/>
          <p:nvPr/>
        </p:nvSpPr>
        <p:spPr>
          <a:xfrm>
            <a:off x="167473" y="802589"/>
            <a:ext cx="6436528" cy="452431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Definition : </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is a combination of sequence of finite steps to solve a problem.</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Properties : </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should take zero or more input.</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should produce at least one output.</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should terminate after finite time.</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Every state in the algorithm should </a:t>
            </a:r>
            <a:r>
              <a:rPr lang="en-US" sz="2400">
                <a:latin typeface="Times New Roman" panose="02020603050405020304" pitchFamily="18" charset="0"/>
                <a:cs typeface="Times New Roman" panose="02020603050405020304" pitchFamily="18" charset="0"/>
              </a:rPr>
              <a:t>be deterministic.</a:t>
            </a: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should be programming language independent.</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6E6E03-56C4-41EE-AA91-2DEAC9A96A96}"/>
              </a:ext>
            </a:extLst>
          </p:cNvPr>
          <p:cNvPicPr>
            <a:picLocks noChangeAspect="1"/>
          </p:cNvPicPr>
          <p:nvPr/>
        </p:nvPicPr>
        <p:blipFill rotWithShape="1">
          <a:blip r:embed="rId2"/>
          <a:srcRect l="2010" t="9638" r="20621"/>
          <a:stretch/>
        </p:blipFill>
        <p:spPr>
          <a:xfrm>
            <a:off x="6766590" y="1052819"/>
            <a:ext cx="5425410" cy="4752362"/>
          </a:xfrm>
          <a:prstGeom prst="rect">
            <a:avLst/>
          </a:prstGeom>
        </p:spPr>
      </p:pic>
    </p:spTree>
    <p:extLst>
      <p:ext uri="{BB962C8B-B14F-4D97-AF65-F5344CB8AC3E}">
        <p14:creationId xmlns:p14="http://schemas.microsoft.com/office/powerpoint/2010/main" val="41990323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2363819" y="98474"/>
            <a:ext cx="6920859"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Steps Required to Construct Algorithm</a:t>
            </a:r>
            <a:endParaRPr lang="en-IN" sz="3200" dirty="0">
              <a:solidFill>
                <a:schemeClr val="bg1"/>
              </a:solidFill>
              <a:latin typeface="Times New Roman" panose="02020603050405020304" pitchFamily="18" charset="0"/>
              <a:cs typeface="Times New Roman" panose="02020603050405020304" pitchFamily="18" charset="0"/>
            </a:endParaRPr>
          </a:p>
        </p:txBody>
      </p:sp>
      <p:graphicFrame>
        <p:nvGraphicFramePr>
          <p:cNvPr id="8" name="TextBox 2">
            <a:extLst>
              <a:ext uri="{FF2B5EF4-FFF2-40B4-BE49-F238E27FC236}">
                <a16:creationId xmlns:a16="http://schemas.microsoft.com/office/drawing/2014/main" id="{46A45B39-01F2-4043-A1D4-0389C043E48B}"/>
              </a:ext>
            </a:extLst>
          </p:cNvPr>
          <p:cNvGraphicFramePr/>
          <p:nvPr/>
        </p:nvGraphicFramePr>
        <p:xfrm>
          <a:off x="1828800" y="1223889"/>
          <a:ext cx="10185009" cy="38928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51477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2363819" y="0"/>
            <a:ext cx="6920859" cy="830997"/>
          </a:xfrm>
          <a:prstGeom prst="rect">
            <a:avLst/>
          </a:prstGeom>
          <a:noFill/>
        </p:spPr>
        <p:txBody>
          <a:bodyPr wrap="square" rtlCol="0">
            <a:spAutoFit/>
          </a:bodyPr>
          <a:lstStyle/>
          <a:p>
            <a:pPr algn="ctr"/>
            <a:r>
              <a:rPr lang="en-US" sz="4800" dirty="0">
                <a:solidFill>
                  <a:schemeClr val="bg1"/>
                </a:solidFill>
                <a:latin typeface="Times New Roman" panose="02020603050405020304" pitchFamily="18" charset="0"/>
                <a:cs typeface="Times New Roman" panose="02020603050405020304" pitchFamily="18" charset="0"/>
              </a:rPr>
              <a:t>Analysis</a:t>
            </a:r>
            <a:endParaRPr lang="en-IN" sz="48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7B4FAE2-C78C-4BF3-B29F-A68C78F3C7BD}"/>
              </a:ext>
            </a:extLst>
          </p:cNvPr>
          <p:cNvSpPr txBox="1"/>
          <p:nvPr/>
        </p:nvSpPr>
        <p:spPr>
          <a:xfrm>
            <a:off x="112542" y="830997"/>
            <a:ext cx="12079458" cy="3323987"/>
          </a:xfrm>
          <a:prstGeom prst="rect">
            <a:avLst/>
          </a:prstGeom>
          <a:noFill/>
        </p:spPr>
        <p:txBody>
          <a:bodyPr wrap="square" rtlCol="0">
            <a:spAutoFit/>
          </a:bodyPr>
          <a:lstStyle/>
          <a:p>
            <a:r>
              <a:rPr lang="en-US" sz="3500" dirty="0">
                <a:latin typeface="Times New Roman" panose="02020603050405020304" pitchFamily="18" charset="0"/>
                <a:cs typeface="Times New Roman" panose="02020603050405020304" pitchFamily="18" charset="0"/>
              </a:rPr>
              <a:t>Using time complexity and space Complexity we can analyze the algorithm.</a:t>
            </a:r>
          </a:p>
          <a:p>
            <a:endParaRPr lang="en-US" sz="3500" dirty="0">
              <a:latin typeface="Times New Roman" panose="02020603050405020304" pitchFamily="18" charset="0"/>
              <a:cs typeface="Times New Roman" panose="02020603050405020304" pitchFamily="18" charset="0"/>
            </a:endParaRPr>
          </a:p>
          <a:p>
            <a:r>
              <a:rPr lang="en-US" sz="3500" dirty="0">
                <a:latin typeface="Times New Roman" panose="02020603050405020304" pitchFamily="18" charset="0"/>
                <a:cs typeface="Times New Roman" panose="02020603050405020304" pitchFamily="18" charset="0"/>
              </a:rPr>
              <a:t>Time Complexity:</a:t>
            </a:r>
          </a:p>
          <a:p>
            <a:pPr algn="ctr"/>
            <a:r>
              <a:rPr lang="en-US" sz="3500" dirty="0">
                <a:latin typeface="Times New Roman" panose="02020603050405020304" pitchFamily="18" charset="0"/>
                <a:cs typeface="Times New Roman" panose="02020603050405020304" pitchFamily="18" charset="0"/>
              </a:rPr>
              <a:t>T(A) = C(A) + R(A)</a:t>
            </a:r>
          </a:p>
          <a:p>
            <a:r>
              <a:rPr lang="en-US" sz="3500" dirty="0">
                <a:latin typeface="Times New Roman" panose="02020603050405020304" pitchFamily="18" charset="0"/>
                <a:cs typeface="Times New Roman" panose="02020603050405020304" pitchFamily="18" charset="0"/>
              </a:rPr>
              <a:t> </a:t>
            </a:r>
            <a:endParaRPr lang="en-IN"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97395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2363819" y="0"/>
            <a:ext cx="6920859" cy="830997"/>
          </a:xfrm>
          <a:prstGeom prst="rect">
            <a:avLst/>
          </a:prstGeom>
          <a:noFill/>
        </p:spPr>
        <p:txBody>
          <a:bodyPr wrap="square" rtlCol="0">
            <a:spAutoFit/>
          </a:bodyPr>
          <a:lstStyle/>
          <a:p>
            <a:pPr algn="ctr"/>
            <a:r>
              <a:rPr lang="en-US" sz="4800" dirty="0">
                <a:solidFill>
                  <a:schemeClr val="bg1"/>
                </a:solidFill>
                <a:latin typeface="Times New Roman" panose="02020603050405020304" pitchFamily="18" charset="0"/>
                <a:cs typeface="Times New Roman" panose="02020603050405020304" pitchFamily="18" charset="0"/>
              </a:rPr>
              <a:t>Types of Analysis</a:t>
            </a:r>
            <a:endParaRPr lang="en-IN" sz="4800"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0CBFE5E6-6DCE-4F65-9F82-2000C1997A2B}"/>
              </a:ext>
            </a:extLst>
          </p:cNvPr>
          <p:cNvGraphicFramePr>
            <a:graphicFrameLocks noGrp="1"/>
          </p:cNvGraphicFramePr>
          <p:nvPr>
            <p:extLst>
              <p:ext uri="{D42A27DB-BD31-4B8C-83A1-F6EECF244321}">
                <p14:modId xmlns:p14="http://schemas.microsoft.com/office/powerpoint/2010/main" val="2513821285"/>
              </p:ext>
            </p:extLst>
          </p:nvPr>
        </p:nvGraphicFramePr>
        <p:xfrm>
          <a:off x="970670" y="1181686"/>
          <a:ext cx="9875522" cy="4121836"/>
        </p:xfrm>
        <a:graphic>
          <a:graphicData uri="http://schemas.openxmlformats.org/drawingml/2006/table">
            <a:tbl>
              <a:tblPr firstRow="1" bandRow="1">
                <a:tableStyleId>{9D7B26C5-4107-4FEC-AEDC-1716B250A1EF}</a:tableStyleId>
              </a:tblPr>
              <a:tblGrid>
                <a:gridCol w="4937761">
                  <a:extLst>
                    <a:ext uri="{9D8B030D-6E8A-4147-A177-3AD203B41FA5}">
                      <a16:colId xmlns:a16="http://schemas.microsoft.com/office/drawing/2014/main" val="4132849695"/>
                    </a:ext>
                  </a:extLst>
                </a:gridCol>
                <a:gridCol w="4937761">
                  <a:extLst>
                    <a:ext uri="{9D8B030D-6E8A-4147-A177-3AD203B41FA5}">
                      <a16:colId xmlns:a16="http://schemas.microsoft.com/office/drawing/2014/main" val="3375226137"/>
                    </a:ext>
                  </a:extLst>
                </a:gridCol>
              </a:tblGrid>
              <a:tr h="1030459">
                <a:tc>
                  <a:txBody>
                    <a:bodyPr/>
                    <a:lstStyle/>
                    <a:p>
                      <a:r>
                        <a:rPr lang="en-US" sz="2000" dirty="0">
                          <a:latin typeface="Times New Roman" panose="02020603050405020304" pitchFamily="18" charset="0"/>
                          <a:cs typeface="Times New Roman" panose="02020603050405020304" pitchFamily="18" charset="0"/>
                        </a:rPr>
                        <a:t>Posteriori Analysis (Relative Analysis)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Priori Analysis (Absolute Analysis)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96580587"/>
                  </a:ext>
                </a:extLst>
              </a:tr>
              <a:tr h="1030459">
                <a:tc>
                  <a:txBody>
                    <a:bodyPr/>
                    <a:lstStyle/>
                    <a:p>
                      <a:pPr marL="0" indent="0">
                        <a:buFont typeface="+mj-lt"/>
                        <a:buNone/>
                      </a:pPr>
                      <a:r>
                        <a:rPr lang="en-US" sz="2000" dirty="0">
                          <a:latin typeface="Times New Roman" panose="02020603050405020304" pitchFamily="18" charset="0"/>
                          <a:cs typeface="Times New Roman" panose="02020603050405020304" pitchFamily="18" charset="0"/>
                        </a:rPr>
                        <a:t>1. It is programming language of compiler and type of processor dependent analysis</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dirty="0">
                          <a:latin typeface="Times New Roman" panose="02020603050405020304" pitchFamily="18" charset="0"/>
                          <a:cs typeface="Times New Roman" panose="02020603050405020304" pitchFamily="18" charset="0"/>
                        </a:rPr>
                        <a:t>1. It is programming language of compiler and type of processor independent analysis</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7592991"/>
                  </a:ext>
                </a:extLst>
              </a:tr>
              <a:tr h="1030459">
                <a:tc>
                  <a:txBody>
                    <a:bodyPr/>
                    <a:lstStyle/>
                    <a:p>
                      <a:r>
                        <a:rPr lang="en-US" sz="2000" dirty="0">
                          <a:latin typeface="Times New Roman" panose="02020603050405020304" pitchFamily="18" charset="0"/>
                          <a:cs typeface="Times New Roman" panose="02020603050405020304" pitchFamily="18" charset="0"/>
                        </a:rPr>
                        <a:t>2. Answer will change system to system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 Answer will not change system to system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4053391"/>
                  </a:ext>
                </a:extLst>
              </a:tr>
              <a:tr h="1030459">
                <a:tc>
                  <a:txBody>
                    <a:bodyPr/>
                    <a:lstStyle/>
                    <a:p>
                      <a:r>
                        <a:rPr lang="en-US" sz="2000" dirty="0">
                          <a:latin typeface="Times New Roman" panose="02020603050405020304" pitchFamily="18" charset="0"/>
                          <a:cs typeface="Times New Roman" panose="02020603050405020304" pitchFamily="18" charset="0"/>
                        </a:rPr>
                        <a:t>3. Exact answer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 Approximate Analysis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456253"/>
                  </a:ext>
                </a:extLst>
              </a:tr>
            </a:tbl>
          </a:graphicData>
        </a:graphic>
      </p:graphicFrame>
    </p:spTree>
    <p:extLst>
      <p:ext uri="{BB962C8B-B14F-4D97-AF65-F5344CB8AC3E}">
        <p14:creationId xmlns:p14="http://schemas.microsoft.com/office/powerpoint/2010/main" val="11758423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ctr"/>
            <a:r>
              <a:rPr lang="en-US" sz="4800" dirty="0">
                <a:solidFill>
                  <a:schemeClr val="bg1"/>
                </a:solidFill>
                <a:latin typeface="Times New Roman" panose="02020603050405020304" pitchFamily="18" charset="0"/>
                <a:cs typeface="Times New Roman" panose="02020603050405020304" pitchFamily="18" charset="0"/>
              </a:rPr>
              <a:t>Priori Analysis (Absolute Analysis)</a:t>
            </a:r>
            <a:endParaRPr lang="en-IN" sz="48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46B88B-4D4D-486F-9754-F75C03D0C337}"/>
              </a:ext>
            </a:extLst>
          </p:cNvPr>
          <p:cNvSpPr txBox="1"/>
          <p:nvPr/>
        </p:nvSpPr>
        <p:spPr>
          <a:xfrm>
            <a:off x="112542" y="1253028"/>
            <a:ext cx="12192000"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“It is determination of order of magnitude of a statement.”</a:t>
            </a:r>
          </a:p>
        </p:txBody>
      </p:sp>
      <p:sp>
        <p:nvSpPr>
          <p:cNvPr id="5" name="TextBox 4">
            <a:extLst>
              <a:ext uri="{FF2B5EF4-FFF2-40B4-BE49-F238E27FC236}">
                <a16:creationId xmlns:a16="http://schemas.microsoft.com/office/drawing/2014/main" id="{01968B00-7AF2-4057-98FD-515C685AFE5A}"/>
              </a:ext>
            </a:extLst>
          </p:cNvPr>
          <p:cNvSpPr txBox="1"/>
          <p:nvPr/>
        </p:nvSpPr>
        <p:spPr>
          <a:xfrm>
            <a:off x="1500556" y="2259834"/>
            <a:ext cx="4914313" cy="3139321"/>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Example 1:</a:t>
            </a:r>
          </a:p>
          <a:p>
            <a:pPr algn="just">
              <a:tabLst>
                <a:tab pos="534988" algn="l"/>
              </a:tabLst>
            </a:pPr>
            <a:r>
              <a:rPr lang="en-US" sz="3600" dirty="0">
                <a:latin typeface="Times New Roman" panose="02020603050405020304" pitchFamily="18" charset="0"/>
                <a:cs typeface="Times New Roman" panose="02020603050405020304" pitchFamily="18" charset="0"/>
              </a:rPr>
              <a:t>			main()</a:t>
            </a:r>
          </a:p>
          <a:p>
            <a:pPr algn="just">
              <a:tabLst>
                <a:tab pos="534988" algn="l"/>
              </a:tabLst>
            </a:pPr>
            <a:r>
              <a:rPr lang="en-US" sz="3600" dirty="0">
                <a:latin typeface="Times New Roman" panose="02020603050405020304" pitchFamily="18" charset="0"/>
                <a:cs typeface="Times New Roman" panose="02020603050405020304" pitchFamily="18" charset="0"/>
              </a:rPr>
              <a:t>			{</a:t>
            </a:r>
          </a:p>
          <a:p>
            <a:pPr algn="just">
              <a:tabLst>
                <a:tab pos="534988" algn="l"/>
              </a:tabLst>
            </a:pPr>
            <a:r>
              <a:rPr lang="en-US" sz="3600" dirty="0">
                <a:latin typeface="Times New Roman" panose="02020603050405020304" pitchFamily="18" charset="0"/>
                <a:cs typeface="Times New Roman" panose="02020603050405020304" pitchFamily="18" charset="0"/>
              </a:rPr>
              <a:t>			     x=</a:t>
            </a:r>
            <a:r>
              <a:rPr lang="en-US" sz="3600" dirty="0" err="1">
                <a:latin typeface="Times New Roman" panose="02020603050405020304" pitchFamily="18" charset="0"/>
                <a:cs typeface="Times New Roman" panose="02020603050405020304" pitchFamily="18" charset="0"/>
              </a:rPr>
              <a:t>y+z</a:t>
            </a:r>
            <a:r>
              <a:rPr lang="en-US" sz="3600" dirty="0">
                <a:latin typeface="Times New Roman" panose="02020603050405020304" pitchFamily="18" charset="0"/>
                <a:cs typeface="Times New Roman" panose="02020603050405020304" pitchFamily="18" charset="0"/>
              </a:rPr>
              <a:t>;</a:t>
            </a:r>
          </a:p>
          <a:p>
            <a:pPr algn="just">
              <a:tabLst>
                <a:tab pos="534988" algn="l"/>
              </a:tabLst>
            </a:pP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146412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just"/>
            <a:r>
              <a:rPr lang="en-US" sz="4800" dirty="0">
                <a:solidFill>
                  <a:schemeClr val="bg1"/>
                </a:solidFill>
                <a:latin typeface="Times New Roman" panose="02020603050405020304" pitchFamily="18" charset="0"/>
                <a:cs typeface="Times New Roman" panose="02020603050405020304" pitchFamily="18" charset="0"/>
              </a:rPr>
              <a:t>Example 2:</a:t>
            </a:r>
          </a:p>
        </p:txBody>
      </p:sp>
      <p:sp>
        <p:nvSpPr>
          <p:cNvPr id="5" name="TextBox 4">
            <a:extLst>
              <a:ext uri="{FF2B5EF4-FFF2-40B4-BE49-F238E27FC236}">
                <a16:creationId xmlns:a16="http://schemas.microsoft.com/office/drawing/2014/main" id="{01968B00-7AF2-4057-98FD-515C685AFE5A}"/>
              </a:ext>
            </a:extLst>
          </p:cNvPr>
          <p:cNvSpPr txBox="1"/>
          <p:nvPr/>
        </p:nvSpPr>
        <p:spPr>
          <a:xfrm>
            <a:off x="0" y="1028343"/>
            <a:ext cx="11915335" cy="4801314"/>
          </a:xfrm>
          <a:prstGeom prst="rect">
            <a:avLst/>
          </a:prstGeom>
          <a:noFill/>
        </p:spPr>
        <p:txBody>
          <a:bodyPr wrap="square" rtlCol="0">
            <a:spAutoFit/>
          </a:bodyPr>
          <a:lstStyle/>
          <a:p>
            <a:pPr algn="just">
              <a:tabLst>
                <a:tab pos="534988" algn="l"/>
              </a:tabLst>
            </a:pPr>
            <a:r>
              <a:rPr lang="en-US" sz="3600" dirty="0">
                <a:latin typeface="Times New Roman" panose="02020603050405020304" pitchFamily="18" charset="0"/>
                <a:cs typeface="Times New Roman" panose="02020603050405020304" pitchFamily="18" charset="0"/>
              </a:rPr>
              <a:t>			main()</a:t>
            </a:r>
          </a:p>
          <a:p>
            <a:pPr algn="just">
              <a:tabLst>
                <a:tab pos="534988" algn="l"/>
              </a:tabLst>
            </a:pPr>
            <a:r>
              <a:rPr lang="en-US" sz="3600" dirty="0">
                <a:latin typeface="Times New Roman" panose="02020603050405020304" pitchFamily="18" charset="0"/>
                <a:cs typeface="Times New Roman" panose="02020603050405020304" pitchFamily="18" charset="0"/>
              </a:rPr>
              <a:t>			{</a:t>
            </a:r>
          </a:p>
          <a:p>
            <a:pPr algn="just">
              <a:tabLst>
                <a:tab pos="534988" algn="l"/>
              </a:tabLst>
            </a:pPr>
            <a:r>
              <a:rPr lang="en-US" sz="3600" dirty="0">
                <a:latin typeface="Times New Roman" panose="02020603050405020304" pitchFamily="18" charset="0"/>
                <a:cs typeface="Times New Roman" panose="02020603050405020304" pitchFamily="18" charset="0"/>
              </a:rPr>
              <a:t>			     x=</a:t>
            </a:r>
            <a:r>
              <a:rPr lang="en-US" sz="3600" dirty="0" err="1">
                <a:latin typeface="Times New Roman" panose="02020603050405020304" pitchFamily="18" charset="0"/>
                <a:cs typeface="Times New Roman" panose="02020603050405020304" pitchFamily="18" charset="0"/>
              </a:rPr>
              <a:t>y+z</a:t>
            </a:r>
            <a:r>
              <a:rPr lang="en-US" sz="3600" dirty="0">
                <a:latin typeface="Times New Roman" panose="02020603050405020304" pitchFamily="18" charset="0"/>
                <a:cs typeface="Times New Roman" panose="02020603050405020304" pitchFamily="18" charset="0"/>
              </a:rPr>
              <a:t>;</a:t>
            </a:r>
          </a:p>
          <a:p>
            <a:pPr algn="just">
              <a:tabLst>
                <a:tab pos="534988" algn="l"/>
              </a:tabLst>
            </a:pPr>
            <a:r>
              <a:rPr lang="en-US" sz="3600" dirty="0">
                <a:latin typeface="Times New Roman" panose="02020603050405020304" pitchFamily="18" charset="0"/>
                <a:cs typeface="Times New Roman" panose="02020603050405020304" pitchFamily="18" charset="0"/>
              </a:rPr>
              <a:t>			     for (</a:t>
            </a:r>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=1; </a:t>
            </a:r>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&lt;=n; </a:t>
            </a:r>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a:t>
            </a:r>
          </a:p>
          <a:p>
            <a:pPr algn="just">
              <a:tabLst>
                <a:tab pos="534988" algn="l"/>
              </a:tabLst>
            </a:pPr>
            <a:r>
              <a:rPr lang="en-US" sz="3600" dirty="0">
                <a:latin typeface="Times New Roman" panose="02020603050405020304" pitchFamily="18" charset="0"/>
                <a:cs typeface="Times New Roman" panose="02020603050405020304" pitchFamily="18" charset="0"/>
              </a:rPr>
              <a:t>				{</a:t>
            </a:r>
          </a:p>
          <a:p>
            <a:pPr algn="just">
              <a:tabLst>
                <a:tab pos="534988" algn="l"/>
              </a:tabLst>
            </a:pPr>
            <a:r>
              <a:rPr lang="en-US" sz="3600" dirty="0">
                <a:latin typeface="Times New Roman" panose="02020603050405020304" pitchFamily="18" charset="0"/>
                <a:cs typeface="Times New Roman" panose="02020603050405020304" pitchFamily="18" charset="0"/>
              </a:rPr>
              <a:t>					x=</a:t>
            </a:r>
            <a:r>
              <a:rPr lang="en-US" sz="3600" dirty="0" err="1">
                <a:latin typeface="Times New Roman" panose="02020603050405020304" pitchFamily="18" charset="0"/>
                <a:cs typeface="Times New Roman" panose="02020603050405020304" pitchFamily="18" charset="0"/>
              </a:rPr>
              <a:t>y+z</a:t>
            </a:r>
            <a:r>
              <a:rPr lang="en-US" sz="3600" dirty="0">
                <a:latin typeface="Times New Roman" panose="02020603050405020304" pitchFamily="18" charset="0"/>
                <a:cs typeface="Times New Roman" panose="02020603050405020304" pitchFamily="18" charset="0"/>
              </a:rPr>
              <a:t>;</a:t>
            </a:r>
          </a:p>
          <a:p>
            <a:pPr algn="just">
              <a:tabLst>
                <a:tab pos="534988" algn="l"/>
              </a:tabLst>
            </a:pPr>
            <a:r>
              <a:rPr lang="en-US" sz="3600" dirty="0">
                <a:latin typeface="Times New Roman" panose="02020603050405020304" pitchFamily="18" charset="0"/>
                <a:cs typeface="Times New Roman" panose="02020603050405020304" pitchFamily="18" charset="0"/>
              </a:rPr>
              <a:t>				}			</a:t>
            </a:r>
          </a:p>
          <a:p>
            <a:pPr algn="just">
              <a:tabLst>
                <a:tab pos="534988" algn="l"/>
              </a:tabLst>
            </a:pP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10868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just"/>
            <a:r>
              <a:rPr lang="en-US" sz="4800" dirty="0">
                <a:solidFill>
                  <a:schemeClr val="bg1"/>
                </a:solidFill>
                <a:latin typeface="Times New Roman" panose="02020603050405020304" pitchFamily="18" charset="0"/>
                <a:cs typeface="Times New Roman" panose="02020603050405020304" pitchFamily="18" charset="0"/>
              </a:rPr>
              <a:t>Example 3:</a:t>
            </a:r>
          </a:p>
        </p:txBody>
      </p:sp>
      <p:sp>
        <p:nvSpPr>
          <p:cNvPr id="5" name="TextBox 4">
            <a:extLst>
              <a:ext uri="{FF2B5EF4-FFF2-40B4-BE49-F238E27FC236}">
                <a16:creationId xmlns:a16="http://schemas.microsoft.com/office/drawing/2014/main" id="{01968B00-7AF2-4057-98FD-515C685AFE5A}"/>
              </a:ext>
            </a:extLst>
          </p:cNvPr>
          <p:cNvSpPr txBox="1"/>
          <p:nvPr/>
        </p:nvSpPr>
        <p:spPr>
          <a:xfrm>
            <a:off x="0" y="1028343"/>
            <a:ext cx="11915335" cy="4616648"/>
          </a:xfrm>
          <a:prstGeom prst="rect">
            <a:avLst/>
          </a:prstGeom>
          <a:noFill/>
        </p:spPr>
        <p:txBody>
          <a:bodyPr wrap="square" rtlCol="0">
            <a:spAutoFit/>
          </a:bodyPr>
          <a:lstStyle/>
          <a:p>
            <a:pPr algn="just">
              <a:tabLst>
                <a:tab pos="534988" algn="l"/>
              </a:tabLst>
            </a:pPr>
            <a:r>
              <a:rPr lang="en-US" sz="3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x=</a:t>
            </a:r>
            <a:r>
              <a:rPr lang="en-US" sz="2000" dirty="0" err="1">
                <a:latin typeface="Times New Roman" panose="02020603050405020304" pitchFamily="18" charset="0"/>
                <a:cs typeface="Times New Roman" panose="02020603050405020304" pitchFamily="18" charset="0"/>
              </a:rPr>
              <a:t>y+z</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x=</a:t>
            </a:r>
            <a:r>
              <a:rPr lang="en-US" sz="2000" dirty="0" err="1">
                <a:latin typeface="Times New Roman" panose="02020603050405020304" pitchFamily="18" charset="0"/>
                <a:cs typeface="Times New Roman" panose="02020603050405020304" pitchFamily="18" charset="0"/>
              </a:rPr>
              <a:t>y+z</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for (j=1; j&lt;=n; </a:t>
            </a:r>
            <a:r>
              <a:rPr lang="en-US" sz="2000" dirty="0" err="1">
                <a:latin typeface="Times New Roman" panose="02020603050405020304" pitchFamily="18" charset="0"/>
                <a:cs typeface="Times New Roman" panose="02020603050405020304" pitchFamily="18" charset="0"/>
              </a:rPr>
              <a:t>j++</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x=</a:t>
            </a:r>
            <a:r>
              <a:rPr lang="en-US" sz="2000" dirty="0" err="1">
                <a:latin typeface="Times New Roman" panose="02020603050405020304" pitchFamily="18" charset="0"/>
                <a:cs typeface="Times New Roman" panose="02020603050405020304" pitchFamily="18" charset="0"/>
              </a:rPr>
              <a:t>y+z</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			     			</a:t>
            </a:r>
          </a:p>
          <a:p>
            <a:pPr algn="just">
              <a:tabLst>
                <a:tab pos="534988" algn="l"/>
              </a:tabLst>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2453755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just"/>
            <a:r>
              <a:rPr lang="en-US" sz="4800" dirty="0">
                <a:solidFill>
                  <a:schemeClr val="bg1"/>
                </a:solidFill>
                <a:latin typeface="Times New Roman" panose="02020603050405020304" pitchFamily="18" charset="0"/>
                <a:cs typeface="Times New Roman" panose="02020603050405020304" pitchFamily="18" charset="0"/>
              </a:rPr>
              <a:t>Example 4:</a:t>
            </a:r>
          </a:p>
        </p:txBody>
      </p:sp>
      <p:sp>
        <p:nvSpPr>
          <p:cNvPr id="5" name="TextBox 4">
            <a:extLst>
              <a:ext uri="{FF2B5EF4-FFF2-40B4-BE49-F238E27FC236}">
                <a16:creationId xmlns:a16="http://schemas.microsoft.com/office/drawing/2014/main" id="{01968B00-7AF2-4057-98FD-515C685AFE5A}"/>
              </a:ext>
            </a:extLst>
          </p:cNvPr>
          <p:cNvSpPr txBox="1"/>
          <p:nvPr/>
        </p:nvSpPr>
        <p:spPr>
          <a:xfrm>
            <a:off x="0" y="1028343"/>
            <a:ext cx="11915335" cy="3693319"/>
          </a:xfrm>
          <a:prstGeom prst="rect">
            <a:avLst/>
          </a:prstGeom>
          <a:noFill/>
        </p:spPr>
        <p:txBody>
          <a:bodyPr wrap="square" rtlCol="0">
            <a:spAutoFit/>
          </a:bodyPr>
          <a:lstStyle/>
          <a:p>
            <a:pPr algn="just">
              <a:tabLst>
                <a:tab pos="534988" algn="l"/>
              </a:tabLst>
            </a:pPr>
            <a:r>
              <a:rPr lang="en-US" sz="3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for (j=1; j&lt;=n/2; </a:t>
            </a:r>
            <a:r>
              <a:rPr lang="en-US" sz="2000" dirty="0" err="1">
                <a:latin typeface="Times New Roman" panose="02020603050405020304" pitchFamily="18" charset="0"/>
                <a:cs typeface="Times New Roman" panose="02020603050405020304" pitchFamily="18" charset="0"/>
              </a:rPr>
              <a:t>j++</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x=</a:t>
            </a:r>
            <a:r>
              <a:rPr lang="en-US" sz="2000" dirty="0" err="1">
                <a:latin typeface="Times New Roman" panose="02020603050405020304" pitchFamily="18" charset="0"/>
                <a:cs typeface="Times New Roman" panose="02020603050405020304" pitchFamily="18" charset="0"/>
              </a:rPr>
              <a:t>y+z</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			     			</a:t>
            </a:r>
          </a:p>
          <a:p>
            <a:pPr algn="just">
              <a:tabLst>
                <a:tab pos="534988" algn="l"/>
              </a:tabLst>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037319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just"/>
            <a:r>
              <a:rPr lang="en-US" sz="4800" dirty="0">
                <a:solidFill>
                  <a:schemeClr val="bg1"/>
                </a:solidFill>
                <a:latin typeface="Times New Roman" panose="02020603050405020304" pitchFamily="18" charset="0"/>
                <a:cs typeface="Times New Roman" panose="02020603050405020304" pitchFamily="18" charset="0"/>
              </a:rPr>
              <a:t>Example 5:</a:t>
            </a:r>
          </a:p>
        </p:txBody>
      </p:sp>
      <p:sp>
        <p:nvSpPr>
          <p:cNvPr id="5" name="TextBox 4">
            <a:extLst>
              <a:ext uri="{FF2B5EF4-FFF2-40B4-BE49-F238E27FC236}">
                <a16:creationId xmlns:a16="http://schemas.microsoft.com/office/drawing/2014/main" id="{01968B00-7AF2-4057-98FD-515C685AFE5A}"/>
              </a:ext>
            </a:extLst>
          </p:cNvPr>
          <p:cNvSpPr txBox="1"/>
          <p:nvPr/>
        </p:nvSpPr>
        <p:spPr>
          <a:xfrm>
            <a:off x="0" y="1028343"/>
            <a:ext cx="11915335" cy="4616648"/>
          </a:xfrm>
          <a:prstGeom prst="rect">
            <a:avLst/>
          </a:prstGeom>
          <a:noFill/>
        </p:spPr>
        <p:txBody>
          <a:bodyPr wrap="square" rtlCol="0">
            <a:spAutoFit/>
          </a:bodyPr>
          <a:lstStyle/>
          <a:p>
            <a:pPr algn="just">
              <a:tabLst>
                <a:tab pos="534988" algn="l"/>
              </a:tabLst>
            </a:pPr>
            <a:r>
              <a:rPr lang="en-US" sz="3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=1;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for (j=1; j&lt;=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for (k=1; k&lt;=133; k++)</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x=</a:t>
            </a:r>
            <a:r>
              <a:rPr lang="en-US" sz="2000" dirty="0" err="1">
                <a:latin typeface="Times New Roman" panose="02020603050405020304" pitchFamily="18" charset="0"/>
                <a:cs typeface="Times New Roman" panose="02020603050405020304" pitchFamily="18" charset="0"/>
              </a:rPr>
              <a:t>y+z</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			     			</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900456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just"/>
            <a:r>
              <a:rPr lang="en-US" sz="4800" dirty="0">
                <a:solidFill>
                  <a:schemeClr val="bg1"/>
                </a:solidFill>
                <a:latin typeface="Times New Roman" panose="02020603050405020304" pitchFamily="18" charset="0"/>
                <a:cs typeface="Times New Roman" panose="02020603050405020304" pitchFamily="18" charset="0"/>
              </a:rPr>
              <a:t>Example 6:</a:t>
            </a:r>
          </a:p>
        </p:txBody>
      </p:sp>
      <p:sp>
        <p:nvSpPr>
          <p:cNvPr id="5" name="TextBox 4">
            <a:extLst>
              <a:ext uri="{FF2B5EF4-FFF2-40B4-BE49-F238E27FC236}">
                <a16:creationId xmlns:a16="http://schemas.microsoft.com/office/drawing/2014/main" id="{01968B00-7AF2-4057-98FD-515C685AFE5A}"/>
              </a:ext>
            </a:extLst>
          </p:cNvPr>
          <p:cNvSpPr txBox="1"/>
          <p:nvPr/>
        </p:nvSpPr>
        <p:spPr>
          <a:xfrm>
            <a:off x="0" y="1028343"/>
            <a:ext cx="11915335" cy="2769989"/>
          </a:xfrm>
          <a:prstGeom prst="rect">
            <a:avLst/>
          </a:prstGeom>
          <a:noFill/>
        </p:spPr>
        <p:txBody>
          <a:bodyPr wrap="square" rtlCol="0">
            <a:spAutoFit/>
          </a:bodyPr>
          <a:lstStyle/>
          <a:p>
            <a:pPr algn="just">
              <a:tabLst>
                <a:tab pos="534988" algn="l"/>
              </a:tabLst>
            </a:pPr>
            <a:r>
              <a:rPr lang="en-US" sz="3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while(n&gt;=1)</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n=n/2;</a:t>
            </a:r>
          </a:p>
          <a:p>
            <a:pPr algn="just">
              <a:tabLst>
                <a:tab pos="534988" algn="l"/>
              </a:tabLst>
            </a:pPr>
            <a:endParaRPr lang="en-US" sz="2000" dirty="0">
              <a:latin typeface="Times New Roman" panose="02020603050405020304" pitchFamily="18" charset="0"/>
              <a:cs typeface="Times New Roman" panose="02020603050405020304" pitchFamily="18" charset="0"/>
            </a:endParaRPr>
          </a:p>
          <a:p>
            <a:pPr algn="just">
              <a:tabLst>
                <a:tab pos="534988" algn="l"/>
              </a:tabLst>
            </a:pPr>
            <a:r>
              <a:rPr lang="en-US" sz="2000" dirty="0">
                <a:latin typeface="Times New Roman" panose="02020603050405020304" pitchFamily="18" charset="0"/>
                <a:cs typeface="Times New Roman" panose="02020603050405020304" pitchFamily="18" charset="0"/>
              </a:rPr>
              <a:t>			}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806329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80652-1D4A-419B-87F4-D19559866D32}"/>
              </a:ext>
            </a:extLst>
          </p:cNvPr>
          <p:cNvSpPr txBox="1"/>
          <p:nvPr/>
        </p:nvSpPr>
        <p:spPr>
          <a:xfrm>
            <a:off x="1294229" y="0"/>
            <a:ext cx="10241280" cy="830997"/>
          </a:xfrm>
          <a:prstGeom prst="rect">
            <a:avLst/>
          </a:prstGeom>
          <a:noFill/>
        </p:spPr>
        <p:txBody>
          <a:bodyPr wrap="square" rtlCol="0">
            <a:spAutoFit/>
          </a:bodyPr>
          <a:lstStyle/>
          <a:p>
            <a:pPr algn="just"/>
            <a:r>
              <a:rPr lang="en-US" sz="4800" dirty="0">
                <a:solidFill>
                  <a:schemeClr val="bg1"/>
                </a:solidFill>
                <a:latin typeface="Times New Roman" panose="02020603050405020304" pitchFamily="18" charset="0"/>
                <a:cs typeface="Times New Roman" panose="02020603050405020304" pitchFamily="18" charset="0"/>
              </a:rPr>
              <a:t>Example 7:</a:t>
            </a:r>
          </a:p>
        </p:txBody>
      </p:sp>
      <p:sp>
        <p:nvSpPr>
          <p:cNvPr id="5" name="TextBox 4">
            <a:extLst>
              <a:ext uri="{FF2B5EF4-FFF2-40B4-BE49-F238E27FC236}">
                <a16:creationId xmlns:a16="http://schemas.microsoft.com/office/drawing/2014/main" id="{01968B00-7AF2-4057-98FD-515C685AFE5A}"/>
              </a:ext>
            </a:extLst>
          </p:cNvPr>
          <p:cNvSpPr txBox="1"/>
          <p:nvPr/>
        </p:nvSpPr>
        <p:spPr>
          <a:xfrm>
            <a:off x="0" y="1028343"/>
            <a:ext cx="11915335" cy="3077766"/>
          </a:xfrm>
          <a:prstGeom prst="rect">
            <a:avLst/>
          </a:prstGeom>
          <a:noFill/>
        </p:spPr>
        <p:txBody>
          <a:bodyPr wrap="square" rtlCol="0">
            <a:spAutoFit/>
          </a:bodyPr>
          <a:lstStyle/>
          <a:p>
            <a:pPr algn="just">
              <a:tabLst>
                <a:tab pos="534988" algn="l"/>
              </a:tabLst>
            </a:pPr>
            <a:r>
              <a:rPr lang="en-US" sz="3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=1;</a:t>
            </a:r>
          </a:p>
          <a:p>
            <a:pPr algn="just">
              <a:tabLst>
                <a:tab pos="534988" algn="l"/>
              </a:tabLst>
            </a:pPr>
            <a:r>
              <a:rPr lang="en-US" sz="2000" dirty="0">
                <a:latin typeface="Times New Roman" panose="02020603050405020304" pitchFamily="18" charset="0"/>
                <a:cs typeface="Times New Roman" panose="02020603050405020304" pitchFamily="18" charset="0"/>
              </a:rPr>
              <a:t>			 while(</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&lt;=n)</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=2*</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algn="just">
              <a:tabLst>
                <a:tab pos="534988" algn="l"/>
              </a:tabLst>
            </a:pPr>
            <a:r>
              <a:rPr lang="en-US" sz="2000" dirty="0">
                <a:latin typeface="Times New Roman" panose="02020603050405020304" pitchFamily="18" charset="0"/>
                <a:cs typeface="Times New Roman" panose="02020603050405020304" pitchFamily="18" charset="0"/>
              </a:rPr>
              <a:t>			    }</a:t>
            </a:r>
          </a:p>
          <a:p>
            <a:pPr algn="just">
              <a:tabLst>
                <a:tab pos="534988" algn="l"/>
              </a:tabLst>
            </a:pPr>
            <a:r>
              <a:rPr lang="en-US" sz="2000" dirty="0">
                <a:latin typeface="Times New Roman" panose="02020603050405020304" pitchFamily="18" charset="0"/>
                <a:cs typeface="Times New Roman" panose="02020603050405020304" pitchFamily="18" charset="0"/>
              </a:rPr>
              <a:t>			}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537359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64B553-F1F3-4FD8-99F1-5CCF27599298}"/>
              </a:ext>
            </a:extLst>
          </p:cNvPr>
          <p:cNvSpPr txBox="1"/>
          <p:nvPr/>
        </p:nvSpPr>
        <p:spPr>
          <a:xfrm>
            <a:off x="775470" y="3901807"/>
            <a:ext cx="10640754" cy="775845"/>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6600" kern="1200" dirty="0">
                <a:solidFill>
                  <a:schemeClr val="tx2"/>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589619DA-444D-4F21-A4E9-4FCBF46077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6990" y="320231"/>
            <a:ext cx="2836567" cy="2836567"/>
          </a:xfrm>
          <a:prstGeom prst="rect">
            <a:avLst/>
          </a:prstGeom>
        </p:spPr>
      </p:pic>
    </p:spTree>
    <p:extLst>
      <p:ext uri="{BB962C8B-B14F-4D97-AF65-F5344CB8AC3E}">
        <p14:creationId xmlns:p14="http://schemas.microsoft.com/office/powerpoint/2010/main" val="84505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4979</TotalTime>
  <Words>6393</Words>
  <Application>Microsoft Office PowerPoint</Application>
  <PresentationFormat>Widescreen</PresentationFormat>
  <Paragraphs>923</Paragraphs>
  <Slides>113</Slides>
  <Notes>18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113</vt:i4>
      </vt:variant>
    </vt:vector>
  </HeadingPairs>
  <TitlesOfParts>
    <vt:vector size="124" baseType="lpstr">
      <vt:lpstr>Aptos</vt:lpstr>
      <vt:lpstr>Arial</vt:lpstr>
      <vt:lpstr>Calibri</vt:lpstr>
      <vt:lpstr>Calibri Light</vt:lpstr>
      <vt:lpstr>Corbel</vt:lpstr>
      <vt:lpstr>Courier New</vt:lpstr>
      <vt:lpstr>Symbol</vt:lpstr>
      <vt:lpstr>Times New Roman</vt:lpstr>
      <vt:lpstr>Wingdings</vt:lpstr>
      <vt:lpstr>1_Custom Design</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vt:lpstr>
      <vt:lpstr>Algorithm</vt:lpstr>
      <vt:lpstr>Alternative Definition of Algorithm</vt:lpstr>
      <vt:lpstr>Properties of an Algorithm</vt:lpstr>
      <vt:lpstr>Input</vt:lpstr>
      <vt:lpstr>Output</vt:lpstr>
      <vt:lpstr>Finiteness</vt:lpstr>
      <vt:lpstr>Definiteness</vt:lpstr>
      <vt:lpstr>Effectiveness</vt:lpstr>
      <vt:lpstr>Program</vt:lpstr>
      <vt:lpstr>Types of Algorithms</vt:lpstr>
      <vt:lpstr>Algorithm Design Techniques</vt:lpstr>
      <vt:lpstr>Types of Problems solved by Algorithms</vt:lpstr>
      <vt:lpstr>Types of Problems solved by Algorithms (Cont.)</vt:lpstr>
      <vt:lpstr>Types of Problems solved by Algorithms (Cont.)</vt:lpstr>
      <vt:lpstr>Types of Problems solved by Algorithms (Cont.)</vt:lpstr>
      <vt:lpstr>Types of Problems solved by Algorithms (Cont.)</vt:lpstr>
      <vt:lpstr>Types of Problems solved by Algorithms (Cont.)</vt:lpstr>
      <vt:lpstr>Types of Problems solved by Algorithms (Cont.)</vt:lpstr>
      <vt:lpstr>Types of Problems solved by Algorithms (Cont.)</vt:lpstr>
      <vt:lpstr>Types of Problems solved by Algorithms (Cont.)</vt:lpstr>
      <vt:lpstr>Study of Algorithms</vt:lpstr>
      <vt:lpstr>Space Complexity</vt:lpstr>
      <vt:lpstr>Time Complexity</vt:lpstr>
      <vt:lpstr>Performance Evaluation</vt:lpstr>
      <vt:lpstr>Performance Measurement</vt:lpstr>
      <vt:lpstr>Importance of Design and Analysis of Algorithm:  </vt:lpstr>
      <vt:lpstr> Case Study 1:</vt:lpstr>
      <vt:lpstr>Case Study 2:</vt:lpstr>
      <vt:lpstr>Definition of Algorithm</vt:lpstr>
      <vt:lpstr>How to Write Algorithm?</vt:lpstr>
      <vt:lpstr>Natural Language                              Flow Chart</vt:lpstr>
      <vt:lpstr>Programming Language              Pseudo Code</vt:lpstr>
      <vt:lpstr>Qualities of Good Algorithm:</vt:lpstr>
      <vt:lpstr>How to Compare Algorithms</vt:lpstr>
      <vt:lpstr>Performance Analysis:</vt:lpstr>
      <vt:lpstr>Categorization of Complexity:</vt:lpstr>
      <vt:lpstr>Space Complexity:</vt:lpstr>
      <vt:lpstr>Component to Calculate Space Required by the Algorithm: Space Complexity</vt:lpstr>
      <vt:lpstr>Component to Calculate Space Required by the Algorithm</vt:lpstr>
      <vt:lpstr>Time Complexity</vt:lpstr>
      <vt:lpstr>Example 1: </vt:lpstr>
      <vt:lpstr>Example 2: </vt:lpstr>
      <vt:lpstr>Solution 1:</vt:lpstr>
      <vt:lpstr>Solution 1: </vt:lpstr>
      <vt:lpstr>Solution 2:</vt:lpstr>
      <vt:lpstr>Solution 2:</vt:lpstr>
      <vt:lpstr>Solution 3:</vt:lpstr>
      <vt:lpstr>Solution 3</vt:lpstr>
      <vt:lpstr>Solution 4:</vt:lpstr>
      <vt:lpstr>Solution 4</vt:lpstr>
      <vt:lpstr>Solution 5:</vt:lpstr>
      <vt:lpstr>Solution 5:</vt:lpstr>
      <vt:lpstr>Common Mathematical Functions used in Complexity Analysis:</vt:lpstr>
      <vt:lpstr>Common Mathematical Functions used in Complexity Analysis</vt:lpstr>
      <vt:lpstr>PowerPoint Presentation</vt:lpstr>
      <vt:lpstr>Common Mathematical Functions used in Complexity Analysis</vt:lpstr>
      <vt:lpstr>Solution:</vt:lpstr>
      <vt:lpstr>Common Mathematical Functions used in Complexity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Growth Of Functions</vt:lpstr>
      <vt:lpstr>1. Constant (C)</vt:lpstr>
      <vt:lpstr>2. Logarithmic (log n)</vt:lpstr>
      <vt:lpstr>3. Square root</vt:lpstr>
      <vt:lpstr>4. Linear</vt:lpstr>
      <vt:lpstr>5. Quadratic (n^2)</vt:lpstr>
      <vt:lpstr>6. Cubic (n^3)</vt:lpstr>
      <vt:lpstr>7. Exponential (2^n)</vt:lpstr>
      <vt:lpstr>8. Factorial (n!)</vt:lpstr>
      <vt:lpstr>Growth of Functions</vt:lpstr>
      <vt:lpstr>PowerPoint Presentation</vt:lpstr>
      <vt:lpstr>Conclusion</vt:lpstr>
      <vt:lpstr>Why Analysis of Algorithms is important?</vt:lpstr>
      <vt:lpstr>Why Analysis of Algorithms is important?</vt:lpstr>
      <vt:lpstr>Why Analysis of Algorithms is important?</vt:lpstr>
      <vt:lpstr>Analysis:</vt:lpstr>
      <vt:lpstr>Analysis</vt:lpstr>
      <vt:lpstr>Which method is better: Outcome of comparing different codes</vt:lpstr>
      <vt:lpstr> Different Cases of Analysing a Problem:  </vt:lpstr>
      <vt:lpstr>Different Cases to analyze any problem</vt:lpstr>
      <vt:lpstr>Best Case:  </vt:lpstr>
      <vt:lpstr>Average Case: </vt:lpstr>
      <vt:lpstr> Worst Case:</vt:lpstr>
      <vt:lpstr>Searching another element in an array </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dc:creator>
  <cp:lastModifiedBy>Arun Agrawal</cp:lastModifiedBy>
  <cp:revision>19</cp:revision>
  <dcterms:created xsi:type="dcterms:W3CDTF">2021-11-05T13:18:52Z</dcterms:created>
  <dcterms:modified xsi:type="dcterms:W3CDTF">2026-01-09T07:02:07Z</dcterms:modified>
</cp:coreProperties>
</file>