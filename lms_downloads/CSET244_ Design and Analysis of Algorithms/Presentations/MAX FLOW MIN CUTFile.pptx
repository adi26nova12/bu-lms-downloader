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5"/>
  </p:notesMasterIdLst>
  <p:sldIdLst>
    <p:sldId id="256" r:id="rId2"/>
    <p:sldId id="352" r:id="rId3"/>
    <p:sldId id="258" r:id="rId4"/>
    <p:sldId id="259" r:id="rId5"/>
    <p:sldId id="344" r:id="rId6"/>
    <p:sldId id="345" r:id="rId7"/>
    <p:sldId id="342" r:id="rId8"/>
    <p:sldId id="330" r:id="rId9"/>
    <p:sldId id="331" r:id="rId10"/>
    <p:sldId id="332" r:id="rId11"/>
    <p:sldId id="334" r:id="rId12"/>
    <p:sldId id="336" r:id="rId13"/>
    <p:sldId id="337" r:id="rId14"/>
    <p:sldId id="335" r:id="rId15"/>
    <p:sldId id="339" r:id="rId16"/>
    <p:sldId id="340" r:id="rId17"/>
    <p:sldId id="341" r:id="rId18"/>
    <p:sldId id="267" r:id="rId19"/>
    <p:sldId id="372" r:id="rId20"/>
    <p:sldId id="263" r:id="rId21"/>
    <p:sldId id="371" r:id="rId22"/>
    <p:sldId id="262" r:id="rId23"/>
    <p:sldId id="268" r:id="rId24"/>
    <p:sldId id="269" r:id="rId25"/>
    <p:sldId id="271" r:id="rId26"/>
    <p:sldId id="346" r:id="rId27"/>
    <p:sldId id="347" r:id="rId28"/>
    <p:sldId id="348" r:id="rId29"/>
    <p:sldId id="349" r:id="rId30"/>
    <p:sldId id="350" r:id="rId31"/>
    <p:sldId id="351" r:id="rId32"/>
    <p:sldId id="370" r:id="rId33"/>
    <p:sldId id="264"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9AEE678-76AE-4C5E-A9EA-3BD463CF4486}" v="126" dt="2023-04-12T12:58:30.141"/>
    <p1510:client id="{FAF69327-6799-4C9B-AFC7-1FE1AEC03AC1}" v="9" dt="2023-04-11T16:21:17.7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8824" autoAdjust="0"/>
    <p:restoredTop sz="94660"/>
  </p:normalViewPr>
  <p:slideViewPr>
    <p:cSldViewPr snapToGrid="0">
      <p:cViewPr varScale="1">
        <p:scale>
          <a:sx n="72" d="100"/>
          <a:sy n="72" d="100"/>
        </p:scale>
        <p:origin x="96" y="35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807BD0D-ADBA-42D2-8245-8D1D6DAD882D}"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DEDF41A5-918E-4E6D-B2F6-3351D31A34A5}">
      <dgm:prSet custT="1"/>
      <dgm:spPr/>
      <dgm:t>
        <a:bodyPr/>
        <a:lstStyle/>
        <a:p>
          <a:pPr algn="just"/>
          <a:r>
            <a:rPr lang="en-US" altLang="en-US" sz="4800" dirty="0"/>
            <a:t>Max Flow – Min Cut Problem</a:t>
          </a:r>
          <a:endParaRPr lang="en-US" sz="4800" dirty="0">
            <a:latin typeface="Times New Roman" panose="02020603050405020304" pitchFamily="18" charset="0"/>
            <a:cs typeface="Times New Roman" panose="02020603050405020304" pitchFamily="18" charset="0"/>
          </a:endParaRPr>
        </a:p>
      </dgm:t>
    </dgm:pt>
    <dgm:pt modelId="{BE269417-320E-4AF4-8476-BDDABFE471CB}" type="parTrans" cxnId="{A8FD6EEB-5FDA-4B39-90D7-9D12FA64EDF3}">
      <dgm:prSet/>
      <dgm:spPr/>
      <dgm:t>
        <a:bodyPr/>
        <a:lstStyle/>
        <a:p>
          <a:endParaRPr lang="en-US"/>
        </a:p>
      </dgm:t>
    </dgm:pt>
    <dgm:pt modelId="{4DB54C35-4437-40AE-8526-C39D530EADB4}" type="sibTrans" cxnId="{A8FD6EEB-5FDA-4B39-90D7-9D12FA64EDF3}">
      <dgm:prSet/>
      <dgm:spPr/>
      <dgm:t>
        <a:bodyPr/>
        <a:lstStyle/>
        <a:p>
          <a:endParaRPr lang="en-US"/>
        </a:p>
      </dgm:t>
    </dgm:pt>
    <dgm:pt modelId="{F8F9F5D5-7EE5-4C46-9297-92066EE59AAA}" type="pres">
      <dgm:prSet presAssocID="{D807BD0D-ADBA-42D2-8245-8D1D6DAD882D}" presName="vert0" presStyleCnt="0">
        <dgm:presLayoutVars>
          <dgm:dir/>
          <dgm:animOne val="branch"/>
          <dgm:animLvl val="lvl"/>
        </dgm:presLayoutVars>
      </dgm:prSet>
      <dgm:spPr/>
    </dgm:pt>
    <dgm:pt modelId="{3CCC2C0C-F0CE-4F78-B766-E6014F45FA60}" type="pres">
      <dgm:prSet presAssocID="{DEDF41A5-918E-4E6D-B2F6-3351D31A34A5}" presName="thickLine" presStyleLbl="alignNode1" presStyleIdx="0" presStyleCnt="1"/>
      <dgm:spPr/>
    </dgm:pt>
    <dgm:pt modelId="{54AEAE3C-D137-4675-8898-0FC93060E128}" type="pres">
      <dgm:prSet presAssocID="{DEDF41A5-918E-4E6D-B2F6-3351D31A34A5}" presName="horz1" presStyleCnt="0"/>
      <dgm:spPr/>
    </dgm:pt>
    <dgm:pt modelId="{B31D742D-EA88-4809-BA52-4B5115514729}" type="pres">
      <dgm:prSet presAssocID="{DEDF41A5-918E-4E6D-B2F6-3351D31A34A5}" presName="tx1" presStyleLbl="revTx" presStyleIdx="0" presStyleCnt="1" custScaleY="66949"/>
      <dgm:spPr/>
    </dgm:pt>
    <dgm:pt modelId="{F9D56CA8-4167-48F6-ACE7-F63864D04C86}" type="pres">
      <dgm:prSet presAssocID="{DEDF41A5-918E-4E6D-B2F6-3351D31A34A5}" presName="vert1" presStyleCnt="0"/>
      <dgm:spPr/>
    </dgm:pt>
  </dgm:ptLst>
  <dgm:cxnLst>
    <dgm:cxn modelId="{AD2EEB71-7BC1-4B5F-BE79-62E4E94EAC7A}" type="presOf" srcId="{DEDF41A5-918E-4E6D-B2F6-3351D31A34A5}" destId="{B31D742D-EA88-4809-BA52-4B5115514729}" srcOrd="0" destOrd="0" presId="urn:microsoft.com/office/officeart/2008/layout/LinedList"/>
    <dgm:cxn modelId="{BA73F7AE-9972-4E86-860B-AD21D43AAC8C}" type="presOf" srcId="{D807BD0D-ADBA-42D2-8245-8D1D6DAD882D}" destId="{F8F9F5D5-7EE5-4C46-9297-92066EE59AAA}" srcOrd="0" destOrd="0" presId="urn:microsoft.com/office/officeart/2008/layout/LinedList"/>
    <dgm:cxn modelId="{A8FD6EEB-5FDA-4B39-90D7-9D12FA64EDF3}" srcId="{D807BD0D-ADBA-42D2-8245-8D1D6DAD882D}" destId="{DEDF41A5-918E-4E6D-B2F6-3351D31A34A5}" srcOrd="0" destOrd="0" parTransId="{BE269417-320E-4AF4-8476-BDDABFE471CB}" sibTransId="{4DB54C35-4437-40AE-8526-C39D530EADB4}"/>
    <dgm:cxn modelId="{94A3E03B-983C-4FB2-B9A2-D9E300E992AF}" type="presParOf" srcId="{F8F9F5D5-7EE5-4C46-9297-92066EE59AAA}" destId="{3CCC2C0C-F0CE-4F78-B766-E6014F45FA60}" srcOrd="0" destOrd="0" presId="urn:microsoft.com/office/officeart/2008/layout/LinedList"/>
    <dgm:cxn modelId="{DAD6170F-F82F-4AD1-A052-467C9793E599}" type="presParOf" srcId="{F8F9F5D5-7EE5-4C46-9297-92066EE59AAA}" destId="{54AEAE3C-D137-4675-8898-0FC93060E128}" srcOrd="1" destOrd="0" presId="urn:microsoft.com/office/officeart/2008/layout/LinedList"/>
    <dgm:cxn modelId="{D663EB30-9B66-4FE0-9F77-250F1E7A89B1}" type="presParOf" srcId="{54AEAE3C-D137-4675-8898-0FC93060E128}" destId="{B31D742D-EA88-4809-BA52-4B5115514729}" srcOrd="0" destOrd="0" presId="urn:microsoft.com/office/officeart/2008/layout/LinedList"/>
    <dgm:cxn modelId="{C92A2E04-C89C-4ED5-9E71-FFF25249C6EC}" type="presParOf" srcId="{54AEAE3C-D137-4675-8898-0FC93060E128}" destId="{F9D56CA8-4167-48F6-ACE7-F63864D04C86}"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CC2C0C-F0CE-4F78-B766-E6014F45FA60}">
      <dsp:nvSpPr>
        <dsp:cNvPr id="0" name=""/>
        <dsp:cNvSpPr/>
      </dsp:nvSpPr>
      <dsp:spPr>
        <a:xfrm>
          <a:off x="0" y="548642"/>
          <a:ext cx="6492875"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31D742D-EA88-4809-BA52-4B5115514729}">
      <dsp:nvSpPr>
        <dsp:cNvPr id="0" name=""/>
        <dsp:cNvSpPr/>
      </dsp:nvSpPr>
      <dsp:spPr>
        <a:xfrm>
          <a:off x="0" y="548642"/>
          <a:ext cx="6492875" cy="22226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2880" tIns="182880" rIns="182880" bIns="182880" numCol="1" spcCol="1270" anchor="t" anchorCtr="0">
          <a:noAutofit/>
        </a:bodyPr>
        <a:lstStyle/>
        <a:p>
          <a:pPr marL="0" lvl="0" indent="0" algn="just" defTabSz="2133600">
            <a:lnSpc>
              <a:spcPct val="90000"/>
            </a:lnSpc>
            <a:spcBef>
              <a:spcPct val="0"/>
            </a:spcBef>
            <a:spcAft>
              <a:spcPct val="35000"/>
            </a:spcAft>
            <a:buNone/>
          </a:pPr>
          <a:r>
            <a:rPr lang="en-US" altLang="en-US" sz="4800" kern="1200" dirty="0"/>
            <a:t>Max Flow – Min Cut Problem</a:t>
          </a:r>
          <a:endParaRPr lang="en-US" sz="4800" kern="1200" dirty="0">
            <a:latin typeface="Times New Roman" panose="02020603050405020304" pitchFamily="18" charset="0"/>
            <a:cs typeface="Times New Roman" panose="02020603050405020304" pitchFamily="18" charset="0"/>
          </a:endParaRPr>
        </a:p>
      </dsp:txBody>
      <dsp:txXfrm>
        <a:off x="0" y="548642"/>
        <a:ext cx="6492875" cy="222269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7C922B-60FD-495B-9D74-68194EFB783F}" type="datetimeFigureOut">
              <a:rPr lang="en-IN" smtClean="0"/>
              <a:t>08-04-2025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3318B2-FA43-4F62-8995-F19CE52B0264}" type="slidenum">
              <a:rPr lang="en-IN" smtClean="0"/>
              <a:t>‹#›</a:t>
            </a:fld>
            <a:endParaRPr lang="en-IN"/>
          </a:p>
        </p:txBody>
      </p:sp>
    </p:spTree>
    <p:extLst>
      <p:ext uri="{BB962C8B-B14F-4D97-AF65-F5344CB8AC3E}">
        <p14:creationId xmlns:p14="http://schemas.microsoft.com/office/powerpoint/2010/main" val="32320957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4C62CEE-52B3-6EA0-A596-2E7008BC77F3}"/>
              </a:ext>
            </a:extLst>
          </p:cNvPr>
          <p:cNvSpPr>
            <a:spLocks noGrp="1" noChangeArrowheads="1"/>
          </p:cNvSpPr>
          <p:nvPr>
            <p:ph type="sldNum" sz="quarter" idx="5"/>
          </p:nvPr>
        </p:nvSpPr>
        <p:spPr>
          <a:ln/>
        </p:spPr>
        <p:txBody>
          <a:bodyPr/>
          <a:lstStyle/>
          <a:p>
            <a:fld id="{70485CE2-42BD-4C09-B288-31E6E3021A85}" type="slidenum">
              <a:rPr lang="en-US" altLang="en-US"/>
              <a:pPr/>
              <a:t>3</a:t>
            </a:fld>
            <a:endParaRPr lang="en-US" altLang="en-US"/>
          </a:p>
        </p:txBody>
      </p:sp>
      <p:sp>
        <p:nvSpPr>
          <p:cNvPr id="105474" name="Rectangle 2">
            <a:extLst>
              <a:ext uri="{FF2B5EF4-FFF2-40B4-BE49-F238E27FC236}">
                <a16:creationId xmlns:a16="http://schemas.microsoft.com/office/drawing/2014/main" id="{ED6C7AFB-45CB-C327-9090-06537850CD97}"/>
              </a:ext>
            </a:extLst>
          </p:cNvPr>
          <p:cNvSpPr>
            <a:spLocks noGrp="1" noRot="1" noChangeAspect="1" noChangeArrowheads="1" noTextEdit="1"/>
          </p:cNvSpPr>
          <p:nvPr>
            <p:ph type="sldImg"/>
          </p:nvPr>
        </p:nvSpPr>
        <p:spPr>
          <a:ln/>
        </p:spPr>
      </p:sp>
      <p:sp>
        <p:nvSpPr>
          <p:cNvPr id="105475" name="Rectangle 3">
            <a:extLst>
              <a:ext uri="{FF2B5EF4-FFF2-40B4-BE49-F238E27FC236}">
                <a16:creationId xmlns:a16="http://schemas.microsoft.com/office/drawing/2014/main" id="{19907F37-3519-CE58-D489-21C292103737}"/>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3689643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7FC23-DC3C-4975-8DCB-2795A0CB1A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76C2EBD-6428-424A-AB09-E849006311C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2390710-2C21-4F7B-AC75-1310A1F39059}"/>
              </a:ext>
            </a:extLst>
          </p:cNvPr>
          <p:cNvSpPr>
            <a:spLocks noGrp="1"/>
          </p:cNvSpPr>
          <p:nvPr>
            <p:ph type="dt" sz="half" idx="10"/>
          </p:nvPr>
        </p:nvSpPr>
        <p:spPr/>
        <p:txBody>
          <a:bodyPr/>
          <a:lstStyle/>
          <a:p>
            <a:fld id="{4A24E43A-7563-42F7-A1DD-3F9A93A3C453}" type="datetimeFigureOut">
              <a:rPr lang="en-IN" smtClean="0"/>
              <a:t>08-04-2025</a:t>
            </a:fld>
            <a:endParaRPr lang="en-IN"/>
          </a:p>
        </p:txBody>
      </p:sp>
      <p:sp>
        <p:nvSpPr>
          <p:cNvPr id="5" name="Footer Placeholder 4">
            <a:extLst>
              <a:ext uri="{FF2B5EF4-FFF2-40B4-BE49-F238E27FC236}">
                <a16:creationId xmlns:a16="http://schemas.microsoft.com/office/drawing/2014/main" id="{17A72BF9-398B-4ADF-A330-8F296D65B7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C5BE17-7F3D-4DF2-AD0A-645247928993}"/>
              </a:ext>
            </a:extLst>
          </p:cNvPr>
          <p:cNvSpPr>
            <a:spLocks noGrp="1"/>
          </p:cNvSpPr>
          <p:nvPr>
            <p:ph type="sldNum" sz="quarter" idx="12"/>
          </p:nvPr>
        </p:nvSpPr>
        <p:spPr/>
        <p:txBody>
          <a:bodyPr/>
          <a:lstStyle/>
          <a:p>
            <a:fld id="{501E4A24-71E9-4E5B-9577-D5B8E3E876B3}" type="slidenum">
              <a:rPr lang="en-IN" smtClean="0"/>
              <a:t>‹#›</a:t>
            </a:fld>
            <a:endParaRPr lang="en-IN"/>
          </a:p>
        </p:txBody>
      </p:sp>
    </p:spTree>
    <p:extLst>
      <p:ext uri="{BB962C8B-B14F-4D97-AF65-F5344CB8AC3E}">
        <p14:creationId xmlns:p14="http://schemas.microsoft.com/office/powerpoint/2010/main" val="1420006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964D6-AF50-48C2-AB24-C411B58B7E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57B44B5-7B2D-482E-B6ED-EE8E61C0EBA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E8E04E-5EB0-4DA0-9AA3-948A4D3D9CE6}"/>
              </a:ext>
            </a:extLst>
          </p:cNvPr>
          <p:cNvSpPr>
            <a:spLocks noGrp="1"/>
          </p:cNvSpPr>
          <p:nvPr>
            <p:ph type="dt" sz="half" idx="10"/>
          </p:nvPr>
        </p:nvSpPr>
        <p:spPr/>
        <p:txBody>
          <a:bodyPr/>
          <a:lstStyle/>
          <a:p>
            <a:fld id="{4A24E43A-7563-42F7-A1DD-3F9A93A3C453}" type="datetimeFigureOut">
              <a:rPr lang="en-IN" smtClean="0"/>
              <a:t>08-04-2025</a:t>
            </a:fld>
            <a:endParaRPr lang="en-IN"/>
          </a:p>
        </p:txBody>
      </p:sp>
      <p:sp>
        <p:nvSpPr>
          <p:cNvPr id="5" name="Footer Placeholder 4">
            <a:extLst>
              <a:ext uri="{FF2B5EF4-FFF2-40B4-BE49-F238E27FC236}">
                <a16:creationId xmlns:a16="http://schemas.microsoft.com/office/drawing/2014/main" id="{DC9640F3-0D3A-4AC4-A743-D54F6E4683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1B91DBE-20E1-488B-B5AD-EE53CD429512}"/>
              </a:ext>
            </a:extLst>
          </p:cNvPr>
          <p:cNvSpPr>
            <a:spLocks noGrp="1"/>
          </p:cNvSpPr>
          <p:nvPr>
            <p:ph type="sldNum" sz="quarter" idx="12"/>
          </p:nvPr>
        </p:nvSpPr>
        <p:spPr/>
        <p:txBody>
          <a:bodyPr/>
          <a:lstStyle/>
          <a:p>
            <a:fld id="{501E4A24-71E9-4E5B-9577-D5B8E3E876B3}" type="slidenum">
              <a:rPr lang="en-IN" smtClean="0"/>
              <a:t>‹#›</a:t>
            </a:fld>
            <a:endParaRPr lang="en-IN"/>
          </a:p>
        </p:txBody>
      </p:sp>
    </p:spTree>
    <p:extLst>
      <p:ext uri="{BB962C8B-B14F-4D97-AF65-F5344CB8AC3E}">
        <p14:creationId xmlns:p14="http://schemas.microsoft.com/office/powerpoint/2010/main" val="19291117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40DB7-59E7-421B-A237-D9A70DF279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45A2C80-D6B8-4453-8A9B-C01A50200F5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B2982E6-E9EA-4F35-91A3-04C6097A427E}"/>
              </a:ext>
            </a:extLst>
          </p:cNvPr>
          <p:cNvSpPr>
            <a:spLocks noGrp="1"/>
          </p:cNvSpPr>
          <p:nvPr>
            <p:ph type="dt" sz="half" idx="10"/>
          </p:nvPr>
        </p:nvSpPr>
        <p:spPr/>
        <p:txBody>
          <a:bodyPr/>
          <a:lstStyle/>
          <a:p>
            <a:fld id="{4A24E43A-7563-42F7-A1DD-3F9A93A3C453}" type="datetimeFigureOut">
              <a:rPr lang="en-IN" smtClean="0"/>
              <a:t>08-04-2025</a:t>
            </a:fld>
            <a:endParaRPr lang="en-IN"/>
          </a:p>
        </p:txBody>
      </p:sp>
      <p:sp>
        <p:nvSpPr>
          <p:cNvPr id="5" name="Footer Placeholder 4">
            <a:extLst>
              <a:ext uri="{FF2B5EF4-FFF2-40B4-BE49-F238E27FC236}">
                <a16:creationId xmlns:a16="http://schemas.microsoft.com/office/drawing/2014/main" id="{D0576876-FB0F-48BD-B089-A496C57443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F2E17C-7EB8-4F87-81E7-D181921C316A}"/>
              </a:ext>
            </a:extLst>
          </p:cNvPr>
          <p:cNvSpPr>
            <a:spLocks noGrp="1"/>
          </p:cNvSpPr>
          <p:nvPr>
            <p:ph type="sldNum" sz="quarter" idx="12"/>
          </p:nvPr>
        </p:nvSpPr>
        <p:spPr/>
        <p:txBody>
          <a:bodyPr/>
          <a:lstStyle/>
          <a:p>
            <a:fld id="{501E4A24-71E9-4E5B-9577-D5B8E3E876B3}" type="slidenum">
              <a:rPr lang="en-IN" smtClean="0"/>
              <a:t>‹#›</a:t>
            </a:fld>
            <a:endParaRPr lang="en-IN"/>
          </a:p>
        </p:txBody>
      </p:sp>
    </p:spTree>
    <p:extLst>
      <p:ext uri="{BB962C8B-B14F-4D97-AF65-F5344CB8AC3E}">
        <p14:creationId xmlns:p14="http://schemas.microsoft.com/office/powerpoint/2010/main" val="27835122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87B35-6DA6-4653-9E07-6627AEF0F6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EEEC093-FF92-406C-B790-378E285B7D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2C54F64-7E64-4F6D-9355-9E5A3E2019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DD2B062-A67D-4362-9C45-9A97CD6353EF}"/>
              </a:ext>
            </a:extLst>
          </p:cNvPr>
          <p:cNvSpPr>
            <a:spLocks noGrp="1"/>
          </p:cNvSpPr>
          <p:nvPr>
            <p:ph type="dt" sz="half" idx="10"/>
          </p:nvPr>
        </p:nvSpPr>
        <p:spPr/>
        <p:txBody>
          <a:bodyPr/>
          <a:lstStyle/>
          <a:p>
            <a:fld id="{4A24E43A-7563-42F7-A1DD-3F9A93A3C453}" type="datetimeFigureOut">
              <a:rPr lang="en-IN" smtClean="0"/>
              <a:t>08-04-2025</a:t>
            </a:fld>
            <a:endParaRPr lang="en-IN"/>
          </a:p>
        </p:txBody>
      </p:sp>
      <p:sp>
        <p:nvSpPr>
          <p:cNvPr id="6" name="Footer Placeholder 5">
            <a:extLst>
              <a:ext uri="{FF2B5EF4-FFF2-40B4-BE49-F238E27FC236}">
                <a16:creationId xmlns:a16="http://schemas.microsoft.com/office/drawing/2014/main" id="{E8DEF338-F5A9-4E23-B682-3E406F4FA74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B39FC52-739A-4FD3-8910-FE53BBAF55B1}"/>
              </a:ext>
            </a:extLst>
          </p:cNvPr>
          <p:cNvSpPr>
            <a:spLocks noGrp="1"/>
          </p:cNvSpPr>
          <p:nvPr>
            <p:ph type="sldNum" sz="quarter" idx="12"/>
          </p:nvPr>
        </p:nvSpPr>
        <p:spPr/>
        <p:txBody>
          <a:bodyPr/>
          <a:lstStyle/>
          <a:p>
            <a:fld id="{501E4A24-71E9-4E5B-9577-D5B8E3E876B3}" type="slidenum">
              <a:rPr lang="en-IN" smtClean="0"/>
              <a:t>‹#›</a:t>
            </a:fld>
            <a:endParaRPr lang="en-IN"/>
          </a:p>
        </p:txBody>
      </p:sp>
    </p:spTree>
    <p:extLst>
      <p:ext uri="{BB962C8B-B14F-4D97-AF65-F5344CB8AC3E}">
        <p14:creationId xmlns:p14="http://schemas.microsoft.com/office/powerpoint/2010/main" val="4784525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6E454-D218-4F4E-A368-FBEE3F97DC8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27EAA9A-5DF3-4183-B564-B6CC0945DB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0DFB04D-B315-459D-BC2F-3667943208F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F09C9F4-EC3B-44AE-9551-1A3C4DEE961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337A7A-B4F8-462D-B14D-274A4CA37DB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8DB300B-411A-4E2B-A48F-F169F3928DE5}"/>
              </a:ext>
            </a:extLst>
          </p:cNvPr>
          <p:cNvSpPr>
            <a:spLocks noGrp="1"/>
          </p:cNvSpPr>
          <p:nvPr>
            <p:ph type="dt" sz="half" idx="10"/>
          </p:nvPr>
        </p:nvSpPr>
        <p:spPr/>
        <p:txBody>
          <a:bodyPr/>
          <a:lstStyle/>
          <a:p>
            <a:fld id="{4A24E43A-7563-42F7-A1DD-3F9A93A3C453}" type="datetimeFigureOut">
              <a:rPr lang="en-IN" smtClean="0"/>
              <a:t>08-04-2025</a:t>
            </a:fld>
            <a:endParaRPr lang="en-IN"/>
          </a:p>
        </p:txBody>
      </p:sp>
      <p:sp>
        <p:nvSpPr>
          <p:cNvPr id="8" name="Footer Placeholder 7">
            <a:extLst>
              <a:ext uri="{FF2B5EF4-FFF2-40B4-BE49-F238E27FC236}">
                <a16:creationId xmlns:a16="http://schemas.microsoft.com/office/drawing/2014/main" id="{D99ADB9F-F1D7-4263-84D4-C8997C7504F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0007ABD-0D32-4391-9271-D3EB5D6EDA70}"/>
              </a:ext>
            </a:extLst>
          </p:cNvPr>
          <p:cNvSpPr>
            <a:spLocks noGrp="1"/>
          </p:cNvSpPr>
          <p:nvPr>
            <p:ph type="sldNum" sz="quarter" idx="12"/>
          </p:nvPr>
        </p:nvSpPr>
        <p:spPr/>
        <p:txBody>
          <a:bodyPr/>
          <a:lstStyle/>
          <a:p>
            <a:fld id="{501E4A24-71E9-4E5B-9577-D5B8E3E876B3}" type="slidenum">
              <a:rPr lang="en-IN" smtClean="0"/>
              <a:t>‹#›</a:t>
            </a:fld>
            <a:endParaRPr lang="en-IN"/>
          </a:p>
        </p:txBody>
      </p:sp>
    </p:spTree>
    <p:extLst>
      <p:ext uri="{BB962C8B-B14F-4D97-AF65-F5344CB8AC3E}">
        <p14:creationId xmlns:p14="http://schemas.microsoft.com/office/powerpoint/2010/main" val="39245229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DB8B1-85FD-4B2B-8B0A-C482F674CC4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0180D04-685B-4AD6-9FC7-506AA6F7EDAC}"/>
              </a:ext>
            </a:extLst>
          </p:cNvPr>
          <p:cNvSpPr>
            <a:spLocks noGrp="1"/>
          </p:cNvSpPr>
          <p:nvPr>
            <p:ph type="dt" sz="half" idx="10"/>
          </p:nvPr>
        </p:nvSpPr>
        <p:spPr/>
        <p:txBody>
          <a:bodyPr/>
          <a:lstStyle/>
          <a:p>
            <a:fld id="{4A24E43A-7563-42F7-A1DD-3F9A93A3C453}" type="datetimeFigureOut">
              <a:rPr lang="en-IN" smtClean="0"/>
              <a:t>08-04-2025</a:t>
            </a:fld>
            <a:endParaRPr lang="en-IN"/>
          </a:p>
        </p:txBody>
      </p:sp>
      <p:sp>
        <p:nvSpPr>
          <p:cNvPr id="4" name="Footer Placeholder 3">
            <a:extLst>
              <a:ext uri="{FF2B5EF4-FFF2-40B4-BE49-F238E27FC236}">
                <a16:creationId xmlns:a16="http://schemas.microsoft.com/office/drawing/2014/main" id="{C5655466-2CC6-434A-996E-7D9464B9EA3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837E820-2156-4049-A50E-A2BB70766F35}"/>
              </a:ext>
            </a:extLst>
          </p:cNvPr>
          <p:cNvSpPr>
            <a:spLocks noGrp="1"/>
          </p:cNvSpPr>
          <p:nvPr>
            <p:ph type="sldNum" sz="quarter" idx="12"/>
          </p:nvPr>
        </p:nvSpPr>
        <p:spPr/>
        <p:txBody>
          <a:bodyPr/>
          <a:lstStyle/>
          <a:p>
            <a:fld id="{501E4A24-71E9-4E5B-9577-D5B8E3E876B3}" type="slidenum">
              <a:rPr lang="en-IN" smtClean="0"/>
              <a:t>‹#›</a:t>
            </a:fld>
            <a:endParaRPr lang="en-IN"/>
          </a:p>
        </p:txBody>
      </p:sp>
    </p:spTree>
    <p:extLst>
      <p:ext uri="{BB962C8B-B14F-4D97-AF65-F5344CB8AC3E}">
        <p14:creationId xmlns:p14="http://schemas.microsoft.com/office/powerpoint/2010/main" val="13780652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59D5CB-3008-41B8-B50F-F5F466F75BD1}"/>
              </a:ext>
            </a:extLst>
          </p:cNvPr>
          <p:cNvSpPr>
            <a:spLocks noGrp="1"/>
          </p:cNvSpPr>
          <p:nvPr>
            <p:ph type="dt" sz="half" idx="10"/>
          </p:nvPr>
        </p:nvSpPr>
        <p:spPr/>
        <p:txBody>
          <a:bodyPr/>
          <a:lstStyle/>
          <a:p>
            <a:fld id="{4A24E43A-7563-42F7-A1DD-3F9A93A3C453}" type="datetimeFigureOut">
              <a:rPr lang="en-IN" smtClean="0"/>
              <a:t>08-04-2025</a:t>
            </a:fld>
            <a:endParaRPr lang="en-IN"/>
          </a:p>
        </p:txBody>
      </p:sp>
      <p:sp>
        <p:nvSpPr>
          <p:cNvPr id="3" name="Footer Placeholder 2">
            <a:extLst>
              <a:ext uri="{FF2B5EF4-FFF2-40B4-BE49-F238E27FC236}">
                <a16:creationId xmlns:a16="http://schemas.microsoft.com/office/drawing/2014/main" id="{2B57AFA4-987E-4FD7-9558-F40157927E8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20D4924-6375-49BA-9A25-D7F70D56D7C6}"/>
              </a:ext>
            </a:extLst>
          </p:cNvPr>
          <p:cNvSpPr>
            <a:spLocks noGrp="1"/>
          </p:cNvSpPr>
          <p:nvPr>
            <p:ph type="sldNum" sz="quarter" idx="12"/>
          </p:nvPr>
        </p:nvSpPr>
        <p:spPr/>
        <p:txBody>
          <a:bodyPr/>
          <a:lstStyle/>
          <a:p>
            <a:fld id="{501E4A24-71E9-4E5B-9577-D5B8E3E876B3}" type="slidenum">
              <a:rPr lang="en-IN" smtClean="0"/>
              <a:t>‹#›</a:t>
            </a:fld>
            <a:endParaRPr lang="en-IN"/>
          </a:p>
        </p:txBody>
      </p:sp>
    </p:spTree>
    <p:extLst>
      <p:ext uri="{BB962C8B-B14F-4D97-AF65-F5344CB8AC3E}">
        <p14:creationId xmlns:p14="http://schemas.microsoft.com/office/powerpoint/2010/main" val="1464146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20F96-8997-4ED8-95F1-17E6479D3F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9FB63FC-B48D-4EF0-8B37-36F6229B833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814628F-6C39-4E33-A915-783C27B093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5A0233-603C-497E-894E-6C826F22B440}"/>
              </a:ext>
            </a:extLst>
          </p:cNvPr>
          <p:cNvSpPr>
            <a:spLocks noGrp="1"/>
          </p:cNvSpPr>
          <p:nvPr>
            <p:ph type="dt" sz="half" idx="10"/>
          </p:nvPr>
        </p:nvSpPr>
        <p:spPr/>
        <p:txBody>
          <a:bodyPr/>
          <a:lstStyle/>
          <a:p>
            <a:fld id="{4A24E43A-7563-42F7-A1DD-3F9A93A3C453}" type="datetimeFigureOut">
              <a:rPr lang="en-IN" smtClean="0"/>
              <a:t>08-04-2025</a:t>
            </a:fld>
            <a:endParaRPr lang="en-IN"/>
          </a:p>
        </p:txBody>
      </p:sp>
      <p:sp>
        <p:nvSpPr>
          <p:cNvPr id="6" name="Footer Placeholder 5">
            <a:extLst>
              <a:ext uri="{FF2B5EF4-FFF2-40B4-BE49-F238E27FC236}">
                <a16:creationId xmlns:a16="http://schemas.microsoft.com/office/drawing/2014/main" id="{B098A6E7-3AB1-4B03-9D91-8647EA08AFF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B959B93-986F-4A61-887E-8B39AFD1F618}"/>
              </a:ext>
            </a:extLst>
          </p:cNvPr>
          <p:cNvSpPr>
            <a:spLocks noGrp="1"/>
          </p:cNvSpPr>
          <p:nvPr>
            <p:ph type="sldNum" sz="quarter" idx="12"/>
          </p:nvPr>
        </p:nvSpPr>
        <p:spPr/>
        <p:txBody>
          <a:bodyPr/>
          <a:lstStyle/>
          <a:p>
            <a:fld id="{501E4A24-71E9-4E5B-9577-D5B8E3E876B3}" type="slidenum">
              <a:rPr lang="en-IN" smtClean="0"/>
              <a:t>‹#›</a:t>
            </a:fld>
            <a:endParaRPr lang="en-IN"/>
          </a:p>
        </p:txBody>
      </p:sp>
    </p:spTree>
    <p:extLst>
      <p:ext uri="{BB962C8B-B14F-4D97-AF65-F5344CB8AC3E}">
        <p14:creationId xmlns:p14="http://schemas.microsoft.com/office/powerpoint/2010/main" val="42755440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CDC66-60A2-4D51-99BA-FE33E882CF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7E1DAC0-37D9-4822-9AD8-602341F5BD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DB5FC53-D94B-46F4-B681-D40233A28A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E78DB6-C05F-4D29-AF1D-E642CE0A9317}"/>
              </a:ext>
            </a:extLst>
          </p:cNvPr>
          <p:cNvSpPr>
            <a:spLocks noGrp="1"/>
          </p:cNvSpPr>
          <p:nvPr>
            <p:ph type="dt" sz="half" idx="10"/>
          </p:nvPr>
        </p:nvSpPr>
        <p:spPr/>
        <p:txBody>
          <a:bodyPr/>
          <a:lstStyle/>
          <a:p>
            <a:fld id="{4A24E43A-7563-42F7-A1DD-3F9A93A3C453}" type="datetimeFigureOut">
              <a:rPr lang="en-IN" smtClean="0"/>
              <a:t>08-04-2025</a:t>
            </a:fld>
            <a:endParaRPr lang="en-IN"/>
          </a:p>
        </p:txBody>
      </p:sp>
      <p:sp>
        <p:nvSpPr>
          <p:cNvPr id="6" name="Footer Placeholder 5">
            <a:extLst>
              <a:ext uri="{FF2B5EF4-FFF2-40B4-BE49-F238E27FC236}">
                <a16:creationId xmlns:a16="http://schemas.microsoft.com/office/drawing/2014/main" id="{029E0BC2-B76C-40C1-97C4-77E4C91A2E3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5EFB614-A2B4-4AC3-97D0-666DE9AD6B10}"/>
              </a:ext>
            </a:extLst>
          </p:cNvPr>
          <p:cNvSpPr>
            <a:spLocks noGrp="1"/>
          </p:cNvSpPr>
          <p:nvPr>
            <p:ph type="sldNum" sz="quarter" idx="12"/>
          </p:nvPr>
        </p:nvSpPr>
        <p:spPr/>
        <p:txBody>
          <a:bodyPr/>
          <a:lstStyle/>
          <a:p>
            <a:fld id="{501E4A24-71E9-4E5B-9577-D5B8E3E876B3}" type="slidenum">
              <a:rPr lang="en-IN" smtClean="0"/>
              <a:t>‹#›</a:t>
            </a:fld>
            <a:endParaRPr lang="en-IN"/>
          </a:p>
        </p:txBody>
      </p:sp>
    </p:spTree>
    <p:extLst>
      <p:ext uri="{BB962C8B-B14F-4D97-AF65-F5344CB8AC3E}">
        <p14:creationId xmlns:p14="http://schemas.microsoft.com/office/powerpoint/2010/main" val="10155167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AF81E-A5ED-4059-9145-48654E0BCD5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565B84A-3625-4887-8F36-31EF2C3C3A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D4B3D81-B51D-48BD-82A5-DEA3B3E5E3DE}"/>
              </a:ext>
            </a:extLst>
          </p:cNvPr>
          <p:cNvSpPr>
            <a:spLocks noGrp="1"/>
          </p:cNvSpPr>
          <p:nvPr>
            <p:ph type="dt" sz="half" idx="10"/>
          </p:nvPr>
        </p:nvSpPr>
        <p:spPr/>
        <p:txBody>
          <a:bodyPr/>
          <a:lstStyle/>
          <a:p>
            <a:fld id="{4A24E43A-7563-42F7-A1DD-3F9A93A3C453}" type="datetimeFigureOut">
              <a:rPr lang="en-IN" smtClean="0"/>
              <a:t>08-04-2025</a:t>
            </a:fld>
            <a:endParaRPr lang="en-IN"/>
          </a:p>
        </p:txBody>
      </p:sp>
      <p:sp>
        <p:nvSpPr>
          <p:cNvPr id="5" name="Footer Placeholder 4">
            <a:extLst>
              <a:ext uri="{FF2B5EF4-FFF2-40B4-BE49-F238E27FC236}">
                <a16:creationId xmlns:a16="http://schemas.microsoft.com/office/drawing/2014/main" id="{CBACECB2-BB94-4675-8371-EDAC0F06EB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A20FEF-D8F6-4F1A-AB87-5B575760B680}"/>
              </a:ext>
            </a:extLst>
          </p:cNvPr>
          <p:cNvSpPr>
            <a:spLocks noGrp="1"/>
          </p:cNvSpPr>
          <p:nvPr>
            <p:ph type="sldNum" sz="quarter" idx="12"/>
          </p:nvPr>
        </p:nvSpPr>
        <p:spPr/>
        <p:txBody>
          <a:bodyPr/>
          <a:lstStyle/>
          <a:p>
            <a:fld id="{501E4A24-71E9-4E5B-9577-D5B8E3E876B3}" type="slidenum">
              <a:rPr lang="en-IN" smtClean="0"/>
              <a:t>‹#›</a:t>
            </a:fld>
            <a:endParaRPr lang="en-IN"/>
          </a:p>
        </p:txBody>
      </p:sp>
    </p:spTree>
    <p:extLst>
      <p:ext uri="{BB962C8B-B14F-4D97-AF65-F5344CB8AC3E}">
        <p14:creationId xmlns:p14="http://schemas.microsoft.com/office/powerpoint/2010/main" val="3532108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78DC66-A94F-4B9C-9D19-70B1DE88A40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AA80612-68DB-41C2-A42C-F6A0A3F754C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B5A7F2-4DF9-46B8-ACAC-82E6B005C6AC}"/>
              </a:ext>
            </a:extLst>
          </p:cNvPr>
          <p:cNvSpPr>
            <a:spLocks noGrp="1"/>
          </p:cNvSpPr>
          <p:nvPr>
            <p:ph type="dt" sz="half" idx="10"/>
          </p:nvPr>
        </p:nvSpPr>
        <p:spPr/>
        <p:txBody>
          <a:bodyPr/>
          <a:lstStyle/>
          <a:p>
            <a:fld id="{4A24E43A-7563-42F7-A1DD-3F9A93A3C453}" type="datetimeFigureOut">
              <a:rPr lang="en-IN" smtClean="0"/>
              <a:t>08-04-2025</a:t>
            </a:fld>
            <a:endParaRPr lang="en-IN"/>
          </a:p>
        </p:txBody>
      </p:sp>
      <p:sp>
        <p:nvSpPr>
          <p:cNvPr id="5" name="Footer Placeholder 4">
            <a:extLst>
              <a:ext uri="{FF2B5EF4-FFF2-40B4-BE49-F238E27FC236}">
                <a16:creationId xmlns:a16="http://schemas.microsoft.com/office/drawing/2014/main" id="{B26F5E13-8993-4BCC-A065-A5591B7D18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A4D39A-E59D-4D88-B7F9-38CA41323F6B}"/>
              </a:ext>
            </a:extLst>
          </p:cNvPr>
          <p:cNvSpPr>
            <a:spLocks noGrp="1"/>
          </p:cNvSpPr>
          <p:nvPr>
            <p:ph type="sldNum" sz="quarter" idx="12"/>
          </p:nvPr>
        </p:nvSpPr>
        <p:spPr/>
        <p:txBody>
          <a:bodyPr/>
          <a:lstStyle/>
          <a:p>
            <a:fld id="{501E4A24-71E9-4E5B-9577-D5B8E3E876B3}" type="slidenum">
              <a:rPr lang="en-IN" smtClean="0"/>
              <a:t>‹#›</a:t>
            </a:fld>
            <a:endParaRPr lang="en-IN"/>
          </a:p>
        </p:txBody>
      </p:sp>
    </p:spTree>
    <p:extLst>
      <p:ext uri="{BB962C8B-B14F-4D97-AF65-F5344CB8AC3E}">
        <p14:creationId xmlns:p14="http://schemas.microsoft.com/office/powerpoint/2010/main" val="9787588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C9B8D37-55D8-411D-BAFE-91252650CF3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6049584"/>
            <a:ext cx="12192000" cy="808416"/>
          </a:xfrm>
          <a:prstGeom prst="rect">
            <a:avLst/>
          </a:prstGeom>
        </p:spPr>
      </p:pic>
      <p:sp>
        <p:nvSpPr>
          <p:cNvPr id="8" name="Rectangle 7">
            <a:extLst>
              <a:ext uri="{FF2B5EF4-FFF2-40B4-BE49-F238E27FC236}">
                <a16:creationId xmlns:a16="http://schemas.microsoft.com/office/drawing/2014/main" id="{735DF99C-8FB5-48F5-90C6-0C0CA690D195}"/>
              </a:ext>
            </a:extLst>
          </p:cNvPr>
          <p:cNvSpPr/>
          <p:nvPr userDrawn="1"/>
        </p:nvSpPr>
        <p:spPr>
          <a:xfrm>
            <a:off x="0" y="1"/>
            <a:ext cx="12192000" cy="808416"/>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9433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87A755E-E234-4AB6-B770-0DB01A5737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0D02AE2-10BA-4962-8F9C-9FF87476C9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287E46-BBD2-491D-A435-E5A951E312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24E43A-7563-42F7-A1DD-3F9A93A3C453}" type="datetimeFigureOut">
              <a:rPr lang="en-IN" smtClean="0"/>
              <a:t>08-04-2025</a:t>
            </a:fld>
            <a:endParaRPr lang="en-IN"/>
          </a:p>
        </p:txBody>
      </p:sp>
      <p:sp>
        <p:nvSpPr>
          <p:cNvPr id="5" name="Footer Placeholder 4">
            <a:extLst>
              <a:ext uri="{FF2B5EF4-FFF2-40B4-BE49-F238E27FC236}">
                <a16:creationId xmlns:a16="http://schemas.microsoft.com/office/drawing/2014/main" id="{A20ACAA0-F85E-420D-A81F-3444ADC75F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D5765A6-C49E-4D7A-9668-2809C59C63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1E4A24-71E9-4E5B-9577-D5B8E3E876B3}" type="slidenum">
              <a:rPr lang="en-IN" smtClean="0"/>
              <a:t>‹#›</a:t>
            </a:fld>
            <a:endParaRPr lang="en-IN"/>
          </a:p>
        </p:txBody>
      </p:sp>
    </p:spTree>
    <p:extLst>
      <p:ext uri="{BB962C8B-B14F-4D97-AF65-F5344CB8AC3E}">
        <p14:creationId xmlns:p14="http://schemas.microsoft.com/office/powerpoint/2010/main" val="213001551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6.xml"/><Relationship Id="rId5" Type="http://schemas.openxmlformats.org/officeDocument/2006/relationships/image" Target="../media/image8.wmf"/><Relationship Id="rId4" Type="http://schemas.openxmlformats.org/officeDocument/2006/relationships/oleObject" Target="../embeddings/oleObject2.bin"/></Relationships>
</file>

<file path=ppt/slides/_rels/slide27.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3.bin"/><Relationship Id="rId1" Type="http://schemas.openxmlformats.org/officeDocument/2006/relationships/slideLayout" Target="../slideLayouts/slideLayout2.xml"/><Relationship Id="rId5" Type="http://schemas.openxmlformats.org/officeDocument/2006/relationships/image" Target="../media/image7.wmf"/><Relationship Id="rId4" Type="http://schemas.openxmlformats.org/officeDocument/2006/relationships/oleObject" Target="../embeddings/oleObject4.bin"/></Relationships>
</file>

<file path=ppt/slides/_rels/slide28.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5.bin"/><Relationship Id="rId1" Type="http://schemas.openxmlformats.org/officeDocument/2006/relationships/slideLayout" Target="../slideLayouts/slideLayout2.xml"/><Relationship Id="rId5" Type="http://schemas.openxmlformats.org/officeDocument/2006/relationships/image" Target="../media/image7.wmf"/><Relationship Id="rId4" Type="http://schemas.openxmlformats.org/officeDocument/2006/relationships/oleObject" Target="../embeddings/oleObject6.bin"/></Relationships>
</file>

<file path=ppt/slides/_rels/slide29.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9.bin"/><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 name="Freeform: Shape 50">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1"/>
            <a:ext cx="4403709"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53" name="Group 52">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315292" y="0"/>
            <a:ext cx="2436813" cy="6858001"/>
            <a:chOff x="1320800" y="0"/>
            <a:chExt cx="2436813" cy="6858001"/>
          </a:xfrm>
        </p:grpSpPr>
        <p:sp>
          <p:nvSpPr>
            <p:cNvPr id="54"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55"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rgbClr val="595959"/>
            </a:solidFill>
            <a:ln>
              <a:noFill/>
            </a:ln>
          </p:spPr>
        </p:sp>
        <p:sp>
          <p:nvSpPr>
            <p:cNvPr id="56"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rgbClr val="262626"/>
            </a:solidFill>
            <a:ln>
              <a:noFill/>
            </a:ln>
          </p:spPr>
        </p:sp>
        <p:sp>
          <p:nvSpPr>
            <p:cNvPr id="57"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58"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59"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404040"/>
            </a:solidFill>
            <a:ln>
              <a:noFill/>
            </a:ln>
          </p:spPr>
        </p:sp>
      </p:grpSp>
      <p:sp>
        <p:nvSpPr>
          <p:cNvPr id="5" name="TextBox 4">
            <a:extLst>
              <a:ext uri="{FF2B5EF4-FFF2-40B4-BE49-F238E27FC236}">
                <a16:creationId xmlns:a16="http://schemas.microsoft.com/office/drawing/2014/main" id="{5BE3190F-E39B-47B6-8735-2379B9352A76}"/>
              </a:ext>
            </a:extLst>
          </p:cNvPr>
          <p:cNvSpPr txBox="1"/>
          <p:nvPr/>
        </p:nvSpPr>
        <p:spPr>
          <a:xfrm>
            <a:off x="535020" y="685800"/>
            <a:ext cx="2780271" cy="510540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000" kern="1200" dirty="0">
                <a:solidFill>
                  <a:srgbClr val="FFFFFF"/>
                </a:solidFill>
                <a:latin typeface="+mj-lt"/>
                <a:ea typeface="+mj-ea"/>
                <a:cs typeface="+mj-cs"/>
              </a:rPr>
              <a:t>Lecture </a:t>
            </a:r>
            <a:r>
              <a:rPr lang="en-US" sz="4000" dirty="0">
                <a:solidFill>
                  <a:srgbClr val="FFFFFF"/>
                </a:solidFill>
                <a:latin typeface="+mj-lt"/>
                <a:ea typeface="+mj-ea"/>
                <a:cs typeface="+mj-cs"/>
              </a:rPr>
              <a:t>on</a:t>
            </a:r>
            <a:endParaRPr lang="en-US" sz="4000" kern="1200" dirty="0">
              <a:solidFill>
                <a:srgbClr val="FFFFFF"/>
              </a:solidFill>
              <a:latin typeface="+mj-lt"/>
              <a:ea typeface="+mj-ea"/>
              <a:cs typeface="+mj-cs"/>
            </a:endParaRPr>
          </a:p>
        </p:txBody>
      </p:sp>
      <p:pic>
        <p:nvPicPr>
          <p:cNvPr id="4" name="Picture 3">
            <a:extLst>
              <a:ext uri="{FF2B5EF4-FFF2-40B4-BE49-F238E27FC236}">
                <a16:creationId xmlns:a16="http://schemas.microsoft.com/office/drawing/2014/main" id="{98970251-A8FE-4E9C-8058-EA07F600ECB7}"/>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0" y="6049584"/>
            <a:ext cx="12192000" cy="808416"/>
          </a:xfrm>
          <a:prstGeom prst="rect">
            <a:avLst/>
          </a:prstGeom>
        </p:spPr>
      </p:pic>
      <p:graphicFrame>
        <p:nvGraphicFramePr>
          <p:cNvPr id="10" name="TextBox 7">
            <a:extLst>
              <a:ext uri="{FF2B5EF4-FFF2-40B4-BE49-F238E27FC236}">
                <a16:creationId xmlns:a16="http://schemas.microsoft.com/office/drawing/2014/main" id="{74681802-50A8-4E81-99BA-CCC5465706AE}"/>
              </a:ext>
            </a:extLst>
          </p:cNvPr>
          <p:cNvGraphicFramePr/>
          <p:nvPr>
            <p:extLst>
              <p:ext uri="{D42A27DB-BD31-4B8C-83A1-F6EECF244321}">
                <p14:modId xmlns:p14="http://schemas.microsoft.com/office/powerpoint/2010/main" val="1291739578"/>
              </p:ext>
            </p:extLst>
          </p:nvPr>
        </p:nvGraphicFramePr>
        <p:xfrm>
          <a:off x="5010150" y="1378634"/>
          <a:ext cx="6492875" cy="3319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99647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AB8BFD-5C1F-445C-8050-CE8F451E95B0}"/>
              </a:ext>
            </a:extLst>
          </p:cNvPr>
          <p:cNvSpPr txBox="1"/>
          <p:nvPr/>
        </p:nvSpPr>
        <p:spPr>
          <a:xfrm>
            <a:off x="838200" y="0"/>
            <a:ext cx="10515599" cy="730291"/>
          </a:xfrm>
          <a:prstGeom prst="rect">
            <a:avLst/>
          </a:prstGeom>
        </p:spPr>
        <p:txBody>
          <a:bodyPr vert="horz" lIns="91440" tIns="45720" rIns="91440" bIns="45720" rtlCol="0" anchor="b">
            <a:normAutofit fontScale="92500" lnSpcReduction="10000"/>
          </a:bodyPr>
          <a:lstStyle/>
          <a:p>
            <a:pPr lvl="0" algn="ctr"/>
            <a:r>
              <a:rPr lang="en-US" sz="4800" dirty="0">
                <a:solidFill>
                  <a:schemeClr val="bg1"/>
                </a:solidFill>
                <a:latin typeface="Times New Roman" panose="02020603050405020304" pitchFamily="18" charset="0"/>
                <a:cs typeface="Times New Roman" panose="02020603050405020304" pitchFamily="18" charset="0"/>
              </a:rPr>
              <a:t>Directed Graph Applications</a:t>
            </a:r>
          </a:p>
        </p:txBody>
      </p:sp>
      <p:sp>
        <p:nvSpPr>
          <p:cNvPr id="9" name="TextBox 8">
            <a:extLst>
              <a:ext uri="{FF2B5EF4-FFF2-40B4-BE49-F238E27FC236}">
                <a16:creationId xmlns:a16="http://schemas.microsoft.com/office/drawing/2014/main" id="{76A8B9EA-EA56-4F1D-A822-B7A651B6D388}"/>
              </a:ext>
            </a:extLst>
          </p:cNvPr>
          <p:cNvSpPr txBox="1"/>
          <p:nvPr/>
        </p:nvSpPr>
        <p:spPr>
          <a:xfrm>
            <a:off x="662354" y="1322335"/>
            <a:ext cx="10691445" cy="3043397"/>
          </a:xfrm>
          <a:prstGeom prst="rect">
            <a:avLst/>
          </a:prstGeom>
          <a:noFill/>
        </p:spPr>
        <p:txBody>
          <a:bodyPr wrap="square">
            <a:spAutoFit/>
          </a:bodyPr>
          <a:lstStyle/>
          <a:p>
            <a:pPr marL="342900" indent="-342900" eaLnBrk="1" hangingPunct="1">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Shortest Path Problem</a:t>
            </a:r>
          </a:p>
          <a:p>
            <a:pPr marL="342900" indent="-342900" eaLnBrk="1" hangingPunct="1">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	(Shortest path from one point to another)</a:t>
            </a:r>
          </a:p>
          <a:p>
            <a:pPr marL="342900" indent="-342900" eaLnBrk="1" hangingPunct="1">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Max Flow problems</a:t>
            </a:r>
          </a:p>
          <a:p>
            <a:pPr marL="342900" indent="-342900" eaLnBrk="1" hangingPunct="1">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	(Maximum material flow </a:t>
            </a:r>
            <a:r>
              <a:rPr lang="en-US" altLang="en-US" sz="2400">
                <a:latin typeface="Times New Roman" panose="02020603050405020304" pitchFamily="18" charset="0"/>
                <a:cs typeface="Times New Roman" panose="02020603050405020304" pitchFamily="18" charset="0"/>
              </a:rPr>
              <a:t>through network)</a:t>
            </a:r>
            <a:endParaRPr lang="en-US" altLang="en-US" sz="2400" dirty="0">
              <a:latin typeface="Times New Roman" panose="02020603050405020304" pitchFamily="18" charset="0"/>
              <a:cs typeface="Times New Roman" panose="02020603050405020304" pitchFamily="18" charset="0"/>
            </a:endParaRPr>
          </a:p>
          <a:p>
            <a:pPr marL="800100" lvl="1" indent="-342900" eaLnBrk="1" hangingPunct="1">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Liquid flow through pipes</a:t>
            </a:r>
          </a:p>
          <a:p>
            <a:pPr marL="800100" lvl="1" indent="-342900" eaLnBrk="1" hangingPunct="1">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Parts through assembly line</a:t>
            </a:r>
          </a:p>
          <a:p>
            <a:pPr marL="800100" lvl="1" indent="-342900" eaLnBrk="1" hangingPunct="1">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Current through electrical network, </a:t>
            </a:r>
            <a:r>
              <a:rPr lang="en-US" altLang="en-US" sz="2400" dirty="0" err="1">
                <a:latin typeface="Times New Roman" panose="02020603050405020304" pitchFamily="18" charset="0"/>
                <a:cs typeface="Times New Roman" panose="02020603050405020304" pitchFamily="18" charset="0"/>
              </a:rPr>
              <a:t>etc</a:t>
            </a:r>
            <a:endParaRPr lang="en-US" altLang="en-US" sz="2400" dirty="0">
              <a:latin typeface="Times New Roman" panose="02020603050405020304" pitchFamily="18" charset="0"/>
              <a:cs typeface="Times New Roman" panose="02020603050405020304" pitchFamily="18" charset="0"/>
            </a:endParaRPr>
          </a:p>
          <a:p>
            <a:pPr algn="just">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16289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ext Box 2">
            <a:extLst>
              <a:ext uri="{FF2B5EF4-FFF2-40B4-BE49-F238E27FC236}">
                <a16:creationId xmlns:a16="http://schemas.microsoft.com/office/drawing/2014/main" id="{B581F32F-7C71-3BCC-FF52-66391F7F12C2}"/>
              </a:ext>
            </a:extLst>
          </p:cNvPr>
          <p:cNvSpPr txBox="1">
            <a:spLocks noChangeArrowheads="1"/>
          </p:cNvSpPr>
          <p:nvPr/>
        </p:nvSpPr>
        <p:spPr bwMode="auto">
          <a:xfrm>
            <a:off x="2189164" y="395289"/>
            <a:ext cx="505221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dirty="0">
                <a:latin typeface="Times New Roman" panose="02020603050405020304" pitchFamily="18" charset="0"/>
                <a:cs typeface="Times New Roman" panose="02020603050405020304" pitchFamily="18" charset="0"/>
              </a:rPr>
              <a:t>Logistics supply problem: Example 1</a:t>
            </a:r>
          </a:p>
        </p:txBody>
      </p:sp>
      <p:sp>
        <p:nvSpPr>
          <p:cNvPr id="72710" name="Text Box 6">
            <a:extLst>
              <a:ext uri="{FF2B5EF4-FFF2-40B4-BE49-F238E27FC236}">
                <a16:creationId xmlns:a16="http://schemas.microsoft.com/office/drawing/2014/main" id="{87721379-A10C-01FE-2DF4-767B8EECA07A}"/>
              </a:ext>
            </a:extLst>
          </p:cNvPr>
          <p:cNvSpPr txBox="1">
            <a:spLocks noChangeArrowheads="1"/>
          </p:cNvSpPr>
          <p:nvPr/>
        </p:nvSpPr>
        <p:spPr bwMode="auto">
          <a:xfrm>
            <a:off x="1687513" y="5992813"/>
            <a:ext cx="7997254" cy="369332"/>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dirty="0"/>
              <a:t>What is the maximum power we can supply to Wan Chai for a Light-n-Sound Show?</a:t>
            </a:r>
          </a:p>
        </p:txBody>
      </p:sp>
      <p:grpSp>
        <p:nvGrpSpPr>
          <p:cNvPr id="72711" name="Group 7">
            <a:extLst>
              <a:ext uri="{FF2B5EF4-FFF2-40B4-BE49-F238E27FC236}">
                <a16:creationId xmlns:a16="http://schemas.microsoft.com/office/drawing/2014/main" id="{DB1D9150-91C6-E13A-C3D5-C618DC4074D7}"/>
              </a:ext>
            </a:extLst>
          </p:cNvPr>
          <p:cNvGrpSpPr>
            <a:grpSpLocks/>
          </p:cNvGrpSpPr>
          <p:nvPr/>
        </p:nvGrpSpPr>
        <p:grpSpPr bwMode="auto">
          <a:xfrm>
            <a:off x="1682749" y="899887"/>
            <a:ext cx="6999287" cy="4708525"/>
            <a:chOff x="576" y="1150"/>
            <a:chExt cx="4409" cy="2966"/>
          </a:xfrm>
        </p:grpSpPr>
        <p:sp>
          <p:nvSpPr>
            <p:cNvPr id="72712" name="Freeform 8">
              <a:extLst>
                <a:ext uri="{FF2B5EF4-FFF2-40B4-BE49-F238E27FC236}">
                  <a16:creationId xmlns:a16="http://schemas.microsoft.com/office/drawing/2014/main" id="{882885A7-7D10-B454-9625-B4D4B15F5884}"/>
                </a:ext>
              </a:extLst>
            </p:cNvPr>
            <p:cNvSpPr>
              <a:spLocks/>
            </p:cNvSpPr>
            <p:nvPr/>
          </p:nvSpPr>
          <p:spPr bwMode="auto">
            <a:xfrm>
              <a:off x="1241" y="1742"/>
              <a:ext cx="972" cy="942"/>
            </a:xfrm>
            <a:custGeom>
              <a:avLst/>
              <a:gdLst>
                <a:gd name="T0" fmla="*/ 59 w 1087"/>
                <a:gd name="T1" fmla="*/ 0 h 1040"/>
                <a:gd name="T2" fmla="*/ 27 w 1087"/>
                <a:gd name="T3" fmla="*/ 52 h 1040"/>
                <a:gd name="T4" fmla="*/ 0 w 1087"/>
                <a:gd name="T5" fmla="*/ 111 h 1040"/>
                <a:gd name="T6" fmla="*/ 27 w 1087"/>
                <a:gd name="T7" fmla="*/ 203 h 1040"/>
                <a:gd name="T8" fmla="*/ 105 w 1087"/>
                <a:gd name="T9" fmla="*/ 262 h 1040"/>
                <a:gd name="T10" fmla="*/ 190 w 1087"/>
                <a:gd name="T11" fmla="*/ 307 h 1040"/>
                <a:gd name="T12" fmla="*/ 210 w 1087"/>
                <a:gd name="T13" fmla="*/ 373 h 1040"/>
                <a:gd name="T14" fmla="*/ 262 w 1087"/>
                <a:gd name="T15" fmla="*/ 478 h 1040"/>
                <a:gd name="T16" fmla="*/ 315 w 1087"/>
                <a:gd name="T17" fmla="*/ 569 h 1040"/>
                <a:gd name="T18" fmla="*/ 380 w 1087"/>
                <a:gd name="T19" fmla="*/ 694 h 1040"/>
                <a:gd name="T20" fmla="*/ 459 w 1087"/>
                <a:gd name="T21" fmla="*/ 759 h 1040"/>
                <a:gd name="T22" fmla="*/ 445 w 1087"/>
                <a:gd name="T23" fmla="*/ 818 h 1040"/>
                <a:gd name="T24" fmla="*/ 472 w 1087"/>
                <a:gd name="T25" fmla="*/ 883 h 1040"/>
                <a:gd name="T26" fmla="*/ 570 w 1087"/>
                <a:gd name="T27" fmla="*/ 942 h 1040"/>
                <a:gd name="T28" fmla="*/ 589 w 1087"/>
                <a:gd name="T29" fmla="*/ 982 h 1040"/>
                <a:gd name="T30" fmla="*/ 694 w 1087"/>
                <a:gd name="T31" fmla="*/ 995 h 1040"/>
                <a:gd name="T32" fmla="*/ 805 w 1087"/>
                <a:gd name="T33" fmla="*/ 1001 h 1040"/>
                <a:gd name="T34" fmla="*/ 864 w 1087"/>
                <a:gd name="T35" fmla="*/ 988 h 1040"/>
                <a:gd name="T36" fmla="*/ 976 w 1087"/>
                <a:gd name="T37" fmla="*/ 1014 h 1040"/>
                <a:gd name="T38" fmla="*/ 1028 w 1087"/>
                <a:gd name="T39" fmla="*/ 1027 h 1040"/>
                <a:gd name="T40" fmla="*/ 1087 w 1087"/>
                <a:gd name="T41" fmla="*/ 1040 h 10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87" h="1040">
                  <a:moveTo>
                    <a:pt x="59" y="0"/>
                  </a:moveTo>
                  <a:cubicBezTo>
                    <a:pt x="48" y="16"/>
                    <a:pt x="37" y="33"/>
                    <a:pt x="27" y="52"/>
                  </a:cubicBezTo>
                  <a:cubicBezTo>
                    <a:pt x="17" y="71"/>
                    <a:pt x="0" y="86"/>
                    <a:pt x="0" y="111"/>
                  </a:cubicBezTo>
                  <a:cubicBezTo>
                    <a:pt x="0" y="136"/>
                    <a:pt x="10" y="178"/>
                    <a:pt x="27" y="203"/>
                  </a:cubicBezTo>
                  <a:cubicBezTo>
                    <a:pt x="44" y="228"/>
                    <a:pt x="78" y="245"/>
                    <a:pt x="105" y="262"/>
                  </a:cubicBezTo>
                  <a:cubicBezTo>
                    <a:pt x="132" y="279"/>
                    <a:pt x="173" y="289"/>
                    <a:pt x="190" y="307"/>
                  </a:cubicBezTo>
                  <a:cubicBezTo>
                    <a:pt x="207" y="325"/>
                    <a:pt x="198" y="345"/>
                    <a:pt x="210" y="373"/>
                  </a:cubicBezTo>
                  <a:cubicBezTo>
                    <a:pt x="222" y="401"/>
                    <a:pt x="244" y="445"/>
                    <a:pt x="262" y="478"/>
                  </a:cubicBezTo>
                  <a:cubicBezTo>
                    <a:pt x="280" y="511"/>
                    <a:pt x="295" y="533"/>
                    <a:pt x="315" y="569"/>
                  </a:cubicBezTo>
                  <a:cubicBezTo>
                    <a:pt x="335" y="605"/>
                    <a:pt x="356" y="662"/>
                    <a:pt x="380" y="694"/>
                  </a:cubicBezTo>
                  <a:cubicBezTo>
                    <a:pt x="404" y="726"/>
                    <a:pt x="448" y="738"/>
                    <a:pt x="459" y="759"/>
                  </a:cubicBezTo>
                  <a:cubicBezTo>
                    <a:pt x="470" y="780"/>
                    <a:pt x="443" y="797"/>
                    <a:pt x="445" y="818"/>
                  </a:cubicBezTo>
                  <a:cubicBezTo>
                    <a:pt x="447" y="839"/>
                    <a:pt x="451" y="862"/>
                    <a:pt x="472" y="883"/>
                  </a:cubicBezTo>
                  <a:cubicBezTo>
                    <a:pt x="493" y="904"/>
                    <a:pt x="550" y="925"/>
                    <a:pt x="570" y="942"/>
                  </a:cubicBezTo>
                  <a:cubicBezTo>
                    <a:pt x="590" y="959"/>
                    <a:pt x="568" y="973"/>
                    <a:pt x="589" y="982"/>
                  </a:cubicBezTo>
                  <a:cubicBezTo>
                    <a:pt x="610" y="991"/>
                    <a:pt x="658" y="992"/>
                    <a:pt x="694" y="995"/>
                  </a:cubicBezTo>
                  <a:cubicBezTo>
                    <a:pt x="730" y="998"/>
                    <a:pt x="777" y="1002"/>
                    <a:pt x="805" y="1001"/>
                  </a:cubicBezTo>
                  <a:cubicBezTo>
                    <a:pt x="833" y="1000"/>
                    <a:pt x="836" y="986"/>
                    <a:pt x="864" y="988"/>
                  </a:cubicBezTo>
                  <a:cubicBezTo>
                    <a:pt x="892" y="990"/>
                    <a:pt x="949" y="1007"/>
                    <a:pt x="976" y="1014"/>
                  </a:cubicBezTo>
                  <a:cubicBezTo>
                    <a:pt x="1003" y="1021"/>
                    <a:pt x="1010" y="1023"/>
                    <a:pt x="1028" y="1027"/>
                  </a:cubicBezTo>
                  <a:cubicBezTo>
                    <a:pt x="1046" y="1031"/>
                    <a:pt x="1066" y="1035"/>
                    <a:pt x="1087" y="1040"/>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713" name="Freeform 9">
              <a:extLst>
                <a:ext uri="{FF2B5EF4-FFF2-40B4-BE49-F238E27FC236}">
                  <a16:creationId xmlns:a16="http://schemas.microsoft.com/office/drawing/2014/main" id="{3E231219-A3E2-37DF-66EE-A78D35895CA2}"/>
                </a:ext>
              </a:extLst>
            </p:cNvPr>
            <p:cNvSpPr>
              <a:spLocks/>
            </p:cNvSpPr>
            <p:nvPr/>
          </p:nvSpPr>
          <p:spPr bwMode="auto">
            <a:xfrm>
              <a:off x="1312" y="1338"/>
              <a:ext cx="3673" cy="2778"/>
            </a:xfrm>
            <a:custGeom>
              <a:avLst/>
              <a:gdLst>
                <a:gd name="T0" fmla="*/ 1237 w 4109"/>
                <a:gd name="T1" fmla="*/ 1545 h 3066"/>
                <a:gd name="T2" fmla="*/ 1342 w 4109"/>
                <a:gd name="T3" fmla="*/ 1657 h 3066"/>
                <a:gd name="T4" fmla="*/ 1361 w 4109"/>
                <a:gd name="T5" fmla="*/ 1833 h 3066"/>
                <a:gd name="T6" fmla="*/ 1505 w 4109"/>
                <a:gd name="T7" fmla="*/ 2010 h 3066"/>
                <a:gd name="T8" fmla="*/ 1656 w 4109"/>
                <a:gd name="T9" fmla="*/ 1683 h 3066"/>
                <a:gd name="T10" fmla="*/ 1885 w 4109"/>
                <a:gd name="T11" fmla="*/ 1519 h 3066"/>
                <a:gd name="T12" fmla="*/ 1977 w 4109"/>
                <a:gd name="T13" fmla="*/ 1670 h 3066"/>
                <a:gd name="T14" fmla="*/ 2127 w 4109"/>
                <a:gd name="T15" fmla="*/ 1807 h 3066"/>
                <a:gd name="T16" fmla="*/ 2310 w 4109"/>
                <a:gd name="T17" fmla="*/ 1958 h 3066"/>
                <a:gd name="T18" fmla="*/ 2193 w 4109"/>
                <a:gd name="T19" fmla="*/ 2180 h 3066"/>
                <a:gd name="T20" fmla="*/ 2350 w 4109"/>
                <a:gd name="T21" fmla="*/ 2298 h 3066"/>
                <a:gd name="T22" fmla="*/ 2271 w 4109"/>
                <a:gd name="T23" fmla="*/ 2481 h 3066"/>
                <a:gd name="T24" fmla="*/ 2396 w 4109"/>
                <a:gd name="T25" fmla="*/ 2527 h 3066"/>
                <a:gd name="T26" fmla="*/ 2546 w 4109"/>
                <a:gd name="T27" fmla="*/ 2416 h 3066"/>
                <a:gd name="T28" fmla="*/ 2729 w 4109"/>
                <a:gd name="T29" fmla="*/ 2475 h 3066"/>
                <a:gd name="T30" fmla="*/ 2670 w 4109"/>
                <a:gd name="T31" fmla="*/ 2710 h 3066"/>
                <a:gd name="T32" fmla="*/ 2670 w 4109"/>
                <a:gd name="T33" fmla="*/ 2972 h 3066"/>
                <a:gd name="T34" fmla="*/ 3004 w 4109"/>
                <a:gd name="T35" fmla="*/ 2979 h 3066"/>
                <a:gd name="T36" fmla="*/ 2900 w 4109"/>
                <a:gd name="T37" fmla="*/ 2691 h 3066"/>
                <a:gd name="T38" fmla="*/ 2985 w 4109"/>
                <a:gd name="T39" fmla="*/ 2455 h 3066"/>
                <a:gd name="T40" fmla="*/ 2808 w 4109"/>
                <a:gd name="T41" fmla="*/ 2108 h 3066"/>
                <a:gd name="T42" fmla="*/ 3089 w 4109"/>
                <a:gd name="T43" fmla="*/ 1971 h 3066"/>
                <a:gd name="T44" fmla="*/ 3161 w 4109"/>
                <a:gd name="T45" fmla="*/ 1853 h 3066"/>
                <a:gd name="T46" fmla="*/ 3044 w 4109"/>
                <a:gd name="T47" fmla="*/ 1755 h 3066"/>
                <a:gd name="T48" fmla="*/ 3004 w 4109"/>
                <a:gd name="T49" fmla="*/ 1493 h 3066"/>
                <a:gd name="T50" fmla="*/ 3188 w 4109"/>
                <a:gd name="T51" fmla="*/ 1644 h 3066"/>
                <a:gd name="T52" fmla="*/ 3358 w 4109"/>
                <a:gd name="T53" fmla="*/ 1748 h 3066"/>
                <a:gd name="T54" fmla="*/ 3377 w 4109"/>
                <a:gd name="T55" fmla="*/ 2004 h 3066"/>
                <a:gd name="T56" fmla="*/ 3390 w 4109"/>
                <a:gd name="T57" fmla="*/ 2285 h 3066"/>
                <a:gd name="T58" fmla="*/ 3521 w 4109"/>
                <a:gd name="T59" fmla="*/ 2370 h 3066"/>
                <a:gd name="T60" fmla="*/ 3521 w 4109"/>
                <a:gd name="T61" fmla="*/ 2619 h 3066"/>
                <a:gd name="T62" fmla="*/ 3862 w 4109"/>
                <a:gd name="T63" fmla="*/ 2697 h 3066"/>
                <a:gd name="T64" fmla="*/ 4058 w 4109"/>
                <a:gd name="T65" fmla="*/ 2704 h 3066"/>
                <a:gd name="T66" fmla="*/ 3894 w 4109"/>
                <a:gd name="T67" fmla="*/ 2580 h 3066"/>
                <a:gd name="T68" fmla="*/ 3796 w 4109"/>
                <a:gd name="T69" fmla="*/ 2076 h 3066"/>
                <a:gd name="T70" fmla="*/ 3966 w 4109"/>
                <a:gd name="T71" fmla="*/ 2056 h 3066"/>
                <a:gd name="T72" fmla="*/ 3881 w 4109"/>
                <a:gd name="T73" fmla="*/ 1807 h 3066"/>
                <a:gd name="T74" fmla="*/ 3711 w 4109"/>
                <a:gd name="T75" fmla="*/ 1585 h 3066"/>
                <a:gd name="T76" fmla="*/ 3842 w 4109"/>
                <a:gd name="T77" fmla="*/ 1414 h 3066"/>
                <a:gd name="T78" fmla="*/ 3947 w 4109"/>
                <a:gd name="T79" fmla="*/ 1212 h 3066"/>
                <a:gd name="T80" fmla="*/ 3986 w 4109"/>
                <a:gd name="T81" fmla="*/ 1035 h 3066"/>
                <a:gd name="T82" fmla="*/ 3705 w 4109"/>
                <a:gd name="T83" fmla="*/ 838 h 3066"/>
                <a:gd name="T84" fmla="*/ 3554 w 4109"/>
                <a:gd name="T85" fmla="*/ 799 h 3066"/>
                <a:gd name="T86" fmla="*/ 3554 w 4109"/>
                <a:gd name="T87" fmla="*/ 524 h 3066"/>
                <a:gd name="T88" fmla="*/ 3207 w 4109"/>
                <a:gd name="T89" fmla="*/ 387 h 3066"/>
                <a:gd name="T90" fmla="*/ 2952 w 4109"/>
                <a:gd name="T91" fmla="*/ 204 h 3066"/>
                <a:gd name="T92" fmla="*/ 2330 w 4109"/>
                <a:gd name="T93" fmla="*/ 1 h 3066"/>
                <a:gd name="T94" fmla="*/ 1996 w 4109"/>
                <a:gd name="T95" fmla="*/ 308 h 3066"/>
                <a:gd name="T96" fmla="*/ 1466 w 4109"/>
                <a:gd name="T97" fmla="*/ 406 h 3066"/>
                <a:gd name="T98" fmla="*/ 1217 w 4109"/>
                <a:gd name="T99" fmla="*/ 262 h 3066"/>
                <a:gd name="T100" fmla="*/ 975 w 4109"/>
                <a:gd name="T101" fmla="*/ 243 h 3066"/>
                <a:gd name="T102" fmla="*/ 654 w 4109"/>
                <a:gd name="T103" fmla="*/ 125 h 3066"/>
                <a:gd name="T104" fmla="*/ 288 w 4109"/>
                <a:gd name="T105" fmla="*/ 295 h 3066"/>
                <a:gd name="T106" fmla="*/ 0 w 4109"/>
                <a:gd name="T107" fmla="*/ 439 h 30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109" h="3066">
                  <a:moveTo>
                    <a:pt x="1014" y="1486"/>
                  </a:moveTo>
                  <a:cubicBezTo>
                    <a:pt x="1067" y="1484"/>
                    <a:pt x="1121" y="1483"/>
                    <a:pt x="1158" y="1493"/>
                  </a:cubicBezTo>
                  <a:cubicBezTo>
                    <a:pt x="1195" y="1503"/>
                    <a:pt x="1215" y="1539"/>
                    <a:pt x="1237" y="1545"/>
                  </a:cubicBezTo>
                  <a:cubicBezTo>
                    <a:pt x="1259" y="1551"/>
                    <a:pt x="1273" y="1521"/>
                    <a:pt x="1289" y="1532"/>
                  </a:cubicBezTo>
                  <a:cubicBezTo>
                    <a:pt x="1305" y="1543"/>
                    <a:pt x="1326" y="1590"/>
                    <a:pt x="1335" y="1611"/>
                  </a:cubicBezTo>
                  <a:cubicBezTo>
                    <a:pt x="1344" y="1632"/>
                    <a:pt x="1344" y="1639"/>
                    <a:pt x="1342" y="1657"/>
                  </a:cubicBezTo>
                  <a:cubicBezTo>
                    <a:pt x="1340" y="1675"/>
                    <a:pt x="1324" y="1695"/>
                    <a:pt x="1322" y="1716"/>
                  </a:cubicBezTo>
                  <a:cubicBezTo>
                    <a:pt x="1320" y="1737"/>
                    <a:pt x="1323" y="1762"/>
                    <a:pt x="1329" y="1781"/>
                  </a:cubicBezTo>
                  <a:cubicBezTo>
                    <a:pt x="1335" y="1800"/>
                    <a:pt x="1348" y="1818"/>
                    <a:pt x="1361" y="1833"/>
                  </a:cubicBezTo>
                  <a:cubicBezTo>
                    <a:pt x="1374" y="1848"/>
                    <a:pt x="1398" y="1853"/>
                    <a:pt x="1407" y="1873"/>
                  </a:cubicBezTo>
                  <a:cubicBezTo>
                    <a:pt x="1416" y="1893"/>
                    <a:pt x="1398" y="1928"/>
                    <a:pt x="1414" y="1951"/>
                  </a:cubicBezTo>
                  <a:cubicBezTo>
                    <a:pt x="1430" y="1974"/>
                    <a:pt x="1480" y="1999"/>
                    <a:pt x="1505" y="2010"/>
                  </a:cubicBezTo>
                  <a:cubicBezTo>
                    <a:pt x="1530" y="2021"/>
                    <a:pt x="1548" y="2049"/>
                    <a:pt x="1564" y="2017"/>
                  </a:cubicBezTo>
                  <a:cubicBezTo>
                    <a:pt x="1580" y="1985"/>
                    <a:pt x="1589" y="1876"/>
                    <a:pt x="1604" y="1820"/>
                  </a:cubicBezTo>
                  <a:cubicBezTo>
                    <a:pt x="1619" y="1764"/>
                    <a:pt x="1630" y="1725"/>
                    <a:pt x="1656" y="1683"/>
                  </a:cubicBezTo>
                  <a:cubicBezTo>
                    <a:pt x="1682" y="1641"/>
                    <a:pt x="1734" y="1594"/>
                    <a:pt x="1761" y="1565"/>
                  </a:cubicBezTo>
                  <a:cubicBezTo>
                    <a:pt x="1788" y="1536"/>
                    <a:pt x="1799" y="1514"/>
                    <a:pt x="1820" y="1506"/>
                  </a:cubicBezTo>
                  <a:cubicBezTo>
                    <a:pt x="1841" y="1498"/>
                    <a:pt x="1863" y="1518"/>
                    <a:pt x="1885" y="1519"/>
                  </a:cubicBezTo>
                  <a:cubicBezTo>
                    <a:pt x="1907" y="1520"/>
                    <a:pt x="1932" y="1504"/>
                    <a:pt x="1950" y="1513"/>
                  </a:cubicBezTo>
                  <a:cubicBezTo>
                    <a:pt x="1968" y="1522"/>
                    <a:pt x="1992" y="1546"/>
                    <a:pt x="1996" y="1572"/>
                  </a:cubicBezTo>
                  <a:cubicBezTo>
                    <a:pt x="2000" y="1598"/>
                    <a:pt x="1980" y="1639"/>
                    <a:pt x="1977" y="1670"/>
                  </a:cubicBezTo>
                  <a:cubicBezTo>
                    <a:pt x="1974" y="1701"/>
                    <a:pt x="1964" y="1735"/>
                    <a:pt x="1977" y="1761"/>
                  </a:cubicBezTo>
                  <a:cubicBezTo>
                    <a:pt x="1990" y="1787"/>
                    <a:pt x="2030" y="1819"/>
                    <a:pt x="2055" y="1827"/>
                  </a:cubicBezTo>
                  <a:cubicBezTo>
                    <a:pt x="2080" y="1835"/>
                    <a:pt x="2102" y="1815"/>
                    <a:pt x="2127" y="1807"/>
                  </a:cubicBezTo>
                  <a:cubicBezTo>
                    <a:pt x="2152" y="1799"/>
                    <a:pt x="2184" y="1773"/>
                    <a:pt x="2206" y="1781"/>
                  </a:cubicBezTo>
                  <a:cubicBezTo>
                    <a:pt x="2228" y="1789"/>
                    <a:pt x="2241" y="1823"/>
                    <a:pt x="2258" y="1853"/>
                  </a:cubicBezTo>
                  <a:cubicBezTo>
                    <a:pt x="2275" y="1883"/>
                    <a:pt x="2310" y="1925"/>
                    <a:pt x="2310" y="1958"/>
                  </a:cubicBezTo>
                  <a:cubicBezTo>
                    <a:pt x="2310" y="1991"/>
                    <a:pt x="2268" y="2023"/>
                    <a:pt x="2258" y="2049"/>
                  </a:cubicBezTo>
                  <a:cubicBezTo>
                    <a:pt x="2248" y="2075"/>
                    <a:pt x="2263" y="2093"/>
                    <a:pt x="2252" y="2115"/>
                  </a:cubicBezTo>
                  <a:cubicBezTo>
                    <a:pt x="2241" y="2137"/>
                    <a:pt x="2215" y="2169"/>
                    <a:pt x="2193" y="2180"/>
                  </a:cubicBezTo>
                  <a:cubicBezTo>
                    <a:pt x="2171" y="2191"/>
                    <a:pt x="2117" y="2167"/>
                    <a:pt x="2121" y="2180"/>
                  </a:cubicBezTo>
                  <a:cubicBezTo>
                    <a:pt x="2125" y="2193"/>
                    <a:pt x="2181" y="2239"/>
                    <a:pt x="2219" y="2259"/>
                  </a:cubicBezTo>
                  <a:cubicBezTo>
                    <a:pt x="2257" y="2279"/>
                    <a:pt x="2323" y="2280"/>
                    <a:pt x="2350" y="2298"/>
                  </a:cubicBezTo>
                  <a:cubicBezTo>
                    <a:pt x="2377" y="2316"/>
                    <a:pt x="2383" y="2342"/>
                    <a:pt x="2382" y="2364"/>
                  </a:cubicBezTo>
                  <a:cubicBezTo>
                    <a:pt x="2381" y="2386"/>
                    <a:pt x="2361" y="2410"/>
                    <a:pt x="2343" y="2429"/>
                  </a:cubicBezTo>
                  <a:cubicBezTo>
                    <a:pt x="2325" y="2448"/>
                    <a:pt x="2286" y="2458"/>
                    <a:pt x="2271" y="2481"/>
                  </a:cubicBezTo>
                  <a:cubicBezTo>
                    <a:pt x="2256" y="2504"/>
                    <a:pt x="2241" y="2546"/>
                    <a:pt x="2252" y="2566"/>
                  </a:cubicBezTo>
                  <a:cubicBezTo>
                    <a:pt x="2263" y="2586"/>
                    <a:pt x="2313" y="2605"/>
                    <a:pt x="2337" y="2599"/>
                  </a:cubicBezTo>
                  <a:cubicBezTo>
                    <a:pt x="2361" y="2593"/>
                    <a:pt x="2370" y="2538"/>
                    <a:pt x="2396" y="2527"/>
                  </a:cubicBezTo>
                  <a:cubicBezTo>
                    <a:pt x="2422" y="2516"/>
                    <a:pt x="2469" y="2543"/>
                    <a:pt x="2494" y="2534"/>
                  </a:cubicBezTo>
                  <a:cubicBezTo>
                    <a:pt x="2519" y="2525"/>
                    <a:pt x="2537" y="2495"/>
                    <a:pt x="2546" y="2475"/>
                  </a:cubicBezTo>
                  <a:cubicBezTo>
                    <a:pt x="2555" y="2455"/>
                    <a:pt x="2533" y="2432"/>
                    <a:pt x="2546" y="2416"/>
                  </a:cubicBezTo>
                  <a:cubicBezTo>
                    <a:pt x="2559" y="2400"/>
                    <a:pt x="2605" y="2383"/>
                    <a:pt x="2625" y="2377"/>
                  </a:cubicBezTo>
                  <a:cubicBezTo>
                    <a:pt x="2645" y="2371"/>
                    <a:pt x="2647" y="2361"/>
                    <a:pt x="2664" y="2377"/>
                  </a:cubicBezTo>
                  <a:cubicBezTo>
                    <a:pt x="2681" y="2393"/>
                    <a:pt x="2711" y="2441"/>
                    <a:pt x="2729" y="2475"/>
                  </a:cubicBezTo>
                  <a:cubicBezTo>
                    <a:pt x="2747" y="2509"/>
                    <a:pt x="2776" y="2558"/>
                    <a:pt x="2775" y="2580"/>
                  </a:cubicBezTo>
                  <a:cubicBezTo>
                    <a:pt x="2774" y="2602"/>
                    <a:pt x="2741" y="2584"/>
                    <a:pt x="2723" y="2606"/>
                  </a:cubicBezTo>
                  <a:cubicBezTo>
                    <a:pt x="2705" y="2628"/>
                    <a:pt x="2677" y="2678"/>
                    <a:pt x="2670" y="2710"/>
                  </a:cubicBezTo>
                  <a:cubicBezTo>
                    <a:pt x="2663" y="2742"/>
                    <a:pt x="2688" y="2764"/>
                    <a:pt x="2684" y="2796"/>
                  </a:cubicBezTo>
                  <a:cubicBezTo>
                    <a:pt x="2680" y="2828"/>
                    <a:pt x="2646" y="2871"/>
                    <a:pt x="2644" y="2900"/>
                  </a:cubicBezTo>
                  <a:cubicBezTo>
                    <a:pt x="2642" y="2929"/>
                    <a:pt x="2656" y="2950"/>
                    <a:pt x="2670" y="2972"/>
                  </a:cubicBezTo>
                  <a:cubicBezTo>
                    <a:pt x="2684" y="2994"/>
                    <a:pt x="2688" y="3017"/>
                    <a:pt x="2729" y="3031"/>
                  </a:cubicBezTo>
                  <a:cubicBezTo>
                    <a:pt x="2770" y="3045"/>
                    <a:pt x="2873" y="3066"/>
                    <a:pt x="2919" y="3057"/>
                  </a:cubicBezTo>
                  <a:cubicBezTo>
                    <a:pt x="2965" y="3048"/>
                    <a:pt x="2995" y="3010"/>
                    <a:pt x="3004" y="2979"/>
                  </a:cubicBezTo>
                  <a:cubicBezTo>
                    <a:pt x="3013" y="2948"/>
                    <a:pt x="2984" y="2900"/>
                    <a:pt x="2972" y="2868"/>
                  </a:cubicBezTo>
                  <a:cubicBezTo>
                    <a:pt x="2960" y="2836"/>
                    <a:pt x="2944" y="2818"/>
                    <a:pt x="2932" y="2789"/>
                  </a:cubicBezTo>
                  <a:cubicBezTo>
                    <a:pt x="2920" y="2760"/>
                    <a:pt x="2909" y="2720"/>
                    <a:pt x="2900" y="2691"/>
                  </a:cubicBezTo>
                  <a:cubicBezTo>
                    <a:pt x="2891" y="2662"/>
                    <a:pt x="2869" y="2634"/>
                    <a:pt x="2880" y="2612"/>
                  </a:cubicBezTo>
                  <a:cubicBezTo>
                    <a:pt x="2891" y="2590"/>
                    <a:pt x="2948" y="2586"/>
                    <a:pt x="2965" y="2560"/>
                  </a:cubicBezTo>
                  <a:cubicBezTo>
                    <a:pt x="2982" y="2534"/>
                    <a:pt x="3017" y="2485"/>
                    <a:pt x="2985" y="2455"/>
                  </a:cubicBezTo>
                  <a:cubicBezTo>
                    <a:pt x="2953" y="2425"/>
                    <a:pt x="2813" y="2407"/>
                    <a:pt x="2775" y="2377"/>
                  </a:cubicBezTo>
                  <a:cubicBezTo>
                    <a:pt x="2737" y="2347"/>
                    <a:pt x="2751" y="2317"/>
                    <a:pt x="2756" y="2272"/>
                  </a:cubicBezTo>
                  <a:cubicBezTo>
                    <a:pt x="2761" y="2227"/>
                    <a:pt x="2787" y="2146"/>
                    <a:pt x="2808" y="2108"/>
                  </a:cubicBezTo>
                  <a:cubicBezTo>
                    <a:pt x="2829" y="2070"/>
                    <a:pt x="2848" y="2070"/>
                    <a:pt x="2880" y="2043"/>
                  </a:cubicBezTo>
                  <a:cubicBezTo>
                    <a:pt x="2912" y="2016"/>
                    <a:pt x="2963" y="1957"/>
                    <a:pt x="2998" y="1945"/>
                  </a:cubicBezTo>
                  <a:cubicBezTo>
                    <a:pt x="3033" y="1933"/>
                    <a:pt x="3059" y="1957"/>
                    <a:pt x="3089" y="1971"/>
                  </a:cubicBezTo>
                  <a:cubicBezTo>
                    <a:pt x="3119" y="1985"/>
                    <a:pt x="3160" y="2032"/>
                    <a:pt x="3181" y="2030"/>
                  </a:cubicBezTo>
                  <a:cubicBezTo>
                    <a:pt x="3202" y="2028"/>
                    <a:pt x="3217" y="1987"/>
                    <a:pt x="3214" y="1958"/>
                  </a:cubicBezTo>
                  <a:cubicBezTo>
                    <a:pt x="3211" y="1929"/>
                    <a:pt x="3168" y="1884"/>
                    <a:pt x="3161" y="1853"/>
                  </a:cubicBezTo>
                  <a:cubicBezTo>
                    <a:pt x="3154" y="1822"/>
                    <a:pt x="3188" y="1794"/>
                    <a:pt x="3174" y="1774"/>
                  </a:cubicBezTo>
                  <a:cubicBezTo>
                    <a:pt x="3160" y="1754"/>
                    <a:pt x="3098" y="1738"/>
                    <a:pt x="3076" y="1735"/>
                  </a:cubicBezTo>
                  <a:cubicBezTo>
                    <a:pt x="3054" y="1732"/>
                    <a:pt x="3059" y="1772"/>
                    <a:pt x="3044" y="1755"/>
                  </a:cubicBezTo>
                  <a:cubicBezTo>
                    <a:pt x="3029" y="1738"/>
                    <a:pt x="2995" y="1666"/>
                    <a:pt x="2985" y="1630"/>
                  </a:cubicBezTo>
                  <a:cubicBezTo>
                    <a:pt x="2975" y="1594"/>
                    <a:pt x="2982" y="1562"/>
                    <a:pt x="2985" y="1539"/>
                  </a:cubicBezTo>
                  <a:cubicBezTo>
                    <a:pt x="2988" y="1516"/>
                    <a:pt x="2988" y="1484"/>
                    <a:pt x="3004" y="1493"/>
                  </a:cubicBezTo>
                  <a:cubicBezTo>
                    <a:pt x="3020" y="1502"/>
                    <a:pt x="3070" y="1565"/>
                    <a:pt x="3083" y="1591"/>
                  </a:cubicBezTo>
                  <a:cubicBezTo>
                    <a:pt x="3096" y="1617"/>
                    <a:pt x="3065" y="1641"/>
                    <a:pt x="3083" y="1650"/>
                  </a:cubicBezTo>
                  <a:cubicBezTo>
                    <a:pt x="3101" y="1659"/>
                    <a:pt x="3153" y="1641"/>
                    <a:pt x="3188" y="1644"/>
                  </a:cubicBezTo>
                  <a:cubicBezTo>
                    <a:pt x="3223" y="1647"/>
                    <a:pt x="3268" y="1672"/>
                    <a:pt x="3292" y="1670"/>
                  </a:cubicBezTo>
                  <a:cubicBezTo>
                    <a:pt x="3316" y="1668"/>
                    <a:pt x="3321" y="1617"/>
                    <a:pt x="3332" y="1630"/>
                  </a:cubicBezTo>
                  <a:cubicBezTo>
                    <a:pt x="3343" y="1643"/>
                    <a:pt x="3356" y="1716"/>
                    <a:pt x="3358" y="1748"/>
                  </a:cubicBezTo>
                  <a:cubicBezTo>
                    <a:pt x="3360" y="1780"/>
                    <a:pt x="3349" y="1800"/>
                    <a:pt x="3345" y="1820"/>
                  </a:cubicBezTo>
                  <a:cubicBezTo>
                    <a:pt x="3341" y="1840"/>
                    <a:pt x="3327" y="1835"/>
                    <a:pt x="3332" y="1866"/>
                  </a:cubicBezTo>
                  <a:cubicBezTo>
                    <a:pt x="3337" y="1897"/>
                    <a:pt x="3368" y="1962"/>
                    <a:pt x="3377" y="2004"/>
                  </a:cubicBezTo>
                  <a:cubicBezTo>
                    <a:pt x="3386" y="2046"/>
                    <a:pt x="3384" y="2093"/>
                    <a:pt x="3384" y="2121"/>
                  </a:cubicBezTo>
                  <a:cubicBezTo>
                    <a:pt x="3384" y="2149"/>
                    <a:pt x="3376" y="2147"/>
                    <a:pt x="3377" y="2174"/>
                  </a:cubicBezTo>
                  <a:cubicBezTo>
                    <a:pt x="3378" y="2201"/>
                    <a:pt x="3379" y="2261"/>
                    <a:pt x="3390" y="2285"/>
                  </a:cubicBezTo>
                  <a:cubicBezTo>
                    <a:pt x="3401" y="2309"/>
                    <a:pt x="3439" y="2305"/>
                    <a:pt x="3443" y="2318"/>
                  </a:cubicBezTo>
                  <a:cubicBezTo>
                    <a:pt x="3447" y="2331"/>
                    <a:pt x="3404" y="2355"/>
                    <a:pt x="3417" y="2364"/>
                  </a:cubicBezTo>
                  <a:cubicBezTo>
                    <a:pt x="3430" y="2373"/>
                    <a:pt x="3499" y="2353"/>
                    <a:pt x="3521" y="2370"/>
                  </a:cubicBezTo>
                  <a:cubicBezTo>
                    <a:pt x="3543" y="2387"/>
                    <a:pt x="3539" y="2436"/>
                    <a:pt x="3548" y="2468"/>
                  </a:cubicBezTo>
                  <a:cubicBezTo>
                    <a:pt x="3557" y="2500"/>
                    <a:pt x="3578" y="2535"/>
                    <a:pt x="3574" y="2560"/>
                  </a:cubicBezTo>
                  <a:cubicBezTo>
                    <a:pt x="3570" y="2585"/>
                    <a:pt x="3516" y="2596"/>
                    <a:pt x="3521" y="2619"/>
                  </a:cubicBezTo>
                  <a:cubicBezTo>
                    <a:pt x="3526" y="2642"/>
                    <a:pt x="3575" y="2679"/>
                    <a:pt x="3606" y="2697"/>
                  </a:cubicBezTo>
                  <a:cubicBezTo>
                    <a:pt x="3637" y="2715"/>
                    <a:pt x="3662" y="2730"/>
                    <a:pt x="3705" y="2730"/>
                  </a:cubicBezTo>
                  <a:cubicBezTo>
                    <a:pt x="3748" y="2730"/>
                    <a:pt x="3831" y="2696"/>
                    <a:pt x="3862" y="2697"/>
                  </a:cubicBezTo>
                  <a:cubicBezTo>
                    <a:pt x="3893" y="2698"/>
                    <a:pt x="3881" y="2739"/>
                    <a:pt x="3894" y="2737"/>
                  </a:cubicBezTo>
                  <a:cubicBezTo>
                    <a:pt x="3907" y="2735"/>
                    <a:pt x="3913" y="2689"/>
                    <a:pt x="3940" y="2684"/>
                  </a:cubicBezTo>
                  <a:cubicBezTo>
                    <a:pt x="3967" y="2679"/>
                    <a:pt x="4032" y="2702"/>
                    <a:pt x="4058" y="2704"/>
                  </a:cubicBezTo>
                  <a:cubicBezTo>
                    <a:pt x="4084" y="2706"/>
                    <a:pt x="4109" y="2715"/>
                    <a:pt x="4097" y="2697"/>
                  </a:cubicBezTo>
                  <a:cubicBezTo>
                    <a:pt x="4085" y="2679"/>
                    <a:pt x="4020" y="2612"/>
                    <a:pt x="3986" y="2593"/>
                  </a:cubicBezTo>
                  <a:cubicBezTo>
                    <a:pt x="3952" y="2574"/>
                    <a:pt x="3908" y="2611"/>
                    <a:pt x="3894" y="2580"/>
                  </a:cubicBezTo>
                  <a:cubicBezTo>
                    <a:pt x="3880" y="2549"/>
                    <a:pt x="3903" y="2465"/>
                    <a:pt x="3901" y="2409"/>
                  </a:cubicBezTo>
                  <a:cubicBezTo>
                    <a:pt x="3899" y="2353"/>
                    <a:pt x="3899" y="2302"/>
                    <a:pt x="3881" y="2246"/>
                  </a:cubicBezTo>
                  <a:cubicBezTo>
                    <a:pt x="3863" y="2190"/>
                    <a:pt x="3807" y="2112"/>
                    <a:pt x="3796" y="2076"/>
                  </a:cubicBezTo>
                  <a:cubicBezTo>
                    <a:pt x="3785" y="2040"/>
                    <a:pt x="3796" y="2033"/>
                    <a:pt x="3816" y="2030"/>
                  </a:cubicBezTo>
                  <a:cubicBezTo>
                    <a:pt x="3836" y="2027"/>
                    <a:pt x="3889" y="2052"/>
                    <a:pt x="3914" y="2056"/>
                  </a:cubicBezTo>
                  <a:cubicBezTo>
                    <a:pt x="3939" y="2060"/>
                    <a:pt x="3974" y="2071"/>
                    <a:pt x="3966" y="2056"/>
                  </a:cubicBezTo>
                  <a:cubicBezTo>
                    <a:pt x="3958" y="2041"/>
                    <a:pt x="3893" y="1986"/>
                    <a:pt x="3868" y="1964"/>
                  </a:cubicBezTo>
                  <a:cubicBezTo>
                    <a:pt x="3843" y="1942"/>
                    <a:pt x="3814" y="1951"/>
                    <a:pt x="3816" y="1925"/>
                  </a:cubicBezTo>
                  <a:cubicBezTo>
                    <a:pt x="3818" y="1899"/>
                    <a:pt x="3890" y="1848"/>
                    <a:pt x="3881" y="1807"/>
                  </a:cubicBezTo>
                  <a:cubicBezTo>
                    <a:pt x="3872" y="1766"/>
                    <a:pt x="3780" y="1704"/>
                    <a:pt x="3764" y="1676"/>
                  </a:cubicBezTo>
                  <a:cubicBezTo>
                    <a:pt x="3748" y="1648"/>
                    <a:pt x="3792" y="1652"/>
                    <a:pt x="3783" y="1637"/>
                  </a:cubicBezTo>
                  <a:cubicBezTo>
                    <a:pt x="3774" y="1622"/>
                    <a:pt x="3726" y="1610"/>
                    <a:pt x="3711" y="1585"/>
                  </a:cubicBezTo>
                  <a:cubicBezTo>
                    <a:pt x="3696" y="1560"/>
                    <a:pt x="3681" y="1500"/>
                    <a:pt x="3692" y="1486"/>
                  </a:cubicBezTo>
                  <a:cubicBezTo>
                    <a:pt x="3703" y="1472"/>
                    <a:pt x="3752" y="1512"/>
                    <a:pt x="3777" y="1500"/>
                  </a:cubicBezTo>
                  <a:cubicBezTo>
                    <a:pt x="3802" y="1488"/>
                    <a:pt x="3817" y="1431"/>
                    <a:pt x="3842" y="1414"/>
                  </a:cubicBezTo>
                  <a:cubicBezTo>
                    <a:pt x="3867" y="1397"/>
                    <a:pt x="3915" y="1416"/>
                    <a:pt x="3927" y="1395"/>
                  </a:cubicBezTo>
                  <a:cubicBezTo>
                    <a:pt x="3939" y="1374"/>
                    <a:pt x="3911" y="1320"/>
                    <a:pt x="3914" y="1290"/>
                  </a:cubicBezTo>
                  <a:cubicBezTo>
                    <a:pt x="3917" y="1260"/>
                    <a:pt x="3939" y="1234"/>
                    <a:pt x="3947" y="1212"/>
                  </a:cubicBezTo>
                  <a:cubicBezTo>
                    <a:pt x="3955" y="1190"/>
                    <a:pt x="3963" y="1176"/>
                    <a:pt x="3960" y="1159"/>
                  </a:cubicBezTo>
                  <a:cubicBezTo>
                    <a:pt x="3957" y="1142"/>
                    <a:pt x="3923" y="1128"/>
                    <a:pt x="3927" y="1107"/>
                  </a:cubicBezTo>
                  <a:cubicBezTo>
                    <a:pt x="3931" y="1086"/>
                    <a:pt x="3995" y="1069"/>
                    <a:pt x="3986" y="1035"/>
                  </a:cubicBezTo>
                  <a:cubicBezTo>
                    <a:pt x="3977" y="1001"/>
                    <a:pt x="3919" y="944"/>
                    <a:pt x="3875" y="904"/>
                  </a:cubicBezTo>
                  <a:cubicBezTo>
                    <a:pt x="3831" y="864"/>
                    <a:pt x="3752" y="804"/>
                    <a:pt x="3724" y="793"/>
                  </a:cubicBezTo>
                  <a:cubicBezTo>
                    <a:pt x="3696" y="782"/>
                    <a:pt x="3717" y="853"/>
                    <a:pt x="3705" y="838"/>
                  </a:cubicBezTo>
                  <a:cubicBezTo>
                    <a:pt x="3693" y="823"/>
                    <a:pt x="3667" y="704"/>
                    <a:pt x="3652" y="701"/>
                  </a:cubicBezTo>
                  <a:cubicBezTo>
                    <a:pt x="3637" y="698"/>
                    <a:pt x="3629" y="803"/>
                    <a:pt x="3613" y="819"/>
                  </a:cubicBezTo>
                  <a:cubicBezTo>
                    <a:pt x="3597" y="835"/>
                    <a:pt x="3563" y="815"/>
                    <a:pt x="3554" y="799"/>
                  </a:cubicBezTo>
                  <a:cubicBezTo>
                    <a:pt x="3545" y="783"/>
                    <a:pt x="3551" y="741"/>
                    <a:pt x="3561" y="721"/>
                  </a:cubicBezTo>
                  <a:cubicBezTo>
                    <a:pt x="3571" y="701"/>
                    <a:pt x="3614" y="714"/>
                    <a:pt x="3613" y="681"/>
                  </a:cubicBezTo>
                  <a:cubicBezTo>
                    <a:pt x="3612" y="648"/>
                    <a:pt x="3592" y="580"/>
                    <a:pt x="3554" y="524"/>
                  </a:cubicBezTo>
                  <a:cubicBezTo>
                    <a:pt x="3516" y="468"/>
                    <a:pt x="3429" y="377"/>
                    <a:pt x="3384" y="348"/>
                  </a:cubicBezTo>
                  <a:cubicBezTo>
                    <a:pt x="3339" y="319"/>
                    <a:pt x="3315" y="342"/>
                    <a:pt x="3286" y="348"/>
                  </a:cubicBezTo>
                  <a:cubicBezTo>
                    <a:pt x="3257" y="354"/>
                    <a:pt x="3243" y="386"/>
                    <a:pt x="3207" y="387"/>
                  </a:cubicBezTo>
                  <a:cubicBezTo>
                    <a:pt x="3171" y="388"/>
                    <a:pt x="3093" y="367"/>
                    <a:pt x="3070" y="354"/>
                  </a:cubicBezTo>
                  <a:cubicBezTo>
                    <a:pt x="3047" y="341"/>
                    <a:pt x="3090" y="333"/>
                    <a:pt x="3070" y="308"/>
                  </a:cubicBezTo>
                  <a:cubicBezTo>
                    <a:pt x="3050" y="283"/>
                    <a:pt x="3001" y="232"/>
                    <a:pt x="2952" y="204"/>
                  </a:cubicBezTo>
                  <a:cubicBezTo>
                    <a:pt x="2903" y="176"/>
                    <a:pt x="2831" y="155"/>
                    <a:pt x="2775" y="138"/>
                  </a:cubicBezTo>
                  <a:cubicBezTo>
                    <a:pt x="2719" y="121"/>
                    <a:pt x="2692" y="128"/>
                    <a:pt x="2618" y="105"/>
                  </a:cubicBezTo>
                  <a:cubicBezTo>
                    <a:pt x="2544" y="82"/>
                    <a:pt x="2407" y="2"/>
                    <a:pt x="2330" y="1"/>
                  </a:cubicBezTo>
                  <a:cubicBezTo>
                    <a:pt x="2253" y="0"/>
                    <a:pt x="2197" y="63"/>
                    <a:pt x="2153" y="99"/>
                  </a:cubicBezTo>
                  <a:cubicBezTo>
                    <a:pt x="2109" y="135"/>
                    <a:pt x="2094" y="182"/>
                    <a:pt x="2068" y="217"/>
                  </a:cubicBezTo>
                  <a:cubicBezTo>
                    <a:pt x="2042" y="252"/>
                    <a:pt x="2037" y="292"/>
                    <a:pt x="1996" y="308"/>
                  </a:cubicBezTo>
                  <a:cubicBezTo>
                    <a:pt x="1955" y="324"/>
                    <a:pt x="1864" y="304"/>
                    <a:pt x="1820" y="315"/>
                  </a:cubicBezTo>
                  <a:cubicBezTo>
                    <a:pt x="1776" y="326"/>
                    <a:pt x="1793" y="359"/>
                    <a:pt x="1734" y="374"/>
                  </a:cubicBezTo>
                  <a:cubicBezTo>
                    <a:pt x="1675" y="389"/>
                    <a:pt x="1524" y="406"/>
                    <a:pt x="1466" y="406"/>
                  </a:cubicBezTo>
                  <a:cubicBezTo>
                    <a:pt x="1408" y="406"/>
                    <a:pt x="1439" y="388"/>
                    <a:pt x="1388" y="374"/>
                  </a:cubicBezTo>
                  <a:cubicBezTo>
                    <a:pt x="1337" y="360"/>
                    <a:pt x="1187" y="340"/>
                    <a:pt x="1158" y="321"/>
                  </a:cubicBezTo>
                  <a:cubicBezTo>
                    <a:pt x="1129" y="302"/>
                    <a:pt x="1222" y="276"/>
                    <a:pt x="1217" y="262"/>
                  </a:cubicBezTo>
                  <a:cubicBezTo>
                    <a:pt x="1212" y="248"/>
                    <a:pt x="1162" y="245"/>
                    <a:pt x="1126" y="236"/>
                  </a:cubicBezTo>
                  <a:cubicBezTo>
                    <a:pt x="1090" y="227"/>
                    <a:pt x="1026" y="209"/>
                    <a:pt x="1001" y="210"/>
                  </a:cubicBezTo>
                  <a:cubicBezTo>
                    <a:pt x="976" y="211"/>
                    <a:pt x="994" y="247"/>
                    <a:pt x="975" y="243"/>
                  </a:cubicBezTo>
                  <a:cubicBezTo>
                    <a:pt x="956" y="239"/>
                    <a:pt x="900" y="200"/>
                    <a:pt x="884" y="184"/>
                  </a:cubicBezTo>
                  <a:cubicBezTo>
                    <a:pt x="868" y="168"/>
                    <a:pt x="915" y="155"/>
                    <a:pt x="877" y="145"/>
                  </a:cubicBezTo>
                  <a:cubicBezTo>
                    <a:pt x="839" y="135"/>
                    <a:pt x="711" y="122"/>
                    <a:pt x="654" y="125"/>
                  </a:cubicBezTo>
                  <a:cubicBezTo>
                    <a:pt x="597" y="128"/>
                    <a:pt x="585" y="150"/>
                    <a:pt x="537" y="164"/>
                  </a:cubicBezTo>
                  <a:cubicBezTo>
                    <a:pt x="489" y="178"/>
                    <a:pt x="408" y="188"/>
                    <a:pt x="366" y="210"/>
                  </a:cubicBezTo>
                  <a:cubicBezTo>
                    <a:pt x="324" y="232"/>
                    <a:pt x="315" y="272"/>
                    <a:pt x="288" y="295"/>
                  </a:cubicBezTo>
                  <a:cubicBezTo>
                    <a:pt x="261" y="318"/>
                    <a:pt x="243" y="331"/>
                    <a:pt x="203" y="348"/>
                  </a:cubicBezTo>
                  <a:cubicBezTo>
                    <a:pt x="163" y="365"/>
                    <a:pt x="80" y="385"/>
                    <a:pt x="46" y="400"/>
                  </a:cubicBezTo>
                  <a:cubicBezTo>
                    <a:pt x="12" y="415"/>
                    <a:pt x="6" y="427"/>
                    <a:pt x="0" y="439"/>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714" name="Freeform 10">
              <a:extLst>
                <a:ext uri="{FF2B5EF4-FFF2-40B4-BE49-F238E27FC236}">
                  <a16:creationId xmlns:a16="http://schemas.microsoft.com/office/drawing/2014/main" id="{FBCCE11D-3471-2B59-133D-D9DD961BF564}"/>
                </a:ext>
              </a:extLst>
            </p:cNvPr>
            <p:cNvSpPr>
              <a:spLocks/>
            </p:cNvSpPr>
            <p:nvPr/>
          </p:nvSpPr>
          <p:spPr bwMode="auto">
            <a:xfrm>
              <a:off x="873" y="2883"/>
              <a:ext cx="1500" cy="1178"/>
            </a:xfrm>
            <a:custGeom>
              <a:avLst/>
              <a:gdLst>
                <a:gd name="T0" fmla="*/ 570 w 1678"/>
                <a:gd name="T1" fmla="*/ 1300 h 1300"/>
                <a:gd name="T2" fmla="*/ 570 w 1678"/>
                <a:gd name="T3" fmla="*/ 1097 h 1300"/>
                <a:gd name="T4" fmla="*/ 570 w 1678"/>
                <a:gd name="T5" fmla="*/ 1058 h 1300"/>
                <a:gd name="T6" fmla="*/ 485 w 1678"/>
                <a:gd name="T7" fmla="*/ 1005 h 1300"/>
                <a:gd name="T8" fmla="*/ 557 w 1678"/>
                <a:gd name="T9" fmla="*/ 953 h 1300"/>
                <a:gd name="T10" fmla="*/ 564 w 1678"/>
                <a:gd name="T11" fmla="*/ 835 h 1300"/>
                <a:gd name="T12" fmla="*/ 512 w 1678"/>
                <a:gd name="T13" fmla="*/ 744 h 1300"/>
                <a:gd name="T14" fmla="*/ 492 w 1678"/>
                <a:gd name="T15" fmla="*/ 645 h 1300"/>
                <a:gd name="T16" fmla="*/ 368 w 1678"/>
                <a:gd name="T17" fmla="*/ 600 h 1300"/>
                <a:gd name="T18" fmla="*/ 322 w 1678"/>
                <a:gd name="T19" fmla="*/ 672 h 1300"/>
                <a:gd name="T20" fmla="*/ 328 w 1678"/>
                <a:gd name="T21" fmla="*/ 744 h 1300"/>
                <a:gd name="T22" fmla="*/ 47 w 1678"/>
                <a:gd name="T23" fmla="*/ 724 h 1300"/>
                <a:gd name="T24" fmla="*/ 47 w 1678"/>
                <a:gd name="T25" fmla="*/ 632 h 1300"/>
                <a:gd name="T26" fmla="*/ 93 w 1678"/>
                <a:gd name="T27" fmla="*/ 567 h 1300"/>
                <a:gd name="T28" fmla="*/ 230 w 1678"/>
                <a:gd name="T29" fmla="*/ 475 h 1300"/>
                <a:gd name="T30" fmla="*/ 276 w 1678"/>
                <a:gd name="T31" fmla="*/ 410 h 1300"/>
                <a:gd name="T32" fmla="*/ 204 w 1678"/>
                <a:gd name="T33" fmla="*/ 390 h 1300"/>
                <a:gd name="T34" fmla="*/ 197 w 1678"/>
                <a:gd name="T35" fmla="*/ 318 h 1300"/>
                <a:gd name="T36" fmla="*/ 230 w 1678"/>
                <a:gd name="T37" fmla="*/ 272 h 1300"/>
                <a:gd name="T38" fmla="*/ 99 w 1678"/>
                <a:gd name="T39" fmla="*/ 200 h 1300"/>
                <a:gd name="T40" fmla="*/ 119 w 1678"/>
                <a:gd name="T41" fmla="*/ 141 h 1300"/>
                <a:gd name="T42" fmla="*/ 368 w 1678"/>
                <a:gd name="T43" fmla="*/ 56 h 1300"/>
                <a:gd name="T44" fmla="*/ 466 w 1678"/>
                <a:gd name="T45" fmla="*/ 11 h 1300"/>
                <a:gd name="T46" fmla="*/ 551 w 1678"/>
                <a:gd name="T47" fmla="*/ 17 h 1300"/>
                <a:gd name="T48" fmla="*/ 616 w 1678"/>
                <a:gd name="T49" fmla="*/ 115 h 1300"/>
                <a:gd name="T50" fmla="*/ 538 w 1678"/>
                <a:gd name="T51" fmla="*/ 194 h 1300"/>
                <a:gd name="T52" fmla="*/ 525 w 1678"/>
                <a:gd name="T53" fmla="*/ 312 h 1300"/>
                <a:gd name="T54" fmla="*/ 616 w 1678"/>
                <a:gd name="T55" fmla="*/ 377 h 1300"/>
                <a:gd name="T56" fmla="*/ 675 w 1678"/>
                <a:gd name="T57" fmla="*/ 423 h 1300"/>
                <a:gd name="T58" fmla="*/ 675 w 1678"/>
                <a:gd name="T59" fmla="*/ 501 h 1300"/>
                <a:gd name="T60" fmla="*/ 701 w 1678"/>
                <a:gd name="T61" fmla="*/ 580 h 1300"/>
                <a:gd name="T62" fmla="*/ 721 w 1678"/>
                <a:gd name="T63" fmla="*/ 632 h 1300"/>
                <a:gd name="T64" fmla="*/ 780 w 1678"/>
                <a:gd name="T65" fmla="*/ 652 h 1300"/>
                <a:gd name="T66" fmla="*/ 832 w 1678"/>
                <a:gd name="T67" fmla="*/ 665 h 1300"/>
                <a:gd name="T68" fmla="*/ 872 w 1678"/>
                <a:gd name="T69" fmla="*/ 613 h 1300"/>
                <a:gd name="T70" fmla="*/ 924 w 1678"/>
                <a:gd name="T71" fmla="*/ 580 h 1300"/>
                <a:gd name="T72" fmla="*/ 1009 w 1678"/>
                <a:gd name="T73" fmla="*/ 665 h 1300"/>
                <a:gd name="T74" fmla="*/ 983 w 1678"/>
                <a:gd name="T75" fmla="*/ 757 h 1300"/>
                <a:gd name="T76" fmla="*/ 858 w 1678"/>
                <a:gd name="T77" fmla="*/ 875 h 1300"/>
                <a:gd name="T78" fmla="*/ 721 w 1678"/>
                <a:gd name="T79" fmla="*/ 940 h 1300"/>
                <a:gd name="T80" fmla="*/ 721 w 1678"/>
                <a:gd name="T81" fmla="*/ 1051 h 1300"/>
                <a:gd name="T82" fmla="*/ 806 w 1678"/>
                <a:gd name="T83" fmla="*/ 1189 h 1300"/>
                <a:gd name="T84" fmla="*/ 839 w 1678"/>
                <a:gd name="T85" fmla="*/ 1091 h 1300"/>
                <a:gd name="T86" fmla="*/ 970 w 1678"/>
                <a:gd name="T87" fmla="*/ 986 h 1300"/>
                <a:gd name="T88" fmla="*/ 1094 w 1678"/>
                <a:gd name="T89" fmla="*/ 953 h 1300"/>
                <a:gd name="T90" fmla="*/ 1232 w 1678"/>
                <a:gd name="T91" fmla="*/ 986 h 1300"/>
                <a:gd name="T92" fmla="*/ 1330 w 1678"/>
                <a:gd name="T93" fmla="*/ 894 h 1300"/>
                <a:gd name="T94" fmla="*/ 1448 w 1678"/>
                <a:gd name="T95" fmla="*/ 861 h 1300"/>
                <a:gd name="T96" fmla="*/ 1461 w 1678"/>
                <a:gd name="T97" fmla="*/ 940 h 1300"/>
                <a:gd name="T98" fmla="*/ 1605 w 1678"/>
                <a:gd name="T99" fmla="*/ 920 h 1300"/>
                <a:gd name="T100" fmla="*/ 1677 w 1678"/>
                <a:gd name="T101" fmla="*/ 966 h 1300"/>
                <a:gd name="T102" fmla="*/ 1611 w 1678"/>
                <a:gd name="T103" fmla="*/ 1064 h 1300"/>
                <a:gd name="T104" fmla="*/ 1611 w 1678"/>
                <a:gd name="T105" fmla="*/ 1104 h 1300"/>
                <a:gd name="T106" fmla="*/ 1467 w 1678"/>
                <a:gd name="T107" fmla="*/ 1064 h 1300"/>
                <a:gd name="T108" fmla="*/ 1421 w 1678"/>
                <a:gd name="T109" fmla="*/ 1019 h 1300"/>
                <a:gd name="T110" fmla="*/ 1349 w 1678"/>
                <a:gd name="T111" fmla="*/ 1130 h 1300"/>
                <a:gd name="T112" fmla="*/ 1290 w 1678"/>
                <a:gd name="T113" fmla="*/ 1202 h 1300"/>
                <a:gd name="T114" fmla="*/ 1153 w 1678"/>
                <a:gd name="T115" fmla="*/ 1241 h 1300"/>
                <a:gd name="T116" fmla="*/ 1074 w 1678"/>
                <a:gd name="T117" fmla="*/ 1267 h 1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678" h="1300">
                  <a:moveTo>
                    <a:pt x="570" y="1300"/>
                  </a:moveTo>
                  <a:cubicBezTo>
                    <a:pt x="570" y="1218"/>
                    <a:pt x="570" y="1137"/>
                    <a:pt x="570" y="1097"/>
                  </a:cubicBezTo>
                  <a:cubicBezTo>
                    <a:pt x="570" y="1057"/>
                    <a:pt x="584" y="1073"/>
                    <a:pt x="570" y="1058"/>
                  </a:cubicBezTo>
                  <a:cubicBezTo>
                    <a:pt x="556" y="1043"/>
                    <a:pt x="487" y="1022"/>
                    <a:pt x="485" y="1005"/>
                  </a:cubicBezTo>
                  <a:cubicBezTo>
                    <a:pt x="483" y="988"/>
                    <a:pt x="544" y="981"/>
                    <a:pt x="557" y="953"/>
                  </a:cubicBezTo>
                  <a:cubicBezTo>
                    <a:pt x="570" y="925"/>
                    <a:pt x="571" y="870"/>
                    <a:pt x="564" y="835"/>
                  </a:cubicBezTo>
                  <a:cubicBezTo>
                    <a:pt x="557" y="800"/>
                    <a:pt x="524" y="776"/>
                    <a:pt x="512" y="744"/>
                  </a:cubicBezTo>
                  <a:cubicBezTo>
                    <a:pt x="500" y="712"/>
                    <a:pt x="516" y="669"/>
                    <a:pt x="492" y="645"/>
                  </a:cubicBezTo>
                  <a:cubicBezTo>
                    <a:pt x="468" y="621"/>
                    <a:pt x="396" y="596"/>
                    <a:pt x="368" y="600"/>
                  </a:cubicBezTo>
                  <a:cubicBezTo>
                    <a:pt x="340" y="604"/>
                    <a:pt x="329" y="648"/>
                    <a:pt x="322" y="672"/>
                  </a:cubicBezTo>
                  <a:cubicBezTo>
                    <a:pt x="315" y="696"/>
                    <a:pt x="374" y="735"/>
                    <a:pt x="328" y="744"/>
                  </a:cubicBezTo>
                  <a:cubicBezTo>
                    <a:pt x="282" y="753"/>
                    <a:pt x="94" y="743"/>
                    <a:pt x="47" y="724"/>
                  </a:cubicBezTo>
                  <a:cubicBezTo>
                    <a:pt x="0" y="705"/>
                    <a:pt x="39" y="658"/>
                    <a:pt x="47" y="632"/>
                  </a:cubicBezTo>
                  <a:cubicBezTo>
                    <a:pt x="55" y="606"/>
                    <a:pt x="63" y="593"/>
                    <a:pt x="93" y="567"/>
                  </a:cubicBezTo>
                  <a:cubicBezTo>
                    <a:pt x="123" y="541"/>
                    <a:pt x="200" y="501"/>
                    <a:pt x="230" y="475"/>
                  </a:cubicBezTo>
                  <a:cubicBezTo>
                    <a:pt x="260" y="449"/>
                    <a:pt x="280" y="424"/>
                    <a:pt x="276" y="410"/>
                  </a:cubicBezTo>
                  <a:cubicBezTo>
                    <a:pt x="272" y="396"/>
                    <a:pt x="217" y="405"/>
                    <a:pt x="204" y="390"/>
                  </a:cubicBezTo>
                  <a:cubicBezTo>
                    <a:pt x="191" y="375"/>
                    <a:pt x="193" y="338"/>
                    <a:pt x="197" y="318"/>
                  </a:cubicBezTo>
                  <a:cubicBezTo>
                    <a:pt x="201" y="298"/>
                    <a:pt x="246" y="292"/>
                    <a:pt x="230" y="272"/>
                  </a:cubicBezTo>
                  <a:cubicBezTo>
                    <a:pt x="214" y="252"/>
                    <a:pt x="117" y="222"/>
                    <a:pt x="99" y="200"/>
                  </a:cubicBezTo>
                  <a:cubicBezTo>
                    <a:pt x="81" y="178"/>
                    <a:pt x="74" y="165"/>
                    <a:pt x="119" y="141"/>
                  </a:cubicBezTo>
                  <a:cubicBezTo>
                    <a:pt x="164" y="117"/>
                    <a:pt x="310" y="78"/>
                    <a:pt x="368" y="56"/>
                  </a:cubicBezTo>
                  <a:cubicBezTo>
                    <a:pt x="426" y="34"/>
                    <a:pt x="436" y="17"/>
                    <a:pt x="466" y="11"/>
                  </a:cubicBezTo>
                  <a:cubicBezTo>
                    <a:pt x="496" y="5"/>
                    <a:pt x="526" y="0"/>
                    <a:pt x="551" y="17"/>
                  </a:cubicBezTo>
                  <a:cubicBezTo>
                    <a:pt x="576" y="34"/>
                    <a:pt x="618" y="86"/>
                    <a:pt x="616" y="115"/>
                  </a:cubicBezTo>
                  <a:cubicBezTo>
                    <a:pt x="614" y="144"/>
                    <a:pt x="553" y="161"/>
                    <a:pt x="538" y="194"/>
                  </a:cubicBezTo>
                  <a:cubicBezTo>
                    <a:pt x="523" y="227"/>
                    <a:pt x="512" y="282"/>
                    <a:pt x="525" y="312"/>
                  </a:cubicBezTo>
                  <a:cubicBezTo>
                    <a:pt x="538" y="342"/>
                    <a:pt x="591" y="359"/>
                    <a:pt x="616" y="377"/>
                  </a:cubicBezTo>
                  <a:cubicBezTo>
                    <a:pt x="641" y="395"/>
                    <a:pt x="665" y="402"/>
                    <a:pt x="675" y="423"/>
                  </a:cubicBezTo>
                  <a:cubicBezTo>
                    <a:pt x="685" y="444"/>
                    <a:pt x="671" y="475"/>
                    <a:pt x="675" y="501"/>
                  </a:cubicBezTo>
                  <a:cubicBezTo>
                    <a:pt x="679" y="527"/>
                    <a:pt x="693" y="558"/>
                    <a:pt x="701" y="580"/>
                  </a:cubicBezTo>
                  <a:cubicBezTo>
                    <a:pt x="709" y="602"/>
                    <a:pt x="708" y="620"/>
                    <a:pt x="721" y="632"/>
                  </a:cubicBezTo>
                  <a:cubicBezTo>
                    <a:pt x="734" y="644"/>
                    <a:pt x="762" y="647"/>
                    <a:pt x="780" y="652"/>
                  </a:cubicBezTo>
                  <a:cubicBezTo>
                    <a:pt x="798" y="657"/>
                    <a:pt x="817" y="671"/>
                    <a:pt x="832" y="665"/>
                  </a:cubicBezTo>
                  <a:cubicBezTo>
                    <a:pt x="847" y="659"/>
                    <a:pt x="857" y="627"/>
                    <a:pt x="872" y="613"/>
                  </a:cubicBezTo>
                  <a:cubicBezTo>
                    <a:pt x="887" y="599"/>
                    <a:pt x="901" y="571"/>
                    <a:pt x="924" y="580"/>
                  </a:cubicBezTo>
                  <a:cubicBezTo>
                    <a:pt x="947" y="589"/>
                    <a:pt x="999" y="636"/>
                    <a:pt x="1009" y="665"/>
                  </a:cubicBezTo>
                  <a:cubicBezTo>
                    <a:pt x="1019" y="694"/>
                    <a:pt x="1008" y="722"/>
                    <a:pt x="983" y="757"/>
                  </a:cubicBezTo>
                  <a:cubicBezTo>
                    <a:pt x="958" y="792"/>
                    <a:pt x="902" y="844"/>
                    <a:pt x="858" y="875"/>
                  </a:cubicBezTo>
                  <a:cubicBezTo>
                    <a:pt x="814" y="906"/>
                    <a:pt x="744" y="911"/>
                    <a:pt x="721" y="940"/>
                  </a:cubicBezTo>
                  <a:cubicBezTo>
                    <a:pt x="698" y="969"/>
                    <a:pt x="707" y="1010"/>
                    <a:pt x="721" y="1051"/>
                  </a:cubicBezTo>
                  <a:cubicBezTo>
                    <a:pt x="735" y="1092"/>
                    <a:pt x="787" y="1182"/>
                    <a:pt x="806" y="1189"/>
                  </a:cubicBezTo>
                  <a:cubicBezTo>
                    <a:pt x="825" y="1196"/>
                    <a:pt x="812" y="1125"/>
                    <a:pt x="839" y="1091"/>
                  </a:cubicBezTo>
                  <a:cubicBezTo>
                    <a:pt x="866" y="1057"/>
                    <a:pt x="928" y="1009"/>
                    <a:pt x="970" y="986"/>
                  </a:cubicBezTo>
                  <a:cubicBezTo>
                    <a:pt x="1012" y="963"/>
                    <a:pt x="1050" y="953"/>
                    <a:pt x="1094" y="953"/>
                  </a:cubicBezTo>
                  <a:cubicBezTo>
                    <a:pt x="1138" y="953"/>
                    <a:pt x="1193" y="996"/>
                    <a:pt x="1232" y="986"/>
                  </a:cubicBezTo>
                  <a:cubicBezTo>
                    <a:pt x="1271" y="976"/>
                    <a:pt x="1294" y="915"/>
                    <a:pt x="1330" y="894"/>
                  </a:cubicBezTo>
                  <a:cubicBezTo>
                    <a:pt x="1366" y="873"/>
                    <a:pt x="1426" y="853"/>
                    <a:pt x="1448" y="861"/>
                  </a:cubicBezTo>
                  <a:cubicBezTo>
                    <a:pt x="1470" y="869"/>
                    <a:pt x="1435" y="930"/>
                    <a:pt x="1461" y="940"/>
                  </a:cubicBezTo>
                  <a:cubicBezTo>
                    <a:pt x="1487" y="950"/>
                    <a:pt x="1569" y="916"/>
                    <a:pt x="1605" y="920"/>
                  </a:cubicBezTo>
                  <a:cubicBezTo>
                    <a:pt x="1641" y="924"/>
                    <a:pt x="1676" y="942"/>
                    <a:pt x="1677" y="966"/>
                  </a:cubicBezTo>
                  <a:cubicBezTo>
                    <a:pt x="1678" y="990"/>
                    <a:pt x="1622" y="1041"/>
                    <a:pt x="1611" y="1064"/>
                  </a:cubicBezTo>
                  <a:cubicBezTo>
                    <a:pt x="1600" y="1087"/>
                    <a:pt x="1635" y="1104"/>
                    <a:pt x="1611" y="1104"/>
                  </a:cubicBezTo>
                  <a:cubicBezTo>
                    <a:pt x="1587" y="1104"/>
                    <a:pt x="1499" y="1078"/>
                    <a:pt x="1467" y="1064"/>
                  </a:cubicBezTo>
                  <a:cubicBezTo>
                    <a:pt x="1435" y="1050"/>
                    <a:pt x="1441" y="1008"/>
                    <a:pt x="1421" y="1019"/>
                  </a:cubicBezTo>
                  <a:cubicBezTo>
                    <a:pt x="1401" y="1030"/>
                    <a:pt x="1371" y="1100"/>
                    <a:pt x="1349" y="1130"/>
                  </a:cubicBezTo>
                  <a:cubicBezTo>
                    <a:pt x="1327" y="1160"/>
                    <a:pt x="1323" y="1184"/>
                    <a:pt x="1290" y="1202"/>
                  </a:cubicBezTo>
                  <a:cubicBezTo>
                    <a:pt x="1257" y="1220"/>
                    <a:pt x="1189" y="1230"/>
                    <a:pt x="1153" y="1241"/>
                  </a:cubicBezTo>
                  <a:cubicBezTo>
                    <a:pt x="1117" y="1252"/>
                    <a:pt x="1085" y="1257"/>
                    <a:pt x="1074" y="1267"/>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715" name="Oval 11">
              <a:extLst>
                <a:ext uri="{FF2B5EF4-FFF2-40B4-BE49-F238E27FC236}">
                  <a16:creationId xmlns:a16="http://schemas.microsoft.com/office/drawing/2014/main" id="{3CF20075-879D-53D7-3FD4-8938EAD328E5}"/>
                </a:ext>
              </a:extLst>
            </p:cNvPr>
            <p:cNvSpPr>
              <a:spLocks noChangeArrowheads="1"/>
            </p:cNvSpPr>
            <p:nvPr/>
          </p:nvSpPr>
          <p:spPr bwMode="auto">
            <a:xfrm>
              <a:off x="966" y="3414"/>
              <a:ext cx="131" cy="13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716" name="Oval 12">
              <a:extLst>
                <a:ext uri="{FF2B5EF4-FFF2-40B4-BE49-F238E27FC236}">
                  <a16:creationId xmlns:a16="http://schemas.microsoft.com/office/drawing/2014/main" id="{F31472AA-2918-1DCC-AC8A-6C8925A9235F}"/>
                </a:ext>
              </a:extLst>
            </p:cNvPr>
            <p:cNvSpPr>
              <a:spLocks noChangeArrowheads="1"/>
            </p:cNvSpPr>
            <p:nvPr/>
          </p:nvSpPr>
          <p:spPr bwMode="auto">
            <a:xfrm>
              <a:off x="2227" y="2566"/>
              <a:ext cx="131" cy="13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717" name="Oval 13">
              <a:extLst>
                <a:ext uri="{FF2B5EF4-FFF2-40B4-BE49-F238E27FC236}">
                  <a16:creationId xmlns:a16="http://schemas.microsoft.com/office/drawing/2014/main" id="{F296BFB6-F984-FEAC-9E7F-E24C5C61ED22}"/>
                </a:ext>
              </a:extLst>
            </p:cNvPr>
            <p:cNvSpPr>
              <a:spLocks noChangeArrowheads="1"/>
            </p:cNvSpPr>
            <p:nvPr/>
          </p:nvSpPr>
          <p:spPr bwMode="auto">
            <a:xfrm>
              <a:off x="1614" y="2113"/>
              <a:ext cx="131" cy="13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718" name="Oval 14">
              <a:extLst>
                <a:ext uri="{FF2B5EF4-FFF2-40B4-BE49-F238E27FC236}">
                  <a16:creationId xmlns:a16="http://schemas.microsoft.com/office/drawing/2014/main" id="{0C5F29EB-9B62-1AA8-4D78-8D6975F42D1D}"/>
                </a:ext>
              </a:extLst>
            </p:cNvPr>
            <p:cNvSpPr>
              <a:spLocks noChangeArrowheads="1"/>
            </p:cNvSpPr>
            <p:nvPr/>
          </p:nvSpPr>
          <p:spPr bwMode="auto">
            <a:xfrm>
              <a:off x="1705" y="1519"/>
              <a:ext cx="132" cy="13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719" name="Oval 15">
              <a:extLst>
                <a:ext uri="{FF2B5EF4-FFF2-40B4-BE49-F238E27FC236}">
                  <a16:creationId xmlns:a16="http://schemas.microsoft.com/office/drawing/2014/main" id="{6FED8D6A-6B29-3E99-F35B-2C7D742FBD89}"/>
                </a:ext>
              </a:extLst>
            </p:cNvPr>
            <p:cNvSpPr>
              <a:spLocks noChangeArrowheads="1"/>
            </p:cNvSpPr>
            <p:nvPr/>
          </p:nvSpPr>
          <p:spPr bwMode="auto">
            <a:xfrm>
              <a:off x="2429" y="1757"/>
              <a:ext cx="132" cy="13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720" name="Oval 16">
              <a:extLst>
                <a:ext uri="{FF2B5EF4-FFF2-40B4-BE49-F238E27FC236}">
                  <a16:creationId xmlns:a16="http://schemas.microsoft.com/office/drawing/2014/main" id="{06F0077E-308F-FE75-D76F-90CA860AE398}"/>
                </a:ext>
              </a:extLst>
            </p:cNvPr>
            <p:cNvSpPr>
              <a:spLocks noChangeArrowheads="1"/>
            </p:cNvSpPr>
            <p:nvPr/>
          </p:nvSpPr>
          <p:spPr bwMode="auto">
            <a:xfrm>
              <a:off x="2854" y="1719"/>
              <a:ext cx="132" cy="13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721" name="Oval 17">
              <a:extLst>
                <a:ext uri="{FF2B5EF4-FFF2-40B4-BE49-F238E27FC236}">
                  <a16:creationId xmlns:a16="http://schemas.microsoft.com/office/drawing/2014/main" id="{BDBCC32C-7D67-F60C-5E6D-9F1BFAD6EB11}"/>
                </a:ext>
              </a:extLst>
            </p:cNvPr>
            <p:cNvSpPr>
              <a:spLocks noChangeArrowheads="1"/>
            </p:cNvSpPr>
            <p:nvPr/>
          </p:nvSpPr>
          <p:spPr bwMode="auto">
            <a:xfrm>
              <a:off x="3253" y="2881"/>
              <a:ext cx="132" cy="13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722" name="Oval 18">
              <a:extLst>
                <a:ext uri="{FF2B5EF4-FFF2-40B4-BE49-F238E27FC236}">
                  <a16:creationId xmlns:a16="http://schemas.microsoft.com/office/drawing/2014/main" id="{C3A083E5-327A-A8FA-E0D4-8DBEC8C114E0}"/>
                </a:ext>
              </a:extLst>
            </p:cNvPr>
            <p:cNvSpPr>
              <a:spLocks noChangeArrowheads="1"/>
            </p:cNvSpPr>
            <p:nvPr/>
          </p:nvSpPr>
          <p:spPr bwMode="auto">
            <a:xfrm>
              <a:off x="2632" y="2144"/>
              <a:ext cx="132" cy="13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723" name="Oval 19">
              <a:extLst>
                <a:ext uri="{FF2B5EF4-FFF2-40B4-BE49-F238E27FC236}">
                  <a16:creationId xmlns:a16="http://schemas.microsoft.com/office/drawing/2014/main" id="{AF3E2A54-412E-BD43-E11C-478378B54F32}"/>
                </a:ext>
              </a:extLst>
            </p:cNvPr>
            <p:cNvSpPr>
              <a:spLocks noChangeArrowheads="1"/>
            </p:cNvSpPr>
            <p:nvPr/>
          </p:nvSpPr>
          <p:spPr bwMode="auto">
            <a:xfrm>
              <a:off x="3323" y="1458"/>
              <a:ext cx="132" cy="13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2724" name="Text Box 20">
              <a:extLst>
                <a:ext uri="{FF2B5EF4-FFF2-40B4-BE49-F238E27FC236}">
                  <a16:creationId xmlns:a16="http://schemas.microsoft.com/office/drawing/2014/main" id="{C1A32FF7-E3E1-961D-7808-C016E0F31C43}"/>
                </a:ext>
              </a:extLst>
            </p:cNvPr>
            <p:cNvSpPr txBox="1">
              <a:spLocks noChangeArrowheads="1"/>
            </p:cNvSpPr>
            <p:nvPr/>
          </p:nvSpPr>
          <p:spPr bwMode="auto">
            <a:xfrm>
              <a:off x="1644" y="3751"/>
              <a:ext cx="50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Lamma</a:t>
              </a:r>
            </a:p>
          </p:txBody>
        </p:sp>
        <p:sp>
          <p:nvSpPr>
            <p:cNvPr id="72725" name="Text Box 21">
              <a:extLst>
                <a:ext uri="{FF2B5EF4-FFF2-40B4-BE49-F238E27FC236}">
                  <a16:creationId xmlns:a16="http://schemas.microsoft.com/office/drawing/2014/main" id="{C9B09262-2318-56F7-35F3-03D3D04B8539}"/>
                </a:ext>
              </a:extLst>
            </p:cNvPr>
            <p:cNvSpPr txBox="1">
              <a:spLocks noChangeArrowheads="1"/>
            </p:cNvSpPr>
            <p:nvPr/>
          </p:nvSpPr>
          <p:spPr bwMode="auto">
            <a:xfrm>
              <a:off x="576" y="3503"/>
              <a:ext cx="850"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solidFill>
                    <a:srgbClr val="FF0000"/>
                  </a:solidFill>
                </a:rPr>
                <a:t>Power Station</a:t>
              </a:r>
            </a:p>
          </p:txBody>
        </p:sp>
        <p:sp>
          <p:nvSpPr>
            <p:cNvPr id="72726" name="Text Box 22">
              <a:extLst>
                <a:ext uri="{FF2B5EF4-FFF2-40B4-BE49-F238E27FC236}">
                  <a16:creationId xmlns:a16="http://schemas.microsoft.com/office/drawing/2014/main" id="{709E82E0-89F9-07F9-1E78-062845A932DB}"/>
                </a:ext>
              </a:extLst>
            </p:cNvPr>
            <p:cNvSpPr txBox="1">
              <a:spLocks noChangeArrowheads="1"/>
            </p:cNvSpPr>
            <p:nvPr/>
          </p:nvSpPr>
          <p:spPr bwMode="auto">
            <a:xfrm rot="3377095">
              <a:off x="2433" y="1341"/>
              <a:ext cx="595"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b="1" dirty="0" err="1">
                  <a:solidFill>
                    <a:schemeClr val="hlink"/>
                  </a:solidFill>
                </a:rPr>
                <a:t>WanChai</a:t>
              </a:r>
              <a:endParaRPr lang="en-US" altLang="en-US" sz="1600" b="1" dirty="0">
                <a:solidFill>
                  <a:schemeClr val="hlink"/>
                </a:solidFill>
              </a:endParaRPr>
            </a:p>
          </p:txBody>
        </p:sp>
        <p:sp>
          <p:nvSpPr>
            <p:cNvPr id="72727" name="Text Box 23">
              <a:extLst>
                <a:ext uri="{FF2B5EF4-FFF2-40B4-BE49-F238E27FC236}">
                  <a16:creationId xmlns:a16="http://schemas.microsoft.com/office/drawing/2014/main" id="{27F25570-3182-93DE-D3A1-4EF1B1176A08}"/>
                </a:ext>
              </a:extLst>
            </p:cNvPr>
            <p:cNvSpPr txBox="1">
              <a:spLocks noChangeArrowheads="1"/>
            </p:cNvSpPr>
            <p:nvPr/>
          </p:nvSpPr>
          <p:spPr bwMode="auto">
            <a:xfrm>
              <a:off x="3488" y="1363"/>
              <a:ext cx="697"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NorthPoint</a:t>
              </a:r>
            </a:p>
          </p:txBody>
        </p:sp>
        <p:sp>
          <p:nvSpPr>
            <p:cNvPr id="72728" name="Text Box 24">
              <a:extLst>
                <a:ext uri="{FF2B5EF4-FFF2-40B4-BE49-F238E27FC236}">
                  <a16:creationId xmlns:a16="http://schemas.microsoft.com/office/drawing/2014/main" id="{5486808C-7E60-C8ED-934A-E0D3FB7F21AA}"/>
                </a:ext>
              </a:extLst>
            </p:cNvPr>
            <p:cNvSpPr txBox="1">
              <a:spLocks noChangeArrowheads="1"/>
            </p:cNvSpPr>
            <p:nvPr/>
          </p:nvSpPr>
          <p:spPr bwMode="auto">
            <a:xfrm>
              <a:off x="3392" y="2774"/>
              <a:ext cx="73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RepulseBay</a:t>
              </a:r>
            </a:p>
          </p:txBody>
        </p:sp>
        <p:sp>
          <p:nvSpPr>
            <p:cNvPr id="72729" name="Text Box 25">
              <a:extLst>
                <a:ext uri="{FF2B5EF4-FFF2-40B4-BE49-F238E27FC236}">
                  <a16:creationId xmlns:a16="http://schemas.microsoft.com/office/drawing/2014/main" id="{D744C61B-5B94-BDFB-EA61-08E5E05DB2B2}"/>
                </a:ext>
              </a:extLst>
            </p:cNvPr>
            <p:cNvSpPr txBox="1">
              <a:spLocks noChangeArrowheads="1"/>
            </p:cNvSpPr>
            <p:nvPr/>
          </p:nvSpPr>
          <p:spPr bwMode="auto">
            <a:xfrm>
              <a:off x="2323" y="2459"/>
              <a:ext cx="632"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Aberdeen</a:t>
              </a:r>
            </a:p>
          </p:txBody>
        </p:sp>
        <p:sp>
          <p:nvSpPr>
            <p:cNvPr id="72730" name="Text Box 26">
              <a:extLst>
                <a:ext uri="{FF2B5EF4-FFF2-40B4-BE49-F238E27FC236}">
                  <a16:creationId xmlns:a16="http://schemas.microsoft.com/office/drawing/2014/main" id="{58BFEBB2-26E0-C7A7-F5CD-8AE99BF9E202}"/>
                </a:ext>
              </a:extLst>
            </p:cNvPr>
            <p:cNvSpPr txBox="1">
              <a:spLocks noChangeArrowheads="1"/>
            </p:cNvSpPr>
            <p:nvPr/>
          </p:nvSpPr>
          <p:spPr bwMode="auto">
            <a:xfrm>
              <a:off x="945" y="2069"/>
              <a:ext cx="65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PokFuLam</a:t>
              </a:r>
            </a:p>
          </p:txBody>
        </p:sp>
        <p:sp>
          <p:nvSpPr>
            <p:cNvPr id="72731" name="Text Box 27">
              <a:extLst>
                <a:ext uri="{FF2B5EF4-FFF2-40B4-BE49-F238E27FC236}">
                  <a16:creationId xmlns:a16="http://schemas.microsoft.com/office/drawing/2014/main" id="{68180D13-43A0-270D-3464-606EE3DED328}"/>
                </a:ext>
              </a:extLst>
            </p:cNvPr>
            <p:cNvSpPr txBox="1">
              <a:spLocks noChangeArrowheads="1"/>
            </p:cNvSpPr>
            <p:nvPr/>
          </p:nvSpPr>
          <p:spPr bwMode="auto">
            <a:xfrm>
              <a:off x="1190" y="1436"/>
              <a:ext cx="560"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Western</a:t>
              </a:r>
            </a:p>
          </p:txBody>
        </p:sp>
        <p:sp>
          <p:nvSpPr>
            <p:cNvPr id="72732" name="Text Box 28">
              <a:extLst>
                <a:ext uri="{FF2B5EF4-FFF2-40B4-BE49-F238E27FC236}">
                  <a16:creationId xmlns:a16="http://schemas.microsoft.com/office/drawing/2014/main" id="{853747EA-1973-8A2A-B88D-079B4401FCF3}"/>
                </a:ext>
              </a:extLst>
            </p:cNvPr>
            <p:cNvSpPr txBox="1">
              <a:spLocks noChangeArrowheads="1"/>
            </p:cNvSpPr>
            <p:nvPr/>
          </p:nvSpPr>
          <p:spPr bwMode="auto">
            <a:xfrm>
              <a:off x="2202" y="1534"/>
              <a:ext cx="49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Central</a:t>
              </a:r>
            </a:p>
          </p:txBody>
        </p:sp>
        <p:sp>
          <p:nvSpPr>
            <p:cNvPr id="72733" name="Text Box 29">
              <a:extLst>
                <a:ext uri="{FF2B5EF4-FFF2-40B4-BE49-F238E27FC236}">
                  <a16:creationId xmlns:a16="http://schemas.microsoft.com/office/drawing/2014/main" id="{66E60D5B-9260-B105-BC8E-4558E979DBE5}"/>
                </a:ext>
              </a:extLst>
            </p:cNvPr>
            <p:cNvSpPr txBox="1">
              <a:spLocks noChangeArrowheads="1"/>
            </p:cNvSpPr>
            <p:nvPr/>
          </p:nvSpPr>
          <p:spPr bwMode="auto">
            <a:xfrm>
              <a:off x="1909" y="2094"/>
              <a:ext cx="761"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HappyValley</a:t>
              </a:r>
            </a:p>
          </p:txBody>
        </p:sp>
        <p:sp>
          <p:nvSpPr>
            <p:cNvPr id="72734" name="Line 30">
              <a:extLst>
                <a:ext uri="{FF2B5EF4-FFF2-40B4-BE49-F238E27FC236}">
                  <a16:creationId xmlns:a16="http://schemas.microsoft.com/office/drawing/2014/main" id="{9D808E59-AEC6-0F90-8143-5367F364D1CE}"/>
                </a:ext>
              </a:extLst>
            </p:cNvPr>
            <p:cNvSpPr>
              <a:spLocks noChangeShapeType="1"/>
            </p:cNvSpPr>
            <p:nvPr/>
          </p:nvSpPr>
          <p:spPr bwMode="auto">
            <a:xfrm flipV="1">
              <a:off x="1082" y="2670"/>
              <a:ext cx="1160" cy="769"/>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735" name="Line 31">
              <a:extLst>
                <a:ext uri="{FF2B5EF4-FFF2-40B4-BE49-F238E27FC236}">
                  <a16:creationId xmlns:a16="http://schemas.microsoft.com/office/drawing/2014/main" id="{CD330DB2-2A82-1A68-7CAE-CE0C0F6D6CE9}"/>
                </a:ext>
              </a:extLst>
            </p:cNvPr>
            <p:cNvSpPr>
              <a:spLocks noChangeShapeType="1"/>
            </p:cNvSpPr>
            <p:nvPr/>
          </p:nvSpPr>
          <p:spPr bwMode="auto">
            <a:xfrm flipV="1">
              <a:off x="1066" y="2234"/>
              <a:ext cx="573" cy="1189"/>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736" name="Line 32">
              <a:extLst>
                <a:ext uri="{FF2B5EF4-FFF2-40B4-BE49-F238E27FC236}">
                  <a16:creationId xmlns:a16="http://schemas.microsoft.com/office/drawing/2014/main" id="{AA552526-369A-3699-5B12-ABDEFF9931F7}"/>
                </a:ext>
              </a:extLst>
            </p:cNvPr>
            <p:cNvSpPr>
              <a:spLocks noChangeShapeType="1"/>
            </p:cNvSpPr>
            <p:nvPr/>
          </p:nvSpPr>
          <p:spPr bwMode="auto">
            <a:xfrm flipV="1">
              <a:off x="1087" y="2993"/>
              <a:ext cx="2165" cy="46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737" name="Line 33">
              <a:extLst>
                <a:ext uri="{FF2B5EF4-FFF2-40B4-BE49-F238E27FC236}">
                  <a16:creationId xmlns:a16="http://schemas.microsoft.com/office/drawing/2014/main" id="{3665845B-A34B-A35F-749A-23FBA9932B6A}"/>
                </a:ext>
              </a:extLst>
            </p:cNvPr>
            <p:cNvSpPr>
              <a:spLocks noChangeShapeType="1"/>
            </p:cNvSpPr>
            <p:nvPr/>
          </p:nvSpPr>
          <p:spPr bwMode="auto">
            <a:xfrm flipV="1">
              <a:off x="3318" y="1591"/>
              <a:ext cx="72" cy="128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738" name="Line 34">
              <a:extLst>
                <a:ext uri="{FF2B5EF4-FFF2-40B4-BE49-F238E27FC236}">
                  <a16:creationId xmlns:a16="http://schemas.microsoft.com/office/drawing/2014/main" id="{4631E4DE-1CF4-8C98-9060-B298C63FF326}"/>
                </a:ext>
              </a:extLst>
            </p:cNvPr>
            <p:cNvSpPr>
              <a:spLocks noChangeShapeType="1"/>
            </p:cNvSpPr>
            <p:nvPr/>
          </p:nvSpPr>
          <p:spPr bwMode="auto">
            <a:xfrm flipV="1">
              <a:off x="2742" y="1849"/>
              <a:ext cx="149" cy="29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739" name="Line 35">
              <a:extLst>
                <a:ext uri="{FF2B5EF4-FFF2-40B4-BE49-F238E27FC236}">
                  <a16:creationId xmlns:a16="http://schemas.microsoft.com/office/drawing/2014/main" id="{001FF451-E9C8-E45A-4480-046B55483EBC}"/>
                </a:ext>
              </a:extLst>
            </p:cNvPr>
            <p:cNvSpPr>
              <a:spLocks noChangeShapeType="1"/>
            </p:cNvSpPr>
            <p:nvPr/>
          </p:nvSpPr>
          <p:spPr bwMode="auto">
            <a:xfrm flipH="1" flipV="1">
              <a:off x="2513" y="1891"/>
              <a:ext cx="135" cy="25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740" name="Line 36">
              <a:extLst>
                <a:ext uri="{FF2B5EF4-FFF2-40B4-BE49-F238E27FC236}">
                  <a16:creationId xmlns:a16="http://schemas.microsoft.com/office/drawing/2014/main" id="{86B0E8F5-8DA8-D1FD-93B5-D6BC2059832D}"/>
                </a:ext>
              </a:extLst>
            </p:cNvPr>
            <p:cNvSpPr>
              <a:spLocks noChangeShapeType="1"/>
            </p:cNvSpPr>
            <p:nvPr/>
          </p:nvSpPr>
          <p:spPr bwMode="auto">
            <a:xfrm flipV="1">
              <a:off x="2554" y="1788"/>
              <a:ext cx="304" cy="2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741" name="Line 37">
              <a:extLst>
                <a:ext uri="{FF2B5EF4-FFF2-40B4-BE49-F238E27FC236}">
                  <a16:creationId xmlns:a16="http://schemas.microsoft.com/office/drawing/2014/main" id="{6FEA81E8-3817-F4F9-6A87-1AE9FC95D625}"/>
                </a:ext>
              </a:extLst>
            </p:cNvPr>
            <p:cNvSpPr>
              <a:spLocks noChangeShapeType="1"/>
            </p:cNvSpPr>
            <p:nvPr/>
          </p:nvSpPr>
          <p:spPr bwMode="auto">
            <a:xfrm flipH="1">
              <a:off x="2976" y="1551"/>
              <a:ext cx="343" cy="1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742" name="Line 38">
              <a:extLst>
                <a:ext uri="{FF2B5EF4-FFF2-40B4-BE49-F238E27FC236}">
                  <a16:creationId xmlns:a16="http://schemas.microsoft.com/office/drawing/2014/main" id="{6B8B8EAE-0F5A-CA80-286B-12C9D0BAAC8A}"/>
                </a:ext>
              </a:extLst>
            </p:cNvPr>
            <p:cNvSpPr>
              <a:spLocks noChangeShapeType="1"/>
            </p:cNvSpPr>
            <p:nvPr/>
          </p:nvSpPr>
          <p:spPr bwMode="auto">
            <a:xfrm flipV="1">
              <a:off x="2322" y="2260"/>
              <a:ext cx="334" cy="30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743" name="Line 39">
              <a:extLst>
                <a:ext uri="{FF2B5EF4-FFF2-40B4-BE49-F238E27FC236}">
                  <a16:creationId xmlns:a16="http://schemas.microsoft.com/office/drawing/2014/main" id="{6FB25E76-17E8-7C4C-E589-39FC723FEE1A}"/>
                </a:ext>
              </a:extLst>
            </p:cNvPr>
            <p:cNvSpPr>
              <a:spLocks noChangeShapeType="1"/>
            </p:cNvSpPr>
            <p:nvPr/>
          </p:nvSpPr>
          <p:spPr bwMode="auto">
            <a:xfrm flipV="1">
              <a:off x="1749" y="1856"/>
              <a:ext cx="684"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744" name="Line 40">
              <a:extLst>
                <a:ext uri="{FF2B5EF4-FFF2-40B4-BE49-F238E27FC236}">
                  <a16:creationId xmlns:a16="http://schemas.microsoft.com/office/drawing/2014/main" id="{AE23C9BD-1F7C-6C48-6DA2-2736EF2B867E}"/>
                </a:ext>
              </a:extLst>
            </p:cNvPr>
            <p:cNvSpPr>
              <a:spLocks noChangeShapeType="1"/>
            </p:cNvSpPr>
            <p:nvPr/>
          </p:nvSpPr>
          <p:spPr bwMode="auto">
            <a:xfrm flipV="1">
              <a:off x="1688" y="1648"/>
              <a:ext cx="79" cy="46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745" name="Line 41">
              <a:extLst>
                <a:ext uri="{FF2B5EF4-FFF2-40B4-BE49-F238E27FC236}">
                  <a16:creationId xmlns:a16="http://schemas.microsoft.com/office/drawing/2014/main" id="{6B5CFEF2-8AFB-97C8-15EE-B0C7F1F159D0}"/>
                </a:ext>
              </a:extLst>
            </p:cNvPr>
            <p:cNvSpPr>
              <a:spLocks noChangeShapeType="1"/>
            </p:cNvSpPr>
            <p:nvPr/>
          </p:nvSpPr>
          <p:spPr bwMode="auto">
            <a:xfrm>
              <a:off x="1841" y="1597"/>
              <a:ext cx="604" cy="17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746" name="Line 42">
              <a:extLst>
                <a:ext uri="{FF2B5EF4-FFF2-40B4-BE49-F238E27FC236}">
                  <a16:creationId xmlns:a16="http://schemas.microsoft.com/office/drawing/2014/main" id="{646FA4B4-1264-A032-B862-E6A221593777}"/>
                </a:ext>
              </a:extLst>
            </p:cNvPr>
            <p:cNvSpPr>
              <a:spLocks noChangeShapeType="1"/>
            </p:cNvSpPr>
            <p:nvPr/>
          </p:nvSpPr>
          <p:spPr bwMode="auto">
            <a:xfrm flipH="1" flipV="1">
              <a:off x="1720" y="2239"/>
              <a:ext cx="506" cy="37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747" name="Line 43">
              <a:extLst>
                <a:ext uri="{FF2B5EF4-FFF2-40B4-BE49-F238E27FC236}">
                  <a16:creationId xmlns:a16="http://schemas.microsoft.com/office/drawing/2014/main" id="{7033AFB5-E78A-1D01-4475-42A6CD4D73A4}"/>
                </a:ext>
              </a:extLst>
            </p:cNvPr>
            <p:cNvSpPr>
              <a:spLocks noChangeShapeType="1"/>
            </p:cNvSpPr>
            <p:nvPr/>
          </p:nvSpPr>
          <p:spPr bwMode="auto">
            <a:xfrm>
              <a:off x="2349" y="2673"/>
              <a:ext cx="900" cy="25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748" name="Line 44">
              <a:extLst>
                <a:ext uri="{FF2B5EF4-FFF2-40B4-BE49-F238E27FC236}">
                  <a16:creationId xmlns:a16="http://schemas.microsoft.com/office/drawing/2014/main" id="{927D1A6F-12ED-D374-C3F8-A119D3D9221F}"/>
                </a:ext>
              </a:extLst>
            </p:cNvPr>
            <p:cNvSpPr>
              <a:spLocks noChangeShapeType="1"/>
            </p:cNvSpPr>
            <p:nvPr/>
          </p:nvSpPr>
          <p:spPr bwMode="auto">
            <a:xfrm>
              <a:off x="1740" y="2202"/>
              <a:ext cx="515" cy="38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749" name="Line 45">
              <a:extLst>
                <a:ext uri="{FF2B5EF4-FFF2-40B4-BE49-F238E27FC236}">
                  <a16:creationId xmlns:a16="http://schemas.microsoft.com/office/drawing/2014/main" id="{C393C75F-1FE4-6EB3-38A4-B814DF1D3469}"/>
                </a:ext>
              </a:extLst>
            </p:cNvPr>
            <p:cNvSpPr>
              <a:spLocks noChangeShapeType="1"/>
            </p:cNvSpPr>
            <p:nvPr/>
          </p:nvSpPr>
          <p:spPr bwMode="auto">
            <a:xfrm flipH="1" flipV="1">
              <a:off x="2352" y="2632"/>
              <a:ext cx="917" cy="26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750" name="Line 46">
              <a:extLst>
                <a:ext uri="{FF2B5EF4-FFF2-40B4-BE49-F238E27FC236}">
                  <a16:creationId xmlns:a16="http://schemas.microsoft.com/office/drawing/2014/main" id="{A75F05C1-F5C8-5F6E-667F-81CCBC36290F}"/>
                </a:ext>
              </a:extLst>
            </p:cNvPr>
            <p:cNvSpPr>
              <a:spLocks noChangeShapeType="1"/>
            </p:cNvSpPr>
            <p:nvPr/>
          </p:nvSpPr>
          <p:spPr bwMode="auto">
            <a:xfrm>
              <a:off x="2544" y="1858"/>
              <a:ext cx="137"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2751" name="Text Box 47">
              <a:extLst>
                <a:ext uri="{FF2B5EF4-FFF2-40B4-BE49-F238E27FC236}">
                  <a16:creationId xmlns:a16="http://schemas.microsoft.com/office/drawing/2014/main" id="{3377F471-4917-710C-10EF-93FC623B63F1}"/>
                </a:ext>
              </a:extLst>
            </p:cNvPr>
            <p:cNvSpPr txBox="1">
              <a:spLocks noChangeArrowheads="1"/>
            </p:cNvSpPr>
            <p:nvPr/>
          </p:nvSpPr>
          <p:spPr bwMode="auto">
            <a:xfrm>
              <a:off x="1188" y="2595"/>
              <a:ext cx="248"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30</a:t>
              </a:r>
            </a:p>
          </p:txBody>
        </p:sp>
        <p:sp>
          <p:nvSpPr>
            <p:cNvPr id="72752" name="Text Box 48">
              <a:extLst>
                <a:ext uri="{FF2B5EF4-FFF2-40B4-BE49-F238E27FC236}">
                  <a16:creationId xmlns:a16="http://schemas.microsoft.com/office/drawing/2014/main" id="{81E4D932-8152-4014-E58E-3AD4537E6F69}"/>
                </a:ext>
              </a:extLst>
            </p:cNvPr>
            <p:cNvSpPr txBox="1">
              <a:spLocks noChangeArrowheads="1"/>
            </p:cNvSpPr>
            <p:nvPr/>
          </p:nvSpPr>
          <p:spPr bwMode="auto">
            <a:xfrm>
              <a:off x="1562" y="2811"/>
              <a:ext cx="248"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50</a:t>
              </a:r>
            </a:p>
          </p:txBody>
        </p:sp>
        <p:sp>
          <p:nvSpPr>
            <p:cNvPr id="72753" name="Text Box 49">
              <a:extLst>
                <a:ext uri="{FF2B5EF4-FFF2-40B4-BE49-F238E27FC236}">
                  <a16:creationId xmlns:a16="http://schemas.microsoft.com/office/drawing/2014/main" id="{339C8468-F312-84F7-1DCC-710CB33BCB4F}"/>
                </a:ext>
              </a:extLst>
            </p:cNvPr>
            <p:cNvSpPr txBox="1">
              <a:spLocks noChangeArrowheads="1"/>
            </p:cNvSpPr>
            <p:nvPr/>
          </p:nvSpPr>
          <p:spPr bwMode="auto">
            <a:xfrm>
              <a:off x="2010" y="3021"/>
              <a:ext cx="248"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40</a:t>
              </a:r>
            </a:p>
          </p:txBody>
        </p:sp>
        <p:sp>
          <p:nvSpPr>
            <p:cNvPr id="72754" name="Text Box 50">
              <a:extLst>
                <a:ext uri="{FF2B5EF4-FFF2-40B4-BE49-F238E27FC236}">
                  <a16:creationId xmlns:a16="http://schemas.microsoft.com/office/drawing/2014/main" id="{549344EC-959E-89E5-104C-C03B420F98D0}"/>
                </a:ext>
              </a:extLst>
            </p:cNvPr>
            <p:cNvSpPr txBox="1">
              <a:spLocks noChangeArrowheads="1"/>
            </p:cNvSpPr>
            <p:nvPr/>
          </p:nvSpPr>
          <p:spPr bwMode="auto">
            <a:xfrm>
              <a:off x="2586" y="2728"/>
              <a:ext cx="248"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20</a:t>
              </a:r>
            </a:p>
          </p:txBody>
        </p:sp>
        <p:sp>
          <p:nvSpPr>
            <p:cNvPr id="72755" name="Text Box 51">
              <a:extLst>
                <a:ext uri="{FF2B5EF4-FFF2-40B4-BE49-F238E27FC236}">
                  <a16:creationId xmlns:a16="http://schemas.microsoft.com/office/drawing/2014/main" id="{1EFE1DD2-27C2-B84D-0696-9F503222C6F3}"/>
                </a:ext>
              </a:extLst>
            </p:cNvPr>
            <p:cNvSpPr txBox="1">
              <a:spLocks noChangeArrowheads="1"/>
            </p:cNvSpPr>
            <p:nvPr/>
          </p:nvSpPr>
          <p:spPr bwMode="auto">
            <a:xfrm>
              <a:off x="2713" y="2576"/>
              <a:ext cx="248"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20</a:t>
              </a:r>
            </a:p>
          </p:txBody>
        </p:sp>
        <p:sp>
          <p:nvSpPr>
            <p:cNvPr id="72756" name="Text Box 52">
              <a:extLst>
                <a:ext uri="{FF2B5EF4-FFF2-40B4-BE49-F238E27FC236}">
                  <a16:creationId xmlns:a16="http://schemas.microsoft.com/office/drawing/2014/main" id="{F7AF1A67-82DC-62F1-FEE5-5BFF64295816}"/>
                </a:ext>
              </a:extLst>
            </p:cNvPr>
            <p:cNvSpPr txBox="1">
              <a:spLocks noChangeArrowheads="1"/>
            </p:cNvSpPr>
            <p:nvPr/>
          </p:nvSpPr>
          <p:spPr bwMode="auto">
            <a:xfrm>
              <a:off x="1794" y="2370"/>
              <a:ext cx="248"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20</a:t>
              </a:r>
            </a:p>
          </p:txBody>
        </p:sp>
        <p:sp>
          <p:nvSpPr>
            <p:cNvPr id="72757" name="Text Box 53">
              <a:extLst>
                <a:ext uri="{FF2B5EF4-FFF2-40B4-BE49-F238E27FC236}">
                  <a16:creationId xmlns:a16="http://schemas.microsoft.com/office/drawing/2014/main" id="{9E9687B1-4D0B-7B3E-452A-CBA2FB959D86}"/>
                </a:ext>
              </a:extLst>
            </p:cNvPr>
            <p:cNvSpPr txBox="1">
              <a:spLocks noChangeArrowheads="1"/>
            </p:cNvSpPr>
            <p:nvPr/>
          </p:nvSpPr>
          <p:spPr bwMode="auto">
            <a:xfrm>
              <a:off x="2037" y="2267"/>
              <a:ext cx="248"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20</a:t>
              </a:r>
            </a:p>
          </p:txBody>
        </p:sp>
        <p:sp>
          <p:nvSpPr>
            <p:cNvPr id="72758" name="Text Box 54">
              <a:extLst>
                <a:ext uri="{FF2B5EF4-FFF2-40B4-BE49-F238E27FC236}">
                  <a16:creationId xmlns:a16="http://schemas.microsoft.com/office/drawing/2014/main" id="{D60ACD42-177F-4B20-8752-DB2D539F2ED6}"/>
                </a:ext>
              </a:extLst>
            </p:cNvPr>
            <p:cNvSpPr txBox="1">
              <a:spLocks noChangeArrowheads="1"/>
            </p:cNvSpPr>
            <p:nvPr/>
          </p:nvSpPr>
          <p:spPr bwMode="auto">
            <a:xfrm>
              <a:off x="1494" y="1750"/>
              <a:ext cx="248"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10</a:t>
              </a:r>
            </a:p>
          </p:txBody>
        </p:sp>
        <p:sp>
          <p:nvSpPr>
            <p:cNvPr id="72759" name="Text Box 55">
              <a:extLst>
                <a:ext uri="{FF2B5EF4-FFF2-40B4-BE49-F238E27FC236}">
                  <a16:creationId xmlns:a16="http://schemas.microsoft.com/office/drawing/2014/main" id="{7D67FCAA-870E-BA59-505F-8BF2D63BAA21}"/>
                </a:ext>
              </a:extLst>
            </p:cNvPr>
            <p:cNvSpPr txBox="1">
              <a:spLocks noChangeArrowheads="1"/>
            </p:cNvSpPr>
            <p:nvPr/>
          </p:nvSpPr>
          <p:spPr bwMode="auto">
            <a:xfrm>
              <a:off x="1868" y="1817"/>
              <a:ext cx="248"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20</a:t>
              </a:r>
            </a:p>
          </p:txBody>
        </p:sp>
        <p:sp>
          <p:nvSpPr>
            <p:cNvPr id="72760" name="Text Box 56">
              <a:extLst>
                <a:ext uri="{FF2B5EF4-FFF2-40B4-BE49-F238E27FC236}">
                  <a16:creationId xmlns:a16="http://schemas.microsoft.com/office/drawing/2014/main" id="{CDA80AB8-553A-EBC5-9B8A-04DCDC81BCB0}"/>
                </a:ext>
              </a:extLst>
            </p:cNvPr>
            <p:cNvSpPr txBox="1">
              <a:spLocks noChangeArrowheads="1"/>
            </p:cNvSpPr>
            <p:nvPr/>
          </p:nvSpPr>
          <p:spPr bwMode="auto">
            <a:xfrm>
              <a:off x="2003" y="1458"/>
              <a:ext cx="182"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5</a:t>
              </a:r>
            </a:p>
          </p:txBody>
        </p:sp>
        <p:sp>
          <p:nvSpPr>
            <p:cNvPr id="72761" name="Text Box 57">
              <a:extLst>
                <a:ext uri="{FF2B5EF4-FFF2-40B4-BE49-F238E27FC236}">
                  <a16:creationId xmlns:a16="http://schemas.microsoft.com/office/drawing/2014/main" id="{DCC47895-3DCC-8C7F-A7CE-D13943ABD461}"/>
                </a:ext>
              </a:extLst>
            </p:cNvPr>
            <p:cNvSpPr txBox="1">
              <a:spLocks noChangeArrowheads="1"/>
            </p:cNvSpPr>
            <p:nvPr/>
          </p:nvSpPr>
          <p:spPr bwMode="auto">
            <a:xfrm>
              <a:off x="2466" y="2318"/>
              <a:ext cx="248"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40</a:t>
              </a:r>
            </a:p>
          </p:txBody>
        </p:sp>
        <p:sp>
          <p:nvSpPr>
            <p:cNvPr id="72762" name="Text Box 58">
              <a:extLst>
                <a:ext uri="{FF2B5EF4-FFF2-40B4-BE49-F238E27FC236}">
                  <a16:creationId xmlns:a16="http://schemas.microsoft.com/office/drawing/2014/main" id="{94B9E06E-9F4B-D42C-4C6B-6C738C284266}"/>
                </a:ext>
              </a:extLst>
            </p:cNvPr>
            <p:cNvSpPr txBox="1">
              <a:spLocks noChangeArrowheads="1"/>
            </p:cNvSpPr>
            <p:nvPr/>
          </p:nvSpPr>
          <p:spPr bwMode="auto">
            <a:xfrm>
              <a:off x="2369" y="1922"/>
              <a:ext cx="248"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15</a:t>
              </a:r>
            </a:p>
          </p:txBody>
        </p:sp>
        <p:sp>
          <p:nvSpPr>
            <p:cNvPr id="72763" name="Text Box 59">
              <a:extLst>
                <a:ext uri="{FF2B5EF4-FFF2-40B4-BE49-F238E27FC236}">
                  <a16:creationId xmlns:a16="http://schemas.microsoft.com/office/drawing/2014/main" id="{7FADDAF3-FFDA-ACF3-293E-A3137DAE0986}"/>
                </a:ext>
              </a:extLst>
            </p:cNvPr>
            <p:cNvSpPr txBox="1">
              <a:spLocks noChangeArrowheads="1"/>
            </p:cNvSpPr>
            <p:nvPr/>
          </p:nvSpPr>
          <p:spPr bwMode="auto">
            <a:xfrm>
              <a:off x="2571" y="1874"/>
              <a:ext cx="248"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15</a:t>
              </a:r>
            </a:p>
          </p:txBody>
        </p:sp>
        <p:sp>
          <p:nvSpPr>
            <p:cNvPr id="72764" name="Text Box 60">
              <a:extLst>
                <a:ext uri="{FF2B5EF4-FFF2-40B4-BE49-F238E27FC236}">
                  <a16:creationId xmlns:a16="http://schemas.microsoft.com/office/drawing/2014/main" id="{1BEA1C81-287B-2CEE-0C84-E3AB8A6E6C27}"/>
                </a:ext>
              </a:extLst>
            </p:cNvPr>
            <p:cNvSpPr txBox="1">
              <a:spLocks noChangeArrowheads="1"/>
            </p:cNvSpPr>
            <p:nvPr/>
          </p:nvSpPr>
          <p:spPr bwMode="auto">
            <a:xfrm>
              <a:off x="3341" y="2071"/>
              <a:ext cx="248"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40</a:t>
              </a:r>
            </a:p>
          </p:txBody>
        </p:sp>
        <p:sp>
          <p:nvSpPr>
            <p:cNvPr id="72765" name="Text Box 61">
              <a:extLst>
                <a:ext uri="{FF2B5EF4-FFF2-40B4-BE49-F238E27FC236}">
                  <a16:creationId xmlns:a16="http://schemas.microsoft.com/office/drawing/2014/main" id="{7447C900-74EB-1872-775B-5CF88BC960AC}"/>
                </a:ext>
              </a:extLst>
            </p:cNvPr>
            <p:cNvSpPr txBox="1">
              <a:spLocks noChangeArrowheads="1"/>
            </p:cNvSpPr>
            <p:nvPr/>
          </p:nvSpPr>
          <p:spPr bwMode="auto">
            <a:xfrm>
              <a:off x="2779" y="1921"/>
              <a:ext cx="248"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25</a:t>
              </a:r>
            </a:p>
          </p:txBody>
        </p:sp>
        <p:sp>
          <p:nvSpPr>
            <p:cNvPr id="72766" name="Text Box 62">
              <a:extLst>
                <a:ext uri="{FF2B5EF4-FFF2-40B4-BE49-F238E27FC236}">
                  <a16:creationId xmlns:a16="http://schemas.microsoft.com/office/drawing/2014/main" id="{D396A97F-0B91-B1A4-DC5A-EA1FFF88A623}"/>
                </a:ext>
              </a:extLst>
            </p:cNvPr>
            <p:cNvSpPr txBox="1">
              <a:spLocks noChangeArrowheads="1"/>
            </p:cNvSpPr>
            <p:nvPr/>
          </p:nvSpPr>
          <p:spPr bwMode="auto">
            <a:xfrm>
              <a:off x="2571" y="1726"/>
              <a:ext cx="248"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15</a:t>
              </a:r>
            </a:p>
          </p:txBody>
        </p:sp>
        <p:sp>
          <p:nvSpPr>
            <p:cNvPr id="72767" name="Text Box 63">
              <a:extLst>
                <a:ext uri="{FF2B5EF4-FFF2-40B4-BE49-F238E27FC236}">
                  <a16:creationId xmlns:a16="http://schemas.microsoft.com/office/drawing/2014/main" id="{B9BE8715-F29E-7816-D154-CFC3CC05D2BD}"/>
                </a:ext>
              </a:extLst>
            </p:cNvPr>
            <p:cNvSpPr txBox="1">
              <a:spLocks noChangeArrowheads="1"/>
            </p:cNvSpPr>
            <p:nvPr/>
          </p:nvSpPr>
          <p:spPr bwMode="auto">
            <a:xfrm>
              <a:off x="3080" y="1590"/>
              <a:ext cx="248"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20</a:t>
              </a:r>
            </a:p>
          </p:txBody>
        </p:sp>
      </p:grpSp>
      <p:sp>
        <p:nvSpPr>
          <p:cNvPr id="72768" name="Text Box 64">
            <a:extLst>
              <a:ext uri="{FF2B5EF4-FFF2-40B4-BE49-F238E27FC236}">
                <a16:creationId xmlns:a16="http://schemas.microsoft.com/office/drawing/2014/main" id="{07EF05FB-FD0F-AF4F-AACB-D9E5E1626307}"/>
              </a:ext>
            </a:extLst>
          </p:cNvPr>
          <p:cNvSpPr txBox="1">
            <a:spLocks noChangeArrowheads="1"/>
          </p:cNvSpPr>
          <p:nvPr/>
        </p:nvSpPr>
        <p:spPr bwMode="auto">
          <a:xfrm>
            <a:off x="8283576" y="1065213"/>
            <a:ext cx="2225675" cy="1200150"/>
          </a:xfrm>
          <a:prstGeom prst="rect">
            <a:avLst/>
          </a:prstGeom>
          <a:noFill/>
          <a:ln w="9525">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Legend:</a:t>
            </a:r>
          </a:p>
          <a:p>
            <a:r>
              <a:rPr lang="en-US" altLang="en-US"/>
              <a:t>Node: Sub-station</a:t>
            </a:r>
          </a:p>
          <a:p>
            <a:r>
              <a:rPr lang="en-US" altLang="en-US"/>
              <a:t>Edge: Power line</a:t>
            </a:r>
          </a:p>
          <a:p>
            <a:r>
              <a:rPr lang="en-US" altLang="en-US"/>
              <a:t>Weight: Line capacity</a:t>
            </a:r>
          </a:p>
        </p:txBody>
      </p:sp>
    </p:spTree>
    <p:extLst>
      <p:ext uri="{BB962C8B-B14F-4D97-AF65-F5344CB8AC3E}">
        <p14:creationId xmlns:p14="http://schemas.microsoft.com/office/powerpoint/2010/main" val="2712667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1" name="Text Box 3">
            <a:extLst>
              <a:ext uri="{FF2B5EF4-FFF2-40B4-BE49-F238E27FC236}">
                <a16:creationId xmlns:a16="http://schemas.microsoft.com/office/drawing/2014/main" id="{4227971C-5802-16E8-3CBA-A8D943DD1720}"/>
              </a:ext>
            </a:extLst>
          </p:cNvPr>
          <p:cNvSpPr txBox="1">
            <a:spLocks noChangeArrowheads="1"/>
          </p:cNvSpPr>
          <p:nvPr/>
        </p:nvSpPr>
        <p:spPr bwMode="auto">
          <a:xfrm>
            <a:off x="2189164" y="395289"/>
            <a:ext cx="477803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dirty="0"/>
              <a:t>Logistics supply </a:t>
            </a:r>
            <a:r>
              <a:rPr lang="en-US" altLang="en-US" sz="2400" b="1" dirty="0">
                <a:latin typeface="Times New Roman" panose="02020603050405020304" pitchFamily="18" charset="0"/>
                <a:cs typeface="Times New Roman" panose="02020603050405020304" pitchFamily="18" charset="0"/>
              </a:rPr>
              <a:t>problem</a:t>
            </a:r>
            <a:r>
              <a:rPr lang="en-US" altLang="en-US" sz="2400" b="1" dirty="0"/>
              <a:t>: Example 2</a:t>
            </a:r>
          </a:p>
        </p:txBody>
      </p:sp>
      <p:pic>
        <p:nvPicPr>
          <p:cNvPr id="99333" name="Picture 5">
            <a:extLst>
              <a:ext uri="{FF2B5EF4-FFF2-40B4-BE49-F238E27FC236}">
                <a16:creationId xmlns:a16="http://schemas.microsoft.com/office/drawing/2014/main" id="{037E955E-C722-4B60-59A8-B173B957BD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766889"/>
            <a:ext cx="7683500"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9334" name="Text Box 6">
            <a:extLst>
              <a:ext uri="{FF2B5EF4-FFF2-40B4-BE49-F238E27FC236}">
                <a16:creationId xmlns:a16="http://schemas.microsoft.com/office/drawing/2014/main" id="{683B3EDD-FF0A-32D8-D2AF-A7C4047B76F2}"/>
              </a:ext>
            </a:extLst>
          </p:cNvPr>
          <p:cNvSpPr txBox="1">
            <a:spLocks noChangeArrowheads="1"/>
          </p:cNvSpPr>
          <p:nvPr/>
        </p:nvSpPr>
        <p:spPr bwMode="auto">
          <a:xfrm>
            <a:off x="5932489" y="900114"/>
            <a:ext cx="3924279" cy="1200329"/>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Legend:</a:t>
            </a:r>
          </a:p>
          <a:p>
            <a:r>
              <a:rPr lang="en-US" altLang="en-US"/>
              <a:t>nodes: train line junctions;</a:t>
            </a:r>
          </a:p>
          <a:p>
            <a:r>
              <a:rPr lang="en-US" altLang="en-US"/>
              <a:t>edges: rail line;</a:t>
            </a:r>
          </a:p>
          <a:p>
            <a:r>
              <a:rPr lang="en-US" altLang="en-US"/>
              <a:t>weights: max no. of compartments/day </a:t>
            </a:r>
          </a:p>
        </p:txBody>
      </p:sp>
      <p:sp>
        <p:nvSpPr>
          <p:cNvPr id="99332" name="Text Box 4">
            <a:extLst>
              <a:ext uri="{FF2B5EF4-FFF2-40B4-BE49-F238E27FC236}">
                <a16:creationId xmlns:a16="http://schemas.microsoft.com/office/drawing/2014/main" id="{BC0DF261-7D7E-7134-944A-871CB56C2EA7}"/>
              </a:ext>
            </a:extLst>
          </p:cNvPr>
          <p:cNvSpPr txBox="1">
            <a:spLocks noChangeArrowheads="1"/>
          </p:cNvSpPr>
          <p:nvPr/>
        </p:nvSpPr>
        <p:spPr bwMode="auto">
          <a:xfrm>
            <a:off x="2209800" y="6216651"/>
            <a:ext cx="8230202" cy="461665"/>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a:t>Maximum number of compartments per day from Detroit</a:t>
            </a:r>
            <a:r>
              <a:rPr lang="en-US" altLang="en-US" sz="2400" dirty="0">
                <a:sym typeface="Wingdings" panose="05000000000000000000" pitchFamily="2" charset="2"/>
              </a:rPr>
              <a:t> SF ?</a:t>
            </a:r>
            <a:endParaRPr lang="en-US" altLang="en-US" sz="2400" dirty="0"/>
          </a:p>
        </p:txBody>
      </p:sp>
    </p:spTree>
    <p:extLst>
      <p:ext uri="{BB962C8B-B14F-4D97-AF65-F5344CB8AC3E}">
        <p14:creationId xmlns:p14="http://schemas.microsoft.com/office/powerpoint/2010/main" val="3365646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7010" name="Rectangle 2">
            <a:extLst>
              <a:ext uri="{FF2B5EF4-FFF2-40B4-BE49-F238E27FC236}">
                <a16:creationId xmlns:a16="http://schemas.microsoft.com/office/drawing/2014/main" id="{219F14C9-4B83-4FAB-A478-F06D96EEDEE6}"/>
              </a:ext>
            </a:extLst>
          </p:cNvPr>
          <p:cNvSpPr>
            <a:spLocks noGrp="1" noChangeArrowheads="1"/>
          </p:cNvSpPr>
          <p:nvPr>
            <p:ph type="title"/>
          </p:nvPr>
        </p:nvSpPr>
        <p:spPr/>
        <p:txBody>
          <a:bodyPr>
            <a:normAutofit/>
          </a:bodyPr>
          <a:lstStyle/>
          <a:p>
            <a:pPr>
              <a:defRPr/>
            </a:pPr>
            <a:r>
              <a:rPr lang="en-US" altLang="zh-CN" sz="2800" dirty="0">
                <a:latin typeface="Times New Roman" panose="02020603050405020304" pitchFamily="18" charset="0"/>
                <a:ea typeface="宋体" pitchFamily="2" charset="-122"/>
                <a:cs typeface="Times New Roman" panose="02020603050405020304" pitchFamily="18" charset="0"/>
              </a:rPr>
              <a:t>Types of Networks</a:t>
            </a:r>
          </a:p>
        </p:txBody>
      </p:sp>
      <p:sp>
        <p:nvSpPr>
          <p:cNvPr id="16387" name="Rectangle 3">
            <a:extLst>
              <a:ext uri="{FF2B5EF4-FFF2-40B4-BE49-F238E27FC236}">
                <a16:creationId xmlns:a16="http://schemas.microsoft.com/office/drawing/2014/main" id="{3583D72F-0AF2-4052-87AA-2758A29B99A0}"/>
              </a:ext>
            </a:extLst>
          </p:cNvPr>
          <p:cNvSpPr>
            <a:spLocks noGrp="1" noChangeArrowheads="1"/>
          </p:cNvSpPr>
          <p:nvPr>
            <p:ph type="body" idx="1"/>
          </p:nvPr>
        </p:nvSpPr>
        <p:spPr/>
        <p:txBody>
          <a:bodyPr/>
          <a:lstStyle/>
          <a:p>
            <a:r>
              <a:rPr lang="en-US" altLang="zh-CN" sz="2000" dirty="0">
                <a:ea typeface="SimSun" panose="02010600030101010101" pitchFamily="2" charset="-122"/>
              </a:rPr>
              <a:t>Internet</a:t>
            </a:r>
          </a:p>
          <a:p>
            <a:r>
              <a:rPr lang="en-US" altLang="zh-CN" sz="2000" dirty="0">
                <a:ea typeface="SimSun" panose="02010600030101010101" pitchFamily="2" charset="-122"/>
              </a:rPr>
              <a:t>Telephone</a:t>
            </a:r>
          </a:p>
          <a:p>
            <a:r>
              <a:rPr lang="en-US" altLang="zh-CN" sz="2000" dirty="0">
                <a:ea typeface="SimSun" panose="02010600030101010101" pitchFamily="2" charset="-122"/>
              </a:rPr>
              <a:t>Cell</a:t>
            </a:r>
          </a:p>
          <a:p>
            <a:r>
              <a:rPr lang="en-US" altLang="zh-CN" sz="2000" dirty="0">
                <a:ea typeface="SimSun" panose="02010600030101010101" pitchFamily="2" charset="-122"/>
              </a:rPr>
              <a:t>Highways</a:t>
            </a:r>
          </a:p>
          <a:p>
            <a:r>
              <a:rPr lang="en-US" altLang="zh-CN" sz="2000" dirty="0">
                <a:ea typeface="SimSun" panose="02010600030101010101" pitchFamily="2" charset="-122"/>
              </a:rPr>
              <a:t>Rail</a:t>
            </a:r>
          </a:p>
          <a:p>
            <a:r>
              <a:rPr lang="en-US" altLang="zh-CN" sz="2000" dirty="0">
                <a:ea typeface="SimSun" panose="02010600030101010101" pitchFamily="2" charset="-122"/>
              </a:rPr>
              <a:t>Electrical Power</a:t>
            </a:r>
          </a:p>
          <a:p>
            <a:r>
              <a:rPr lang="en-US" altLang="zh-CN" sz="2000" dirty="0">
                <a:ea typeface="SimSun" panose="02010600030101010101" pitchFamily="2" charset="-122"/>
              </a:rPr>
              <a:t>Water</a:t>
            </a:r>
          </a:p>
          <a:p>
            <a:r>
              <a:rPr lang="en-US" altLang="zh-CN" sz="2000" dirty="0">
                <a:ea typeface="SimSun" panose="02010600030101010101" pitchFamily="2" charset="-122"/>
              </a:rPr>
              <a:t>Sewer</a:t>
            </a:r>
          </a:p>
          <a:p>
            <a:r>
              <a:rPr lang="en-US" altLang="zh-CN" sz="2000" dirty="0">
                <a:ea typeface="SimSun" panose="02010600030101010101" pitchFamily="2" charset="-122"/>
              </a:rPr>
              <a:t>Gas</a:t>
            </a:r>
          </a:p>
          <a:p>
            <a:r>
              <a:rPr lang="en-US" altLang="zh-CN" sz="2000" dirty="0">
                <a:ea typeface="SimSun" panose="02010600030101010101" pitchFamily="2" charset="-122"/>
              </a:rPr>
              <a:t>…</a:t>
            </a:r>
          </a:p>
          <a:p>
            <a:endParaRPr lang="zh-CN" altLang="en-US" sz="2000" dirty="0">
              <a:ea typeface="SimSun"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8034" name="Rectangle 2">
            <a:extLst>
              <a:ext uri="{FF2B5EF4-FFF2-40B4-BE49-F238E27FC236}">
                <a16:creationId xmlns:a16="http://schemas.microsoft.com/office/drawing/2014/main" id="{5B87A682-1E90-47DC-8C2A-DB423BEE5E61}"/>
              </a:ext>
            </a:extLst>
          </p:cNvPr>
          <p:cNvSpPr>
            <a:spLocks noGrp="1" noChangeArrowheads="1"/>
          </p:cNvSpPr>
          <p:nvPr>
            <p:ph type="title"/>
          </p:nvPr>
        </p:nvSpPr>
        <p:spPr>
          <a:xfrm>
            <a:off x="2514600" y="0"/>
            <a:ext cx="7499350" cy="1143000"/>
          </a:xfrm>
        </p:spPr>
        <p:txBody>
          <a:bodyPr>
            <a:normAutofit/>
          </a:bodyPr>
          <a:lstStyle/>
          <a:p>
            <a:pPr>
              <a:defRPr/>
            </a:pPr>
            <a:r>
              <a:rPr lang="en-US" altLang="zh-CN" sz="2800" dirty="0">
                <a:latin typeface="Times New Roman" panose="02020603050405020304" pitchFamily="18" charset="0"/>
                <a:ea typeface="宋体" pitchFamily="2" charset="-122"/>
                <a:cs typeface="Times New Roman" panose="02020603050405020304" pitchFamily="18" charset="0"/>
              </a:rPr>
              <a:t>Maximum Flow Problem</a:t>
            </a:r>
          </a:p>
        </p:txBody>
      </p:sp>
      <p:sp>
        <p:nvSpPr>
          <p:cNvPr id="1068035" name="Rectangle 3">
            <a:extLst>
              <a:ext uri="{FF2B5EF4-FFF2-40B4-BE49-F238E27FC236}">
                <a16:creationId xmlns:a16="http://schemas.microsoft.com/office/drawing/2014/main" id="{0AC40390-990E-458E-9517-0B0DF721D449}"/>
              </a:ext>
            </a:extLst>
          </p:cNvPr>
          <p:cNvSpPr>
            <a:spLocks noGrp="1" noChangeArrowheads="1"/>
          </p:cNvSpPr>
          <p:nvPr>
            <p:ph type="body" idx="1"/>
          </p:nvPr>
        </p:nvSpPr>
        <p:spPr>
          <a:xfrm>
            <a:off x="2514600" y="1143000"/>
            <a:ext cx="7943850" cy="5105400"/>
          </a:xfrm>
        </p:spPr>
        <p:txBody>
          <a:bodyPr/>
          <a:lstStyle/>
          <a:p>
            <a:r>
              <a:rPr lang="en-US" altLang="zh-CN" sz="1800" dirty="0">
                <a:latin typeface="Times New Roman" panose="02020603050405020304" pitchFamily="18" charset="0"/>
                <a:ea typeface="SimSun" panose="02010600030101010101" pitchFamily="2" charset="-122"/>
                <a:cs typeface="Times New Roman" panose="02020603050405020304" pitchFamily="18" charset="0"/>
              </a:rPr>
              <a:t>How can we maximize the flow in a network from a source or set of sources to a destination of set of destinations?</a:t>
            </a:r>
          </a:p>
          <a:p>
            <a:r>
              <a:rPr lang="en-US" altLang="zh-CN" sz="1800" dirty="0">
                <a:latin typeface="Times New Roman" panose="02020603050405020304" pitchFamily="18" charset="0"/>
                <a:ea typeface="SimSun" panose="02010600030101010101" pitchFamily="2" charset="-122"/>
                <a:cs typeface="Times New Roman" panose="02020603050405020304" pitchFamily="18" charset="0"/>
              </a:rPr>
              <a:t>The problem reportedly rose to prominence in relation to the rail networks of the Soviet Union, during the 1950's. The US wanted to know how quickly the Soviet Union could get supplies through its rail network to its satellite states in Eastern Europe.</a:t>
            </a:r>
          </a:p>
          <a:p>
            <a:r>
              <a:rPr lang="en-US" altLang="zh-CN" sz="1800" dirty="0">
                <a:latin typeface="Times New Roman" panose="02020603050405020304" pitchFamily="18" charset="0"/>
                <a:ea typeface="SimSun" panose="02010600030101010101" pitchFamily="2" charset="-122"/>
                <a:cs typeface="Times New Roman" panose="02020603050405020304" pitchFamily="18" charset="0"/>
              </a:rPr>
              <a:t>In addition, the US wanted to know which rails it could destroy most easily to cut off the satellite states from the rest of the Soviet Union.</a:t>
            </a:r>
          </a:p>
          <a:p>
            <a:pPr lvl="1"/>
            <a:r>
              <a:rPr lang="en-US" altLang="zh-CN" sz="1800" dirty="0">
                <a:latin typeface="Times New Roman" panose="02020603050405020304" pitchFamily="18" charset="0"/>
                <a:ea typeface="SimSun" panose="02010600030101010101" pitchFamily="2" charset="-122"/>
                <a:cs typeface="Times New Roman" panose="02020603050405020304" pitchFamily="18" charset="0"/>
              </a:rPr>
              <a:t> It turned out that these two problems were closely related, and that solving the </a:t>
            </a:r>
            <a:r>
              <a:rPr lang="en-US" altLang="zh-CN" sz="1800" b="1" dirty="0">
                <a:solidFill>
                  <a:schemeClr val="accent1"/>
                </a:solidFill>
                <a:latin typeface="Times New Roman" panose="02020603050405020304" pitchFamily="18" charset="0"/>
                <a:ea typeface="SimSun" panose="02010600030101010101" pitchFamily="2" charset="-122"/>
                <a:cs typeface="Times New Roman" panose="02020603050405020304" pitchFamily="18" charset="0"/>
              </a:rPr>
              <a:t>max flow problem</a:t>
            </a:r>
            <a:r>
              <a:rPr lang="en-US" altLang="zh-CN" sz="1800" dirty="0">
                <a:latin typeface="Times New Roman" panose="02020603050405020304" pitchFamily="18" charset="0"/>
                <a:ea typeface="SimSun" panose="02010600030101010101" pitchFamily="2" charset="-122"/>
                <a:cs typeface="Times New Roman" panose="02020603050405020304" pitchFamily="18" charset="0"/>
              </a:rPr>
              <a:t> also solves the </a:t>
            </a:r>
            <a:r>
              <a:rPr lang="en-US" altLang="zh-CN" sz="1800" b="1" dirty="0">
                <a:solidFill>
                  <a:schemeClr val="accent1"/>
                </a:solidFill>
                <a:latin typeface="Times New Roman" panose="02020603050405020304" pitchFamily="18" charset="0"/>
                <a:ea typeface="SimSun" panose="02010600030101010101" pitchFamily="2" charset="-122"/>
                <a:cs typeface="Times New Roman" panose="02020603050405020304" pitchFamily="18" charset="0"/>
              </a:rPr>
              <a:t>min cut problem</a:t>
            </a:r>
            <a:r>
              <a:rPr lang="en-US" altLang="zh-CN" sz="1800" dirty="0">
                <a:latin typeface="Times New Roman" panose="02020603050405020304" pitchFamily="18" charset="0"/>
                <a:ea typeface="SimSun" panose="02010600030101010101" pitchFamily="2" charset="-122"/>
                <a:cs typeface="Times New Roman" panose="02020603050405020304" pitchFamily="18" charset="0"/>
              </a:rPr>
              <a:t> of figuring out the cheapest way to cut off the Soviet Union from its satellites.</a:t>
            </a:r>
          </a:p>
          <a:p>
            <a:r>
              <a:rPr lang="en-US" altLang="en-US" sz="1800" dirty="0">
                <a:latin typeface="Times New Roman" panose="02020603050405020304" pitchFamily="18" charset="0"/>
                <a:cs typeface="Times New Roman" panose="02020603050405020304" pitchFamily="18" charset="0"/>
              </a:rPr>
              <a:t>The first efficient algorithm for finding the maximum flow was conceived by two Computer Scientists, named Ford and Fulkerson. The algorithm was subsequently named the Ford-Fulkerson algorithm, and is one of the more famous algorithms in computer science. </a:t>
            </a:r>
            <a:endParaRPr lang="en-US" altLang="zh-CN" sz="1800" dirty="0">
              <a:latin typeface="Times New Roman" panose="02020603050405020304" pitchFamily="18" charset="0"/>
              <a:ea typeface="SimSun" panose="02010600030101010101" pitchFamily="2" charset="-122"/>
              <a:cs typeface="Times New Roman" panose="02020603050405020304" pitchFamily="18" charset="0"/>
            </a:endParaRPr>
          </a:p>
          <a:p>
            <a:endParaRPr lang="en-US" altLang="zh-CN" sz="2000" dirty="0">
              <a:ea typeface="SimSun" panose="02010600030101010101" pitchFamily="2" charset="-122"/>
            </a:endParaRPr>
          </a:p>
        </p:txBody>
      </p:sp>
      <p:sp>
        <p:nvSpPr>
          <p:cNvPr id="1068036" name="Text Box 4">
            <a:extLst>
              <a:ext uri="{FF2B5EF4-FFF2-40B4-BE49-F238E27FC236}">
                <a16:creationId xmlns:a16="http://schemas.microsoft.com/office/drawing/2014/main" id="{485F638C-2F24-4DCB-90CA-FC93D926A4EE}"/>
              </a:ext>
            </a:extLst>
          </p:cNvPr>
          <p:cNvSpPr txBox="1">
            <a:spLocks noChangeArrowheads="1"/>
          </p:cNvSpPr>
          <p:nvPr/>
        </p:nvSpPr>
        <p:spPr bwMode="auto">
          <a:xfrm>
            <a:off x="2438400" y="6324600"/>
            <a:ext cx="77468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a:ea typeface="SimSun" panose="02010600030101010101" pitchFamily="2" charset="-122"/>
              </a:rPr>
              <a:t>Source:  lbackstrom, The Importance of Algorithms, at www.topcoder.com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6803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6803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068035">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068035">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680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803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5506" name="Text Box 2">
            <a:extLst>
              <a:ext uri="{FF2B5EF4-FFF2-40B4-BE49-F238E27FC236}">
                <a16:creationId xmlns:a16="http://schemas.microsoft.com/office/drawing/2014/main" id="{7E1F7675-7035-41CC-BD82-1680296371F9}"/>
              </a:ext>
            </a:extLst>
          </p:cNvPr>
          <p:cNvSpPr txBox="1">
            <a:spLocks noChangeArrowheads="1"/>
          </p:cNvSpPr>
          <p:nvPr/>
        </p:nvSpPr>
        <p:spPr bwMode="auto">
          <a:xfrm>
            <a:off x="2057400" y="685801"/>
            <a:ext cx="9372600"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1" eaLnBrk="1" hangingPunct="1">
              <a:spcBef>
                <a:spcPct val="50000"/>
              </a:spcBef>
              <a:buFontTx/>
              <a:buChar char="•"/>
            </a:pPr>
            <a:r>
              <a:rPr lang="en-US" altLang="zh-CN" sz="2000" dirty="0">
                <a:latin typeface="Comic Sans MS" panose="030F0702030302020204" pitchFamily="66" charset="0"/>
                <a:ea typeface="SimSun" panose="02010600030101010101" pitchFamily="2" charset="-122"/>
              </a:rPr>
              <a:t>A Network is a directed graph </a:t>
            </a:r>
            <a:r>
              <a:rPr lang="en-US" altLang="zh-CN" sz="2000" dirty="0">
                <a:solidFill>
                  <a:srgbClr val="0066FF"/>
                </a:solidFill>
                <a:latin typeface="Comic Sans MS" panose="030F0702030302020204" pitchFamily="66" charset="0"/>
                <a:ea typeface="SimSun" panose="02010600030101010101" pitchFamily="2" charset="-122"/>
              </a:rPr>
              <a:t>G</a:t>
            </a:r>
            <a:r>
              <a:rPr lang="en-US" altLang="zh-CN" sz="2000" dirty="0">
                <a:latin typeface="Comic Sans MS" panose="030F0702030302020204" pitchFamily="66" charset="0"/>
                <a:ea typeface="SimSun" panose="02010600030101010101" pitchFamily="2" charset="-122"/>
              </a:rPr>
              <a:t> </a:t>
            </a:r>
          </a:p>
          <a:p>
            <a:pPr lvl="1" eaLnBrk="1" hangingPunct="1">
              <a:spcBef>
                <a:spcPct val="50000"/>
              </a:spcBef>
              <a:buFontTx/>
              <a:buChar char="•"/>
            </a:pPr>
            <a:r>
              <a:rPr lang="en-US" altLang="zh-CN" sz="2000" dirty="0">
                <a:latin typeface="Comic Sans MS" panose="030F0702030302020204" pitchFamily="66" charset="0"/>
                <a:ea typeface="SimSun" panose="02010600030101010101" pitchFamily="2" charset="-122"/>
              </a:rPr>
              <a:t>Edges represent pipes that carry flow</a:t>
            </a:r>
          </a:p>
          <a:p>
            <a:pPr lvl="1" eaLnBrk="1" hangingPunct="1">
              <a:spcBef>
                <a:spcPct val="50000"/>
              </a:spcBef>
              <a:buFontTx/>
              <a:buChar char="•"/>
            </a:pPr>
            <a:r>
              <a:rPr lang="en-US" altLang="zh-CN" sz="2000" dirty="0">
                <a:latin typeface="Comic Sans MS" panose="030F0702030302020204" pitchFamily="66" charset="0"/>
                <a:ea typeface="SimSun" panose="02010600030101010101" pitchFamily="2" charset="-122"/>
              </a:rPr>
              <a:t>Each edge </a:t>
            </a:r>
            <a:r>
              <a:rPr lang="en-US" altLang="zh-CN" sz="2000" dirty="0">
                <a:solidFill>
                  <a:schemeClr val="accent2"/>
                </a:solidFill>
                <a:latin typeface="Comic Sans MS" panose="030F0702030302020204" pitchFamily="66" charset="0"/>
                <a:ea typeface="SimSun" panose="02010600030101010101" pitchFamily="2" charset="-122"/>
              </a:rPr>
              <a:t>&lt;</a:t>
            </a:r>
            <a:r>
              <a:rPr lang="en-US" altLang="zh-CN" sz="2000" dirty="0" err="1">
                <a:solidFill>
                  <a:schemeClr val="accent2"/>
                </a:solidFill>
                <a:latin typeface="Comic Sans MS" panose="030F0702030302020204" pitchFamily="66" charset="0"/>
                <a:ea typeface="SimSun" panose="02010600030101010101" pitchFamily="2" charset="-122"/>
              </a:rPr>
              <a:t>u,v</a:t>
            </a:r>
            <a:r>
              <a:rPr lang="en-US" altLang="zh-CN" sz="2000" dirty="0">
                <a:solidFill>
                  <a:schemeClr val="accent2"/>
                </a:solidFill>
                <a:latin typeface="Comic Sans MS" panose="030F0702030302020204" pitchFamily="66" charset="0"/>
                <a:ea typeface="SimSun" panose="02010600030101010101" pitchFamily="2" charset="-122"/>
              </a:rPr>
              <a:t>&gt;</a:t>
            </a:r>
            <a:r>
              <a:rPr lang="en-US" altLang="zh-CN" sz="2000" dirty="0">
                <a:latin typeface="Comic Sans MS" panose="030F0702030302020204" pitchFamily="66" charset="0"/>
                <a:ea typeface="SimSun" panose="02010600030101010101" pitchFamily="2" charset="-122"/>
              </a:rPr>
              <a:t> has a maximum capacity </a:t>
            </a:r>
            <a:r>
              <a:rPr lang="en-US" altLang="zh-CN" sz="2000" dirty="0">
                <a:solidFill>
                  <a:schemeClr val="accent2"/>
                </a:solidFill>
                <a:latin typeface="Comic Sans MS" panose="030F0702030302020204" pitchFamily="66" charset="0"/>
                <a:ea typeface="SimSun" panose="02010600030101010101" pitchFamily="2" charset="-122"/>
              </a:rPr>
              <a:t>c</a:t>
            </a:r>
            <a:r>
              <a:rPr lang="en-US" altLang="zh-CN" sz="2000" baseline="-25000" dirty="0">
                <a:solidFill>
                  <a:schemeClr val="accent2"/>
                </a:solidFill>
                <a:latin typeface="Comic Sans MS" panose="030F0702030302020204" pitchFamily="66" charset="0"/>
                <a:ea typeface="SimSun" panose="02010600030101010101" pitchFamily="2" charset="-122"/>
              </a:rPr>
              <a:t>&lt;</a:t>
            </a:r>
            <a:r>
              <a:rPr lang="en-US" altLang="zh-CN" sz="2000" baseline="-25000" dirty="0" err="1">
                <a:solidFill>
                  <a:schemeClr val="accent2"/>
                </a:solidFill>
                <a:latin typeface="Comic Sans MS" panose="030F0702030302020204" pitchFamily="66" charset="0"/>
                <a:ea typeface="SimSun" panose="02010600030101010101" pitchFamily="2" charset="-122"/>
              </a:rPr>
              <a:t>u,v</a:t>
            </a:r>
            <a:r>
              <a:rPr lang="en-US" altLang="zh-CN" sz="2000" baseline="-25000" dirty="0">
                <a:solidFill>
                  <a:schemeClr val="accent2"/>
                </a:solidFill>
                <a:latin typeface="Comic Sans MS" panose="030F0702030302020204" pitchFamily="66" charset="0"/>
                <a:ea typeface="SimSun" panose="02010600030101010101" pitchFamily="2" charset="-122"/>
              </a:rPr>
              <a:t>&gt;</a:t>
            </a:r>
            <a:r>
              <a:rPr lang="en-US" altLang="zh-CN" sz="2000" dirty="0">
                <a:latin typeface="Comic Sans MS" panose="030F0702030302020204" pitchFamily="66" charset="0"/>
                <a:ea typeface="SimSun" panose="02010600030101010101" pitchFamily="2" charset="-122"/>
              </a:rPr>
              <a:t> </a:t>
            </a:r>
          </a:p>
          <a:p>
            <a:pPr lvl="1" eaLnBrk="1" hangingPunct="1">
              <a:spcBef>
                <a:spcPct val="50000"/>
              </a:spcBef>
              <a:buFontTx/>
              <a:buChar char="•"/>
            </a:pPr>
            <a:r>
              <a:rPr lang="en-US" altLang="zh-CN" sz="2000" dirty="0">
                <a:latin typeface="Comic Sans MS" panose="030F0702030302020204" pitchFamily="66" charset="0"/>
                <a:ea typeface="SimSun" panose="02010600030101010101" pitchFamily="2" charset="-122"/>
              </a:rPr>
              <a:t>A source node </a:t>
            </a:r>
            <a:r>
              <a:rPr lang="en-US" altLang="zh-CN" sz="2000" dirty="0">
                <a:solidFill>
                  <a:srgbClr val="0066FF"/>
                </a:solidFill>
                <a:latin typeface="Comic Sans MS" panose="030F0702030302020204" pitchFamily="66" charset="0"/>
                <a:ea typeface="SimSun" panose="02010600030101010101" pitchFamily="2" charset="-122"/>
              </a:rPr>
              <a:t>s</a:t>
            </a:r>
            <a:r>
              <a:rPr lang="en-US" altLang="zh-CN" sz="2000" dirty="0">
                <a:solidFill>
                  <a:srgbClr val="00FFFF"/>
                </a:solidFill>
                <a:latin typeface="Comic Sans MS" panose="030F0702030302020204" pitchFamily="66" charset="0"/>
                <a:ea typeface="SimSun" panose="02010600030101010101" pitchFamily="2" charset="-122"/>
              </a:rPr>
              <a:t> </a:t>
            </a:r>
            <a:r>
              <a:rPr lang="en-US" altLang="zh-CN" sz="2000" dirty="0">
                <a:latin typeface="Comic Sans MS" panose="030F0702030302020204" pitchFamily="66" charset="0"/>
                <a:ea typeface="SimSun" panose="02010600030101010101" pitchFamily="2" charset="-122"/>
              </a:rPr>
              <a:t>in which flow arrives</a:t>
            </a:r>
          </a:p>
          <a:p>
            <a:pPr lvl="1" eaLnBrk="1" hangingPunct="1">
              <a:spcBef>
                <a:spcPct val="50000"/>
              </a:spcBef>
              <a:buFontTx/>
              <a:buChar char="•"/>
            </a:pPr>
            <a:r>
              <a:rPr lang="en-US" altLang="zh-CN" sz="2000" dirty="0">
                <a:latin typeface="Comic Sans MS" panose="030F0702030302020204" pitchFamily="66" charset="0"/>
                <a:ea typeface="SimSun" panose="02010600030101010101" pitchFamily="2" charset="-122"/>
              </a:rPr>
              <a:t>A sink node </a:t>
            </a:r>
            <a:r>
              <a:rPr lang="en-US" altLang="zh-CN" sz="2000" dirty="0">
                <a:solidFill>
                  <a:srgbClr val="0066FF"/>
                </a:solidFill>
                <a:latin typeface="Comic Sans MS" panose="030F0702030302020204" pitchFamily="66" charset="0"/>
                <a:ea typeface="SimSun" panose="02010600030101010101" pitchFamily="2" charset="-122"/>
              </a:rPr>
              <a:t>t</a:t>
            </a:r>
            <a:r>
              <a:rPr lang="en-US" altLang="zh-CN" sz="2000" dirty="0">
                <a:latin typeface="Comic Sans MS" panose="030F0702030302020204" pitchFamily="66" charset="0"/>
                <a:ea typeface="SimSun" panose="02010600030101010101" pitchFamily="2" charset="-122"/>
              </a:rPr>
              <a:t> out which flow leaves</a:t>
            </a:r>
          </a:p>
        </p:txBody>
      </p:sp>
      <p:sp>
        <p:nvSpPr>
          <p:cNvPr id="1045538" name="Text Box 34">
            <a:extLst>
              <a:ext uri="{FF2B5EF4-FFF2-40B4-BE49-F238E27FC236}">
                <a16:creationId xmlns:a16="http://schemas.microsoft.com/office/drawing/2014/main" id="{92A49841-8770-410D-BB45-036EA2729567}"/>
              </a:ext>
            </a:extLst>
          </p:cNvPr>
          <p:cNvSpPr txBox="1">
            <a:spLocks noChangeArrowheads="1"/>
          </p:cNvSpPr>
          <p:nvPr/>
        </p:nvSpPr>
        <p:spPr bwMode="auto">
          <a:xfrm>
            <a:off x="8382000" y="4098926"/>
            <a:ext cx="2046288"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sz="3000">
                <a:solidFill>
                  <a:schemeClr val="hlink"/>
                </a:solidFill>
                <a:latin typeface="Times New Roman" panose="02020603050405020304" pitchFamily="18" charset="0"/>
                <a:ea typeface="SimSun" panose="02010600030101010101" pitchFamily="2" charset="-122"/>
              </a:rPr>
              <a:t>Goal: </a:t>
            </a:r>
            <a:br>
              <a:rPr lang="en-US" altLang="zh-CN" sz="3000">
                <a:solidFill>
                  <a:schemeClr val="hlink"/>
                </a:solidFill>
                <a:latin typeface="Times New Roman" panose="02020603050405020304" pitchFamily="18" charset="0"/>
                <a:ea typeface="SimSun" panose="02010600030101010101" pitchFamily="2" charset="-122"/>
              </a:rPr>
            </a:br>
            <a:r>
              <a:rPr lang="en-US" altLang="zh-CN" sz="3000">
                <a:solidFill>
                  <a:schemeClr val="hlink"/>
                </a:solidFill>
                <a:latin typeface="Times New Roman" panose="02020603050405020304" pitchFamily="18" charset="0"/>
                <a:ea typeface="SimSun" panose="02010600030101010101" pitchFamily="2" charset="-122"/>
              </a:rPr>
              <a:t>   Max Flow</a:t>
            </a:r>
          </a:p>
        </p:txBody>
      </p:sp>
      <p:sp>
        <p:nvSpPr>
          <p:cNvPr id="1045539" name="Rectangle 35">
            <a:extLst>
              <a:ext uri="{FF2B5EF4-FFF2-40B4-BE49-F238E27FC236}">
                <a16:creationId xmlns:a16="http://schemas.microsoft.com/office/drawing/2014/main" id="{9EDAE803-0A78-4D3C-B637-DE113DF2E7D0}"/>
              </a:ext>
            </a:extLst>
          </p:cNvPr>
          <p:cNvSpPr>
            <a:spLocks noGrp="1" noChangeArrowheads="1"/>
          </p:cNvSpPr>
          <p:nvPr>
            <p:ph type="title"/>
          </p:nvPr>
        </p:nvSpPr>
        <p:spPr>
          <a:xfrm>
            <a:off x="2209800" y="0"/>
            <a:ext cx="8229600" cy="685800"/>
          </a:xfrm>
        </p:spPr>
        <p:txBody>
          <a:bodyPr>
            <a:normAutofit/>
          </a:bodyPr>
          <a:lstStyle/>
          <a:p>
            <a:pPr>
              <a:defRPr/>
            </a:pPr>
            <a:r>
              <a:rPr lang="en-US" altLang="zh-CN" sz="2800" b="1" dirty="0">
                <a:latin typeface="Times New Roman" panose="02020603050405020304" pitchFamily="18" charset="0"/>
                <a:ea typeface="宋体" pitchFamily="2" charset="-122"/>
                <a:cs typeface="Times New Roman" panose="02020603050405020304" pitchFamily="18" charset="0"/>
              </a:rPr>
              <a:t>Network Flow</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45506">
                                            <p:txEl>
                                              <p:pRg st="0" end="0"/>
                                            </p:txEl>
                                          </p:spTgt>
                                        </p:tgtEl>
                                        <p:attrNameLst>
                                          <p:attrName>style.visibility</p:attrName>
                                        </p:attrNameLst>
                                      </p:cBhvr>
                                      <p:to>
                                        <p:strVal val="visible"/>
                                      </p:to>
                                    </p:set>
                                    <p:anim calcmode="lin" valueType="num">
                                      <p:cBhvr additive="base">
                                        <p:cTn id="7" dur="500" fill="hold"/>
                                        <p:tgtEl>
                                          <p:spTgt spid="104550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4550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045506">
                                            <p:txEl>
                                              <p:pRg st="1" end="1"/>
                                            </p:txEl>
                                          </p:spTgt>
                                        </p:tgtEl>
                                        <p:attrNameLst>
                                          <p:attrName>style.visibility</p:attrName>
                                        </p:attrNameLst>
                                      </p:cBhvr>
                                      <p:to>
                                        <p:strVal val="visible"/>
                                      </p:to>
                                    </p:set>
                                    <p:anim calcmode="lin" valueType="num">
                                      <p:cBhvr additive="base">
                                        <p:cTn id="13" dur="500" fill="hold"/>
                                        <p:tgtEl>
                                          <p:spTgt spid="104550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4550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045506">
                                            <p:txEl>
                                              <p:pRg st="2" end="2"/>
                                            </p:txEl>
                                          </p:spTgt>
                                        </p:tgtEl>
                                        <p:attrNameLst>
                                          <p:attrName>style.visibility</p:attrName>
                                        </p:attrNameLst>
                                      </p:cBhvr>
                                      <p:to>
                                        <p:strVal val="visible"/>
                                      </p:to>
                                    </p:set>
                                    <p:anim calcmode="lin" valueType="num">
                                      <p:cBhvr additive="base">
                                        <p:cTn id="19" dur="500" fill="hold"/>
                                        <p:tgtEl>
                                          <p:spTgt spid="104550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4550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045506">
                                            <p:txEl>
                                              <p:pRg st="3" end="3"/>
                                            </p:txEl>
                                          </p:spTgt>
                                        </p:tgtEl>
                                        <p:attrNameLst>
                                          <p:attrName>style.visibility</p:attrName>
                                        </p:attrNameLst>
                                      </p:cBhvr>
                                      <p:to>
                                        <p:strVal val="visible"/>
                                      </p:to>
                                    </p:set>
                                    <p:anim calcmode="lin" valueType="num">
                                      <p:cBhvr additive="base">
                                        <p:cTn id="25" dur="500" fill="hold"/>
                                        <p:tgtEl>
                                          <p:spTgt spid="104550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4550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045506">
                                            <p:txEl>
                                              <p:pRg st="4" end="4"/>
                                            </p:txEl>
                                          </p:spTgt>
                                        </p:tgtEl>
                                        <p:attrNameLst>
                                          <p:attrName>style.visibility</p:attrName>
                                        </p:attrNameLst>
                                      </p:cBhvr>
                                      <p:to>
                                        <p:strVal val="visible"/>
                                      </p:to>
                                    </p:set>
                                    <p:anim calcmode="lin" valueType="num">
                                      <p:cBhvr additive="base">
                                        <p:cTn id="31" dur="500" fill="hold"/>
                                        <p:tgtEl>
                                          <p:spTgt spid="1045506">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4550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1045538"/>
                                        </p:tgtEl>
                                        <p:attrNameLst>
                                          <p:attrName>style.visibility</p:attrName>
                                        </p:attrNameLst>
                                      </p:cBhvr>
                                      <p:to>
                                        <p:strVal val="visible"/>
                                      </p:to>
                                    </p:set>
                                    <p:anim calcmode="lin" valueType="num">
                                      <p:cBhvr additive="base">
                                        <p:cTn id="37" dur="500" fill="hold"/>
                                        <p:tgtEl>
                                          <p:spTgt spid="1045538"/>
                                        </p:tgtEl>
                                        <p:attrNameLst>
                                          <p:attrName>ppt_x</p:attrName>
                                        </p:attrNameLst>
                                      </p:cBhvr>
                                      <p:tavLst>
                                        <p:tav tm="0">
                                          <p:val>
                                            <p:strVal val="1+#ppt_w/2"/>
                                          </p:val>
                                        </p:tav>
                                        <p:tav tm="100000">
                                          <p:val>
                                            <p:strVal val="#ppt_x"/>
                                          </p:val>
                                        </p:tav>
                                      </p:tavLst>
                                    </p:anim>
                                    <p:anim calcmode="lin" valueType="num">
                                      <p:cBhvr additive="base">
                                        <p:cTn id="38" dur="500" fill="hold"/>
                                        <p:tgtEl>
                                          <p:spTgt spid="104553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553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A568D-8DE0-4FCB-BAF9-0E4EAA19BDD2}"/>
              </a:ext>
            </a:extLst>
          </p:cNvPr>
          <p:cNvSpPr>
            <a:spLocks noGrp="1"/>
          </p:cNvSpPr>
          <p:nvPr>
            <p:ph type="title"/>
          </p:nvPr>
        </p:nvSpPr>
        <p:spPr>
          <a:xfrm>
            <a:off x="2514600" y="0"/>
            <a:ext cx="7499350" cy="1143000"/>
          </a:xfrm>
        </p:spPr>
        <p:txBody>
          <a:bodyPr>
            <a:normAutofit/>
          </a:bodyPr>
          <a:lstStyle/>
          <a:p>
            <a:pPr>
              <a:defRPr/>
            </a:pPr>
            <a:r>
              <a:rPr lang="en-US" sz="2800" dirty="0">
                <a:latin typeface="Times New Roman" panose="02020603050405020304" pitchFamily="18" charset="0"/>
                <a:cs typeface="Times New Roman" panose="02020603050405020304" pitchFamily="18" charset="0"/>
              </a:rPr>
              <a:t>Network Flow</a:t>
            </a:r>
          </a:p>
        </p:txBody>
      </p:sp>
      <p:sp>
        <p:nvSpPr>
          <p:cNvPr id="3" name="Content Placeholder 2">
            <a:extLst>
              <a:ext uri="{FF2B5EF4-FFF2-40B4-BE49-F238E27FC236}">
                <a16:creationId xmlns:a16="http://schemas.microsoft.com/office/drawing/2014/main" id="{9B9FE34C-2F5D-43E1-9BB9-E17CB54870D6}"/>
              </a:ext>
            </a:extLst>
          </p:cNvPr>
          <p:cNvSpPr>
            <a:spLocks noGrp="1"/>
          </p:cNvSpPr>
          <p:nvPr>
            <p:ph idx="1"/>
          </p:nvPr>
        </p:nvSpPr>
        <p:spPr>
          <a:xfrm>
            <a:off x="2209800" y="990600"/>
            <a:ext cx="4724400" cy="5715000"/>
          </a:xfrm>
        </p:spPr>
        <p:txBody>
          <a:bodyPr>
            <a:normAutofit/>
          </a:bodyPr>
          <a:lstStyle/>
          <a:p>
            <a:pPr>
              <a:defRPr/>
            </a:pPr>
            <a:r>
              <a:rPr lang="en-US" sz="2000" dirty="0">
                <a:latin typeface="Times New Roman" panose="02020603050405020304" pitchFamily="18" charset="0"/>
                <a:cs typeface="Times New Roman" panose="02020603050405020304" pitchFamily="18" charset="0"/>
              </a:rPr>
              <a:t>The network flow problem is as follows:</a:t>
            </a:r>
          </a:p>
          <a:p>
            <a:pPr lvl="1">
              <a:defRPr/>
            </a:pPr>
            <a:r>
              <a:rPr lang="en-US" sz="2000" dirty="0">
                <a:latin typeface="Times New Roman" panose="02020603050405020304" pitchFamily="18" charset="0"/>
                <a:cs typeface="Times New Roman" panose="02020603050405020304" pitchFamily="18" charset="0"/>
              </a:rPr>
              <a:t>Given a connected directed graph G </a:t>
            </a:r>
          </a:p>
          <a:p>
            <a:pPr lvl="2">
              <a:defRPr/>
            </a:pPr>
            <a:r>
              <a:rPr lang="en-US" dirty="0">
                <a:latin typeface="Times New Roman" panose="02020603050405020304" pitchFamily="18" charset="0"/>
                <a:cs typeface="Times New Roman" panose="02020603050405020304" pitchFamily="18" charset="0"/>
              </a:rPr>
              <a:t>with non-negative integer weights, </a:t>
            </a:r>
          </a:p>
          <a:p>
            <a:pPr lvl="2">
              <a:defRPr/>
            </a:pPr>
            <a:r>
              <a:rPr lang="en-US" dirty="0">
                <a:latin typeface="Times New Roman" panose="02020603050405020304" pitchFamily="18" charset="0"/>
                <a:cs typeface="Times New Roman" panose="02020603050405020304" pitchFamily="18" charset="0"/>
              </a:rPr>
              <a:t>(where each edge stands for the capacity of that edge), </a:t>
            </a:r>
          </a:p>
          <a:p>
            <a:pPr lvl="1">
              <a:defRPr/>
            </a:pPr>
            <a:r>
              <a:rPr lang="en-US" sz="2000" dirty="0">
                <a:latin typeface="Times New Roman" panose="02020603050405020304" pitchFamily="18" charset="0"/>
                <a:cs typeface="Times New Roman" panose="02020603050405020304" pitchFamily="18" charset="0"/>
              </a:rPr>
              <a:t>2 different vertices, s and t, called the source and the sink, </a:t>
            </a:r>
          </a:p>
          <a:p>
            <a:pPr lvl="2">
              <a:defRPr/>
            </a:pPr>
            <a:r>
              <a:rPr lang="en-US" dirty="0">
                <a:latin typeface="Times New Roman" panose="02020603050405020304" pitchFamily="18" charset="0"/>
                <a:cs typeface="Times New Roman" panose="02020603050405020304" pitchFamily="18" charset="0"/>
              </a:rPr>
              <a:t>such that the source only has out-edges and the sink only has in-edges, </a:t>
            </a:r>
          </a:p>
          <a:p>
            <a:pPr lvl="1">
              <a:defRPr/>
            </a:pPr>
            <a:r>
              <a:rPr lang="en-US" sz="2000" dirty="0">
                <a:latin typeface="Times New Roman" panose="02020603050405020304" pitchFamily="18" charset="0"/>
                <a:cs typeface="Times New Roman" panose="02020603050405020304" pitchFamily="18" charset="0"/>
              </a:rPr>
              <a:t>Find the maximum amount of some commodity that can flow through the network from source to sink.</a:t>
            </a:r>
          </a:p>
          <a:p>
            <a:pPr>
              <a:defRPr/>
            </a:pPr>
            <a:endParaRPr lang="en-US" dirty="0"/>
          </a:p>
        </p:txBody>
      </p:sp>
      <p:sp>
        <p:nvSpPr>
          <p:cNvPr id="4" name="Oval 3">
            <a:extLst>
              <a:ext uri="{FF2B5EF4-FFF2-40B4-BE49-F238E27FC236}">
                <a16:creationId xmlns:a16="http://schemas.microsoft.com/office/drawing/2014/main" id="{05DC73FD-B65B-4CAF-AC26-09CCAB5FAA18}"/>
              </a:ext>
            </a:extLst>
          </p:cNvPr>
          <p:cNvSpPr/>
          <p:nvPr/>
        </p:nvSpPr>
        <p:spPr>
          <a:xfrm>
            <a:off x="7848600" y="1447800"/>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a</a:t>
            </a:r>
          </a:p>
        </p:txBody>
      </p:sp>
      <p:sp>
        <p:nvSpPr>
          <p:cNvPr id="5" name="Oval 4">
            <a:extLst>
              <a:ext uri="{FF2B5EF4-FFF2-40B4-BE49-F238E27FC236}">
                <a16:creationId xmlns:a16="http://schemas.microsoft.com/office/drawing/2014/main" id="{9B5A50CA-5A6D-421B-9C7D-4D717AC19D4E}"/>
              </a:ext>
            </a:extLst>
          </p:cNvPr>
          <p:cNvSpPr/>
          <p:nvPr/>
        </p:nvSpPr>
        <p:spPr>
          <a:xfrm>
            <a:off x="7162800" y="2514600"/>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s</a:t>
            </a:r>
          </a:p>
        </p:txBody>
      </p:sp>
      <p:sp>
        <p:nvSpPr>
          <p:cNvPr id="7" name="Oval 6">
            <a:extLst>
              <a:ext uri="{FF2B5EF4-FFF2-40B4-BE49-F238E27FC236}">
                <a16:creationId xmlns:a16="http://schemas.microsoft.com/office/drawing/2014/main" id="{D58DD446-700B-4BB0-A1FA-11CE94A554D9}"/>
              </a:ext>
            </a:extLst>
          </p:cNvPr>
          <p:cNvSpPr/>
          <p:nvPr/>
        </p:nvSpPr>
        <p:spPr>
          <a:xfrm>
            <a:off x="7848600" y="3505200"/>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c</a:t>
            </a:r>
          </a:p>
        </p:txBody>
      </p:sp>
      <p:sp>
        <p:nvSpPr>
          <p:cNvPr id="8" name="Oval 7">
            <a:extLst>
              <a:ext uri="{FF2B5EF4-FFF2-40B4-BE49-F238E27FC236}">
                <a16:creationId xmlns:a16="http://schemas.microsoft.com/office/drawing/2014/main" id="{6B22F22C-9DC6-4CFE-A0EB-12D541899B5B}"/>
              </a:ext>
            </a:extLst>
          </p:cNvPr>
          <p:cNvSpPr/>
          <p:nvPr/>
        </p:nvSpPr>
        <p:spPr>
          <a:xfrm>
            <a:off x="9296400" y="1447800"/>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b</a:t>
            </a:r>
          </a:p>
        </p:txBody>
      </p:sp>
      <p:sp>
        <p:nvSpPr>
          <p:cNvPr id="10" name="Oval 9">
            <a:extLst>
              <a:ext uri="{FF2B5EF4-FFF2-40B4-BE49-F238E27FC236}">
                <a16:creationId xmlns:a16="http://schemas.microsoft.com/office/drawing/2014/main" id="{B410C15C-CD4B-40B7-BEA0-C620E25D0891}"/>
              </a:ext>
            </a:extLst>
          </p:cNvPr>
          <p:cNvSpPr/>
          <p:nvPr/>
        </p:nvSpPr>
        <p:spPr>
          <a:xfrm>
            <a:off x="9296400" y="3505200"/>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d</a:t>
            </a:r>
          </a:p>
        </p:txBody>
      </p:sp>
      <p:sp>
        <p:nvSpPr>
          <p:cNvPr id="11" name="Oval 10">
            <a:extLst>
              <a:ext uri="{FF2B5EF4-FFF2-40B4-BE49-F238E27FC236}">
                <a16:creationId xmlns:a16="http://schemas.microsoft.com/office/drawing/2014/main" id="{50D724CF-0F52-461A-9FC8-E630EC211EA8}"/>
              </a:ext>
            </a:extLst>
          </p:cNvPr>
          <p:cNvSpPr/>
          <p:nvPr/>
        </p:nvSpPr>
        <p:spPr>
          <a:xfrm>
            <a:off x="10058400" y="2514600"/>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t</a:t>
            </a:r>
          </a:p>
        </p:txBody>
      </p:sp>
      <p:cxnSp>
        <p:nvCxnSpPr>
          <p:cNvPr id="13" name="Straight Arrow Connector 12">
            <a:extLst>
              <a:ext uri="{FF2B5EF4-FFF2-40B4-BE49-F238E27FC236}">
                <a16:creationId xmlns:a16="http://schemas.microsoft.com/office/drawing/2014/main" id="{3A192A7E-4CBA-4D1B-A8B7-82BEB19C592A}"/>
              </a:ext>
            </a:extLst>
          </p:cNvPr>
          <p:cNvCxnSpPr>
            <a:stCxn id="4" idx="6"/>
            <a:endCxn id="8" idx="2"/>
          </p:cNvCxnSpPr>
          <p:nvPr/>
        </p:nvCxnSpPr>
        <p:spPr>
          <a:xfrm>
            <a:off x="8305800" y="1676400"/>
            <a:ext cx="990600" cy="1588"/>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3FF1143-CDC9-476E-97A4-E04769725CD4}"/>
              </a:ext>
            </a:extLst>
          </p:cNvPr>
          <p:cNvCxnSpPr>
            <a:stCxn id="5" idx="0"/>
            <a:endCxn id="4" idx="3"/>
          </p:cNvCxnSpPr>
          <p:nvPr/>
        </p:nvCxnSpPr>
        <p:spPr>
          <a:xfrm rot="5400000" flipH="1" flipV="1">
            <a:off x="7315201" y="1914526"/>
            <a:ext cx="676275" cy="52387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A30B18D-E5B9-4E36-9755-DA17DA9A0C67}"/>
              </a:ext>
            </a:extLst>
          </p:cNvPr>
          <p:cNvCxnSpPr>
            <a:stCxn id="5" idx="4"/>
            <a:endCxn id="7" idx="1"/>
          </p:cNvCxnSpPr>
          <p:nvPr/>
        </p:nvCxnSpPr>
        <p:spPr>
          <a:xfrm rot="16200000" flipH="1">
            <a:off x="7353301" y="3009901"/>
            <a:ext cx="600075" cy="52387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20A1456-3DE4-4B01-B019-9336E3EB6983}"/>
              </a:ext>
            </a:extLst>
          </p:cNvPr>
          <p:cNvCxnSpPr>
            <a:stCxn id="7" idx="6"/>
            <a:endCxn id="10" idx="2"/>
          </p:cNvCxnSpPr>
          <p:nvPr/>
        </p:nvCxnSpPr>
        <p:spPr>
          <a:xfrm>
            <a:off x="8305800" y="3733800"/>
            <a:ext cx="990600" cy="1588"/>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4F15884E-4FB0-4158-93BF-8F5EC86EEA63}"/>
              </a:ext>
            </a:extLst>
          </p:cNvPr>
          <p:cNvCxnSpPr>
            <a:stCxn id="10" idx="7"/>
            <a:endCxn id="11" idx="4"/>
          </p:cNvCxnSpPr>
          <p:nvPr/>
        </p:nvCxnSpPr>
        <p:spPr>
          <a:xfrm rot="5400000" flipH="1" flipV="1">
            <a:off x="9686926" y="2971801"/>
            <a:ext cx="600075" cy="60007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8A27D16-30A2-40DA-ACA0-D842374959BE}"/>
              </a:ext>
            </a:extLst>
          </p:cNvPr>
          <p:cNvCxnSpPr>
            <a:stCxn id="8" idx="5"/>
            <a:endCxn id="11" idx="0"/>
          </p:cNvCxnSpPr>
          <p:nvPr/>
        </p:nvCxnSpPr>
        <p:spPr>
          <a:xfrm rot="16200000" flipH="1">
            <a:off x="9648826" y="1876426"/>
            <a:ext cx="676275" cy="60007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4296FBE-36A2-4602-9732-6585E4C53F98}"/>
              </a:ext>
            </a:extLst>
          </p:cNvPr>
          <p:cNvCxnSpPr/>
          <p:nvPr/>
        </p:nvCxnSpPr>
        <p:spPr>
          <a:xfrm rot="5400000" flipH="1" flipV="1">
            <a:off x="7352507" y="2704307"/>
            <a:ext cx="1600200" cy="1587"/>
          </a:xfrm>
          <a:prstGeom prst="straightConnector1">
            <a:avLst/>
          </a:prstGeom>
          <a:ln w="19050">
            <a:solidFill>
              <a:schemeClr val="tx1"/>
            </a:solidFill>
            <a:headEnd type="stealth" w="lg" len="lg"/>
            <a:tailEnd type="none" w="lg" len="lg"/>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6F16BFEC-5939-4053-8152-09C773591327}"/>
              </a:ext>
            </a:extLst>
          </p:cNvPr>
          <p:cNvCxnSpPr>
            <a:stCxn id="10" idx="0"/>
            <a:endCxn id="8" idx="4"/>
          </p:cNvCxnSpPr>
          <p:nvPr/>
        </p:nvCxnSpPr>
        <p:spPr>
          <a:xfrm rot="5400000" flipH="1" flipV="1">
            <a:off x="8724901" y="2705101"/>
            <a:ext cx="1600200" cy="317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A821E38-262F-423F-B9FC-866853D5F0C9}"/>
              </a:ext>
            </a:extLst>
          </p:cNvPr>
          <p:cNvCxnSpPr>
            <a:stCxn id="8" idx="3"/>
            <a:endCxn id="7" idx="7"/>
          </p:cNvCxnSpPr>
          <p:nvPr/>
        </p:nvCxnSpPr>
        <p:spPr>
          <a:xfrm rot="5400000">
            <a:off x="7934325" y="2143125"/>
            <a:ext cx="1733550" cy="1123950"/>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CA847326-2AAC-4AF1-B23B-A0822ED347FB}"/>
              </a:ext>
            </a:extLst>
          </p:cNvPr>
          <p:cNvCxnSpPr/>
          <p:nvPr/>
        </p:nvCxnSpPr>
        <p:spPr>
          <a:xfrm rot="5400000" flipH="1" flipV="1">
            <a:off x="7201694" y="2704306"/>
            <a:ext cx="1600200" cy="1588"/>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810DD3CE-600D-4480-8034-34D39DEA20E1}"/>
              </a:ext>
            </a:extLst>
          </p:cNvPr>
          <p:cNvSpPr/>
          <p:nvPr/>
        </p:nvSpPr>
        <p:spPr>
          <a:xfrm>
            <a:off x="6934200" y="1219200"/>
            <a:ext cx="3657600" cy="3200400"/>
          </a:xfrm>
          <a:prstGeom prst="rect">
            <a:avLst/>
          </a:prstGeom>
          <a:noFill/>
          <a:ln>
            <a:gradFill>
              <a:gsLst>
                <a:gs pos="0">
                  <a:srgbClr val="A603AB"/>
                </a:gs>
                <a:gs pos="21001">
                  <a:srgbClr val="0819FB"/>
                </a:gs>
                <a:gs pos="35001">
                  <a:srgbClr val="1A8D48"/>
                </a:gs>
                <a:gs pos="52000">
                  <a:srgbClr val="FFFF00"/>
                </a:gs>
                <a:gs pos="73000">
                  <a:srgbClr val="EE3F17"/>
                </a:gs>
                <a:gs pos="88000">
                  <a:srgbClr val="E81766"/>
                </a:gs>
                <a:gs pos="100000">
                  <a:srgbClr val="A603AB"/>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9479" name="TextBox 38">
            <a:extLst>
              <a:ext uri="{FF2B5EF4-FFF2-40B4-BE49-F238E27FC236}">
                <a16:creationId xmlns:a16="http://schemas.microsoft.com/office/drawing/2014/main" id="{D284F7B3-2E00-4478-ADDB-82B9A802352C}"/>
              </a:ext>
            </a:extLst>
          </p:cNvPr>
          <p:cNvSpPr txBox="1">
            <a:spLocks noChangeArrowheads="1"/>
          </p:cNvSpPr>
          <p:nvPr/>
        </p:nvSpPr>
        <p:spPr bwMode="auto">
          <a:xfrm>
            <a:off x="7315200" y="4419601"/>
            <a:ext cx="292893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a:solidFill>
                  <a:srgbClr val="0070C0"/>
                </a:solidFill>
              </a:rPr>
              <a:t>Each edge stands for the</a:t>
            </a:r>
          </a:p>
          <a:p>
            <a:pPr eaLnBrk="1" hangingPunct="1"/>
            <a:r>
              <a:rPr lang="en-US" altLang="en-US" b="1">
                <a:solidFill>
                  <a:srgbClr val="0070C0"/>
                </a:solidFill>
              </a:rPr>
              <a:t>capacity of that edge.</a:t>
            </a:r>
          </a:p>
        </p:txBody>
      </p:sp>
      <p:sp>
        <p:nvSpPr>
          <p:cNvPr id="19480" name="TextBox 39">
            <a:extLst>
              <a:ext uri="{FF2B5EF4-FFF2-40B4-BE49-F238E27FC236}">
                <a16:creationId xmlns:a16="http://schemas.microsoft.com/office/drawing/2014/main" id="{90D819F9-4B4D-4E10-B3F7-522ADBE052C4}"/>
              </a:ext>
            </a:extLst>
          </p:cNvPr>
          <p:cNvSpPr txBox="1">
            <a:spLocks noChangeArrowheads="1"/>
          </p:cNvSpPr>
          <p:nvPr/>
        </p:nvSpPr>
        <p:spPr bwMode="auto">
          <a:xfrm>
            <a:off x="8534401" y="1371600"/>
            <a:ext cx="441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12</a:t>
            </a:r>
          </a:p>
        </p:txBody>
      </p:sp>
      <p:sp>
        <p:nvSpPr>
          <p:cNvPr id="19481" name="TextBox 40">
            <a:extLst>
              <a:ext uri="{FF2B5EF4-FFF2-40B4-BE49-F238E27FC236}">
                <a16:creationId xmlns:a16="http://schemas.microsoft.com/office/drawing/2014/main" id="{72E10B94-6131-440B-BD5C-A0B3E6179A93}"/>
              </a:ext>
            </a:extLst>
          </p:cNvPr>
          <p:cNvSpPr txBox="1">
            <a:spLocks noChangeArrowheads="1"/>
          </p:cNvSpPr>
          <p:nvPr/>
        </p:nvSpPr>
        <p:spPr bwMode="auto">
          <a:xfrm>
            <a:off x="7331076" y="1839914"/>
            <a:ext cx="4413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16</a:t>
            </a:r>
          </a:p>
        </p:txBody>
      </p:sp>
      <p:sp>
        <p:nvSpPr>
          <p:cNvPr id="19482" name="TextBox 41">
            <a:extLst>
              <a:ext uri="{FF2B5EF4-FFF2-40B4-BE49-F238E27FC236}">
                <a16:creationId xmlns:a16="http://schemas.microsoft.com/office/drawing/2014/main" id="{C6FCD3F6-9A9B-452E-A1F7-0C5CEDE2E773}"/>
              </a:ext>
            </a:extLst>
          </p:cNvPr>
          <p:cNvSpPr txBox="1">
            <a:spLocks noChangeArrowheads="1"/>
          </p:cNvSpPr>
          <p:nvPr/>
        </p:nvSpPr>
        <p:spPr bwMode="auto">
          <a:xfrm>
            <a:off x="8678864" y="2286000"/>
            <a:ext cx="3127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9</a:t>
            </a:r>
          </a:p>
        </p:txBody>
      </p:sp>
      <p:sp>
        <p:nvSpPr>
          <p:cNvPr id="19483" name="TextBox 42">
            <a:extLst>
              <a:ext uri="{FF2B5EF4-FFF2-40B4-BE49-F238E27FC236}">
                <a16:creationId xmlns:a16="http://schemas.microsoft.com/office/drawing/2014/main" id="{28D60939-C767-4374-805C-63C0071131C5}"/>
              </a:ext>
            </a:extLst>
          </p:cNvPr>
          <p:cNvSpPr txBox="1">
            <a:spLocks noChangeArrowheads="1"/>
          </p:cNvSpPr>
          <p:nvPr/>
        </p:nvSpPr>
        <p:spPr bwMode="auto">
          <a:xfrm>
            <a:off x="7696200" y="2373314"/>
            <a:ext cx="3127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4</a:t>
            </a:r>
          </a:p>
        </p:txBody>
      </p:sp>
      <p:sp>
        <p:nvSpPr>
          <p:cNvPr id="19484" name="TextBox 43">
            <a:extLst>
              <a:ext uri="{FF2B5EF4-FFF2-40B4-BE49-F238E27FC236}">
                <a16:creationId xmlns:a16="http://schemas.microsoft.com/office/drawing/2014/main" id="{28DD016E-F04F-44BB-92E4-306136A8AA19}"/>
              </a:ext>
            </a:extLst>
          </p:cNvPr>
          <p:cNvSpPr txBox="1">
            <a:spLocks noChangeArrowheads="1"/>
          </p:cNvSpPr>
          <p:nvPr/>
        </p:nvSpPr>
        <p:spPr bwMode="auto">
          <a:xfrm>
            <a:off x="8077201" y="2438400"/>
            <a:ext cx="441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10</a:t>
            </a:r>
          </a:p>
        </p:txBody>
      </p:sp>
      <p:sp>
        <p:nvSpPr>
          <p:cNvPr id="19485" name="TextBox 44">
            <a:extLst>
              <a:ext uri="{FF2B5EF4-FFF2-40B4-BE49-F238E27FC236}">
                <a16:creationId xmlns:a16="http://schemas.microsoft.com/office/drawing/2014/main" id="{0471A176-6925-4149-AF9E-329FB7322158}"/>
              </a:ext>
            </a:extLst>
          </p:cNvPr>
          <p:cNvSpPr txBox="1">
            <a:spLocks noChangeArrowheads="1"/>
          </p:cNvSpPr>
          <p:nvPr/>
        </p:nvSpPr>
        <p:spPr bwMode="auto">
          <a:xfrm>
            <a:off x="8534401" y="3668714"/>
            <a:ext cx="4413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14</a:t>
            </a:r>
          </a:p>
        </p:txBody>
      </p:sp>
      <p:sp>
        <p:nvSpPr>
          <p:cNvPr id="19486" name="TextBox 45">
            <a:extLst>
              <a:ext uri="{FF2B5EF4-FFF2-40B4-BE49-F238E27FC236}">
                <a16:creationId xmlns:a16="http://schemas.microsoft.com/office/drawing/2014/main" id="{C31D1E0B-BA4A-4CCE-9213-AB4EA3E167D8}"/>
              </a:ext>
            </a:extLst>
          </p:cNvPr>
          <p:cNvSpPr txBox="1">
            <a:spLocks noChangeArrowheads="1"/>
          </p:cNvSpPr>
          <p:nvPr/>
        </p:nvSpPr>
        <p:spPr bwMode="auto">
          <a:xfrm>
            <a:off x="9288464" y="2438400"/>
            <a:ext cx="3127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7</a:t>
            </a:r>
          </a:p>
        </p:txBody>
      </p:sp>
      <p:sp>
        <p:nvSpPr>
          <p:cNvPr id="19487" name="TextBox 46">
            <a:extLst>
              <a:ext uri="{FF2B5EF4-FFF2-40B4-BE49-F238E27FC236}">
                <a16:creationId xmlns:a16="http://schemas.microsoft.com/office/drawing/2014/main" id="{F6123D08-E596-4709-AAA8-862042406BD4}"/>
              </a:ext>
            </a:extLst>
          </p:cNvPr>
          <p:cNvSpPr txBox="1">
            <a:spLocks noChangeArrowheads="1"/>
          </p:cNvSpPr>
          <p:nvPr/>
        </p:nvSpPr>
        <p:spPr bwMode="auto">
          <a:xfrm>
            <a:off x="9829801" y="1763714"/>
            <a:ext cx="4413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20</a:t>
            </a:r>
          </a:p>
        </p:txBody>
      </p:sp>
      <p:sp>
        <p:nvSpPr>
          <p:cNvPr id="19488" name="TextBox 47">
            <a:extLst>
              <a:ext uri="{FF2B5EF4-FFF2-40B4-BE49-F238E27FC236}">
                <a16:creationId xmlns:a16="http://schemas.microsoft.com/office/drawing/2014/main" id="{5311EC3D-4FE4-49C2-97B5-9F0E8254EF3B}"/>
              </a:ext>
            </a:extLst>
          </p:cNvPr>
          <p:cNvSpPr txBox="1">
            <a:spLocks noChangeArrowheads="1"/>
          </p:cNvSpPr>
          <p:nvPr/>
        </p:nvSpPr>
        <p:spPr bwMode="auto">
          <a:xfrm>
            <a:off x="9845675" y="3200400"/>
            <a:ext cx="312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4</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E9B51-12EF-472B-A6E2-40B3D51573C8}"/>
              </a:ext>
            </a:extLst>
          </p:cNvPr>
          <p:cNvSpPr>
            <a:spLocks noGrp="1"/>
          </p:cNvSpPr>
          <p:nvPr>
            <p:ph type="title"/>
          </p:nvPr>
        </p:nvSpPr>
        <p:spPr>
          <a:xfrm>
            <a:off x="2514600" y="0"/>
            <a:ext cx="7499350" cy="1143000"/>
          </a:xfrm>
        </p:spPr>
        <p:txBody>
          <a:bodyPr>
            <a:normAutofit/>
          </a:bodyPr>
          <a:lstStyle/>
          <a:p>
            <a:pPr>
              <a:defRPr/>
            </a:pPr>
            <a:r>
              <a:rPr lang="en-US" sz="2800" dirty="0">
                <a:latin typeface="Times New Roman" panose="02020603050405020304" pitchFamily="18" charset="0"/>
                <a:cs typeface="Times New Roman" panose="02020603050405020304" pitchFamily="18" charset="0"/>
              </a:rPr>
              <a:t>Network Flow</a:t>
            </a:r>
          </a:p>
        </p:txBody>
      </p:sp>
      <p:sp>
        <p:nvSpPr>
          <p:cNvPr id="3" name="Content Placeholder 2">
            <a:extLst>
              <a:ext uri="{FF2B5EF4-FFF2-40B4-BE49-F238E27FC236}">
                <a16:creationId xmlns:a16="http://schemas.microsoft.com/office/drawing/2014/main" id="{7A60862D-97DE-4DBB-9B8D-ADE3FFB3FC2D}"/>
              </a:ext>
            </a:extLst>
          </p:cNvPr>
          <p:cNvSpPr>
            <a:spLocks noGrp="1"/>
          </p:cNvSpPr>
          <p:nvPr>
            <p:ph idx="1"/>
          </p:nvPr>
        </p:nvSpPr>
        <p:spPr>
          <a:xfrm>
            <a:off x="2209800" y="1143000"/>
            <a:ext cx="4648200" cy="5181600"/>
          </a:xfrm>
        </p:spPr>
        <p:txBody>
          <a:bodyPr>
            <a:normAutofit/>
          </a:bodyPr>
          <a:lstStyle/>
          <a:p>
            <a:pPr>
              <a:defRPr/>
            </a:pPr>
            <a:r>
              <a:rPr lang="en-US" sz="2200" dirty="0">
                <a:latin typeface="Times New Roman" panose="02020603050405020304" pitchFamily="18" charset="0"/>
                <a:cs typeface="Times New Roman" panose="02020603050405020304" pitchFamily="18" charset="0"/>
              </a:rPr>
              <a:t>One way to imagine the situation is imagining each edge as a pipe that allows a certain flow of a liquid per second. </a:t>
            </a:r>
          </a:p>
          <a:p>
            <a:pPr lvl="1">
              <a:defRPr/>
            </a:pPr>
            <a:r>
              <a:rPr lang="en-US" sz="2200" dirty="0">
                <a:latin typeface="Times New Roman" panose="02020603050405020304" pitchFamily="18" charset="0"/>
                <a:cs typeface="Times New Roman" panose="02020603050405020304" pitchFamily="18" charset="0"/>
              </a:rPr>
              <a:t>The source is where the liquid is pouring from, and the sink is where it ends up. </a:t>
            </a:r>
          </a:p>
          <a:p>
            <a:pPr lvl="1">
              <a:defRPr/>
            </a:pPr>
            <a:r>
              <a:rPr lang="en-US" sz="2200" dirty="0">
                <a:latin typeface="Times New Roman" panose="02020603050405020304" pitchFamily="18" charset="0"/>
                <a:cs typeface="Times New Roman" panose="02020603050405020304" pitchFamily="18" charset="0"/>
              </a:rPr>
              <a:t>Each edge weight specifies the maximal amount of liquid that can flow through that pipe per second. </a:t>
            </a:r>
          </a:p>
          <a:p>
            <a:pPr lvl="1">
              <a:defRPr/>
            </a:pPr>
            <a:r>
              <a:rPr lang="en-US" sz="2200" dirty="0">
                <a:latin typeface="Times New Roman" panose="02020603050405020304" pitchFamily="18" charset="0"/>
                <a:cs typeface="Times New Roman" panose="02020603050405020304" pitchFamily="18" charset="0"/>
              </a:rPr>
              <a:t>Given that information, what is the most liquid that can flow from source to sink per second, in the steady state?</a:t>
            </a:r>
          </a:p>
          <a:p>
            <a:pPr>
              <a:defRPr/>
            </a:pPr>
            <a:endParaRPr lang="en-US" dirty="0"/>
          </a:p>
        </p:txBody>
      </p:sp>
      <p:sp>
        <p:nvSpPr>
          <p:cNvPr id="44" name="Oval 43">
            <a:extLst>
              <a:ext uri="{FF2B5EF4-FFF2-40B4-BE49-F238E27FC236}">
                <a16:creationId xmlns:a16="http://schemas.microsoft.com/office/drawing/2014/main" id="{702682BA-13BD-4234-B91F-84BE6073F004}"/>
              </a:ext>
            </a:extLst>
          </p:cNvPr>
          <p:cNvSpPr/>
          <p:nvPr/>
        </p:nvSpPr>
        <p:spPr>
          <a:xfrm>
            <a:off x="7848600" y="1447800"/>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a</a:t>
            </a:r>
          </a:p>
        </p:txBody>
      </p:sp>
      <p:sp>
        <p:nvSpPr>
          <p:cNvPr id="45" name="Oval 44">
            <a:extLst>
              <a:ext uri="{FF2B5EF4-FFF2-40B4-BE49-F238E27FC236}">
                <a16:creationId xmlns:a16="http://schemas.microsoft.com/office/drawing/2014/main" id="{50088DA7-C152-4F7F-AAE9-AF4B502A3A1F}"/>
              </a:ext>
            </a:extLst>
          </p:cNvPr>
          <p:cNvSpPr/>
          <p:nvPr/>
        </p:nvSpPr>
        <p:spPr>
          <a:xfrm>
            <a:off x="7162800" y="2514600"/>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s</a:t>
            </a:r>
          </a:p>
        </p:txBody>
      </p:sp>
      <p:sp>
        <p:nvSpPr>
          <p:cNvPr id="46" name="Oval 45">
            <a:extLst>
              <a:ext uri="{FF2B5EF4-FFF2-40B4-BE49-F238E27FC236}">
                <a16:creationId xmlns:a16="http://schemas.microsoft.com/office/drawing/2014/main" id="{6B4E0002-8C0A-4C89-B0F0-656589F7381B}"/>
              </a:ext>
            </a:extLst>
          </p:cNvPr>
          <p:cNvSpPr/>
          <p:nvPr/>
        </p:nvSpPr>
        <p:spPr>
          <a:xfrm>
            <a:off x="7848600" y="3505200"/>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c</a:t>
            </a:r>
          </a:p>
        </p:txBody>
      </p:sp>
      <p:sp>
        <p:nvSpPr>
          <p:cNvPr id="47" name="Oval 46">
            <a:extLst>
              <a:ext uri="{FF2B5EF4-FFF2-40B4-BE49-F238E27FC236}">
                <a16:creationId xmlns:a16="http://schemas.microsoft.com/office/drawing/2014/main" id="{E2F81569-F173-4D6B-AF51-26B26D15466E}"/>
              </a:ext>
            </a:extLst>
          </p:cNvPr>
          <p:cNvSpPr/>
          <p:nvPr/>
        </p:nvSpPr>
        <p:spPr>
          <a:xfrm>
            <a:off x="9296400" y="1447800"/>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b</a:t>
            </a:r>
          </a:p>
        </p:txBody>
      </p:sp>
      <p:sp>
        <p:nvSpPr>
          <p:cNvPr id="48" name="Oval 47">
            <a:extLst>
              <a:ext uri="{FF2B5EF4-FFF2-40B4-BE49-F238E27FC236}">
                <a16:creationId xmlns:a16="http://schemas.microsoft.com/office/drawing/2014/main" id="{4F8FB6C4-1CC1-4014-A4F5-655E749D813C}"/>
              </a:ext>
            </a:extLst>
          </p:cNvPr>
          <p:cNvSpPr/>
          <p:nvPr/>
        </p:nvSpPr>
        <p:spPr>
          <a:xfrm>
            <a:off x="9296400" y="3505200"/>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d</a:t>
            </a:r>
          </a:p>
        </p:txBody>
      </p:sp>
      <p:sp>
        <p:nvSpPr>
          <p:cNvPr id="49" name="Oval 48">
            <a:extLst>
              <a:ext uri="{FF2B5EF4-FFF2-40B4-BE49-F238E27FC236}">
                <a16:creationId xmlns:a16="http://schemas.microsoft.com/office/drawing/2014/main" id="{A994F2F0-653D-43A4-B2F5-A6D138B6B026}"/>
              </a:ext>
            </a:extLst>
          </p:cNvPr>
          <p:cNvSpPr/>
          <p:nvPr/>
        </p:nvSpPr>
        <p:spPr>
          <a:xfrm>
            <a:off x="10058400" y="2514600"/>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t</a:t>
            </a:r>
          </a:p>
        </p:txBody>
      </p:sp>
      <p:cxnSp>
        <p:nvCxnSpPr>
          <p:cNvPr id="50" name="Straight Arrow Connector 49">
            <a:extLst>
              <a:ext uri="{FF2B5EF4-FFF2-40B4-BE49-F238E27FC236}">
                <a16:creationId xmlns:a16="http://schemas.microsoft.com/office/drawing/2014/main" id="{0D9FD23B-E19A-4F19-B588-822DAC68BB78}"/>
              </a:ext>
            </a:extLst>
          </p:cNvPr>
          <p:cNvCxnSpPr>
            <a:stCxn id="44" idx="6"/>
            <a:endCxn id="47" idx="2"/>
          </p:cNvCxnSpPr>
          <p:nvPr/>
        </p:nvCxnSpPr>
        <p:spPr>
          <a:xfrm>
            <a:off x="8305800" y="1676400"/>
            <a:ext cx="990600" cy="1588"/>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E884ACB7-E782-450F-B6C4-4172012FD755}"/>
              </a:ext>
            </a:extLst>
          </p:cNvPr>
          <p:cNvCxnSpPr>
            <a:stCxn id="45" idx="0"/>
            <a:endCxn id="44" idx="3"/>
          </p:cNvCxnSpPr>
          <p:nvPr/>
        </p:nvCxnSpPr>
        <p:spPr>
          <a:xfrm rot="5400000" flipH="1" flipV="1">
            <a:off x="7315201" y="1914526"/>
            <a:ext cx="676275" cy="52387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B7F29A5E-8761-490E-BFCE-04604510091A}"/>
              </a:ext>
            </a:extLst>
          </p:cNvPr>
          <p:cNvCxnSpPr>
            <a:stCxn id="45" idx="4"/>
            <a:endCxn id="46" idx="1"/>
          </p:cNvCxnSpPr>
          <p:nvPr/>
        </p:nvCxnSpPr>
        <p:spPr>
          <a:xfrm rot="16200000" flipH="1">
            <a:off x="7353301" y="3009901"/>
            <a:ext cx="600075" cy="52387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510A10AB-2716-486E-9237-58F3824ED508}"/>
              </a:ext>
            </a:extLst>
          </p:cNvPr>
          <p:cNvCxnSpPr>
            <a:stCxn id="46" idx="6"/>
            <a:endCxn id="48" idx="2"/>
          </p:cNvCxnSpPr>
          <p:nvPr/>
        </p:nvCxnSpPr>
        <p:spPr>
          <a:xfrm>
            <a:off x="8305800" y="3733800"/>
            <a:ext cx="990600" cy="1588"/>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848F0E89-DD0D-4576-BEDB-4011BDAB9513}"/>
              </a:ext>
            </a:extLst>
          </p:cNvPr>
          <p:cNvCxnSpPr>
            <a:stCxn id="48" idx="7"/>
            <a:endCxn id="49" idx="4"/>
          </p:cNvCxnSpPr>
          <p:nvPr/>
        </p:nvCxnSpPr>
        <p:spPr>
          <a:xfrm rot="5400000" flipH="1" flipV="1">
            <a:off x="9686926" y="2971801"/>
            <a:ext cx="600075" cy="60007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D702C2AE-686E-494F-B33F-9F6B10649869}"/>
              </a:ext>
            </a:extLst>
          </p:cNvPr>
          <p:cNvCxnSpPr>
            <a:stCxn id="47" idx="5"/>
            <a:endCxn id="49" idx="0"/>
          </p:cNvCxnSpPr>
          <p:nvPr/>
        </p:nvCxnSpPr>
        <p:spPr>
          <a:xfrm rot="16200000" flipH="1">
            <a:off x="9648826" y="1876426"/>
            <a:ext cx="676275" cy="60007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20AF8628-600B-4F47-8FAB-50B3139A113F}"/>
              </a:ext>
            </a:extLst>
          </p:cNvPr>
          <p:cNvCxnSpPr/>
          <p:nvPr/>
        </p:nvCxnSpPr>
        <p:spPr>
          <a:xfrm rot="5400000" flipH="1" flipV="1">
            <a:off x="7352507" y="2704307"/>
            <a:ext cx="1600200" cy="1587"/>
          </a:xfrm>
          <a:prstGeom prst="straightConnector1">
            <a:avLst/>
          </a:prstGeom>
          <a:ln w="19050">
            <a:solidFill>
              <a:schemeClr val="tx1"/>
            </a:solidFill>
            <a:headEnd type="stealth" w="lg" len="lg"/>
            <a:tailEnd type="none" w="lg" len="lg"/>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FDE53F02-25C7-4D8B-B857-312BE6978A12}"/>
              </a:ext>
            </a:extLst>
          </p:cNvPr>
          <p:cNvCxnSpPr>
            <a:stCxn id="48" idx="0"/>
            <a:endCxn id="47" idx="4"/>
          </p:cNvCxnSpPr>
          <p:nvPr/>
        </p:nvCxnSpPr>
        <p:spPr>
          <a:xfrm rot="5400000" flipH="1" flipV="1">
            <a:off x="8724901" y="2705101"/>
            <a:ext cx="1600200" cy="317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49BB79C0-62B2-4337-9E7F-5833A3D3C873}"/>
              </a:ext>
            </a:extLst>
          </p:cNvPr>
          <p:cNvCxnSpPr>
            <a:stCxn id="47" idx="3"/>
            <a:endCxn id="46" idx="7"/>
          </p:cNvCxnSpPr>
          <p:nvPr/>
        </p:nvCxnSpPr>
        <p:spPr>
          <a:xfrm rot="5400000">
            <a:off x="7934325" y="2143125"/>
            <a:ext cx="1733550" cy="1123950"/>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A5F54F4A-36E5-4D41-A7E1-85048804B484}"/>
              </a:ext>
            </a:extLst>
          </p:cNvPr>
          <p:cNvCxnSpPr/>
          <p:nvPr/>
        </p:nvCxnSpPr>
        <p:spPr>
          <a:xfrm rot="5400000" flipH="1" flipV="1">
            <a:off x="7201694" y="2704306"/>
            <a:ext cx="1600200" cy="1588"/>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60" name="Rectangle 59">
            <a:extLst>
              <a:ext uri="{FF2B5EF4-FFF2-40B4-BE49-F238E27FC236}">
                <a16:creationId xmlns:a16="http://schemas.microsoft.com/office/drawing/2014/main" id="{74F346D5-6603-4321-B719-B3FD73D38F89}"/>
              </a:ext>
            </a:extLst>
          </p:cNvPr>
          <p:cNvSpPr/>
          <p:nvPr/>
        </p:nvSpPr>
        <p:spPr>
          <a:xfrm>
            <a:off x="6934200" y="1219200"/>
            <a:ext cx="3657600" cy="3200400"/>
          </a:xfrm>
          <a:prstGeom prst="rect">
            <a:avLst/>
          </a:prstGeom>
          <a:noFill/>
          <a:ln>
            <a:gradFill>
              <a:gsLst>
                <a:gs pos="0">
                  <a:srgbClr val="A603AB"/>
                </a:gs>
                <a:gs pos="21001">
                  <a:srgbClr val="0819FB"/>
                </a:gs>
                <a:gs pos="35001">
                  <a:srgbClr val="1A8D48"/>
                </a:gs>
                <a:gs pos="52000">
                  <a:srgbClr val="FFFF00"/>
                </a:gs>
                <a:gs pos="73000">
                  <a:srgbClr val="EE3F17"/>
                </a:gs>
                <a:gs pos="88000">
                  <a:srgbClr val="E81766"/>
                </a:gs>
                <a:gs pos="100000">
                  <a:srgbClr val="A603AB"/>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0503" name="TextBox 60">
            <a:extLst>
              <a:ext uri="{FF2B5EF4-FFF2-40B4-BE49-F238E27FC236}">
                <a16:creationId xmlns:a16="http://schemas.microsoft.com/office/drawing/2014/main" id="{2EF60580-94D0-47AF-B7B6-AE6C19F2E1C2}"/>
              </a:ext>
            </a:extLst>
          </p:cNvPr>
          <p:cNvSpPr txBox="1">
            <a:spLocks noChangeArrowheads="1"/>
          </p:cNvSpPr>
          <p:nvPr/>
        </p:nvSpPr>
        <p:spPr bwMode="auto">
          <a:xfrm>
            <a:off x="7315200" y="4419601"/>
            <a:ext cx="292893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a:solidFill>
                  <a:srgbClr val="0070C0"/>
                </a:solidFill>
              </a:rPr>
              <a:t>Each edge stands for the</a:t>
            </a:r>
          </a:p>
          <a:p>
            <a:pPr eaLnBrk="1" hangingPunct="1"/>
            <a:r>
              <a:rPr lang="en-US" altLang="en-US" b="1">
                <a:solidFill>
                  <a:srgbClr val="0070C0"/>
                </a:solidFill>
              </a:rPr>
              <a:t>capacity of that edge.</a:t>
            </a:r>
          </a:p>
        </p:txBody>
      </p:sp>
      <p:sp>
        <p:nvSpPr>
          <p:cNvPr id="20504" name="TextBox 61">
            <a:extLst>
              <a:ext uri="{FF2B5EF4-FFF2-40B4-BE49-F238E27FC236}">
                <a16:creationId xmlns:a16="http://schemas.microsoft.com/office/drawing/2014/main" id="{3275D7B0-44BA-4C71-90A6-7B77878640A9}"/>
              </a:ext>
            </a:extLst>
          </p:cNvPr>
          <p:cNvSpPr txBox="1">
            <a:spLocks noChangeArrowheads="1"/>
          </p:cNvSpPr>
          <p:nvPr/>
        </p:nvSpPr>
        <p:spPr bwMode="auto">
          <a:xfrm>
            <a:off x="8534401" y="1371600"/>
            <a:ext cx="441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12</a:t>
            </a:r>
          </a:p>
        </p:txBody>
      </p:sp>
      <p:sp>
        <p:nvSpPr>
          <p:cNvPr id="20505" name="TextBox 62">
            <a:extLst>
              <a:ext uri="{FF2B5EF4-FFF2-40B4-BE49-F238E27FC236}">
                <a16:creationId xmlns:a16="http://schemas.microsoft.com/office/drawing/2014/main" id="{3BD14F92-7AC3-4483-91CA-DF748652EF8B}"/>
              </a:ext>
            </a:extLst>
          </p:cNvPr>
          <p:cNvSpPr txBox="1">
            <a:spLocks noChangeArrowheads="1"/>
          </p:cNvSpPr>
          <p:nvPr/>
        </p:nvSpPr>
        <p:spPr bwMode="auto">
          <a:xfrm>
            <a:off x="7331076" y="1839914"/>
            <a:ext cx="4413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16</a:t>
            </a:r>
          </a:p>
        </p:txBody>
      </p:sp>
      <p:sp>
        <p:nvSpPr>
          <p:cNvPr id="20506" name="TextBox 63">
            <a:extLst>
              <a:ext uri="{FF2B5EF4-FFF2-40B4-BE49-F238E27FC236}">
                <a16:creationId xmlns:a16="http://schemas.microsoft.com/office/drawing/2014/main" id="{0F8814D3-E73C-4FF0-B846-CE0E7D565F5C}"/>
              </a:ext>
            </a:extLst>
          </p:cNvPr>
          <p:cNvSpPr txBox="1">
            <a:spLocks noChangeArrowheads="1"/>
          </p:cNvSpPr>
          <p:nvPr/>
        </p:nvSpPr>
        <p:spPr bwMode="auto">
          <a:xfrm>
            <a:off x="8678864" y="2286000"/>
            <a:ext cx="3127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9</a:t>
            </a:r>
          </a:p>
        </p:txBody>
      </p:sp>
      <p:sp>
        <p:nvSpPr>
          <p:cNvPr id="20507" name="TextBox 64">
            <a:extLst>
              <a:ext uri="{FF2B5EF4-FFF2-40B4-BE49-F238E27FC236}">
                <a16:creationId xmlns:a16="http://schemas.microsoft.com/office/drawing/2014/main" id="{732537FC-5930-49F6-B33B-BB83B3E571B9}"/>
              </a:ext>
            </a:extLst>
          </p:cNvPr>
          <p:cNvSpPr txBox="1">
            <a:spLocks noChangeArrowheads="1"/>
          </p:cNvSpPr>
          <p:nvPr/>
        </p:nvSpPr>
        <p:spPr bwMode="auto">
          <a:xfrm>
            <a:off x="7696200" y="2373314"/>
            <a:ext cx="3127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4</a:t>
            </a:r>
          </a:p>
        </p:txBody>
      </p:sp>
      <p:sp>
        <p:nvSpPr>
          <p:cNvPr id="20508" name="TextBox 65">
            <a:extLst>
              <a:ext uri="{FF2B5EF4-FFF2-40B4-BE49-F238E27FC236}">
                <a16:creationId xmlns:a16="http://schemas.microsoft.com/office/drawing/2014/main" id="{617C5554-7E61-4F99-AE61-4F3D5AE1330B}"/>
              </a:ext>
            </a:extLst>
          </p:cNvPr>
          <p:cNvSpPr txBox="1">
            <a:spLocks noChangeArrowheads="1"/>
          </p:cNvSpPr>
          <p:nvPr/>
        </p:nvSpPr>
        <p:spPr bwMode="auto">
          <a:xfrm>
            <a:off x="8077201" y="2438400"/>
            <a:ext cx="441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10</a:t>
            </a:r>
          </a:p>
        </p:txBody>
      </p:sp>
      <p:sp>
        <p:nvSpPr>
          <p:cNvPr id="20509" name="TextBox 66">
            <a:extLst>
              <a:ext uri="{FF2B5EF4-FFF2-40B4-BE49-F238E27FC236}">
                <a16:creationId xmlns:a16="http://schemas.microsoft.com/office/drawing/2014/main" id="{BDC38D21-47DA-4402-BA8F-E87C57619ADA}"/>
              </a:ext>
            </a:extLst>
          </p:cNvPr>
          <p:cNvSpPr txBox="1">
            <a:spLocks noChangeArrowheads="1"/>
          </p:cNvSpPr>
          <p:nvPr/>
        </p:nvSpPr>
        <p:spPr bwMode="auto">
          <a:xfrm>
            <a:off x="8534401" y="3668714"/>
            <a:ext cx="4413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14</a:t>
            </a:r>
          </a:p>
        </p:txBody>
      </p:sp>
      <p:sp>
        <p:nvSpPr>
          <p:cNvPr id="20510" name="TextBox 67">
            <a:extLst>
              <a:ext uri="{FF2B5EF4-FFF2-40B4-BE49-F238E27FC236}">
                <a16:creationId xmlns:a16="http://schemas.microsoft.com/office/drawing/2014/main" id="{62A43F3E-3811-41C8-ADD2-47F530978698}"/>
              </a:ext>
            </a:extLst>
          </p:cNvPr>
          <p:cNvSpPr txBox="1">
            <a:spLocks noChangeArrowheads="1"/>
          </p:cNvSpPr>
          <p:nvPr/>
        </p:nvSpPr>
        <p:spPr bwMode="auto">
          <a:xfrm>
            <a:off x="9288464" y="2438400"/>
            <a:ext cx="3127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7</a:t>
            </a:r>
          </a:p>
        </p:txBody>
      </p:sp>
      <p:sp>
        <p:nvSpPr>
          <p:cNvPr id="20511" name="TextBox 68">
            <a:extLst>
              <a:ext uri="{FF2B5EF4-FFF2-40B4-BE49-F238E27FC236}">
                <a16:creationId xmlns:a16="http://schemas.microsoft.com/office/drawing/2014/main" id="{C7AAE0B8-7AB0-4896-9442-96ABA1D67156}"/>
              </a:ext>
            </a:extLst>
          </p:cNvPr>
          <p:cNvSpPr txBox="1">
            <a:spLocks noChangeArrowheads="1"/>
          </p:cNvSpPr>
          <p:nvPr/>
        </p:nvSpPr>
        <p:spPr bwMode="auto">
          <a:xfrm>
            <a:off x="9829801" y="1763714"/>
            <a:ext cx="4413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20</a:t>
            </a:r>
          </a:p>
        </p:txBody>
      </p:sp>
      <p:sp>
        <p:nvSpPr>
          <p:cNvPr id="20512" name="TextBox 69">
            <a:extLst>
              <a:ext uri="{FF2B5EF4-FFF2-40B4-BE49-F238E27FC236}">
                <a16:creationId xmlns:a16="http://schemas.microsoft.com/office/drawing/2014/main" id="{361A1E82-AD8C-4EA3-B32E-2275F2A2D949}"/>
              </a:ext>
            </a:extLst>
          </p:cNvPr>
          <p:cNvSpPr txBox="1">
            <a:spLocks noChangeArrowheads="1"/>
          </p:cNvSpPr>
          <p:nvPr/>
        </p:nvSpPr>
        <p:spPr bwMode="auto">
          <a:xfrm>
            <a:off x="9845675" y="3200400"/>
            <a:ext cx="312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4</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9B52F-B234-4999-B91B-9DFA3154023B}"/>
              </a:ext>
            </a:extLst>
          </p:cNvPr>
          <p:cNvSpPr>
            <a:spLocks noGrp="1"/>
          </p:cNvSpPr>
          <p:nvPr>
            <p:ph type="title"/>
          </p:nvPr>
        </p:nvSpPr>
        <p:spPr>
          <a:xfrm>
            <a:off x="2514600" y="0"/>
            <a:ext cx="7499350" cy="914400"/>
          </a:xfrm>
        </p:spPr>
        <p:txBody>
          <a:bodyPr>
            <a:normAutofit/>
          </a:bodyPr>
          <a:lstStyle/>
          <a:p>
            <a:pPr>
              <a:defRPr/>
            </a:pPr>
            <a:r>
              <a:rPr lang="en-US" sz="2800" dirty="0">
                <a:latin typeface="Times New Roman" panose="02020603050405020304" pitchFamily="18" charset="0"/>
                <a:cs typeface="Times New Roman" panose="02020603050405020304" pitchFamily="18" charset="0"/>
              </a:rPr>
              <a:t>Network Flow</a:t>
            </a:r>
          </a:p>
        </p:txBody>
      </p:sp>
      <p:sp>
        <p:nvSpPr>
          <p:cNvPr id="3" name="Content Placeholder 2">
            <a:extLst>
              <a:ext uri="{FF2B5EF4-FFF2-40B4-BE49-F238E27FC236}">
                <a16:creationId xmlns:a16="http://schemas.microsoft.com/office/drawing/2014/main" id="{B5D763A2-E811-4EE1-BF94-73391EDA056A}"/>
              </a:ext>
            </a:extLst>
          </p:cNvPr>
          <p:cNvSpPr>
            <a:spLocks noGrp="1"/>
          </p:cNvSpPr>
          <p:nvPr>
            <p:ph idx="1"/>
          </p:nvPr>
        </p:nvSpPr>
        <p:spPr>
          <a:xfrm>
            <a:off x="2971800" y="5410200"/>
            <a:ext cx="7499350" cy="1295400"/>
          </a:xfrm>
        </p:spPr>
        <p:txBody>
          <a:bodyPr>
            <a:normAutofit/>
          </a:bodyPr>
          <a:lstStyle/>
          <a:p>
            <a:pPr>
              <a:defRPr/>
            </a:pPr>
            <a:r>
              <a:rPr lang="en-US" sz="2000" dirty="0">
                <a:latin typeface="Times New Roman" panose="02020603050405020304" pitchFamily="18" charset="0"/>
                <a:cs typeface="Times New Roman" panose="02020603050405020304" pitchFamily="18" charset="0"/>
              </a:rPr>
              <a:t>The flow of the network is defined as the flow from the source, or into the sink.</a:t>
            </a:r>
          </a:p>
          <a:p>
            <a:pPr>
              <a:defRPr/>
            </a:pPr>
            <a:r>
              <a:rPr lang="en-US" sz="2000" dirty="0">
                <a:latin typeface="Times New Roman" panose="02020603050405020304" pitchFamily="18" charset="0"/>
                <a:cs typeface="Times New Roman" panose="02020603050405020304" pitchFamily="18" charset="0"/>
              </a:rPr>
              <a:t>For the situation above, the network flow is 23.</a:t>
            </a:r>
          </a:p>
        </p:txBody>
      </p:sp>
      <p:sp>
        <p:nvSpPr>
          <p:cNvPr id="4" name="Oval 3">
            <a:extLst>
              <a:ext uri="{FF2B5EF4-FFF2-40B4-BE49-F238E27FC236}">
                <a16:creationId xmlns:a16="http://schemas.microsoft.com/office/drawing/2014/main" id="{2A1BD4D5-9AF4-45E4-9381-7A5DB0EA4162}"/>
              </a:ext>
            </a:extLst>
          </p:cNvPr>
          <p:cNvSpPr/>
          <p:nvPr/>
        </p:nvSpPr>
        <p:spPr>
          <a:xfrm>
            <a:off x="3505200" y="1447800"/>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a</a:t>
            </a:r>
          </a:p>
        </p:txBody>
      </p:sp>
      <p:sp>
        <p:nvSpPr>
          <p:cNvPr id="5" name="Oval 4">
            <a:extLst>
              <a:ext uri="{FF2B5EF4-FFF2-40B4-BE49-F238E27FC236}">
                <a16:creationId xmlns:a16="http://schemas.microsoft.com/office/drawing/2014/main" id="{491B84B0-2F16-4B58-8FB5-ACE8DFE44117}"/>
              </a:ext>
            </a:extLst>
          </p:cNvPr>
          <p:cNvSpPr/>
          <p:nvPr/>
        </p:nvSpPr>
        <p:spPr>
          <a:xfrm>
            <a:off x="2819400" y="2514600"/>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s</a:t>
            </a:r>
          </a:p>
        </p:txBody>
      </p:sp>
      <p:sp>
        <p:nvSpPr>
          <p:cNvPr id="6" name="Oval 5">
            <a:extLst>
              <a:ext uri="{FF2B5EF4-FFF2-40B4-BE49-F238E27FC236}">
                <a16:creationId xmlns:a16="http://schemas.microsoft.com/office/drawing/2014/main" id="{6F3D3C36-8E45-47D4-8693-505DF60066F6}"/>
              </a:ext>
            </a:extLst>
          </p:cNvPr>
          <p:cNvSpPr/>
          <p:nvPr/>
        </p:nvSpPr>
        <p:spPr>
          <a:xfrm>
            <a:off x="3505200" y="3505200"/>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c</a:t>
            </a:r>
          </a:p>
        </p:txBody>
      </p:sp>
      <p:sp>
        <p:nvSpPr>
          <p:cNvPr id="7" name="Oval 6">
            <a:extLst>
              <a:ext uri="{FF2B5EF4-FFF2-40B4-BE49-F238E27FC236}">
                <a16:creationId xmlns:a16="http://schemas.microsoft.com/office/drawing/2014/main" id="{21D3CC08-6A09-440C-87B7-0D5AB2A390AD}"/>
              </a:ext>
            </a:extLst>
          </p:cNvPr>
          <p:cNvSpPr/>
          <p:nvPr/>
        </p:nvSpPr>
        <p:spPr>
          <a:xfrm>
            <a:off x="4953000" y="1447800"/>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b</a:t>
            </a:r>
          </a:p>
        </p:txBody>
      </p:sp>
      <p:sp>
        <p:nvSpPr>
          <p:cNvPr id="8" name="Oval 7">
            <a:extLst>
              <a:ext uri="{FF2B5EF4-FFF2-40B4-BE49-F238E27FC236}">
                <a16:creationId xmlns:a16="http://schemas.microsoft.com/office/drawing/2014/main" id="{850C659F-174D-4250-BB65-F1C87EB092D9}"/>
              </a:ext>
            </a:extLst>
          </p:cNvPr>
          <p:cNvSpPr/>
          <p:nvPr/>
        </p:nvSpPr>
        <p:spPr>
          <a:xfrm>
            <a:off x="4953000" y="3505200"/>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d</a:t>
            </a:r>
          </a:p>
        </p:txBody>
      </p:sp>
      <p:sp>
        <p:nvSpPr>
          <p:cNvPr id="9" name="Oval 8">
            <a:extLst>
              <a:ext uri="{FF2B5EF4-FFF2-40B4-BE49-F238E27FC236}">
                <a16:creationId xmlns:a16="http://schemas.microsoft.com/office/drawing/2014/main" id="{092E1895-2B22-419E-A702-1DF5C4CFD922}"/>
              </a:ext>
            </a:extLst>
          </p:cNvPr>
          <p:cNvSpPr/>
          <p:nvPr/>
        </p:nvSpPr>
        <p:spPr>
          <a:xfrm>
            <a:off x="5715000" y="2514600"/>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t</a:t>
            </a:r>
          </a:p>
        </p:txBody>
      </p:sp>
      <p:cxnSp>
        <p:nvCxnSpPr>
          <p:cNvPr id="10" name="Straight Arrow Connector 9">
            <a:extLst>
              <a:ext uri="{FF2B5EF4-FFF2-40B4-BE49-F238E27FC236}">
                <a16:creationId xmlns:a16="http://schemas.microsoft.com/office/drawing/2014/main" id="{A228F9EF-AC96-45B5-B909-71978409A8A8}"/>
              </a:ext>
            </a:extLst>
          </p:cNvPr>
          <p:cNvCxnSpPr>
            <a:stCxn id="4" idx="6"/>
            <a:endCxn id="7" idx="2"/>
          </p:cNvCxnSpPr>
          <p:nvPr/>
        </p:nvCxnSpPr>
        <p:spPr>
          <a:xfrm>
            <a:off x="3962400" y="1676400"/>
            <a:ext cx="990600" cy="1588"/>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6447E84D-BCF5-4DF5-BAB7-4F3B2A77F11B}"/>
              </a:ext>
            </a:extLst>
          </p:cNvPr>
          <p:cNvCxnSpPr>
            <a:stCxn id="5" idx="0"/>
            <a:endCxn id="4" idx="3"/>
          </p:cNvCxnSpPr>
          <p:nvPr/>
        </p:nvCxnSpPr>
        <p:spPr>
          <a:xfrm rot="5400000" flipH="1" flipV="1">
            <a:off x="2971801" y="1914526"/>
            <a:ext cx="676275" cy="52387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4959DB4-5800-43C0-BCE2-4FB4FCF2C1A0}"/>
              </a:ext>
            </a:extLst>
          </p:cNvPr>
          <p:cNvCxnSpPr>
            <a:stCxn id="5" idx="4"/>
            <a:endCxn id="6" idx="1"/>
          </p:cNvCxnSpPr>
          <p:nvPr/>
        </p:nvCxnSpPr>
        <p:spPr>
          <a:xfrm rot="16200000" flipH="1">
            <a:off x="3009901" y="3009901"/>
            <a:ext cx="600075" cy="52387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CEEFF60D-0A4E-4709-909B-FC0D7F744CB7}"/>
              </a:ext>
            </a:extLst>
          </p:cNvPr>
          <p:cNvCxnSpPr>
            <a:stCxn id="6" idx="6"/>
            <a:endCxn id="8" idx="2"/>
          </p:cNvCxnSpPr>
          <p:nvPr/>
        </p:nvCxnSpPr>
        <p:spPr>
          <a:xfrm>
            <a:off x="3962400" y="3733800"/>
            <a:ext cx="990600" cy="1588"/>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1A6B44C8-9CBD-4605-A2DD-2CFF224AF662}"/>
              </a:ext>
            </a:extLst>
          </p:cNvPr>
          <p:cNvCxnSpPr>
            <a:stCxn id="8" idx="7"/>
            <a:endCxn id="9" idx="4"/>
          </p:cNvCxnSpPr>
          <p:nvPr/>
        </p:nvCxnSpPr>
        <p:spPr>
          <a:xfrm rot="5400000" flipH="1" flipV="1">
            <a:off x="5343526" y="2971801"/>
            <a:ext cx="600075" cy="60007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1458D305-282C-485D-BB22-67A60939FE91}"/>
              </a:ext>
            </a:extLst>
          </p:cNvPr>
          <p:cNvCxnSpPr>
            <a:stCxn id="7" idx="5"/>
            <a:endCxn id="9" idx="0"/>
          </p:cNvCxnSpPr>
          <p:nvPr/>
        </p:nvCxnSpPr>
        <p:spPr>
          <a:xfrm rot="16200000" flipH="1">
            <a:off x="5305426" y="1876426"/>
            <a:ext cx="676275" cy="60007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8DD5610-786F-4C00-BFD5-23B8AA74F660}"/>
              </a:ext>
            </a:extLst>
          </p:cNvPr>
          <p:cNvCxnSpPr/>
          <p:nvPr/>
        </p:nvCxnSpPr>
        <p:spPr>
          <a:xfrm rot="5400000" flipH="1" flipV="1">
            <a:off x="3009107" y="2704307"/>
            <a:ext cx="1600200" cy="1587"/>
          </a:xfrm>
          <a:prstGeom prst="straightConnector1">
            <a:avLst/>
          </a:prstGeom>
          <a:ln w="19050">
            <a:solidFill>
              <a:schemeClr val="tx1"/>
            </a:solidFill>
            <a:headEnd type="stealth" w="lg" len="lg"/>
            <a:tailEnd type="non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658C14D1-9E1C-446C-B8EF-F10925C3819E}"/>
              </a:ext>
            </a:extLst>
          </p:cNvPr>
          <p:cNvCxnSpPr>
            <a:stCxn id="8" idx="0"/>
            <a:endCxn id="7" idx="4"/>
          </p:cNvCxnSpPr>
          <p:nvPr/>
        </p:nvCxnSpPr>
        <p:spPr>
          <a:xfrm rot="5400000" flipH="1" flipV="1">
            <a:off x="4381501" y="2705101"/>
            <a:ext cx="1600200" cy="317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129D880B-79B4-47A2-BD0E-F914313D758E}"/>
              </a:ext>
            </a:extLst>
          </p:cNvPr>
          <p:cNvCxnSpPr>
            <a:stCxn id="7" idx="3"/>
            <a:endCxn id="6" idx="7"/>
          </p:cNvCxnSpPr>
          <p:nvPr/>
        </p:nvCxnSpPr>
        <p:spPr>
          <a:xfrm rot="5400000">
            <a:off x="3590925" y="2143125"/>
            <a:ext cx="1733550" cy="1123950"/>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8AB0BB13-E9E4-47C3-8A34-F3259D09FD2E}"/>
              </a:ext>
            </a:extLst>
          </p:cNvPr>
          <p:cNvCxnSpPr/>
          <p:nvPr/>
        </p:nvCxnSpPr>
        <p:spPr>
          <a:xfrm rot="5400000" flipH="1" flipV="1">
            <a:off x="2858294" y="2704306"/>
            <a:ext cx="1600200" cy="1588"/>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2F29C02F-8576-4D95-9B39-66349319AB97}"/>
              </a:ext>
            </a:extLst>
          </p:cNvPr>
          <p:cNvSpPr/>
          <p:nvPr/>
        </p:nvSpPr>
        <p:spPr>
          <a:xfrm>
            <a:off x="2590800" y="1219200"/>
            <a:ext cx="3657600" cy="3200400"/>
          </a:xfrm>
          <a:prstGeom prst="rect">
            <a:avLst/>
          </a:prstGeom>
          <a:noFill/>
          <a:ln>
            <a:gradFill>
              <a:gsLst>
                <a:gs pos="0">
                  <a:srgbClr val="A603AB"/>
                </a:gs>
                <a:gs pos="21001">
                  <a:srgbClr val="0819FB"/>
                </a:gs>
                <a:gs pos="35001">
                  <a:srgbClr val="1A8D48"/>
                </a:gs>
                <a:gs pos="52000">
                  <a:srgbClr val="FFFF00"/>
                </a:gs>
                <a:gs pos="73000">
                  <a:srgbClr val="EE3F17"/>
                </a:gs>
                <a:gs pos="88000">
                  <a:srgbClr val="E81766"/>
                </a:gs>
                <a:gs pos="100000">
                  <a:srgbClr val="A603AB"/>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1527" name="TextBox 20">
            <a:extLst>
              <a:ext uri="{FF2B5EF4-FFF2-40B4-BE49-F238E27FC236}">
                <a16:creationId xmlns:a16="http://schemas.microsoft.com/office/drawing/2014/main" id="{ABC97814-0D90-484B-BDD5-65D864395DE0}"/>
              </a:ext>
            </a:extLst>
          </p:cNvPr>
          <p:cNvSpPr txBox="1">
            <a:spLocks noChangeArrowheads="1"/>
          </p:cNvSpPr>
          <p:nvPr/>
        </p:nvSpPr>
        <p:spPr bwMode="auto">
          <a:xfrm>
            <a:off x="2438400" y="4419601"/>
            <a:ext cx="40322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a:t>This graph contains the </a:t>
            </a:r>
            <a:r>
              <a:rPr lang="en-US" altLang="en-US" b="1" i="1">
                <a:solidFill>
                  <a:srgbClr val="0070C0"/>
                </a:solidFill>
              </a:rPr>
              <a:t>capacities </a:t>
            </a:r>
          </a:p>
          <a:p>
            <a:pPr eaLnBrk="1" hangingPunct="1"/>
            <a:r>
              <a:rPr lang="en-US" altLang="en-US" b="1"/>
              <a:t>of each edge in the graph.</a:t>
            </a:r>
          </a:p>
        </p:txBody>
      </p:sp>
      <p:sp>
        <p:nvSpPr>
          <p:cNvPr id="21528" name="TextBox 21">
            <a:extLst>
              <a:ext uri="{FF2B5EF4-FFF2-40B4-BE49-F238E27FC236}">
                <a16:creationId xmlns:a16="http://schemas.microsoft.com/office/drawing/2014/main" id="{87911060-9864-4401-A4CD-1C528B0F9DBB}"/>
              </a:ext>
            </a:extLst>
          </p:cNvPr>
          <p:cNvSpPr txBox="1">
            <a:spLocks noChangeArrowheads="1"/>
          </p:cNvSpPr>
          <p:nvPr/>
        </p:nvSpPr>
        <p:spPr bwMode="auto">
          <a:xfrm>
            <a:off x="4191001" y="1371600"/>
            <a:ext cx="441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12</a:t>
            </a:r>
          </a:p>
        </p:txBody>
      </p:sp>
      <p:sp>
        <p:nvSpPr>
          <p:cNvPr id="21529" name="TextBox 22">
            <a:extLst>
              <a:ext uri="{FF2B5EF4-FFF2-40B4-BE49-F238E27FC236}">
                <a16:creationId xmlns:a16="http://schemas.microsoft.com/office/drawing/2014/main" id="{87490968-19EF-42E2-AE0A-771519FED27B}"/>
              </a:ext>
            </a:extLst>
          </p:cNvPr>
          <p:cNvSpPr txBox="1">
            <a:spLocks noChangeArrowheads="1"/>
          </p:cNvSpPr>
          <p:nvPr/>
        </p:nvSpPr>
        <p:spPr bwMode="auto">
          <a:xfrm>
            <a:off x="2987676" y="1839914"/>
            <a:ext cx="4413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16</a:t>
            </a:r>
          </a:p>
        </p:txBody>
      </p:sp>
      <p:sp>
        <p:nvSpPr>
          <p:cNvPr id="21530" name="TextBox 23">
            <a:extLst>
              <a:ext uri="{FF2B5EF4-FFF2-40B4-BE49-F238E27FC236}">
                <a16:creationId xmlns:a16="http://schemas.microsoft.com/office/drawing/2014/main" id="{00588ECC-166C-469B-8326-40F8F8467C71}"/>
              </a:ext>
            </a:extLst>
          </p:cNvPr>
          <p:cNvSpPr txBox="1">
            <a:spLocks noChangeArrowheads="1"/>
          </p:cNvSpPr>
          <p:nvPr/>
        </p:nvSpPr>
        <p:spPr bwMode="auto">
          <a:xfrm>
            <a:off x="4335464" y="2286000"/>
            <a:ext cx="3127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9</a:t>
            </a:r>
          </a:p>
        </p:txBody>
      </p:sp>
      <p:sp>
        <p:nvSpPr>
          <p:cNvPr id="21531" name="TextBox 24">
            <a:extLst>
              <a:ext uri="{FF2B5EF4-FFF2-40B4-BE49-F238E27FC236}">
                <a16:creationId xmlns:a16="http://schemas.microsoft.com/office/drawing/2014/main" id="{B3083FE5-F664-446E-AC9D-75C46EC87412}"/>
              </a:ext>
            </a:extLst>
          </p:cNvPr>
          <p:cNvSpPr txBox="1">
            <a:spLocks noChangeArrowheads="1"/>
          </p:cNvSpPr>
          <p:nvPr/>
        </p:nvSpPr>
        <p:spPr bwMode="auto">
          <a:xfrm>
            <a:off x="3352800" y="2373314"/>
            <a:ext cx="3127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4</a:t>
            </a:r>
          </a:p>
        </p:txBody>
      </p:sp>
      <p:sp>
        <p:nvSpPr>
          <p:cNvPr id="21532" name="TextBox 25">
            <a:extLst>
              <a:ext uri="{FF2B5EF4-FFF2-40B4-BE49-F238E27FC236}">
                <a16:creationId xmlns:a16="http://schemas.microsoft.com/office/drawing/2014/main" id="{86DA2A40-1008-4E20-899A-8F6CCF30B70E}"/>
              </a:ext>
            </a:extLst>
          </p:cNvPr>
          <p:cNvSpPr txBox="1">
            <a:spLocks noChangeArrowheads="1"/>
          </p:cNvSpPr>
          <p:nvPr/>
        </p:nvSpPr>
        <p:spPr bwMode="auto">
          <a:xfrm>
            <a:off x="3733801" y="2438400"/>
            <a:ext cx="441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10</a:t>
            </a:r>
          </a:p>
        </p:txBody>
      </p:sp>
      <p:sp>
        <p:nvSpPr>
          <p:cNvPr id="21533" name="TextBox 26">
            <a:extLst>
              <a:ext uri="{FF2B5EF4-FFF2-40B4-BE49-F238E27FC236}">
                <a16:creationId xmlns:a16="http://schemas.microsoft.com/office/drawing/2014/main" id="{4E9FC34E-1FB6-4C75-B869-46B13E4EBB87}"/>
              </a:ext>
            </a:extLst>
          </p:cNvPr>
          <p:cNvSpPr txBox="1">
            <a:spLocks noChangeArrowheads="1"/>
          </p:cNvSpPr>
          <p:nvPr/>
        </p:nvSpPr>
        <p:spPr bwMode="auto">
          <a:xfrm>
            <a:off x="4191001" y="3668714"/>
            <a:ext cx="4413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14</a:t>
            </a:r>
          </a:p>
        </p:txBody>
      </p:sp>
      <p:sp>
        <p:nvSpPr>
          <p:cNvPr id="21534" name="TextBox 27">
            <a:extLst>
              <a:ext uri="{FF2B5EF4-FFF2-40B4-BE49-F238E27FC236}">
                <a16:creationId xmlns:a16="http://schemas.microsoft.com/office/drawing/2014/main" id="{1FE12CC2-D81F-4D00-AB2F-F3DC2D445479}"/>
              </a:ext>
            </a:extLst>
          </p:cNvPr>
          <p:cNvSpPr txBox="1">
            <a:spLocks noChangeArrowheads="1"/>
          </p:cNvSpPr>
          <p:nvPr/>
        </p:nvSpPr>
        <p:spPr bwMode="auto">
          <a:xfrm>
            <a:off x="4945064" y="2438400"/>
            <a:ext cx="3127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7</a:t>
            </a:r>
          </a:p>
        </p:txBody>
      </p:sp>
      <p:sp>
        <p:nvSpPr>
          <p:cNvPr id="21535" name="TextBox 28">
            <a:extLst>
              <a:ext uri="{FF2B5EF4-FFF2-40B4-BE49-F238E27FC236}">
                <a16:creationId xmlns:a16="http://schemas.microsoft.com/office/drawing/2014/main" id="{6276481A-765C-4535-A9A3-96C7989754D2}"/>
              </a:ext>
            </a:extLst>
          </p:cNvPr>
          <p:cNvSpPr txBox="1">
            <a:spLocks noChangeArrowheads="1"/>
          </p:cNvSpPr>
          <p:nvPr/>
        </p:nvSpPr>
        <p:spPr bwMode="auto">
          <a:xfrm>
            <a:off x="5486401" y="1763714"/>
            <a:ext cx="4413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20</a:t>
            </a:r>
          </a:p>
        </p:txBody>
      </p:sp>
      <p:sp>
        <p:nvSpPr>
          <p:cNvPr id="21536" name="TextBox 29">
            <a:extLst>
              <a:ext uri="{FF2B5EF4-FFF2-40B4-BE49-F238E27FC236}">
                <a16:creationId xmlns:a16="http://schemas.microsoft.com/office/drawing/2014/main" id="{C16DC434-3108-4ED6-9D78-6E3A7563A1DE}"/>
              </a:ext>
            </a:extLst>
          </p:cNvPr>
          <p:cNvSpPr txBox="1">
            <a:spLocks noChangeArrowheads="1"/>
          </p:cNvSpPr>
          <p:nvPr/>
        </p:nvSpPr>
        <p:spPr bwMode="auto">
          <a:xfrm>
            <a:off x="5502275" y="3200400"/>
            <a:ext cx="312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4</a:t>
            </a:r>
          </a:p>
        </p:txBody>
      </p:sp>
      <p:sp>
        <p:nvSpPr>
          <p:cNvPr id="21556" name="TextBox 47">
            <a:extLst>
              <a:ext uri="{FF2B5EF4-FFF2-40B4-BE49-F238E27FC236}">
                <a16:creationId xmlns:a16="http://schemas.microsoft.com/office/drawing/2014/main" id="{5E00C10E-6CF0-4079-BFFE-07F3563362D9}"/>
              </a:ext>
            </a:extLst>
          </p:cNvPr>
          <p:cNvSpPr txBox="1">
            <a:spLocks noChangeArrowheads="1"/>
          </p:cNvSpPr>
          <p:nvPr/>
        </p:nvSpPr>
        <p:spPr bwMode="auto">
          <a:xfrm>
            <a:off x="7162801" y="4419601"/>
            <a:ext cx="32750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a:t>Here is an example of a </a:t>
            </a:r>
            <a:r>
              <a:rPr lang="en-US" altLang="en-US" b="1" i="1">
                <a:solidFill>
                  <a:srgbClr val="7030A0"/>
                </a:solidFill>
              </a:rPr>
              <a:t>flow</a:t>
            </a:r>
          </a:p>
          <a:p>
            <a:pPr eaLnBrk="1" hangingPunct="1"/>
            <a:r>
              <a:rPr lang="en-US" altLang="en-US" b="1"/>
              <a:t>in the graph.</a:t>
            </a:r>
          </a:p>
        </p:txBody>
      </p:sp>
      <p:sp>
        <p:nvSpPr>
          <p:cNvPr id="21538" name="TextBox 57">
            <a:extLst>
              <a:ext uri="{FF2B5EF4-FFF2-40B4-BE49-F238E27FC236}">
                <a16:creationId xmlns:a16="http://schemas.microsoft.com/office/drawing/2014/main" id="{8D2CE415-45ED-495E-8D7A-19221D408519}"/>
              </a:ext>
            </a:extLst>
          </p:cNvPr>
          <p:cNvSpPr txBox="1">
            <a:spLocks noChangeArrowheads="1"/>
          </p:cNvSpPr>
          <p:nvPr/>
        </p:nvSpPr>
        <p:spPr bwMode="auto">
          <a:xfrm>
            <a:off x="2911476" y="3124200"/>
            <a:ext cx="441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13</a:t>
            </a:r>
          </a:p>
        </p:txBody>
      </p:sp>
      <p:sp>
        <p:nvSpPr>
          <p:cNvPr id="60" name="Oval 59">
            <a:extLst>
              <a:ext uri="{FF2B5EF4-FFF2-40B4-BE49-F238E27FC236}">
                <a16:creationId xmlns:a16="http://schemas.microsoft.com/office/drawing/2014/main" id="{B1B28B7A-B825-436B-9EF4-1969C4626D5D}"/>
              </a:ext>
            </a:extLst>
          </p:cNvPr>
          <p:cNvSpPr/>
          <p:nvPr/>
        </p:nvSpPr>
        <p:spPr>
          <a:xfrm>
            <a:off x="7772400" y="1563688"/>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a</a:t>
            </a:r>
          </a:p>
        </p:txBody>
      </p:sp>
      <p:sp>
        <p:nvSpPr>
          <p:cNvPr id="61" name="Oval 60">
            <a:extLst>
              <a:ext uri="{FF2B5EF4-FFF2-40B4-BE49-F238E27FC236}">
                <a16:creationId xmlns:a16="http://schemas.microsoft.com/office/drawing/2014/main" id="{ED3C615A-BC06-44C7-A468-D3C272B7446B}"/>
              </a:ext>
            </a:extLst>
          </p:cNvPr>
          <p:cNvSpPr/>
          <p:nvPr/>
        </p:nvSpPr>
        <p:spPr>
          <a:xfrm>
            <a:off x="7086600" y="2630488"/>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s</a:t>
            </a:r>
          </a:p>
        </p:txBody>
      </p:sp>
      <p:sp>
        <p:nvSpPr>
          <p:cNvPr id="62" name="Oval 61">
            <a:extLst>
              <a:ext uri="{FF2B5EF4-FFF2-40B4-BE49-F238E27FC236}">
                <a16:creationId xmlns:a16="http://schemas.microsoft.com/office/drawing/2014/main" id="{C8534D72-C728-400F-90A6-F9265D56F18F}"/>
              </a:ext>
            </a:extLst>
          </p:cNvPr>
          <p:cNvSpPr/>
          <p:nvPr/>
        </p:nvSpPr>
        <p:spPr>
          <a:xfrm>
            <a:off x="7772400" y="3621088"/>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c</a:t>
            </a:r>
          </a:p>
        </p:txBody>
      </p:sp>
      <p:sp>
        <p:nvSpPr>
          <p:cNvPr id="63" name="Oval 62">
            <a:extLst>
              <a:ext uri="{FF2B5EF4-FFF2-40B4-BE49-F238E27FC236}">
                <a16:creationId xmlns:a16="http://schemas.microsoft.com/office/drawing/2014/main" id="{70F2213A-9953-4710-B40A-38DC2813022E}"/>
              </a:ext>
            </a:extLst>
          </p:cNvPr>
          <p:cNvSpPr/>
          <p:nvPr/>
        </p:nvSpPr>
        <p:spPr>
          <a:xfrm>
            <a:off x="9220200" y="1563688"/>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b</a:t>
            </a:r>
          </a:p>
        </p:txBody>
      </p:sp>
      <p:sp>
        <p:nvSpPr>
          <p:cNvPr id="64" name="Oval 63">
            <a:extLst>
              <a:ext uri="{FF2B5EF4-FFF2-40B4-BE49-F238E27FC236}">
                <a16:creationId xmlns:a16="http://schemas.microsoft.com/office/drawing/2014/main" id="{8C8ABF68-4FE6-44AC-9616-AF5C913DBA1F}"/>
              </a:ext>
            </a:extLst>
          </p:cNvPr>
          <p:cNvSpPr/>
          <p:nvPr/>
        </p:nvSpPr>
        <p:spPr>
          <a:xfrm>
            <a:off x="9220200" y="3621088"/>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d</a:t>
            </a:r>
          </a:p>
        </p:txBody>
      </p:sp>
      <p:sp>
        <p:nvSpPr>
          <p:cNvPr id="65" name="Oval 64">
            <a:extLst>
              <a:ext uri="{FF2B5EF4-FFF2-40B4-BE49-F238E27FC236}">
                <a16:creationId xmlns:a16="http://schemas.microsoft.com/office/drawing/2014/main" id="{C172E4E5-E827-4425-A1DB-AC10E8FFF11D}"/>
              </a:ext>
            </a:extLst>
          </p:cNvPr>
          <p:cNvSpPr/>
          <p:nvPr/>
        </p:nvSpPr>
        <p:spPr>
          <a:xfrm>
            <a:off x="9982200" y="2630488"/>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t</a:t>
            </a:r>
          </a:p>
        </p:txBody>
      </p:sp>
      <p:cxnSp>
        <p:nvCxnSpPr>
          <p:cNvPr id="66" name="Straight Arrow Connector 65">
            <a:extLst>
              <a:ext uri="{FF2B5EF4-FFF2-40B4-BE49-F238E27FC236}">
                <a16:creationId xmlns:a16="http://schemas.microsoft.com/office/drawing/2014/main" id="{2C37DF5B-7F08-4622-A98F-BA2ED155FD10}"/>
              </a:ext>
            </a:extLst>
          </p:cNvPr>
          <p:cNvCxnSpPr>
            <a:stCxn id="60" idx="6"/>
            <a:endCxn id="63" idx="2"/>
          </p:cNvCxnSpPr>
          <p:nvPr/>
        </p:nvCxnSpPr>
        <p:spPr>
          <a:xfrm>
            <a:off x="8229600" y="1792289"/>
            <a:ext cx="990600" cy="1587"/>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76DA3C22-50C7-4BAF-BE6F-81F71480B6D5}"/>
              </a:ext>
            </a:extLst>
          </p:cNvPr>
          <p:cNvCxnSpPr>
            <a:stCxn id="61" idx="0"/>
            <a:endCxn id="60" idx="3"/>
          </p:cNvCxnSpPr>
          <p:nvPr/>
        </p:nvCxnSpPr>
        <p:spPr>
          <a:xfrm rot="5400000" flipH="1" flipV="1">
            <a:off x="7239001" y="2030414"/>
            <a:ext cx="676275" cy="523875"/>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D5A99BAC-B4E5-4AC7-BF16-209BFD939EAD}"/>
              </a:ext>
            </a:extLst>
          </p:cNvPr>
          <p:cNvCxnSpPr>
            <a:stCxn id="61" idx="4"/>
            <a:endCxn id="62" idx="1"/>
          </p:cNvCxnSpPr>
          <p:nvPr/>
        </p:nvCxnSpPr>
        <p:spPr>
          <a:xfrm rot="16200000" flipH="1">
            <a:off x="7277101" y="3125789"/>
            <a:ext cx="600075" cy="523875"/>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831A4662-E5B0-45C6-8C6B-8C1103A385FC}"/>
              </a:ext>
            </a:extLst>
          </p:cNvPr>
          <p:cNvCxnSpPr>
            <a:stCxn id="62" idx="6"/>
            <a:endCxn id="64" idx="2"/>
          </p:cNvCxnSpPr>
          <p:nvPr/>
        </p:nvCxnSpPr>
        <p:spPr>
          <a:xfrm>
            <a:off x="8229600" y="3849689"/>
            <a:ext cx="990600" cy="1587"/>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7F1A7A7A-C032-4B1C-A00A-624AB240E30F}"/>
              </a:ext>
            </a:extLst>
          </p:cNvPr>
          <p:cNvCxnSpPr>
            <a:stCxn id="64" idx="7"/>
            <a:endCxn id="65" idx="4"/>
          </p:cNvCxnSpPr>
          <p:nvPr/>
        </p:nvCxnSpPr>
        <p:spPr>
          <a:xfrm rot="5400000" flipH="1" flipV="1">
            <a:off x="9610726" y="3087689"/>
            <a:ext cx="600075" cy="600075"/>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911A0AC3-41EF-47FE-92E5-12A82D47D216}"/>
              </a:ext>
            </a:extLst>
          </p:cNvPr>
          <p:cNvCxnSpPr>
            <a:stCxn id="63" idx="5"/>
            <a:endCxn id="65" idx="0"/>
          </p:cNvCxnSpPr>
          <p:nvPr/>
        </p:nvCxnSpPr>
        <p:spPr>
          <a:xfrm rot="16200000" flipH="1">
            <a:off x="9572626" y="1992314"/>
            <a:ext cx="676275" cy="600075"/>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3A5E5FDC-18E9-485F-B1B0-F701442EFFBD}"/>
              </a:ext>
            </a:extLst>
          </p:cNvPr>
          <p:cNvCxnSpPr/>
          <p:nvPr/>
        </p:nvCxnSpPr>
        <p:spPr>
          <a:xfrm rot="5400000" flipH="1" flipV="1">
            <a:off x="7276307" y="2820195"/>
            <a:ext cx="1600200" cy="1587"/>
          </a:xfrm>
          <a:prstGeom prst="straightConnector1">
            <a:avLst/>
          </a:prstGeom>
          <a:ln w="19050">
            <a:solidFill>
              <a:schemeClr val="tx1"/>
            </a:solidFill>
            <a:headEnd type="stealth" w="lg" len="lg"/>
            <a:tailEnd type="none" w="lg" len="lg"/>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CB264321-27E0-4E0D-9B51-21F8A355DEBA}"/>
              </a:ext>
            </a:extLst>
          </p:cNvPr>
          <p:cNvCxnSpPr>
            <a:stCxn id="64" idx="0"/>
            <a:endCxn id="63" idx="4"/>
          </p:cNvCxnSpPr>
          <p:nvPr/>
        </p:nvCxnSpPr>
        <p:spPr>
          <a:xfrm rot="5400000" flipH="1" flipV="1">
            <a:off x="8648701" y="2819401"/>
            <a:ext cx="1600200" cy="317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E743D2F2-5F27-45DD-8344-3BCE382087A3}"/>
              </a:ext>
            </a:extLst>
          </p:cNvPr>
          <p:cNvCxnSpPr>
            <a:stCxn id="63" idx="3"/>
            <a:endCxn id="62" idx="7"/>
          </p:cNvCxnSpPr>
          <p:nvPr/>
        </p:nvCxnSpPr>
        <p:spPr>
          <a:xfrm rot="5400000">
            <a:off x="7858125" y="2259013"/>
            <a:ext cx="1733550" cy="1123950"/>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8DEFC9BE-2905-40E4-A1D1-FE8D0F3CDBC3}"/>
              </a:ext>
            </a:extLst>
          </p:cNvPr>
          <p:cNvCxnSpPr/>
          <p:nvPr/>
        </p:nvCxnSpPr>
        <p:spPr>
          <a:xfrm rot="5400000" flipH="1" flipV="1">
            <a:off x="7125494" y="2820194"/>
            <a:ext cx="1600200" cy="1588"/>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76" name="Rectangle 75">
            <a:extLst>
              <a:ext uri="{FF2B5EF4-FFF2-40B4-BE49-F238E27FC236}">
                <a16:creationId xmlns:a16="http://schemas.microsoft.com/office/drawing/2014/main" id="{47417C80-495A-4A51-A155-67FDF8B2DB4A}"/>
              </a:ext>
            </a:extLst>
          </p:cNvPr>
          <p:cNvSpPr/>
          <p:nvPr/>
        </p:nvSpPr>
        <p:spPr>
          <a:xfrm>
            <a:off x="6858000" y="1219200"/>
            <a:ext cx="3657600" cy="3200400"/>
          </a:xfrm>
          <a:prstGeom prst="rect">
            <a:avLst/>
          </a:prstGeom>
          <a:noFill/>
          <a:ln>
            <a:gradFill>
              <a:gsLst>
                <a:gs pos="0">
                  <a:srgbClr val="A603AB"/>
                </a:gs>
                <a:gs pos="21001">
                  <a:srgbClr val="0819FB"/>
                </a:gs>
                <a:gs pos="35001">
                  <a:srgbClr val="1A8D48"/>
                </a:gs>
                <a:gs pos="52000">
                  <a:srgbClr val="FFFF00"/>
                </a:gs>
                <a:gs pos="73000">
                  <a:srgbClr val="EE3F17"/>
                </a:gs>
                <a:gs pos="88000">
                  <a:srgbClr val="E81766"/>
                </a:gs>
                <a:gs pos="100000">
                  <a:srgbClr val="A603AB"/>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7" name="TextBox 20">
            <a:extLst>
              <a:ext uri="{FF2B5EF4-FFF2-40B4-BE49-F238E27FC236}">
                <a16:creationId xmlns:a16="http://schemas.microsoft.com/office/drawing/2014/main" id="{0F7572A7-5560-412E-A32D-DD502776FF77}"/>
              </a:ext>
            </a:extLst>
          </p:cNvPr>
          <p:cNvSpPr txBox="1">
            <a:spLocks noChangeArrowheads="1"/>
          </p:cNvSpPr>
          <p:nvPr/>
        </p:nvSpPr>
        <p:spPr bwMode="auto">
          <a:xfrm>
            <a:off x="8382001" y="1487489"/>
            <a:ext cx="69691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12/12</a:t>
            </a:r>
          </a:p>
        </p:txBody>
      </p:sp>
      <p:sp>
        <p:nvSpPr>
          <p:cNvPr id="78" name="TextBox 21">
            <a:extLst>
              <a:ext uri="{FF2B5EF4-FFF2-40B4-BE49-F238E27FC236}">
                <a16:creationId xmlns:a16="http://schemas.microsoft.com/office/drawing/2014/main" id="{E6E45C36-89C4-4437-B4B0-FFD472A63396}"/>
              </a:ext>
            </a:extLst>
          </p:cNvPr>
          <p:cNvSpPr txBox="1">
            <a:spLocks noChangeArrowheads="1"/>
          </p:cNvSpPr>
          <p:nvPr/>
        </p:nvSpPr>
        <p:spPr bwMode="auto">
          <a:xfrm>
            <a:off x="7010401" y="1955800"/>
            <a:ext cx="6969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12/16</a:t>
            </a:r>
          </a:p>
        </p:txBody>
      </p:sp>
      <p:sp>
        <p:nvSpPr>
          <p:cNvPr id="79" name="TextBox 22">
            <a:extLst>
              <a:ext uri="{FF2B5EF4-FFF2-40B4-BE49-F238E27FC236}">
                <a16:creationId xmlns:a16="http://schemas.microsoft.com/office/drawing/2014/main" id="{C884F9D6-BFBB-4459-9721-25ED3B21EF87}"/>
              </a:ext>
            </a:extLst>
          </p:cNvPr>
          <p:cNvSpPr txBox="1">
            <a:spLocks noChangeArrowheads="1"/>
          </p:cNvSpPr>
          <p:nvPr/>
        </p:nvSpPr>
        <p:spPr bwMode="auto">
          <a:xfrm>
            <a:off x="8534400" y="2214564"/>
            <a:ext cx="4699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0/9</a:t>
            </a:r>
          </a:p>
        </p:txBody>
      </p:sp>
      <p:sp>
        <p:nvSpPr>
          <p:cNvPr id="80" name="TextBox 23">
            <a:extLst>
              <a:ext uri="{FF2B5EF4-FFF2-40B4-BE49-F238E27FC236}">
                <a16:creationId xmlns:a16="http://schemas.microsoft.com/office/drawing/2014/main" id="{5D024E26-A6EF-4884-BB7B-67FF852913E2}"/>
              </a:ext>
            </a:extLst>
          </p:cNvPr>
          <p:cNvSpPr txBox="1">
            <a:spLocks noChangeArrowheads="1"/>
          </p:cNvSpPr>
          <p:nvPr/>
        </p:nvSpPr>
        <p:spPr bwMode="auto">
          <a:xfrm>
            <a:off x="7496175" y="2519364"/>
            <a:ext cx="4699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0/4</a:t>
            </a:r>
          </a:p>
        </p:txBody>
      </p:sp>
      <p:sp>
        <p:nvSpPr>
          <p:cNvPr id="81" name="TextBox 24">
            <a:extLst>
              <a:ext uri="{FF2B5EF4-FFF2-40B4-BE49-F238E27FC236}">
                <a16:creationId xmlns:a16="http://schemas.microsoft.com/office/drawing/2014/main" id="{6B0C6723-11B1-4A3B-B601-BAA46599F126}"/>
              </a:ext>
            </a:extLst>
          </p:cNvPr>
          <p:cNvSpPr txBox="1">
            <a:spLocks noChangeArrowheads="1"/>
          </p:cNvSpPr>
          <p:nvPr/>
        </p:nvSpPr>
        <p:spPr bwMode="auto">
          <a:xfrm>
            <a:off x="8001000" y="2554289"/>
            <a:ext cx="5842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0/10</a:t>
            </a:r>
          </a:p>
        </p:txBody>
      </p:sp>
      <p:sp>
        <p:nvSpPr>
          <p:cNvPr id="82" name="TextBox 32">
            <a:extLst>
              <a:ext uri="{FF2B5EF4-FFF2-40B4-BE49-F238E27FC236}">
                <a16:creationId xmlns:a16="http://schemas.microsoft.com/office/drawing/2014/main" id="{16CC754E-D9BE-4F56-A026-1B41CEBFCD75}"/>
              </a:ext>
            </a:extLst>
          </p:cNvPr>
          <p:cNvSpPr txBox="1">
            <a:spLocks noChangeArrowheads="1"/>
          </p:cNvSpPr>
          <p:nvPr/>
        </p:nvSpPr>
        <p:spPr bwMode="auto">
          <a:xfrm>
            <a:off x="8458201" y="3821114"/>
            <a:ext cx="6826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11/14</a:t>
            </a:r>
          </a:p>
        </p:txBody>
      </p:sp>
      <p:sp>
        <p:nvSpPr>
          <p:cNvPr id="83" name="TextBox 33">
            <a:extLst>
              <a:ext uri="{FF2B5EF4-FFF2-40B4-BE49-F238E27FC236}">
                <a16:creationId xmlns:a16="http://schemas.microsoft.com/office/drawing/2014/main" id="{924DD538-61CE-4D2E-A7CA-F03B734A2C2E}"/>
              </a:ext>
            </a:extLst>
          </p:cNvPr>
          <p:cNvSpPr txBox="1">
            <a:spLocks noChangeArrowheads="1"/>
          </p:cNvSpPr>
          <p:nvPr/>
        </p:nvSpPr>
        <p:spPr bwMode="auto">
          <a:xfrm>
            <a:off x="9769475" y="3352800"/>
            <a:ext cx="4699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4/4</a:t>
            </a:r>
          </a:p>
        </p:txBody>
      </p:sp>
      <p:sp>
        <p:nvSpPr>
          <p:cNvPr id="84" name="TextBox 41">
            <a:extLst>
              <a:ext uri="{FF2B5EF4-FFF2-40B4-BE49-F238E27FC236}">
                <a16:creationId xmlns:a16="http://schemas.microsoft.com/office/drawing/2014/main" id="{182B44A3-209F-4B31-BB92-748ED808BAA4}"/>
              </a:ext>
            </a:extLst>
          </p:cNvPr>
          <p:cNvSpPr txBox="1">
            <a:spLocks noChangeArrowheads="1"/>
          </p:cNvSpPr>
          <p:nvPr/>
        </p:nvSpPr>
        <p:spPr bwMode="auto">
          <a:xfrm>
            <a:off x="9055100" y="2667000"/>
            <a:ext cx="4699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7/7</a:t>
            </a:r>
          </a:p>
        </p:txBody>
      </p:sp>
      <p:sp>
        <p:nvSpPr>
          <p:cNvPr id="85" name="TextBox 42">
            <a:extLst>
              <a:ext uri="{FF2B5EF4-FFF2-40B4-BE49-F238E27FC236}">
                <a16:creationId xmlns:a16="http://schemas.microsoft.com/office/drawing/2014/main" id="{D139DEF2-823C-4EE2-8EF6-3B641827DBDD}"/>
              </a:ext>
            </a:extLst>
          </p:cNvPr>
          <p:cNvSpPr txBox="1">
            <a:spLocks noChangeArrowheads="1"/>
          </p:cNvSpPr>
          <p:nvPr/>
        </p:nvSpPr>
        <p:spPr bwMode="auto">
          <a:xfrm>
            <a:off x="9753601" y="1905000"/>
            <a:ext cx="6969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19/20</a:t>
            </a:r>
          </a:p>
        </p:txBody>
      </p:sp>
      <p:sp>
        <p:nvSpPr>
          <p:cNvPr id="86" name="TextBox 44">
            <a:extLst>
              <a:ext uri="{FF2B5EF4-FFF2-40B4-BE49-F238E27FC236}">
                <a16:creationId xmlns:a16="http://schemas.microsoft.com/office/drawing/2014/main" id="{55065647-BF81-48D6-B997-A8F9860F845F}"/>
              </a:ext>
            </a:extLst>
          </p:cNvPr>
          <p:cNvSpPr txBox="1">
            <a:spLocks noChangeArrowheads="1"/>
          </p:cNvSpPr>
          <p:nvPr/>
        </p:nvSpPr>
        <p:spPr bwMode="auto">
          <a:xfrm>
            <a:off x="7010401" y="3352800"/>
            <a:ext cx="6826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11/13</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55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7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8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86"/>
                                        </p:tgtEl>
                                        <p:attrNameLst>
                                          <p:attrName>style.visibility</p:attrName>
                                        </p:attrNameLst>
                                      </p:cBhvr>
                                      <p:to>
                                        <p:strVal val="visibl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nodeType="clickEffect">
                                  <p:stCondLst>
                                    <p:cond delay="0"/>
                                  </p:stCondLst>
                                  <p:childTnLst>
                                    <p:set>
                                      <p:cBhvr>
                                        <p:cTn id="64" dur="1" fill="hold">
                                          <p:stCondLst>
                                            <p:cond delay="0"/>
                                          </p:stCondLst>
                                        </p:cTn>
                                        <p:tgtEl>
                                          <p:spTgt spid="3">
                                            <p:txEl>
                                              <p:pRg st="0" end="0"/>
                                            </p:txEl>
                                          </p:spTgt>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56" grpId="0"/>
      <p:bldP spid="60" grpId="0" animBg="1"/>
      <p:bldP spid="61" grpId="0" animBg="1"/>
      <p:bldP spid="62" grpId="0" animBg="1"/>
      <p:bldP spid="63" grpId="0" animBg="1"/>
      <p:bldP spid="64" grpId="0" animBg="1"/>
      <p:bldP spid="65" grpId="0" animBg="1"/>
      <p:bldP spid="77" grpId="0"/>
      <p:bldP spid="78" grpId="0"/>
      <p:bldP spid="79" grpId="0"/>
      <p:bldP spid="80" grpId="0"/>
      <p:bldP spid="81" grpId="0"/>
      <p:bldP spid="82" grpId="0"/>
      <p:bldP spid="83" grpId="0"/>
      <p:bldP spid="84" grpId="0"/>
      <p:bldP spid="85" grpId="0"/>
      <p:bldP spid="8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FE36CF-CF69-4523-AFB7-A1A8A3FA0150}"/>
              </a:ext>
            </a:extLst>
          </p:cNvPr>
          <p:cNvSpPr>
            <a:spLocks noGrp="1"/>
          </p:cNvSpPr>
          <p:nvPr>
            <p:ph idx="1"/>
          </p:nvPr>
        </p:nvSpPr>
        <p:spPr>
          <a:xfrm>
            <a:off x="2362200" y="3810000"/>
            <a:ext cx="8305800" cy="3048000"/>
          </a:xfrm>
        </p:spPr>
        <p:txBody>
          <a:bodyPr>
            <a:noAutofit/>
          </a:bodyPr>
          <a:lstStyle/>
          <a:p>
            <a:pPr>
              <a:defRPr/>
            </a:pPr>
            <a:r>
              <a:rPr lang="en-US" sz="2000" b="1" i="1" u="sng" dirty="0">
                <a:latin typeface="Times New Roman" panose="02020603050405020304" pitchFamily="18" charset="0"/>
                <a:cs typeface="Times New Roman" panose="02020603050405020304" pitchFamily="18" charset="0"/>
              </a:rPr>
              <a:t>The Conservation Rule:</a:t>
            </a:r>
          </a:p>
          <a:p>
            <a:pPr lvl="1">
              <a:defRPr/>
            </a:pPr>
            <a:r>
              <a:rPr lang="en-US" sz="2000" dirty="0">
                <a:latin typeface="Times New Roman" panose="02020603050405020304" pitchFamily="18" charset="0"/>
                <a:cs typeface="Times New Roman" panose="02020603050405020304" pitchFamily="18" charset="0"/>
              </a:rPr>
              <a:t>In order for the assignment of flows to be valid, we must have the sum of flow coming into a vertex equal to the flow coming out of a vertex, for each vertex in the graph except the source and the sink. </a:t>
            </a:r>
            <a:endParaRPr lang="en-US" sz="2000" i="1" dirty="0">
              <a:latin typeface="Times New Roman" panose="02020603050405020304" pitchFamily="18" charset="0"/>
              <a:cs typeface="Times New Roman" panose="02020603050405020304" pitchFamily="18" charset="0"/>
            </a:endParaRPr>
          </a:p>
          <a:p>
            <a:pPr>
              <a:defRPr/>
            </a:pPr>
            <a:r>
              <a:rPr lang="en-US" sz="2000" b="1" i="1" u="sng" dirty="0">
                <a:latin typeface="Times New Roman" panose="02020603050405020304" pitchFamily="18" charset="0"/>
                <a:cs typeface="Times New Roman" panose="02020603050405020304" pitchFamily="18" charset="0"/>
              </a:rPr>
              <a:t>The Capacity Rule:</a:t>
            </a:r>
          </a:p>
          <a:p>
            <a:pPr lvl="1">
              <a:defRPr/>
            </a:pPr>
            <a:r>
              <a:rPr lang="en-US" sz="2000" dirty="0">
                <a:latin typeface="Times New Roman" panose="02020603050405020304" pitchFamily="18" charset="0"/>
                <a:cs typeface="Times New Roman" panose="02020603050405020304" pitchFamily="18" charset="0"/>
              </a:rPr>
              <a:t>Also, each flow must be less than or equal to the capacity of the edge. </a:t>
            </a:r>
          </a:p>
          <a:p>
            <a:pPr>
              <a:defRPr/>
            </a:pPr>
            <a:r>
              <a:rPr lang="en-US" sz="2000" dirty="0">
                <a:latin typeface="Times New Roman" panose="02020603050405020304" pitchFamily="18" charset="0"/>
                <a:cs typeface="Times New Roman" panose="02020603050405020304" pitchFamily="18" charset="0"/>
              </a:rPr>
              <a:t>The </a:t>
            </a:r>
            <a:r>
              <a:rPr lang="en-US" sz="2000" b="1" i="1" dirty="0">
                <a:latin typeface="Times New Roman" panose="02020603050405020304" pitchFamily="18" charset="0"/>
                <a:cs typeface="Times New Roman" panose="02020603050405020304" pitchFamily="18" charset="0"/>
              </a:rPr>
              <a:t>flow of the network </a:t>
            </a:r>
            <a:r>
              <a:rPr lang="en-US" sz="2000" dirty="0">
                <a:latin typeface="Times New Roman" panose="02020603050405020304" pitchFamily="18" charset="0"/>
                <a:cs typeface="Times New Roman" panose="02020603050405020304" pitchFamily="18" charset="0"/>
              </a:rPr>
              <a:t>is defined as the flow from the source, or into the sink.</a:t>
            </a:r>
          </a:p>
          <a:p>
            <a:pPr lvl="1">
              <a:defRPr/>
            </a:pPr>
            <a:r>
              <a:rPr lang="en-US" sz="2000" dirty="0">
                <a:latin typeface="Times New Roman" panose="02020603050405020304" pitchFamily="18" charset="0"/>
                <a:cs typeface="Times New Roman" panose="02020603050405020304" pitchFamily="18" charset="0"/>
              </a:rPr>
              <a:t>For the situation above, the network flow is 23.</a:t>
            </a:r>
          </a:p>
        </p:txBody>
      </p:sp>
      <p:sp>
        <p:nvSpPr>
          <p:cNvPr id="4" name="Oval 3">
            <a:extLst>
              <a:ext uri="{FF2B5EF4-FFF2-40B4-BE49-F238E27FC236}">
                <a16:creationId xmlns:a16="http://schemas.microsoft.com/office/drawing/2014/main" id="{8A81FC41-A79E-49D2-B5D2-130FA107F8B8}"/>
              </a:ext>
            </a:extLst>
          </p:cNvPr>
          <p:cNvSpPr/>
          <p:nvPr/>
        </p:nvSpPr>
        <p:spPr>
          <a:xfrm>
            <a:off x="3505200" y="344488"/>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a</a:t>
            </a:r>
          </a:p>
        </p:txBody>
      </p:sp>
      <p:sp>
        <p:nvSpPr>
          <p:cNvPr id="5" name="Oval 4">
            <a:extLst>
              <a:ext uri="{FF2B5EF4-FFF2-40B4-BE49-F238E27FC236}">
                <a16:creationId xmlns:a16="http://schemas.microsoft.com/office/drawing/2014/main" id="{CB324D22-B617-441B-ABD1-32F16E4BAC62}"/>
              </a:ext>
            </a:extLst>
          </p:cNvPr>
          <p:cNvSpPr/>
          <p:nvPr/>
        </p:nvSpPr>
        <p:spPr>
          <a:xfrm>
            <a:off x="2819400" y="1411288"/>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s</a:t>
            </a:r>
          </a:p>
        </p:txBody>
      </p:sp>
      <p:sp>
        <p:nvSpPr>
          <p:cNvPr id="6" name="Oval 5">
            <a:extLst>
              <a:ext uri="{FF2B5EF4-FFF2-40B4-BE49-F238E27FC236}">
                <a16:creationId xmlns:a16="http://schemas.microsoft.com/office/drawing/2014/main" id="{43F6B715-8B8D-45E3-9A95-6E128D81EF2E}"/>
              </a:ext>
            </a:extLst>
          </p:cNvPr>
          <p:cNvSpPr/>
          <p:nvPr/>
        </p:nvSpPr>
        <p:spPr>
          <a:xfrm>
            <a:off x="3505200" y="2401888"/>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c</a:t>
            </a:r>
          </a:p>
        </p:txBody>
      </p:sp>
      <p:sp>
        <p:nvSpPr>
          <p:cNvPr id="7" name="Oval 6">
            <a:extLst>
              <a:ext uri="{FF2B5EF4-FFF2-40B4-BE49-F238E27FC236}">
                <a16:creationId xmlns:a16="http://schemas.microsoft.com/office/drawing/2014/main" id="{B94AC391-7836-453D-9CB3-8DBDE073D1C2}"/>
              </a:ext>
            </a:extLst>
          </p:cNvPr>
          <p:cNvSpPr/>
          <p:nvPr/>
        </p:nvSpPr>
        <p:spPr>
          <a:xfrm>
            <a:off x="4953000" y="344488"/>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b</a:t>
            </a:r>
          </a:p>
        </p:txBody>
      </p:sp>
      <p:sp>
        <p:nvSpPr>
          <p:cNvPr id="8" name="Oval 7">
            <a:extLst>
              <a:ext uri="{FF2B5EF4-FFF2-40B4-BE49-F238E27FC236}">
                <a16:creationId xmlns:a16="http://schemas.microsoft.com/office/drawing/2014/main" id="{7B593C39-F1BE-46EB-9B30-BF8956AED996}"/>
              </a:ext>
            </a:extLst>
          </p:cNvPr>
          <p:cNvSpPr/>
          <p:nvPr/>
        </p:nvSpPr>
        <p:spPr>
          <a:xfrm>
            <a:off x="4953000" y="2401888"/>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d</a:t>
            </a:r>
          </a:p>
        </p:txBody>
      </p:sp>
      <p:sp>
        <p:nvSpPr>
          <p:cNvPr id="9" name="Oval 8">
            <a:extLst>
              <a:ext uri="{FF2B5EF4-FFF2-40B4-BE49-F238E27FC236}">
                <a16:creationId xmlns:a16="http://schemas.microsoft.com/office/drawing/2014/main" id="{16728CFD-3FCE-4A07-9786-579D589F66E3}"/>
              </a:ext>
            </a:extLst>
          </p:cNvPr>
          <p:cNvSpPr/>
          <p:nvPr/>
        </p:nvSpPr>
        <p:spPr>
          <a:xfrm>
            <a:off x="5715000" y="1411288"/>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t</a:t>
            </a:r>
          </a:p>
        </p:txBody>
      </p:sp>
      <p:cxnSp>
        <p:nvCxnSpPr>
          <p:cNvPr id="10" name="Straight Arrow Connector 9">
            <a:extLst>
              <a:ext uri="{FF2B5EF4-FFF2-40B4-BE49-F238E27FC236}">
                <a16:creationId xmlns:a16="http://schemas.microsoft.com/office/drawing/2014/main" id="{22106E55-1C86-4DFD-9464-D28ADD4D8179}"/>
              </a:ext>
            </a:extLst>
          </p:cNvPr>
          <p:cNvCxnSpPr>
            <a:stCxn id="4" idx="6"/>
            <a:endCxn id="7" idx="2"/>
          </p:cNvCxnSpPr>
          <p:nvPr/>
        </p:nvCxnSpPr>
        <p:spPr>
          <a:xfrm>
            <a:off x="3962400" y="573089"/>
            <a:ext cx="990600" cy="1587"/>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4F360507-C14D-4B71-BE88-DFC17680A2FA}"/>
              </a:ext>
            </a:extLst>
          </p:cNvPr>
          <p:cNvCxnSpPr>
            <a:stCxn id="5" idx="0"/>
            <a:endCxn id="4" idx="3"/>
          </p:cNvCxnSpPr>
          <p:nvPr/>
        </p:nvCxnSpPr>
        <p:spPr>
          <a:xfrm rot="5400000" flipH="1" flipV="1">
            <a:off x="2971801" y="811214"/>
            <a:ext cx="676275" cy="52387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EDDD43D-30CB-459C-B061-46265D4552A5}"/>
              </a:ext>
            </a:extLst>
          </p:cNvPr>
          <p:cNvCxnSpPr>
            <a:stCxn id="5" idx="4"/>
            <a:endCxn id="6" idx="1"/>
          </p:cNvCxnSpPr>
          <p:nvPr/>
        </p:nvCxnSpPr>
        <p:spPr>
          <a:xfrm rot="16200000" flipH="1">
            <a:off x="3009901" y="1906589"/>
            <a:ext cx="600075" cy="52387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0851E16-C2E2-4F4C-91B5-80BE2A6B317A}"/>
              </a:ext>
            </a:extLst>
          </p:cNvPr>
          <p:cNvCxnSpPr>
            <a:stCxn id="6" idx="6"/>
            <a:endCxn id="8" idx="2"/>
          </p:cNvCxnSpPr>
          <p:nvPr/>
        </p:nvCxnSpPr>
        <p:spPr>
          <a:xfrm>
            <a:off x="3962400" y="2630489"/>
            <a:ext cx="990600" cy="1587"/>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4D4FA86E-2B0F-449C-915D-1B4FB26CE14B}"/>
              </a:ext>
            </a:extLst>
          </p:cNvPr>
          <p:cNvCxnSpPr>
            <a:stCxn id="8" idx="7"/>
            <a:endCxn id="9" idx="4"/>
          </p:cNvCxnSpPr>
          <p:nvPr/>
        </p:nvCxnSpPr>
        <p:spPr>
          <a:xfrm rot="5400000" flipH="1" flipV="1">
            <a:off x="5343526" y="1868489"/>
            <a:ext cx="600075" cy="60007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55940B3-6BD2-432C-85E0-D5D19B57EBE4}"/>
              </a:ext>
            </a:extLst>
          </p:cNvPr>
          <p:cNvCxnSpPr>
            <a:stCxn id="7" idx="5"/>
            <a:endCxn id="9" idx="0"/>
          </p:cNvCxnSpPr>
          <p:nvPr/>
        </p:nvCxnSpPr>
        <p:spPr>
          <a:xfrm rot="16200000" flipH="1">
            <a:off x="5305426" y="773114"/>
            <a:ext cx="676275" cy="60007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A12B10D-B3D1-4343-8623-4F464355D1E9}"/>
              </a:ext>
            </a:extLst>
          </p:cNvPr>
          <p:cNvCxnSpPr/>
          <p:nvPr/>
        </p:nvCxnSpPr>
        <p:spPr>
          <a:xfrm rot="5400000" flipH="1" flipV="1">
            <a:off x="3009107" y="1600995"/>
            <a:ext cx="1600200" cy="1587"/>
          </a:xfrm>
          <a:prstGeom prst="straightConnector1">
            <a:avLst/>
          </a:prstGeom>
          <a:ln w="19050">
            <a:solidFill>
              <a:schemeClr val="tx1"/>
            </a:solidFill>
            <a:headEnd type="stealth" w="lg" len="lg"/>
            <a:tailEnd type="non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CD04B8B-5CAA-4973-9245-9DAA35C25D95}"/>
              </a:ext>
            </a:extLst>
          </p:cNvPr>
          <p:cNvCxnSpPr>
            <a:stCxn id="8" idx="0"/>
            <a:endCxn id="7" idx="4"/>
          </p:cNvCxnSpPr>
          <p:nvPr/>
        </p:nvCxnSpPr>
        <p:spPr>
          <a:xfrm rot="5400000" flipH="1" flipV="1">
            <a:off x="4381501" y="1600201"/>
            <a:ext cx="1600200" cy="317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6220F4C8-BC6C-459B-B04C-AA12759D541E}"/>
              </a:ext>
            </a:extLst>
          </p:cNvPr>
          <p:cNvCxnSpPr>
            <a:stCxn id="7" idx="3"/>
            <a:endCxn id="6" idx="7"/>
          </p:cNvCxnSpPr>
          <p:nvPr/>
        </p:nvCxnSpPr>
        <p:spPr>
          <a:xfrm rot="5400000">
            <a:off x="3590925" y="1039813"/>
            <a:ext cx="1733550" cy="1123950"/>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56284FB-2207-4207-AE8D-60DD49C66168}"/>
              </a:ext>
            </a:extLst>
          </p:cNvPr>
          <p:cNvCxnSpPr/>
          <p:nvPr/>
        </p:nvCxnSpPr>
        <p:spPr>
          <a:xfrm rot="5400000" flipH="1" flipV="1">
            <a:off x="2858294" y="1600994"/>
            <a:ext cx="1600200" cy="1588"/>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BB312B44-C426-4C9E-94FB-6AB7DF6DC5D9}"/>
              </a:ext>
            </a:extLst>
          </p:cNvPr>
          <p:cNvSpPr/>
          <p:nvPr/>
        </p:nvSpPr>
        <p:spPr>
          <a:xfrm>
            <a:off x="2590800" y="0"/>
            <a:ext cx="3657600" cy="3200400"/>
          </a:xfrm>
          <a:prstGeom prst="rect">
            <a:avLst/>
          </a:prstGeom>
          <a:noFill/>
          <a:ln>
            <a:gradFill>
              <a:gsLst>
                <a:gs pos="0">
                  <a:srgbClr val="A603AB"/>
                </a:gs>
                <a:gs pos="21001">
                  <a:srgbClr val="0819FB"/>
                </a:gs>
                <a:gs pos="35001">
                  <a:srgbClr val="1A8D48"/>
                </a:gs>
                <a:gs pos="52000">
                  <a:srgbClr val="FFFF00"/>
                </a:gs>
                <a:gs pos="73000">
                  <a:srgbClr val="EE3F17"/>
                </a:gs>
                <a:gs pos="88000">
                  <a:srgbClr val="E81766"/>
                </a:gs>
                <a:gs pos="100000">
                  <a:srgbClr val="A603AB"/>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2550" name="TextBox 20">
            <a:extLst>
              <a:ext uri="{FF2B5EF4-FFF2-40B4-BE49-F238E27FC236}">
                <a16:creationId xmlns:a16="http://schemas.microsoft.com/office/drawing/2014/main" id="{55991CA4-CEB0-4934-9E7B-EDEF93281E05}"/>
              </a:ext>
            </a:extLst>
          </p:cNvPr>
          <p:cNvSpPr txBox="1">
            <a:spLocks noChangeArrowheads="1"/>
          </p:cNvSpPr>
          <p:nvPr/>
        </p:nvSpPr>
        <p:spPr bwMode="auto">
          <a:xfrm>
            <a:off x="3657601" y="3200401"/>
            <a:ext cx="16732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b="1" i="1">
                <a:solidFill>
                  <a:srgbClr val="0070C0"/>
                </a:solidFill>
              </a:rPr>
              <a:t>capacities</a:t>
            </a:r>
            <a:endParaRPr lang="en-US" altLang="en-US" sz="2400" b="1"/>
          </a:p>
        </p:txBody>
      </p:sp>
      <p:sp>
        <p:nvSpPr>
          <p:cNvPr id="22551" name="TextBox 21">
            <a:extLst>
              <a:ext uri="{FF2B5EF4-FFF2-40B4-BE49-F238E27FC236}">
                <a16:creationId xmlns:a16="http://schemas.microsoft.com/office/drawing/2014/main" id="{FE99D2F1-44DE-40EB-BA49-33C817E01A3A}"/>
              </a:ext>
            </a:extLst>
          </p:cNvPr>
          <p:cNvSpPr txBox="1">
            <a:spLocks noChangeArrowheads="1"/>
          </p:cNvSpPr>
          <p:nvPr/>
        </p:nvSpPr>
        <p:spPr bwMode="auto">
          <a:xfrm>
            <a:off x="4191001" y="268289"/>
            <a:ext cx="4413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12</a:t>
            </a:r>
          </a:p>
        </p:txBody>
      </p:sp>
      <p:sp>
        <p:nvSpPr>
          <p:cNvPr id="22552" name="TextBox 22">
            <a:extLst>
              <a:ext uri="{FF2B5EF4-FFF2-40B4-BE49-F238E27FC236}">
                <a16:creationId xmlns:a16="http://schemas.microsoft.com/office/drawing/2014/main" id="{DA1C05F0-E30D-43C7-A98F-8C3CBA66CB97}"/>
              </a:ext>
            </a:extLst>
          </p:cNvPr>
          <p:cNvSpPr txBox="1">
            <a:spLocks noChangeArrowheads="1"/>
          </p:cNvSpPr>
          <p:nvPr/>
        </p:nvSpPr>
        <p:spPr bwMode="auto">
          <a:xfrm>
            <a:off x="2987676" y="736600"/>
            <a:ext cx="441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16</a:t>
            </a:r>
          </a:p>
        </p:txBody>
      </p:sp>
      <p:sp>
        <p:nvSpPr>
          <p:cNvPr id="22553" name="TextBox 23">
            <a:extLst>
              <a:ext uri="{FF2B5EF4-FFF2-40B4-BE49-F238E27FC236}">
                <a16:creationId xmlns:a16="http://schemas.microsoft.com/office/drawing/2014/main" id="{D37E7CCD-6960-4E5A-AFB3-5855CC0E6DC1}"/>
              </a:ext>
            </a:extLst>
          </p:cNvPr>
          <p:cNvSpPr txBox="1">
            <a:spLocks noChangeArrowheads="1"/>
          </p:cNvSpPr>
          <p:nvPr/>
        </p:nvSpPr>
        <p:spPr bwMode="auto">
          <a:xfrm>
            <a:off x="4335464" y="1182689"/>
            <a:ext cx="312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9</a:t>
            </a:r>
          </a:p>
        </p:txBody>
      </p:sp>
      <p:sp>
        <p:nvSpPr>
          <p:cNvPr id="22554" name="TextBox 24">
            <a:extLst>
              <a:ext uri="{FF2B5EF4-FFF2-40B4-BE49-F238E27FC236}">
                <a16:creationId xmlns:a16="http://schemas.microsoft.com/office/drawing/2014/main" id="{7899A950-AC29-469E-84E9-6DF557B18EA4}"/>
              </a:ext>
            </a:extLst>
          </p:cNvPr>
          <p:cNvSpPr txBox="1">
            <a:spLocks noChangeArrowheads="1"/>
          </p:cNvSpPr>
          <p:nvPr/>
        </p:nvSpPr>
        <p:spPr bwMode="auto">
          <a:xfrm>
            <a:off x="3352800" y="1270000"/>
            <a:ext cx="312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4</a:t>
            </a:r>
          </a:p>
        </p:txBody>
      </p:sp>
      <p:sp>
        <p:nvSpPr>
          <p:cNvPr id="22555" name="TextBox 25">
            <a:extLst>
              <a:ext uri="{FF2B5EF4-FFF2-40B4-BE49-F238E27FC236}">
                <a16:creationId xmlns:a16="http://schemas.microsoft.com/office/drawing/2014/main" id="{F168A3B3-3B1F-4BE6-8F0E-4286F56499E2}"/>
              </a:ext>
            </a:extLst>
          </p:cNvPr>
          <p:cNvSpPr txBox="1">
            <a:spLocks noChangeArrowheads="1"/>
          </p:cNvSpPr>
          <p:nvPr/>
        </p:nvSpPr>
        <p:spPr bwMode="auto">
          <a:xfrm>
            <a:off x="3733801" y="1335089"/>
            <a:ext cx="4413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10</a:t>
            </a:r>
          </a:p>
        </p:txBody>
      </p:sp>
      <p:sp>
        <p:nvSpPr>
          <p:cNvPr id="22556" name="TextBox 26">
            <a:extLst>
              <a:ext uri="{FF2B5EF4-FFF2-40B4-BE49-F238E27FC236}">
                <a16:creationId xmlns:a16="http://schemas.microsoft.com/office/drawing/2014/main" id="{EE4E7083-3297-4FA4-9A54-6680AC023088}"/>
              </a:ext>
            </a:extLst>
          </p:cNvPr>
          <p:cNvSpPr txBox="1">
            <a:spLocks noChangeArrowheads="1"/>
          </p:cNvSpPr>
          <p:nvPr/>
        </p:nvSpPr>
        <p:spPr bwMode="auto">
          <a:xfrm>
            <a:off x="4191001" y="2565400"/>
            <a:ext cx="441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14</a:t>
            </a:r>
          </a:p>
        </p:txBody>
      </p:sp>
      <p:sp>
        <p:nvSpPr>
          <p:cNvPr id="22557" name="TextBox 27">
            <a:extLst>
              <a:ext uri="{FF2B5EF4-FFF2-40B4-BE49-F238E27FC236}">
                <a16:creationId xmlns:a16="http://schemas.microsoft.com/office/drawing/2014/main" id="{7CF5CFBC-6C28-4DC6-BB12-DED87F5CEC65}"/>
              </a:ext>
            </a:extLst>
          </p:cNvPr>
          <p:cNvSpPr txBox="1">
            <a:spLocks noChangeArrowheads="1"/>
          </p:cNvSpPr>
          <p:nvPr/>
        </p:nvSpPr>
        <p:spPr bwMode="auto">
          <a:xfrm>
            <a:off x="4945064" y="1335089"/>
            <a:ext cx="3127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7</a:t>
            </a:r>
          </a:p>
        </p:txBody>
      </p:sp>
      <p:sp>
        <p:nvSpPr>
          <p:cNvPr id="22558" name="TextBox 28">
            <a:extLst>
              <a:ext uri="{FF2B5EF4-FFF2-40B4-BE49-F238E27FC236}">
                <a16:creationId xmlns:a16="http://schemas.microsoft.com/office/drawing/2014/main" id="{5E9433B9-05D4-47A4-9778-EDD276F8EE54}"/>
              </a:ext>
            </a:extLst>
          </p:cNvPr>
          <p:cNvSpPr txBox="1">
            <a:spLocks noChangeArrowheads="1"/>
          </p:cNvSpPr>
          <p:nvPr/>
        </p:nvSpPr>
        <p:spPr bwMode="auto">
          <a:xfrm>
            <a:off x="5486401" y="660400"/>
            <a:ext cx="4413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20</a:t>
            </a:r>
          </a:p>
        </p:txBody>
      </p:sp>
      <p:sp>
        <p:nvSpPr>
          <p:cNvPr id="22559" name="TextBox 29">
            <a:extLst>
              <a:ext uri="{FF2B5EF4-FFF2-40B4-BE49-F238E27FC236}">
                <a16:creationId xmlns:a16="http://schemas.microsoft.com/office/drawing/2014/main" id="{09D9673B-2E10-4BDC-99DD-FA6A7493BF71}"/>
              </a:ext>
            </a:extLst>
          </p:cNvPr>
          <p:cNvSpPr txBox="1">
            <a:spLocks noChangeArrowheads="1"/>
          </p:cNvSpPr>
          <p:nvPr/>
        </p:nvSpPr>
        <p:spPr bwMode="auto">
          <a:xfrm>
            <a:off x="5502275" y="2097089"/>
            <a:ext cx="3127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4</a:t>
            </a:r>
          </a:p>
        </p:txBody>
      </p:sp>
      <p:sp>
        <p:nvSpPr>
          <p:cNvPr id="22560" name="TextBox 47">
            <a:extLst>
              <a:ext uri="{FF2B5EF4-FFF2-40B4-BE49-F238E27FC236}">
                <a16:creationId xmlns:a16="http://schemas.microsoft.com/office/drawing/2014/main" id="{E957190D-3C04-4084-AFDC-CF5991782AC1}"/>
              </a:ext>
            </a:extLst>
          </p:cNvPr>
          <p:cNvSpPr txBox="1">
            <a:spLocks noChangeArrowheads="1"/>
          </p:cNvSpPr>
          <p:nvPr/>
        </p:nvSpPr>
        <p:spPr bwMode="auto">
          <a:xfrm>
            <a:off x="8305801" y="3200401"/>
            <a:ext cx="7985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b="1" i="1">
                <a:solidFill>
                  <a:srgbClr val="7030A0"/>
                </a:solidFill>
              </a:rPr>
              <a:t>flow</a:t>
            </a:r>
          </a:p>
        </p:txBody>
      </p:sp>
      <p:sp>
        <p:nvSpPr>
          <p:cNvPr id="22561" name="TextBox 57">
            <a:extLst>
              <a:ext uri="{FF2B5EF4-FFF2-40B4-BE49-F238E27FC236}">
                <a16:creationId xmlns:a16="http://schemas.microsoft.com/office/drawing/2014/main" id="{05AA80BE-BD7B-4E4B-BA2C-BF210DC7462B}"/>
              </a:ext>
            </a:extLst>
          </p:cNvPr>
          <p:cNvSpPr txBox="1">
            <a:spLocks noChangeArrowheads="1"/>
          </p:cNvSpPr>
          <p:nvPr/>
        </p:nvSpPr>
        <p:spPr bwMode="auto">
          <a:xfrm>
            <a:off x="2911476" y="2020889"/>
            <a:ext cx="4413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13</a:t>
            </a:r>
          </a:p>
        </p:txBody>
      </p:sp>
      <p:sp>
        <p:nvSpPr>
          <p:cNvPr id="59" name="Oval 58">
            <a:extLst>
              <a:ext uri="{FF2B5EF4-FFF2-40B4-BE49-F238E27FC236}">
                <a16:creationId xmlns:a16="http://schemas.microsoft.com/office/drawing/2014/main" id="{98D55889-5AFF-4288-B445-5D1920E75F7B}"/>
              </a:ext>
            </a:extLst>
          </p:cNvPr>
          <p:cNvSpPr/>
          <p:nvPr/>
        </p:nvSpPr>
        <p:spPr>
          <a:xfrm>
            <a:off x="7696200" y="344488"/>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a</a:t>
            </a:r>
          </a:p>
        </p:txBody>
      </p:sp>
      <p:sp>
        <p:nvSpPr>
          <p:cNvPr id="60" name="Oval 59">
            <a:extLst>
              <a:ext uri="{FF2B5EF4-FFF2-40B4-BE49-F238E27FC236}">
                <a16:creationId xmlns:a16="http://schemas.microsoft.com/office/drawing/2014/main" id="{27293830-8C7D-454D-B002-A1EBA24768C5}"/>
              </a:ext>
            </a:extLst>
          </p:cNvPr>
          <p:cNvSpPr/>
          <p:nvPr/>
        </p:nvSpPr>
        <p:spPr>
          <a:xfrm>
            <a:off x="7010400" y="1411288"/>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s</a:t>
            </a:r>
          </a:p>
        </p:txBody>
      </p:sp>
      <p:sp>
        <p:nvSpPr>
          <p:cNvPr id="61" name="Oval 60">
            <a:extLst>
              <a:ext uri="{FF2B5EF4-FFF2-40B4-BE49-F238E27FC236}">
                <a16:creationId xmlns:a16="http://schemas.microsoft.com/office/drawing/2014/main" id="{8145195C-170F-43DF-A741-BEF26F8D52EA}"/>
              </a:ext>
            </a:extLst>
          </p:cNvPr>
          <p:cNvSpPr/>
          <p:nvPr/>
        </p:nvSpPr>
        <p:spPr>
          <a:xfrm>
            <a:off x="7696200" y="2401888"/>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c</a:t>
            </a:r>
          </a:p>
        </p:txBody>
      </p:sp>
      <p:sp>
        <p:nvSpPr>
          <p:cNvPr id="62" name="Oval 61">
            <a:extLst>
              <a:ext uri="{FF2B5EF4-FFF2-40B4-BE49-F238E27FC236}">
                <a16:creationId xmlns:a16="http://schemas.microsoft.com/office/drawing/2014/main" id="{55DE4BA4-3369-41C5-BA2A-1BFC18EB2A12}"/>
              </a:ext>
            </a:extLst>
          </p:cNvPr>
          <p:cNvSpPr/>
          <p:nvPr/>
        </p:nvSpPr>
        <p:spPr>
          <a:xfrm>
            <a:off x="9144000" y="344488"/>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b</a:t>
            </a:r>
          </a:p>
        </p:txBody>
      </p:sp>
      <p:sp>
        <p:nvSpPr>
          <p:cNvPr id="63" name="Oval 62">
            <a:extLst>
              <a:ext uri="{FF2B5EF4-FFF2-40B4-BE49-F238E27FC236}">
                <a16:creationId xmlns:a16="http://schemas.microsoft.com/office/drawing/2014/main" id="{F9650E39-A1E2-470B-9718-E831770EAA8D}"/>
              </a:ext>
            </a:extLst>
          </p:cNvPr>
          <p:cNvSpPr/>
          <p:nvPr/>
        </p:nvSpPr>
        <p:spPr>
          <a:xfrm>
            <a:off x="9144000" y="2401888"/>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d</a:t>
            </a:r>
          </a:p>
        </p:txBody>
      </p:sp>
      <p:sp>
        <p:nvSpPr>
          <p:cNvPr id="64" name="Oval 63">
            <a:extLst>
              <a:ext uri="{FF2B5EF4-FFF2-40B4-BE49-F238E27FC236}">
                <a16:creationId xmlns:a16="http://schemas.microsoft.com/office/drawing/2014/main" id="{DA9B604D-EC63-4F26-86B5-092E305AD371}"/>
              </a:ext>
            </a:extLst>
          </p:cNvPr>
          <p:cNvSpPr/>
          <p:nvPr/>
        </p:nvSpPr>
        <p:spPr>
          <a:xfrm>
            <a:off x="9906000" y="1411288"/>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t</a:t>
            </a:r>
          </a:p>
        </p:txBody>
      </p:sp>
      <p:cxnSp>
        <p:nvCxnSpPr>
          <p:cNvPr id="65" name="Straight Arrow Connector 64">
            <a:extLst>
              <a:ext uri="{FF2B5EF4-FFF2-40B4-BE49-F238E27FC236}">
                <a16:creationId xmlns:a16="http://schemas.microsoft.com/office/drawing/2014/main" id="{03BDA0EB-8C69-439B-B346-9E1FD39A1876}"/>
              </a:ext>
            </a:extLst>
          </p:cNvPr>
          <p:cNvCxnSpPr>
            <a:stCxn id="59" idx="6"/>
            <a:endCxn id="62" idx="2"/>
          </p:cNvCxnSpPr>
          <p:nvPr/>
        </p:nvCxnSpPr>
        <p:spPr>
          <a:xfrm>
            <a:off x="8153400" y="573089"/>
            <a:ext cx="990600" cy="1587"/>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579274D7-8819-4308-B5DC-1421F88904B6}"/>
              </a:ext>
            </a:extLst>
          </p:cNvPr>
          <p:cNvCxnSpPr>
            <a:stCxn id="60" idx="0"/>
            <a:endCxn id="59" idx="3"/>
          </p:cNvCxnSpPr>
          <p:nvPr/>
        </p:nvCxnSpPr>
        <p:spPr>
          <a:xfrm rot="5400000" flipH="1" flipV="1">
            <a:off x="7162801" y="811214"/>
            <a:ext cx="676275" cy="523875"/>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422482E3-65B8-489A-B14D-737776DBB8B7}"/>
              </a:ext>
            </a:extLst>
          </p:cNvPr>
          <p:cNvCxnSpPr>
            <a:stCxn id="60" idx="4"/>
            <a:endCxn id="61" idx="1"/>
          </p:cNvCxnSpPr>
          <p:nvPr/>
        </p:nvCxnSpPr>
        <p:spPr>
          <a:xfrm rot="16200000" flipH="1">
            <a:off x="7200901" y="1906589"/>
            <a:ext cx="600075" cy="523875"/>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59E5BA53-4D80-4762-BF32-EFE6D8AEEFA5}"/>
              </a:ext>
            </a:extLst>
          </p:cNvPr>
          <p:cNvCxnSpPr>
            <a:stCxn id="61" idx="6"/>
            <a:endCxn id="63" idx="2"/>
          </p:cNvCxnSpPr>
          <p:nvPr/>
        </p:nvCxnSpPr>
        <p:spPr>
          <a:xfrm>
            <a:off x="8153400" y="2630489"/>
            <a:ext cx="990600" cy="1587"/>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96764153-9968-48C1-9178-FD3A93A46EA3}"/>
              </a:ext>
            </a:extLst>
          </p:cNvPr>
          <p:cNvCxnSpPr>
            <a:stCxn id="63" idx="7"/>
            <a:endCxn id="64" idx="4"/>
          </p:cNvCxnSpPr>
          <p:nvPr/>
        </p:nvCxnSpPr>
        <p:spPr>
          <a:xfrm rot="5400000" flipH="1" flipV="1">
            <a:off x="9534526" y="1868489"/>
            <a:ext cx="600075" cy="600075"/>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513C1197-A12F-485D-B702-B3E3EE0B0172}"/>
              </a:ext>
            </a:extLst>
          </p:cNvPr>
          <p:cNvCxnSpPr>
            <a:stCxn id="62" idx="5"/>
            <a:endCxn id="64" idx="0"/>
          </p:cNvCxnSpPr>
          <p:nvPr/>
        </p:nvCxnSpPr>
        <p:spPr>
          <a:xfrm rot="16200000" flipH="1">
            <a:off x="9496426" y="773114"/>
            <a:ext cx="676275" cy="600075"/>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A16CA8A8-1BBD-4915-AC5A-E955F61D535A}"/>
              </a:ext>
            </a:extLst>
          </p:cNvPr>
          <p:cNvCxnSpPr/>
          <p:nvPr/>
        </p:nvCxnSpPr>
        <p:spPr>
          <a:xfrm rot="5400000" flipH="1" flipV="1">
            <a:off x="7200107" y="1600995"/>
            <a:ext cx="1600200" cy="1587"/>
          </a:xfrm>
          <a:prstGeom prst="straightConnector1">
            <a:avLst/>
          </a:prstGeom>
          <a:ln w="19050">
            <a:solidFill>
              <a:schemeClr val="tx1"/>
            </a:solidFill>
            <a:headEnd type="stealth" w="lg" len="lg"/>
            <a:tailEnd type="none" w="lg" len="lg"/>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621D7D93-6327-43EE-A875-DEE40A008913}"/>
              </a:ext>
            </a:extLst>
          </p:cNvPr>
          <p:cNvCxnSpPr>
            <a:stCxn id="63" idx="0"/>
            <a:endCxn id="62" idx="4"/>
          </p:cNvCxnSpPr>
          <p:nvPr/>
        </p:nvCxnSpPr>
        <p:spPr>
          <a:xfrm rot="5400000" flipH="1" flipV="1">
            <a:off x="8572501" y="1600201"/>
            <a:ext cx="1600200" cy="317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02E86600-F0F6-4A5D-A0A9-52FBB12FE3BE}"/>
              </a:ext>
            </a:extLst>
          </p:cNvPr>
          <p:cNvCxnSpPr>
            <a:stCxn id="62" idx="3"/>
            <a:endCxn id="61" idx="7"/>
          </p:cNvCxnSpPr>
          <p:nvPr/>
        </p:nvCxnSpPr>
        <p:spPr>
          <a:xfrm rot="5400000">
            <a:off x="7781925" y="1039813"/>
            <a:ext cx="1733550" cy="1123950"/>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7DDF8183-79EF-4710-BA56-1F68C705FED7}"/>
              </a:ext>
            </a:extLst>
          </p:cNvPr>
          <p:cNvCxnSpPr/>
          <p:nvPr/>
        </p:nvCxnSpPr>
        <p:spPr>
          <a:xfrm rot="5400000" flipH="1" flipV="1">
            <a:off x="7049294" y="1600994"/>
            <a:ext cx="1600200" cy="1588"/>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75" name="Rectangle 74">
            <a:extLst>
              <a:ext uri="{FF2B5EF4-FFF2-40B4-BE49-F238E27FC236}">
                <a16:creationId xmlns:a16="http://schemas.microsoft.com/office/drawing/2014/main" id="{6020253B-4D50-4C5E-8B89-88BFD542A9B1}"/>
              </a:ext>
            </a:extLst>
          </p:cNvPr>
          <p:cNvSpPr/>
          <p:nvPr/>
        </p:nvSpPr>
        <p:spPr>
          <a:xfrm>
            <a:off x="6781800" y="0"/>
            <a:ext cx="3657600" cy="3200400"/>
          </a:xfrm>
          <a:prstGeom prst="rect">
            <a:avLst/>
          </a:prstGeom>
          <a:noFill/>
          <a:ln>
            <a:gradFill>
              <a:gsLst>
                <a:gs pos="0">
                  <a:srgbClr val="A603AB"/>
                </a:gs>
                <a:gs pos="21001">
                  <a:srgbClr val="0819FB"/>
                </a:gs>
                <a:gs pos="35001">
                  <a:srgbClr val="1A8D48"/>
                </a:gs>
                <a:gs pos="52000">
                  <a:srgbClr val="FFFF00"/>
                </a:gs>
                <a:gs pos="73000">
                  <a:srgbClr val="EE3F17"/>
                </a:gs>
                <a:gs pos="88000">
                  <a:srgbClr val="E81766"/>
                </a:gs>
                <a:gs pos="100000">
                  <a:srgbClr val="A603AB"/>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2581" name="TextBox 20">
            <a:extLst>
              <a:ext uri="{FF2B5EF4-FFF2-40B4-BE49-F238E27FC236}">
                <a16:creationId xmlns:a16="http://schemas.microsoft.com/office/drawing/2014/main" id="{43F26E32-96E2-4960-9E48-65B12AA13C9E}"/>
              </a:ext>
            </a:extLst>
          </p:cNvPr>
          <p:cNvSpPr txBox="1">
            <a:spLocks noChangeArrowheads="1"/>
          </p:cNvSpPr>
          <p:nvPr/>
        </p:nvSpPr>
        <p:spPr bwMode="auto">
          <a:xfrm>
            <a:off x="8305801" y="268289"/>
            <a:ext cx="69691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12/12</a:t>
            </a:r>
          </a:p>
        </p:txBody>
      </p:sp>
      <p:sp>
        <p:nvSpPr>
          <p:cNvPr id="22582" name="TextBox 21">
            <a:extLst>
              <a:ext uri="{FF2B5EF4-FFF2-40B4-BE49-F238E27FC236}">
                <a16:creationId xmlns:a16="http://schemas.microsoft.com/office/drawing/2014/main" id="{72B09A0C-12F3-4318-9567-FC6FFE47BBFF}"/>
              </a:ext>
            </a:extLst>
          </p:cNvPr>
          <p:cNvSpPr txBox="1">
            <a:spLocks noChangeArrowheads="1"/>
          </p:cNvSpPr>
          <p:nvPr/>
        </p:nvSpPr>
        <p:spPr bwMode="auto">
          <a:xfrm>
            <a:off x="6934201" y="736600"/>
            <a:ext cx="6969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12/16</a:t>
            </a:r>
          </a:p>
        </p:txBody>
      </p:sp>
      <p:sp>
        <p:nvSpPr>
          <p:cNvPr id="22583" name="TextBox 22">
            <a:extLst>
              <a:ext uri="{FF2B5EF4-FFF2-40B4-BE49-F238E27FC236}">
                <a16:creationId xmlns:a16="http://schemas.microsoft.com/office/drawing/2014/main" id="{012E06ED-AFE1-48D1-809E-559AE13B6B9C}"/>
              </a:ext>
            </a:extLst>
          </p:cNvPr>
          <p:cNvSpPr txBox="1">
            <a:spLocks noChangeArrowheads="1"/>
          </p:cNvSpPr>
          <p:nvPr/>
        </p:nvSpPr>
        <p:spPr bwMode="auto">
          <a:xfrm>
            <a:off x="8458200" y="995364"/>
            <a:ext cx="4699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0/9</a:t>
            </a:r>
          </a:p>
        </p:txBody>
      </p:sp>
      <p:sp>
        <p:nvSpPr>
          <p:cNvPr id="22584" name="TextBox 23">
            <a:extLst>
              <a:ext uri="{FF2B5EF4-FFF2-40B4-BE49-F238E27FC236}">
                <a16:creationId xmlns:a16="http://schemas.microsoft.com/office/drawing/2014/main" id="{261E20DA-2C53-474E-B65C-8E9A2DC4CA1B}"/>
              </a:ext>
            </a:extLst>
          </p:cNvPr>
          <p:cNvSpPr txBox="1">
            <a:spLocks noChangeArrowheads="1"/>
          </p:cNvSpPr>
          <p:nvPr/>
        </p:nvSpPr>
        <p:spPr bwMode="auto">
          <a:xfrm>
            <a:off x="7419975" y="1300164"/>
            <a:ext cx="4699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0/4</a:t>
            </a:r>
          </a:p>
        </p:txBody>
      </p:sp>
      <p:sp>
        <p:nvSpPr>
          <p:cNvPr id="22585" name="TextBox 24">
            <a:extLst>
              <a:ext uri="{FF2B5EF4-FFF2-40B4-BE49-F238E27FC236}">
                <a16:creationId xmlns:a16="http://schemas.microsoft.com/office/drawing/2014/main" id="{86D65220-E847-47DB-AFDE-EB3231C5C1E1}"/>
              </a:ext>
            </a:extLst>
          </p:cNvPr>
          <p:cNvSpPr txBox="1">
            <a:spLocks noChangeArrowheads="1"/>
          </p:cNvSpPr>
          <p:nvPr/>
        </p:nvSpPr>
        <p:spPr bwMode="auto">
          <a:xfrm>
            <a:off x="7924800" y="1335089"/>
            <a:ext cx="5842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0/10</a:t>
            </a:r>
          </a:p>
        </p:txBody>
      </p:sp>
      <p:sp>
        <p:nvSpPr>
          <p:cNvPr id="22586" name="TextBox 32">
            <a:extLst>
              <a:ext uri="{FF2B5EF4-FFF2-40B4-BE49-F238E27FC236}">
                <a16:creationId xmlns:a16="http://schemas.microsoft.com/office/drawing/2014/main" id="{E331BE88-3CF6-4D4E-8EA9-07C8B9D768F5}"/>
              </a:ext>
            </a:extLst>
          </p:cNvPr>
          <p:cNvSpPr txBox="1">
            <a:spLocks noChangeArrowheads="1"/>
          </p:cNvSpPr>
          <p:nvPr/>
        </p:nvSpPr>
        <p:spPr bwMode="auto">
          <a:xfrm>
            <a:off x="8382001" y="2601914"/>
            <a:ext cx="6826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11/14</a:t>
            </a:r>
          </a:p>
        </p:txBody>
      </p:sp>
      <p:sp>
        <p:nvSpPr>
          <p:cNvPr id="22587" name="TextBox 33">
            <a:extLst>
              <a:ext uri="{FF2B5EF4-FFF2-40B4-BE49-F238E27FC236}">
                <a16:creationId xmlns:a16="http://schemas.microsoft.com/office/drawing/2014/main" id="{E762ED46-2F28-464E-88AA-E9961D1564BA}"/>
              </a:ext>
            </a:extLst>
          </p:cNvPr>
          <p:cNvSpPr txBox="1">
            <a:spLocks noChangeArrowheads="1"/>
          </p:cNvSpPr>
          <p:nvPr/>
        </p:nvSpPr>
        <p:spPr bwMode="auto">
          <a:xfrm>
            <a:off x="9693275" y="2133600"/>
            <a:ext cx="4699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4/4</a:t>
            </a:r>
          </a:p>
        </p:txBody>
      </p:sp>
      <p:sp>
        <p:nvSpPr>
          <p:cNvPr id="22588" name="TextBox 41">
            <a:extLst>
              <a:ext uri="{FF2B5EF4-FFF2-40B4-BE49-F238E27FC236}">
                <a16:creationId xmlns:a16="http://schemas.microsoft.com/office/drawing/2014/main" id="{803D5FB4-A138-4F59-B32C-A05F6D5C4EC5}"/>
              </a:ext>
            </a:extLst>
          </p:cNvPr>
          <p:cNvSpPr txBox="1">
            <a:spLocks noChangeArrowheads="1"/>
          </p:cNvSpPr>
          <p:nvPr/>
        </p:nvSpPr>
        <p:spPr bwMode="auto">
          <a:xfrm>
            <a:off x="8978900" y="1447800"/>
            <a:ext cx="4699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7/7</a:t>
            </a:r>
          </a:p>
        </p:txBody>
      </p:sp>
      <p:sp>
        <p:nvSpPr>
          <p:cNvPr id="22589" name="TextBox 42">
            <a:extLst>
              <a:ext uri="{FF2B5EF4-FFF2-40B4-BE49-F238E27FC236}">
                <a16:creationId xmlns:a16="http://schemas.microsoft.com/office/drawing/2014/main" id="{13062EF9-E052-4858-AA1A-09B4918CDEFA}"/>
              </a:ext>
            </a:extLst>
          </p:cNvPr>
          <p:cNvSpPr txBox="1">
            <a:spLocks noChangeArrowheads="1"/>
          </p:cNvSpPr>
          <p:nvPr/>
        </p:nvSpPr>
        <p:spPr bwMode="auto">
          <a:xfrm>
            <a:off x="9677401" y="685800"/>
            <a:ext cx="6969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19/20</a:t>
            </a:r>
          </a:p>
        </p:txBody>
      </p:sp>
      <p:sp>
        <p:nvSpPr>
          <p:cNvPr id="22590" name="TextBox 44">
            <a:extLst>
              <a:ext uri="{FF2B5EF4-FFF2-40B4-BE49-F238E27FC236}">
                <a16:creationId xmlns:a16="http://schemas.microsoft.com/office/drawing/2014/main" id="{30CF6CEB-24D2-4D2C-A4D7-A7BEC8EE7CD4}"/>
              </a:ext>
            </a:extLst>
          </p:cNvPr>
          <p:cNvSpPr txBox="1">
            <a:spLocks noChangeArrowheads="1"/>
          </p:cNvSpPr>
          <p:nvPr/>
        </p:nvSpPr>
        <p:spPr bwMode="auto">
          <a:xfrm>
            <a:off x="6934201" y="2133600"/>
            <a:ext cx="6826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11/13</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90319-D3F2-4A0F-A80C-6EFAB888E8A5}"/>
              </a:ext>
            </a:extLst>
          </p:cNvPr>
          <p:cNvSpPr>
            <a:spLocks noGrp="1"/>
          </p:cNvSpPr>
          <p:nvPr>
            <p:ph type="title"/>
          </p:nvPr>
        </p:nvSpPr>
        <p:spPr>
          <a:xfrm>
            <a:off x="2514600" y="0"/>
            <a:ext cx="7499350" cy="838200"/>
          </a:xfrm>
        </p:spPr>
        <p:txBody>
          <a:bodyPr>
            <a:normAutofit/>
          </a:bodyPr>
          <a:lstStyle/>
          <a:p>
            <a:pPr>
              <a:defRPr/>
            </a:pPr>
            <a:r>
              <a:rPr lang="en-US" sz="2800" dirty="0">
                <a:latin typeface="Times New Roman" panose="02020603050405020304" pitchFamily="18" charset="0"/>
                <a:cs typeface="Times New Roman" panose="02020603050405020304" pitchFamily="18" charset="0"/>
              </a:rPr>
              <a:t>Network Flow</a:t>
            </a:r>
          </a:p>
        </p:txBody>
      </p:sp>
      <p:sp>
        <p:nvSpPr>
          <p:cNvPr id="3" name="Content Placeholder 2">
            <a:extLst>
              <a:ext uri="{FF2B5EF4-FFF2-40B4-BE49-F238E27FC236}">
                <a16:creationId xmlns:a16="http://schemas.microsoft.com/office/drawing/2014/main" id="{2FD5043E-DDDA-4C61-AA86-0334765EBF1D}"/>
              </a:ext>
            </a:extLst>
          </p:cNvPr>
          <p:cNvSpPr>
            <a:spLocks noGrp="1"/>
          </p:cNvSpPr>
          <p:nvPr>
            <p:ph idx="1"/>
          </p:nvPr>
        </p:nvSpPr>
        <p:spPr>
          <a:xfrm>
            <a:off x="2362200" y="914400"/>
            <a:ext cx="8153400" cy="2057400"/>
          </a:xfrm>
        </p:spPr>
        <p:txBody>
          <a:bodyPr>
            <a:normAutofit/>
          </a:bodyPr>
          <a:lstStyle/>
          <a:p>
            <a:pPr>
              <a:defRPr/>
            </a:pPr>
            <a:r>
              <a:rPr lang="en-US" sz="2000" dirty="0">
                <a:latin typeface="Times New Roman" panose="02020603050405020304" pitchFamily="18" charset="0"/>
                <a:cs typeface="Times New Roman" panose="02020603050405020304" pitchFamily="18" charset="0"/>
              </a:rPr>
              <a:t>In order to determine the maximum flow of a network, we will use the following terms:</a:t>
            </a:r>
          </a:p>
          <a:p>
            <a:pPr lvl="1">
              <a:defRPr/>
            </a:pPr>
            <a:r>
              <a:rPr lang="en-US" sz="2000" b="1" i="1" dirty="0">
                <a:latin typeface="Times New Roman" panose="02020603050405020304" pitchFamily="18" charset="0"/>
                <a:cs typeface="Times New Roman" panose="02020603050405020304" pitchFamily="18" charset="0"/>
              </a:rPr>
              <a:t>Residual capacity </a:t>
            </a:r>
            <a:r>
              <a:rPr lang="en-US" sz="2000" dirty="0">
                <a:latin typeface="Times New Roman" panose="02020603050405020304" pitchFamily="18" charset="0"/>
                <a:cs typeface="Times New Roman" panose="02020603050405020304" pitchFamily="18" charset="0"/>
              </a:rPr>
              <a:t>– is simply an edge’s unused capacity.  </a:t>
            </a:r>
          </a:p>
          <a:p>
            <a:pPr lvl="2">
              <a:defRPr/>
            </a:pPr>
            <a:r>
              <a:rPr lang="en-US" dirty="0">
                <a:latin typeface="Times New Roman" panose="02020603050405020304" pitchFamily="18" charset="0"/>
                <a:cs typeface="Times New Roman" panose="02020603050405020304" pitchFamily="18" charset="0"/>
              </a:rPr>
              <a:t>Initially none of the capacities will have been used, so all of the residual capacities will be just the original capacity.</a:t>
            </a:r>
          </a:p>
          <a:p>
            <a:pPr lvl="2">
              <a:buFont typeface="Wingdings 2" panose="05020102010507070707" pitchFamily="18" charset="2"/>
              <a:buNone/>
              <a:defRPr/>
            </a:pPr>
            <a:endParaRPr lang="en-US" dirty="0"/>
          </a:p>
        </p:txBody>
      </p:sp>
      <p:sp>
        <p:nvSpPr>
          <p:cNvPr id="4" name="Oval 3">
            <a:extLst>
              <a:ext uri="{FF2B5EF4-FFF2-40B4-BE49-F238E27FC236}">
                <a16:creationId xmlns:a16="http://schemas.microsoft.com/office/drawing/2014/main" id="{7CEB57F4-304D-4152-B9EF-B4C41D828B66}"/>
              </a:ext>
            </a:extLst>
          </p:cNvPr>
          <p:cNvSpPr/>
          <p:nvPr/>
        </p:nvSpPr>
        <p:spPr>
          <a:xfrm>
            <a:off x="3581400" y="3540125"/>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a</a:t>
            </a:r>
          </a:p>
        </p:txBody>
      </p:sp>
      <p:sp>
        <p:nvSpPr>
          <p:cNvPr id="5" name="Oval 4">
            <a:extLst>
              <a:ext uri="{FF2B5EF4-FFF2-40B4-BE49-F238E27FC236}">
                <a16:creationId xmlns:a16="http://schemas.microsoft.com/office/drawing/2014/main" id="{9E8969E7-04B0-4288-8CE5-9AF04B7A39BE}"/>
              </a:ext>
            </a:extLst>
          </p:cNvPr>
          <p:cNvSpPr/>
          <p:nvPr/>
        </p:nvSpPr>
        <p:spPr>
          <a:xfrm>
            <a:off x="2895600" y="4606925"/>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s</a:t>
            </a:r>
          </a:p>
        </p:txBody>
      </p:sp>
      <p:sp>
        <p:nvSpPr>
          <p:cNvPr id="6" name="Oval 5">
            <a:extLst>
              <a:ext uri="{FF2B5EF4-FFF2-40B4-BE49-F238E27FC236}">
                <a16:creationId xmlns:a16="http://schemas.microsoft.com/office/drawing/2014/main" id="{06992B44-4F3B-4534-A9FF-B3B3EACDE6F6}"/>
              </a:ext>
            </a:extLst>
          </p:cNvPr>
          <p:cNvSpPr/>
          <p:nvPr/>
        </p:nvSpPr>
        <p:spPr>
          <a:xfrm>
            <a:off x="3581400" y="5597525"/>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c</a:t>
            </a:r>
          </a:p>
        </p:txBody>
      </p:sp>
      <p:sp>
        <p:nvSpPr>
          <p:cNvPr id="7" name="Oval 6">
            <a:extLst>
              <a:ext uri="{FF2B5EF4-FFF2-40B4-BE49-F238E27FC236}">
                <a16:creationId xmlns:a16="http://schemas.microsoft.com/office/drawing/2014/main" id="{33BA6D18-D51C-4C4D-86D2-0334F39A1A08}"/>
              </a:ext>
            </a:extLst>
          </p:cNvPr>
          <p:cNvSpPr/>
          <p:nvPr/>
        </p:nvSpPr>
        <p:spPr>
          <a:xfrm>
            <a:off x="5029200" y="3540125"/>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b</a:t>
            </a:r>
          </a:p>
        </p:txBody>
      </p:sp>
      <p:sp>
        <p:nvSpPr>
          <p:cNvPr id="8" name="Oval 7">
            <a:extLst>
              <a:ext uri="{FF2B5EF4-FFF2-40B4-BE49-F238E27FC236}">
                <a16:creationId xmlns:a16="http://schemas.microsoft.com/office/drawing/2014/main" id="{754C93AD-B090-4B75-97EE-2000A9936700}"/>
              </a:ext>
            </a:extLst>
          </p:cNvPr>
          <p:cNvSpPr/>
          <p:nvPr/>
        </p:nvSpPr>
        <p:spPr>
          <a:xfrm>
            <a:off x="5029200" y="5597525"/>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d</a:t>
            </a:r>
          </a:p>
        </p:txBody>
      </p:sp>
      <p:sp>
        <p:nvSpPr>
          <p:cNvPr id="9" name="Oval 8">
            <a:extLst>
              <a:ext uri="{FF2B5EF4-FFF2-40B4-BE49-F238E27FC236}">
                <a16:creationId xmlns:a16="http://schemas.microsoft.com/office/drawing/2014/main" id="{4367B38C-877A-4AE8-BC85-09539EF7C6F9}"/>
              </a:ext>
            </a:extLst>
          </p:cNvPr>
          <p:cNvSpPr/>
          <p:nvPr/>
        </p:nvSpPr>
        <p:spPr>
          <a:xfrm>
            <a:off x="5791200" y="4606925"/>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t</a:t>
            </a:r>
          </a:p>
        </p:txBody>
      </p:sp>
      <p:cxnSp>
        <p:nvCxnSpPr>
          <p:cNvPr id="10" name="Straight Arrow Connector 9">
            <a:extLst>
              <a:ext uri="{FF2B5EF4-FFF2-40B4-BE49-F238E27FC236}">
                <a16:creationId xmlns:a16="http://schemas.microsoft.com/office/drawing/2014/main" id="{E002A63F-6BD2-4BD8-BC10-26FAA9AA849D}"/>
              </a:ext>
            </a:extLst>
          </p:cNvPr>
          <p:cNvCxnSpPr>
            <a:stCxn id="4" idx="6"/>
            <a:endCxn id="7" idx="2"/>
          </p:cNvCxnSpPr>
          <p:nvPr/>
        </p:nvCxnSpPr>
        <p:spPr>
          <a:xfrm>
            <a:off x="4038600" y="3768725"/>
            <a:ext cx="990600" cy="1588"/>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435125A1-5BEB-4D16-A962-4ADBE11DE501}"/>
              </a:ext>
            </a:extLst>
          </p:cNvPr>
          <p:cNvCxnSpPr>
            <a:stCxn id="5" idx="0"/>
            <a:endCxn id="4" idx="3"/>
          </p:cNvCxnSpPr>
          <p:nvPr/>
        </p:nvCxnSpPr>
        <p:spPr>
          <a:xfrm rot="5400000" flipH="1" flipV="1">
            <a:off x="3048001" y="4006851"/>
            <a:ext cx="676275" cy="52387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029B1D20-132E-4835-9AE7-C31E75DCD278}"/>
              </a:ext>
            </a:extLst>
          </p:cNvPr>
          <p:cNvCxnSpPr>
            <a:stCxn id="5" idx="4"/>
            <a:endCxn id="6" idx="1"/>
          </p:cNvCxnSpPr>
          <p:nvPr/>
        </p:nvCxnSpPr>
        <p:spPr>
          <a:xfrm rot="16200000" flipH="1">
            <a:off x="3086101" y="5102226"/>
            <a:ext cx="600075" cy="52387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7AD22580-44BD-4F0F-B92D-1FABC50B7106}"/>
              </a:ext>
            </a:extLst>
          </p:cNvPr>
          <p:cNvCxnSpPr>
            <a:stCxn id="6" idx="6"/>
            <a:endCxn id="8" idx="2"/>
          </p:cNvCxnSpPr>
          <p:nvPr/>
        </p:nvCxnSpPr>
        <p:spPr>
          <a:xfrm>
            <a:off x="4038600" y="5826125"/>
            <a:ext cx="990600" cy="1588"/>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E3DFD9BE-112D-49E4-B65F-B44AF2061244}"/>
              </a:ext>
            </a:extLst>
          </p:cNvPr>
          <p:cNvCxnSpPr>
            <a:stCxn id="8" idx="7"/>
            <a:endCxn id="9" idx="4"/>
          </p:cNvCxnSpPr>
          <p:nvPr/>
        </p:nvCxnSpPr>
        <p:spPr>
          <a:xfrm rot="5400000" flipH="1" flipV="1">
            <a:off x="5419726" y="5064126"/>
            <a:ext cx="600075" cy="60007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5EA2061-6371-42F3-B55B-B13522F6D024}"/>
              </a:ext>
            </a:extLst>
          </p:cNvPr>
          <p:cNvCxnSpPr>
            <a:stCxn id="7" idx="5"/>
            <a:endCxn id="9" idx="0"/>
          </p:cNvCxnSpPr>
          <p:nvPr/>
        </p:nvCxnSpPr>
        <p:spPr>
          <a:xfrm rot="16200000" flipH="1">
            <a:off x="5381626" y="3968751"/>
            <a:ext cx="676275" cy="60007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9BD2934-E593-4AFA-861F-4FC2988CCFCE}"/>
              </a:ext>
            </a:extLst>
          </p:cNvPr>
          <p:cNvCxnSpPr/>
          <p:nvPr/>
        </p:nvCxnSpPr>
        <p:spPr>
          <a:xfrm rot="5400000" flipH="1" flipV="1">
            <a:off x="3085307" y="4796632"/>
            <a:ext cx="1600200" cy="1587"/>
          </a:xfrm>
          <a:prstGeom prst="straightConnector1">
            <a:avLst/>
          </a:prstGeom>
          <a:ln w="19050">
            <a:solidFill>
              <a:schemeClr val="tx1"/>
            </a:solidFill>
            <a:headEnd type="stealth" w="lg" len="lg"/>
            <a:tailEnd type="non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4B1E0D6-6A62-4DB6-9218-C744AEDB23BC}"/>
              </a:ext>
            </a:extLst>
          </p:cNvPr>
          <p:cNvCxnSpPr>
            <a:stCxn id="8" idx="0"/>
            <a:endCxn id="7" idx="4"/>
          </p:cNvCxnSpPr>
          <p:nvPr/>
        </p:nvCxnSpPr>
        <p:spPr>
          <a:xfrm rot="5400000" flipH="1" flipV="1">
            <a:off x="4457701" y="4797426"/>
            <a:ext cx="1600200" cy="317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8F9CD84-7B3D-4F77-9C96-230FD2AF0AA5}"/>
              </a:ext>
            </a:extLst>
          </p:cNvPr>
          <p:cNvCxnSpPr>
            <a:stCxn id="7" idx="3"/>
            <a:endCxn id="6" idx="7"/>
          </p:cNvCxnSpPr>
          <p:nvPr/>
        </p:nvCxnSpPr>
        <p:spPr>
          <a:xfrm rot="5400000">
            <a:off x="3667125" y="4235450"/>
            <a:ext cx="1733550" cy="1123950"/>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D1EDA125-7155-4D9B-85D2-8E8D6413F354}"/>
              </a:ext>
            </a:extLst>
          </p:cNvPr>
          <p:cNvCxnSpPr/>
          <p:nvPr/>
        </p:nvCxnSpPr>
        <p:spPr>
          <a:xfrm rot="5400000" flipH="1" flipV="1">
            <a:off x="2934494" y="4796631"/>
            <a:ext cx="1600200" cy="1588"/>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7989D012-BFBE-4657-A35E-ED94C89D76EA}"/>
              </a:ext>
            </a:extLst>
          </p:cNvPr>
          <p:cNvSpPr/>
          <p:nvPr/>
        </p:nvSpPr>
        <p:spPr>
          <a:xfrm>
            <a:off x="2667000" y="3195935"/>
            <a:ext cx="3657600" cy="3200400"/>
          </a:xfrm>
          <a:prstGeom prst="rect">
            <a:avLst/>
          </a:prstGeom>
          <a:noFill/>
          <a:ln>
            <a:gradFill>
              <a:gsLst>
                <a:gs pos="0">
                  <a:srgbClr val="A603AB"/>
                </a:gs>
                <a:gs pos="21001">
                  <a:srgbClr val="0819FB"/>
                </a:gs>
                <a:gs pos="35001">
                  <a:srgbClr val="1A8D48"/>
                </a:gs>
                <a:gs pos="52000">
                  <a:srgbClr val="FFFF00"/>
                </a:gs>
                <a:gs pos="73000">
                  <a:srgbClr val="EE3F17"/>
                </a:gs>
                <a:gs pos="88000">
                  <a:srgbClr val="E81766"/>
                </a:gs>
                <a:gs pos="100000">
                  <a:srgbClr val="A603AB"/>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3575" name="TextBox 21">
            <a:extLst>
              <a:ext uri="{FF2B5EF4-FFF2-40B4-BE49-F238E27FC236}">
                <a16:creationId xmlns:a16="http://schemas.microsoft.com/office/drawing/2014/main" id="{62A8EDC2-7D0E-4E1A-9699-3B95A8534CF2}"/>
              </a:ext>
            </a:extLst>
          </p:cNvPr>
          <p:cNvSpPr txBox="1">
            <a:spLocks noChangeArrowheads="1"/>
          </p:cNvSpPr>
          <p:nvPr/>
        </p:nvSpPr>
        <p:spPr bwMode="auto">
          <a:xfrm>
            <a:off x="4191000" y="3463925"/>
            <a:ext cx="584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0/12</a:t>
            </a:r>
          </a:p>
        </p:txBody>
      </p:sp>
      <p:sp>
        <p:nvSpPr>
          <p:cNvPr id="23576" name="TextBox 22">
            <a:extLst>
              <a:ext uri="{FF2B5EF4-FFF2-40B4-BE49-F238E27FC236}">
                <a16:creationId xmlns:a16="http://schemas.microsoft.com/office/drawing/2014/main" id="{8BDBBF12-C3B4-464B-81A8-D9BA8FC97935}"/>
              </a:ext>
            </a:extLst>
          </p:cNvPr>
          <p:cNvSpPr txBox="1">
            <a:spLocks noChangeArrowheads="1"/>
          </p:cNvSpPr>
          <p:nvPr/>
        </p:nvSpPr>
        <p:spPr bwMode="auto">
          <a:xfrm>
            <a:off x="2895600" y="3932239"/>
            <a:ext cx="5842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0/16</a:t>
            </a:r>
          </a:p>
        </p:txBody>
      </p:sp>
      <p:sp>
        <p:nvSpPr>
          <p:cNvPr id="23577" name="TextBox 23">
            <a:extLst>
              <a:ext uri="{FF2B5EF4-FFF2-40B4-BE49-F238E27FC236}">
                <a16:creationId xmlns:a16="http://schemas.microsoft.com/office/drawing/2014/main" id="{2F6882D3-468D-4053-A1CF-E8E574999096}"/>
              </a:ext>
            </a:extLst>
          </p:cNvPr>
          <p:cNvSpPr txBox="1">
            <a:spLocks noChangeArrowheads="1"/>
          </p:cNvSpPr>
          <p:nvPr/>
        </p:nvSpPr>
        <p:spPr bwMode="auto">
          <a:xfrm>
            <a:off x="4343400" y="4191000"/>
            <a:ext cx="4699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0/9</a:t>
            </a:r>
          </a:p>
        </p:txBody>
      </p:sp>
      <p:sp>
        <p:nvSpPr>
          <p:cNvPr id="23578" name="TextBox 24">
            <a:extLst>
              <a:ext uri="{FF2B5EF4-FFF2-40B4-BE49-F238E27FC236}">
                <a16:creationId xmlns:a16="http://schemas.microsoft.com/office/drawing/2014/main" id="{9FE92F14-0D4E-4799-A868-F50291B63F8D}"/>
              </a:ext>
            </a:extLst>
          </p:cNvPr>
          <p:cNvSpPr txBox="1">
            <a:spLocks noChangeArrowheads="1"/>
          </p:cNvSpPr>
          <p:nvPr/>
        </p:nvSpPr>
        <p:spPr bwMode="auto">
          <a:xfrm>
            <a:off x="3305175" y="4495800"/>
            <a:ext cx="4699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0/4</a:t>
            </a:r>
          </a:p>
        </p:txBody>
      </p:sp>
      <p:sp>
        <p:nvSpPr>
          <p:cNvPr id="23579" name="TextBox 25">
            <a:extLst>
              <a:ext uri="{FF2B5EF4-FFF2-40B4-BE49-F238E27FC236}">
                <a16:creationId xmlns:a16="http://schemas.microsoft.com/office/drawing/2014/main" id="{0CF94658-45C6-48D4-92A1-7AC5F1B596AE}"/>
              </a:ext>
            </a:extLst>
          </p:cNvPr>
          <p:cNvSpPr txBox="1">
            <a:spLocks noChangeArrowheads="1"/>
          </p:cNvSpPr>
          <p:nvPr/>
        </p:nvSpPr>
        <p:spPr bwMode="auto">
          <a:xfrm>
            <a:off x="3810000" y="4530725"/>
            <a:ext cx="584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0/10</a:t>
            </a:r>
          </a:p>
        </p:txBody>
      </p:sp>
      <p:sp>
        <p:nvSpPr>
          <p:cNvPr id="23580" name="TextBox 26">
            <a:extLst>
              <a:ext uri="{FF2B5EF4-FFF2-40B4-BE49-F238E27FC236}">
                <a16:creationId xmlns:a16="http://schemas.microsoft.com/office/drawing/2014/main" id="{2E3974E7-DE20-4BDB-AB0E-1DFCB091D18B}"/>
              </a:ext>
            </a:extLst>
          </p:cNvPr>
          <p:cNvSpPr txBox="1">
            <a:spLocks noChangeArrowheads="1"/>
          </p:cNvSpPr>
          <p:nvPr/>
        </p:nvSpPr>
        <p:spPr bwMode="auto">
          <a:xfrm>
            <a:off x="4267200" y="5761039"/>
            <a:ext cx="5842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0/14</a:t>
            </a:r>
          </a:p>
        </p:txBody>
      </p:sp>
      <p:sp>
        <p:nvSpPr>
          <p:cNvPr id="23581" name="TextBox 27">
            <a:extLst>
              <a:ext uri="{FF2B5EF4-FFF2-40B4-BE49-F238E27FC236}">
                <a16:creationId xmlns:a16="http://schemas.microsoft.com/office/drawing/2014/main" id="{E90F2D24-0B3D-4E7E-B818-A6ECF2DAD58D}"/>
              </a:ext>
            </a:extLst>
          </p:cNvPr>
          <p:cNvSpPr txBox="1">
            <a:spLocks noChangeArrowheads="1"/>
          </p:cNvSpPr>
          <p:nvPr/>
        </p:nvSpPr>
        <p:spPr bwMode="auto">
          <a:xfrm>
            <a:off x="4800600" y="4648200"/>
            <a:ext cx="4699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0/7</a:t>
            </a:r>
          </a:p>
        </p:txBody>
      </p:sp>
      <p:sp>
        <p:nvSpPr>
          <p:cNvPr id="23582" name="TextBox 28">
            <a:extLst>
              <a:ext uri="{FF2B5EF4-FFF2-40B4-BE49-F238E27FC236}">
                <a16:creationId xmlns:a16="http://schemas.microsoft.com/office/drawing/2014/main" id="{8B246853-2A63-45AD-8F81-86D11901CDD0}"/>
              </a:ext>
            </a:extLst>
          </p:cNvPr>
          <p:cNvSpPr txBox="1">
            <a:spLocks noChangeArrowheads="1"/>
          </p:cNvSpPr>
          <p:nvPr/>
        </p:nvSpPr>
        <p:spPr bwMode="auto">
          <a:xfrm>
            <a:off x="5562600" y="3856039"/>
            <a:ext cx="5842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0/20</a:t>
            </a:r>
          </a:p>
        </p:txBody>
      </p:sp>
      <p:sp>
        <p:nvSpPr>
          <p:cNvPr id="23583" name="TextBox 29">
            <a:extLst>
              <a:ext uri="{FF2B5EF4-FFF2-40B4-BE49-F238E27FC236}">
                <a16:creationId xmlns:a16="http://schemas.microsoft.com/office/drawing/2014/main" id="{A36A4845-EAE9-42D3-B308-EC45EDBDABC0}"/>
              </a:ext>
            </a:extLst>
          </p:cNvPr>
          <p:cNvSpPr txBox="1">
            <a:spLocks noChangeArrowheads="1"/>
          </p:cNvSpPr>
          <p:nvPr/>
        </p:nvSpPr>
        <p:spPr bwMode="auto">
          <a:xfrm>
            <a:off x="5578475" y="5292725"/>
            <a:ext cx="4699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0/4</a:t>
            </a:r>
          </a:p>
        </p:txBody>
      </p:sp>
      <p:sp>
        <p:nvSpPr>
          <p:cNvPr id="23584" name="TextBox 30">
            <a:extLst>
              <a:ext uri="{FF2B5EF4-FFF2-40B4-BE49-F238E27FC236}">
                <a16:creationId xmlns:a16="http://schemas.microsoft.com/office/drawing/2014/main" id="{07EB88F4-A534-4F23-B57F-83F30D0C8805}"/>
              </a:ext>
            </a:extLst>
          </p:cNvPr>
          <p:cNvSpPr txBox="1">
            <a:spLocks noChangeArrowheads="1"/>
          </p:cNvSpPr>
          <p:nvPr/>
        </p:nvSpPr>
        <p:spPr bwMode="auto">
          <a:xfrm>
            <a:off x="2895600" y="5334000"/>
            <a:ext cx="584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0/13</a:t>
            </a:r>
          </a:p>
        </p:txBody>
      </p:sp>
      <p:sp>
        <p:nvSpPr>
          <p:cNvPr id="23585" name="TextBox 31">
            <a:extLst>
              <a:ext uri="{FF2B5EF4-FFF2-40B4-BE49-F238E27FC236}">
                <a16:creationId xmlns:a16="http://schemas.microsoft.com/office/drawing/2014/main" id="{35C052A5-149C-4811-8597-CA59FAE3DBA9}"/>
              </a:ext>
            </a:extLst>
          </p:cNvPr>
          <p:cNvSpPr txBox="1">
            <a:spLocks noChangeArrowheads="1"/>
          </p:cNvSpPr>
          <p:nvPr/>
        </p:nvSpPr>
        <p:spPr bwMode="auto">
          <a:xfrm>
            <a:off x="6705600" y="4038600"/>
            <a:ext cx="3962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Using the notation:  </a:t>
            </a:r>
            <a:r>
              <a:rPr lang="en-US" altLang="en-US" b="1" i="1"/>
              <a:t>used / capacity</a:t>
            </a:r>
            <a:r>
              <a:rPr lang="en-US" altLang="en-US"/>
              <a:t>.</a:t>
            </a:r>
          </a:p>
          <a:p>
            <a:pPr eaLnBrk="1" hangingPunct="1"/>
            <a:endParaRPr lang="en-US" altLang="en-US"/>
          </a:p>
          <a:p>
            <a:pPr eaLnBrk="1" hangingPunct="1"/>
            <a:r>
              <a:rPr lang="en-US" altLang="en-US"/>
              <a:t>Residual Capacity:  </a:t>
            </a:r>
            <a:r>
              <a:rPr lang="en-US" altLang="en-US" b="1" i="1"/>
              <a:t>capacity - used</a:t>
            </a:r>
            <a:r>
              <a:rPr lang="en-US" altLang="en-US"/>
              <a:t>.</a:t>
            </a:r>
          </a:p>
          <a:p>
            <a:pPr eaLnBrk="1" hangingPunct="1"/>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BB438-8D3D-4A81-988E-540F9286019E}"/>
              </a:ext>
            </a:extLst>
          </p:cNvPr>
          <p:cNvSpPr>
            <a:spLocks noGrp="1"/>
          </p:cNvSpPr>
          <p:nvPr>
            <p:ph type="title"/>
          </p:nvPr>
        </p:nvSpPr>
        <p:spPr>
          <a:xfrm>
            <a:off x="2514600" y="0"/>
            <a:ext cx="7499350" cy="838200"/>
          </a:xfrm>
        </p:spPr>
        <p:txBody>
          <a:bodyPr>
            <a:normAutofit/>
          </a:bodyPr>
          <a:lstStyle/>
          <a:p>
            <a:pPr>
              <a:defRPr/>
            </a:pPr>
            <a:r>
              <a:rPr lang="en-US" sz="2800" dirty="0">
                <a:latin typeface="Times New Roman" panose="02020603050405020304" pitchFamily="18" charset="0"/>
                <a:cs typeface="Times New Roman" panose="02020603050405020304" pitchFamily="18" charset="0"/>
              </a:rPr>
              <a:t>Network Flow</a:t>
            </a:r>
          </a:p>
        </p:txBody>
      </p:sp>
      <p:sp>
        <p:nvSpPr>
          <p:cNvPr id="3" name="Content Placeholder 2">
            <a:extLst>
              <a:ext uri="{FF2B5EF4-FFF2-40B4-BE49-F238E27FC236}">
                <a16:creationId xmlns:a16="http://schemas.microsoft.com/office/drawing/2014/main" id="{06B10D7B-D95D-477B-AD72-DA9A7AA35B92}"/>
              </a:ext>
            </a:extLst>
          </p:cNvPr>
          <p:cNvSpPr>
            <a:spLocks noGrp="1"/>
          </p:cNvSpPr>
          <p:nvPr>
            <p:ph idx="1"/>
          </p:nvPr>
        </p:nvSpPr>
        <p:spPr>
          <a:xfrm>
            <a:off x="2362200" y="914400"/>
            <a:ext cx="8153400" cy="2286000"/>
          </a:xfrm>
        </p:spPr>
        <p:txBody>
          <a:bodyPr>
            <a:normAutofit lnSpcReduction="10000"/>
          </a:bodyPr>
          <a:lstStyle/>
          <a:p>
            <a:pPr lvl="1">
              <a:defRPr/>
            </a:pPr>
            <a:r>
              <a:rPr lang="en-US" sz="2200" b="1" i="1" dirty="0">
                <a:latin typeface="Times New Roman" panose="02020603050405020304" pitchFamily="18" charset="0"/>
                <a:cs typeface="Times New Roman" panose="02020603050405020304" pitchFamily="18" charset="0"/>
              </a:rPr>
              <a:t>Residual capacity of a path </a:t>
            </a:r>
            <a:r>
              <a:rPr lang="en-US" sz="2200" dirty="0">
                <a:latin typeface="Times New Roman" panose="02020603050405020304" pitchFamily="18" charset="0"/>
                <a:cs typeface="Times New Roman" panose="02020603050405020304" pitchFamily="18" charset="0"/>
              </a:rPr>
              <a:t>– the minimum of the residual capacities of the edges on that path, which will end up being the max excess flow we can push down that path.</a:t>
            </a:r>
          </a:p>
          <a:p>
            <a:pPr lvl="1">
              <a:defRPr/>
            </a:pPr>
            <a:endParaRPr lang="en-US" sz="2200" b="1" i="1" dirty="0">
              <a:latin typeface="Times New Roman" panose="02020603050405020304" pitchFamily="18" charset="0"/>
              <a:cs typeface="Times New Roman" panose="02020603050405020304" pitchFamily="18" charset="0"/>
            </a:endParaRPr>
          </a:p>
          <a:p>
            <a:pPr lvl="1">
              <a:defRPr/>
            </a:pPr>
            <a:r>
              <a:rPr lang="en-US" sz="2200" b="1" i="1" dirty="0">
                <a:latin typeface="Times New Roman" panose="02020603050405020304" pitchFamily="18" charset="0"/>
                <a:cs typeface="Times New Roman" panose="02020603050405020304" pitchFamily="18" charset="0"/>
              </a:rPr>
              <a:t>Augmenting path </a:t>
            </a:r>
            <a:r>
              <a:rPr lang="en-US" sz="2200" dirty="0">
                <a:latin typeface="Times New Roman" panose="02020603050405020304" pitchFamily="18" charset="0"/>
                <a:cs typeface="Times New Roman" panose="02020603050405020304" pitchFamily="18" charset="0"/>
              </a:rPr>
              <a:t>– defined as one where you have a path from the source to the sink where every edge has a non-zero residual capacity.</a:t>
            </a:r>
          </a:p>
          <a:p>
            <a:pPr lvl="1">
              <a:defRPr/>
            </a:pPr>
            <a:endParaRPr lang="en-US" dirty="0"/>
          </a:p>
          <a:p>
            <a:pPr lvl="2">
              <a:buFont typeface="Wingdings 2" panose="05020102010507070707" pitchFamily="18" charset="2"/>
              <a:buNone/>
              <a:defRPr/>
            </a:pPr>
            <a:endParaRPr lang="en-US" dirty="0"/>
          </a:p>
        </p:txBody>
      </p:sp>
      <p:sp>
        <p:nvSpPr>
          <p:cNvPr id="4" name="Oval 3">
            <a:extLst>
              <a:ext uri="{FF2B5EF4-FFF2-40B4-BE49-F238E27FC236}">
                <a16:creationId xmlns:a16="http://schemas.microsoft.com/office/drawing/2014/main" id="{2286DBAE-D635-49F2-B11C-4CBA34DBE2D2}"/>
              </a:ext>
            </a:extLst>
          </p:cNvPr>
          <p:cNvSpPr/>
          <p:nvPr/>
        </p:nvSpPr>
        <p:spPr>
          <a:xfrm>
            <a:off x="3886200" y="3540125"/>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a</a:t>
            </a:r>
          </a:p>
        </p:txBody>
      </p:sp>
      <p:sp>
        <p:nvSpPr>
          <p:cNvPr id="5" name="Oval 4">
            <a:extLst>
              <a:ext uri="{FF2B5EF4-FFF2-40B4-BE49-F238E27FC236}">
                <a16:creationId xmlns:a16="http://schemas.microsoft.com/office/drawing/2014/main" id="{D9B971B5-19E6-462A-B51F-E32D167746EE}"/>
              </a:ext>
            </a:extLst>
          </p:cNvPr>
          <p:cNvSpPr/>
          <p:nvPr/>
        </p:nvSpPr>
        <p:spPr>
          <a:xfrm>
            <a:off x="3200400" y="4606925"/>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s</a:t>
            </a:r>
          </a:p>
        </p:txBody>
      </p:sp>
      <p:sp>
        <p:nvSpPr>
          <p:cNvPr id="6" name="Oval 5">
            <a:extLst>
              <a:ext uri="{FF2B5EF4-FFF2-40B4-BE49-F238E27FC236}">
                <a16:creationId xmlns:a16="http://schemas.microsoft.com/office/drawing/2014/main" id="{75707B8C-D952-4BA3-A928-EFD7580B204E}"/>
              </a:ext>
            </a:extLst>
          </p:cNvPr>
          <p:cNvSpPr/>
          <p:nvPr/>
        </p:nvSpPr>
        <p:spPr>
          <a:xfrm>
            <a:off x="3886200" y="5597525"/>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c</a:t>
            </a:r>
          </a:p>
        </p:txBody>
      </p:sp>
      <p:sp>
        <p:nvSpPr>
          <p:cNvPr id="7" name="Oval 6">
            <a:extLst>
              <a:ext uri="{FF2B5EF4-FFF2-40B4-BE49-F238E27FC236}">
                <a16:creationId xmlns:a16="http://schemas.microsoft.com/office/drawing/2014/main" id="{E6F9A72E-3991-41E7-BCA1-0F77450919C1}"/>
              </a:ext>
            </a:extLst>
          </p:cNvPr>
          <p:cNvSpPr/>
          <p:nvPr/>
        </p:nvSpPr>
        <p:spPr>
          <a:xfrm>
            <a:off x="5334000" y="3540125"/>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b</a:t>
            </a:r>
          </a:p>
        </p:txBody>
      </p:sp>
      <p:sp>
        <p:nvSpPr>
          <p:cNvPr id="8" name="Oval 7">
            <a:extLst>
              <a:ext uri="{FF2B5EF4-FFF2-40B4-BE49-F238E27FC236}">
                <a16:creationId xmlns:a16="http://schemas.microsoft.com/office/drawing/2014/main" id="{A3FC6A37-761E-43F6-827B-DDC8AB41A523}"/>
              </a:ext>
            </a:extLst>
          </p:cNvPr>
          <p:cNvSpPr/>
          <p:nvPr/>
        </p:nvSpPr>
        <p:spPr>
          <a:xfrm>
            <a:off x="5334000" y="5597525"/>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d</a:t>
            </a:r>
          </a:p>
        </p:txBody>
      </p:sp>
      <p:sp>
        <p:nvSpPr>
          <p:cNvPr id="9" name="Oval 8">
            <a:extLst>
              <a:ext uri="{FF2B5EF4-FFF2-40B4-BE49-F238E27FC236}">
                <a16:creationId xmlns:a16="http://schemas.microsoft.com/office/drawing/2014/main" id="{9A046A3F-B5C3-46C7-BF5B-E20D5041B768}"/>
              </a:ext>
            </a:extLst>
          </p:cNvPr>
          <p:cNvSpPr/>
          <p:nvPr/>
        </p:nvSpPr>
        <p:spPr>
          <a:xfrm>
            <a:off x="6096000" y="4606925"/>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t</a:t>
            </a:r>
          </a:p>
        </p:txBody>
      </p:sp>
      <p:cxnSp>
        <p:nvCxnSpPr>
          <p:cNvPr id="10" name="Straight Arrow Connector 9">
            <a:extLst>
              <a:ext uri="{FF2B5EF4-FFF2-40B4-BE49-F238E27FC236}">
                <a16:creationId xmlns:a16="http://schemas.microsoft.com/office/drawing/2014/main" id="{53E7536F-1B30-44F7-B8EF-6F3B8E2E68CC}"/>
              </a:ext>
            </a:extLst>
          </p:cNvPr>
          <p:cNvCxnSpPr>
            <a:stCxn id="4" idx="6"/>
            <a:endCxn id="7" idx="2"/>
          </p:cNvCxnSpPr>
          <p:nvPr/>
        </p:nvCxnSpPr>
        <p:spPr>
          <a:xfrm>
            <a:off x="4343400" y="3768725"/>
            <a:ext cx="990600" cy="1588"/>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79D0AF1-FFC0-4970-8C3D-EEE1CDFE42D7}"/>
              </a:ext>
            </a:extLst>
          </p:cNvPr>
          <p:cNvCxnSpPr>
            <a:stCxn id="5" idx="0"/>
            <a:endCxn id="4" idx="3"/>
          </p:cNvCxnSpPr>
          <p:nvPr/>
        </p:nvCxnSpPr>
        <p:spPr>
          <a:xfrm rot="5400000" flipH="1" flipV="1">
            <a:off x="3352801" y="4006851"/>
            <a:ext cx="676275" cy="52387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0FFC73EC-B095-4A17-816C-D903567DB7CE}"/>
              </a:ext>
            </a:extLst>
          </p:cNvPr>
          <p:cNvCxnSpPr>
            <a:stCxn id="5" idx="4"/>
            <a:endCxn id="6" idx="1"/>
          </p:cNvCxnSpPr>
          <p:nvPr/>
        </p:nvCxnSpPr>
        <p:spPr>
          <a:xfrm rot="16200000" flipH="1">
            <a:off x="3390901" y="5102226"/>
            <a:ext cx="600075" cy="52387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0D27C50C-5B9F-454E-87FF-47EBC10F5B7A}"/>
              </a:ext>
            </a:extLst>
          </p:cNvPr>
          <p:cNvCxnSpPr>
            <a:stCxn id="6" idx="6"/>
            <a:endCxn id="8" idx="2"/>
          </p:cNvCxnSpPr>
          <p:nvPr/>
        </p:nvCxnSpPr>
        <p:spPr>
          <a:xfrm>
            <a:off x="4343400" y="5826125"/>
            <a:ext cx="990600" cy="1588"/>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D97CC176-F374-42B9-86B9-DBA9D38B87F1}"/>
              </a:ext>
            </a:extLst>
          </p:cNvPr>
          <p:cNvCxnSpPr>
            <a:stCxn id="8" idx="7"/>
            <a:endCxn id="9" idx="4"/>
          </p:cNvCxnSpPr>
          <p:nvPr/>
        </p:nvCxnSpPr>
        <p:spPr>
          <a:xfrm rot="5400000" flipH="1" flipV="1">
            <a:off x="5724526" y="5064126"/>
            <a:ext cx="600075" cy="60007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4BC70F9-3C85-46AC-B1C2-0B766D3F03AA}"/>
              </a:ext>
            </a:extLst>
          </p:cNvPr>
          <p:cNvCxnSpPr>
            <a:stCxn id="7" idx="5"/>
            <a:endCxn id="9" idx="0"/>
          </p:cNvCxnSpPr>
          <p:nvPr/>
        </p:nvCxnSpPr>
        <p:spPr>
          <a:xfrm rot="16200000" flipH="1">
            <a:off x="5686426" y="3968751"/>
            <a:ext cx="676275" cy="60007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0CA780D0-37A9-47F3-98EE-F0FACBEC39F9}"/>
              </a:ext>
            </a:extLst>
          </p:cNvPr>
          <p:cNvCxnSpPr/>
          <p:nvPr/>
        </p:nvCxnSpPr>
        <p:spPr>
          <a:xfrm rot="5400000" flipH="1" flipV="1">
            <a:off x="3390107" y="4796632"/>
            <a:ext cx="1600200" cy="1587"/>
          </a:xfrm>
          <a:prstGeom prst="straightConnector1">
            <a:avLst/>
          </a:prstGeom>
          <a:ln w="19050">
            <a:solidFill>
              <a:schemeClr val="tx1"/>
            </a:solidFill>
            <a:headEnd type="stealth" w="lg" len="lg"/>
            <a:tailEnd type="non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C65FC0F6-C9E8-4E61-9EDE-D0BF9A500642}"/>
              </a:ext>
            </a:extLst>
          </p:cNvPr>
          <p:cNvCxnSpPr>
            <a:stCxn id="8" idx="0"/>
            <a:endCxn id="7" idx="4"/>
          </p:cNvCxnSpPr>
          <p:nvPr/>
        </p:nvCxnSpPr>
        <p:spPr>
          <a:xfrm rot="5400000" flipH="1" flipV="1">
            <a:off x="4762501" y="4797426"/>
            <a:ext cx="1600200" cy="317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19B8A4A-1846-4FE6-9D20-F29E548B83CB}"/>
              </a:ext>
            </a:extLst>
          </p:cNvPr>
          <p:cNvCxnSpPr>
            <a:stCxn id="7" idx="3"/>
            <a:endCxn id="6" idx="7"/>
          </p:cNvCxnSpPr>
          <p:nvPr/>
        </p:nvCxnSpPr>
        <p:spPr>
          <a:xfrm rot="5400000">
            <a:off x="3971925" y="4235450"/>
            <a:ext cx="1733550" cy="1123950"/>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EDE45D4-2753-4333-88EB-A8F4E9611E4C}"/>
              </a:ext>
            </a:extLst>
          </p:cNvPr>
          <p:cNvCxnSpPr/>
          <p:nvPr/>
        </p:nvCxnSpPr>
        <p:spPr>
          <a:xfrm rot="5400000" flipH="1" flipV="1">
            <a:off x="3239294" y="4796631"/>
            <a:ext cx="1600200" cy="1588"/>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7609396C-D8ED-43C8-BD23-CFF5492C6B12}"/>
              </a:ext>
            </a:extLst>
          </p:cNvPr>
          <p:cNvSpPr/>
          <p:nvPr/>
        </p:nvSpPr>
        <p:spPr>
          <a:xfrm>
            <a:off x="2971800" y="3195935"/>
            <a:ext cx="3657600" cy="3200400"/>
          </a:xfrm>
          <a:prstGeom prst="rect">
            <a:avLst/>
          </a:prstGeom>
          <a:noFill/>
          <a:ln>
            <a:gradFill>
              <a:gsLst>
                <a:gs pos="0">
                  <a:srgbClr val="A603AB"/>
                </a:gs>
                <a:gs pos="21001">
                  <a:srgbClr val="0819FB"/>
                </a:gs>
                <a:gs pos="35001">
                  <a:srgbClr val="1A8D48"/>
                </a:gs>
                <a:gs pos="52000">
                  <a:srgbClr val="FFFF00"/>
                </a:gs>
                <a:gs pos="73000">
                  <a:srgbClr val="EE3F17"/>
                </a:gs>
                <a:gs pos="88000">
                  <a:srgbClr val="E81766"/>
                </a:gs>
                <a:gs pos="100000">
                  <a:srgbClr val="A603AB"/>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4599" name="TextBox 21">
            <a:extLst>
              <a:ext uri="{FF2B5EF4-FFF2-40B4-BE49-F238E27FC236}">
                <a16:creationId xmlns:a16="http://schemas.microsoft.com/office/drawing/2014/main" id="{CAEF488D-82B4-423D-8769-B7B767DE6FB7}"/>
              </a:ext>
            </a:extLst>
          </p:cNvPr>
          <p:cNvSpPr txBox="1">
            <a:spLocks noChangeArrowheads="1"/>
          </p:cNvSpPr>
          <p:nvPr/>
        </p:nvSpPr>
        <p:spPr bwMode="auto">
          <a:xfrm>
            <a:off x="4495800" y="3463925"/>
            <a:ext cx="584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0/12</a:t>
            </a:r>
          </a:p>
        </p:txBody>
      </p:sp>
      <p:sp>
        <p:nvSpPr>
          <p:cNvPr id="24600" name="TextBox 22">
            <a:extLst>
              <a:ext uri="{FF2B5EF4-FFF2-40B4-BE49-F238E27FC236}">
                <a16:creationId xmlns:a16="http://schemas.microsoft.com/office/drawing/2014/main" id="{F949A4F6-9740-4B59-A2D9-6D59421D0EB5}"/>
              </a:ext>
            </a:extLst>
          </p:cNvPr>
          <p:cNvSpPr txBox="1">
            <a:spLocks noChangeArrowheads="1"/>
          </p:cNvSpPr>
          <p:nvPr/>
        </p:nvSpPr>
        <p:spPr bwMode="auto">
          <a:xfrm>
            <a:off x="3200400" y="3932239"/>
            <a:ext cx="5842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0/16</a:t>
            </a:r>
          </a:p>
        </p:txBody>
      </p:sp>
      <p:sp>
        <p:nvSpPr>
          <p:cNvPr id="24601" name="TextBox 23">
            <a:extLst>
              <a:ext uri="{FF2B5EF4-FFF2-40B4-BE49-F238E27FC236}">
                <a16:creationId xmlns:a16="http://schemas.microsoft.com/office/drawing/2014/main" id="{EF160CDE-4161-4AC0-B3D9-89FEE06C45A0}"/>
              </a:ext>
            </a:extLst>
          </p:cNvPr>
          <p:cNvSpPr txBox="1">
            <a:spLocks noChangeArrowheads="1"/>
          </p:cNvSpPr>
          <p:nvPr/>
        </p:nvSpPr>
        <p:spPr bwMode="auto">
          <a:xfrm>
            <a:off x="4648200" y="4191000"/>
            <a:ext cx="4699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0/9</a:t>
            </a:r>
          </a:p>
        </p:txBody>
      </p:sp>
      <p:sp>
        <p:nvSpPr>
          <p:cNvPr id="24602" name="TextBox 24">
            <a:extLst>
              <a:ext uri="{FF2B5EF4-FFF2-40B4-BE49-F238E27FC236}">
                <a16:creationId xmlns:a16="http://schemas.microsoft.com/office/drawing/2014/main" id="{15376722-0142-4FE1-8F90-4D69167D511F}"/>
              </a:ext>
            </a:extLst>
          </p:cNvPr>
          <p:cNvSpPr txBox="1">
            <a:spLocks noChangeArrowheads="1"/>
          </p:cNvSpPr>
          <p:nvPr/>
        </p:nvSpPr>
        <p:spPr bwMode="auto">
          <a:xfrm>
            <a:off x="3609975" y="4495800"/>
            <a:ext cx="4699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0/4</a:t>
            </a:r>
          </a:p>
        </p:txBody>
      </p:sp>
      <p:sp>
        <p:nvSpPr>
          <p:cNvPr id="24603" name="TextBox 25">
            <a:extLst>
              <a:ext uri="{FF2B5EF4-FFF2-40B4-BE49-F238E27FC236}">
                <a16:creationId xmlns:a16="http://schemas.microsoft.com/office/drawing/2014/main" id="{3D97738E-B796-4585-9509-02B2FA0135E8}"/>
              </a:ext>
            </a:extLst>
          </p:cNvPr>
          <p:cNvSpPr txBox="1">
            <a:spLocks noChangeArrowheads="1"/>
          </p:cNvSpPr>
          <p:nvPr/>
        </p:nvSpPr>
        <p:spPr bwMode="auto">
          <a:xfrm>
            <a:off x="4114800" y="4530725"/>
            <a:ext cx="584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0/10</a:t>
            </a:r>
          </a:p>
        </p:txBody>
      </p:sp>
      <p:sp>
        <p:nvSpPr>
          <p:cNvPr id="24604" name="TextBox 26">
            <a:extLst>
              <a:ext uri="{FF2B5EF4-FFF2-40B4-BE49-F238E27FC236}">
                <a16:creationId xmlns:a16="http://schemas.microsoft.com/office/drawing/2014/main" id="{2CD54106-2CA1-4544-BF64-CFAB5105DDEE}"/>
              </a:ext>
            </a:extLst>
          </p:cNvPr>
          <p:cNvSpPr txBox="1">
            <a:spLocks noChangeArrowheads="1"/>
          </p:cNvSpPr>
          <p:nvPr/>
        </p:nvSpPr>
        <p:spPr bwMode="auto">
          <a:xfrm>
            <a:off x="4572000" y="5761039"/>
            <a:ext cx="5842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0/14</a:t>
            </a:r>
          </a:p>
        </p:txBody>
      </p:sp>
      <p:sp>
        <p:nvSpPr>
          <p:cNvPr id="24605" name="TextBox 27">
            <a:extLst>
              <a:ext uri="{FF2B5EF4-FFF2-40B4-BE49-F238E27FC236}">
                <a16:creationId xmlns:a16="http://schemas.microsoft.com/office/drawing/2014/main" id="{4E6C3C07-6C79-4935-BEAC-DD2FFF7B56B0}"/>
              </a:ext>
            </a:extLst>
          </p:cNvPr>
          <p:cNvSpPr txBox="1">
            <a:spLocks noChangeArrowheads="1"/>
          </p:cNvSpPr>
          <p:nvPr/>
        </p:nvSpPr>
        <p:spPr bwMode="auto">
          <a:xfrm>
            <a:off x="5105400" y="4648200"/>
            <a:ext cx="4699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0/7</a:t>
            </a:r>
          </a:p>
        </p:txBody>
      </p:sp>
      <p:sp>
        <p:nvSpPr>
          <p:cNvPr id="24606" name="TextBox 28">
            <a:extLst>
              <a:ext uri="{FF2B5EF4-FFF2-40B4-BE49-F238E27FC236}">
                <a16:creationId xmlns:a16="http://schemas.microsoft.com/office/drawing/2014/main" id="{DA15409B-D9CA-4944-9121-2EA04C81BE20}"/>
              </a:ext>
            </a:extLst>
          </p:cNvPr>
          <p:cNvSpPr txBox="1">
            <a:spLocks noChangeArrowheads="1"/>
          </p:cNvSpPr>
          <p:nvPr/>
        </p:nvSpPr>
        <p:spPr bwMode="auto">
          <a:xfrm>
            <a:off x="5867400" y="3856039"/>
            <a:ext cx="5842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0/20</a:t>
            </a:r>
          </a:p>
        </p:txBody>
      </p:sp>
      <p:sp>
        <p:nvSpPr>
          <p:cNvPr id="24607" name="TextBox 29">
            <a:extLst>
              <a:ext uri="{FF2B5EF4-FFF2-40B4-BE49-F238E27FC236}">
                <a16:creationId xmlns:a16="http://schemas.microsoft.com/office/drawing/2014/main" id="{59FEEBFF-FDE5-42F2-A701-E627CFA562A2}"/>
              </a:ext>
            </a:extLst>
          </p:cNvPr>
          <p:cNvSpPr txBox="1">
            <a:spLocks noChangeArrowheads="1"/>
          </p:cNvSpPr>
          <p:nvPr/>
        </p:nvSpPr>
        <p:spPr bwMode="auto">
          <a:xfrm>
            <a:off x="5883275" y="5292725"/>
            <a:ext cx="4699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0/4</a:t>
            </a:r>
          </a:p>
        </p:txBody>
      </p:sp>
      <p:sp>
        <p:nvSpPr>
          <p:cNvPr id="24608" name="TextBox 30">
            <a:extLst>
              <a:ext uri="{FF2B5EF4-FFF2-40B4-BE49-F238E27FC236}">
                <a16:creationId xmlns:a16="http://schemas.microsoft.com/office/drawing/2014/main" id="{3C74AA4A-516D-4FC0-AE32-C51E46E1DEAE}"/>
              </a:ext>
            </a:extLst>
          </p:cNvPr>
          <p:cNvSpPr txBox="1">
            <a:spLocks noChangeArrowheads="1"/>
          </p:cNvSpPr>
          <p:nvPr/>
        </p:nvSpPr>
        <p:spPr bwMode="auto">
          <a:xfrm>
            <a:off x="3200400" y="5334000"/>
            <a:ext cx="584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0/13</a:t>
            </a:r>
          </a:p>
        </p:txBody>
      </p:sp>
      <p:sp>
        <p:nvSpPr>
          <p:cNvPr id="24609" name="TextBox 31">
            <a:extLst>
              <a:ext uri="{FF2B5EF4-FFF2-40B4-BE49-F238E27FC236}">
                <a16:creationId xmlns:a16="http://schemas.microsoft.com/office/drawing/2014/main" id="{FE1F59B8-A212-408D-B69F-23799356863D}"/>
              </a:ext>
            </a:extLst>
          </p:cNvPr>
          <p:cNvSpPr txBox="1">
            <a:spLocks noChangeArrowheads="1"/>
          </p:cNvSpPr>
          <p:nvPr/>
        </p:nvSpPr>
        <p:spPr bwMode="auto">
          <a:xfrm>
            <a:off x="6827838" y="4038600"/>
            <a:ext cx="384016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Using the notation:  </a:t>
            </a:r>
            <a:r>
              <a:rPr lang="en-US" altLang="en-US" b="1" i="1"/>
              <a:t>used / unused</a:t>
            </a:r>
            <a:r>
              <a:rPr lang="en-US" altLang="en-US"/>
              <a:t>.</a:t>
            </a:r>
          </a:p>
          <a:p>
            <a:pPr eaLnBrk="1" hangingPunct="1"/>
            <a:endParaRPr lang="en-US" altLang="en-US"/>
          </a:p>
          <a:p>
            <a:pPr eaLnBrk="1" hangingPunct="1"/>
            <a:r>
              <a:rPr lang="en-US" altLang="en-US"/>
              <a:t>Residual Capacity:  </a:t>
            </a:r>
            <a:r>
              <a:rPr lang="en-US" altLang="en-US" b="1" i="1"/>
              <a:t>unused - used</a:t>
            </a:r>
            <a:r>
              <a:rPr lang="en-US" altLang="en-US"/>
              <a:t>.</a:t>
            </a:r>
          </a:p>
          <a:p>
            <a:pPr eaLnBrk="1" hangingPunct="1"/>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D2460-F3F8-43DA-A872-8B21A8960DA9}"/>
              </a:ext>
            </a:extLst>
          </p:cNvPr>
          <p:cNvSpPr>
            <a:spLocks noGrp="1"/>
          </p:cNvSpPr>
          <p:nvPr>
            <p:ph type="title"/>
          </p:nvPr>
        </p:nvSpPr>
        <p:spPr>
          <a:xfrm>
            <a:off x="2514600" y="0"/>
            <a:ext cx="7499350" cy="914400"/>
          </a:xfrm>
        </p:spPr>
        <p:txBody>
          <a:bodyPr>
            <a:normAutofit/>
          </a:bodyPr>
          <a:lstStyle/>
          <a:p>
            <a:pPr>
              <a:defRPr/>
            </a:pPr>
            <a:r>
              <a:rPr lang="en-US" sz="2800" dirty="0">
                <a:latin typeface="Times New Roman" panose="02020603050405020304" pitchFamily="18" charset="0"/>
                <a:cs typeface="Times New Roman" panose="02020603050405020304" pitchFamily="18" charset="0"/>
              </a:rPr>
              <a:t>Ford-Fulkerson Algorithm</a:t>
            </a:r>
          </a:p>
        </p:txBody>
      </p:sp>
      <p:sp>
        <p:nvSpPr>
          <p:cNvPr id="3" name="Content Placeholder 2">
            <a:extLst>
              <a:ext uri="{FF2B5EF4-FFF2-40B4-BE49-F238E27FC236}">
                <a16:creationId xmlns:a16="http://schemas.microsoft.com/office/drawing/2014/main" id="{2D4B3B66-3DEA-4F7B-B8F8-C2BBA2EA0DD2}"/>
              </a:ext>
            </a:extLst>
          </p:cNvPr>
          <p:cNvSpPr>
            <a:spLocks noGrp="1"/>
          </p:cNvSpPr>
          <p:nvPr>
            <p:ph idx="1"/>
          </p:nvPr>
        </p:nvSpPr>
        <p:spPr>
          <a:xfrm>
            <a:off x="2514600" y="914400"/>
            <a:ext cx="8153400" cy="2438400"/>
          </a:xfrm>
        </p:spPr>
        <p:txBody>
          <a:bodyPr>
            <a:normAutofit/>
          </a:bodyPr>
          <a:lstStyle/>
          <a:p>
            <a:pPr>
              <a:buFont typeface="Wingdings 2" panose="05020102010507070707" pitchFamily="18" charset="2"/>
              <a:buNone/>
              <a:defRPr/>
            </a:pPr>
            <a:r>
              <a:rPr lang="en-US" sz="2000" b="1" dirty="0">
                <a:latin typeface="Times New Roman" panose="02020603050405020304" pitchFamily="18" charset="0"/>
                <a:cs typeface="Times New Roman" panose="02020603050405020304" pitchFamily="18" charset="0"/>
              </a:rPr>
              <a:t>While there exists an augmenting path</a:t>
            </a:r>
          </a:p>
          <a:p>
            <a:pPr>
              <a:buFont typeface="Wingdings 2" panose="05020102010507070707" pitchFamily="18" charset="2"/>
              <a:buNone/>
              <a:defRPr/>
            </a:pPr>
            <a:r>
              <a:rPr lang="en-US" sz="2000" b="1" dirty="0">
                <a:latin typeface="Times New Roman" panose="02020603050405020304" pitchFamily="18" charset="0"/>
                <a:cs typeface="Times New Roman" panose="02020603050405020304" pitchFamily="18" charset="0"/>
              </a:rPr>
              <a:t>	Add the appropriate flow to that augmenting path</a:t>
            </a:r>
          </a:p>
          <a:p>
            <a:pPr>
              <a:defRPr/>
            </a:pPr>
            <a:endParaRPr lang="en-US" sz="2000" dirty="0">
              <a:latin typeface="Times New Roman" panose="02020603050405020304" pitchFamily="18" charset="0"/>
              <a:cs typeface="Times New Roman" panose="02020603050405020304" pitchFamily="18" charset="0"/>
            </a:endParaRPr>
          </a:p>
          <a:p>
            <a:pPr>
              <a:defRPr/>
            </a:pPr>
            <a:r>
              <a:rPr lang="en-US" sz="2000" dirty="0">
                <a:latin typeface="Times New Roman" panose="02020603050405020304" pitchFamily="18" charset="0"/>
                <a:cs typeface="Times New Roman" panose="02020603050405020304" pitchFamily="18" charset="0"/>
              </a:rPr>
              <a:t>So we’re going to arbitrarily choose an the augmenting path </a:t>
            </a:r>
            <a:r>
              <a:rPr lang="en-US" sz="2000" b="1" i="1" dirty="0" err="1">
                <a:latin typeface="Times New Roman" panose="02020603050405020304" pitchFamily="18" charset="0"/>
                <a:cs typeface="Times New Roman" panose="02020603050405020304" pitchFamily="18" charset="0"/>
              </a:rPr>
              <a:t>s,c,d,t</a:t>
            </a:r>
            <a:r>
              <a:rPr lang="en-US" sz="2000" dirty="0">
                <a:latin typeface="Times New Roman" panose="02020603050405020304" pitchFamily="18" charset="0"/>
                <a:cs typeface="Times New Roman" panose="02020603050405020304" pitchFamily="18" charset="0"/>
              </a:rPr>
              <a:t> in the graph below:</a:t>
            </a:r>
          </a:p>
          <a:p>
            <a:pPr lvl="1">
              <a:defRPr/>
            </a:pPr>
            <a:r>
              <a:rPr lang="en-US" sz="2000" dirty="0">
                <a:latin typeface="Times New Roman" panose="02020603050405020304" pitchFamily="18" charset="0"/>
                <a:cs typeface="Times New Roman" panose="02020603050405020304" pitchFamily="18" charset="0"/>
              </a:rPr>
              <a:t>And add the flow to that path.</a:t>
            </a:r>
          </a:p>
        </p:txBody>
      </p:sp>
      <p:sp>
        <p:nvSpPr>
          <p:cNvPr id="4" name="Oval 3">
            <a:extLst>
              <a:ext uri="{FF2B5EF4-FFF2-40B4-BE49-F238E27FC236}">
                <a16:creationId xmlns:a16="http://schemas.microsoft.com/office/drawing/2014/main" id="{6A903A87-75DC-41AE-AC50-93BBD83BEAF5}"/>
              </a:ext>
            </a:extLst>
          </p:cNvPr>
          <p:cNvSpPr/>
          <p:nvPr/>
        </p:nvSpPr>
        <p:spPr>
          <a:xfrm>
            <a:off x="3810000" y="3849688"/>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a</a:t>
            </a:r>
          </a:p>
        </p:txBody>
      </p:sp>
      <p:sp>
        <p:nvSpPr>
          <p:cNvPr id="5" name="Oval 4">
            <a:extLst>
              <a:ext uri="{FF2B5EF4-FFF2-40B4-BE49-F238E27FC236}">
                <a16:creationId xmlns:a16="http://schemas.microsoft.com/office/drawing/2014/main" id="{C6230B20-8B7B-4BCC-BC53-88A4A4CDECF4}"/>
              </a:ext>
            </a:extLst>
          </p:cNvPr>
          <p:cNvSpPr/>
          <p:nvPr/>
        </p:nvSpPr>
        <p:spPr>
          <a:xfrm>
            <a:off x="3124200" y="4916488"/>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s</a:t>
            </a:r>
          </a:p>
        </p:txBody>
      </p:sp>
      <p:sp>
        <p:nvSpPr>
          <p:cNvPr id="6" name="Oval 5">
            <a:extLst>
              <a:ext uri="{FF2B5EF4-FFF2-40B4-BE49-F238E27FC236}">
                <a16:creationId xmlns:a16="http://schemas.microsoft.com/office/drawing/2014/main" id="{9323D985-A787-422A-A589-BEA2193B33A4}"/>
              </a:ext>
            </a:extLst>
          </p:cNvPr>
          <p:cNvSpPr/>
          <p:nvPr/>
        </p:nvSpPr>
        <p:spPr>
          <a:xfrm>
            <a:off x="3810000" y="5907088"/>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c</a:t>
            </a:r>
          </a:p>
        </p:txBody>
      </p:sp>
      <p:sp>
        <p:nvSpPr>
          <p:cNvPr id="7" name="Oval 6">
            <a:extLst>
              <a:ext uri="{FF2B5EF4-FFF2-40B4-BE49-F238E27FC236}">
                <a16:creationId xmlns:a16="http://schemas.microsoft.com/office/drawing/2014/main" id="{DFA7AEE1-B294-4C68-AA59-AD0AB6617F26}"/>
              </a:ext>
            </a:extLst>
          </p:cNvPr>
          <p:cNvSpPr/>
          <p:nvPr/>
        </p:nvSpPr>
        <p:spPr>
          <a:xfrm>
            <a:off x="5257800" y="3849688"/>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b</a:t>
            </a:r>
          </a:p>
        </p:txBody>
      </p:sp>
      <p:sp>
        <p:nvSpPr>
          <p:cNvPr id="8" name="Oval 7">
            <a:extLst>
              <a:ext uri="{FF2B5EF4-FFF2-40B4-BE49-F238E27FC236}">
                <a16:creationId xmlns:a16="http://schemas.microsoft.com/office/drawing/2014/main" id="{CE45DB5E-517E-46C1-AE66-0E806371BCC4}"/>
              </a:ext>
            </a:extLst>
          </p:cNvPr>
          <p:cNvSpPr/>
          <p:nvPr/>
        </p:nvSpPr>
        <p:spPr>
          <a:xfrm>
            <a:off x="5257800" y="5907088"/>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d</a:t>
            </a:r>
          </a:p>
        </p:txBody>
      </p:sp>
      <p:sp>
        <p:nvSpPr>
          <p:cNvPr id="9" name="Oval 8">
            <a:extLst>
              <a:ext uri="{FF2B5EF4-FFF2-40B4-BE49-F238E27FC236}">
                <a16:creationId xmlns:a16="http://schemas.microsoft.com/office/drawing/2014/main" id="{42FF9181-9D9F-4415-91A4-345B70E9A602}"/>
              </a:ext>
            </a:extLst>
          </p:cNvPr>
          <p:cNvSpPr/>
          <p:nvPr/>
        </p:nvSpPr>
        <p:spPr>
          <a:xfrm>
            <a:off x="6019800" y="4916488"/>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t</a:t>
            </a:r>
          </a:p>
        </p:txBody>
      </p:sp>
      <p:cxnSp>
        <p:nvCxnSpPr>
          <p:cNvPr id="10" name="Straight Arrow Connector 9">
            <a:extLst>
              <a:ext uri="{FF2B5EF4-FFF2-40B4-BE49-F238E27FC236}">
                <a16:creationId xmlns:a16="http://schemas.microsoft.com/office/drawing/2014/main" id="{840A7F78-CBDB-42EE-BA99-1818D673F4E0}"/>
              </a:ext>
            </a:extLst>
          </p:cNvPr>
          <p:cNvCxnSpPr>
            <a:stCxn id="4" idx="6"/>
            <a:endCxn id="7" idx="2"/>
          </p:cNvCxnSpPr>
          <p:nvPr/>
        </p:nvCxnSpPr>
        <p:spPr>
          <a:xfrm>
            <a:off x="4267200" y="4078289"/>
            <a:ext cx="990600" cy="1587"/>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6E7387EB-2D91-4EB6-B8E6-E410C2CDCCAA}"/>
              </a:ext>
            </a:extLst>
          </p:cNvPr>
          <p:cNvCxnSpPr>
            <a:stCxn id="5" idx="0"/>
            <a:endCxn id="4" idx="3"/>
          </p:cNvCxnSpPr>
          <p:nvPr/>
        </p:nvCxnSpPr>
        <p:spPr>
          <a:xfrm rot="5400000" flipH="1" flipV="1">
            <a:off x="3276601" y="4316414"/>
            <a:ext cx="676275" cy="52387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5FC30765-DC3F-4424-9831-D5926687AD5E}"/>
              </a:ext>
            </a:extLst>
          </p:cNvPr>
          <p:cNvCxnSpPr>
            <a:stCxn id="5" idx="4"/>
            <a:endCxn id="6" idx="1"/>
          </p:cNvCxnSpPr>
          <p:nvPr/>
        </p:nvCxnSpPr>
        <p:spPr>
          <a:xfrm rot="16200000" flipH="1">
            <a:off x="3314701" y="5411789"/>
            <a:ext cx="600075" cy="523875"/>
          </a:xfrm>
          <a:prstGeom prst="straightConnector1">
            <a:avLst/>
          </a:prstGeom>
          <a:ln w="28575">
            <a:solidFill>
              <a:srgbClr val="C0000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0C6AE71D-0B95-4561-BDCE-8303E558F1D9}"/>
              </a:ext>
            </a:extLst>
          </p:cNvPr>
          <p:cNvCxnSpPr>
            <a:stCxn id="6" idx="6"/>
            <a:endCxn id="8" idx="2"/>
          </p:cNvCxnSpPr>
          <p:nvPr/>
        </p:nvCxnSpPr>
        <p:spPr>
          <a:xfrm>
            <a:off x="4267200" y="6135689"/>
            <a:ext cx="990600" cy="1587"/>
          </a:xfrm>
          <a:prstGeom prst="straightConnector1">
            <a:avLst/>
          </a:prstGeom>
          <a:ln w="28575">
            <a:solidFill>
              <a:srgbClr val="C0000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CA0B179C-6127-4F0A-8E01-A5A895A73FDC}"/>
              </a:ext>
            </a:extLst>
          </p:cNvPr>
          <p:cNvCxnSpPr>
            <a:stCxn id="8" idx="7"/>
            <a:endCxn id="9" idx="4"/>
          </p:cNvCxnSpPr>
          <p:nvPr/>
        </p:nvCxnSpPr>
        <p:spPr>
          <a:xfrm rot="5400000" flipH="1" flipV="1">
            <a:off x="5648326" y="5373689"/>
            <a:ext cx="600075" cy="600075"/>
          </a:xfrm>
          <a:prstGeom prst="straightConnector1">
            <a:avLst/>
          </a:prstGeom>
          <a:ln w="28575">
            <a:solidFill>
              <a:srgbClr val="C0000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E0F5A771-FE5A-4F97-AE20-4E1768C5B0A4}"/>
              </a:ext>
            </a:extLst>
          </p:cNvPr>
          <p:cNvCxnSpPr>
            <a:stCxn id="7" idx="5"/>
            <a:endCxn id="9" idx="0"/>
          </p:cNvCxnSpPr>
          <p:nvPr/>
        </p:nvCxnSpPr>
        <p:spPr>
          <a:xfrm rot="16200000" flipH="1">
            <a:off x="5610226" y="4278314"/>
            <a:ext cx="676275" cy="60007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E9383CEE-6803-4E09-9C81-5F288CACA380}"/>
              </a:ext>
            </a:extLst>
          </p:cNvPr>
          <p:cNvCxnSpPr/>
          <p:nvPr/>
        </p:nvCxnSpPr>
        <p:spPr>
          <a:xfrm rot="5400000" flipH="1" flipV="1">
            <a:off x="3313907" y="5106195"/>
            <a:ext cx="1600200" cy="1587"/>
          </a:xfrm>
          <a:prstGeom prst="straightConnector1">
            <a:avLst/>
          </a:prstGeom>
          <a:ln w="19050">
            <a:solidFill>
              <a:schemeClr val="tx1"/>
            </a:solidFill>
            <a:headEnd type="stealth" w="lg" len="lg"/>
            <a:tailEnd type="non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CDA6C4D-94C2-4359-AF28-AFE09786E55A}"/>
              </a:ext>
            </a:extLst>
          </p:cNvPr>
          <p:cNvCxnSpPr>
            <a:stCxn id="8" idx="0"/>
            <a:endCxn id="7" idx="4"/>
          </p:cNvCxnSpPr>
          <p:nvPr/>
        </p:nvCxnSpPr>
        <p:spPr>
          <a:xfrm rot="5400000" flipH="1" flipV="1">
            <a:off x="4686301" y="5105401"/>
            <a:ext cx="1600200" cy="317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71579C4-518B-46B2-86C1-BE4C74F5F974}"/>
              </a:ext>
            </a:extLst>
          </p:cNvPr>
          <p:cNvCxnSpPr>
            <a:stCxn id="7" idx="3"/>
            <a:endCxn id="6" idx="7"/>
          </p:cNvCxnSpPr>
          <p:nvPr/>
        </p:nvCxnSpPr>
        <p:spPr>
          <a:xfrm rot="5400000">
            <a:off x="3895725" y="4545013"/>
            <a:ext cx="1733550" cy="1123950"/>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E717DCAA-8CF2-4AF5-9F8B-34BAEF798D94}"/>
              </a:ext>
            </a:extLst>
          </p:cNvPr>
          <p:cNvCxnSpPr/>
          <p:nvPr/>
        </p:nvCxnSpPr>
        <p:spPr>
          <a:xfrm rot="5400000" flipH="1" flipV="1">
            <a:off x="3163094" y="5106194"/>
            <a:ext cx="1600200" cy="1588"/>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5EC548DA-5EAD-49F7-8074-3ECE487C7EC8}"/>
              </a:ext>
            </a:extLst>
          </p:cNvPr>
          <p:cNvSpPr/>
          <p:nvPr/>
        </p:nvSpPr>
        <p:spPr>
          <a:xfrm>
            <a:off x="2895600" y="3505200"/>
            <a:ext cx="3657600" cy="3200400"/>
          </a:xfrm>
          <a:prstGeom prst="rect">
            <a:avLst/>
          </a:prstGeom>
          <a:noFill/>
          <a:ln>
            <a:gradFill>
              <a:gsLst>
                <a:gs pos="0">
                  <a:srgbClr val="A603AB"/>
                </a:gs>
                <a:gs pos="21001">
                  <a:srgbClr val="0819FB"/>
                </a:gs>
                <a:gs pos="35001">
                  <a:srgbClr val="1A8D48"/>
                </a:gs>
                <a:gs pos="52000">
                  <a:srgbClr val="FFFF00"/>
                </a:gs>
                <a:gs pos="73000">
                  <a:srgbClr val="EE3F17"/>
                </a:gs>
                <a:gs pos="88000">
                  <a:srgbClr val="E81766"/>
                </a:gs>
                <a:gs pos="100000">
                  <a:srgbClr val="A603AB"/>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5623" name="TextBox 20">
            <a:extLst>
              <a:ext uri="{FF2B5EF4-FFF2-40B4-BE49-F238E27FC236}">
                <a16:creationId xmlns:a16="http://schemas.microsoft.com/office/drawing/2014/main" id="{13B814E5-EC0E-4F18-9BC0-AE3956189167}"/>
              </a:ext>
            </a:extLst>
          </p:cNvPr>
          <p:cNvSpPr txBox="1">
            <a:spLocks noChangeArrowheads="1"/>
          </p:cNvSpPr>
          <p:nvPr/>
        </p:nvSpPr>
        <p:spPr bwMode="auto">
          <a:xfrm>
            <a:off x="4419600" y="3773489"/>
            <a:ext cx="5842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0/12</a:t>
            </a:r>
          </a:p>
        </p:txBody>
      </p:sp>
      <p:sp>
        <p:nvSpPr>
          <p:cNvPr id="25624" name="TextBox 21">
            <a:extLst>
              <a:ext uri="{FF2B5EF4-FFF2-40B4-BE49-F238E27FC236}">
                <a16:creationId xmlns:a16="http://schemas.microsoft.com/office/drawing/2014/main" id="{84B69ED8-E815-448B-80C4-A2348B7439C2}"/>
              </a:ext>
            </a:extLst>
          </p:cNvPr>
          <p:cNvSpPr txBox="1">
            <a:spLocks noChangeArrowheads="1"/>
          </p:cNvSpPr>
          <p:nvPr/>
        </p:nvSpPr>
        <p:spPr bwMode="auto">
          <a:xfrm>
            <a:off x="3124200" y="4241800"/>
            <a:ext cx="584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0/16</a:t>
            </a:r>
          </a:p>
        </p:txBody>
      </p:sp>
      <p:sp>
        <p:nvSpPr>
          <p:cNvPr id="25625" name="TextBox 22">
            <a:extLst>
              <a:ext uri="{FF2B5EF4-FFF2-40B4-BE49-F238E27FC236}">
                <a16:creationId xmlns:a16="http://schemas.microsoft.com/office/drawing/2014/main" id="{9EC4C663-50F1-4885-B241-726B5A1D8699}"/>
              </a:ext>
            </a:extLst>
          </p:cNvPr>
          <p:cNvSpPr txBox="1">
            <a:spLocks noChangeArrowheads="1"/>
          </p:cNvSpPr>
          <p:nvPr/>
        </p:nvSpPr>
        <p:spPr bwMode="auto">
          <a:xfrm>
            <a:off x="4572000" y="4500564"/>
            <a:ext cx="4699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0/9</a:t>
            </a:r>
          </a:p>
        </p:txBody>
      </p:sp>
      <p:sp>
        <p:nvSpPr>
          <p:cNvPr id="25626" name="TextBox 23">
            <a:extLst>
              <a:ext uri="{FF2B5EF4-FFF2-40B4-BE49-F238E27FC236}">
                <a16:creationId xmlns:a16="http://schemas.microsoft.com/office/drawing/2014/main" id="{E74B4D44-D580-4DEE-91F1-DB8C74B27A13}"/>
              </a:ext>
            </a:extLst>
          </p:cNvPr>
          <p:cNvSpPr txBox="1">
            <a:spLocks noChangeArrowheads="1"/>
          </p:cNvSpPr>
          <p:nvPr/>
        </p:nvSpPr>
        <p:spPr bwMode="auto">
          <a:xfrm>
            <a:off x="3533775" y="4805364"/>
            <a:ext cx="4699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0/4</a:t>
            </a:r>
          </a:p>
        </p:txBody>
      </p:sp>
      <p:sp>
        <p:nvSpPr>
          <p:cNvPr id="25627" name="TextBox 24">
            <a:extLst>
              <a:ext uri="{FF2B5EF4-FFF2-40B4-BE49-F238E27FC236}">
                <a16:creationId xmlns:a16="http://schemas.microsoft.com/office/drawing/2014/main" id="{861A3B5E-8C28-4918-910E-70E9C2F8AB32}"/>
              </a:ext>
            </a:extLst>
          </p:cNvPr>
          <p:cNvSpPr txBox="1">
            <a:spLocks noChangeArrowheads="1"/>
          </p:cNvSpPr>
          <p:nvPr/>
        </p:nvSpPr>
        <p:spPr bwMode="auto">
          <a:xfrm>
            <a:off x="4038600" y="4840289"/>
            <a:ext cx="5842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0/10</a:t>
            </a:r>
          </a:p>
        </p:txBody>
      </p:sp>
      <p:sp>
        <p:nvSpPr>
          <p:cNvPr id="26" name="TextBox 25">
            <a:extLst>
              <a:ext uri="{FF2B5EF4-FFF2-40B4-BE49-F238E27FC236}">
                <a16:creationId xmlns:a16="http://schemas.microsoft.com/office/drawing/2014/main" id="{E8C148BE-697E-4A0A-8825-E3B49365F35A}"/>
              </a:ext>
            </a:extLst>
          </p:cNvPr>
          <p:cNvSpPr txBox="1">
            <a:spLocks noChangeArrowheads="1"/>
          </p:cNvSpPr>
          <p:nvPr/>
        </p:nvSpPr>
        <p:spPr bwMode="auto">
          <a:xfrm>
            <a:off x="4495800" y="6070600"/>
            <a:ext cx="584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0/14</a:t>
            </a:r>
          </a:p>
        </p:txBody>
      </p:sp>
      <p:sp>
        <p:nvSpPr>
          <p:cNvPr id="25629" name="TextBox 26">
            <a:extLst>
              <a:ext uri="{FF2B5EF4-FFF2-40B4-BE49-F238E27FC236}">
                <a16:creationId xmlns:a16="http://schemas.microsoft.com/office/drawing/2014/main" id="{015F567D-A69E-4F5D-BE3B-E245ED72BD8F}"/>
              </a:ext>
            </a:extLst>
          </p:cNvPr>
          <p:cNvSpPr txBox="1">
            <a:spLocks noChangeArrowheads="1"/>
          </p:cNvSpPr>
          <p:nvPr/>
        </p:nvSpPr>
        <p:spPr bwMode="auto">
          <a:xfrm>
            <a:off x="5029200" y="4957764"/>
            <a:ext cx="4699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0/7</a:t>
            </a:r>
          </a:p>
        </p:txBody>
      </p:sp>
      <p:sp>
        <p:nvSpPr>
          <p:cNvPr id="25630" name="TextBox 27">
            <a:extLst>
              <a:ext uri="{FF2B5EF4-FFF2-40B4-BE49-F238E27FC236}">
                <a16:creationId xmlns:a16="http://schemas.microsoft.com/office/drawing/2014/main" id="{3D5361C5-6759-4992-B7FC-3FBD73D3386F}"/>
              </a:ext>
            </a:extLst>
          </p:cNvPr>
          <p:cNvSpPr txBox="1">
            <a:spLocks noChangeArrowheads="1"/>
          </p:cNvSpPr>
          <p:nvPr/>
        </p:nvSpPr>
        <p:spPr bwMode="auto">
          <a:xfrm>
            <a:off x="5791200" y="4165600"/>
            <a:ext cx="584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0/20</a:t>
            </a:r>
          </a:p>
        </p:txBody>
      </p:sp>
      <p:sp>
        <p:nvSpPr>
          <p:cNvPr id="29" name="TextBox 28">
            <a:extLst>
              <a:ext uri="{FF2B5EF4-FFF2-40B4-BE49-F238E27FC236}">
                <a16:creationId xmlns:a16="http://schemas.microsoft.com/office/drawing/2014/main" id="{62ACB7E7-AAF8-41FE-AD1B-6990CF13F21E}"/>
              </a:ext>
            </a:extLst>
          </p:cNvPr>
          <p:cNvSpPr txBox="1">
            <a:spLocks noChangeArrowheads="1"/>
          </p:cNvSpPr>
          <p:nvPr/>
        </p:nvSpPr>
        <p:spPr bwMode="auto">
          <a:xfrm>
            <a:off x="5807075" y="5602289"/>
            <a:ext cx="4699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0/4</a:t>
            </a:r>
          </a:p>
        </p:txBody>
      </p:sp>
      <p:sp>
        <p:nvSpPr>
          <p:cNvPr id="30" name="TextBox 29">
            <a:extLst>
              <a:ext uri="{FF2B5EF4-FFF2-40B4-BE49-F238E27FC236}">
                <a16:creationId xmlns:a16="http://schemas.microsoft.com/office/drawing/2014/main" id="{E8ACB100-A073-4120-AA58-0A3FBBD92CEA}"/>
              </a:ext>
            </a:extLst>
          </p:cNvPr>
          <p:cNvSpPr txBox="1">
            <a:spLocks noChangeArrowheads="1"/>
          </p:cNvSpPr>
          <p:nvPr/>
        </p:nvSpPr>
        <p:spPr bwMode="auto">
          <a:xfrm>
            <a:off x="3124200" y="5643564"/>
            <a:ext cx="5842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0/13</a:t>
            </a:r>
          </a:p>
        </p:txBody>
      </p:sp>
      <p:sp>
        <p:nvSpPr>
          <p:cNvPr id="31" name="Content Placeholder 2">
            <a:extLst>
              <a:ext uri="{FF2B5EF4-FFF2-40B4-BE49-F238E27FC236}">
                <a16:creationId xmlns:a16="http://schemas.microsoft.com/office/drawing/2014/main" id="{E9416754-84AD-46A3-A6D5-E8692B73BD26}"/>
              </a:ext>
            </a:extLst>
          </p:cNvPr>
          <p:cNvSpPr txBox="1">
            <a:spLocks/>
          </p:cNvSpPr>
          <p:nvPr/>
        </p:nvSpPr>
        <p:spPr bwMode="auto">
          <a:xfrm>
            <a:off x="6705600" y="3352800"/>
            <a:ext cx="3962400" cy="1066800"/>
          </a:xfrm>
          <a:prstGeom prst="rect">
            <a:avLst/>
          </a:prstGeom>
          <a:noFill/>
          <a:ln w="9525">
            <a:noFill/>
            <a:miter lim="800000"/>
            <a:headEnd/>
            <a:tailEnd/>
          </a:ln>
        </p:spPr>
        <p:txBody>
          <a:bodyPr>
            <a:normAutofit fontScale="70000" lnSpcReduction="20000"/>
          </a:bodyPr>
          <a:lstStyle/>
          <a:p>
            <a:pPr marL="182563" indent="-236538" eaLnBrk="0" hangingPunct="0">
              <a:spcBef>
                <a:spcPts val="550"/>
              </a:spcBef>
              <a:buClr>
                <a:schemeClr val="accent1"/>
              </a:buClr>
              <a:buFont typeface="Verdana" pitchFamily="34" charset="0"/>
              <a:buChar char="◦"/>
              <a:defRPr/>
            </a:pPr>
            <a:r>
              <a:rPr lang="en-US" sz="2800" b="1" i="1" dirty="0">
                <a:latin typeface="Times New Roman" panose="02020603050405020304" pitchFamily="18" charset="0"/>
                <a:cs typeface="Times New Roman" panose="02020603050405020304" pitchFamily="18" charset="0"/>
              </a:rPr>
              <a:t>Residual capacity of a path </a:t>
            </a:r>
            <a:r>
              <a:rPr lang="en-US" sz="2800" dirty="0">
                <a:latin typeface="Times New Roman" panose="02020603050405020304" pitchFamily="18" charset="0"/>
                <a:cs typeface="Times New Roman" panose="02020603050405020304" pitchFamily="18" charset="0"/>
              </a:rPr>
              <a:t>– the minimum of the residual capacities of the edges on that path.</a:t>
            </a:r>
          </a:p>
          <a:p>
            <a:pPr marL="639763" lvl="1" indent="-236538" eaLnBrk="0" hangingPunct="0">
              <a:spcBef>
                <a:spcPts val="550"/>
              </a:spcBef>
              <a:buClr>
                <a:schemeClr val="accent1"/>
              </a:buClr>
              <a:buFont typeface="Verdana" pitchFamily="34" charset="0"/>
              <a:buChar char="◦"/>
              <a:defRPr/>
            </a:pPr>
            <a:endParaRPr lang="en-US" sz="2800" dirty="0">
              <a:latin typeface="Times New Roman" panose="02020603050405020304" pitchFamily="18" charset="0"/>
              <a:cs typeface="Times New Roman" panose="02020603050405020304" pitchFamily="18" charset="0"/>
            </a:endParaRPr>
          </a:p>
          <a:p>
            <a:pPr marL="885825" lvl="2" indent="-228600" eaLnBrk="0" hangingPunct="0">
              <a:spcBef>
                <a:spcPct val="20000"/>
              </a:spcBef>
              <a:buClr>
                <a:schemeClr val="accent2"/>
              </a:buClr>
              <a:defRPr/>
            </a:pPr>
            <a:endParaRPr lang="en-US" sz="2400" dirty="0"/>
          </a:p>
        </p:txBody>
      </p:sp>
      <p:sp>
        <p:nvSpPr>
          <p:cNvPr id="32" name="Content Placeholder 2">
            <a:extLst>
              <a:ext uri="{FF2B5EF4-FFF2-40B4-BE49-F238E27FC236}">
                <a16:creationId xmlns:a16="http://schemas.microsoft.com/office/drawing/2014/main" id="{EA0D8CEA-B987-4C14-8306-F105BCE28DD8}"/>
              </a:ext>
            </a:extLst>
          </p:cNvPr>
          <p:cNvSpPr txBox="1">
            <a:spLocks/>
          </p:cNvSpPr>
          <p:nvPr/>
        </p:nvSpPr>
        <p:spPr bwMode="auto">
          <a:xfrm>
            <a:off x="6705600" y="4724400"/>
            <a:ext cx="3962400" cy="1066800"/>
          </a:xfrm>
          <a:prstGeom prst="rect">
            <a:avLst/>
          </a:prstGeom>
          <a:noFill/>
          <a:ln w="9525">
            <a:noFill/>
            <a:miter lim="800000"/>
            <a:headEnd/>
            <a:tailEnd/>
          </a:ln>
        </p:spPr>
        <p:txBody>
          <a:bodyPr>
            <a:normAutofit/>
          </a:bodyPr>
          <a:lstStyle/>
          <a:p>
            <a:pPr marL="182563" indent="-236538" eaLnBrk="0" hangingPunct="0">
              <a:spcBef>
                <a:spcPts val="550"/>
              </a:spcBef>
              <a:buClr>
                <a:schemeClr val="accent1"/>
              </a:buClr>
              <a:buFont typeface="Verdana" pitchFamily="34" charset="0"/>
              <a:buChar char="◦"/>
              <a:defRPr/>
            </a:pPr>
            <a:r>
              <a:rPr lang="en-US" sz="2000" b="1" i="1" dirty="0">
                <a:latin typeface="Times New Roman" panose="02020603050405020304" pitchFamily="18" charset="0"/>
                <a:cs typeface="Times New Roman" panose="02020603050405020304" pitchFamily="18" charset="0"/>
              </a:rPr>
              <a:t>4 in this case, </a:t>
            </a:r>
            <a:r>
              <a:rPr lang="en-US" sz="2000" i="1" dirty="0">
                <a:latin typeface="Times New Roman" panose="02020603050405020304" pitchFamily="18" charset="0"/>
                <a:cs typeface="Times New Roman" panose="02020603050405020304" pitchFamily="18" charset="0"/>
              </a:rPr>
              <a:t>which is the limiting factor for this path’s flow</a:t>
            </a:r>
            <a:r>
              <a:rPr lang="en-US" sz="2200" i="1" dirty="0">
                <a:latin typeface="Times New Roman" panose="02020603050405020304" pitchFamily="18" charset="0"/>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a:p>
            <a:pPr marL="639763" lvl="1" indent="-236538" eaLnBrk="0" hangingPunct="0">
              <a:spcBef>
                <a:spcPts val="550"/>
              </a:spcBef>
              <a:buClr>
                <a:schemeClr val="accent1"/>
              </a:buClr>
              <a:buFont typeface="Verdana" pitchFamily="34" charset="0"/>
              <a:buChar char="◦"/>
              <a:defRPr/>
            </a:pPr>
            <a:endParaRPr lang="en-US" sz="2800" dirty="0"/>
          </a:p>
          <a:p>
            <a:pPr marL="885825" lvl="2" indent="-228600" eaLnBrk="0" hangingPunct="0">
              <a:spcBef>
                <a:spcPct val="20000"/>
              </a:spcBef>
              <a:buClr>
                <a:schemeClr val="accent2"/>
              </a:buClr>
              <a:defRPr/>
            </a:pPr>
            <a:endParaRPr lang="en-US" sz="2400" dirty="0"/>
          </a:p>
        </p:txBody>
      </p:sp>
      <p:sp>
        <p:nvSpPr>
          <p:cNvPr id="33" name="TextBox 32">
            <a:extLst>
              <a:ext uri="{FF2B5EF4-FFF2-40B4-BE49-F238E27FC236}">
                <a16:creationId xmlns:a16="http://schemas.microsoft.com/office/drawing/2014/main" id="{486095C3-704E-40D4-9FC3-D7CFAAEE5135}"/>
              </a:ext>
            </a:extLst>
          </p:cNvPr>
          <p:cNvSpPr txBox="1">
            <a:spLocks noChangeArrowheads="1"/>
          </p:cNvSpPr>
          <p:nvPr/>
        </p:nvSpPr>
        <p:spPr bwMode="auto">
          <a:xfrm>
            <a:off x="4495800" y="6062664"/>
            <a:ext cx="5842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4/14</a:t>
            </a:r>
          </a:p>
        </p:txBody>
      </p:sp>
      <p:sp>
        <p:nvSpPr>
          <p:cNvPr id="34" name="TextBox 33">
            <a:extLst>
              <a:ext uri="{FF2B5EF4-FFF2-40B4-BE49-F238E27FC236}">
                <a16:creationId xmlns:a16="http://schemas.microsoft.com/office/drawing/2014/main" id="{CA4FA399-F4C6-493A-8013-58D20148CA25}"/>
              </a:ext>
            </a:extLst>
          </p:cNvPr>
          <p:cNvSpPr txBox="1">
            <a:spLocks noChangeArrowheads="1"/>
          </p:cNvSpPr>
          <p:nvPr/>
        </p:nvSpPr>
        <p:spPr bwMode="auto">
          <a:xfrm>
            <a:off x="5807075" y="5592764"/>
            <a:ext cx="4699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4/4</a:t>
            </a:r>
          </a:p>
        </p:txBody>
      </p:sp>
      <p:sp>
        <p:nvSpPr>
          <p:cNvPr id="35" name="TextBox 34">
            <a:extLst>
              <a:ext uri="{FF2B5EF4-FFF2-40B4-BE49-F238E27FC236}">
                <a16:creationId xmlns:a16="http://schemas.microsoft.com/office/drawing/2014/main" id="{85130C8A-C18C-4493-80A0-49737F8C30D4}"/>
              </a:ext>
            </a:extLst>
          </p:cNvPr>
          <p:cNvSpPr txBox="1">
            <a:spLocks noChangeArrowheads="1"/>
          </p:cNvSpPr>
          <p:nvPr/>
        </p:nvSpPr>
        <p:spPr bwMode="auto">
          <a:xfrm>
            <a:off x="3124200" y="5634039"/>
            <a:ext cx="5842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4/13</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hidden"/>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9" grpId="0"/>
      <p:bldP spid="30" grpId="0"/>
      <p:bldP spid="33" grpId="0"/>
      <p:bldP spid="34" grpId="0"/>
      <p:bldP spid="3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9BC1F-6D92-4354-AEBE-37AC864737B6}"/>
              </a:ext>
            </a:extLst>
          </p:cNvPr>
          <p:cNvSpPr>
            <a:spLocks noGrp="1"/>
          </p:cNvSpPr>
          <p:nvPr>
            <p:ph type="title"/>
          </p:nvPr>
        </p:nvSpPr>
        <p:spPr>
          <a:xfrm>
            <a:off x="2514600" y="0"/>
            <a:ext cx="7499350" cy="914400"/>
          </a:xfrm>
        </p:spPr>
        <p:txBody>
          <a:bodyPr>
            <a:normAutofit/>
          </a:bodyPr>
          <a:lstStyle/>
          <a:p>
            <a:pPr>
              <a:defRPr/>
            </a:pPr>
            <a:r>
              <a:rPr lang="en-US" sz="2800" dirty="0">
                <a:latin typeface="Times New Roman" panose="02020603050405020304" pitchFamily="18" charset="0"/>
                <a:cs typeface="Times New Roman" panose="02020603050405020304" pitchFamily="18" charset="0"/>
              </a:rPr>
              <a:t>Ford-Fulkerson Algorithm</a:t>
            </a:r>
          </a:p>
        </p:txBody>
      </p:sp>
      <p:sp>
        <p:nvSpPr>
          <p:cNvPr id="3" name="Content Placeholder 2">
            <a:extLst>
              <a:ext uri="{FF2B5EF4-FFF2-40B4-BE49-F238E27FC236}">
                <a16:creationId xmlns:a16="http://schemas.microsoft.com/office/drawing/2014/main" id="{108279B5-8973-4F73-B278-EB7BDF61BDB1}"/>
              </a:ext>
            </a:extLst>
          </p:cNvPr>
          <p:cNvSpPr>
            <a:spLocks noGrp="1"/>
          </p:cNvSpPr>
          <p:nvPr>
            <p:ph idx="1"/>
          </p:nvPr>
        </p:nvSpPr>
        <p:spPr>
          <a:xfrm>
            <a:off x="2514600" y="914400"/>
            <a:ext cx="8153400" cy="2438400"/>
          </a:xfrm>
        </p:spPr>
        <p:txBody>
          <a:bodyPr>
            <a:normAutofit/>
          </a:bodyPr>
          <a:lstStyle/>
          <a:p>
            <a:pPr>
              <a:buFont typeface="Wingdings 2" panose="05020102010507070707" pitchFamily="18" charset="2"/>
              <a:buNone/>
              <a:defRPr/>
            </a:pPr>
            <a:r>
              <a:rPr lang="en-US" sz="2000" b="1" dirty="0">
                <a:latin typeface="Times New Roman" panose="02020603050405020304" pitchFamily="18" charset="0"/>
                <a:cs typeface="Times New Roman" panose="02020603050405020304" pitchFamily="18" charset="0"/>
              </a:rPr>
              <a:t>While there exists an augmenting path</a:t>
            </a:r>
          </a:p>
          <a:p>
            <a:pPr>
              <a:buFont typeface="Wingdings 2" panose="05020102010507070707" pitchFamily="18" charset="2"/>
              <a:buNone/>
              <a:defRPr/>
            </a:pPr>
            <a:r>
              <a:rPr lang="en-US" sz="2000" b="1" dirty="0">
                <a:latin typeface="Times New Roman" panose="02020603050405020304" pitchFamily="18" charset="0"/>
                <a:cs typeface="Times New Roman" panose="02020603050405020304" pitchFamily="18" charset="0"/>
              </a:rPr>
              <a:t>	Add the appropriate flow to that augmenting path</a:t>
            </a:r>
          </a:p>
          <a:p>
            <a:pPr>
              <a:defRPr/>
            </a:pPr>
            <a:endParaRPr lang="en-US" sz="2000" dirty="0">
              <a:latin typeface="Times New Roman" panose="02020603050405020304" pitchFamily="18" charset="0"/>
              <a:cs typeface="Times New Roman" panose="02020603050405020304" pitchFamily="18" charset="0"/>
            </a:endParaRPr>
          </a:p>
          <a:p>
            <a:pPr>
              <a:defRPr/>
            </a:pPr>
            <a:r>
              <a:rPr lang="en-US" sz="2000" dirty="0">
                <a:latin typeface="Times New Roman" panose="02020603050405020304" pitchFamily="18" charset="0"/>
                <a:cs typeface="Times New Roman" panose="02020603050405020304" pitchFamily="18" charset="0"/>
              </a:rPr>
              <a:t>Choose another augmenting path (one where you have a path from the source to the sink where every edge has a non-zero residual capacity.) </a:t>
            </a:r>
          </a:p>
          <a:p>
            <a:pPr lvl="1">
              <a:defRPr/>
            </a:pPr>
            <a:r>
              <a:rPr lang="en-US" sz="2000" b="1" i="1" dirty="0" err="1">
                <a:latin typeface="Times New Roman" panose="02020603050405020304" pitchFamily="18" charset="0"/>
                <a:cs typeface="Times New Roman" panose="02020603050405020304" pitchFamily="18" charset="0"/>
              </a:rPr>
              <a:t>s,a,b,t</a:t>
            </a:r>
            <a:endParaRPr lang="en-US" sz="2000" dirty="0">
              <a:latin typeface="Times New Roman" panose="02020603050405020304" pitchFamily="18" charset="0"/>
              <a:cs typeface="Times New Roman" panose="02020603050405020304" pitchFamily="18" charset="0"/>
            </a:endParaRPr>
          </a:p>
        </p:txBody>
      </p:sp>
      <p:sp>
        <p:nvSpPr>
          <p:cNvPr id="4" name="Oval 3">
            <a:extLst>
              <a:ext uri="{FF2B5EF4-FFF2-40B4-BE49-F238E27FC236}">
                <a16:creationId xmlns:a16="http://schemas.microsoft.com/office/drawing/2014/main" id="{5194F329-51FE-4D11-8AD6-F02D0749454A}"/>
              </a:ext>
            </a:extLst>
          </p:cNvPr>
          <p:cNvSpPr/>
          <p:nvPr/>
        </p:nvSpPr>
        <p:spPr>
          <a:xfrm>
            <a:off x="3810000" y="3849688"/>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a</a:t>
            </a:r>
          </a:p>
        </p:txBody>
      </p:sp>
      <p:sp>
        <p:nvSpPr>
          <p:cNvPr id="5" name="Oval 4">
            <a:extLst>
              <a:ext uri="{FF2B5EF4-FFF2-40B4-BE49-F238E27FC236}">
                <a16:creationId xmlns:a16="http://schemas.microsoft.com/office/drawing/2014/main" id="{05549C41-1C50-45D5-BD5A-986123AC87C4}"/>
              </a:ext>
            </a:extLst>
          </p:cNvPr>
          <p:cNvSpPr/>
          <p:nvPr/>
        </p:nvSpPr>
        <p:spPr>
          <a:xfrm>
            <a:off x="3124200" y="4916488"/>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s</a:t>
            </a:r>
          </a:p>
        </p:txBody>
      </p:sp>
      <p:sp>
        <p:nvSpPr>
          <p:cNvPr id="6" name="Oval 5">
            <a:extLst>
              <a:ext uri="{FF2B5EF4-FFF2-40B4-BE49-F238E27FC236}">
                <a16:creationId xmlns:a16="http://schemas.microsoft.com/office/drawing/2014/main" id="{014B2D86-55F3-44AA-B8F0-942D8174242C}"/>
              </a:ext>
            </a:extLst>
          </p:cNvPr>
          <p:cNvSpPr/>
          <p:nvPr/>
        </p:nvSpPr>
        <p:spPr>
          <a:xfrm>
            <a:off x="3810000" y="5907088"/>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c</a:t>
            </a:r>
          </a:p>
        </p:txBody>
      </p:sp>
      <p:sp>
        <p:nvSpPr>
          <p:cNvPr id="7" name="Oval 6">
            <a:extLst>
              <a:ext uri="{FF2B5EF4-FFF2-40B4-BE49-F238E27FC236}">
                <a16:creationId xmlns:a16="http://schemas.microsoft.com/office/drawing/2014/main" id="{03B68F84-D4CC-42D6-8D42-DCC284207241}"/>
              </a:ext>
            </a:extLst>
          </p:cNvPr>
          <p:cNvSpPr/>
          <p:nvPr/>
        </p:nvSpPr>
        <p:spPr>
          <a:xfrm>
            <a:off x="5257800" y="3849688"/>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b</a:t>
            </a:r>
          </a:p>
        </p:txBody>
      </p:sp>
      <p:sp>
        <p:nvSpPr>
          <p:cNvPr id="8" name="Oval 7">
            <a:extLst>
              <a:ext uri="{FF2B5EF4-FFF2-40B4-BE49-F238E27FC236}">
                <a16:creationId xmlns:a16="http://schemas.microsoft.com/office/drawing/2014/main" id="{1DD73A9B-B3B8-4E3D-8D06-7D746050AB25}"/>
              </a:ext>
            </a:extLst>
          </p:cNvPr>
          <p:cNvSpPr/>
          <p:nvPr/>
        </p:nvSpPr>
        <p:spPr>
          <a:xfrm>
            <a:off x="5257800" y="5907088"/>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d</a:t>
            </a:r>
          </a:p>
        </p:txBody>
      </p:sp>
      <p:sp>
        <p:nvSpPr>
          <p:cNvPr id="9" name="Oval 8">
            <a:extLst>
              <a:ext uri="{FF2B5EF4-FFF2-40B4-BE49-F238E27FC236}">
                <a16:creationId xmlns:a16="http://schemas.microsoft.com/office/drawing/2014/main" id="{FD226677-6E51-491F-B5C0-A2E4A160723B}"/>
              </a:ext>
            </a:extLst>
          </p:cNvPr>
          <p:cNvSpPr/>
          <p:nvPr/>
        </p:nvSpPr>
        <p:spPr>
          <a:xfrm>
            <a:off x="6019800" y="4916488"/>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t</a:t>
            </a:r>
          </a:p>
        </p:txBody>
      </p:sp>
      <p:cxnSp>
        <p:nvCxnSpPr>
          <p:cNvPr id="10" name="Straight Arrow Connector 9">
            <a:extLst>
              <a:ext uri="{FF2B5EF4-FFF2-40B4-BE49-F238E27FC236}">
                <a16:creationId xmlns:a16="http://schemas.microsoft.com/office/drawing/2014/main" id="{5C7C2E73-C950-4853-B3BC-CB535B3610EB}"/>
              </a:ext>
            </a:extLst>
          </p:cNvPr>
          <p:cNvCxnSpPr>
            <a:stCxn id="4" idx="6"/>
            <a:endCxn id="7" idx="2"/>
          </p:cNvCxnSpPr>
          <p:nvPr/>
        </p:nvCxnSpPr>
        <p:spPr>
          <a:xfrm>
            <a:off x="4267200" y="4078289"/>
            <a:ext cx="990600" cy="1587"/>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3001ADC9-867F-4190-A430-EEB39F096E54}"/>
              </a:ext>
            </a:extLst>
          </p:cNvPr>
          <p:cNvCxnSpPr>
            <a:stCxn id="5" idx="0"/>
            <a:endCxn id="4" idx="3"/>
          </p:cNvCxnSpPr>
          <p:nvPr/>
        </p:nvCxnSpPr>
        <p:spPr>
          <a:xfrm rot="5400000" flipH="1" flipV="1">
            <a:off x="3276601" y="4316414"/>
            <a:ext cx="676275" cy="523875"/>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9AFE636-34CE-49D5-8883-EE3037A21409}"/>
              </a:ext>
            </a:extLst>
          </p:cNvPr>
          <p:cNvCxnSpPr>
            <a:stCxn id="5" idx="4"/>
            <a:endCxn id="6" idx="1"/>
          </p:cNvCxnSpPr>
          <p:nvPr/>
        </p:nvCxnSpPr>
        <p:spPr>
          <a:xfrm rot="16200000" flipH="1">
            <a:off x="3314701" y="5411789"/>
            <a:ext cx="600075" cy="523875"/>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0DB9CE9-A1AD-49AD-A801-616B121C3453}"/>
              </a:ext>
            </a:extLst>
          </p:cNvPr>
          <p:cNvCxnSpPr>
            <a:stCxn id="6" idx="6"/>
            <a:endCxn id="8" idx="2"/>
          </p:cNvCxnSpPr>
          <p:nvPr/>
        </p:nvCxnSpPr>
        <p:spPr>
          <a:xfrm>
            <a:off x="4267200" y="6135689"/>
            <a:ext cx="990600" cy="1587"/>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025667B-546B-4A00-AAE3-F3F0C85ECF06}"/>
              </a:ext>
            </a:extLst>
          </p:cNvPr>
          <p:cNvCxnSpPr>
            <a:stCxn id="8" idx="7"/>
            <a:endCxn id="9" idx="4"/>
          </p:cNvCxnSpPr>
          <p:nvPr/>
        </p:nvCxnSpPr>
        <p:spPr>
          <a:xfrm rot="5400000" flipH="1" flipV="1">
            <a:off x="5648326" y="5373689"/>
            <a:ext cx="600075" cy="600075"/>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11C823B5-D921-45A2-8587-F055FF334CF4}"/>
              </a:ext>
            </a:extLst>
          </p:cNvPr>
          <p:cNvCxnSpPr>
            <a:stCxn id="7" idx="5"/>
            <a:endCxn id="9" idx="0"/>
          </p:cNvCxnSpPr>
          <p:nvPr/>
        </p:nvCxnSpPr>
        <p:spPr>
          <a:xfrm rot="16200000" flipH="1">
            <a:off x="5610226" y="4278314"/>
            <a:ext cx="676275" cy="600075"/>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7255872-E15A-4B46-B411-1BA74B76939C}"/>
              </a:ext>
            </a:extLst>
          </p:cNvPr>
          <p:cNvCxnSpPr/>
          <p:nvPr/>
        </p:nvCxnSpPr>
        <p:spPr>
          <a:xfrm rot="5400000" flipH="1" flipV="1">
            <a:off x="3313907" y="5106195"/>
            <a:ext cx="1600200" cy="1587"/>
          </a:xfrm>
          <a:prstGeom prst="straightConnector1">
            <a:avLst/>
          </a:prstGeom>
          <a:ln w="19050">
            <a:solidFill>
              <a:schemeClr val="tx1"/>
            </a:solidFill>
            <a:headEnd type="stealth" w="lg" len="lg"/>
            <a:tailEnd type="non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5E532C69-8F09-4B9A-A6E8-EB3CBE8A5C16}"/>
              </a:ext>
            </a:extLst>
          </p:cNvPr>
          <p:cNvCxnSpPr>
            <a:stCxn id="8" idx="0"/>
            <a:endCxn id="7" idx="4"/>
          </p:cNvCxnSpPr>
          <p:nvPr/>
        </p:nvCxnSpPr>
        <p:spPr>
          <a:xfrm rot="5400000" flipH="1" flipV="1">
            <a:off x="4686301" y="5105401"/>
            <a:ext cx="1600200" cy="317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8152B126-A1DC-4E1A-A879-E79CCE325D09}"/>
              </a:ext>
            </a:extLst>
          </p:cNvPr>
          <p:cNvCxnSpPr>
            <a:stCxn id="7" idx="3"/>
            <a:endCxn id="6" idx="7"/>
          </p:cNvCxnSpPr>
          <p:nvPr/>
        </p:nvCxnSpPr>
        <p:spPr>
          <a:xfrm rot="5400000">
            <a:off x="3895725" y="4545013"/>
            <a:ext cx="1733550" cy="1123950"/>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6DC40D1F-74E5-4653-8097-0586E084B7DB}"/>
              </a:ext>
            </a:extLst>
          </p:cNvPr>
          <p:cNvCxnSpPr/>
          <p:nvPr/>
        </p:nvCxnSpPr>
        <p:spPr>
          <a:xfrm rot="5400000" flipH="1" flipV="1">
            <a:off x="3163094" y="5106194"/>
            <a:ext cx="1600200" cy="1588"/>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97407B83-AFD6-4A05-984B-566B7401B108}"/>
              </a:ext>
            </a:extLst>
          </p:cNvPr>
          <p:cNvSpPr/>
          <p:nvPr/>
        </p:nvSpPr>
        <p:spPr>
          <a:xfrm>
            <a:off x="2895600" y="3505200"/>
            <a:ext cx="3657600" cy="3200400"/>
          </a:xfrm>
          <a:prstGeom prst="rect">
            <a:avLst/>
          </a:prstGeom>
          <a:noFill/>
          <a:ln>
            <a:gradFill>
              <a:gsLst>
                <a:gs pos="0">
                  <a:srgbClr val="A603AB"/>
                </a:gs>
                <a:gs pos="21001">
                  <a:srgbClr val="0819FB"/>
                </a:gs>
                <a:gs pos="35001">
                  <a:srgbClr val="1A8D48"/>
                </a:gs>
                <a:gs pos="52000">
                  <a:srgbClr val="FFFF00"/>
                </a:gs>
                <a:gs pos="73000">
                  <a:srgbClr val="EE3F17"/>
                </a:gs>
                <a:gs pos="88000">
                  <a:srgbClr val="E81766"/>
                </a:gs>
                <a:gs pos="100000">
                  <a:srgbClr val="A603AB"/>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1" name="TextBox 20">
            <a:extLst>
              <a:ext uri="{FF2B5EF4-FFF2-40B4-BE49-F238E27FC236}">
                <a16:creationId xmlns:a16="http://schemas.microsoft.com/office/drawing/2014/main" id="{EAE2062C-24A8-4210-8ACC-4C37F9E20029}"/>
              </a:ext>
            </a:extLst>
          </p:cNvPr>
          <p:cNvSpPr txBox="1">
            <a:spLocks noChangeArrowheads="1"/>
          </p:cNvSpPr>
          <p:nvPr/>
        </p:nvSpPr>
        <p:spPr bwMode="auto">
          <a:xfrm>
            <a:off x="4419600" y="3773489"/>
            <a:ext cx="5842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0/12</a:t>
            </a:r>
          </a:p>
        </p:txBody>
      </p:sp>
      <p:sp>
        <p:nvSpPr>
          <p:cNvPr id="22" name="TextBox 21">
            <a:extLst>
              <a:ext uri="{FF2B5EF4-FFF2-40B4-BE49-F238E27FC236}">
                <a16:creationId xmlns:a16="http://schemas.microsoft.com/office/drawing/2014/main" id="{73802072-7AF4-4915-9444-2B7AED218D2D}"/>
              </a:ext>
            </a:extLst>
          </p:cNvPr>
          <p:cNvSpPr txBox="1">
            <a:spLocks noChangeArrowheads="1"/>
          </p:cNvSpPr>
          <p:nvPr/>
        </p:nvSpPr>
        <p:spPr bwMode="auto">
          <a:xfrm>
            <a:off x="3124200" y="4241800"/>
            <a:ext cx="584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0/16</a:t>
            </a:r>
          </a:p>
        </p:txBody>
      </p:sp>
      <p:sp>
        <p:nvSpPr>
          <p:cNvPr id="26649" name="TextBox 22">
            <a:extLst>
              <a:ext uri="{FF2B5EF4-FFF2-40B4-BE49-F238E27FC236}">
                <a16:creationId xmlns:a16="http://schemas.microsoft.com/office/drawing/2014/main" id="{01A1B09B-AA59-49C7-93AC-DAE1E3EE29D8}"/>
              </a:ext>
            </a:extLst>
          </p:cNvPr>
          <p:cNvSpPr txBox="1">
            <a:spLocks noChangeArrowheads="1"/>
          </p:cNvSpPr>
          <p:nvPr/>
        </p:nvSpPr>
        <p:spPr bwMode="auto">
          <a:xfrm>
            <a:off x="4572000" y="4500564"/>
            <a:ext cx="4699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0/9</a:t>
            </a:r>
          </a:p>
        </p:txBody>
      </p:sp>
      <p:sp>
        <p:nvSpPr>
          <p:cNvPr id="26650" name="TextBox 23">
            <a:extLst>
              <a:ext uri="{FF2B5EF4-FFF2-40B4-BE49-F238E27FC236}">
                <a16:creationId xmlns:a16="http://schemas.microsoft.com/office/drawing/2014/main" id="{A0F354BC-7DCA-4468-AED0-CA9230D8EB4B}"/>
              </a:ext>
            </a:extLst>
          </p:cNvPr>
          <p:cNvSpPr txBox="1">
            <a:spLocks noChangeArrowheads="1"/>
          </p:cNvSpPr>
          <p:nvPr/>
        </p:nvSpPr>
        <p:spPr bwMode="auto">
          <a:xfrm>
            <a:off x="3533775" y="4805364"/>
            <a:ext cx="4699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0/4</a:t>
            </a:r>
          </a:p>
        </p:txBody>
      </p:sp>
      <p:sp>
        <p:nvSpPr>
          <p:cNvPr id="26651" name="TextBox 24">
            <a:extLst>
              <a:ext uri="{FF2B5EF4-FFF2-40B4-BE49-F238E27FC236}">
                <a16:creationId xmlns:a16="http://schemas.microsoft.com/office/drawing/2014/main" id="{BA055F2B-F9D6-472C-B75C-38CD10689C5E}"/>
              </a:ext>
            </a:extLst>
          </p:cNvPr>
          <p:cNvSpPr txBox="1">
            <a:spLocks noChangeArrowheads="1"/>
          </p:cNvSpPr>
          <p:nvPr/>
        </p:nvSpPr>
        <p:spPr bwMode="auto">
          <a:xfrm>
            <a:off x="4038600" y="4840289"/>
            <a:ext cx="5842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0/10</a:t>
            </a:r>
          </a:p>
        </p:txBody>
      </p:sp>
      <p:sp>
        <p:nvSpPr>
          <p:cNvPr id="26652" name="TextBox 26">
            <a:extLst>
              <a:ext uri="{FF2B5EF4-FFF2-40B4-BE49-F238E27FC236}">
                <a16:creationId xmlns:a16="http://schemas.microsoft.com/office/drawing/2014/main" id="{80A3A0E0-1F6C-4B81-846C-4A4A24BEF484}"/>
              </a:ext>
            </a:extLst>
          </p:cNvPr>
          <p:cNvSpPr txBox="1">
            <a:spLocks noChangeArrowheads="1"/>
          </p:cNvSpPr>
          <p:nvPr/>
        </p:nvSpPr>
        <p:spPr bwMode="auto">
          <a:xfrm>
            <a:off x="5029200" y="4957764"/>
            <a:ext cx="4699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0/7</a:t>
            </a:r>
          </a:p>
        </p:txBody>
      </p:sp>
      <p:sp>
        <p:nvSpPr>
          <p:cNvPr id="28" name="TextBox 27">
            <a:extLst>
              <a:ext uri="{FF2B5EF4-FFF2-40B4-BE49-F238E27FC236}">
                <a16:creationId xmlns:a16="http://schemas.microsoft.com/office/drawing/2014/main" id="{902482C2-BEDD-447C-98D9-AB41F69F2311}"/>
              </a:ext>
            </a:extLst>
          </p:cNvPr>
          <p:cNvSpPr txBox="1">
            <a:spLocks noChangeArrowheads="1"/>
          </p:cNvSpPr>
          <p:nvPr/>
        </p:nvSpPr>
        <p:spPr bwMode="auto">
          <a:xfrm>
            <a:off x="5791200" y="4165600"/>
            <a:ext cx="584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0/20</a:t>
            </a:r>
          </a:p>
        </p:txBody>
      </p:sp>
      <p:sp>
        <p:nvSpPr>
          <p:cNvPr id="31" name="Content Placeholder 2">
            <a:extLst>
              <a:ext uri="{FF2B5EF4-FFF2-40B4-BE49-F238E27FC236}">
                <a16:creationId xmlns:a16="http://schemas.microsoft.com/office/drawing/2014/main" id="{A05800A8-0FEE-459E-A42C-4FFD852552B8}"/>
              </a:ext>
            </a:extLst>
          </p:cNvPr>
          <p:cNvSpPr txBox="1">
            <a:spLocks/>
          </p:cNvSpPr>
          <p:nvPr/>
        </p:nvSpPr>
        <p:spPr bwMode="auto">
          <a:xfrm>
            <a:off x="6705600" y="3429000"/>
            <a:ext cx="3962400" cy="1066800"/>
          </a:xfrm>
          <a:prstGeom prst="rect">
            <a:avLst/>
          </a:prstGeom>
          <a:noFill/>
          <a:ln w="9525">
            <a:noFill/>
            <a:miter lim="800000"/>
            <a:headEnd/>
            <a:tailEnd/>
          </a:ln>
        </p:spPr>
        <p:txBody>
          <a:bodyPr>
            <a:normAutofit fontScale="70000" lnSpcReduction="20000"/>
          </a:bodyPr>
          <a:lstStyle/>
          <a:p>
            <a:pPr marL="182563" indent="-236538" eaLnBrk="0" hangingPunct="0">
              <a:spcBef>
                <a:spcPts val="550"/>
              </a:spcBef>
              <a:buClr>
                <a:schemeClr val="accent1"/>
              </a:buClr>
              <a:buFont typeface="Verdana" pitchFamily="34" charset="0"/>
              <a:buChar char="◦"/>
              <a:defRPr/>
            </a:pPr>
            <a:r>
              <a:rPr lang="en-US" sz="2800" b="1" i="1" dirty="0">
                <a:latin typeface="Times New Roman" panose="02020603050405020304" pitchFamily="18" charset="0"/>
                <a:cs typeface="Times New Roman" panose="02020603050405020304" pitchFamily="18" charset="0"/>
              </a:rPr>
              <a:t>Residual capacity of a path </a:t>
            </a:r>
            <a:r>
              <a:rPr lang="en-US" sz="2800" dirty="0">
                <a:latin typeface="Times New Roman" panose="02020603050405020304" pitchFamily="18" charset="0"/>
                <a:cs typeface="Times New Roman" panose="02020603050405020304" pitchFamily="18" charset="0"/>
              </a:rPr>
              <a:t>– the minimum of the residual capacities of the edges on that path.</a:t>
            </a:r>
          </a:p>
          <a:p>
            <a:pPr marL="639763" lvl="1" indent="-236538" eaLnBrk="0" hangingPunct="0">
              <a:spcBef>
                <a:spcPts val="550"/>
              </a:spcBef>
              <a:buClr>
                <a:schemeClr val="accent1"/>
              </a:buClr>
              <a:buFont typeface="Verdana" pitchFamily="34" charset="0"/>
              <a:buChar char="◦"/>
              <a:defRPr/>
            </a:pPr>
            <a:endParaRPr lang="en-US" sz="2800" dirty="0"/>
          </a:p>
          <a:p>
            <a:pPr marL="885825" lvl="2" indent="-228600" eaLnBrk="0" hangingPunct="0">
              <a:spcBef>
                <a:spcPct val="20000"/>
              </a:spcBef>
              <a:buClr>
                <a:schemeClr val="accent2"/>
              </a:buClr>
              <a:defRPr/>
            </a:pPr>
            <a:endParaRPr lang="en-US" sz="2400" dirty="0"/>
          </a:p>
        </p:txBody>
      </p:sp>
      <p:sp>
        <p:nvSpPr>
          <p:cNvPr id="32" name="Content Placeholder 2">
            <a:extLst>
              <a:ext uri="{FF2B5EF4-FFF2-40B4-BE49-F238E27FC236}">
                <a16:creationId xmlns:a16="http://schemas.microsoft.com/office/drawing/2014/main" id="{75E3D129-D277-42C2-8074-658487E948DD}"/>
              </a:ext>
            </a:extLst>
          </p:cNvPr>
          <p:cNvSpPr txBox="1">
            <a:spLocks/>
          </p:cNvSpPr>
          <p:nvPr/>
        </p:nvSpPr>
        <p:spPr bwMode="auto">
          <a:xfrm>
            <a:off x="6705600" y="4724400"/>
            <a:ext cx="3962400" cy="1066800"/>
          </a:xfrm>
          <a:prstGeom prst="rect">
            <a:avLst/>
          </a:prstGeom>
          <a:noFill/>
          <a:ln w="9525">
            <a:noFill/>
            <a:miter lim="800000"/>
            <a:headEnd/>
            <a:tailEnd/>
          </a:ln>
        </p:spPr>
        <p:txBody>
          <a:bodyPr>
            <a:normAutofit lnSpcReduction="10000"/>
          </a:bodyPr>
          <a:lstStyle/>
          <a:p>
            <a:pPr marL="182563" indent="-236538" eaLnBrk="0" hangingPunct="0">
              <a:spcBef>
                <a:spcPts val="550"/>
              </a:spcBef>
              <a:buClr>
                <a:schemeClr val="accent1"/>
              </a:buClr>
              <a:buFont typeface="Verdana" pitchFamily="34" charset="0"/>
              <a:buChar char="◦"/>
              <a:defRPr/>
            </a:pPr>
            <a:r>
              <a:rPr lang="en-US" sz="2200" b="1" i="1" dirty="0">
                <a:latin typeface="Times New Roman" panose="02020603050405020304" pitchFamily="18" charset="0"/>
                <a:cs typeface="Times New Roman" panose="02020603050405020304" pitchFamily="18" charset="0"/>
              </a:rPr>
              <a:t>12 in this case, </a:t>
            </a:r>
            <a:r>
              <a:rPr lang="en-US" sz="2200" i="1" dirty="0">
                <a:latin typeface="Times New Roman" panose="02020603050405020304" pitchFamily="18" charset="0"/>
                <a:cs typeface="Times New Roman" panose="02020603050405020304" pitchFamily="18" charset="0"/>
              </a:rPr>
              <a:t>which is the limiting factor for this path’s flow.</a:t>
            </a:r>
            <a:endParaRPr lang="en-US" sz="2200" dirty="0">
              <a:latin typeface="Times New Roman" panose="02020603050405020304" pitchFamily="18" charset="0"/>
              <a:cs typeface="Times New Roman" panose="02020603050405020304" pitchFamily="18" charset="0"/>
            </a:endParaRPr>
          </a:p>
          <a:p>
            <a:pPr marL="639763" lvl="1" indent="-236538" eaLnBrk="0" hangingPunct="0">
              <a:spcBef>
                <a:spcPts val="550"/>
              </a:spcBef>
              <a:buClr>
                <a:schemeClr val="accent1"/>
              </a:buClr>
              <a:buFont typeface="Verdana" pitchFamily="34" charset="0"/>
              <a:buChar char="◦"/>
              <a:defRPr/>
            </a:pPr>
            <a:endParaRPr lang="en-US" sz="2800" dirty="0"/>
          </a:p>
          <a:p>
            <a:pPr marL="885825" lvl="2" indent="-228600" eaLnBrk="0" hangingPunct="0">
              <a:spcBef>
                <a:spcPct val="20000"/>
              </a:spcBef>
              <a:buClr>
                <a:schemeClr val="accent2"/>
              </a:buClr>
              <a:defRPr/>
            </a:pPr>
            <a:endParaRPr lang="en-US" sz="2400" dirty="0"/>
          </a:p>
        </p:txBody>
      </p:sp>
      <p:sp>
        <p:nvSpPr>
          <p:cNvPr id="26656" name="TextBox 32">
            <a:extLst>
              <a:ext uri="{FF2B5EF4-FFF2-40B4-BE49-F238E27FC236}">
                <a16:creationId xmlns:a16="http://schemas.microsoft.com/office/drawing/2014/main" id="{C2329215-B416-464F-95EB-FF56508DD849}"/>
              </a:ext>
            </a:extLst>
          </p:cNvPr>
          <p:cNvSpPr txBox="1">
            <a:spLocks noChangeArrowheads="1"/>
          </p:cNvSpPr>
          <p:nvPr/>
        </p:nvSpPr>
        <p:spPr bwMode="auto">
          <a:xfrm>
            <a:off x="4495800" y="6107114"/>
            <a:ext cx="5842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4/14</a:t>
            </a:r>
          </a:p>
        </p:txBody>
      </p:sp>
      <p:sp>
        <p:nvSpPr>
          <p:cNvPr id="26657" name="TextBox 33">
            <a:extLst>
              <a:ext uri="{FF2B5EF4-FFF2-40B4-BE49-F238E27FC236}">
                <a16:creationId xmlns:a16="http://schemas.microsoft.com/office/drawing/2014/main" id="{BC37F291-B0E3-42E5-A312-877ED0B3B036}"/>
              </a:ext>
            </a:extLst>
          </p:cNvPr>
          <p:cNvSpPr txBox="1">
            <a:spLocks noChangeArrowheads="1"/>
          </p:cNvSpPr>
          <p:nvPr/>
        </p:nvSpPr>
        <p:spPr bwMode="auto">
          <a:xfrm>
            <a:off x="5807075" y="5638800"/>
            <a:ext cx="4699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4/4</a:t>
            </a:r>
          </a:p>
        </p:txBody>
      </p:sp>
      <p:sp>
        <p:nvSpPr>
          <p:cNvPr id="26658" name="TextBox 34">
            <a:extLst>
              <a:ext uri="{FF2B5EF4-FFF2-40B4-BE49-F238E27FC236}">
                <a16:creationId xmlns:a16="http://schemas.microsoft.com/office/drawing/2014/main" id="{E5F81AE8-D961-4525-B44C-1E16D562D2A7}"/>
              </a:ext>
            </a:extLst>
          </p:cNvPr>
          <p:cNvSpPr txBox="1">
            <a:spLocks noChangeArrowheads="1"/>
          </p:cNvSpPr>
          <p:nvPr/>
        </p:nvSpPr>
        <p:spPr bwMode="auto">
          <a:xfrm>
            <a:off x="3124200" y="5680075"/>
            <a:ext cx="584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4/13</a:t>
            </a:r>
          </a:p>
        </p:txBody>
      </p:sp>
      <p:cxnSp>
        <p:nvCxnSpPr>
          <p:cNvPr id="36" name="Straight Arrow Connector 35">
            <a:extLst>
              <a:ext uri="{FF2B5EF4-FFF2-40B4-BE49-F238E27FC236}">
                <a16:creationId xmlns:a16="http://schemas.microsoft.com/office/drawing/2014/main" id="{5CD62E93-2BC4-43A7-B96D-83C013C6F23E}"/>
              </a:ext>
            </a:extLst>
          </p:cNvPr>
          <p:cNvCxnSpPr/>
          <p:nvPr/>
        </p:nvCxnSpPr>
        <p:spPr>
          <a:xfrm>
            <a:off x="4267200" y="4038600"/>
            <a:ext cx="990600" cy="1588"/>
          </a:xfrm>
          <a:prstGeom prst="straightConnector1">
            <a:avLst/>
          </a:prstGeom>
          <a:ln w="38100">
            <a:solidFill>
              <a:srgbClr val="C0000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EACCE2CA-A4E5-48C4-9507-DD0B371EF2BB}"/>
              </a:ext>
            </a:extLst>
          </p:cNvPr>
          <p:cNvCxnSpPr/>
          <p:nvPr/>
        </p:nvCxnSpPr>
        <p:spPr>
          <a:xfrm rot="5400000" flipH="1" flipV="1">
            <a:off x="3276601" y="4276726"/>
            <a:ext cx="676275" cy="523875"/>
          </a:xfrm>
          <a:prstGeom prst="straightConnector1">
            <a:avLst/>
          </a:prstGeom>
          <a:ln w="38100">
            <a:solidFill>
              <a:srgbClr val="C0000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54C35C5D-9E30-4256-99E5-BAEF37CD8E3C}"/>
              </a:ext>
            </a:extLst>
          </p:cNvPr>
          <p:cNvCxnSpPr/>
          <p:nvPr/>
        </p:nvCxnSpPr>
        <p:spPr>
          <a:xfrm rot="16200000" flipH="1">
            <a:off x="5610226" y="4238626"/>
            <a:ext cx="676275" cy="600075"/>
          </a:xfrm>
          <a:prstGeom prst="straightConnector1">
            <a:avLst/>
          </a:prstGeom>
          <a:ln w="38100">
            <a:solidFill>
              <a:srgbClr val="C00000"/>
            </a:solidFill>
            <a:tailEnd type="stealth" w="lg" len="lg"/>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44D498AB-17D5-41B2-B162-54C4FEA32254}"/>
              </a:ext>
            </a:extLst>
          </p:cNvPr>
          <p:cNvSpPr txBox="1">
            <a:spLocks noChangeArrowheads="1"/>
          </p:cNvSpPr>
          <p:nvPr/>
        </p:nvSpPr>
        <p:spPr bwMode="auto">
          <a:xfrm>
            <a:off x="4419601" y="3763964"/>
            <a:ext cx="6969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12/12</a:t>
            </a:r>
          </a:p>
        </p:txBody>
      </p:sp>
      <p:sp>
        <p:nvSpPr>
          <p:cNvPr id="40" name="TextBox 39">
            <a:extLst>
              <a:ext uri="{FF2B5EF4-FFF2-40B4-BE49-F238E27FC236}">
                <a16:creationId xmlns:a16="http://schemas.microsoft.com/office/drawing/2014/main" id="{28FAE773-5378-4EBD-88FF-0C581B96C4E9}"/>
              </a:ext>
            </a:extLst>
          </p:cNvPr>
          <p:cNvSpPr txBox="1">
            <a:spLocks noChangeArrowheads="1"/>
          </p:cNvSpPr>
          <p:nvPr/>
        </p:nvSpPr>
        <p:spPr bwMode="auto">
          <a:xfrm>
            <a:off x="3124201" y="4233864"/>
            <a:ext cx="69691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12/16</a:t>
            </a:r>
          </a:p>
        </p:txBody>
      </p:sp>
      <p:sp>
        <p:nvSpPr>
          <p:cNvPr id="41" name="TextBox 40">
            <a:extLst>
              <a:ext uri="{FF2B5EF4-FFF2-40B4-BE49-F238E27FC236}">
                <a16:creationId xmlns:a16="http://schemas.microsoft.com/office/drawing/2014/main" id="{B8B2F826-65BC-4B8D-AD6F-45594B3D5E7A}"/>
              </a:ext>
            </a:extLst>
          </p:cNvPr>
          <p:cNvSpPr txBox="1">
            <a:spLocks noChangeArrowheads="1"/>
          </p:cNvSpPr>
          <p:nvPr/>
        </p:nvSpPr>
        <p:spPr bwMode="auto">
          <a:xfrm>
            <a:off x="5791201" y="4157664"/>
            <a:ext cx="69691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12/20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hidden"/>
                                      </p:to>
                                    </p:set>
                                  </p:childTnLst>
                                </p:cTn>
                              </p:par>
                              <p:par>
                                <p:cTn id="15" presetID="1" presetClass="exit"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hidden"/>
                                      </p:to>
                                    </p:set>
                                  </p:childTnLst>
                                </p:cTn>
                              </p:par>
                              <p:par>
                                <p:cTn id="17" presetID="1" presetClass="exit"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hidden"/>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8" grpId="0"/>
      <p:bldP spid="39" grpId="0"/>
      <p:bldP spid="40" grpId="0"/>
      <p:bldP spid="4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29E5C-5216-4AFF-8FF8-430CD9BFF5E5}"/>
              </a:ext>
            </a:extLst>
          </p:cNvPr>
          <p:cNvSpPr>
            <a:spLocks noGrp="1"/>
          </p:cNvSpPr>
          <p:nvPr>
            <p:ph type="title"/>
          </p:nvPr>
        </p:nvSpPr>
        <p:spPr>
          <a:xfrm>
            <a:off x="2514600" y="0"/>
            <a:ext cx="7499350" cy="914400"/>
          </a:xfrm>
        </p:spPr>
        <p:txBody>
          <a:bodyPr>
            <a:normAutofit/>
          </a:bodyPr>
          <a:lstStyle/>
          <a:p>
            <a:pPr>
              <a:defRPr/>
            </a:pPr>
            <a:r>
              <a:rPr lang="en-US" sz="2800" dirty="0">
                <a:latin typeface="Times New Roman" panose="02020603050405020304" pitchFamily="18" charset="0"/>
                <a:cs typeface="Times New Roman" panose="02020603050405020304" pitchFamily="18" charset="0"/>
              </a:rPr>
              <a:t>Ford-Fulkerson Algorithm</a:t>
            </a:r>
          </a:p>
        </p:txBody>
      </p:sp>
      <p:sp>
        <p:nvSpPr>
          <p:cNvPr id="3" name="Content Placeholder 2">
            <a:extLst>
              <a:ext uri="{FF2B5EF4-FFF2-40B4-BE49-F238E27FC236}">
                <a16:creationId xmlns:a16="http://schemas.microsoft.com/office/drawing/2014/main" id="{665AAA1D-92BD-4B9D-A783-FC72DFC0FAFD}"/>
              </a:ext>
            </a:extLst>
          </p:cNvPr>
          <p:cNvSpPr>
            <a:spLocks noGrp="1"/>
          </p:cNvSpPr>
          <p:nvPr>
            <p:ph idx="1"/>
          </p:nvPr>
        </p:nvSpPr>
        <p:spPr>
          <a:xfrm>
            <a:off x="2514600" y="914400"/>
            <a:ext cx="8153400" cy="2438400"/>
          </a:xfrm>
        </p:spPr>
        <p:txBody>
          <a:bodyPr>
            <a:normAutofit/>
          </a:bodyPr>
          <a:lstStyle/>
          <a:p>
            <a:pPr>
              <a:buFont typeface="Wingdings 2" panose="05020102010507070707" pitchFamily="18" charset="2"/>
              <a:buNone/>
              <a:defRPr/>
            </a:pPr>
            <a:r>
              <a:rPr lang="en-US" sz="2000" b="1" dirty="0">
                <a:latin typeface="Times New Roman" panose="02020603050405020304" pitchFamily="18" charset="0"/>
                <a:cs typeface="Times New Roman" panose="02020603050405020304" pitchFamily="18" charset="0"/>
              </a:rPr>
              <a:t>While there exists an augmenting path</a:t>
            </a:r>
          </a:p>
          <a:p>
            <a:pPr>
              <a:buFont typeface="Wingdings 2" panose="05020102010507070707" pitchFamily="18" charset="2"/>
              <a:buNone/>
              <a:defRPr/>
            </a:pPr>
            <a:r>
              <a:rPr lang="en-US" sz="2000" b="1" dirty="0">
                <a:latin typeface="Times New Roman" panose="02020603050405020304" pitchFamily="18" charset="0"/>
                <a:cs typeface="Times New Roman" panose="02020603050405020304" pitchFamily="18" charset="0"/>
              </a:rPr>
              <a:t>	Add the appropriate flow to that augmenting path</a:t>
            </a:r>
          </a:p>
          <a:p>
            <a:pPr>
              <a:defRPr/>
            </a:pPr>
            <a:endParaRPr lang="en-US" sz="2000" dirty="0">
              <a:latin typeface="Times New Roman" panose="02020603050405020304" pitchFamily="18" charset="0"/>
              <a:cs typeface="Times New Roman" panose="02020603050405020304" pitchFamily="18" charset="0"/>
            </a:endParaRPr>
          </a:p>
          <a:p>
            <a:pPr>
              <a:defRPr/>
            </a:pPr>
            <a:r>
              <a:rPr lang="en-US" sz="2000" dirty="0">
                <a:latin typeface="Times New Roman" panose="02020603050405020304" pitchFamily="18" charset="0"/>
                <a:cs typeface="Times New Roman" panose="02020603050405020304" pitchFamily="18" charset="0"/>
              </a:rPr>
              <a:t>Choose another augmenting path (one where you have a path from the source to the sink where every edge has a non-zero residual capacity.) </a:t>
            </a:r>
          </a:p>
          <a:p>
            <a:pPr lvl="1">
              <a:defRPr/>
            </a:pPr>
            <a:r>
              <a:rPr lang="en-US" sz="2000" b="1" i="1" dirty="0" err="1">
                <a:latin typeface="Times New Roman" panose="02020603050405020304" pitchFamily="18" charset="0"/>
                <a:cs typeface="Times New Roman" panose="02020603050405020304" pitchFamily="18" charset="0"/>
              </a:rPr>
              <a:t>s,c</a:t>
            </a:r>
            <a:r>
              <a:rPr lang="en-US" sz="2000" b="1" i="1" dirty="0">
                <a:latin typeface="Times New Roman" panose="02020603050405020304" pitchFamily="18" charset="0"/>
                <a:cs typeface="Times New Roman" panose="02020603050405020304" pitchFamily="18" charset="0"/>
              </a:rPr>
              <a:t>, d, b, t</a:t>
            </a:r>
            <a:endParaRPr lang="en-US" sz="2000" dirty="0">
              <a:latin typeface="Times New Roman" panose="02020603050405020304" pitchFamily="18" charset="0"/>
              <a:cs typeface="Times New Roman" panose="02020603050405020304" pitchFamily="18" charset="0"/>
            </a:endParaRPr>
          </a:p>
        </p:txBody>
      </p:sp>
      <p:sp>
        <p:nvSpPr>
          <p:cNvPr id="4" name="Oval 3">
            <a:extLst>
              <a:ext uri="{FF2B5EF4-FFF2-40B4-BE49-F238E27FC236}">
                <a16:creationId xmlns:a16="http://schemas.microsoft.com/office/drawing/2014/main" id="{D57EB48F-427F-4E41-BD21-7E4AA2435F2D}"/>
              </a:ext>
            </a:extLst>
          </p:cNvPr>
          <p:cNvSpPr/>
          <p:nvPr/>
        </p:nvSpPr>
        <p:spPr>
          <a:xfrm>
            <a:off x="3810000" y="3849688"/>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a</a:t>
            </a:r>
          </a:p>
        </p:txBody>
      </p:sp>
      <p:sp>
        <p:nvSpPr>
          <p:cNvPr id="5" name="Oval 4">
            <a:extLst>
              <a:ext uri="{FF2B5EF4-FFF2-40B4-BE49-F238E27FC236}">
                <a16:creationId xmlns:a16="http://schemas.microsoft.com/office/drawing/2014/main" id="{193EEC7A-BD98-4555-8498-67B7B5F8F1CB}"/>
              </a:ext>
            </a:extLst>
          </p:cNvPr>
          <p:cNvSpPr/>
          <p:nvPr/>
        </p:nvSpPr>
        <p:spPr>
          <a:xfrm>
            <a:off x="3124200" y="4916488"/>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s</a:t>
            </a:r>
          </a:p>
        </p:txBody>
      </p:sp>
      <p:sp>
        <p:nvSpPr>
          <p:cNvPr id="6" name="Oval 5">
            <a:extLst>
              <a:ext uri="{FF2B5EF4-FFF2-40B4-BE49-F238E27FC236}">
                <a16:creationId xmlns:a16="http://schemas.microsoft.com/office/drawing/2014/main" id="{F951F315-BDCA-4DD9-B8A7-F37EF168435D}"/>
              </a:ext>
            </a:extLst>
          </p:cNvPr>
          <p:cNvSpPr/>
          <p:nvPr/>
        </p:nvSpPr>
        <p:spPr>
          <a:xfrm>
            <a:off x="3810000" y="5907088"/>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c</a:t>
            </a:r>
          </a:p>
        </p:txBody>
      </p:sp>
      <p:sp>
        <p:nvSpPr>
          <p:cNvPr id="7" name="Oval 6">
            <a:extLst>
              <a:ext uri="{FF2B5EF4-FFF2-40B4-BE49-F238E27FC236}">
                <a16:creationId xmlns:a16="http://schemas.microsoft.com/office/drawing/2014/main" id="{70D17169-115E-4A60-A216-A8434D948FFB}"/>
              </a:ext>
            </a:extLst>
          </p:cNvPr>
          <p:cNvSpPr/>
          <p:nvPr/>
        </p:nvSpPr>
        <p:spPr>
          <a:xfrm>
            <a:off x="5257800" y="3849688"/>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b</a:t>
            </a:r>
          </a:p>
        </p:txBody>
      </p:sp>
      <p:sp>
        <p:nvSpPr>
          <p:cNvPr id="8" name="Oval 7">
            <a:extLst>
              <a:ext uri="{FF2B5EF4-FFF2-40B4-BE49-F238E27FC236}">
                <a16:creationId xmlns:a16="http://schemas.microsoft.com/office/drawing/2014/main" id="{2CBF03F7-8C45-48FB-B129-D9B7FB47AB29}"/>
              </a:ext>
            </a:extLst>
          </p:cNvPr>
          <p:cNvSpPr/>
          <p:nvPr/>
        </p:nvSpPr>
        <p:spPr>
          <a:xfrm>
            <a:off x="5257800" y="5907088"/>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d</a:t>
            </a:r>
          </a:p>
        </p:txBody>
      </p:sp>
      <p:sp>
        <p:nvSpPr>
          <p:cNvPr id="9" name="Oval 8">
            <a:extLst>
              <a:ext uri="{FF2B5EF4-FFF2-40B4-BE49-F238E27FC236}">
                <a16:creationId xmlns:a16="http://schemas.microsoft.com/office/drawing/2014/main" id="{453E8494-E6FA-4AD2-81E7-6E3DD60D2FB6}"/>
              </a:ext>
            </a:extLst>
          </p:cNvPr>
          <p:cNvSpPr/>
          <p:nvPr/>
        </p:nvSpPr>
        <p:spPr>
          <a:xfrm>
            <a:off x="6019800" y="4916488"/>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t</a:t>
            </a:r>
          </a:p>
        </p:txBody>
      </p:sp>
      <p:cxnSp>
        <p:nvCxnSpPr>
          <p:cNvPr id="10" name="Straight Arrow Connector 9">
            <a:extLst>
              <a:ext uri="{FF2B5EF4-FFF2-40B4-BE49-F238E27FC236}">
                <a16:creationId xmlns:a16="http://schemas.microsoft.com/office/drawing/2014/main" id="{361A0D40-EAA4-4CA7-94CB-9AB7B8C68A1D}"/>
              </a:ext>
            </a:extLst>
          </p:cNvPr>
          <p:cNvCxnSpPr>
            <a:stCxn id="4" idx="6"/>
            <a:endCxn id="7" idx="2"/>
          </p:cNvCxnSpPr>
          <p:nvPr/>
        </p:nvCxnSpPr>
        <p:spPr>
          <a:xfrm>
            <a:off x="4267200" y="4078289"/>
            <a:ext cx="990600" cy="1587"/>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6BF2F01-A8B5-4748-AD5E-B4659B290DE5}"/>
              </a:ext>
            </a:extLst>
          </p:cNvPr>
          <p:cNvCxnSpPr>
            <a:stCxn id="5" idx="0"/>
            <a:endCxn id="4" idx="3"/>
          </p:cNvCxnSpPr>
          <p:nvPr/>
        </p:nvCxnSpPr>
        <p:spPr>
          <a:xfrm rot="5400000" flipH="1" flipV="1">
            <a:off x="3276601" y="4316414"/>
            <a:ext cx="676275" cy="523875"/>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A184986-DABC-46F1-9A0C-57E3E90C888E}"/>
              </a:ext>
            </a:extLst>
          </p:cNvPr>
          <p:cNvCxnSpPr>
            <a:stCxn id="5" idx="4"/>
            <a:endCxn id="6" idx="1"/>
          </p:cNvCxnSpPr>
          <p:nvPr/>
        </p:nvCxnSpPr>
        <p:spPr>
          <a:xfrm rot="16200000" flipH="1">
            <a:off x="3314701" y="5411789"/>
            <a:ext cx="600075" cy="523875"/>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78D62C9-1E89-4CF7-B3A5-7C4142C1EEF4}"/>
              </a:ext>
            </a:extLst>
          </p:cNvPr>
          <p:cNvCxnSpPr>
            <a:stCxn id="6" idx="6"/>
            <a:endCxn id="8" idx="2"/>
          </p:cNvCxnSpPr>
          <p:nvPr/>
        </p:nvCxnSpPr>
        <p:spPr>
          <a:xfrm>
            <a:off x="4267200" y="6135689"/>
            <a:ext cx="990600" cy="1587"/>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4290C9D8-4DEE-45F2-A2F2-9538445D7477}"/>
              </a:ext>
            </a:extLst>
          </p:cNvPr>
          <p:cNvCxnSpPr>
            <a:stCxn id="8" idx="7"/>
            <a:endCxn id="9" idx="4"/>
          </p:cNvCxnSpPr>
          <p:nvPr/>
        </p:nvCxnSpPr>
        <p:spPr>
          <a:xfrm rot="5400000" flipH="1" flipV="1">
            <a:off x="5648326" y="5373689"/>
            <a:ext cx="600075" cy="600075"/>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8607BE21-C2B6-4FD2-A9EA-DD62CF0AE44B}"/>
              </a:ext>
            </a:extLst>
          </p:cNvPr>
          <p:cNvCxnSpPr>
            <a:stCxn id="7" idx="5"/>
            <a:endCxn id="9" idx="0"/>
          </p:cNvCxnSpPr>
          <p:nvPr/>
        </p:nvCxnSpPr>
        <p:spPr>
          <a:xfrm rot="16200000" flipH="1">
            <a:off x="5610226" y="4278314"/>
            <a:ext cx="676275" cy="600075"/>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00180B80-F973-49B2-9FDA-DF3475E56C46}"/>
              </a:ext>
            </a:extLst>
          </p:cNvPr>
          <p:cNvCxnSpPr/>
          <p:nvPr/>
        </p:nvCxnSpPr>
        <p:spPr>
          <a:xfrm rot="5400000" flipH="1" flipV="1">
            <a:off x="3313907" y="5106195"/>
            <a:ext cx="1600200" cy="1587"/>
          </a:xfrm>
          <a:prstGeom prst="straightConnector1">
            <a:avLst/>
          </a:prstGeom>
          <a:ln w="19050">
            <a:solidFill>
              <a:schemeClr val="tx1"/>
            </a:solidFill>
            <a:headEnd type="stealth" w="lg" len="lg"/>
            <a:tailEnd type="non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EC73890-4BB5-4125-B79A-4AC195EF6E5A}"/>
              </a:ext>
            </a:extLst>
          </p:cNvPr>
          <p:cNvCxnSpPr>
            <a:stCxn id="8" idx="0"/>
            <a:endCxn id="7" idx="4"/>
          </p:cNvCxnSpPr>
          <p:nvPr/>
        </p:nvCxnSpPr>
        <p:spPr>
          <a:xfrm rot="5400000" flipH="1" flipV="1">
            <a:off x="4686301" y="5105401"/>
            <a:ext cx="1600200" cy="317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33BC80A-4A37-4E0A-A827-113262E8C211}"/>
              </a:ext>
            </a:extLst>
          </p:cNvPr>
          <p:cNvCxnSpPr>
            <a:stCxn id="7" idx="3"/>
            <a:endCxn id="6" idx="7"/>
          </p:cNvCxnSpPr>
          <p:nvPr/>
        </p:nvCxnSpPr>
        <p:spPr>
          <a:xfrm rot="5400000">
            <a:off x="3895725" y="4545013"/>
            <a:ext cx="1733550" cy="1123950"/>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AC32F7E-E959-4C3E-A4FA-6124BE636BD0}"/>
              </a:ext>
            </a:extLst>
          </p:cNvPr>
          <p:cNvCxnSpPr/>
          <p:nvPr/>
        </p:nvCxnSpPr>
        <p:spPr>
          <a:xfrm rot="5400000" flipH="1" flipV="1">
            <a:off x="3163094" y="5106194"/>
            <a:ext cx="1600200" cy="1588"/>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9596FF55-F06A-4803-9EF5-A4AC6D4F0700}"/>
              </a:ext>
            </a:extLst>
          </p:cNvPr>
          <p:cNvSpPr/>
          <p:nvPr/>
        </p:nvSpPr>
        <p:spPr>
          <a:xfrm>
            <a:off x="2895600" y="3505200"/>
            <a:ext cx="3657600" cy="3200400"/>
          </a:xfrm>
          <a:prstGeom prst="rect">
            <a:avLst/>
          </a:prstGeom>
          <a:noFill/>
          <a:ln>
            <a:gradFill>
              <a:gsLst>
                <a:gs pos="0">
                  <a:srgbClr val="A603AB"/>
                </a:gs>
                <a:gs pos="21001">
                  <a:srgbClr val="0819FB"/>
                </a:gs>
                <a:gs pos="35001">
                  <a:srgbClr val="1A8D48"/>
                </a:gs>
                <a:gs pos="52000">
                  <a:srgbClr val="FFFF00"/>
                </a:gs>
                <a:gs pos="73000">
                  <a:srgbClr val="EE3F17"/>
                </a:gs>
                <a:gs pos="88000">
                  <a:srgbClr val="E81766"/>
                </a:gs>
                <a:gs pos="100000">
                  <a:srgbClr val="A603AB"/>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7671" name="TextBox 20">
            <a:extLst>
              <a:ext uri="{FF2B5EF4-FFF2-40B4-BE49-F238E27FC236}">
                <a16:creationId xmlns:a16="http://schemas.microsoft.com/office/drawing/2014/main" id="{26B7E8A4-7A23-42C6-AF0F-26EE6408D85F}"/>
              </a:ext>
            </a:extLst>
          </p:cNvPr>
          <p:cNvSpPr txBox="1">
            <a:spLocks noChangeArrowheads="1"/>
          </p:cNvSpPr>
          <p:nvPr/>
        </p:nvSpPr>
        <p:spPr bwMode="auto">
          <a:xfrm>
            <a:off x="4419601" y="3773489"/>
            <a:ext cx="69691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12/12</a:t>
            </a:r>
          </a:p>
        </p:txBody>
      </p:sp>
      <p:sp>
        <p:nvSpPr>
          <p:cNvPr id="27672" name="TextBox 21">
            <a:extLst>
              <a:ext uri="{FF2B5EF4-FFF2-40B4-BE49-F238E27FC236}">
                <a16:creationId xmlns:a16="http://schemas.microsoft.com/office/drawing/2014/main" id="{3020E765-C44A-4BEF-B3C4-FA009B7389FF}"/>
              </a:ext>
            </a:extLst>
          </p:cNvPr>
          <p:cNvSpPr txBox="1">
            <a:spLocks noChangeArrowheads="1"/>
          </p:cNvSpPr>
          <p:nvPr/>
        </p:nvSpPr>
        <p:spPr bwMode="auto">
          <a:xfrm>
            <a:off x="3048001" y="4241800"/>
            <a:ext cx="6969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12/16</a:t>
            </a:r>
          </a:p>
        </p:txBody>
      </p:sp>
      <p:sp>
        <p:nvSpPr>
          <p:cNvPr id="27673" name="TextBox 22">
            <a:extLst>
              <a:ext uri="{FF2B5EF4-FFF2-40B4-BE49-F238E27FC236}">
                <a16:creationId xmlns:a16="http://schemas.microsoft.com/office/drawing/2014/main" id="{2D1BECF4-2632-44D0-BE93-CAF415880F4A}"/>
              </a:ext>
            </a:extLst>
          </p:cNvPr>
          <p:cNvSpPr txBox="1">
            <a:spLocks noChangeArrowheads="1"/>
          </p:cNvSpPr>
          <p:nvPr/>
        </p:nvSpPr>
        <p:spPr bwMode="auto">
          <a:xfrm>
            <a:off x="4572000" y="4500564"/>
            <a:ext cx="4699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0/9</a:t>
            </a:r>
          </a:p>
        </p:txBody>
      </p:sp>
      <p:sp>
        <p:nvSpPr>
          <p:cNvPr id="27674" name="TextBox 23">
            <a:extLst>
              <a:ext uri="{FF2B5EF4-FFF2-40B4-BE49-F238E27FC236}">
                <a16:creationId xmlns:a16="http://schemas.microsoft.com/office/drawing/2014/main" id="{360A3F91-C2F5-4F05-85DD-F4E7AB5B9F69}"/>
              </a:ext>
            </a:extLst>
          </p:cNvPr>
          <p:cNvSpPr txBox="1">
            <a:spLocks noChangeArrowheads="1"/>
          </p:cNvSpPr>
          <p:nvPr/>
        </p:nvSpPr>
        <p:spPr bwMode="auto">
          <a:xfrm>
            <a:off x="3533775" y="4805364"/>
            <a:ext cx="4699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0/4</a:t>
            </a:r>
          </a:p>
        </p:txBody>
      </p:sp>
      <p:sp>
        <p:nvSpPr>
          <p:cNvPr id="27675" name="TextBox 24">
            <a:extLst>
              <a:ext uri="{FF2B5EF4-FFF2-40B4-BE49-F238E27FC236}">
                <a16:creationId xmlns:a16="http://schemas.microsoft.com/office/drawing/2014/main" id="{C98A8B6E-5A87-4357-A766-D243DD911F44}"/>
              </a:ext>
            </a:extLst>
          </p:cNvPr>
          <p:cNvSpPr txBox="1">
            <a:spLocks noChangeArrowheads="1"/>
          </p:cNvSpPr>
          <p:nvPr/>
        </p:nvSpPr>
        <p:spPr bwMode="auto">
          <a:xfrm>
            <a:off x="4038600" y="4840289"/>
            <a:ext cx="5842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0/10</a:t>
            </a:r>
          </a:p>
        </p:txBody>
      </p:sp>
      <p:sp>
        <p:nvSpPr>
          <p:cNvPr id="27" name="TextBox 26">
            <a:extLst>
              <a:ext uri="{FF2B5EF4-FFF2-40B4-BE49-F238E27FC236}">
                <a16:creationId xmlns:a16="http://schemas.microsoft.com/office/drawing/2014/main" id="{D7FAB64A-0435-4D99-B085-31AFC4249E26}"/>
              </a:ext>
            </a:extLst>
          </p:cNvPr>
          <p:cNvSpPr txBox="1">
            <a:spLocks noChangeArrowheads="1"/>
          </p:cNvSpPr>
          <p:nvPr/>
        </p:nvSpPr>
        <p:spPr bwMode="auto">
          <a:xfrm>
            <a:off x="5029200" y="4957764"/>
            <a:ext cx="4699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0/7</a:t>
            </a:r>
          </a:p>
        </p:txBody>
      </p:sp>
      <p:sp>
        <p:nvSpPr>
          <p:cNvPr id="28" name="TextBox 27">
            <a:extLst>
              <a:ext uri="{FF2B5EF4-FFF2-40B4-BE49-F238E27FC236}">
                <a16:creationId xmlns:a16="http://schemas.microsoft.com/office/drawing/2014/main" id="{9513DF1C-0E60-44D8-80F4-9ED047761149}"/>
              </a:ext>
            </a:extLst>
          </p:cNvPr>
          <p:cNvSpPr txBox="1">
            <a:spLocks noChangeArrowheads="1"/>
          </p:cNvSpPr>
          <p:nvPr/>
        </p:nvSpPr>
        <p:spPr bwMode="auto">
          <a:xfrm>
            <a:off x="5715001" y="4233864"/>
            <a:ext cx="69691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12/20</a:t>
            </a:r>
          </a:p>
        </p:txBody>
      </p:sp>
      <p:sp>
        <p:nvSpPr>
          <p:cNvPr id="31" name="Content Placeholder 2">
            <a:extLst>
              <a:ext uri="{FF2B5EF4-FFF2-40B4-BE49-F238E27FC236}">
                <a16:creationId xmlns:a16="http://schemas.microsoft.com/office/drawing/2014/main" id="{50BC7957-7B98-4BEB-BF9A-86AA13C64922}"/>
              </a:ext>
            </a:extLst>
          </p:cNvPr>
          <p:cNvSpPr txBox="1">
            <a:spLocks/>
          </p:cNvSpPr>
          <p:nvPr/>
        </p:nvSpPr>
        <p:spPr bwMode="auto">
          <a:xfrm>
            <a:off x="6705600" y="3429000"/>
            <a:ext cx="3962400" cy="1066800"/>
          </a:xfrm>
          <a:prstGeom prst="rect">
            <a:avLst/>
          </a:prstGeom>
          <a:noFill/>
          <a:ln w="9525">
            <a:noFill/>
            <a:miter lim="800000"/>
            <a:headEnd/>
            <a:tailEnd/>
          </a:ln>
        </p:spPr>
        <p:txBody>
          <a:bodyPr>
            <a:normAutofit fontScale="70000" lnSpcReduction="20000"/>
          </a:bodyPr>
          <a:lstStyle/>
          <a:p>
            <a:pPr marL="182563" indent="-236538" eaLnBrk="0" hangingPunct="0">
              <a:spcBef>
                <a:spcPts val="550"/>
              </a:spcBef>
              <a:buClr>
                <a:schemeClr val="accent1"/>
              </a:buClr>
              <a:buFont typeface="Verdana" pitchFamily="34" charset="0"/>
              <a:buChar char="◦"/>
              <a:defRPr/>
            </a:pPr>
            <a:r>
              <a:rPr lang="en-US" sz="2800" b="1" i="1" dirty="0">
                <a:latin typeface="Times New Roman" panose="02020603050405020304" pitchFamily="18" charset="0"/>
                <a:cs typeface="Times New Roman" panose="02020603050405020304" pitchFamily="18" charset="0"/>
              </a:rPr>
              <a:t>Residual capacity of a path </a:t>
            </a:r>
            <a:r>
              <a:rPr lang="en-US" sz="2800" dirty="0">
                <a:latin typeface="Times New Roman" panose="02020603050405020304" pitchFamily="18" charset="0"/>
                <a:cs typeface="Times New Roman" panose="02020603050405020304" pitchFamily="18" charset="0"/>
              </a:rPr>
              <a:t>– the minimum of the residual capacities of the edges on that path.</a:t>
            </a:r>
          </a:p>
          <a:p>
            <a:pPr marL="639763" lvl="1" indent="-236538" eaLnBrk="0" hangingPunct="0">
              <a:spcBef>
                <a:spcPts val="550"/>
              </a:spcBef>
              <a:buClr>
                <a:schemeClr val="accent1"/>
              </a:buClr>
              <a:buFont typeface="Verdana" pitchFamily="34" charset="0"/>
              <a:buChar char="◦"/>
              <a:defRPr/>
            </a:pPr>
            <a:endParaRPr lang="en-US" sz="2800" dirty="0"/>
          </a:p>
          <a:p>
            <a:pPr marL="885825" lvl="2" indent="-228600" eaLnBrk="0" hangingPunct="0">
              <a:spcBef>
                <a:spcPct val="20000"/>
              </a:spcBef>
              <a:buClr>
                <a:schemeClr val="accent2"/>
              </a:buClr>
              <a:defRPr/>
            </a:pPr>
            <a:endParaRPr lang="en-US" sz="2400" dirty="0"/>
          </a:p>
        </p:txBody>
      </p:sp>
      <p:sp>
        <p:nvSpPr>
          <p:cNvPr id="32" name="Content Placeholder 2">
            <a:extLst>
              <a:ext uri="{FF2B5EF4-FFF2-40B4-BE49-F238E27FC236}">
                <a16:creationId xmlns:a16="http://schemas.microsoft.com/office/drawing/2014/main" id="{BD217DEE-D39B-4946-8B00-E82980550766}"/>
              </a:ext>
            </a:extLst>
          </p:cNvPr>
          <p:cNvSpPr txBox="1">
            <a:spLocks/>
          </p:cNvSpPr>
          <p:nvPr/>
        </p:nvSpPr>
        <p:spPr bwMode="auto">
          <a:xfrm>
            <a:off x="6705600" y="4724400"/>
            <a:ext cx="3962400" cy="1066800"/>
          </a:xfrm>
          <a:prstGeom prst="rect">
            <a:avLst/>
          </a:prstGeom>
          <a:noFill/>
          <a:ln w="9525">
            <a:noFill/>
            <a:miter lim="800000"/>
            <a:headEnd/>
            <a:tailEnd/>
          </a:ln>
        </p:spPr>
        <p:txBody>
          <a:bodyPr>
            <a:normAutofit lnSpcReduction="10000"/>
          </a:bodyPr>
          <a:lstStyle/>
          <a:p>
            <a:pPr marL="182563" indent="-236538" eaLnBrk="0" hangingPunct="0">
              <a:spcBef>
                <a:spcPts val="550"/>
              </a:spcBef>
              <a:buClr>
                <a:schemeClr val="accent1"/>
              </a:buClr>
              <a:buFont typeface="Verdana" pitchFamily="34" charset="0"/>
              <a:buChar char="◦"/>
              <a:defRPr/>
            </a:pPr>
            <a:r>
              <a:rPr lang="en-US" sz="2200" b="1" i="1" dirty="0">
                <a:latin typeface="Times New Roman" panose="02020603050405020304" pitchFamily="18" charset="0"/>
                <a:cs typeface="Times New Roman" panose="02020603050405020304" pitchFamily="18" charset="0"/>
              </a:rPr>
              <a:t>7 in this case, </a:t>
            </a:r>
            <a:r>
              <a:rPr lang="en-US" sz="2200" i="1" dirty="0">
                <a:latin typeface="Times New Roman" panose="02020603050405020304" pitchFamily="18" charset="0"/>
                <a:cs typeface="Times New Roman" panose="02020603050405020304" pitchFamily="18" charset="0"/>
              </a:rPr>
              <a:t>which is the limiting factor for this path’s flow.</a:t>
            </a:r>
            <a:endParaRPr lang="en-US" sz="2200" dirty="0">
              <a:latin typeface="Times New Roman" panose="02020603050405020304" pitchFamily="18" charset="0"/>
              <a:cs typeface="Times New Roman" panose="02020603050405020304" pitchFamily="18" charset="0"/>
            </a:endParaRPr>
          </a:p>
          <a:p>
            <a:pPr marL="639763" lvl="1" indent="-236538" eaLnBrk="0" hangingPunct="0">
              <a:spcBef>
                <a:spcPts val="550"/>
              </a:spcBef>
              <a:buClr>
                <a:schemeClr val="accent1"/>
              </a:buClr>
              <a:buFont typeface="Verdana" pitchFamily="34" charset="0"/>
              <a:buChar char="◦"/>
              <a:defRPr/>
            </a:pPr>
            <a:endParaRPr lang="en-US" sz="2800" dirty="0"/>
          </a:p>
          <a:p>
            <a:pPr marL="885825" lvl="2" indent="-228600" eaLnBrk="0" hangingPunct="0">
              <a:spcBef>
                <a:spcPct val="20000"/>
              </a:spcBef>
              <a:buClr>
                <a:schemeClr val="accent2"/>
              </a:buClr>
              <a:defRPr/>
            </a:pPr>
            <a:endParaRPr lang="en-US" sz="2400" dirty="0"/>
          </a:p>
        </p:txBody>
      </p:sp>
      <p:sp>
        <p:nvSpPr>
          <p:cNvPr id="33" name="TextBox 32">
            <a:extLst>
              <a:ext uri="{FF2B5EF4-FFF2-40B4-BE49-F238E27FC236}">
                <a16:creationId xmlns:a16="http://schemas.microsoft.com/office/drawing/2014/main" id="{56BCC125-1623-4F6D-A37B-BA518FD1E95A}"/>
              </a:ext>
            </a:extLst>
          </p:cNvPr>
          <p:cNvSpPr txBox="1">
            <a:spLocks noChangeArrowheads="1"/>
          </p:cNvSpPr>
          <p:nvPr/>
        </p:nvSpPr>
        <p:spPr bwMode="auto">
          <a:xfrm>
            <a:off x="4495800" y="6107114"/>
            <a:ext cx="5842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4/14</a:t>
            </a:r>
          </a:p>
        </p:txBody>
      </p:sp>
      <p:sp>
        <p:nvSpPr>
          <p:cNvPr id="27681" name="TextBox 33">
            <a:extLst>
              <a:ext uri="{FF2B5EF4-FFF2-40B4-BE49-F238E27FC236}">
                <a16:creationId xmlns:a16="http://schemas.microsoft.com/office/drawing/2014/main" id="{6BC75142-173A-41E2-B998-AB58F65A1DEC}"/>
              </a:ext>
            </a:extLst>
          </p:cNvPr>
          <p:cNvSpPr txBox="1">
            <a:spLocks noChangeArrowheads="1"/>
          </p:cNvSpPr>
          <p:nvPr/>
        </p:nvSpPr>
        <p:spPr bwMode="auto">
          <a:xfrm>
            <a:off x="5807075" y="5638800"/>
            <a:ext cx="4699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4/4</a:t>
            </a:r>
          </a:p>
        </p:txBody>
      </p:sp>
      <p:sp>
        <p:nvSpPr>
          <p:cNvPr id="35" name="TextBox 34">
            <a:extLst>
              <a:ext uri="{FF2B5EF4-FFF2-40B4-BE49-F238E27FC236}">
                <a16:creationId xmlns:a16="http://schemas.microsoft.com/office/drawing/2014/main" id="{D535AFD1-863F-45D2-9D9E-00D148B5B38A}"/>
              </a:ext>
            </a:extLst>
          </p:cNvPr>
          <p:cNvSpPr txBox="1">
            <a:spLocks noChangeArrowheads="1"/>
          </p:cNvSpPr>
          <p:nvPr/>
        </p:nvSpPr>
        <p:spPr bwMode="auto">
          <a:xfrm>
            <a:off x="3124200" y="5680075"/>
            <a:ext cx="584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4/13</a:t>
            </a:r>
          </a:p>
        </p:txBody>
      </p:sp>
      <p:sp>
        <p:nvSpPr>
          <p:cNvPr id="42" name="TextBox 41">
            <a:extLst>
              <a:ext uri="{FF2B5EF4-FFF2-40B4-BE49-F238E27FC236}">
                <a16:creationId xmlns:a16="http://schemas.microsoft.com/office/drawing/2014/main" id="{63B84DD2-7F00-4445-BD50-8549EC4E5189}"/>
              </a:ext>
            </a:extLst>
          </p:cNvPr>
          <p:cNvSpPr txBox="1">
            <a:spLocks noChangeArrowheads="1"/>
          </p:cNvSpPr>
          <p:nvPr/>
        </p:nvSpPr>
        <p:spPr bwMode="auto">
          <a:xfrm>
            <a:off x="5018088" y="4987925"/>
            <a:ext cx="4699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7/7</a:t>
            </a:r>
          </a:p>
        </p:txBody>
      </p:sp>
      <p:sp>
        <p:nvSpPr>
          <p:cNvPr id="43" name="TextBox 42">
            <a:extLst>
              <a:ext uri="{FF2B5EF4-FFF2-40B4-BE49-F238E27FC236}">
                <a16:creationId xmlns:a16="http://schemas.microsoft.com/office/drawing/2014/main" id="{2FBE4B61-3C0C-4947-AC6E-50AAE4D309F4}"/>
              </a:ext>
            </a:extLst>
          </p:cNvPr>
          <p:cNvSpPr txBox="1">
            <a:spLocks noChangeArrowheads="1"/>
          </p:cNvSpPr>
          <p:nvPr/>
        </p:nvSpPr>
        <p:spPr bwMode="auto">
          <a:xfrm>
            <a:off x="5703888" y="4264025"/>
            <a:ext cx="69691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19/20</a:t>
            </a:r>
          </a:p>
        </p:txBody>
      </p:sp>
      <p:sp>
        <p:nvSpPr>
          <p:cNvPr id="44" name="TextBox 43">
            <a:extLst>
              <a:ext uri="{FF2B5EF4-FFF2-40B4-BE49-F238E27FC236}">
                <a16:creationId xmlns:a16="http://schemas.microsoft.com/office/drawing/2014/main" id="{182F5FDA-C42A-4AFD-B1F1-36ECB7024E7D}"/>
              </a:ext>
            </a:extLst>
          </p:cNvPr>
          <p:cNvSpPr txBox="1">
            <a:spLocks noChangeArrowheads="1"/>
          </p:cNvSpPr>
          <p:nvPr/>
        </p:nvSpPr>
        <p:spPr bwMode="auto">
          <a:xfrm>
            <a:off x="4484689" y="6138864"/>
            <a:ext cx="68103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11/14</a:t>
            </a:r>
          </a:p>
        </p:txBody>
      </p:sp>
      <p:sp>
        <p:nvSpPr>
          <p:cNvPr id="45" name="TextBox 44">
            <a:extLst>
              <a:ext uri="{FF2B5EF4-FFF2-40B4-BE49-F238E27FC236}">
                <a16:creationId xmlns:a16="http://schemas.microsoft.com/office/drawing/2014/main" id="{6AF11AA0-EFFD-4F59-9926-9EDE3A42D0E3}"/>
              </a:ext>
            </a:extLst>
          </p:cNvPr>
          <p:cNvSpPr txBox="1">
            <a:spLocks noChangeArrowheads="1"/>
          </p:cNvSpPr>
          <p:nvPr/>
        </p:nvSpPr>
        <p:spPr bwMode="auto">
          <a:xfrm>
            <a:off x="3113089" y="5710239"/>
            <a:ext cx="68103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11/13</a:t>
            </a:r>
          </a:p>
        </p:txBody>
      </p:sp>
      <p:cxnSp>
        <p:nvCxnSpPr>
          <p:cNvPr id="46" name="Straight Arrow Connector 45">
            <a:extLst>
              <a:ext uri="{FF2B5EF4-FFF2-40B4-BE49-F238E27FC236}">
                <a16:creationId xmlns:a16="http://schemas.microsoft.com/office/drawing/2014/main" id="{9FD3A0B7-52BA-4A1D-B53C-20E9D24C2B3D}"/>
              </a:ext>
            </a:extLst>
          </p:cNvPr>
          <p:cNvCxnSpPr/>
          <p:nvPr/>
        </p:nvCxnSpPr>
        <p:spPr>
          <a:xfrm rot="16200000" flipH="1">
            <a:off x="3314701" y="5446714"/>
            <a:ext cx="600075" cy="523875"/>
          </a:xfrm>
          <a:prstGeom prst="straightConnector1">
            <a:avLst/>
          </a:prstGeom>
          <a:ln w="38100">
            <a:solidFill>
              <a:srgbClr val="C0000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EE56BF6B-CEE8-4085-9002-3C3B504E1BE5}"/>
              </a:ext>
            </a:extLst>
          </p:cNvPr>
          <p:cNvCxnSpPr/>
          <p:nvPr/>
        </p:nvCxnSpPr>
        <p:spPr>
          <a:xfrm>
            <a:off x="4267200" y="6170614"/>
            <a:ext cx="990600" cy="1587"/>
          </a:xfrm>
          <a:prstGeom prst="straightConnector1">
            <a:avLst/>
          </a:prstGeom>
          <a:ln w="38100">
            <a:solidFill>
              <a:srgbClr val="C0000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99C503A7-F997-4479-A21C-89142BFB0B37}"/>
              </a:ext>
            </a:extLst>
          </p:cNvPr>
          <p:cNvCxnSpPr/>
          <p:nvPr/>
        </p:nvCxnSpPr>
        <p:spPr>
          <a:xfrm rot="16200000" flipH="1">
            <a:off x="5610226" y="4313239"/>
            <a:ext cx="676275" cy="600075"/>
          </a:xfrm>
          <a:prstGeom prst="straightConnector1">
            <a:avLst/>
          </a:prstGeom>
          <a:ln w="38100">
            <a:solidFill>
              <a:srgbClr val="C0000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ADD1C598-1F2B-4200-B5E3-83EF1DEF1250}"/>
              </a:ext>
            </a:extLst>
          </p:cNvPr>
          <p:cNvCxnSpPr/>
          <p:nvPr/>
        </p:nvCxnSpPr>
        <p:spPr>
          <a:xfrm rot="5400000" flipH="1" flipV="1">
            <a:off x="4686301" y="5140326"/>
            <a:ext cx="1600200" cy="3175"/>
          </a:xfrm>
          <a:prstGeom prst="straightConnector1">
            <a:avLst/>
          </a:prstGeom>
          <a:ln w="38100">
            <a:solidFill>
              <a:srgbClr val="C00000"/>
            </a:solidFill>
            <a:tailEnd type="stealth" w="lg" len="lg"/>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9"/>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35"/>
                                        </p:tgtEl>
                                        <p:attrNameLst>
                                          <p:attrName>style.visibility</p:attrName>
                                        </p:attrNameLst>
                                      </p:cBhvr>
                                      <p:to>
                                        <p:strVal val="hidden"/>
                                      </p:to>
                                    </p:set>
                                  </p:childTnLst>
                                </p:cTn>
                              </p:par>
                              <p:par>
                                <p:cTn id="17" presetID="1" presetClass="exit" presetSubtype="0" fill="hold" grpId="0" nodeType="withEffect">
                                  <p:stCondLst>
                                    <p:cond delay="0"/>
                                  </p:stCondLst>
                                  <p:childTnLst>
                                    <p:set>
                                      <p:cBhvr>
                                        <p:cTn id="18" dur="1" fill="hold">
                                          <p:stCondLst>
                                            <p:cond delay="0"/>
                                          </p:stCondLst>
                                        </p:cTn>
                                        <p:tgtEl>
                                          <p:spTgt spid="33"/>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0"/>
                                          </p:stCondLst>
                                        </p:cTn>
                                        <p:tgtEl>
                                          <p:spTgt spid="27"/>
                                        </p:tgtEl>
                                        <p:attrNameLst>
                                          <p:attrName>style.visibility</p:attrName>
                                        </p:attrNameLst>
                                      </p:cBhvr>
                                      <p:to>
                                        <p:strVal val="hidden"/>
                                      </p:to>
                                    </p:set>
                                  </p:childTnLst>
                                </p:cTn>
                              </p:par>
                              <p:par>
                                <p:cTn id="21" presetID="1" presetClass="exit" presetSubtype="0" fill="hold" grpId="0" nodeType="withEffect">
                                  <p:stCondLst>
                                    <p:cond delay="0"/>
                                  </p:stCondLst>
                                  <p:childTnLst>
                                    <p:set>
                                      <p:cBhvr>
                                        <p:cTn id="22" dur="1" fill="hold">
                                          <p:stCondLst>
                                            <p:cond delay="0"/>
                                          </p:stCondLst>
                                        </p:cTn>
                                        <p:tgtEl>
                                          <p:spTgt spid="28"/>
                                        </p:tgtEl>
                                        <p:attrNameLst>
                                          <p:attrName>style.visibility</p:attrName>
                                        </p:attrNameLst>
                                      </p:cBhvr>
                                      <p:to>
                                        <p:strVal val="hidden"/>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33" grpId="0"/>
      <p:bldP spid="35" grpId="0"/>
      <p:bldP spid="42" grpId="0"/>
      <p:bldP spid="43" grpId="0"/>
      <p:bldP spid="44" grpId="0"/>
      <p:bldP spid="4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057FC-5BE3-4C19-A966-A9E507FF959D}"/>
              </a:ext>
            </a:extLst>
          </p:cNvPr>
          <p:cNvSpPr>
            <a:spLocks noGrp="1"/>
          </p:cNvSpPr>
          <p:nvPr>
            <p:ph type="title"/>
          </p:nvPr>
        </p:nvSpPr>
        <p:spPr>
          <a:xfrm>
            <a:off x="2514600" y="0"/>
            <a:ext cx="7499350" cy="914400"/>
          </a:xfrm>
        </p:spPr>
        <p:txBody>
          <a:bodyPr>
            <a:normAutofit/>
          </a:bodyPr>
          <a:lstStyle/>
          <a:p>
            <a:pPr>
              <a:defRPr/>
            </a:pPr>
            <a:r>
              <a:rPr lang="en-US" sz="2800" dirty="0">
                <a:latin typeface="Times New Roman" panose="02020603050405020304" pitchFamily="18" charset="0"/>
                <a:cs typeface="Times New Roman" panose="02020603050405020304" pitchFamily="18" charset="0"/>
              </a:rPr>
              <a:t>Ford-Fulkerson Algorithm</a:t>
            </a:r>
          </a:p>
        </p:txBody>
      </p:sp>
      <p:sp>
        <p:nvSpPr>
          <p:cNvPr id="3" name="Content Placeholder 2">
            <a:extLst>
              <a:ext uri="{FF2B5EF4-FFF2-40B4-BE49-F238E27FC236}">
                <a16:creationId xmlns:a16="http://schemas.microsoft.com/office/drawing/2014/main" id="{7B6AFC6A-C73F-4AEF-872D-505655E4F073}"/>
              </a:ext>
            </a:extLst>
          </p:cNvPr>
          <p:cNvSpPr>
            <a:spLocks noGrp="1"/>
          </p:cNvSpPr>
          <p:nvPr>
            <p:ph idx="1"/>
          </p:nvPr>
        </p:nvSpPr>
        <p:spPr>
          <a:xfrm>
            <a:off x="2514600" y="914400"/>
            <a:ext cx="8153400" cy="2438400"/>
          </a:xfrm>
        </p:spPr>
        <p:txBody>
          <a:bodyPr>
            <a:normAutofit/>
          </a:bodyPr>
          <a:lstStyle/>
          <a:p>
            <a:pPr>
              <a:buFont typeface="Wingdings 2" panose="05020102010507070707" pitchFamily="18" charset="2"/>
              <a:buNone/>
              <a:defRPr/>
            </a:pPr>
            <a:r>
              <a:rPr lang="en-US" sz="2000" b="1" dirty="0">
                <a:latin typeface="Times New Roman" panose="02020603050405020304" pitchFamily="18" charset="0"/>
                <a:cs typeface="Times New Roman" panose="02020603050405020304" pitchFamily="18" charset="0"/>
              </a:rPr>
              <a:t>While there exists an augmenting path</a:t>
            </a:r>
          </a:p>
          <a:p>
            <a:pPr>
              <a:buFont typeface="Wingdings 2" panose="05020102010507070707" pitchFamily="18" charset="2"/>
              <a:buNone/>
              <a:defRPr/>
            </a:pPr>
            <a:r>
              <a:rPr lang="en-US" sz="2000" b="1" dirty="0">
                <a:latin typeface="Times New Roman" panose="02020603050405020304" pitchFamily="18" charset="0"/>
                <a:cs typeface="Times New Roman" panose="02020603050405020304" pitchFamily="18" charset="0"/>
              </a:rPr>
              <a:t>	Add the appropriate flow to that augmenting path</a:t>
            </a:r>
          </a:p>
          <a:p>
            <a:pPr>
              <a:defRPr/>
            </a:pPr>
            <a:endParaRPr lang="en-US" sz="2000" dirty="0">
              <a:latin typeface="Times New Roman" panose="02020603050405020304" pitchFamily="18" charset="0"/>
              <a:cs typeface="Times New Roman" panose="02020603050405020304" pitchFamily="18" charset="0"/>
            </a:endParaRPr>
          </a:p>
          <a:p>
            <a:pPr>
              <a:defRPr/>
            </a:pPr>
            <a:r>
              <a:rPr lang="en-US" sz="2000" dirty="0">
                <a:latin typeface="Times New Roman" panose="02020603050405020304" pitchFamily="18" charset="0"/>
                <a:cs typeface="Times New Roman" panose="02020603050405020304" pitchFamily="18" charset="0"/>
              </a:rPr>
              <a:t>Are there any more augmenting paths?</a:t>
            </a:r>
          </a:p>
          <a:p>
            <a:pPr lvl="1">
              <a:defRPr/>
            </a:pPr>
            <a:r>
              <a:rPr lang="en-US" sz="2000" dirty="0">
                <a:latin typeface="Times New Roman" panose="02020603050405020304" pitchFamily="18" charset="0"/>
                <a:cs typeface="Times New Roman" panose="02020603050405020304" pitchFamily="18" charset="0"/>
              </a:rPr>
              <a:t>No!  We’re done</a:t>
            </a:r>
          </a:p>
          <a:p>
            <a:pPr lvl="1">
              <a:defRPr/>
            </a:pPr>
            <a:r>
              <a:rPr lang="en-US" sz="2000" dirty="0">
                <a:latin typeface="Times New Roman" panose="02020603050405020304" pitchFamily="18" charset="0"/>
                <a:cs typeface="Times New Roman" panose="02020603050405020304" pitchFamily="18" charset="0"/>
              </a:rPr>
              <a:t>The maximum flow = 19 + 4 = 23</a:t>
            </a:r>
          </a:p>
        </p:txBody>
      </p:sp>
      <p:sp>
        <p:nvSpPr>
          <p:cNvPr id="4" name="Oval 3">
            <a:extLst>
              <a:ext uri="{FF2B5EF4-FFF2-40B4-BE49-F238E27FC236}">
                <a16:creationId xmlns:a16="http://schemas.microsoft.com/office/drawing/2014/main" id="{F597289F-A247-4758-82BE-8BFB414E26D0}"/>
              </a:ext>
            </a:extLst>
          </p:cNvPr>
          <p:cNvSpPr/>
          <p:nvPr/>
        </p:nvSpPr>
        <p:spPr>
          <a:xfrm>
            <a:off x="3810000" y="3849688"/>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a</a:t>
            </a:r>
          </a:p>
        </p:txBody>
      </p:sp>
      <p:sp>
        <p:nvSpPr>
          <p:cNvPr id="5" name="Oval 4">
            <a:extLst>
              <a:ext uri="{FF2B5EF4-FFF2-40B4-BE49-F238E27FC236}">
                <a16:creationId xmlns:a16="http://schemas.microsoft.com/office/drawing/2014/main" id="{4D2EF80C-04A9-415A-854B-7D6DDCBA55E7}"/>
              </a:ext>
            </a:extLst>
          </p:cNvPr>
          <p:cNvSpPr/>
          <p:nvPr/>
        </p:nvSpPr>
        <p:spPr>
          <a:xfrm>
            <a:off x="3124200" y="4916488"/>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s</a:t>
            </a:r>
          </a:p>
        </p:txBody>
      </p:sp>
      <p:sp>
        <p:nvSpPr>
          <p:cNvPr id="6" name="Oval 5">
            <a:extLst>
              <a:ext uri="{FF2B5EF4-FFF2-40B4-BE49-F238E27FC236}">
                <a16:creationId xmlns:a16="http://schemas.microsoft.com/office/drawing/2014/main" id="{46E12AE7-A0B5-4F97-82AA-9DBDB2DF6894}"/>
              </a:ext>
            </a:extLst>
          </p:cNvPr>
          <p:cNvSpPr/>
          <p:nvPr/>
        </p:nvSpPr>
        <p:spPr>
          <a:xfrm>
            <a:off x="3810000" y="5907088"/>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c</a:t>
            </a:r>
          </a:p>
        </p:txBody>
      </p:sp>
      <p:sp>
        <p:nvSpPr>
          <p:cNvPr id="7" name="Oval 6">
            <a:extLst>
              <a:ext uri="{FF2B5EF4-FFF2-40B4-BE49-F238E27FC236}">
                <a16:creationId xmlns:a16="http://schemas.microsoft.com/office/drawing/2014/main" id="{92A7CDE0-4F01-4055-960E-ABA2E858BC6F}"/>
              </a:ext>
            </a:extLst>
          </p:cNvPr>
          <p:cNvSpPr/>
          <p:nvPr/>
        </p:nvSpPr>
        <p:spPr>
          <a:xfrm>
            <a:off x="5257800" y="3849688"/>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b</a:t>
            </a:r>
          </a:p>
        </p:txBody>
      </p:sp>
      <p:sp>
        <p:nvSpPr>
          <p:cNvPr id="8" name="Oval 7">
            <a:extLst>
              <a:ext uri="{FF2B5EF4-FFF2-40B4-BE49-F238E27FC236}">
                <a16:creationId xmlns:a16="http://schemas.microsoft.com/office/drawing/2014/main" id="{B26BB4D8-EAE4-4DBE-BF89-A797D7D5BEDA}"/>
              </a:ext>
            </a:extLst>
          </p:cNvPr>
          <p:cNvSpPr/>
          <p:nvPr/>
        </p:nvSpPr>
        <p:spPr>
          <a:xfrm>
            <a:off x="5257800" y="5907088"/>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d</a:t>
            </a:r>
          </a:p>
        </p:txBody>
      </p:sp>
      <p:sp>
        <p:nvSpPr>
          <p:cNvPr id="9" name="Oval 8">
            <a:extLst>
              <a:ext uri="{FF2B5EF4-FFF2-40B4-BE49-F238E27FC236}">
                <a16:creationId xmlns:a16="http://schemas.microsoft.com/office/drawing/2014/main" id="{4E338C7F-AC79-4DEE-8CE6-1E9EF194A3AF}"/>
              </a:ext>
            </a:extLst>
          </p:cNvPr>
          <p:cNvSpPr/>
          <p:nvPr/>
        </p:nvSpPr>
        <p:spPr>
          <a:xfrm>
            <a:off x="6019800" y="4916488"/>
            <a:ext cx="457200" cy="45720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400" b="1" dirty="0">
                <a:solidFill>
                  <a:srgbClr val="004274"/>
                </a:solidFill>
              </a:rPr>
              <a:t>t</a:t>
            </a:r>
          </a:p>
        </p:txBody>
      </p:sp>
      <p:cxnSp>
        <p:nvCxnSpPr>
          <p:cNvPr id="10" name="Straight Arrow Connector 9">
            <a:extLst>
              <a:ext uri="{FF2B5EF4-FFF2-40B4-BE49-F238E27FC236}">
                <a16:creationId xmlns:a16="http://schemas.microsoft.com/office/drawing/2014/main" id="{3B4D6BF9-643E-46B6-9B89-558A2A8AEBA5}"/>
              </a:ext>
            </a:extLst>
          </p:cNvPr>
          <p:cNvCxnSpPr>
            <a:stCxn id="4" idx="6"/>
            <a:endCxn id="7" idx="2"/>
          </p:cNvCxnSpPr>
          <p:nvPr/>
        </p:nvCxnSpPr>
        <p:spPr>
          <a:xfrm>
            <a:off x="4267200" y="4078289"/>
            <a:ext cx="990600" cy="1587"/>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86AB3634-19DE-4A9D-8C57-FF6E2CBCBFEF}"/>
              </a:ext>
            </a:extLst>
          </p:cNvPr>
          <p:cNvCxnSpPr>
            <a:stCxn id="5" idx="0"/>
            <a:endCxn id="4" idx="3"/>
          </p:cNvCxnSpPr>
          <p:nvPr/>
        </p:nvCxnSpPr>
        <p:spPr>
          <a:xfrm rot="5400000" flipH="1" flipV="1">
            <a:off x="3276601" y="4316414"/>
            <a:ext cx="676275" cy="523875"/>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B3755073-3EF1-431A-85AD-B0BBEAA51828}"/>
              </a:ext>
            </a:extLst>
          </p:cNvPr>
          <p:cNvCxnSpPr>
            <a:stCxn id="5" idx="4"/>
            <a:endCxn id="6" idx="1"/>
          </p:cNvCxnSpPr>
          <p:nvPr/>
        </p:nvCxnSpPr>
        <p:spPr>
          <a:xfrm rot="16200000" flipH="1">
            <a:off x="3314701" y="5411789"/>
            <a:ext cx="600075" cy="523875"/>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36F84BE9-2DB2-4A73-AB57-D4BDE52A01C8}"/>
              </a:ext>
            </a:extLst>
          </p:cNvPr>
          <p:cNvCxnSpPr>
            <a:stCxn id="6" idx="6"/>
            <a:endCxn id="8" idx="2"/>
          </p:cNvCxnSpPr>
          <p:nvPr/>
        </p:nvCxnSpPr>
        <p:spPr>
          <a:xfrm>
            <a:off x="4267200" y="6135689"/>
            <a:ext cx="990600" cy="1587"/>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CB90D028-931D-47EB-990E-4FA9776280BF}"/>
              </a:ext>
            </a:extLst>
          </p:cNvPr>
          <p:cNvCxnSpPr>
            <a:stCxn id="8" idx="7"/>
            <a:endCxn id="9" idx="4"/>
          </p:cNvCxnSpPr>
          <p:nvPr/>
        </p:nvCxnSpPr>
        <p:spPr>
          <a:xfrm rot="5400000" flipH="1" flipV="1">
            <a:off x="5648326" y="5373689"/>
            <a:ext cx="600075" cy="600075"/>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C7FA59DF-1F4E-4BC6-AE57-43BA6E013350}"/>
              </a:ext>
            </a:extLst>
          </p:cNvPr>
          <p:cNvCxnSpPr>
            <a:stCxn id="7" idx="5"/>
            <a:endCxn id="9" idx="0"/>
          </p:cNvCxnSpPr>
          <p:nvPr/>
        </p:nvCxnSpPr>
        <p:spPr>
          <a:xfrm rot="16200000" flipH="1">
            <a:off x="5610226" y="4278314"/>
            <a:ext cx="676275" cy="600075"/>
          </a:xfrm>
          <a:prstGeom prst="straightConnector1">
            <a:avLst/>
          </a:prstGeom>
          <a:ln w="254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5F6BA07-5F8F-4B7F-9100-7D5E42624230}"/>
              </a:ext>
            </a:extLst>
          </p:cNvPr>
          <p:cNvCxnSpPr/>
          <p:nvPr/>
        </p:nvCxnSpPr>
        <p:spPr>
          <a:xfrm rot="5400000" flipH="1" flipV="1">
            <a:off x="3313907" y="5106195"/>
            <a:ext cx="1600200" cy="1587"/>
          </a:xfrm>
          <a:prstGeom prst="straightConnector1">
            <a:avLst/>
          </a:prstGeom>
          <a:ln w="19050">
            <a:solidFill>
              <a:schemeClr val="tx1"/>
            </a:solidFill>
            <a:headEnd type="stealth" w="lg" len="lg"/>
            <a:tailEnd type="non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822606C-3CF7-4B91-94F6-3B6EAB5AEE0E}"/>
              </a:ext>
            </a:extLst>
          </p:cNvPr>
          <p:cNvCxnSpPr>
            <a:stCxn id="8" idx="0"/>
            <a:endCxn id="7" idx="4"/>
          </p:cNvCxnSpPr>
          <p:nvPr/>
        </p:nvCxnSpPr>
        <p:spPr>
          <a:xfrm rot="5400000" flipH="1" flipV="1">
            <a:off x="4686301" y="5105401"/>
            <a:ext cx="1600200" cy="3175"/>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C351EF99-51C4-4918-AEFC-93BAF872C84B}"/>
              </a:ext>
            </a:extLst>
          </p:cNvPr>
          <p:cNvCxnSpPr>
            <a:stCxn id="7" idx="3"/>
            <a:endCxn id="6" idx="7"/>
          </p:cNvCxnSpPr>
          <p:nvPr/>
        </p:nvCxnSpPr>
        <p:spPr>
          <a:xfrm rot="5400000">
            <a:off x="3895725" y="4545013"/>
            <a:ext cx="1733550" cy="1123950"/>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EFD882F-1039-4EE3-9DB4-5635C06A028C}"/>
              </a:ext>
            </a:extLst>
          </p:cNvPr>
          <p:cNvCxnSpPr/>
          <p:nvPr/>
        </p:nvCxnSpPr>
        <p:spPr>
          <a:xfrm rot="5400000" flipH="1" flipV="1">
            <a:off x="3163094" y="5106194"/>
            <a:ext cx="1600200" cy="1588"/>
          </a:xfrm>
          <a:prstGeom prst="straightConnector1">
            <a:avLst/>
          </a:prstGeom>
          <a:ln w="1905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EEEA2A36-D814-48A4-A80E-FFFDB5E620A8}"/>
              </a:ext>
            </a:extLst>
          </p:cNvPr>
          <p:cNvSpPr/>
          <p:nvPr/>
        </p:nvSpPr>
        <p:spPr>
          <a:xfrm>
            <a:off x="2895600" y="3505200"/>
            <a:ext cx="3657600" cy="3200400"/>
          </a:xfrm>
          <a:prstGeom prst="rect">
            <a:avLst/>
          </a:prstGeom>
          <a:noFill/>
          <a:ln>
            <a:gradFill>
              <a:gsLst>
                <a:gs pos="0">
                  <a:srgbClr val="A603AB"/>
                </a:gs>
                <a:gs pos="21001">
                  <a:srgbClr val="0819FB"/>
                </a:gs>
                <a:gs pos="35001">
                  <a:srgbClr val="1A8D48"/>
                </a:gs>
                <a:gs pos="52000">
                  <a:srgbClr val="FFFF00"/>
                </a:gs>
                <a:gs pos="73000">
                  <a:srgbClr val="EE3F17"/>
                </a:gs>
                <a:gs pos="88000">
                  <a:srgbClr val="E81766"/>
                </a:gs>
                <a:gs pos="100000">
                  <a:srgbClr val="A603AB"/>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8695" name="TextBox 20">
            <a:extLst>
              <a:ext uri="{FF2B5EF4-FFF2-40B4-BE49-F238E27FC236}">
                <a16:creationId xmlns:a16="http://schemas.microsoft.com/office/drawing/2014/main" id="{2BA05E7B-8DA3-42C5-B8AA-4EBFE8487E2E}"/>
              </a:ext>
            </a:extLst>
          </p:cNvPr>
          <p:cNvSpPr txBox="1">
            <a:spLocks noChangeArrowheads="1"/>
          </p:cNvSpPr>
          <p:nvPr/>
        </p:nvSpPr>
        <p:spPr bwMode="auto">
          <a:xfrm>
            <a:off x="4419601" y="3773489"/>
            <a:ext cx="69691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12/12</a:t>
            </a:r>
          </a:p>
        </p:txBody>
      </p:sp>
      <p:sp>
        <p:nvSpPr>
          <p:cNvPr id="28696" name="TextBox 21">
            <a:extLst>
              <a:ext uri="{FF2B5EF4-FFF2-40B4-BE49-F238E27FC236}">
                <a16:creationId xmlns:a16="http://schemas.microsoft.com/office/drawing/2014/main" id="{84F2903A-B109-4A0E-BB33-900FBD579F53}"/>
              </a:ext>
            </a:extLst>
          </p:cNvPr>
          <p:cNvSpPr txBox="1">
            <a:spLocks noChangeArrowheads="1"/>
          </p:cNvSpPr>
          <p:nvPr/>
        </p:nvSpPr>
        <p:spPr bwMode="auto">
          <a:xfrm>
            <a:off x="3048001" y="4241800"/>
            <a:ext cx="6969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12/16</a:t>
            </a:r>
          </a:p>
        </p:txBody>
      </p:sp>
      <p:sp>
        <p:nvSpPr>
          <p:cNvPr id="28697" name="TextBox 22">
            <a:extLst>
              <a:ext uri="{FF2B5EF4-FFF2-40B4-BE49-F238E27FC236}">
                <a16:creationId xmlns:a16="http://schemas.microsoft.com/office/drawing/2014/main" id="{1FC873B9-55D6-49B2-8EC9-82969D3CE3E2}"/>
              </a:ext>
            </a:extLst>
          </p:cNvPr>
          <p:cNvSpPr txBox="1">
            <a:spLocks noChangeArrowheads="1"/>
          </p:cNvSpPr>
          <p:nvPr/>
        </p:nvSpPr>
        <p:spPr bwMode="auto">
          <a:xfrm>
            <a:off x="4572000" y="4500564"/>
            <a:ext cx="4699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0/9</a:t>
            </a:r>
          </a:p>
        </p:txBody>
      </p:sp>
      <p:sp>
        <p:nvSpPr>
          <p:cNvPr id="28698" name="TextBox 23">
            <a:extLst>
              <a:ext uri="{FF2B5EF4-FFF2-40B4-BE49-F238E27FC236}">
                <a16:creationId xmlns:a16="http://schemas.microsoft.com/office/drawing/2014/main" id="{4C18F6E1-6F7F-46ED-94FC-389C7A8DC5D3}"/>
              </a:ext>
            </a:extLst>
          </p:cNvPr>
          <p:cNvSpPr txBox="1">
            <a:spLocks noChangeArrowheads="1"/>
          </p:cNvSpPr>
          <p:nvPr/>
        </p:nvSpPr>
        <p:spPr bwMode="auto">
          <a:xfrm>
            <a:off x="3533775" y="4805364"/>
            <a:ext cx="4699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0/4</a:t>
            </a:r>
          </a:p>
        </p:txBody>
      </p:sp>
      <p:sp>
        <p:nvSpPr>
          <p:cNvPr id="28699" name="TextBox 24">
            <a:extLst>
              <a:ext uri="{FF2B5EF4-FFF2-40B4-BE49-F238E27FC236}">
                <a16:creationId xmlns:a16="http://schemas.microsoft.com/office/drawing/2014/main" id="{90922618-85B3-4AD8-8245-7EF1CEB07972}"/>
              </a:ext>
            </a:extLst>
          </p:cNvPr>
          <p:cNvSpPr txBox="1">
            <a:spLocks noChangeArrowheads="1"/>
          </p:cNvSpPr>
          <p:nvPr/>
        </p:nvSpPr>
        <p:spPr bwMode="auto">
          <a:xfrm>
            <a:off x="4038600" y="4840289"/>
            <a:ext cx="5842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0/10</a:t>
            </a:r>
          </a:p>
        </p:txBody>
      </p:sp>
      <p:sp>
        <p:nvSpPr>
          <p:cNvPr id="28700" name="TextBox 32">
            <a:extLst>
              <a:ext uri="{FF2B5EF4-FFF2-40B4-BE49-F238E27FC236}">
                <a16:creationId xmlns:a16="http://schemas.microsoft.com/office/drawing/2014/main" id="{8E75D699-6E5B-453C-A190-CDC6DBEFECC8}"/>
              </a:ext>
            </a:extLst>
          </p:cNvPr>
          <p:cNvSpPr txBox="1">
            <a:spLocks noChangeArrowheads="1"/>
          </p:cNvSpPr>
          <p:nvPr/>
        </p:nvSpPr>
        <p:spPr bwMode="auto">
          <a:xfrm>
            <a:off x="4495801" y="6107114"/>
            <a:ext cx="6826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11/14</a:t>
            </a:r>
          </a:p>
        </p:txBody>
      </p:sp>
      <p:sp>
        <p:nvSpPr>
          <p:cNvPr id="28701" name="TextBox 33">
            <a:extLst>
              <a:ext uri="{FF2B5EF4-FFF2-40B4-BE49-F238E27FC236}">
                <a16:creationId xmlns:a16="http://schemas.microsoft.com/office/drawing/2014/main" id="{749CA702-655E-456B-A2FF-FF98AE9F045B}"/>
              </a:ext>
            </a:extLst>
          </p:cNvPr>
          <p:cNvSpPr txBox="1">
            <a:spLocks noChangeArrowheads="1"/>
          </p:cNvSpPr>
          <p:nvPr/>
        </p:nvSpPr>
        <p:spPr bwMode="auto">
          <a:xfrm>
            <a:off x="5807075" y="5638800"/>
            <a:ext cx="4699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4/4</a:t>
            </a:r>
          </a:p>
        </p:txBody>
      </p:sp>
      <p:sp>
        <p:nvSpPr>
          <p:cNvPr id="28702" name="TextBox 41">
            <a:extLst>
              <a:ext uri="{FF2B5EF4-FFF2-40B4-BE49-F238E27FC236}">
                <a16:creationId xmlns:a16="http://schemas.microsoft.com/office/drawing/2014/main" id="{4366FF4D-50D1-4428-8653-332B0C53603E}"/>
              </a:ext>
            </a:extLst>
          </p:cNvPr>
          <p:cNvSpPr txBox="1">
            <a:spLocks noChangeArrowheads="1"/>
          </p:cNvSpPr>
          <p:nvPr/>
        </p:nvSpPr>
        <p:spPr bwMode="auto">
          <a:xfrm>
            <a:off x="5092700" y="4953000"/>
            <a:ext cx="4699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7/7</a:t>
            </a:r>
          </a:p>
        </p:txBody>
      </p:sp>
      <p:sp>
        <p:nvSpPr>
          <p:cNvPr id="28703" name="TextBox 42">
            <a:extLst>
              <a:ext uri="{FF2B5EF4-FFF2-40B4-BE49-F238E27FC236}">
                <a16:creationId xmlns:a16="http://schemas.microsoft.com/office/drawing/2014/main" id="{557B5B7D-ADA5-4CCF-9EB3-7EEE24107D14}"/>
              </a:ext>
            </a:extLst>
          </p:cNvPr>
          <p:cNvSpPr txBox="1">
            <a:spLocks noChangeArrowheads="1"/>
          </p:cNvSpPr>
          <p:nvPr/>
        </p:nvSpPr>
        <p:spPr bwMode="auto">
          <a:xfrm>
            <a:off x="5791201" y="4191000"/>
            <a:ext cx="6969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19/20</a:t>
            </a:r>
          </a:p>
        </p:txBody>
      </p:sp>
      <p:sp>
        <p:nvSpPr>
          <p:cNvPr id="28704" name="TextBox 44">
            <a:extLst>
              <a:ext uri="{FF2B5EF4-FFF2-40B4-BE49-F238E27FC236}">
                <a16:creationId xmlns:a16="http://schemas.microsoft.com/office/drawing/2014/main" id="{FA85ED3E-6A9E-414E-B41C-A73D9A6E3794}"/>
              </a:ext>
            </a:extLst>
          </p:cNvPr>
          <p:cNvSpPr txBox="1">
            <a:spLocks noChangeArrowheads="1"/>
          </p:cNvSpPr>
          <p:nvPr/>
        </p:nvSpPr>
        <p:spPr bwMode="auto">
          <a:xfrm>
            <a:off x="3048001" y="5638800"/>
            <a:ext cx="6826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a:t>11/13</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ext Box 2">
            <a:extLst>
              <a:ext uri="{FF2B5EF4-FFF2-40B4-BE49-F238E27FC236}">
                <a16:creationId xmlns:a16="http://schemas.microsoft.com/office/drawing/2014/main" id="{3F734FE5-442A-585B-BD40-90922B98E4AD}"/>
              </a:ext>
            </a:extLst>
          </p:cNvPr>
          <p:cNvSpPr txBox="1">
            <a:spLocks noChangeArrowheads="1"/>
          </p:cNvSpPr>
          <p:nvPr/>
        </p:nvSpPr>
        <p:spPr bwMode="auto">
          <a:xfrm>
            <a:off x="2170113" y="366714"/>
            <a:ext cx="328808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a:latin typeface="Times New Roman" panose="02020603050405020304" pitchFamily="18" charset="0"/>
                <a:cs typeface="Times New Roman" panose="02020603050405020304" pitchFamily="18" charset="0"/>
              </a:rPr>
              <a:t>Ford-Fulkerson Method..</a:t>
            </a:r>
          </a:p>
        </p:txBody>
      </p:sp>
      <p:sp>
        <p:nvSpPr>
          <p:cNvPr id="110595" name="Rectangle 3">
            <a:extLst>
              <a:ext uri="{FF2B5EF4-FFF2-40B4-BE49-F238E27FC236}">
                <a16:creationId xmlns:a16="http://schemas.microsoft.com/office/drawing/2014/main" id="{5D16CCE6-2281-7438-33FF-AE516E4E7218}"/>
              </a:ext>
            </a:extLst>
          </p:cNvPr>
          <p:cNvSpPr>
            <a:spLocks noChangeArrowheads="1"/>
          </p:cNvSpPr>
          <p:nvPr/>
        </p:nvSpPr>
        <p:spPr bwMode="auto">
          <a:xfrm>
            <a:off x="3684589" y="1689100"/>
            <a:ext cx="3798887" cy="43338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Initialize the network: zero flow</a:t>
            </a:r>
          </a:p>
        </p:txBody>
      </p:sp>
      <p:sp>
        <p:nvSpPr>
          <p:cNvPr id="110596" name="AutoShape 4">
            <a:extLst>
              <a:ext uri="{FF2B5EF4-FFF2-40B4-BE49-F238E27FC236}">
                <a16:creationId xmlns:a16="http://schemas.microsoft.com/office/drawing/2014/main" id="{D0210BC3-53CA-F5E9-3AE4-F037B0ED8C98}"/>
              </a:ext>
            </a:extLst>
          </p:cNvPr>
          <p:cNvSpPr>
            <a:spLocks noChangeArrowheads="1"/>
          </p:cNvSpPr>
          <p:nvPr/>
        </p:nvSpPr>
        <p:spPr bwMode="auto">
          <a:xfrm>
            <a:off x="3357564" y="2687638"/>
            <a:ext cx="4448175" cy="1230312"/>
          </a:xfrm>
          <a:prstGeom prst="flowChartDecision">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any augmenting path </a:t>
            </a:r>
            <a:r>
              <a:rPr lang="en-US" altLang="en-US" b="1" i="1"/>
              <a:t>p</a:t>
            </a:r>
          </a:p>
          <a:p>
            <a:pPr algn="ctr"/>
            <a:r>
              <a:rPr lang="en-US" altLang="en-US"/>
              <a:t>in network ?</a:t>
            </a:r>
          </a:p>
        </p:txBody>
      </p:sp>
      <p:sp>
        <p:nvSpPr>
          <p:cNvPr id="110597" name="Rectangle 5">
            <a:extLst>
              <a:ext uri="{FF2B5EF4-FFF2-40B4-BE49-F238E27FC236}">
                <a16:creationId xmlns:a16="http://schemas.microsoft.com/office/drawing/2014/main" id="{22CB868C-B3FC-A28F-7D25-11539D8D230A}"/>
              </a:ext>
            </a:extLst>
          </p:cNvPr>
          <p:cNvSpPr>
            <a:spLocks noChangeArrowheads="1"/>
          </p:cNvSpPr>
          <p:nvPr/>
        </p:nvSpPr>
        <p:spPr bwMode="auto">
          <a:xfrm>
            <a:off x="3344864" y="4502150"/>
            <a:ext cx="4465637" cy="42703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Apply maximum flow allowed on p</a:t>
            </a:r>
          </a:p>
        </p:txBody>
      </p:sp>
      <p:sp>
        <p:nvSpPr>
          <p:cNvPr id="110598" name="Rectangle 6">
            <a:extLst>
              <a:ext uri="{FF2B5EF4-FFF2-40B4-BE49-F238E27FC236}">
                <a16:creationId xmlns:a16="http://schemas.microsoft.com/office/drawing/2014/main" id="{93B5C68B-B445-9F99-3D78-7C252C47B174}"/>
              </a:ext>
            </a:extLst>
          </p:cNvPr>
          <p:cNvSpPr>
            <a:spLocks noChangeArrowheads="1"/>
          </p:cNvSpPr>
          <p:nvPr/>
        </p:nvSpPr>
        <p:spPr bwMode="auto">
          <a:xfrm>
            <a:off x="3860800" y="5495925"/>
            <a:ext cx="3411538" cy="3937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Compute residual network</a:t>
            </a:r>
          </a:p>
        </p:txBody>
      </p:sp>
      <p:sp>
        <p:nvSpPr>
          <p:cNvPr id="110606" name="Rectangle 14">
            <a:extLst>
              <a:ext uri="{FF2B5EF4-FFF2-40B4-BE49-F238E27FC236}">
                <a16:creationId xmlns:a16="http://schemas.microsoft.com/office/drawing/2014/main" id="{E105218B-5ABA-862A-746E-20FDEA0D6E65}"/>
              </a:ext>
            </a:extLst>
          </p:cNvPr>
          <p:cNvSpPr>
            <a:spLocks noChangeArrowheads="1"/>
          </p:cNvSpPr>
          <p:nvPr/>
        </p:nvSpPr>
        <p:spPr bwMode="auto">
          <a:xfrm>
            <a:off x="8542338" y="2592389"/>
            <a:ext cx="1230312" cy="141763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Residual</a:t>
            </a:r>
          </a:p>
          <a:p>
            <a:pPr algn="ctr"/>
            <a:r>
              <a:rPr lang="en-US" altLang="en-US"/>
              <a:t>network</a:t>
            </a:r>
          </a:p>
          <a:p>
            <a:pPr algn="ctr"/>
            <a:r>
              <a:rPr lang="en-US" altLang="en-US"/>
              <a:t>Carries</a:t>
            </a:r>
          </a:p>
          <a:p>
            <a:pPr algn="ctr"/>
            <a:r>
              <a:rPr lang="en-US" altLang="en-US"/>
              <a:t>Max Flow</a:t>
            </a:r>
          </a:p>
        </p:txBody>
      </p:sp>
      <p:sp>
        <p:nvSpPr>
          <p:cNvPr id="110607" name="Text Box 15">
            <a:extLst>
              <a:ext uri="{FF2B5EF4-FFF2-40B4-BE49-F238E27FC236}">
                <a16:creationId xmlns:a16="http://schemas.microsoft.com/office/drawing/2014/main" id="{195BF7D3-BF47-E526-CAA3-7B1B82291FAE}"/>
              </a:ext>
            </a:extLst>
          </p:cNvPr>
          <p:cNvSpPr txBox="1">
            <a:spLocks noChangeArrowheads="1"/>
          </p:cNvSpPr>
          <p:nvPr/>
        </p:nvSpPr>
        <p:spPr bwMode="auto">
          <a:xfrm>
            <a:off x="5559426" y="3910013"/>
            <a:ext cx="51264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YES</a:t>
            </a:r>
          </a:p>
        </p:txBody>
      </p:sp>
      <p:sp>
        <p:nvSpPr>
          <p:cNvPr id="110608" name="Text Box 16">
            <a:extLst>
              <a:ext uri="{FF2B5EF4-FFF2-40B4-BE49-F238E27FC236}">
                <a16:creationId xmlns:a16="http://schemas.microsoft.com/office/drawing/2014/main" id="{35EABA16-C1A4-025B-1C82-C7F9EBEBAECC}"/>
              </a:ext>
            </a:extLst>
          </p:cNvPr>
          <p:cNvSpPr txBox="1">
            <a:spLocks noChangeArrowheads="1"/>
          </p:cNvSpPr>
          <p:nvPr/>
        </p:nvSpPr>
        <p:spPr bwMode="auto">
          <a:xfrm>
            <a:off x="7772400" y="2951163"/>
            <a:ext cx="48603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NO</a:t>
            </a:r>
          </a:p>
        </p:txBody>
      </p:sp>
      <p:cxnSp>
        <p:nvCxnSpPr>
          <p:cNvPr id="110609" name="AutoShape 17">
            <a:extLst>
              <a:ext uri="{FF2B5EF4-FFF2-40B4-BE49-F238E27FC236}">
                <a16:creationId xmlns:a16="http://schemas.microsoft.com/office/drawing/2014/main" id="{C0538098-6212-E312-99FB-4A920E6430A1}"/>
              </a:ext>
            </a:extLst>
          </p:cNvPr>
          <p:cNvCxnSpPr>
            <a:cxnSpLocks noChangeShapeType="1"/>
            <a:stCxn id="110598" idx="1"/>
            <a:endCxn id="110596" idx="1"/>
          </p:cNvCxnSpPr>
          <p:nvPr/>
        </p:nvCxnSpPr>
        <p:spPr bwMode="auto">
          <a:xfrm rot="10800000">
            <a:off x="3357564" y="3303589"/>
            <a:ext cx="503237" cy="2389187"/>
          </a:xfrm>
          <a:prstGeom prst="bentConnector3">
            <a:avLst>
              <a:gd name="adj1" fmla="val 190847"/>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0610" name="AutoShape 18">
            <a:extLst>
              <a:ext uri="{FF2B5EF4-FFF2-40B4-BE49-F238E27FC236}">
                <a16:creationId xmlns:a16="http://schemas.microsoft.com/office/drawing/2014/main" id="{26407B6E-6D27-F610-51FE-2BE1AF45B710}"/>
              </a:ext>
            </a:extLst>
          </p:cNvPr>
          <p:cNvCxnSpPr>
            <a:cxnSpLocks noChangeShapeType="1"/>
            <a:stCxn id="110596" idx="3"/>
            <a:endCxn id="110606" idx="1"/>
          </p:cNvCxnSpPr>
          <p:nvPr/>
        </p:nvCxnSpPr>
        <p:spPr bwMode="auto">
          <a:xfrm flipV="1">
            <a:off x="7805738" y="3302000"/>
            <a:ext cx="736600" cy="1588"/>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0611" name="AutoShape 19">
            <a:extLst>
              <a:ext uri="{FF2B5EF4-FFF2-40B4-BE49-F238E27FC236}">
                <a16:creationId xmlns:a16="http://schemas.microsoft.com/office/drawing/2014/main" id="{284A58C1-B9A7-E320-89F5-4FFF1024FEEB}"/>
              </a:ext>
            </a:extLst>
          </p:cNvPr>
          <p:cNvCxnSpPr>
            <a:cxnSpLocks noChangeShapeType="1"/>
            <a:stCxn id="110595" idx="2"/>
            <a:endCxn id="110596" idx="0"/>
          </p:cNvCxnSpPr>
          <p:nvPr/>
        </p:nvCxnSpPr>
        <p:spPr bwMode="auto">
          <a:xfrm flipH="1">
            <a:off x="5581651" y="2122488"/>
            <a:ext cx="3175" cy="56515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0612" name="AutoShape 20">
            <a:extLst>
              <a:ext uri="{FF2B5EF4-FFF2-40B4-BE49-F238E27FC236}">
                <a16:creationId xmlns:a16="http://schemas.microsoft.com/office/drawing/2014/main" id="{A2A724D7-E07A-C4E2-8476-ED57FFC0943C}"/>
              </a:ext>
            </a:extLst>
          </p:cNvPr>
          <p:cNvCxnSpPr>
            <a:cxnSpLocks noChangeShapeType="1"/>
            <a:stCxn id="110596" idx="2"/>
            <a:endCxn id="110597" idx="0"/>
          </p:cNvCxnSpPr>
          <p:nvPr/>
        </p:nvCxnSpPr>
        <p:spPr bwMode="auto">
          <a:xfrm flipH="1">
            <a:off x="5578476" y="3917950"/>
            <a:ext cx="3175" cy="584200"/>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0613" name="AutoShape 21">
            <a:extLst>
              <a:ext uri="{FF2B5EF4-FFF2-40B4-BE49-F238E27FC236}">
                <a16:creationId xmlns:a16="http://schemas.microsoft.com/office/drawing/2014/main" id="{147D8382-814C-A30F-DF61-456D21622DC2}"/>
              </a:ext>
            </a:extLst>
          </p:cNvPr>
          <p:cNvCxnSpPr>
            <a:cxnSpLocks noChangeShapeType="1"/>
            <a:stCxn id="110597" idx="2"/>
            <a:endCxn id="110598" idx="0"/>
          </p:cNvCxnSpPr>
          <p:nvPr/>
        </p:nvCxnSpPr>
        <p:spPr bwMode="auto">
          <a:xfrm flipH="1">
            <a:off x="5567363" y="4929189"/>
            <a:ext cx="11112" cy="566737"/>
          </a:xfrm>
          <a:prstGeom prst="straightConnector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6500" name="Picture 4">
            <a:extLst>
              <a:ext uri="{FF2B5EF4-FFF2-40B4-BE49-F238E27FC236}">
                <a16:creationId xmlns:a16="http://schemas.microsoft.com/office/drawing/2014/main" id="{9B0FE696-C3F6-5218-1425-6E05A4252D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1650" y="2238376"/>
            <a:ext cx="4776788" cy="214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049637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1065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ext Box 2">
            <a:extLst>
              <a:ext uri="{FF2B5EF4-FFF2-40B4-BE49-F238E27FC236}">
                <a16:creationId xmlns:a16="http://schemas.microsoft.com/office/drawing/2014/main" id="{5BC5E8F0-3E79-F3C9-F833-4C06F047FAD8}"/>
              </a:ext>
            </a:extLst>
          </p:cNvPr>
          <p:cNvSpPr txBox="1">
            <a:spLocks noChangeArrowheads="1"/>
          </p:cNvSpPr>
          <p:nvPr/>
        </p:nvSpPr>
        <p:spPr bwMode="auto">
          <a:xfrm>
            <a:off x="2170113" y="366714"/>
            <a:ext cx="441467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Ford-Fulkerson Method: Initialize</a:t>
            </a:r>
            <a:endParaRPr lang="en-US" altLang="en-US" sz="2400"/>
          </a:p>
        </p:txBody>
      </p:sp>
      <p:sp>
        <p:nvSpPr>
          <p:cNvPr id="106499" name="Text Box 3">
            <a:extLst>
              <a:ext uri="{FF2B5EF4-FFF2-40B4-BE49-F238E27FC236}">
                <a16:creationId xmlns:a16="http://schemas.microsoft.com/office/drawing/2014/main" id="{4EB95DF8-8D7C-1A51-F6C9-C4C75AF125C8}"/>
              </a:ext>
            </a:extLst>
          </p:cNvPr>
          <p:cNvSpPr txBox="1">
            <a:spLocks noChangeArrowheads="1"/>
          </p:cNvSpPr>
          <p:nvPr/>
        </p:nvSpPr>
        <p:spPr bwMode="auto">
          <a:xfrm>
            <a:off x="2190751" y="1135064"/>
            <a:ext cx="5550366" cy="429413"/>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pPr>
            <a:r>
              <a:rPr lang="en-US" altLang="en-US" sz="2000" dirty="0">
                <a:latin typeface="Times New Roman" panose="02020603050405020304" pitchFamily="18" charset="0"/>
                <a:cs typeface="Times New Roman" panose="02020603050405020304" pitchFamily="18" charset="0"/>
              </a:rPr>
              <a:t>Step 1. Add 0-capacity links to pair ‘one-way’ edges</a:t>
            </a:r>
            <a:endParaRPr lang="en-US" altLang="en-US" sz="2000" b="1" i="1" dirty="0">
              <a:latin typeface="Times New Roman" panose="02020603050405020304" pitchFamily="18" charset="0"/>
              <a:cs typeface="Times New Roman" panose="02020603050405020304" pitchFamily="18" charset="0"/>
            </a:endParaRPr>
          </a:p>
        </p:txBody>
      </p:sp>
      <p:pic>
        <p:nvPicPr>
          <p:cNvPr id="106500" name="Picture 4">
            <a:extLst>
              <a:ext uri="{FF2B5EF4-FFF2-40B4-BE49-F238E27FC236}">
                <a16:creationId xmlns:a16="http://schemas.microsoft.com/office/drawing/2014/main" id="{9B0FE696-C3F6-5218-1425-6E05A4252D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1650" y="2238376"/>
            <a:ext cx="4776788" cy="214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502" name="Picture 6">
            <a:extLst>
              <a:ext uri="{FF2B5EF4-FFF2-40B4-BE49-F238E27FC236}">
                <a16:creationId xmlns:a16="http://schemas.microsoft.com/office/drawing/2014/main" id="{D64A2142-5A07-6347-82EA-6536522D83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41900" y="4235450"/>
            <a:ext cx="5543550" cy="248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6506" name="Group 10">
            <a:extLst>
              <a:ext uri="{FF2B5EF4-FFF2-40B4-BE49-F238E27FC236}">
                <a16:creationId xmlns:a16="http://schemas.microsoft.com/office/drawing/2014/main" id="{9C71F820-A724-5158-B798-2262C74B3955}"/>
              </a:ext>
            </a:extLst>
          </p:cNvPr>
          <p:cNvGrpSpPr>
            <a:grpSpLocks/>
          </p:cNvGrpSpPr>
          <p:nvPr/>
        </p:nvGrpSpPr>
        <p:grpSpPr bwMode="auto">
          <a:xfrm>
            <a:off x="4994279" y="3903664"/>
            <a:ext cx="641351" cy="1031875"/>
            <a:chOff x="2462" y="2423"/>
            <a:chExt cx="404" cy="650"/>
          </a:xfrm>
        </p:grpSpPr>
        <p:sp>
          <p:nvSpPr>
            <p:cNvPr id="106504" name="AutoShape 8">
              <a:extLst>
                <a:ext uri="{FF2B5EF4-FFF2-40B4-BE49-F238E27FC236}">
                  <a16:creationId xmlns:a16="http://schemas.microsoft.com/office/drawing/2014/main" id="{E4B6FC8D-FAB6-A588-F0D9-CA9473BBF1E5}"/>
                </a:ext>
              </a:extLst>
            </p:cNvPr>
            <p:cNvSpPr>
              <a:spLocks noChangeArrowheads="1"/>
            </p:cNvSpPr>
            <p:nvPr/>
          </p:nvSpPr>
          <p:spPr bwMode="auto">
            <a:xfrm rot="18459941">
              <a:off x="2342" y="2600"/>
              <a:ext cx="650" cy="296"/>
            </a:xfrm>
            <a:prstGeom prst="downArrow">
              <a:avLst>
                <a:gd name="adj1" fmla="val 50000"/>
                <a:gd name="adj2" fmla="val 25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IN"/>
            </a:p>
          </p:txBody>
        </p:sp>
        <p:sp>
          <p:nvSpPr>
            <p:cNvPr id="106505" name="Text Box 9">
              <a:extLst>
                <a:ext uri="{FF2B5EF4-FFF2-40B4-BE49-F238E27FC236}">
                  <a16:creationId xmlns:a16="http://schemas.microsoft.com/office/drawing/2014/main" id="{5E27FD33-E1C3-0D4F-C472-D3A19C8DD133}"/>
                </a:ext>
              </a:extLst>
            </p:cNvPr>
            <p:cNvSpPr txBox="1">
              <a:spLocks noChangeArrowheads="1"/>
            </p:cNvSpPr>
            <p:nvPr/>
          </p:nvSpPr>
          <p:spPr bwMode="auto">
            <a:xfrm>
              <a:off x="2462" y="2646"/>
              <a:ext cx="404"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t>Step 1</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10650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65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ext Box 2">
            <a:extLst>
              <a:ext uri="{FF2B5EF4-FFF2-40B4-BE49-F238E27FC236}">
                <a16:creationId xmlns:a16="http://schemas.microsoft.com/office/drawing/2014/main" id="{78992C72-D6A4-03D3-40F4-AE619A7AB388}"/>
              </a:ext>
            </a:extLst>
          </p:cNvPr>
          <p:cNvSpPr txBox="1">
            <a:spLocks noChangeArrowheads="1"/>
          </p:cNvSpPr>
          <p:nvPr/>
        </p:nvSpPr>
        <p:spPr bwMode="auto">
          <a:xfrm>
            <a:off x="2170113" y="366714"/>
            <a:ext cx="658225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a:latin typeface="Times New Roman" panose="02020603050405020304" pitchFamily="18" charset="0"/>
                <a:cs typeface="Times New Roman" panose="02020603050405020304" pitchFamily="18" charset="0"/>
              </a:rPr>
              <a:t>Ford-Fulkerson Method: Find an augmentation path</a:t>
            </a:r>
          </a:p>
        </p:txBody>
      </p:sp>
      <p:pic>
        <p:nvPicPr>
          <p:cNvPr id="107523" name="Picture 3">
            <a:extLst>
              <a:ext uri="{FF2B5EF4-FFF2-40B4-BE49-F238E27FC236}">
                <a16:creationId xmlns:a16="http://schemas.microsoft.com/office/drawing/2014/main" id="{686F2628-4586-1ABE-2BCB-FF00B353C5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8638" y="1703389"/>
            <a:ext cx="4616450" cy="207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7524" name="Picture 4">
            <a:extLst>
              <a:ext uri="{FF2B5EF4-FFF2-40B4-BE49-F238E27FC236}">
                <a16:creationId xmlns:a16="http://schemas.microsoft.com/office/drawing/2014/main" id="{828B066E-4675-3A65-B9E7-6DED0FCAB7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2776" y="4049713"/>
            <a:ext cx="5726113" cy="2570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7525" name="Text Box 5">
            <a:extLst>
              <a:ext uri="{FF2B5EF4-FFF2-40B4-BE49-F238E27FC236}">
                <a16:creationId xmlns:a16="http://schemas.microsoft.com/office/drawing/2014/main" id="{85184A05-1042-716A-8E5B-5FDF605FAEA1}"/>
              </a:ext>
            </a:extLst>
          </p:cNvPr>
          <p:cNvSpPr txBox="1">
            <a:spLocks noChangeArrowheads="1"/>
          </p:cNvSpPr>
          <p:nvPr/>
        </p:nvSpPr>
        <p:spPr bwMode="auto">
          <a:xfrm>
            <a:off x="8042276" y="3073401"/>
            <a:ext cx="212385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t>Flow, f = 6 units</a:t>
            </a:r>
          </a:p>
        </p:txBody>
      </p:sp>
      <p:sp>
        <p:nvSpPr>
          <p:cNvPr id="107526" name="Line 6">
            <a:extLst>
              <a:ext uri="{FF2B5EF4-FFF2-40B4-BE49-F238E27FC236}">
                <a16:creationId xmlns:a16="http://schemas.microsoft.com/office/drawing/2014/main" id="{A2D597CC-F844-BBB2-BFDE-BA50E7DF2B1F}"/>
              </a:ext>
            </a:extLst>
          </p:cNvPr>
          <p:cNvSpPr>
            <a:spLocks noChangeShapeType="1"/>
          </p:cNvSpPr>
          <p:nvPr/>
        </p:nvSpPr>
        <p:spPr bwMode="auto">
          <a:xfrm>
            <a:off x="8634414" y="3514726"/>
            <a:ext cx="371475" cy="7286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07527" name="Text Box 7">
            <a:extLst>
              <a:ext uri="{FF2B5EF4-FFF2-40B4-BE49-F238E27FC236}">
                <a16:creationId xmlns:a16="http://schemas.microsoft.com/office/drawing/2014/main" id="{109CC027-2F1E-7193-E25C-34AFADA698E3}"/>
              </a:ext>
            </a:extLst>
          </p:cNvPr>
          <p:cNvSpPr txBox="1">
            <a:spLocks noChangeArrowheads="1"/>
          </p:cNvSpPr>
          <p:nvPr/>
        </p:nvSpPr>
        <p:spPr bwMode="auto">
          <a:xfrm>
            <a:off x="2249489" y="985839"/>
            <a:ext cx="5202065" cy="429092"/>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pPr>
            <a:r>
              <a:rPr lang="en-US" altLang="en-US" sz="2000" dirty="0">
                <a:latin typeface="Times New Roman" panose="02020603050405020304" pitchFamily="18" charset="0"/>
                <a:cs typeface="Times New Roman" panose="02020603050405020304" pitchFamily="18" charset="0"/>
              </a:rPr>
              <a:t>Step 2. Find a positive flow from Source </a:t>
            </a:r>
            <a:r>
              <a:rPr lang="en-US" altLang="en-US" sz="2000" dirty="0">
                <a:latin typeface="Times New Roman" panose="02020603050405020304" pitchFamily="18" charset="0"/>
                <a:cs typeface="Times New Roman" panose="02020603050405020304" pitchFamily="18" charset="0"/>
                <a:sym typeface="Wingdings" panose="05000000000000000000" pitchFamily="2" charset="2"/>
              </a:rPr>
              <a:t> Sink</a:t>
            </a:r>
            <a:endParaRPr lang="en-US" altLang="en-US" sz="2000" dirty="0">
              <a:latin typeface="Times New Roman" panose="02020603050405020304" pitchFamily="18" charset="0"/>
              <a:cs typeface="Times New Roman" panose="02020603050405020304" pitchFamily="18" charset="0"/>
            </a:endParaRPr>
          </a:p>
        </p:txBody>
      </p:sp>
      <p:sp>
        <p:nvSpPr>
          <p:cNvPr id="107533" name="AutoShape 13">
            <a:extLst>
              <a:ext uri="{FF2B5EF4-FFF2-40B4-BE49-F238E27FC236}">
                <a16:creationId xmlns:a16="http://schemas.microsoft.com/office/drawing/2014/main" id="{20DB897D-FA22-A840-0011-80129B38B822}"/>
              </a:ext>
            </a:extLst>
          </p:cNvPr>
          <p:cNvSpPr>
            <a:spLocks noChangeArrowheads="1"/>
          </p:cNvSpPr>
          <p:nvPr/>
        </p:nvSpPr>
        <p:spPr bwMode="auto">
          <a:xfrm flipV="1">
            <a:off x="6977063" y="2225675"/>
            <a:ext cx="1135062" cy="844550"/>
          </a:xfrm>
          <a:custGeom>
            <a:avLst/>
            <a:gdLst>
              <a:gd name="G0" fmla="+- 7200 0 0"/>
              <a:gd name="G1" fmla="+- 18488 0 0"/>
              <a:gd name="G2" fmla="+- 6699 0 0"/>
              <a:gd name="G3" fmla="*/ 7200 1 2"/>
              <a:gd name="G4" fmla="+- G3 10800 0"/>
              <a:gd name="G5" fmla="+- 21600 7200 18488"/>
              <a:gd name="G6" fmla="+- 18488 6699 0"/>
              <a:gd name="G7" fmla="*/ G6 1 2"/>
              <a:gd name="G8" fmla="*/ 18488 2 1"/>
              <a:gd name="G9" fmla="+- G8 0 21600"/>
              <a:gd name="G10" fmla="*/ 21600 G0 G1"/>
              <a:gd name="G11" fmla="*/ 21600 G4 G1"/>
              <a:gd name="G12" fmla="*/ 21600 G5 G1"/>
              <a:gd name="G13" fmla="*/ 21600 G7 G1"/>
              <a:gd name="G14" fmla="*/ 18488 1 2"/>
              <a:gd name="G15" fmla="+- G5 0 G4"/>
              <a:gd name="G16" fmla="+- G0 0 G4"/>
              <a:gd name="G17" fmla="*/ G2 G15 G16"/>
              <a:gd name="T0" fmla="*/ 14400 w 21600"/>
              <a:gd name="T1" fmla="*/ 0 h 21600"/>
              <a:gd name="T2" fmla="*/ 7200 w 21600"/>
              <a:gd name="T3" fmla="*/ 6699 h 21600"/>
              <a:gd name="T4" fmla="*/ 0 w 21600"/>
              <a:gd name="T5" fmla="*/ 16824 h 21600"/>
              <a:gd name="T6" fmla="*/ 9244 w 21600"/>
              <a:gd name="T7" fmla="*/ 21600 h 21600"/>
              <a:gd name="T8" fmla="*/ 18488 w 21600"/>
              <a:gd name="T9" fmla="*/ 14714 h 21600"/>
              <a:gd name="T10" fmla="*/ 21600 w 21600"/>
              <a:gd name="T11" fmla="*/ 6699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4400" y="0"/>
                </a:moveTo>
                <a:lnTo>
                  <a:pt x="7200" y="6699"/>
                </a:lnTo>
                <a:lnTo>
                  <a:pt x="10312" y="6699"/>
                </a:lnTo>
                <a:lnTo>
                  <a:pt x="10312" y="12048"/>
                </a:lnTo>
                <a:lnTo>
                  <a:pt x="0" y="12048"/>
                </a:lnTo>
                <a:lnTo>
                  <a:pt x="0" y="21600"/>
                </a:lnTo>
                <a:lnTo>
                  <a:pt x="18488" y="21600"/>
                </a:lnTo>
                <a:lnTo>
                  <a:pt x="18488" y="6699"/>
                </a:lnTo>
                <a:lnTo>
                  <a:pt x="21600" y="6699"/>
                </a:lnTo>
                <a:close/>
              </a:path>
            </a:pathLst>
          </a:cu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75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752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75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Text Box 3">
            <a:extLst>
              <a:ext uri="{FF2B5EF4-FFF2-40B4-BE49-F238E27FC236}">
                <a16:creationId xmlns:a16="http://schemas.microsoft.com/office/drawing/2014/main" id="{FF61629C-E85D-00D8-B569-D3DD44635DB9}"/>
              </a:ext>
            </a:extLst>
          </p:cNvPr>
          <p:cNvSpPr txBox="1">
            <a:spLocks noChangeArrowheads="1"/>
          </p:cNvSpPr>
          <p:nvPr/>
        </p:nvSpPr>
        <p:spPr bwMode="auto">
          <a:xfrm>
            <a:off x="2170114" y="366714"/>
            <a:ext cx="336502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a:latin typeface="Times New Roman" panose="02020603050405020304" pitchFamily="18" charset="0"/>
                <a:cs typeface="Times New Roman" panose="02020603050405020304" pitchFamily="18" charset="0"/>
              </a:rPr>
              <a:t>Ford-Fulkerson Method...</a:t>
            </a:r>
          </a:p>
        </p:txBody>
      </p:sp>
      <p:pic>
        <p:nvPicPr>
          <p:cNvPr id="102404" name="Picture 4">
            <a:extLst>
              <a:ext uri="{FF2B5EF4-FFF2-40B4-BE49-F238E27FC236}">
                <a16:creationId xmlns:a16="http://schemas.microsoft.com/office/drawing/2014/main" id="{7586F955-A4D0-9FBB-A906-3F33C0EEB0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1176" y="1690688"/>
            <a:ext cx="5089525" cy="228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05" name="Picture 5">
            <a:extLst>
              <a:ext uri="{FF2B5EF4-FFF2-40B4-BE49-F238E27FC236}">
                <a16:creationId xmlns:a16="http://schemas.microsoft.com/office/drawing/2014/main" id="{436090F5-A6E2-CAC4-4BC9-CC9E5552B1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57739" y="4184650"/>
            <a:ext cx="5729287" cy="257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09" name="Text Box 9">
            <a:extLst>
              <a:ext uri="{FF2B5EF4-FFF2-40B4-BE49-F238E27FC236}">
                <a16:creationId xmlns:a16="http://schemas.microsoft.com/office/drawing/2014/main" id="{9F20F945-2FF7-B39F-2DC2-2E5EF81647A4}"/>
              </a:ext>
            </a:extLst>
          </p:cNvPr>
          <p:cNvSpPr txBox="1">
            <a:spLocks noChangeArrowheads="1"/>
          </p:cNvSpPr>
          <p:nvPr/>
        </p:nvSpPr>
        <p:spPr bwMode="auto">
          <a:xfrm>
            <a:off x="2249488" y="985839"/>
            <a:ext cx="5326202" cy="437043"/>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20000"/>
              </a:lnSpc>
            </a:pPr>
            <a:r>
              <a:rPr lang="en-US" altLang="en-US" sz="2000" dirty="0">
                <a:latin typeface="Times New Roman" panose="02020603050405020304" pitchFamily="18" charset="0"/>
                <a:cs typeface="Times New Roman" panose="02020603050405020304" pitchFamily="18" charset="0"/>
              </a:rPr>
              <a:t>Step 3. Update the residual network due to flow f</a:t>
            </a:r>
          </a:p>
        </p:txBody>
      </p:sp>
      <p:sp>
        <p:nvSpPr>
          <p:cNvPr id="102413" name="AutoShape 13">
            <a:extLst>
              <a:ext uri="{FF2B5EF4-FFF2-40B4-BE49-F238E27FC236}">
                <a16:creationId xmlns:a16="http://schemas.microsoft.com/office/drawing/2014/main" id="{91DA4AA8-D6AB-C075-4973-1B9682C879C9}"/>
              </a:ext>
            </a:extLst>
          </p:cNvPr>
          <p:cNvSpPr>
            <a:spLocks noChangeArrowheads="1"/>
          </p:cNvSpPr>
          <p:nvPr/>
        </p:nvSpPr>
        <p:spPr bwMode="auto">
          <a:xfrm flipV="1">
            <a:off x="7485063" y="2265363"/>
            <a:ext cx="1135062" cy="844550"/>
          </a:xfrm>
          <a:custGeom>
            <a:avLst/>
            <a:gdLst>
              <a:gd name="G0" fmla="+- 7200 0 0"/>
              <a:gd name="G1" fmla="+- 18488 0 0"/>
              <a:gd name="G2" fmla="+- 6699 0 0"/>
              <a:gd name="G3" fmla="*/ 7200 1 2"/>
              <a:gd name="G4" fmla="+- G3 10800 0"/>
              <a:gd name="G5" fmla="+- 21600 7200 18488"/>
              <a:gd name="G6" fmla="+- 18488 6699 0"/>
              <a:gd name="G7" fmla="*/ G6 1 2"/>
              <a:gd name="G8" fmla="*/ 18488 2 1"/>
              <a:gd name="G9" fmla="+- G8 0 21600"/>
              <a:gd name="G10" fmla="*/ 21600 G0 G1"/>
              <a:gd name="G11" fmla="*/ 21600 G4 G1"/>
              <a:gd name="G12" fmla="*/ 21600 G5 G1"/>
              <a:gd name="G13" fmla="*/ 21600 G7 G1"/>
              <a:gd name="G14" fmla="*/ 18488 1 2"/>
              <a:gd name="G15" fmla="+- G5 0 G4"/>
              <a:gd name="G16" fmla="+- G0 0 G4"/>
              <a:gd name="G17" fmla="*/ G2 G15 G16"/>
              <a:gd name="T0" fmla="*/ 14400 w 21600"/>
              <a:gd name="T1" fmla="*/ 0 h 21600"/>
              <a:gd name="T2" fmla="*/ 7200 w 21600"/>
              <a:gd name="T3" fmla="*/ 6699 h 21600"/>
              <a:gd name="T4" fmla="*/ 0 w 21600"/>
              <a:gd name="T5" fmla="*/ 16824 h 21600"/>
              <a:gd name="T6" fmla="*/ 9244 w 21600"/>
              <a:gd name="T7" fmla="*/ 21600 h 21600"/>
              <a:gd name="T8" fmla="*/ 18488 w 21600"/>
              <a:gd name="T9" fmla="*/ 14714 h 21600"/>
              <a:gd name="T10" fmla="*/ 21600 w 21600"/>
              <a:gd name="T11" fmla="*/ 6699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4400" y="0"/>
                </a:moveTo>
                <a:lnTo>
                  <a:pt x="7200" y="6699"/>
                </a:lnTo>
                <a:lnTo>
                  <a:pt x="10312" y="6699"/>
                </a:lnTo>
                <a:lnTo>
                  <a:pt x="10312" y="12048"/>
                </a:lnTo>
                <a:lnTo>
                  <a:pt x="0" y="12048"/>
                </a:lnTo>
                <a:lnTo>
                  <a:pt x="0" y="21600"/>
                </a:lnTo>
                <a:lnTo>
                  <a:pt x="18488" y="21600"/>
                </a:lnTo>
                <a:lnTo>
                  <a:pt x="18488" y="6699"/>
                </a:lnTo>
                <a:lnTo>
                  <a:pt x="21600" y="6699"/>
                </a:lnTo>
                <a:close/>
              </a:path>
            </a:pathLst>
          </a:cu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02414" name="Text Box 14">
            <a:extLst>
              <a:ext uri="{FF2B5EF4-FFF2-40B4-BE49-F238E27FC236}">
                <a16:creationId xmlns:a16="http://schemas.microsoft.com/office/drawing/2014/main" id="{C4CCCD87-483A-8863-19B5-A285BD13A8F7}"/>
              </a:ext>
            </a:extLst>
          </p:cNvPr>
          <p:cNvSpPr txBox="1">
            <a:spLocks noChangeArrowheads="1"/>
          </p:cNvSpPr>
          <p:nvPr/>
        </p:nvSpPr>
        <p:spPr bwMode="auto">
          <a:xfrm>
            <a:off x="8318501" y="3249613"/>
            <a:ext cx="208114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Current total flow: 6</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24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ext Box 2">
            <a:extLst>
              <a:ext uri="{FF2B5EF4-FFF2-40B4-BE49-F238E27FC236}">
                <a16:creationId xmlns:a16="http://schemas.microsoft.com/office/drawing/2014/main" id="{A3C71B43-192A-D2B2-FBEE-2F1F1A413C76}"/>
              </a:ext>
            </a:extLst>
          </p:cNvPr>
          <p:cNvSpPr txBox="1">
            <a:spLocks noChangeArrowheads="1"/>
          </p:cNvSpPr>
          <p:nvPr/>
        </p:nvSpPr>
        <p:spPr bwMode="auto">
          <a:xfrm>
            <a:off x="2170113" y="366714"/>
            <a:ext cx="351891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a:latin typeface="Times New Roman" panose="02020603050405020304" pitchFamily="18" charset="0"/>
                <a:cs typeface="Times New Roman" panose="02020603050405020304" pitchFamily="18" charset="0"/>
              </a:rPr>
              <a:t>Ford-Fulkerson Method….</a:t>
            </a:r>
          </a:p>
        </p:txBody>
      </p:sp>
      <p:pic>
        <p:nvPicPr>
          <p:cNvPr id="111619" name="Picture 3">
            <a:extLst>
              <a:ext uri="{FF2B5EF4-FFF2-40B4-BE49-F238E27FC236}">
                <a16:creationId xmlns:a16="http://schemas.microsoft.com/office/drawing/2014/main" id="{DB31827B-6CC6-6129-E510-1E640EAD5E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3100" y="1262063"/>
            <a:ext cx="4864100" cy="218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1620" name="Text Box 4">
            <a:extLst>
              <a:ext uri="{FF2B5EF4-FFF2-40B4-BE49-F238E27FC236}">
                <a16:creationId xmlns:a16="http://schemas.microsoft.com/office/drawing/2014/main" id="{38A4FEC7-C8CA-0DBE-5040-BDFDA687B6D2}"/>
              </a:ext>
            </a:extLst>
          </p:cNvPr>
          <p:cNvSpPr txBox="1">
            <a:spLocks noChangeArrowheads="1"/>
          </p:cNvSpPr>
          <p:nvPr/>
        </p:nvSpPr>
        <p:spPr bwMode="auto">
          <a:xfrm>
            <a:off x="6869113" y="1041401"/>
            <a:ext cx="3245504" cy="646331"/>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Augmentation path: &lt;D, M, B, S&gt;</a:t>
            </a:r>
          </a:p>
          <a:p>
            <a:r>
              <a:rPr lang="en-US" altLang="en-US"/>
              <a:t>Max flow: 2</a:t>
            </a:r>
          </a:p>
        </p:txBody>
      </p:sp>
      <p:sp>
        <p:nvSpPr>
          <p:cNvPr id="111621" name="Line 5">
            <a:extLst>
              <a:ext uri="{FF2B5EF4-FFF2-40B4-BE49-F238E27FC236}">
                <a16:creationId xmlns:a16="http://schemas.microsoft.com/office/drawing/2014/main" id="{4DAD94BF-E468-A29E-99DA-5D2813EB9BF9}"/>
              </a:ext>
            </a:extLst>
          </p:cNvPr>
          <p:cNvSpPr>
            <a:spLocks noChangeShapeType="1"/>
          </p:cNvSpPr>
          <p:nvPr/>
        </p:nvSpPr>
        <p:spPr bwMode="auto">
          <a:xfrm flipH="1" flipV="1">
            <a:off x="5270501" y="1500188"/>
            <a:ext cx="1203325" cy="417512"/>
          </a:xfrm>
          <a:prstGeom prst="line">
            <a:avLst/>
          </a:prstGeom>
          <a:noFill/>
          <a:ln w="38100" cmpd="dbl">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11622" name="Line 6">
            <a:extLst>
              <a:ext uri="{FF2B5EF4-FFF2-40B4-BE49-F238E27FC236}">
                <a16:creationId xmlns:a16="http://schemas.microsoft.com/office/drawing/2014/main" id="{048A3DD7-BC38-018F-35B3-467CACA04F42}"/>
              </a:ext>
            </a:extLst>
          </p:cNvPr>
          <p:cNvSpPr>
            <a:spLocks noChangeShapeType="1"/>
          </p:cNvSpPr>
          <p:nvPr/>
        </p:nvSpPr>
        <p:spPr bwMode="auto">
          <a:xfrm flipH="1">
            <a:off x="3252789" y="1460500"/>
            <a:ext cx="1800225" cy="139700"/>
          </a:xfrm>
          <a:prstGeom prst="line">
            <a:avLst/>
          </a:prstGeom>
          <a:noFill/>
          <a:ln w="38100" cmpd="dbl">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11623" name="Line 7">
            <a:extLst>
              <a:ext uri="{FF2B5EF4-FFF2-40B4-BE49-F238E27FC236}">
                <a16:creationId xmlns:a16="http://schemas.microsoft.com/office/drawing/2014/main" id="{96079726-43B6-B3F7-4B99-CFE4770ABF69}"/>
              </a:ext>
            </a:extLst>
          </p:cNvPr>
          <p:cNvSpPr>
            <a:spLocks noChangeShapeType="1"/>
          </p:cNvSpPr>
          <p:nvPr/>
        </p:nvSpPr>
        <p:spPr bwMode="auto">
          <a:xfrm flipH="1">
            <a:off x="2149475" y="1670050"/>
            <a:ext cx="865188" cy="795338"/>
          </a:xfrm>
          <a:prstGeom prst="line">
            <a:avLst/>
          </a:prstGeom>
          <a:noFill/>
          <a:ln w="38100" cmpd="dbl">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11624" name="AutoShape 8">
            <a:extLst>
              <a:ext uri="{FF2B5EF4-FFF2-40B4-BE49-F238E27FC236}">
                <a16:creationId xmlns:a16="http://schemas.microsoft.com/office/drawing/2014/main" id="{1BD41C42-8465-48A3-84A5-03E16772FF0B}"/>
              </a:ext>
            </a:extLst>
          </p:cNvPr>
          <p:cNvSpPr>
            <a:spLocks noChangeArrowheads="1"/>
          </p:cNvSpPr>
          <p:nvPr/>
        </p:nvSpPr>
        <p:spPr bwMode="auto">
          <a:xfrm flipV="1">
            <a:off x="7356476" y="2135188"/>
            <a:ext cx="1135063" cy="844550"/>
          </a:xfrm>
          <a:custGeom>
            <a:avLst/>
            <a:gdLst>
              <a:gd name="G0" fmla="+- 7200 0 0"/>
              <a:gd name="G1" fmla="+- 18488 0 0"/>
              <a:gd name="G2" fmla="+- 6699 0 0"/>
              <a:gd name="G3" fmla="*/ 7200 1 2"/>
              <a:gd name="G4" fmla="+- G3 10800 0"/>
              <a:gd name="G5" fmla="+- 21600 7200 18488"/>
              <a:gd name="G6" fmla="+- 18488 6699 0"/>
              <a:gd name="G7" fmla="*/ G6 1 2"/>
              <a:gd name="G8" fmla="*/ 18488 2 1"/>
              <a:gd name="G9" fmla="+- G8 0 21600"/>
              <a:gd name="G10" fmla="*/ 21600 G0 G1"/>
              <a:gd name="G11" fmla="*/ 21600 G4 G1"/>
              <a:gd name="G12" fmla="*/ 21600 G5 G1"/>
              <a:gd name="G13" fmla="*/ 21600 G7 G1"/>
              <a:gd name="G14" fmla="*/ 18488 1 2"/>
              <a:gd name="G15" fmla="+- G5 0 G4"/>
              <a:gd name="G16" fmla="+- G0 0 G4"/>
              <a:gd name="G17" fmla="*/ G2 G15 G16"/>
              <a:gd name="T0" fmla="*/ 14400 w 21600"/>
              <a:gd name="T1" fmla="*/ 0 h 21600"/>
              <a:gd name="T2" fmla="*/ 7200 w 21600"/>
              <a:gd name="T3" fmla="*/ 6699 h 21600"/>
              <a:gd name="T4" fmla="*/ 0 w 21600"/>
              <a:gd name="T5" fmla="*/ 16824 h 21600"/>
              <a:gd name="T6" fmla="*/ 9244 w 21600"/>
              <a:gd name="T7" fmla="*/ 21600 h 21600"/>
              <a:gd name="T8" fmla="*/ 18488 w 21600"/>
              <a:gd name="T9" fmla="*/ 14714 h 21600"/>
              <a:gd name="T10" fmla="*/ 21600 w 21600"/>
              <a:gd name="T11" fmla="*/ 6699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4400" y="0"/>
                </a:moveTo>
                <a:lnTo>
                  <a:pt x="7200" y="6699"/>
                </a:lnTo>
                <a:lnTo>
                  <a:pt x="10312" y="6699"/>
                </a:lnTo>
                <a:lnTo>
                  <a:pt x="10312" y="12048"/>
                </a:lnTo>
                <a:lnTo>
                  <a:pt x="0" y="12048"/>
                </a:lnTo>
                <a:lnTo>
                  <a:pt x="0" y="21600"/>
                </a:lnTo>
                <a:lnTo>
                  <a:pt x="18488" y="21600"/>
                </a:lnTo>
                <a:lnTo>
                  <a:pt x="18488" y="6699"/>
                </a:lnTo>
                <a:lnTo>
                  <a:pt x="21600" y="6699"/>
                </a:lnTo>
                <a:close/>
              </a:path>
            </a:pathLst>
          </a:cu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1626" name="Text Box 10">
            <a:extLst>
              <a:ext uri="{FF2B5EF4-FFF2-40B4-BE49-F238E27FC236}">
                <a16:creationId xmlns:a16="http://schemas.microsoft.com/office/drawing/2014/main" id="{52A51B1C-F194-8214-86AA-4AEB3B5336E1}"/>
              </a:ext>
            </a:extLst>
          </p:cNvPr>
          <p:cNvSpPr txBox="1">
            <a:spLocks noChangeArrowheads="1"/>
          </p:cNvSpPr>
          <p:nvPr/>
        </p:nvSpPr>
        <p:spPr bwMode="auto">
          <a:xfrm>
            <a:off x="7891463" y="3000376"/>
            <a:ext cx="2366482" cy="646331"/>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Current total flow: 6+2 </a:t>
            </a:r>
          </a:p>
          <a:p>
            <a:r>
              <a:rPr lang="en-US" altLang="en-US"/>
              <a:t>Residual network</a:t>
            </a:r>
          </a:p>
        </p:txBody>
      </p:sp>
      <p:sp>
        <p:nvSpPr>
          <p:cNvPr id="111629" name="Freeform 13">
            <a:extLst>
              <a:ext uri="{FF2B5EF4-FFF2-40B4-BE49-F238E27FC236}">
                <a16:creationId xmlns:a16="http://schemas.microsoft.com/office/drawing/2014/main" id="{DA53CFF6-8130-61AA-CD33-AD3A8B20D74A}"/>
              </a:ext>
            </a:extLst>
          </p:cNvPr>
          <p:cNvSpPr>
            <a:spLocks noEditPoints="1"/>
          </p:cNvSpPr>
          <p:nvPr/>
        </p:nvSpPr>
        <p:spPr bwMode="auto">
          <a:xfrm>
            <a:off x="7400925" y="4303714"/>
            <a:ext cx="1473200" cy="534987"/>
          </a:xfrm>
          <a:custGeom>
            <a:avLst/>
            <a:gdLst>
              <a:gd name="T0" fmla="*/ 921 w 928"/>
              <a:gd name="T1" fmla="*/ 337 h 337"/>
              <a:gd name="T2" fmla="*/ 60 w 928"/>
              <a:gd name="T3" fmla="*/ 35 h 337"/>
              <a:gd name="T4" fmla="*/ 58 w 928"/>
              <a:gd name="T5" fmla="*/ 35 h 337"/>
              <a:gd name="T6" fmla="*/ 56 w 928"/>
              <a:gd name="T7" fmla="*/ 33 h 337"/>
              <a:gd name="T8" fmla="*/ 56 w 928"/>
              <a:gd name="T9" fmla="*/ 32 h 337"/>
              <a:gd name="T10" fmla="*/ 56 w 928"/>
              <a:gd name="T11" fmla="*/ 29 h 337"/>
              <a:gd name="T12" fmla="*/ 56 w 928"/>
              <a:gd name="T13" fmla="*/ 27 h 337"/>
              <a:gd name="T14" fmla="*/ 58 w 928"/>
              <a:gd name="T15" fmla="*/ 27 h 337"/>
              <a:gd name="T16" fmla="*/ 60 w 928"/>
              <a:gd name="T17" fmla="*/ 26 h 337"/>
              <a:gd name="T18" fmla="*/ 63 w 928"/>
              <a:gd name="T19" fmla="*/ 27 h 337"/>
              <a:gd name="T20" fmla="*/ 924 w 928"/>
              <a:gd name="T21" fmla="*/ 328 h 337"/>
              <a:gd name="T22" fmla="*/ 926 w 928"/>
              <a:gd name="T23" fmla="*/ 329 h 337"/>
              <a:gd name="T24" fmla="*/ 926 w 928"/>
              <a:gd name="T25" fmla="*/ 331 h 337"/>
              <a:gd name="T26" fmla="*/ 928 w 928"/>
              <a:gd name="T27" fmla="*/ 332 h 337"/>
              <a:gd name="T28" fmla="*/ 928 w 928"/>
              <a:gd name="T29" fmla="*/ 334 h 337"/>
              <a:gd name="T30" fmla="*/ 926 w 928"/>
              <a:gd name="T31" fmla="*/ 335 h 337"/>
              <a:gd name="T32" fmla="*/ 924 w 928"/>
              <a:gd name="T33" fmla="*/ 337 h 337"/>
              <a:gd name="T34" fmla="*/ 923 w 928"/>
              <a:gd name="T35" fmla="*/ 337 h 337"/>
              <a:gd name="T36" fmla="*/ 921 w 928"/>
              <a:gd name="T37" fmla="*/ 337 h 337"/>
              <a:gd name="T38" fmla="*/ 921 w 928"/>
              <a:gd name="T39" fmla="*/ 337 h 337"/>
              <a:gd name="T40" fmla="*/ 60 w 928"/>
              <a:gd name="T41" fmla="*/ 71 h 337"/>
              <a:gd name="T42" fmla="*/ 0 w 928"/>
              <a:gd name="T43" fmla="*/ 10 h 337"/>
              <a:gd name="T44" fmla="*/ 85 w 928"/>
              <a:gd name="T45" fmla="*/ 0 h 337"/>
              <a:gd name="T46" fmla="*/ 60 w 928"/>
              <a:gd name="T47" fmla="*/ 71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28" h="337">
                <a:moveTo>
                  <a:pt x="921" y="337"/>
                </a:moveTo>
                <a:lnTo>
                  <a:pt x="60" y="35"/>
                </a:lnTo>
                <a:lnTo>
                  <a:pt x="58" y="35"/>
                </a:lnTo>
                <a:lnTo>
                  <a:pt x="56" y="33"/>
                </a:lnTo>
                <a:lnTo>
                  <a:pt x="56" y="32"/>
                </a:lnTo>
                <a:lnTo>
                  <a:pt x="56" y="29"/>
                </a:lnTo>
                <a:lnTo>
                  <a:pt x="56" y="27"/>
                </a:lnTo>
                <a:lnTo>
                  <a:pt x="58" y="27"/>
                </a:lnTo>
                <a:lnTo>
                  <a:pt x="60" y="26"/>
                </a:lnTo>
                <a:lnTo>
                  <a:pt x="63" y="27"/>
                </a:lnTo>
                <a:lnTo>
                  <a:pt x="924" y="328"/>
                </a:lnTo>
                <a:lnTo>
                  <a:pt x="926" y="329"/>
                </a:lnTo>
                <a:lnTo>
                  <a:pt x="926" y="331"/>
                </a:lnTo>
                <a:lnTo>
                  <a:pt x="928" y="332"/>
                </a:lnTo>
                <a:lnTo>
                  <a:pt x="928" y="334"/>
                </a:lnTo>
                <a:lnTo>
                  <a:pt x="926" y="335"/>
                </a:lnTo>
                <a:lnTo>
                  <a:pt x="924" y="337"/>
                </a:lnTo>
                <a:lnTo>
                  <a:pt x="923" y="337"/>
                </a:lnTo>
                <a:lnTo>
                  <a:pt x="921" y="337"/>
                </a:lnTo>
                <a:lnTo>
                  <a:pt x="921" y="337"/>
                </a:lnTo>
                <a:close/>
                <a:moveTo>
                  <a:pt x="60" y="71"/>
                </a:moveTo>
                <a:lnTo>
                  <a:pt x="0" y="10"/>
                </a:lnTo>
                <a:lnTo>
                  <a:pt x="85" y="0"/>
                </a:lnTo>
                <a:lnTo>
                  <a:pt x="60" y="71"/>
                </a:lnTo>
                <a:close/>
              </a:path>
            </a:pathLst>
          </a:custGeom>
          <a:solidFill>
            <a:srgbClr val="000000"/>
          </a:solidFill>
          <a:ln w="3175">
            <a:solidFill>
              <a:srgbClr val="000000"/>
            </a:solidFill>
            <a:prstDash val="solid"/>
            <a:round/>
            <a:headEnd/>
            <a:tailEnd/>
          </a:ln>
        </p:spPr>
        <p:txBody>
          <a:bodyPr/>
          <a:lstStyle/>
          <a:p>
            <a:endParaRPr lang="en-IN"/>
          </a:p>
        </p:txBody>
      </p:sp>
      <p:sp>
        <p:nvSpPr>
          <p:cNvPr id="111630" name="Freeform 14">
            <a:extLst>
              <a:ext uri="{FF2B5EF4-FFF2-40B4-BE49-F238E27FC236}">
                <a16:creationId xmlns:a16="http://schemas.microsoft.com/office/drawing/2014/main" id="{75D19F33-4201-6B49-7CE0-2D418120A8CE}"/>
              </a:ext>
            </a:extLst>
          </p:cNvPr>
          <p:cNvSpPr>
            <a:spLocks noEditPoints="1"/>
          </p:cNvSpPr>
          <p:nvPr/>
        </p:nvSpPr>
        <p:spPr bwMode="auto">
          <a:xfrm>
            <a:off x="7762876" y="4914900"/>
            <a:ext cx="1139825" cy="806450"/>
          </a:xfrm>
          <a:custGeom>
            <a:avLst/>
            <a:gdLst>
              <a:gd name="T0" fmla="*/ 716 w 718"/>
              <a:gd name="T1" fmla="*/ 8 h 508"/>
              <a:gd name="T2" fmla="*/ 55 w 718"/>
              <a:gd name="T3" fmla="*/ 474 h 508"/>
              <a:gd name="T4" fmla="*/ 53 w 718"/>
              <a:gd name="T5" fmla="*/ 476 h 508"/>
              <a:gd name="T6" fmla="*/ 52 w 718"/>
              <a:gd name="T7" fmla="*/ 476 h 508"/>
              <a:gd name="T8" fmla="*/ 50 w 718"/>
              <a:gd name="T9" fmla="*/ 474 h 508"/>
              <a:gd name="T10" fmla="*/ 49 w 718"/>
              <a:gd name="T11" fmla="*/ 474 h 508"/>
              <a:gd name="T12" fmla="*/ 47 w 718"/>
              <a:gd name="T13" fmla="*/ 471 h 508"/>
              <a:gd name="T14" fmla="*/ 47 w 718"/>
              <a:gd name="T15" fmla="*/ 470 h 508"/>
              <a:gd name="T16" fmla="*/ 49 w 718"/>
              <a:gd name="T17" fmla="*/ 468 h 508"/>
              <a:gd name="T18" fmla="*/ 50 w 718"/>
              <a:gd name="T19" fmla="*/ 467 h 508"/>
              <a:gd name="T20" fmla="*/ 710 w 718"/>
              <a:gd name="T21" fmla="*/ 0 h 508"/>
              <a:gd name="T22" fmla="*/ 712 w 718"/>
              <a:gd name="T23" fmla="*/ 0 h 508"/>
              <a:gd name="T24" fmla="*/ 715 w 718"/>
              <a:gd name="T25" fmla="*/ 0 h 508"/>
              <a:gd name="T26" fmla="*/ 716 w 718"/>
              <a:gd name="T27" fmla="*/ 0 h 508"/>
              <a:gd name="T28" fmla="*/ 718 w 718"/>
              <a:gd name="T29" fmla="*/ 2 h 508"/>
              <a:gd name="T30" fmla="*/ 718 w 718"/>
              <a:gd name="T31" fmla="*/ 4 h 508"/>
              <a:gd name="T32" fmla="*/ 718 w 718"/>
              <a:gd name="T33" fmla="*/ 5 h 508"/>
              <a:gd name="T34" fmla="*/ 718 w 718"/>
              <a:gd name="T35" fmla="*/ 7 h 508"/>
              <a:gd name="T36" fmla="*/ 716 w 718"/>
              <a:gd name="T37" fmla="*/ 8 h 508"/>
              <a:gd name="T38" fmla="*/ 716 w 718"/>
              <a:gd name="T39" fmla="*/ 8 h 508"/>
              <a:gd name="T40" fmla="*/ 85 w 718"/>
              <a:gd name="T41" fmla="*/ 495 h 508"/>
              <a:gd name="T42" fmla="*/ 0 w 718"/>
              <a:gd name="T43" fmla="*/ 508 h 508"/>
              <a:gd name="T44" fmla="*/ 41 w 718"/>
              <a:gd name="T45" fmla="*/ 433 h 508"/>
              <a:gd name="T46" fmla="*/ 85 w 718"/>
              <a:gd name="T47" fmla="*/ 495 h 5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18" h="508">
                <a:moveTo>
                  <a:pt x="716" y="8"/>
                </a:moveTo>
                <a:lnTo>
                  <a:pt x="55" y="474"/>
                </a:lnTo>
                <a:lnTo>
                  <a:pt x="53" y="476"/>
                </a:lnTo>
                <a:lnTo>
                  <a:pt x="52" y="476"/>
                </a:lnTo>
                <a:lnTo>
                  <a:pt x="50" y="474"/>
                </a:lnTo>
                <a:lnTo>
                  <a:pt x="49" y="474"/>
                </a:lnTo>
                <a:lnTo>
                  <a:pt x="47" y="471"/>
                </a:lnTo>
                <a:lnTo>
                  <a:pt x="47" y="470"/>
                </a:lnTo>
                <a:lnTo>
                  <a:pt x="49" y="468"/>
                </a:lnTo>
                <a:lnTo>
                  <a:pt x="50" y="467"/>
                </a:lnTo>
                <a:lnTo>
                  <a:pt x="710" y="0"/>
                </a:lnTo>
                <a:lnTo>
                  <a:pt x="712" y="0"/>
                </a:lnTo>
                <a:lnTo>
                  <a:pt x="715" y="0"/>
                </a:lnTo>
                <a:lnTo>
                  <a:pt x="716" y="0"/>
                </a:lnTo>
                <a:lnTo>
                  <a:pt x="718" y="2"/>
                </a:lnTo>
                <a:lnTo>
                  <a:pt x="718" y="4"/>
                </a:lnTo>
                <a:lnTo>
                  <a:pt x="718" y="5"/>
                </a:lnTo>
                <a:lnTo>
                  <a:pt x="718" y="7"/>
                </a:lnTo>
                <a:lnTo>
                  <a:pt x="716" y="8"/>
                </a:lnTo>
                <a:lnTo>
                  <a:pt x="716" y="8"/>
                </a:lnTo>
                <a:close/>
                <a:moveTo>
                  <a:pt x="85" y="495"/>
                </a:moveTo>
                <a:lnTo>
                  <a:pt x="0" y="508"/>
                </a:lnTo>
                <a:lnTo>
                  <a:pt x="41" y="433"/>
                </a:lnTo>
                <a:lnTo>
                  <a:pt x="85" y="495"/>
                </a:lnTo>
                <a:close/>
              </a:path>
            </a:pathLst>
          </a:custGeom>
          <a:solidFill>
            <a:srgbClr val="000000"/>
          </a:solidFill>
          <a:ln w="3175">
            <a:solidFill>
              <a:srgbClr val="000000"/>
            </a:solidFill>
            <a:prstDash val="solid"/>
            <a:round/>
            <a:headEnd/>
            <a:tailEnd/>
          </a:ln>
        </p:spPr>
        <p:txBody>
          <a:bodyPr/>
          <a:lstStyle/>
          <a:p>
            <a:endParaRPr lang="en-IN"/>
          </a:p>
        </p:txBody>
      </p:sp>
      <p:sp>
        <p:nvSpPr>
          <p:cNvPr id="111631" name="Freeform 15">
            <a:extLst>
              <a:ext uri="{FF2B5EF4-FFF2-40B4-BE49-F238E27FC236}">
                <a16:creationId xmlns:a16="http://schemas.microsoft.com/office/drawing/2014/main" id="{B1DF09BE-E6C7-5457-E4E6-A90FF7C6397B}"/>
              </a:ext>
            </a:extLst>
          </p:cNvPr>
          <p:cNvSpPr>
            <a:spLocks noEditPoints="1"/>
          </p:cNvSpPr>
          <p:nvPr/>
        </p:nvSpPr>
        <p:spPr bwMode="auto">
          <a:xfrm>
            <a:off x="7269164" y="4349750"/>
            <a:ext cx="382587" cy="1392238"/>
          </a:xfrm>
          <a:custGeom>
            <a:avLst/>
            <a:gdLst>
              <a:gd name="T0" fmla="*/ 231 w 241"/>
              <a:gd name="T1" fmla="*/ 874 h 877"/>
              <a:gd name="T2" fmla="*/ 28 w 241"/>
              <a:gd name="T3" fmla="*/ 62 h 877"/>
              <a:gd name="T4" fmla="*/ 28 w 241"/>
              <a:gd name="T5" fmla="*/ 60 h 877"/>
              <a:gd name="T6" fmla="*/ 28 w 241"/>
              <a:gd name="T7" fmla="*/ 59 h 877"/>
              <a:gd name="T8" fmla="*/ 30 w 241"/>
              <a:gd name="T9" fmla="*/ 57 h 877"/>
              <a:gd name="T10" fmla="*/ 32 w 241"/>
              <a:gd name="T11" fmla="*/ 57 h 877"/>
              <a:gd name="T12" fmla="*/ 33 w 241"/>
              <a:gd name="T13" fmla="*/ 56 h 877"/>
              <a:gd name="T14" fmla="*/ 35 w 241"/>
              <a:gd name="T15" fmla="*/ 57 h 877"/>
              <a:gd name="T16" fmla="*/ 36 w 241"/>
              <a:gd name="T17" fmla="*/ 59 h 877"/>
              <a:gd name="T18" fmla="*/ 38 w 241"/>
              <a:gd name="T19" fmla="*/ 60 h 877"/>
              <a:gd name="T20" fmla="*/ 241 w 241"/>
              <a:gd name="T21" fmla="*/ 871 h 877"/>
              <a:gd name="T22" fmla="*/ 240 w 241"/>
              <a:gd name="T23" fmla="*/ 874 h 877"/>
              <a:gd name="T24" fmla="*/ 240 w 241"/>
              <a:gd name="T25" fmla="*/ 876 h 877"/>
              <a:gd name="T26" fmla="*/ 238 w 241"/>
              <a:gd name="T27" fmla="*/ 877 h 877"/>
              <a:gd name="T28" fmla="*/ 237 w 241"/>
              <a:gd name="T29" fmla="*/ 877 h 877"/>
              <a:gd name="T30" fmla="*/ 235 w 241"/>
              <a:gd name="T31" fmla="*/ 877 h 877"/>
              <a:gd name="T32" fmla="*/ 234 w 241"/>
              <a:gd name="T33" fmla="*/ 877 h 877"/>
              <a:gd name="T34" fmla="*/ 232 w 241"/>
              <a:gd name="T35" fmla="*/ 876 h 877"/>
              <a:gd name="T36" fmla="*/ 231 w 241"/>
              <a:gd name="T37" fmla="*/ 874 h 877"/>
              <a:gd name="T38" fmla="*/ 231 w 241"/>
              <a:gd name="T39" fmla="*/ 874 h 877"/>
              <a:gd name="T40" fmla="*/ 0 w 241"/>
              <a:gd name="T41" fmla="*/ 83 h 877"/>
              <a:gd name="T42" fmla="*/ 18 w 241"/>
              <a:gd name="T43" fmla="*/ 0 h 877"/>
              <a:gd name="T44" fmla="*/ 73 w 241"/>
              <a:gd name="T45" fmla="*/ 65 h 877"/>
              <a:gd name="T46" fmla="*/ 0 w 241"/>
              <a:gd name="T47" fmla="*/ 83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1" h="877">
                <a:moveTo>
                  <a:pt x="231" y="874"/>
                </a:moveTo>
                <a:lnTo>
                  <a:pt x="28" y="62"/>
                </a:lnTo>
                <a:lnTo>
                  <a:pt x="28" y="60"/>
                </a:lnTo>
                <a:lnTo>
                  <a:pt x="28" y="59"/>
                </a:lnTo>
                <a:lnTo>
                  <a:pt x="30" y="57"/>
                </a:lnTo>
                <a:lnTo>
                  <a:pt x="32" y="57"/>
                </a:lnTo>
                <a:lnTo>
                  <a:pt x="33" y="56"/>
                </a:lnTo>
                <a:lnTo>
                  <a:pt x="35" y="57"/>
                </a:lnTo>
                <a:lnTo>
                  <a:pt x="36" y="59"/>
                </a:lnTo>
                <a:lnTo>
                  <a:pt x="38" y="60"/>
                </a:lnTo>
                <a:lnTo>
                  <a:pt x="241" y="871"/>
                </a:lnTo>
                <a:lnTo>
                  <a:pt x="240" y="874"/>
                </a:lnTo>
                <a:lnTo>
                  <a:pt x="240" y="876"/>
                </a:lnTo>
                <a:lnTo>
                  <a:pt x="238" y="877"/>
                </a:lnTo>
                <a:lnTo>
                  <a:pt x="237" y="877"/>
                </a:lnTo>
                <a:lnTo>
                  <a:pt x="235" y="877"/>
                </a:lnTo>
                <a:lnTo>
                  <a:pt x="234" y="877"/>
                </a:lnTo>
                <a:lnTo>
                  <a:pt x="232" y="876"/>
                </a:lnTo>
                <a:lnTo>
                  <a:pt x="231" y="874"/>
                </a:lnTo>
                <a:lnTo>
                  <a:pt x="231" y="874"/>
                </a:lnTo>
                <a:close/>
                <a:moveTo>
                  <a:pt x="0" y="83"/>
                </a:moveTo>
                <a:lnTo>
                  <a:pt x="18" y="0"/>
                </a:lnTo>
                <a:lnTo>
                  <a:pt x="73" y="65"/>
                </a:lnTo>
                <a:lnTo>
                  <a:pt x="0" y="83"/>
                </a:lnTo>
                <a:close/>
              </a:path>
            </a:pathLst>
          </a:custGeom>
          <a:solidFill>
            <a:srgbClr val="000000"/>
          </a:solidFill>
          <a:ln w="3175">
            <a:solidFill>
              <a:srgbClr val="000000"/>
            </a:solidFill>
            <a:prstDash val="solid"/>
            <a:round/>
            <a:headEnd/>
            <a:tailEnd/>
          </a:ln>
        </p:spPr>
        <p:txBody>
          <a:bodyPr/>
          <a:lstStyle/>
          <a:p>
            <a:endParaRPr lang="en-IN"/>
          </a:p>
        </p:txBody>
      </p:sp>
      <p:sp>
        <p:nvSpPr>
          <p:cNvPr id="111632" name="Freeform 16">
            <a:extLst>
              <a:ext uri="{FF2B5EF4-FFF2-40B4-BE49-F238E27FC236}">
                <a16:creationId xmlns:a16="http://schemas.microsoft.com/office/drawing/2014/main" id="{CFA5DBF7-065A-5178-C3A3-A72A0786CAD9}"/>
              </a:ext>
            </a:extLst>
          </p:cNvPr>
          <p:cNvSpPr>
            <a:spLocks noEditPoints="1"/>
          </p:cNvSpPr>
          <p:nvPr/>
        </p:nvSpPr>
        <p:spPr bwMode="auto">
          <a:xfrm>
            <a:off x="7394576" y="4356101"/>
            <a:ext cx="354013" cy="1319213"/>
          </a:xfrm>
          <a:custGeom>
            <a:avLst/>
            <a:gdLst>
              <a:gd name="T0" fmla="*/ 10 w 223"/>
              <a:gd name="T1" fmla="*/ 5 h 831"/>
              <a:gd name="T2" fmla="*/ 194 w 223"/>
              <a:gd name="T3" fmla="*/ 768 h 831"/>
              <a:gd name="T4" fmla="*/ 194 w 223"/>
              <a:gd name="T5" fmla="*/ 770 h 831"/>
              <a:gd name="T6" fmla="*/ 194 w 223"/>
              <a:gd name="T7" fmla="*/ 771 h 831"/>
              <a:gd name="T8" fmla="*/ 193 w 223"/>
              <a:gd name="T9" fmla="*/ 773 h 831"/>
              <a:gd name="T10" fmla="*/ 191 w 223"/>
              <a:gd name="T11" fmla="*/ 775 h 831"/>
              <a:gd name="T12" fmla="*/ 188 w 223"/>
              <a:gd name="T13" fmla="*/ 775 h 831"/>
              <a:gd name="T14" fmla="*/ 187 w 223"/>
              <a:gd name="T15" fmla="*/ 773 h 831"/>
              <a:gd name="T16" fmla="*/ 185 w 223"/>
              <a:gd name="T17" fmla="*/ 771 h 831"/>
              <a:gd name="T18" fmla="*/ 185 w 223"/>
              <a:gd name="T19" fmla="*/ 770 h 831"/>
              <a:gd name="T20" fmla="*/ 0 w 223"/>
              <a:gd name="T21" fmla="*/ 6 h 831"/>
              <a:gd name="T22" fmla="*/ 0 w 223"/>
              <a:gd name="T23" fmla="*/ 5 h 831"/>
              <a:gd name="T24" fmla="*/ 1 w 223"/>
              <a:gd name="T25" fmla="*/ 3 h 831"/>
              <a:gd name="T26" fmla="*/ 3 w 223"/>
              <a:gd name="T27" fmla="*/ 2 h 831"/>
              <a:gd name="T28" fmla="*/ 4 w 223"/>
              <a:gd name="T29" fmla="*/ 0 h 831"/>
              <a:gd name="T30" fmla="*/ 6 w 223"/>
              <a:gd name="T31" fmla="*/ 0 h 831"/>
              <a:gd name="T32" fmla="*/ 7 w 223"/>
              <a:gd name="T33" fmla="*/ 2 h 831"/>
              <a:gd name="T34" fmla="*/ 9 w 223"/>
              <a:gd name="T35" fmla="*/ 3 h 831"/>
              <a:gd name="T36" fmla="*/ 10 w 223"/>
              <a:gd name="T37" fmla="*/ 5 h 831"/>
              <a:gd name="T38" fmla="*/ 10 w 223"/>
              <a:gd name="T39" fmla="*/ 5 h 831"/>
              <a:gd name="T40" fmla="*/ 223 w 223"/>
              <a:gd name="T41" fmla="*/ 749 h 831"/>
              <a:gd name="T42" fmla="*/ 205 w 223"/>
              <a:gd name="T43" fmla="*/ 831 h 831"/>
              <a:gd name="T44" fmla="*/ 150 w 223"/>
              <a:gd name="T45" fmla="*/ 767 h 831"/>
              <a:gd name="T46" fmla="*/ 223 w 223"/>
              <a:gd name="T47" fmla="*/ 749 h 8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23" h="831">
                <a:moveTo>
                  <a:pt x="10" y="5"/>
                </a:moveTo>
                <a:lnTo>
                  <a:pt x="194" y="768"/>
                </a:lnTo>
                <a:lnTo>
                  <a:pt x="194" y="770"/>
                </a:lnTo>
                <a:lnTo>
                  <a:pt x="194" y="771"/>
                </a:lnTo>
                <a:lnTo>
                  <a:pt x="193" y="773"/>
                </a:lnTo>
                <a:lnTo>
                  <a:pt x="191" y="775"/>
                </a:lnTo>
                <a:lnTo>
                  <a:pt x="188" y="775"/>
                </a:lnTo>
                <a:lnTo>
                  <a:pt x="187" y="773"/>
                </a:lnTo>
                <a:lnTo>
                  <a:pt x="185" y="771"/>
                </a:lnTo>
                <a:lnTo>
                  <a:pt x="185" y="770"/>
                </a:lnTo>
                <a:lnTo>
                  <a:pt x="0" y="6"/>
                </a:lnTo>
                <a:lnTo>
                  <a:pt x="0" y="5"/>
                </a:lnTo>
                <a:lnTo>
                  <a:pt x="1" y="3"/>
                </a:lnTo>
                <a:lnTo>
                  <a:pt x="3" y="2"/>
                </a:lnTo>
                <a:lnTo>
                  <a:pt x="4" y="0"/>
                </a:lnTo>
                <a:lnTo>
                  <a:pt x="6" y="0"/>
                </a:lnTo>
                <a:lnTo>
                  <a:pt x="7" y="2"/>
                </a:lnTo>
                <a:lnTo>
                  <a:pt x="9" y="3"/>
                </a:lnTo>
                <a:lnTo>
                  <a:pt x="10" y="5"/>
                </a:lnTo>
                <a:lnTo>
                  <a:pt x="10" y="5"/>
                </a:lnTo>
                <a:close/>
                <a:moveTo>
                  <a:pt x="223" y="749"/>
                </a:moveTo>
                <a:lnTo>
                  <a:pt x="205" y="831"/>
                </a:lnTo>
                <a:lnTo>
                  <a:pt x="150" y="767"/>
                </a:lnTo>
                <a:lnTo>
                  <a:pt x="223" y="749"/>
                </a:lnTo>
                <a:close/>
              </a:path>
            </a:pathLst>
          </a:custGeom>
          <a:solidFill>
            <a:srgbClr val="000000"/>
          </a:solidFill>
          <a:ln w="3175">
            <a:solidFill>
              <a:srgbClr val="000000"/>
            </a:solidFill>
            <a:prstDash val="solid"/>
            <a:round/>
            <a:headEnd/>
            <a:tailEnd/>
          </a:ln>
        </p:spPr>
        <p:txBody>
          <a:bodyPr/>
          <a:lstStyle/>
          <a:p>
            <a:endParaRPr lang="en-IN"/>
          </a:p>
        </p:txBody>
      </p:sp>
      <p:sp>
        <p:nvSpPr>
          <p:cNvPr id="111633" name="Freeform 17">
            <a:extLst>
              <a:ext uri="{FF2B5EF4-FFF2-40B4-BE49-F238E27FC236}">
                <a16:creationId xmlns:a16="http://schemas.microsoft.com/office/drawing/2014/main" id="{BDD7145D-7C6B-07BF-1CE4-72A7F4972958}"/>
              </a:ext>
            </a:extLst>
          </p:cNvPr>
          <p:cNvSpPr>
            <a:spLocks noEditPoints="1"/>
          </p:cNvSpPr>
          <p:nvPr/>
        </p:nvSpPr>
        <p:spPr bwMode="auto">
          <a:xfrm>
            <a:off x="5065713" y="4295775"/>
            <a:ext cx="2163762" cy="209550"/>
          </a:xfrm>
          <a:custGeom>
            <a:avLst/>
            <a:gdLst>
              <a:gd name="T0" fmla="*/ 1359 w 1363"/>
              <a:gd name="T1" fmla="*/ 11 h 132"/>
              <a:gd name="T2" fmla="*/ 64 w 1363"/>
              <a:gd name="T3" fmla="*/ 100 h 132"/>
              <a:gd name="T4" fmla="*/ 60 w 1363"/>
              <a:gd name="T5" fmla="*/ 100 h 132"/>
              <a:gd name="T6" fmla="*/ 59 w 1363"/>
              <a:gd name="T7" fmla="*/ 99 h 132"/>
              <a:gd name="T8" fmla="*/ 57 w 1363"/>
              <a:gd name="T9" fmla="*/ 97 h 132"/>
              <a:gd name="T10" fmla="*/ 57 w 1363"/>
              <a:gd name="T11" fmla="*/ 96 h 132"/>
              <a:gd name="T12" fmla="*/ 57 w 1363"/>
              <a:gd name="T13" fmla="*/ 94 h 132"/>
              <a:gd name="T14" fmla="*/ 59 w 1363"/>
              <a:gd name="T15" fmla="*/ 93 h 132"/>
              <a:gd name="T16" fmla="*/ 60 w 1363"/>
              <a:gd name="T17" fmla="*/ 91 h 132"/>
              <a:gd name="T18" fmla="*/ 62 w 1363"/>
              <a:gd name="T19" fmla="*/ 91 h 132"/>
              <a:gd name="T20" fmla="*/ 1357 w 1363"/>
              <a:gd name="T21" fmla="*/ 0 h 132"/>
              <a:gd name="T22" fmla="*/ 1359 w 1363"/>
              <a:gd name="T23" fmla="*/ 0 h 132"/>
              <a:gd name="T24" fmla="*/ 1360 w 1363"/>
              <a:gd name="T25" fmla="*/ 2 h 132"/>
              <a:gd name="T26" fmla="*/ 1362 w 1363"/>
              <a:gd name="T27" fmla="*/ 3 h 132"/>
              <a:gd name="T28" fmla="*/ 1363 w 1363"/>
              <a:gd name="T29" fmla="*/ 5 h 132"/>
              <a:gd name="T30" fmla="*/ 1362 w 1363"/>
              <a:gd name="T31" fmla="*/ 6 h 132"/>
              <a:gd name="T32" fmla="*/ 1362 w 1363"/>
              <a:gd name="T33" fmla="*/ 8 h 132"/>
              <a:gd name="T34" fmla="*/ 1360 w 1363"/>
              <a:gd name="T35" fmla="*/ 9 h 132"/>
              <a:gd name="T36" fmla="*/ 1359 w 1363"/>
              <a:gd name="T37" fmla="*/ 11 h 132"/>
              <a:gd name="T38" fmla="*/ 1359 w 1363"/>
              <a:gd name="T39" fmla="*/ 11 h 132"/>
              <a:gd name="T40" fmla="*/ 77 w 1363"/>
              <a:gd name="T41" fmla="*/ 132 h 132"/>
              <a:gd name="T42" fmla="*/ 0 w 1363"/>
              <a:gd name="T43" fmla="*/ 100 h 132"/>
              <a:gd name="T44" fmla="*/ 73 w 1363"/>
              <a:gd name="T45" fmla="*/ 58 h 132"/>
              <a:gd name="T46" fmla="*/ 77 w 1363"/>
              <a:gd name="T47"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63" h="132">
                <a:moveTo>
                  <a:pt x="1359" y="11"/>
                </a:moveTo>
                <a:lnTo>
                  <a:pt x="64" y="100"/>
                </a:lnTo>
                <a:lnTo>
                  <a:pt x="60" y="100"/>
                </a:lnTo>
                <a:lnTo>
                  <a:pt x="59" y="99"/>
                </a:lnTo>
                <a:lnTo>
                  <a:pt x="57" y="97"/>
                </a:lnTo>
                <a:lnTo>
                  <a:pt x="57" y="96"/>
                </a:lnTo>
                <a:lnTo>
                  <a:pt x="57" y="94"/>
                </a:lnTo>
                <a:lnTo>
                  <a:pt x="59" y="93"/>
                </a:lnTo>
                <a:lnTo>
                  <a:pt x="60" y="91"/>
                </a:lnTo>
                <a:lnTo>
                  <a:pt x="62" y="91"/>
                </a:lnTo>
                <a:lnTo>
                  <a:pt x="1357" y="0"/>
                </a:lnTo>
                <a:lnTo>
                  <a:pt x="1359" y="0"/>
                </a:lnTo>
                <a:lnTo>
                  <a:pt x="1360" y="2"/>
                </a:lnTo>
                <a:lnTo>
                  <a:pt x="1362" y="3"/>
                </a:lnTo>
                <a:lnTo>
                  <a:pt x="1363" y="5"/>
                </a:lnTo>
                <a:lnTo>
                  <a:pt x="1362" y="6"/>
                </a:lnTo>
                <a:lnTo>
                  <a:pt x="1362" y="8"/>
                </a:lnTo>
                <a:lnTo>
                  <a:pt x="1360" y="9"/>
                </a:lnTo>
                <a:lnTo>
                  <a:pt x="1359" y="11"/>
                </a:lnTo>
                <a:lnTo>
                  <a:pt x="1359" y="11"/>
                </a:lnTo>
                <a:close/>
                <a:moveTo>
                  <a:pt x="77" y="132"/>
                </a:moveTo>
                <a:lnTo>
                  <a:pt x="0" y="100"/>
                </a:lnTo>
                <a:lnTo>
                  <a:pt x="73" y="58"/>
                </a:lnTo>
                <a:lnTo>
                  <a:pt x="77" y="132"/>
                </a:lnTo>
                <a:close/>
              </a:path>
            </a:pathLst>
          </a:custGeom>
          <a:solidFill>
            <a:srgbClr val="000000"/>
          </a:solidFill>
          <a:ln w="3175">
            <a:solidFill>
              <a:srgbClr val="000000"/>
            </a:solidFill>
            <a:prstDash val="solid"/>
            <a:round/>
            <a:headEnd/>
            <a:tailEnd/>
          </a:ln>
        </p:spPr>
        <p:txBody>
          <a:bodyPr/>
          <a:lstStyle/>
          <a:p>
            <a:endParaRPr lang="en-IN"/>
          </a:p>
        </p:txBody>
      </p:sp>
      <p:sp>
        <p:nvSpPr>
          <p:cNvPr id="111634" name="Freeform 18">
            <a:extLst>
              <a:ext uri="{FF2B5EF4-FFF2-40B4-BE49-F238E27FC236}">
                <a16:creationId xmlns:a16="http://schemas.microsoft.com/office/drawing/2014/main" id="{C023C35F-F29B-3E06-F1D6-8FAA3DE79375}"/>
              </a:ext>
            </a:extLst>
          </p:cNvPr>
          <p:cNvSpPr>
            <a:spLocks noEditPoints="1"/>
          </p:cNvSpPr>
          <p:nvPr/>
        </p:nvSpPr>
        <p:spPr bwMode="auto">
          <a:xfrm>
            <a:off x="5011738" y="4476751"/>
            <a:ext cx="2601912" cy="1319213"/>
          </a:xfrm>
          <a:custGeom>
            <a:avLst/>
            <a:gdLst>
              <a:gd name="T0" fmla="*/ 6 w 1639"/>
              <a:gd name="T1" fmla="*/ 2 h 831"/>
              <a:gd name="T2" fmla="*/ 1584 w 1639"/>
              <a:gd name="T3" fmla="*/ 799 h 831"/>
              <a:gd name="T4" fmla="*/ 1586 w 1639"/>
              <a:gd name="T5" fmla="*/ 799 h 831"/>
              <a:gd name="T6" fmla="*/ 1587 w 1639"/>
              <a:gd name="T7" fmla="*/ 800 h 831"/>
              <a:gd name="T8" fmla="*/ 1587 w 1639"/>
              <a:gd name="T9" fmla="*/ 803 h 831"/>
              <a:gd name="T10" fmla="*/ 1587 w 1639"/>
              <a:gd name="T11" fmla="*/ 805 h 831"/>
              <a:gd name="T12" fmla="*/ 1586 w 1639"/>
              <a:gd name="T13" fmla="*/ 806 h 831"/>
              <a:gd name="T14" fmla="*/ 1584 w 1639"/>
              <a:gd name="T15" fmla="*/ 806 h 831"/>
              <a:gd name="T16" fmla="*/ 1581 w 1639"/>
              <a:gd name="T17" fmla="*/ 806 h 831"/>
              <a:gd name="T18" fmla="*/ 1580 w 1639"/>
              <a:gd name="T19" fmla="*/ 806 h 831"/>
              <a:gd name="T20" fmla="*/ 3 w 1639"/>
              <a:gd name="T21" fmla="*/ 9 h 831"/>
              <a:gd name="T22" fmla="*/ 2 w 1639"/>
              <a:gd name="T23" fmla="*/ 9 h 831"/>
              <a:gd name="T24" fmla="*/ 0 w 1639"/>
              <a:gd name="T25" fmla="*/ 6 h 831"/>
              <a:gd name="T26" fmla="*/ 0 w 1639"/>
              <a:gd name="T27" fmla="*/ 5 h 831"/>
              <a:gd name="T28" fmla="*/ 0 w 1639"/>
              <a:gd name="T29" fmla="*/ 3 h 831"/>
              <a:gd name="T30" fmla="*/ 2 w 1639"/>
              <a:gd name="T31" fmla="*/ 2 h 831"/>
              <a:gd name="T32" fmla="*/ 3 w 1639"/>
              <a:gd name="T33" fmla="*/ 0 h 831"/>
              <a:gd name="T34" fmla="*/ 5 w 1639"/>
              <a:gd name="T35" fmla="*/ 0 h 831"/>
              <a:gd name="T36" fmla="*/ 6 w 1639"/>
              <a:gd name="T37" fmla="*/ 2 h 831"/>
              <a:gd name="T38" fmla="*/ 6 w 1639"/>
              <a:gd name="T39" fmla="*/ 2 h 831"/>
              <a:gd name="T40" fmla="*/ 1589 w 1639"/>
              <a:gd name="T41" fmla="*/ 762 h 831"/>
              <a:gd name="T42" fmla="*/ 1639 w 1639"/>
              <a:gd name="T43" fmla="*/ 831 h 831"/>
              <a:gd name="T44" fmla="*/ 1554 w 1639"/>
              <a:gd name="T45" fmla="*/ 831 h 831"/>
              <a:gd name="T46" fmla="*/ 1589 w 1639"/>
              <a:gd name="T47" fmla="*/ 762 h 8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39" h="831">
                <a:moveTo>
                  <a:pt x="6" y="2"/>
                </a:moveTo>
                <a:lnTo>
                  <a:pt x="1584" y="799"/>
                </a:lnTo>
                <a:lnTo>
                  <a:pt x="1586" y="799"/>
                </a:lnTo>
                <a:lnTo>
                  <a:pt x="1587" y="800"/>
                </a:lnTo>
                <a:lnTo>
                  <a:pt x="1587" y="803"/>
                </a:lnTo>
                <a:lnTo>
                  <a:pt x="1587" y="805"/>
                </a:lnTo>
                <a:lnTo>
                  <a:pt x="1586" y="806"/>
                </a:lnTo>
                <a:lnTo>
                  <a:pt x="1584" y="806"/>
                </a:lnTo>
                <a:lnTo>
                  <a:pt x="1581" y="806"/>
                </a:lnTo>
                <a:lnTo>
                  <a:pt x="1580" y="806"/>
                </a:lnTo>
                <a:lnTo>
                  <a:pt x="3" y="9"/>
                </a:lnTo>
                <a:lnTo>
                  <a:pt x="2" y="9"/>
                </a:lnTo>
                <a:lnTo>
                  <a:pt x="0" y="6"/>
                </a:lnTo>
                <a:lnTo>
                  <a:pt x="0" y="5"/>
                </a:lnTo>
                <a:lnTo>
                  <a:pt x="0" y="3"/>
                </a:lnTo>
                <a:lnTo>
                  <a:pt x="2" y="2"/>
                </a:lnTo>
                <a:lnTo>
                  <a:pt x="3" y="0"/>
                </a:lnTo>
                <a:lnTo>
                  <a:pt x="5" y="0"/>
                </a:lnTo>
                <a:lnTo>
                  <a:pt x="6" y="2"/>
                </a:lnTo>
                <a:lnTo>
                  <a:pt x="6" y="2"/>
                </a:lnTo>
                <a:close/>
                <a:moveTo>
                  <a:pt x="1589" y="762"/>
                </a:moveTo>
                <a:lnTo>
                  <a:pt x="1639" y="831"/>
                </a:lnTo>
                <a:lnTo>
                  <a:pt x="1554" y="831"/>
                </a:lnTo>
                <a:lnTo>
                  <a:pt x="1589" y="762"/>
                </a:lnTo>
                <a:close/>
              </a:path>
            </a:pathLst>
          </a:custGeom>
          <a:solidFill>
            <a:srgbClr val="000000"/>
          </a:solidFill>
          <a:ln w="3175">
            <a:solidFill>
              <a:srgbClr val="000000"/>
            </a:solidFill>
            <a:prstDash val="solid"/>
            <a:round/>
            <a:headEnd/>
            <a:tailEnd/>
          </a:ln>
        </p:spPr>
        <p:txBody>
          <a:bodyPr/>
          <a:lstStyle/>
          <a:p>
            <a:endParaRPr lang="en-IN"/>
          </a:p>
        </p:txBody>
      </p:sp>
      <p:sp>
        <p:nvSpPr>
          <p:cNvPr id="111635" name="Freeform 19">
            <a:extLst>
              <a:ext uri="{FF2B5EF4-FFF2-40B4-BE49-F238E27FC236}">
                <a16:creationId xmlns:a16="http://schemas.microsoft.com/office/drawing/2014/main" id="{FFD84D10-743D-EE85-1C1A-469FFEE17370}"/>
              </a:ext>
            </a:extLst>
          </p:cNvPr>
          <p:cNvSpPr>
            <a:spLocks noEditPoints="1"/>
          </p:cNvSpPr>
          <p:nvPr/>
        </p:nvSpPr>
        <p:spPr bwMode="auto">
          <a:xfrm>
            <a:off x="5548313" y="5848351"/>
            <a:ext cx="2057400" cy="492125"/>
          </a:xfrm>
          <a:custGeom>
            <a:avLst/>
            <a:gdLst>
              <a:gd name="T0" fmla="*/ 1292 w 1296"/>
              <a:gd name="T1" fmla="*/ 9 h 310"/>
              <a:gd name="T2" fmla="*/ 62 w 1296"/>
              <a:gd name="T3" fmla="*/ 281 h 310"/>
              <a:gd name="T4" fmla="*/ 61 w 1296"/>
              <a:gd name="T5" fmla="*/ 281 h 310"/>
              <a:gd name="T6" fmla="*/ 59 w 1296"/>
              <a:gd name="T7" fmla="*/ 279 h 310"/>
              <a:gd name="T8" fmla="*/ 57 w 1296"/>
              <a:gd name="T9" fmla="*/ 278 h 310"/>
              <a:gd name="T10" fmla="*/ 56 w 1296"/>
              <a:gd name="T11" fmla="*/ 276 h 310"/>
              <a:gd name="T12" fmla="*/ 56 w 1296"/>
              <a:gd name="T13" fmla="*/ 275 h 310"/>
              <a:gd name="T14" fmla="*/ 57 w 1296"/>
              <a:gd name="T15" fmla="*/ 273 h 310"/>
              <a:gd name="T16" fmla="*/ 59 w 1296"/>
              <a:gd name="T17" fmla="*/ 272 h 310"/>
              <a:gd name="T18" fmla="*/ 61 w 1296"/>
              <a:gd name="T19" fmla="*/ 272 h 310"/>
              <a:gd name="T20" fmla="*/ 1290 w 1296"/>
              <a:gd name="T21" fmla="*/ 0 h 310"/>
              <a:gd name="T22" fmla="*/ 1292 w 1296"/>
              <a:gd name="T23" fmla="*/ 0 h 310"/>
              <a:gd name="T24" fmla="*/ 1293 w 1296"/>
              <a:gd name="T25" fmla="*/ 2 h 310"/>
              <a:gd name="T26" fmla="*/ 1295 w 1296"/>
              <a:gd name="T27" fmla="*/ 2 h 310"/>
              <a:gd name="T28" fmla="*/ 1296 w 1296"/>
              <a:gd name="T29" fmla="*/ 5 h 310"/>
              <a:gd name="T30" fmla="*/ 1296 w 1296"/>
              <a:gd name="T31" fmla="*/ 6 h 310"/>
              <a:gd name="T32" fmla="*/ 1295 w 1296"/>
              <a:gd name="T33" fmla="*/ 8 h 310"/>
              <a:gd name="T34" fmla="*/ 1293 w 1296"/>
              <a:gd name="T35" fmla="*/ 9 h 310"/>
              <a:gd name="T36" fmla="*/ 1292 w 1296"/>
              <a:gd name="T37" fmla="*/ 9 h 310"/>
              <a:gd name="T38" fmla="*/ 1292 w 1296"/>
              <a:gd name="T39" fmla="*/ 9 h 310"/>
              <a:gd name="T40" fmla="*/ 82 w 1296"/>
              <a:gd name="T41" fmla="*/ 310 h 310"/>
              <a:gd name="T42" fmla="*/ 0 w 1296"/>
              <a:gd name="T43" fmla="*/ 290 h 310"/>
              <a:gd name="T44" fmla="*/ 65 w 1296"/>
              <a:gd name="T45" fmla="*/ 237 h 310"/>
              <a:gd name="T46" fmla="*/ 82 w 1296"/>
              <a:gd name="T47" fmla="*/ 310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96" h="310">
                <a:moveTo>
                  <a:pt x="1292" y="9"/>
                </a:moveTo>
                <a:lnTo>
                  <a:pt x="62" y="281"/>
                </a:lnTo>
                <a:lnTo>
                  <a:pt x="61" y="281"/>
                </a:lnTo>
                <a:lnTo>
                  <a:pt x="59" y="279"/>
                </a:lnTo>
                <a:lnTo>
                  <a:pt x="57" y="278"/>
                </a:lnTo>
                <a:lnTo>
                  <a:pt x="56" y="276"/>
                </a:lnTo>
                <a:lnTo>
                  <a:pt x="56" y="275"/>
                </a:lnTo>
                <a:lnTo>
                  <a:pt x="57" y="273"/>
                </a:lnTo>
                <a:lnTo>
                  <a:pt x="59" y="272"/>
                </a:lnTo>
                <a:lnTo>
                  <a:pt x="61" y="272"/>
                </a:lnTo>
                <a:lnTo>
                  <a:pt x="1290" y="0"/>
                </a:lnTo>
                <a:lnTo>
                  <a:pt x="1292" y="0"/>
                </a:lnTo>
                <a:lnTo>
                  <a:pt x="1293" y="2"/>
                </a:lnTo>
                <a:lnTo>
                  <a:pt x="1295" y="2"/>
                </a:lnTo>
                <a:lnTo>
                  <a:pt x="1296" y="5"/>
                </a:lnTo>
                <a:lnTo>
                  <a:pt x="1296" y="6"/>
                </a:lnTo>
                <a:lnTo>
                  <a:pt x="1295" y="8"/>
                </a:lnTo>
                <a:lnTo>
                  <a:pt x="1293" y="9"/>
                </a:lnTo>
                <a:lnTo>
                  <a:pt x="1292" y="9"/>
                </a:lnTo>
                <a:lnTo>
                  <a:pt x="1292" y="9"/>
                </a:lnTo>
                <a:close/>
                <a:moveTo>
                  <a:pt x="82" y="310"/>
                </a:moveTo>
                <a:lnTo>
                  <a:pt x="0" y="290"/>
                </a:lnTo>
                <a:lnTo>
                  <a:pt x="65" y="237"/>
                </a:lnTo>
                <a:lnTo>
                  <a:pt x="82" y="310"/>
                </a:lnTo>
                <a:close/>
              </a:path>
            </a:pathLst>
          </a:custGeom>
          <a:solidFill>
            <a:srgbClr val="000000"/>
          </a:solidFill>
          <a:ln w="3175">
            <a:solidFill>
              <a:srgbClr val="000000"/>
            </a:solidFill>
            <a:prstDash val="solid"/>
            <a:round/>
            <a:headEnd/>
            <a:tailEnd/>
          </a:ln>
        </p:spPr>
        <p:txBody>
          <a:bodyPr/>
          <a:lstStyle/>
          <a:p>
            <a:endParaRPr lang="en-IN"/>
          </a:p>
        </p:txBody>
      </p:sp>
      <p:sp>
        <p:nvSpPr>
          <p:cNvPr id="111636" name="Freeform 20">
            <a:extLst>
              <a:ext uri="{FF2B5EF4-FFF2-40B4-BE49-F238E27FC236}">
                <a16:creationId xmlns:a16="http://schemas.microsoft.com/office/drawing/2014/main" id="{AFE39C7D-A2C0-938B-F46D-02505B756674}"/>
              </a:ext>
            </a:extLst>
          </p:cNvPr>
          <p:cNvSpPr>
            <a:spLocks noEditPoints="1"/>
          </p:cNvSpPr>
          <p:nvPr/>
        </p:nvSpPr>
        <p:spPr bwMode="auto">
          <a:xfrm>
            <a:off x="3827463" y="5554664"/>
            <a:ext cx="1530350" cy="790575"/>
          </a:xfrm>
          <a:custGeom>
            <a:avLst/>
            <a:gdLst>
              <a:gd name="T0" fmla="*/ 958 w 964"/>
              <a:gd name="T1" fmla="*/ 498 h 498"/>
              <a:gd name="T2" fmla="*/ 55 w 964"/>
              <a:gd name="T3" fmla="*/ 33 h 498"/>
              <a:gd name="T4" fmla="*/ 53 w 964"/>
              <a:gd name="T5" fmla="*/ 32 h 498"/>
              <a:gd name="T6" fmla="*/ 52 w 964"/>
              <a:gd name="T7" fmla="*/ 30 h 498"/>
              <a:gd name="T8" fmla="*/ 52 w 964"/>
              <a:gd name="T9" fmla="*/ 29 h 498"/>
              <a:gd name="T10" fmla="*/ 52 w 964"/>
              <a:gd name="T11" fmla="*/ 27 h 498"/>
              <a:gd name="T12" fmla="*/ 53 w 964"/>
              <a:gd name="T13" fmla="*/ 26 h 498"/>
              <a:gd name="T14" fmla="*/ 55 w 964"/>
              <a:gd name="T15" fmla="*/ 24 h 498"/>
              <a:gd name="T16" fmla="*/ 56 w 964"/>
              <a:gd name="T17" fmla="*/ 24 h 498"/>
              <a:gd name="T18" fmla="*/ 59 w 964"/>
              <a:gd name="T19" fmla="*/ 24 h 498"/>
              <a:gd name="T20" fmla="*/ 962 w 964"/>
              <a:gd name="T21" fmla="*/ 489 h 498"/>
              <a:gd name="T22" fmla="*/ 964 w 964"/>
              <a:gd name="T23" fmla="*/ 490 h 498"/>
              <a:gd name="T24" fmla="*/ 964 w 964"/>
              <a:gd name="T25" fmla="*/ 492 h 498"/>
              <a:gd name="T26" fmla="*/ 964 w 964"/>
              <a:gd name="T27" fmla="*/ 493 h 498"/>
              <a:gd name="T28" fmla="*/ 964 w 964"/>
              <a:gd name="T29" fmla="*/ 496 h 498"/>
              <a:gd name="T30" fmla="*/ 962 w 964"/>
              <a:gd name="T31" fmla="*/ 496 h 498"/>
              <a:gd name="T32" fmla="*/ 961 w 964"/>
              <a:gd name="T33" fmla="*/ 498 h 498"/>
              <a:gd name="T34" fmla="*/ 959 w 964"/>
              <a:gd name="T35" fmla="*/ 498 h 498"/>
              <a:gd name="T36" fmla="*/ 958 w 964"/>
              <a:gd name="T37" fmla="*/ 498 h 498"/>
              <a:gd name="T38" fmla="*/ 958 w 964"/>
              <a:gd name="T39" fmla="*/ 498 h 498"/>
              <a:gd name="T40" fmla="*/ 50 w 964"/>
              <a:gd name="T41" fmla="*/ 68 h 498"/>
              <a:gd name="T42" fmla="*/ 0 w 964"/>
              <a:gd name="T43" fmla="*/ 0 h 498"/>
              <a:gd name="T44" fmla="*/ 85 w 964"/>
              <a:gd name="T45" fmla="*/ 1 h 498"/>
              <a:gd name="T46" fmla="*/ 50 w 964"/>
              <a:gd name="T47" fmla="*/ 68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64" h="498">
                <a:moveTo>
                  <a:pt x="958" y="498"/>
                </a:moveTo>
                <a:lnTo>
                  <a:pt x="55" y="33"/>
                </a:lnTo>
                <a:lnTo>
                  <a:pt x="53" y="32"/>
                </a:lnTo>
                <a:lnTo>
                  <a:pt x="52" y="30"/>
                </a:lnTo>
                <a:lnTo>
                  <a:pt x="52" y="29"/>
                </a:lnTo>
                <a:lnTo>
                  <a:pt x="52" y="27"/>
                </a:lnTo>
                <a:lnTo>
                  <a:pt x="53" y="26"/>
                </a:lnTo>
                <a:lnTo>
                  <a:pt x="55" y="24"/>
                </a:lnTo>
                <a:lnTo>
                  <a:pt x="56" y="24"/>
                </a:lnTo>
                <a:lnTo>
                  <a:pt x="59" y="24"/>
                </a:lnTo>
                <a:lnTo>
                  <a:pt x="962" y="489"/>
                </a:lnTo>
                <a:lnTo>
                  <a:pt x="964" y="490"/>
                </a:lnTo>
                <a:lnTo>
                  <a:pt x="964" y="492"/>
                </a:lnTo>
                <a:lnTo>
                  <a:pt x="964" y="493"/>
                </a:lnTo>
                <a:lnTo>
                  <a:pt x="964" y="496"/>
                </a:lnTo>
                <a:lnTo>
                  <a:pt x="962" y="496"/>
                </a:lnTo>
                <a:lnTo>
                  <a:pt x="961" y="498"/>
                </a:lnTo>
                <a:lnTo>
                  <a:pt x="959" y="498"/>
                </a:lnTo>
                <a:lnTo>
                  <a:pt x="958" y="498"/>
                </a:lnTo>
                <a:lnTo>
                  <a:pt x="958" y="498"/>
                </a:lnTo>
                <a:close/>
                <a:moveTo>
                  <a:pt x="50" y="68"/>
                </a:moveTo>
                <a:lnTo>
                  <a:pt x="0" y="0"/>
                </a:lnTo>
                <a:lnTo>
                  <a:pt x="85" y="1"/>
                </a:lnTo>
                <a:lnTo>
                  <a:pt x="50" y="68"/>
                </a:lnTo>
                <a:close/>
              </a:path>
            </a:pathLst>
          </a:custGeom>
          <a:solidFill>
            <a:srgbClr val="000000"/>
          </a:solidFill>
          <a:ln w="3175">
            <a:solidFill>
              <a:srgbClr val="000000"/>
            </a:solidFill>
            <a:prstDash val="solid"/>
            <a:round/>
            <a:headEnd/>
            <a:tailEnd/>
          </a:ln>
        </p:spPr>
        <p:txBody>
          <a:bodyPr/>
          <a:lstStyle/>
          <a:p>
            <a:endParaRPr lang="en-IN"/>
          </a:p>
        </p:txBody>
      </p:sp>
      <p:sp>
        <p:nvSpPr>
          <p:cNvPr id="111637" name="Freeform 21">
            <a:extLst>
              <a:ext uri="{FF2B5EF4-FFF2-40B4-BE49-F238E27FC236}">
                <a16:creationId xmlns:a16="http://schemas.microsoft.com/office/drawing/2014/main" id="{76B7393A-FC74-0999-26DE-D81E57055571}"/>
              </a:ext>
            </a:extLst>
          </p:cNvPr>
          <p:cNvSpPr>
            <a:spLocks noEditPoints="1"/>
          </p:cNvSpPr>
          <p:nvPr/>
        </p:nvSpPr>
        <p:spPr bwMode="auto">
          <a:xfrm>
            <a:off x="3827464" y="4508500"/>
            <a:ext cx="1031875" cy="939800"/>
          </a:xfrm>
          <a:custGeom>
            <a:avLst/>
            <a:gdLst>
              <a:gd name="T0" fmla="*/ 649 w 650"/>
              <a:gd name="T1" fmla="*/ 7 h 592"/>
              <a:gd name="T2" fmla="*/ 50 w 650"/>
              <a:gd name="T3" fmla="*/ 554 h 592"/>
              <a:gd name="T4" fmla="*/ 48 w 650"/>
              <a:gd name="T5" fmla="*/ 554 h 592"/>
              <a:gd name="T6" fmla="*/ 47 w 650"/>
              <a:gd name="T7" fmla="*/ 554 h 592"/>
              <a:gd name="T8" fmla="*/ 45 w 650"/>
              <a:gd name="T9" fmla="*/ 554 h 592"/>
              <a:gd name="T10" fmla="*/ 44 w 650"/>
              <a:gd name="T11" fmla="*/ 553 h 592"/>
              <a:gd name="T12" fmla="*/ 42 w 650"/>
              <a:gd name="T13" fmla="*/ 551 h 592"/>
              <a:gd name="T14" fmla="*/ 42 w 650"/>
              <a:gd name="T15" fmla="*/ 549 h 592"/>
              <a:gd name="T16" fmla="*/ 42 w 650"/>
              <a:gd name="T17" fmla="*/ 548 h 592"/>
              <a:gd name="T18" fmla="*/ 44 w 650"/>
              <a:gd name="T19" fmla="*/ 546 h 592"/>
              <a:gd name="T20" fmla="*/ 643 w 650"/>
              <a:gd name="T21" fmla="*/ 1 h 592"/>
              <a:gd name="T22" fmla="*/ 644 w 650"/>
              <a:gd name="T23" fmla="*/ 0 h 592"/>
              <a:gd name="T24" fmla="*/ 646 w 650"/>
              <a:gd name="T25" fmla="*/ 0 h 592"/>
              <a:gd name="T26" fmla="*/ 647 w 650"/>
              <a:gd name="T27" fmla="*/ 0 h 592"/>
              <a:gd name="T28" fmla="*/ 649 w 650"/>
              <a:gd name="T29" fmla="*/ 1 h 592"/>
              <a:gd name="T30" fmla="*/ 650 w 650"/>
              <a:gd name="T31" fmla="*/ 3 h 592"/>
              <a:gd name="T32" fmla="*/ 650 w 650"/>
              <a:gd name="T33" fmla="*/ 4 h 592"/>
              <a:gd name="T34" fmla="*/ 650 w 650"/>
              <a:gd name="T35" fmla="*/ 6 h 592"/>
              <a:gd name="T36" fmla="*/ 649 w 650"/>
              <a:gd name="T37" fmla="*/ 7 h 592"/>
              <a:gd name="T38" fmla="*/ 649 w 650"/>
              <a:gd name="T39" fmla="*/ 7 h 592"/>
              <a:gd name="T40" fmla="*/ 82 w 650"/>
              <a:gd name="T41" fmla="*/ 569 h 592"/>
              <a:gd name="T42" fmla="*/ 0 w 650"/>
              <a:gd name="T43" fmla="*/ 592 h 592"/>
              <a:gd name="T44" fmla="*/ 30 w 650"/>
              <a:gd name="T45" fmla="*/ 513 h 592"/>
              <a:gd name="T46" fmla="*/ 82 w 650"/>
              <a:gd name="T47" fmla="*/ 569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50" h="592">
                <a:moveTo>
                  <a:pt x="649" y="7"/>
                </a:moveTo>
                <a:lnTo>
                  <a:pt x="50" y="554"/>
                </a:lnTo>
                <a:lnTo>
                  <a:pt x="48" y="554"/>
                </a:lnTo>
                <a:lnTo>
                  <a:pt x="47" y="554"/>
                </a:lnTo>
                <a:lnTo>
                  <a:pt x="45" y="554"/>
                </a:lnTo>
                <a:lnTo>
                  <a:pt x="44" y="553"/>
                </a:lnTo>
                <a:lnTo>
                  <a:pt x="42" y="551"/>
                </a:lnTo>
                <a:lnTo>
                  <a:pt x="42" y="549"/>
                </a:lnTo>
                <a:lnTo>
                  <a:pt x="42" y="548"/>
                </a:lnTo>
                <a:lnTo>
                  <a:pt x="44" y="546"/>
                </a:lnTo>
                <a:lnTo>
                  <a:pt x="643" y="1"/>
                </a:lnTo>
                <a:lnTo>
                  <a:pt x="644" y="0"/>
                </a:lnTo>
                <a:lnTo>
                  <a:pt x="646" y="0"/>
                </a:lnTo>
                <a:lnTo>
                  <a:pt x="647" y="0"/>
                </a:lnTo>
                <a:lnTo>
                  <a:pt x="649" y="1"/>
                </a:lnTo>
                <a:lnTo>
                  <a:pt x="650" y="3"/>
                </a:lnTo>
                <a:lnTo>
                  <a:pt x="650" y="4"/>
                </a:lnTo>
                <a:lnTo>
                  <a:pt x="650" y="6"/>
                </a:lnTo>
                <a:lnTo>
                  <a:pt x="649" y="7"/>
                </a:lnTo>
                <a:lnTo>
                  <a:pt x="649" y="7"/>
                </a:lnTo>
                <a:close/>
                <a:moveTo>
                  <a:pt x="82" y="569"/>
                </a:moveTo>
                <a:lnTo>
                  <a:pt x="0" y="592"/>
                </a:lnTo>
                <a:lnTo>
                  <a:pt x="30" y="513"/>
                </a:lnTo>
                <a:lnTo>
                  <a:pt x="82" y="569"/>
                </a:lnTo>
                <a:close/>
              </a:path>
            </a:pathLst>
          </a:custGeom>
          <a:solidFill>
            <a:srgbClr val="000000"/>
          </a:solidFill>
          <a:ln w="3175">
            <a:solidFill>
              <a:srgbClr val="000000"/>
            </a:solidFill>
            <a:prstDash val="solid"/>
            <a:round/>
            <a:headEnd/>
            <a:tailEnd/>
          </a:ln>
        </p:spPr>
        <p:txBody>
          <a:bodyPr/>
          <a:lstStyle/>
          <a:p>
            <a:endParaRPr lang="en-IN"/>
          </a:p>
        </p:txBody>
      </p:sp>
      <p:sp>
        <p:nvSpPr>
          <p:cNvPr id="111638" name="Freeform 22">
            <a:extLst>
              <a:ext uri="{FF2B5EF4-FFF2-40B4-BE49-F238E27FC236}">
                <a16:creationId xmlns:a16="http://schemas.microsoft.com/office/drawing/2014/main" id="{2F1889DE-8841-7910-938E-9394F78C4518}"/>
              </a:ext>
            </a:extLst>
          </p:cNvPr>
          <p:cNvSpPr>
            <a:spLocks noEditPoints="1"/>
          </p:cNvSpPr>
          <p:nvPr/>
        </p:nvSpPr>
        <p:spPr bwMode="auto">
          <a:xfrm>
            <a:off x="4919663" y="4545013"/>
            <a:ext cx="544512" cy="1725612"/>
          </a:xfrm>
          <a:custGeom>
            <a:avLst/>
            <a:gdLst>
              <a:gd name="T0" fmla="*/ 333 w 343"/>
              <a:gd name="T1" fmla="*/ 1084 h 1087"/>
              <a:gd name="T2" fmla="*/ 29 w 343"/>
              <a:gd name="T3" fmla="*/ 62 h 1087"/>
              <a:gd name="T4" fmla="*/ 28 w 343"/>
              <a:gd name="T5" fmla="*/ 60 h 1087"/>
              <a:gd name="T6" fmla="*/ 29 w 343"/>
              <a:gd name="T7" fmla="*/ 59 h 1087"/>
              <a:gd name="T8" fmla="*/ 31 w 343"/>
              <a:gd name="T9" fmla="*/ 57 h 1087"/>
              <a:gd name="T10" fmla="*/ 32 w 343"/>
              <a:gd name="T11" fmla="*/ 56 h 1087"/>
              <a:gd name="T12" fmla="*/ 34 w 343"/>
              <a:gd name="T13" fmla="*/ 56 h 1087"/>
              <a:gd name="T14" fmla="*/ 35 w 343"/>
              <a:gd name="T15" fmla="*/ 57 h 1087"/>
              <a:gd name="T16" fmla="*/ 37 w 343"/>
              <a:gd name="T17" fmla="*/ 57 h 1087"/>
              <a:gd name="T18" fmla="*/ 38 w 343"/>
              <a:gd name="T19" fmla="*/ 59 h 1087"/>
              <a:gd name="T20" fmla="*/ 343 w 343"/>
              <a:gd name="T21" fmla="*/ 1081 h 1087"/>
              <a:gd name="T22" fmla="*/ 343 w 343"/>
              <a:gd name="T23" fmla="*/ 1082 h 1087"/>
              <a:gd name="T24" fmla="*/ 343 w 343"/>
              <a:gd name="T25" fmla="*/ 1084 h 1087"/>
              <a:gd name="T26" fmla="*/ 341 w 343"/>
              <a:gd name="T27" fmla="*/ 1085 h 1087"/>
              <a:gd name="T28" fmla="*/ 339 w 343"/>
              <a:gd name="T29" fmla="*/ 1087 h 1087"/>
              <a:gd name="T30" fmla="*/ 338 w 343"/>
              <a:gd name="T31" fmla="*/ 1087 h 1087"/>
              <a:gd name="T32" fmla="*/ 336 w 343"/>
              <a:gd name="T33" fmla="*/ 1087 h 1087"/>
              <a:gd name="T34" fmla="*/ 335 w 343"/>
              <a:gd name="T35" fmla="*/ 1085 h 1087"/>
              <a:gd name="T36" fmla="*/ 333 w 343"/>
              <a:gd name="T37" fmla="*/ 1084 h 1087"/>
              <a:gd name="T38" fmla="*/ 333 w 343"/>
              <a:gd name="T39" fmla="*/ 1084 h 1087"/>
              <a:gd name="T40" fmla="*/ 0 w 343"/>
              <a:gd name="T41" fmla="*/ 83 h 1087"/>
              <a:gd name="T42" fmla="*/ 16 w 343"/>
              <a:gd name="T43" fmla="*/ 0 h 1087"/>
              <a:gd name="T44" fmla="*/ 73 w 343"/>
              <a:gd name="T45" fmla="*/ 62 h 1087"/>
              <a:gd name="T46" fmla="*/ 0 w 343"/>
              <a:gd name="T47" fmla="*/ 83 h 10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3" h="1087">
                <a:moveTo>
                  <a:pt x="333" y="1084"/>
                </a:moveTo>
                <a:lnTo>
                  <a:pt x="29" y="62"/>
                </a:lnTo>
                <a:lnTo>
                  <a:pt x="28" y="60"/>
                </a:lnTo>
                <a:lnTo>
                  <a:pt x="29" y="59"/>
                </a:lnTo>
                <a:lnTo>
                  <a:pt x="31" y="57"/>
                </a:lnTo>
                <a:lnTo>
                  <a:pt x="32" y="56"/>
                </a:lnTo>
                <a:lnTo>
                  <a:pt x="34" y="56"/>
                </a:lnTo>
                <a:lnTo>
                  <a:pt x="35" y="57"/>
                </a:lnTo>
                <a:lnTo>
                  <a:pt x="37" y="57"/>
                </a:lnTo>
                <a:lnTo>
                  <a:pt x="38" y="59"/>
                </a:lnTo>
                <a:lnTo>
                  <a:pt x="343" y="1081"/>
                </a:lnTo>
                <a:lnTo>
                  <a:pt x="343" y="1082"/>
                </a:lnTo>
                <a:lnTo>
                  <a:pt x="343" y="1084"/>
                </a:lnTo>
                <a:lnTo>
                  <a:pt x="341" y="1085"/>
                </a:lnTo>
                <a:lnTo>
                  <a:pt x="339" y="1087"/>
                </a:lnTo>
                <a:lnTo>
                  <a:pt x="338" y="1087"/>
                </a:lnTo>
                <a:lnTo>
                  <a:pt x="336" y="1087"/>
                </a:lnTo>
                <a:lnTo>
                  <a:pt x="335" y="1085"/>
                </a:lnTo>
                <a:lnTo>
                  <a:pt x="333" y="1084"/>
                </a:lnTo>
                <a:lnTo>
                  <a:pt x="333" y="1084"/>
                </a:lnTo>
                <a:close/>
                <a:moveTo>
                  <a:pt x="0" y="83"/>
                </a:moveTo>
                <a:lnTo>
                  <a:pt x="16" y="0"/>
                </a:lnTo>
                <a:lnTo>
                  <a:pt x="73" y="62"/>
                </a:lnTo>
                <a:lnTo>
                  <a:pt x="0" y="83"/>
                </a:lnTo>
                <a:close/>
              </a:path>
            </a:pathLst>
          </a:custGeom>
          <a:solidFill>
            <a:srgbClr val="000000"/>
          </a:solidFill>
          <a:ln w="3175">
            <a:solidFill>
              <a:srgbClr val="000000"/>
            </a:solidFill>
            <a:prstDash val="solid"/>
            <a:round/>
            <a:headEnd/>
            <a:tailEnd/>
          </a:ln>
        </p:spPr>
        <p:txBody>
          <a:bodyPr/>
          <a:lstStyle/>
          <a:p>
            <a:endParaRPr lang="en-IN"/>
          </a:p>
        </p:txBody>
      </p:sp>
      <p:sp>
        <p:nvSpPr>
          <p:cNvPr id="111639" name="Rectangle 23">
            <a:extLst>
              <a:ext uri="{FF2B5EF4-FFF2-40B4-BE49-F238E27FC236}">
                <a16:creationId xmlns:a16="http://schemas.microsoft.com/office/drawing/2014/main" id="{A37565A7-1FA6-4292-A836-C1C332667EAE}"/>
              </a:ext>
            </a:extLst>
          </p:cNvPr>
          <p:cNvSpPr>
            <a:spLocks noChangeArrowheads="1"/>
          </p:cNvSpPr>
          <p:nvPr/>
        </p:nvSpPr>
        <p:spPr bwMode="auto">
          <a:xfrm>
            <a:off x="8007350" y="4273551"/>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solidFill>
                  <a:srgbClr val="FF0000"/>
                </a:solidFill>
              </a:rPr>
              <a:t>0</a:t>
            </a:r>
            <a:endParaRPr lang="en-US" altLang="en-US">
              <a:solidFill>
                <a:srgbClr val="FF0000"/>
              </a:solidFill>
            </a:endParaRPr>
          </a:p>
        </p:txBody>
      </p:sp>
      <p:sp>
        <p:nvSpPr>
          <p:cNvPr id="111640" name="Rectangle 24">
            <a:extLst>
              <a:ext uri="{FF2B5EF4-FFF2-40B4-BE49-F238E27FC236}">
                <a16:creationId xmlns:a16="http://schemas.microsoft.com/office/drawing/2014/main" id="{015616E3-03A8-5F10-ADF7-5C0DF18F8C4E}"/>
              </a:ext>
            </a:extLst>
          </p:cNvPr>
          <p:cNvSpPr>
            <a:spLocks noChangeArrowheads="1"/>
          </p:cNvSpPr>
          <p:nvPr/>
        </p:nvSpPr>
        <p:spPr bwMode="auto">
          <a:xfrm>
            <a:off x="8369300" y="5348289"/>
            <a:ext cx="20839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14</a:t>
            </a:r>
            <a:endParaRPr lang="en-US" altLang="en-US"/>
          </a:p>
        </p:txBody>
      </p:sp>
      <p:sp>
        <p:nvSpPr>
          <p:cNvPr id="111641" name="Rectangle 25">
            <a:extLst>
              <a:ext uri="{FF2B5EF4-FFF2-40B4-BE49-F238E27FC236}">
                <a16:creationId xmlns:a16="http://schemas.microsoft.com/office/drawing/2014/main" id="{B611F2A0-A32A-BF70-44B9-45BA503AE61A}"/>
              </a:ext>
            </a:extLst>
          </p:cNvPr>
          <p:cNvSpPr>
            <a:spLocks noChangeArrowheads="1"/>
          </p:cNvSpPr>
          <p:nvPr/>
        </p:nvSpPr>
        <p:spPr bwMode="auto">
          <a:xfrm>
            <a:off x="7673975" y="4922839"/>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t>8</a:t>
            </a:r>
            <a:endParaRPr lang="en-US" altLang="en-US"/>
          </a:p>
        </p:txBody>
      </p:sp>
      <p:sp>
        <p:nvSpPr>
          <p:cNvPr id="111642" name="Rectangle 26">
            <a:extLst>
              <a:ext uri="{FF2B5EF4-FFF2-40B4-BE49-F238E27FC236}">
                <a16:creationId xmlns:a16="http://schemas.microsoft.com/office/drawing/2014/main" id="{4FA28365-01CF-0EFF-1F9B-5C30E4196F1D}"/>
              </a:ext>
            </a:extLst>
          </p:cNvPr>
          <p:cNvSpPr>
            <a:spLocks noChangeArrowheads="1"/>
          </p:cNvSpPr>
          <p:nvPr/>
        </p:nvSpPr>
        <p:spPr bwMode="auto">
          <a:xfrm>
            <a:off x="7208838" y="4862514"/>
            <a:ext cx="20839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t>12</a:t>
            </a:r>
            <a:endParaRPr lang="en-US" altLang="en-US"/>
          </a:p>
        </p:txBody>
      </p:sp>
      <p:sp>
        <p:nvSpPr>
          <p:cNvPr id="111644" name="Rectangle 28">
            <a:extLst>
              <a:ext uri="{FF2B5EF4-FFF2-40B4-BE49-F238E27FC236}">
                <a16:creationId xmlns:a16="http://schemas.microsoft.com/office/drawing/2014/main" id="{B2E33C7D-DF65-9A5A-679C-D5D49AAE77C5}"/>
              </a:ext>
            </a:extLst>
          </p:cNvPr>
          <p:cNvSpPr>
            <a:spLocks noChangeArrowheads="1"/>
          </p:cNvSpPr>
          <p:nvPr/>
        </p:nvSpPr>
        <p:spPr bwMode="auto">
          <a:xfrm>
            <a:off x="6045200" y="5195889"/>
            <a:ext cx="20839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10</a:t>
            </a:r>
            <a:endParaRPr lang="en-US" altLang="en-US"/>
          </a:p>
        </p:txBody>
      </p:sp>
      <p:sp>
        <p:nvSpPr>
          <p:cNvPr id="111645" name="Rectangle 29">
            <a:extLst>
              <a:ext uri="{FF2B5EF4-FFF2-40B4-BE49-F238E27FC236}">
                <a16:creationId xmlns:a16="http://schemas.microsoft.com/office/drawing/2014/main" id="{CD90C3B3-A2E9-DA35-E574-13465908F504}"/>
              </a:ext>
            </a:extLst>
          </p:cNvPr>
          <p:cNvSpPr>
            <a:spLocks noChangeArrowheads="1"/>
          </p:cNvSpPr>
          <p:nvPr/>
        </p:nvSpPr>
        <p:spPr bwMode="auto">
          <a:xfrm>
            <a:off x="6605588" y="6113464"/>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t>4</a:t>
            </a:r>
            <a:endParaRPr lang="en-US" altLang="en-US"/>
          </a:p>
        </p:txBody>
      </p:sp>
      <p:sp>
        <p:nvSpPr>
          <p:cNvPr id="111646" name="Rectangle 30">
            <a:extLst>
              <a:ext uri="{FF2B5EF4-FFF2-40B4-BE49-F238E27FC236}">
                <a16:creationId xmlns:a16="http://schemas.microsoft.com/office/drawing/2014/main" id="{0D03BD47-3867-25FD-2552-D902E0E919FF}"/>
              </a:ext>
            </a:extLst>
          </p:cNvPr>
          <p:cNvSpPr>
            <a:spLocks noChangeArrowheads="1"/>
          </p:cNvSpPr>
          <p:nvPr/>
        </p:nvSpPr>
        <p:spPr bwMode="auto">
          <a:xfrm>
            <a:off x="5292725" y="5408614"/>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7</a:t>
            </a:r>
            <a:endParaRPr lang="en-US" altLang="en-US"/>
          </a:p>
        </p:txBody>
      </p:sp>
      <p:sp>
        <p:nvSpPr>
          <p:cNvPr id="111647" name="Rectangle 31">
            <a:extLst>
              <a:ext uri="{FF2B5EF4-FFF2-40B4-BE49-F238E27FC236}">
                <a16:creationId xmlns:a16="http://schemas.microsoft.com/office/drawing/2014/main" id="{F0DF8E89-21D9-CD0D-C39D-1377B11358B8}"/>
              </a:ext>
            </a:extLst>
          </p:cNvPr>
          <p:cNvSpPr>
            <a:spLocks noChangeArrowheads="1"/>
          </p:cNvSpPr>
          <p:nvPr/>
        </p:nvSpPr>
        <p:spPr bwMode="auto">
          <a:xfrm>
            <a:off x="4160838" y="4713289"/>
            <a:ext cx="20839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FF0000"/>
                </a:solidFill>
              </a:rPr>
              <a:t>15</a:t>
            </a:r>
            <a:endParaRPr lang="en-US" altLang="en-US">
              <a:solidFill>
                <a:srgbClr val="FF0000"/>
              </a:solidFill>
            </a:endParaRPr>
          </a:p>
        </p:txBody>
      </p:sp>
      <p:sp>
        <p:nvSpPr>
          <p:cNvPr id="111648" name="Rectangle 32">
            <a:extLst>
              <a:ext uri="{FF2B5EF4-FFF2-40B4-BE49-F238E27FC236}">
                <a16:creationId xmlns:a16="http://schemas.microsoft.com/office/drawing/2014/main" id="{8368DFD5-37C9-97F8-50F5-2B13929120A2}"/>
              </a:ext>
            </a:extLst>
          </p:cNvPr>
          <p:cNvSpPr>
            <a:spLocks noChangeArrowheads="1"/>
          </p:cNvSpPr>
          <p:nvPr/>
        </p:nvSpPr>
        <p:spPr bwMode="auto">
          <a:xfrm>
            <a:off x="4448175" y="6035676"/>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t>0</a:t>
            </a:r>
            <a:endParaRPr lang="en-US" altLang="en-US"/>
          </a:p>
        </p:txBody>
      </p:sp>
      <p:sp>
        <p:nvSpPr>
          <p:cNvPr id="111649" name="Freeform 33">
            <a:extLst>
              <a:ext uri="{FF2B5EF4-FFF2-40B4-BE49-F238E27FC236}">
                <a16:creationId xmlns:a16="http://schemas.microsoft.com/office/drawing/2014/main" id="{D23AADF7-18F3-B2FF-BB5D-7A22D5E92E79}"/>
              </a:ext>
            </a:extLst>
          </p:cNvPr>
          <p:cNvSpPr>
            <a:spLocks noEditPoints="1"/>
          </p:cNvSpPr>
          <p:nvPr/>
        </p:nvSpPr>
        <p:spPr bwMode="auto">
          <a:xfrm>
            <a:off x="3954464" y="4635500"/>
            <a:ext cx="898525" cy="865188"/>
          </a:xfrm>
          <a:custGeom>
            <a:avLst/>
            <a:gdLst>
              <a:gd name="T0" fmla="*/ 2 w 566"/>
              <a:gd name="T1" fmla="*/ 538 h 545"/>
              <a:gd name="T2" fmla="*/ 517 w 566"/>
              <a:gd name="T3" fmla="*/ 41 h 545"/>
              <a:gd name="T4" fmla="*/ 519 w 566"/>
              <a:gd name="T5" fmla="*/ 40 h 545"/>
              <a:gd name="T6" fmla="*/ 520 w 566"/>
              <a:gd name="T7" fmla="*/ 40 h 545"/>
              <a:gd name="T8" fmla="*/ 522 w 566"/>
              <a:gd name="T9" fmla="*/ 40 h 545"/>
              <a:gd name="T10" fmla="*/ 523 w 566"/>
              <a:gd name="T11" fmla="*/ 41 h 545"/>
              <a:gd name="T12" fmla="*/ 525 w 566"/>
              <a:gd name="T13" fmla="*/ 43 h 545"/>
              <a:gd name="T14" fmla="*/ 525 w 566"/>
              <a:gd name="T15" fmla="*/ 44 h 545"/>
              <a:gd name="T16" fmla="*/ 525 w 566"/>
              <a:gd name="T17" fmla="*/ 46 h 545"/>
              <a:gd name="T18" fmla="*/ 523 w 566"/>
              <a:gd name="T19" fmla="*/ 47 h 545"/>
              <a:gd name="T20" fmla="*/ 10 w 566"/>
              <a:gd name="T21" fmla="*/ 544 h 545"/>
              <a:gd name="T22" fmla="*/ 6 w 566"/>
              <a:gd name="T23" fmla="*/ 545 h 545"/>
              <a:gd name="T24" fmla="*/ 5 w 566"/>
              <a:gd name="T25" fmla="*/ 545 h 545"/>
              <a:gd name="T26" fmla="*/ 3 w 566"/>
              <a:gd name="T27" fmla="*/ 545 h 545"/>
              <a:gd name="T28" fmla="*/ 2 w 566"/>
              <a:gd name="T29" fmla="*/ 544 h 545"/>
              <a:gd name="T30" fmla="*/ 0 w 566"/>
              <a:gd name="T31" fmla="*/ 542 h 545"/>
              <a:gd name="T32" fmla="*/ 0 w 566"/>
              <a:gd name="T33" fmla="*/ 541 h 545"/>
              <a:gd name="T34" fmla="*/ 0 w 566"/>
              <a:gd name="T35" fmla="*/ 539 h 545"/>
              <a:gd name="T36" fmla="*/ 2 w 566"/>
              <a:gd name="T37" fmla="*/ 538 h 545"/>
              <a:gd name="T38" fmla="*/ 2 w 566"/>
              <a:gd name="T39" fmla="*/ 538 h 545"/>
              <a:gd name="T40" fmla="*/ 485 w 566"/>
              <a:gd name="T41" fmla="*/ 26 h 545"/>
              <a:gd name="T42" fmla="*/ 566 w 566"/>
              <a:gd name="T43" fmla="*/ 0 h 545"/>
              <a:gd name="T44" fmla="*/ 539 w 566"/>
              <a:gd name="T45" fmla="*/ 81 h 545"/>
              <a:gd name="T46" fmla="*/ 485 w 566"/>
              <a:gd name="T47" fmla="*/ 26 h 5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66" h="545">
                <a:moveTo>
                  <a:pt x="2" y="538"/>
                </a:moveTo>
                <a:lnTo>
                  <a:pt x="517" y="41"/>
                </a:lnTo>
                <a:lnTo>
                  <a:pt x="519" y="40"/>
                </a:lnTo>
                <a:lnTo>
                  <a:pt x="520" y="40"/>
                </a:lnTo>
                <a:lnTo>
                  <a:pt x="522" y="40"/>
                </a:lnTo>
                <a:lnTo>
                  <a:pt x="523" y="41"/>
                </a:lnTo>
                <a:lnTo>
                  <a:pt x="525" y="43"/>
                </a:lnTo>
                <a:lnTo>
                  <a:pt x="525" y="44"/>
                </a:lnTo>
                <a:lnTo>
                  <a:pt x="525" y="46"/>
                </a:lnTo>
                <a:lnTo>
                  <a:pt x="523" y="47"/>
                </a:lnTo>
                <a:lnTo>
                  <a:pt x="10" y="544"/>
                </a:lnTo>
                <a:lnTo>
                  <a:pt x="6" y="545"/>
                </a:lnTo>
                <a:lnTo>
                  <a:pt x="5" y="545"/>
                </a:lnTo>
                <a:lnTo>
                  <a:pt x="3" y="545"/>
                </a:lnTo>
                <a:lnTo>
                  <a:pt x="2" y="544"/>
                </a:lnTo>
                <a:lnTo>
                  <a:pt x="0" y="542"/>
                </a:lnTo>
                <a:lnTo>
                  <a:pt x="0" y="541"/>
                </a:lnTo>
                <a:lnTo>
                  <a:pt x="0" y="539"/>
                </a:lnTo>
                <a:lnTo>
                  <a:pt x="2" y="538"/>
                </a:lnTo>
                <a:lnTo>
                  <a:pt x="2" y="538"/>
                </a:lnTo>
                <a:close/>
                <a:moveTo>
                  <a:pt x="485" y="26"/>
                </a:moveTo>
                <a:lnTo>
                  <a:pt x="566" y="0"/>
                </a:lnTo>
                <a:lnTo>
                  <a:pt x="539" y="81"/>
                </a:lnTo>
                <a:lnTo>
                  <a:pt x="485" y="26"/>
                </a:lnTo>
                <a:close/>
              </a:path>
            </a:pathLst>
          </a:custGeom>
          <a:solidFill>
            <a:srgbClr val="000000"/>
          </a:solidFill>
          <a:ln w="3175">
            <a:solidFill>
              <a:srgbClr val="000000"/>
            </a:solidFill>
            <a:prstDash val="solid"/>
            <a:round/>
            <a:headEnd/>
            <a:tailEnd/>
          </a:ln>
        </p:spPr>
        <p:txBody>
          <a:bodyPr/>
          <a:lstStyle/>
          <a:p>
            <a:endParaRPr lang="en-IN"/>
          </a:p>
        </p:txBody>
      </p:sp>
      <p:sp>
        <p:nvSpPr>
          <p:cNvPr id="111650" name="Freeform 34">
            <a:extLst>
              <a:ext uri="{FF2B5EF4-FFF2-40B4-BE49-F238E27FC236}">
                <a16:creationId xmlns:a16="http://schemas.microsoft.com/office/drawing/2014/main" id="{71B882C7-7500-09F2-F20A-D321CA6F39FB}"/>
              </a:ext>
            </a:extLst>
          </p:cNvPr>
          <p:cNvSpPr>
            <a:spLocks noEditPoints="1"/>
          </p:cNvSpPr>
          <p:nvPr/>
        </p:nvSpPr>
        <p:spPr bwMode="auto">
          <a:xfrm>
            <a:off x="4014788" y="5514976"/>
            <a:ext cx="1306512" cy="701675"/>
          </a:xfrm>
          <a:custGeom>
            <a:avLst/>
            <a:gdLst>
              <a:gd name="T0" fmla="*/ 8 w 823"/>
              <a:gd name="T1" fmla="*/ 2 h 442"/>
              <a:gd name="T2" fmla="*/ 770 w 823"/>
              <a:gd name="T3" fmla="*/ 409 h 442"/>
              <a:gd name="T4" fmla="*/ 771 w 823"/>
              <a:gd name="T5" fmla="*/ 409 h 442"/>
              <a:gd name="T6" fmla="*/ 771 w 823"/>
              <a:gd name="T7" fmla="*/ 412 h 442"/>
              <a:gd name="T8" fmla="*/ 771 w 823"/>
              <a:gd name="T9" fmla="*/ 413 h 442"/>
              <a:gd name="T10" fmla="*/ 771 w 823"/>
              <a:gd name="T11" fmla="*/ 415 h 442"/>
              <a:gd name="T12" fmla="*/ 770 w 823"/>
              <a:gd name="T13" fmla="*/ 416 h 442"/>
              <a:gd name="T14" fmla="*/ 768 w 823"/>
              <a:gd name="T15" fmla="*/ 416 h 442"/>
              <a:gd name="T16" fmla="*/ 767 w 823"/>
              <a:gd name="T17" fmla="*/ 418 h 442"/>
              <a:gd name="T18" fmla="*/ 765 w 823"/>
              <a:gd name="T19" fmla="*/ 416 h 442"/>
              <a:gd name="T20" fmla="*/ 3 w 823"/>
              <a:gd name="T21" fmla="*/ 10 h 442"/>
              <a:gd name="T22" fmla="*/ 2 w 823"/>
              <a:gd name="T23" fmla="*/ 10 h 442"/>
              <a:gd name="T24" fmla="*/ 0 w 823"/>
              <a:gd name="T25" fmla="*/ 8 h 442"/>
              <a:gd name="T26" fmla="*/ 0 w 823"/>
              <a:gd name="T27" fmla="*/ 5 h 442"/>
              <a:gd name="T28" fmla="*/ 2 w 823"/>
              <a:gd name="T29" fmla="*/ 4 h 442"/>
              <a:gd name="T30" fmla="*/ 2 w 823"/>
              <a:gd name="T31" fmla="*/ 2 h 442"/>
              <a:gd name="T32" fmla="*/ 3 w 823"/>
              <a:gd name="T33" fmla="*/ 2 h 442"/>
              <a:gd name="T34" fmla="*/ 6 w 823"/>
              <a:gd name="T35" fmla="*/ 0 h 442"/>
              <a:gd name="T36" fmla="*/ 8 w 823"/>
              <a:gd name="T37" fmla="*/ 2 h 442"/>
              <a:gd name="T38" fmla="*/ 8 w 823"/>
              <a:gd name="T39" fmla="*/ 2 h 442"/>
              <a:gd name="T40" fmla="*/ 774 w 823"/>
              <a:gd name="T41" fmla="*/ 372 h 442"/>
              <a:gd name="T42" fmla="*/ 823 w 823"/>
              <a:gd name="T43" fmla="*/ 442 h 442"/>
              <a:gd name="T44" fmla="*/ 738 w 823"/>
              <a:gd name="T45" fmla="*/ 441 h 442"/>
              <a:gd name="T46" fmla="*/ 774 w 823"/>
              <a:gd name="T47" fmla="*/ 372 h 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23" h="442">
                <a:moveTo>
                  <a:pt x="8" y="2"/>
                </a:moveTo>
                <a:lnTo>
                  <a:pt x="770" y="409"/>
                </a:lnTo>
                <a:lnTo>
                  <a:pt x="771" y="409"/>
                </a:lnTo>
                <a:lnTo>
                  <a:pt x="771" y="412"/>
                </a:lnTo>
                <a:lnTo>
                  <a:pt x="771" y="413"/>
                </a:lnTo>
                <a:lnTo>
                  <a:pt x="771" y="415"/>
                </a:lnTo>
                <a:lnTo>
                  <a:pt x="770" y="416"/>
                </a:lnTo>
                <a:lnTo>
                  <a:pt x="768" y="416"/>
                </a:lnTo>
                <a:lnTo>
                  <a:pt x="767" y="418"/>
                </a:lnTo>
                <a:lnTo>
                  <a:pt x="765" y="416"/>
                </a:lnTo>
                <a:lnTo>
                  <a:pt x="3" y="10"/>
                </a:lnTo>
                <a:lnTo>
                  <a:pt x="2" y="10"/>
                </a:lnTo>
                <a:lnTo>
                  <a:pt x="0" y="8"/>
                </a:lnTo>
                <a:lnTo>
                  <a:pt x="0" y="5"/>
                </a:lnTo>
                <a:lnTo>
                  <a:pt x="2" y="4"/>
                </a:lnTo>
                <a:lnTo>
                  <a:pt x="2" y="2"/>
                </a:lnTo>
                <a:lnTo>
                  <a:pt x="3" y="2"/>
                </a:lnTo>
                <a:lnTo>
                  <a:pt x="6" y="0"/>
                </a:lnTo>
                <a:lnTo>
                  <a:pt x="8" y="2"/>
                </a:lnTo>
                <a:lnTo>
                  <a:pt x="8" y="2"/>
                </a:lnTo>
                <a:close/>
                <a:moveTo>
                  <a:pt x="774" y="372"/>
                </a:moveTo>
                <a:lnTo>
                  <a:pt x="823" y="442"/>
                </a:lnTo>
                <a:lnTo>
                  <a:pt x="738" y="441"/>
                </a:lnTo>
                <a:lnTo>
                  <a:pt x="774" y="372"/>
                </a:lnTo>
                <a:close/>
              </a:path>
            </a:pathLst>
          </a:custGeom>
          <a:solidFill>
            <a:srgbClr val="000000"/>
          </a:solidFill>
          <a:ln w="3175">
            <a:solidFill>
              <a:srgbClr val="000000"/>
            </a:solidFill>
            <a:prstDash val="solid"/>
            <a:round/>
            <a:headEnd/>
            <a:tailEnd/>
          </a:ln>
        </p:spPr>
        <p:txBody>
          <a:bodyPr/>
          <a:lstStyle/>
          <a:p>
            <a:endParaRPr lang="en-IN"/>
          </a:p>
        </p:txBody>
      </p:sp>
      <p:sp>
        <p:nvSpPr>
          <p:cNvPr id="111651" name="Freeform 35">
            <a:extLst>
              <a:ext uri="{FF2B5EF4-FFF2-40B4-BE49-F238E27FC236}">
                <a16:creationId xmlns:a16="http://schemas.microsoft.com/office/drawing/2014/main" id="{E955DB8A-E0A7-5D59-859F-88DB1D6A1CAE}"/>
              </a:ext>
            </a:extLst>
          </p:cNvPr>
          <p:cNvSpPr>
            <a:spLocks noEditPoints="1"/>
          </p:cNvSpPr>
          <p:nvPr/>
        </p:nvSpPr>
        <p:spPr bwMode="auto">
          <a:xfrm>
            <a:off x="4891088" y="4749800"/>
            <a:ext cx="436562" cy="1346200"/>
          </a:xfrm>
          <a:custGeom>
            <a:avLst/>
            <a:gdLst>
              <a:gd name="T0" fmla="*/ 9 w 275"/>
              <a:gd name="T1" fmla="*/ 3 h 848"/>
              <a:gd name="T2" fmla="*/ 248 w 275"/>
              <a:gd name="T3" fmla="*/ 786 h 848"/>
              <a:gd name="T4" fmla="*/ 248 w 275"/>
              <a:gd name="T5" fmla="*/ 788 h 848"/>
              <a:gd name="T6" fmla="*/ 246 w 275"/>
              <a:gd name="T7" fmla="*/ 791 h 848"/>
              <a:gd name="T8" fmla="*/ 245 w 275"/>
              <a:gd name="T9" fmla="*/ 792 h 848"/>
              <a:gd name="T10" fmla="*/ 243 w 275"/>
              <a:gd name="T11" fmla="*/ 792 h 848"/>
              <a:gd name="T12" fmla="*/ 242 w 275"/>
              <a:gd name="T13" fmla="*/ 792 h 848"/>
              <a:gd name="T14" fmla="*/ 240 w 275"/>
              <a:gd name="T15" fmla="*/ 792 h 848"/>
              <a:gd name="T16" fmla="*/ 239 w 275"/>
              <a:gd name="T17" fmla="*/ 791 h 848"/>
              <a:gd name="T18" fmla="*/ 239 w 275"/>
              <a:gd name="T19" fmla="*/ 789 h 848"/>
              <a:gd name="T20" fmla="*/ 0 w 275"/>
              <a:gd name="T21" fmla="*/ 6 h 848"/>
              <a:gd name="T22" fmla="*/ 0 w 275"/>
              <a:gd name="T23" fmla="*/ 4 h 848"/>
              <a:gd name="T24" fmla="*/ 0 w 275"/>
              <a:gd name="T25" fmla="*/ 1 h 848"/>
              <a:gd name="T26" fmla="*/ 2 w 275"/>
              <a:gd name="T27" fmla="*/ 0 h 848"/>
              <a:gd name="T28" fmla="*/ 3 w 275"/>
              <a:gd name="T29" fmla="*/ 0 h 848"/>
              <a:gd name="T30" fmla="*/ 5 w 275"/>
              <a:gd name="T31" fmla="*/ 0 h 848"/>
              <a:gd name="T32" fmla="*/ 6 w 275"/>
              <a:gd name="T33" fmla="*/ 0 h 848"/>
              <a:gd name="T34" fmla="*/ 8 w 275"/>
              <a:gd name="T35" fmla="*/ 1 h 848"/>
              <a:gd name="T36" fmla="*/ 9 w 275"/>
              <a:gd name="T37" fmla="*/ 3 h 848"/>
              <a:gd name="T38" fmla="*/ 9 w 275"/>
              <a:gd name="T39" fmla="*/ 3 h 848"/>
              <a:gd name="T40" fmla="*/ 275 w 275"/>
              <a:gd name="T41" fmla="*/ 765 h 848"/>
              <a:gd name="T42" fmla="*/ 262 w 275"/>
              <a:gd name="T43" fmla="*/ 848 h 848"/>
              <a:gd name="T44" fmla="*/ 202 w 275"/>
              <a:gd name="T45" fmla="*/ 788 h 848"/>
              <a:gd name="T46" fmla="*/ 275 w 275"/>
              <a:gd name="T47" fmla="*/ 765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75" h="848">
                <a:moveTo>
                  <a:pt x="9" y="3"/>
                </a:moveTo>
                <a:lnTo>
                  <a:pt x="248" y="786"/>
                </a:lnTo>
                <a:lnTo>
                  <a:pt x="248" y="788"/>
                </a:lnTo>
                <a:lnTo>
                  <a:pt x="246" y="791"/>
                </a:lnTo>
                <a:lnTo>
                  <a:pt x="245" y="792"/>
                </a:lnTo>
                <a:lnTo>
                  <a:pt x="243" y="792"/>
                </a:lnTo>
                <a:lnTo>
                  <a:pt x="242" y="792"/>
                </a:lnTo>
                <a:lnTo>
                  <a:pt x="240" y="792"/>
                </a:lnTo>
                <a:lnTo>
                  <a:pt x="239" y="791"/>
                </a:lnTo>
                <a:lnTo>
                  <a:pt x="239" y="789"/>
                </a:lnTo>
                <a:lnTo>
                  <a:pt x="0" y="6"/>
                </a:lnTo>
                <a:lnTo>
                  <a:pt x="0" y="4"/>
                </a:lnTo>
                <a:lnTo>
                  <a:pt x="0" y="1"/>
                </a:lnTo>
                <a:lnTo>
                  <a:pt x="2" y="0"/>
                </a:lnTo>
                <a:lnTo>
                  <a:pt x="3" y="0"/>
                </a:lnTo>
                <a:lnTo>
                  <a:pt x="5" y="0"/>
                </a:lnTo>
                <a:lnTo>
                  <a:pt x="6" y="0"/>
                </a:lnTo>
                <a:lnTo>
                  <a:pt x="8" y="1"/>
                </a:lnTo>
                <a:lnTo>
                  <a:pt x="9" y="3"/>
                </a:lnTo>
                <a:lnTo>
                  <a:pt x="9" y="3"/>
                </a:lnTo>
                <a:close/>
                <a:moveTo>
                  <a:pt x="275" y="765"/>
                </a:moveTo>
                <a:lnTo>
                  <a:pt x="262" y="848"/>
                </a:lnTo>
                <a:lnTo>
                  <a:pt x="202" y="788"/>
                </a:lnTo>
                <a:lnTo>
                  <a:pt x="275" y="765"/>
                </a:lnTo>
                <a:close/>
              </a:path>
            </a:pathLst>
          </a:custGeom>
          <a:solidFill>
            <a:srgbClr val="000000"/>
          </a:solidFill>
          <a:ln w="3175">
            <a:solidFill>
              <a:srgbClr val="000000"/>
            </a:solidFill>
            <a:prstDash val="solid"/>
            <a:round/>
            <a:headEnd/>
            <a:tailEnd/>
          </a:ln>
        </p:spPr>
        <p:txBody>
          <a:bodyPr/>
          <a:lstStyle/>
          <a:p>
            <a:endParaRPr lang="en-IN"/>
          </a:p>
        </p:txBody>
      </p:sp>
      <p:sp>
        <p:nvSpPr>
          <p:cNvPr id="111652" name="Freeform 36">
            <a:extLst>
              <a:ext uri="{FF2B5EF4-FFF2-40B4-BE49-F238E27FC236}">
                <a16:creationId xmlns:a16="http://schemas.microsoft.com/office/drawing/2014/main" id="{C771C5EA-9B27-840F-5105-1681A890FFDA}"/>
              </a:ext>
            </a:extLst>
          </p:cNvPr>
          <p:cNvSpPr>
            <a:spLocks noEditPoints="1"/>
          </p:cNvSpPr>
          <p:nvPr/>
        </p:nvSpPr>
        <p:spPr bwMode="auto">
          <a:xfrm>
            <a:off x="5675314" y="5791201"/>
            <a:ext cx="1697037" cy="390525"/>
          </a:xfrm>
          <a:custGeom>
            <a:avLst/>
            <a:gdLst>
              <a:gd name="T0" fmla="*/ 3 w 1069"/>
              <a:gd name="T1" fmla="*/ 235 h 246"/>
              <a:gd name="T2" fmla="*/ 1007 w 1069"/>
              <a:gd name="T3" fmla="*/ 30 h 246"/>
              <a:gd name="T4" fmla="*/ 1008 w 1069"/>
              <a:gd name="T5" fmla="*/ 30 h 246"/>
              <a:gd name="T6" fmla="*/ 1010 w 1069"/>
              <a:gd name="T7" fmla="*/ 30 h 246"/>
              <a:gd name="T8" fmla="*/ 1011 w 1069"/>
              <a:gd name="T9" fmla="*/ 31 h 246"/>
              <a:gd name="T10" fmla="*/ 1011 w 1069"/>
              <a:gd name="T11" fmla="*/ 33 h 246"/>
              <a:gd name="T12" fmla="*/ 1011 w 1069"/>
              <a:gd name="T13" fmla="*/ 36 h 246"/>
              <a:gd name="T14" fmla="*/ 1011 w 1069"/>
              <a:gd name="T15" fmla="*/ 38 h 246"/>
              <a:gd name="T16" fmla="*/ 1010 w 1069"/>
              <a:gd name="T17" fmla="*/ 39 h 246"/>
              <a:gd name="T18" fmla="*/ 1008 w 1069"/>
              <a:gd name="T19" fmla="*/ 39 h 246"/>
              <a:gd name="T20" fmla="*/ 6 w 1069"/>
              <a:gd name="T21" fmla="*/ 246 h 246"/>
              <a:gd name="T22" fmla="*/ 3 w 1069"/>
              <a:gd name="T23" fmla="*/ 244 h 246"/>
              <a:gd name="T24" fmla="*/ 2 w 1069"/>
              <a:gd name="T25" fmla="*/ 244 h 246"/>
              <a:gd name="T26" fmla="*/ 0 w 1069"/>
              <a:gd name="T27" fmla="*/ 242 h 246"/>
              <a:gd name="T28" fmla="*/ 0 w 1069"/>
              <a:gd name="T29" fmla="*/ 241 h 246"/>
              <a:gd name="T30" fmla="*/ 0 w 1069"/>
              <a:gd name="T31" fmla="*/ 239 h 246"/>
              <a:gd name="T32" fmla="*/ 0 w 1069"/>
              <a:gd name="T33" fmla="*/ 238 h 246"/>
              <a:gd name="T34" fmla="*/ 2 w 1069"/>
              <a:gd name="T35" fmla="*/ 236 h 246"/>
              <a:gd name="T36" fmla="*/ 3 w 1069"/>
              <a:gd name="T37" fmla="*/ 235 h 246"/>
              <a:gd name="T38" fmla="*/ 3 w 1069"/>
              <a:gd name="T39" fmla="*/ 235 h 246"/>
              <a:gd name="T40" fmla="*/ 987 w 1069"/>
              <a:gd name="T41" fmla="*/ 0 h 246"/>
              <a:gd name="T42" fmla="*/ 1069 w 1069"/>
              <a:gd name="T43" fmla="*/ 22 h 246"/>
              <a:gd name="T44" fmla="*/ 1002 w 1069"/>
              <a:gd name="T45" fmla="*/ 74 h 246"/>
              <a:gd name="T46" fmla="*/ 987 w 1069"/>
              <a:gd name="T47" fmla="*/ 0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69" h="246">
                <a:moveTo>
                  <a:pt x="3" y="235"/>
                </a:moveTo>
                <a:lnTo>
                  <a:pt x="1007" y="30"/>
                </a:lnTo>
                <a:lnTo>
                  <a:pt x="1008" y="30"/>
                </a:lnTo>
                <a:lnTo>
                  <a:pt x="1010" y="30"/>
                </a:lnTo>
                <a:lnTo>
                  <a:pt x="1011" y="31"/>
                </a:lnTo>
                <a:lnTo>
                  <a:pt x="1011" y="33"/>
                </a:lnTo>
                <a:lnTo>
                  <a:pt x="1011" y="36"/>
                </a:lnTo>
                <a:lnTo>
                  <a:pt x="1011" y="38"/>
                </a:lnTo>
                <a:lnTo>
                  <a:pt x="1010" y="39"/>
                </a:lnTo>
                <a:lnTo>
                  <a:pt x="1008" y="39"/>
                </a:lnTo>
                <a:lnTo>
                  <a:pt x="6" y="246"/>
                </a:lnTo>
                <a:lnTo>
                  <a:pt x="3" y="244"/>
                </a:lnTo>
                <a:lnTo>
                  <a:pt x="2" y="244"/>
                </a:lnTo>
                <a:lnTo>
                  <a:pt x="0" y="242"/>
                </a:lnTo>
                <a:lnTo>
                  <a:pt x="0" y="241"/>
                </a:lnTo>
                <a:lnTo>
                  <a:pt x="0" y="239"/>
                </a:lnTo>
                <a:lnTo>
                  <a:pt x="0" y="238"/>
                </a:lnTo>
                <a:lnTo>
                  <a:pt x="2" y="236"/>
                </a:lnTo>
                <a:lnTo>
                  <a:pt x="3" y="235"/>
                </a:lnTo>
                <a:lnTo>
                  <a:pt x="3" y="235"/>
                </a:lnTo>
                <a:close/>
                <a:moveTo>
                  <a:pt x="987" y="0"/>
                </a:moveTo>
                <a:lnTo>
                  <a:pt x="1069" y="22"/>
                </a:lnTo>
                <a:lnTo>
                  <a:pt x="1002" y="74"/>
                </a:lnTo>
                <a:lnTo>
                  <a:pt x="987" y="0"/>
                </a:lnTo>
                <a:close/>
              </a:path>
            </a:pathLst>
          </a:custGeom>
          <a:solidFill>
            <a:srgbClr val="000000"/>
          </a:solidFill>
          <a:ln w="3175">
            <a:solidFill>
              <a:srgbClr val="000000"/>
            </a:solidFill>
            <a:prstDash val="solid"/>
            <a:round/>
            <a:headEnd/>
            <a:tailEnd/>
          </a:ln>
        </p:spPr>
        <p:txBody>
          <a:bodyPr/>
          <a:lstStyle/>
          <a:p>
            <a:endParaRPr lang="en-IN"/>
          </a:p>
        </p:txBody>
      </p:sp>
      <p:sp>
        <p:nvSpPr>
          <p:cNvPr id="111653" name="Freeform 37">
            <a:extLst>
              <a:ext uri="{FF2B5EF4-FFF2-40B4-BE49-F238E27FC236}">
                <a16:creationId xmlns:a16="http://schemas.microsoft.com/office/drawing/2014/main" id="{541AF219-1CA1-4621-2B2D-1748CE585F27}"/>
              </a:ext>
            </a:extLst>
          </p:cNvPr>
          <p:cNvSpPr>
            <a:spLocks noEditPoints="1"/>
          </p:cNvSpPr>
          <p:nvPr/>
        </p:nvSpPr>
        <p:spPr bwMode="auto">
          <a:xfrm>
            <a:off x="5367338" y="4560888"/>
            <a:ext cx="2087562" cy="1060450"/>
          </a:xfrm>
          <a:custGeom>
            <a:avLst/>
            <a:gdLst>
              <a:gd name="T0" fmla="*/ 1309 w 1315"/>
              <a:gd name="T1" fmla="*/ 668 h 668"/>
              <a:gd name="T2" fmla="*/ 53 w 1315"/>
              <a:gd name="T3" fmla="*/ 32 h 668"/>
              <a:gd name="T4" fmla="*/ 51 w 1315"/>
              <a:gd name="T5" fmla="*/ 32 h 668"/>
              <a:gd name="T6" fmla="*/ 51 w 1315"/>
              <a:gd name="T7" fmla="*/ 29 h 668"/>
              <a:gd name="T8" fmla="*/ 51 w 1315"/>
              <a:gd name="T9" fmla="*/ 28 h 668"/>
              <a:gd name="T10" fmla="*/ 51 w 1315"/>
              <a:gd name="T11" fmla="*/ 26 h 668"/>
              <a:gd name="T12" fmla="*/ 53 w 1315"/>
              <a:gd name="T13" fmla="*/ 25 h 668"/>
              <a:gd name="T14" fmla="*/ 54 w 1315"/>
              <a:gd name="T15" fmla="*/ 25 h 668"/>
              <a:gd name="T16" fmla="*/ 56 w 1315"/>
              <a:gd name="T17" fmla="*/ 23 h 668"/>
              <a:gd name="T18" fmla="*/ 57 w 1315"/>
              <a:gd name="T19" fmla="*/ 25 h 668"/>
              <a:gd name="T20" fmla="*/ 1313 w 1315"/>
              <a:gd name="T21" fmla="*/ 659 h 668"/>
              <a:gd name="T22" fmla="*/ 1313 w 1315"/>
              <a:gd name="T23" fmla="*/ 661 h 668"/>
              <a:gd name="T24" fmla="*/ 1315 w 1315"/>
              <a:gd name="T25" fmla="*/ 662 h 668"/>
              <a:gd name="T26" fmla="*/ 1315 w 1315"/>
              <a:gd name="T27" fmla="*/ 664 h 668"/>
              <a:gd name="T28" fmla="*/ 1315 w 1315"/>
              <a:gd name="T29" fmla="*/ 667 h 668"/>
              <a:gd name="T30" fmla="*/ 1313 w 1315"/>
              <a:gd name="T31" fmla="*/ 667 h 668"/>
              <a:gd name="T32" fmla="*/ 1312 w 1315"/>
              <a:gd name="T33" fmla="*/ 668 h 668"/>
              <a:gd name="T34" fmla="*/ 1310 w 1315"/>
              <a:gd name="T35" fmla="*/ 668 h 668"/>
              <a:gd name="T36" fmla="*/ 1309 w 1315"/>
              <a:gd name="T37" fmla="*/ 668 h 668"/>
              <a:gd name="T38" fmla="*/ 1309 w 1315"/>
              <a:gd name="T39" fmla="*/ 668 h 668"/>
              <a:gd name="T40" fmla="*/ 50 w 1315"/>
              <a:gd name="T41" fmla="*/ 69 h 668"/>
              <a:gd name="T42" fmla="*/ 0 w 1315"/>
              <a:gd name="T43" fmla="*/ 0 h 668"/>
              <a:gd name="T44" fmla="*/ 85 w 1315"/>
              <a:gd name="T45" fmla="*/ 0 h 668"/>
              <a:gd name="T46" fmla="*/ 50 w 1315"/>
              <a:gd name="T47" fmla="*/ 69 h 6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15" h="668">
                <a:moveTo>
                  <a:pt x="1309" y="668"/>
                </a:moveTo>
                <a:lnTo>
                  <a:pt x="53" y="32"/>
                </a:lnTo>
                <a:lnTo>
                  <a:pt x="51" y="32"/>
                </a:lnTo>
                <a:lnTo>
                  <a:pt x="51" y="29"/>
                </a:lnTo>
                <a:lnTo>
                  <a:pt x="51" y="28"/>
                </a:lnTo>
                <a:lnTo>
                  <a:pt x="51" y="26"/>
                </a:lnTo>
                <a:lnTo>
                  <a:pt x="53" y="25"/>
                </a:lnTo>
                <a:lnTo>
                  <a:pt x="54" y="25"/>
                </a:lnTo>
                <a:lnTo>
                  <a:pt x="56" y="23"/>
                </a:lnTo>
                <a:lnTo>
                  <a:pt x="57" y="25"/>
                </a:lnTo>
                <a:lnTo>
                  <a:pt x="1313" y="659"/>
                </a:lnTo>
                <a:lnTo>
                  <a:pt x="1313" y="661"/>
                </a:lnTo>
                <a:lnTo>
                  <a:pt x="1315" y="662"/>
                </a:lnTo>
                <a:lnTo>
                  <a:pt x="1315" y="664"/>
                </a:lnTo>
                <a:lnTo>
                  <a:pt x="1315" y="667"/>
                </a:lnTo>
                <a:lnTo>
                  <a:pt x="1313" y="667"/>
                </a:lnTo>
                <a:lnTo>
                  <a:pt x="1312" y="668"/>
                </a:lnTo>
                <a:lnTo>
                  <a:pt x="1310" y="668"/>
                </a:lnTo>
                <a:lnTo>
                  <a:pt x="1309" y="668"/>
                </a:lnTo>
                <a:lnTo>
                  <a:pt x="1309" y="668"/>
                </a:lnTo>
                <a:close/>
                <a:moveTo>
                  <a:pt x="50" y="69"/>
                </a:moveTo>
                <a:lnTo>
                  <a:pt x="0" y="0"/>
                </a:lnTo>
                <a:lnTo>
                  <a:pt x="85" y="0"/>
                </a:lnTo>
                <a:lnTo>
                  <a:pt x="50" y="69"/>
                </a:lnTo>
                <a:close/>
              </a:path>
            </a:pathLst>
          </a:custGeom>
          <a:solidFill>
            <a:srgbClr val="000000"/>
          </a:solidFill>
          <a:ln w="3175">
            <a:solidFill>
              <a:srgbClr val="000000"/>
            </a:solidFill>
            <a:prstDash val="solid"/>
            <a:round/>
            <a:headEnd/>
            <a:tailEnd/>
          </a:ln>
        </p:spPr>
        <p:txBody>
          <a:bodyPr/>
          <a:lstStyle/>
          <a:p>
            <a:endParaRPr lang="en-IN"/>
          </a:p>
        </p:txBody>
      </p:sp>
      <p:sp>
        <p:nvSpPr>
          <p:cNvPr id="111654" name="Freeform 38">
            <a:extLst>
              <a:ext uri="{FF2B5EF4-FFF2-40B4-BE49-F238E27FC236}">
                <a16:creationId xmlns:a16="http://schemas.microsoft.com/office/drawing/2014/main" id="{36B4AA8C-1327-288F-D46D-373EA7EAA65A}"/>
              </a:ext>
            </a:extLst>
          </p:cNvPr>
          <p:cNvSpPr>
            <a:spLocks noEditPoints="1"/>
          </p:cNvSpPr>
          <p:nvPr/>
        </p:nvSpPr>
        <p:spPr bwMode="auto">
          <a:xfrm>
            <a:off x="5554664" y="4373564"/>
            <a:ext cx="1544637" cy="180975"/>
          </a:xfrm>
          <a:custGeom>
            <a:avLst/>
            <a:gdLst>
              <a:gd name="T0" fmla="*/ 5 w 973"/>
              <a:gd name="T1" fmla="*/ 103 h 114"/>
              <a:gd name="T2" fmla="*/ 911 w 973"/>
              <a:gd name="T3" fmla="*/ 33 h 114"/>
              <a:gd name="T4" fmla="*/ 912 w 973"/>
              <a:gd name="T5" fmla="*/ 33 h 114"/>
              <a:gd name="T6" fmla="*/ 914 w 973"/>
              <a:gd name="T7" fmla="*/ 33 h 114"/>
              <a:gd name="T8" fmla="*/ 915 w 973"/>
              <a:gd name="T9" fmla="*/ 35 h 114"/>
              <a:gd name="T10" fmla="*/ 915 w 973"/>
              <a:gd name="T11" fmla="*/ 38 h 114"/>
              <a:gd name="T12" fmla="*/ 915 w 973"/>
              <a:gd name="T13" fmla="*/ 39 h 114"/>
              <a:gd name="T14" fmla="*/ 914 w 973"/>
              <a:gd name="T15" fmla="*/ 41 h 114"/>
              <a:gd name="T16" fmla="*/ 912 w 973"/>
              <a:gd name="T17" fmla="*/ 41 h 114"/>
              <a:gd name="T18" fmla="*/ 911 w 973"/>
              <a:gd name="T19" fmla="*/ 42 h 114"/>
              <a:gd name="T20" fmla="*/ 5 w 973"/>
              <a:gd name="T21" fmla="*/ 114 h 114"/>
              <a:gd name="T22" fmla="*/ 3 w 973"/>
              <a:gd name="T23" fmla="*/ 112 h 114"/>
              <a:gd name="T24" fmla="*/ 2 w 973"/>
              <a:gd name="T25" fmla="*/ 112 h 114"/>
              <a:gd name="T26" fmla="*/ 0 w 973"/>
              <a:gd name="T27" fmla="*/ 111 h 114"/>
              <a:gd name="T28" fmla="*/ 0 w 973"/>
              <a:gd name="T29" fmla="*/ 109 h 114"/>
              <a:gd name="T30" fmla="*/ 0 w 973"/>
              <a:gd name="T31" fmla="*/ 106 h 114"/>
              <a:gd name="T32" fmla="*/ 0 w 973"/>
              <a:gd name="T33" fmla="*/ 105 h 114"/>
              <a:gd name="T34" fmla="*/ 2 w 973"/>
              <a:gd name="T35" fmla="*/ 105 h 114"/>
              <a:gd name="T36" fmla="*/ 5 w 973"/>
              <a:gd name="T37" fmla="*/ 103 h 114"/>
              <a:gd name="T38" fmla="*/ 5 w 973"/>
              <a:gd name="T39" fmla="*/ 103 h 114"/>
              <a:gd name="T40" fmla="*/ 896 w 973"/>
              <a:gd name="T41" fmla="*/ 0 h 114"/>
              <a:gd name="T42" fmla="*/ 973 w 973"/>
              <a:gd name="T43" fmla="*/ 32 h 114"/>
              <a:gd name="T44" fmla="*/ 902 w 973"/>
              <a:gd name="T45" fmla="*/ 76 h 114"/>
              <a:gd name="T46" fmla="*/ 896 w 973"/>
              <a:gd name="T47"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73" h="114">
                <a:moveTo>
                  <a:pt x="5" y="103"/>
                </a:moveTo>
                <a:lnTo>
                  <a:pt x="911" y="33"/>
                </a:lnTo>
                <a:lnTo>
                  <a:pt x="912" y="33"/>
                </a:lnTo>
                <a:lnTo>
                  <a:pt x="914" y="33"/>
                </a:lnTo>
                <a:lnTo>
                  <a:pt x="915" y="35"/>
                </a:lnTo>
                <a:lnTo>
                  <a:pt x="915" y="38"/>
                </a:lnTo>
                <a:lnTo>
                  <a:pt x="915" y="39"/>
                </a:lnTo>
                <a:lnTo>
                  <a:pt x="914" y="41"/>
                </a:lnTo>
                <a:lnTo>
                  <a:pt x="912" y="41"/>
                </a:lnTo>
                <a:lnTo>
                  <a:pt x="911" y="42"/>
                </a:lnTo>
                <a:lnTo>
                  <a:pt x="5" y="114"/>
                </a:lnTo>
                <a:lnTo>
                  <a:pt x="3" y="112"/>
                </a:lnTo>
                <a:lnTo>
                  <a:pt x="2" y="112"/>
                </a:lnTo>
                <a:lnTo>
                  <a:pt x="0" y="111"/>
                </a:lnTo>
                <a:lnTo>
                  <a:pt x="0" y="109"/>
                </a:lnTo>
                <a:lnTo>
                  <a:pt x="0" y="106"/>
                </a:lnTo>
                <a:lnTo>
                  <a:pt x="0" y="105"/>
                </a:lnTo>
                <a:lnTo>
                  <a:pt x="2" y="105"/>
                </a:lnTo>
                <a:lnTo>
                  <a:pt x="5" y="103"/>
                </a:lnTo>
                <a:lnTo>
                  <a:pt x="5" y="103"/>
                </a:lnTo>
                <a:close/>
                <a:moveTo>
                  <a:pt x="896" y="0"/>
                </a:moveTo>
                <a:lnTo>
                  <a:pt x="973" y="32"/>
                </a:lnTo>
                <a:lnTo>
                  <a:pt x="902" y="76"/>
                </a:lnTo>
                <a:lnTo>
                  <a:pt x="896" y="0"/>
                </a:lnTo>
                <a:close/>
              </a:path>
            </a:pathLst>
          </a:custGeom>
          <a:solidFill>
            <a:srgbClr val="000000"/>
          </a:solidFill>
          <a:ln w="3175">
            <a:solidFill>
              <a:srgbClr val="000000"/>
            </a:solidFill>
            <a:prstDash val="solid"/>
            <a:round/>
            <a:headEnd/>
            <a:tailEnd/>
          </a:ln>
        </p:spPr>
        <p:txBody>
          <a:bodyPr/>
          <a:lstStyle/>
          <a:p>
            <a:endParaRPr lang="en-IN"/>
          </a:p>
        </p:txBody>
      </p:sp>
      <p:sp>
        <p:nvSpPr>
          <p:cNvPr id="111655" name="Freeform 39">
            <a:extLst>
              <a:ext uri="{FF2B5EF4-FFF2-40B4-BE49-F238E27FC236}">
                <a16:creationId xmlns:a16="http://schemas.microsoft.com/office/drawing/2014/main" id="{CA8EDA5C-55DF-BAF1-9DF0-485C1D94D8D6}"/>
              </a:ext>
            </a:extLst>
          </p:cNvPr>
          <p:cNvSpPr>
            <a:spLocks noEditPoints="1"/>
          </p:cNvSpPr>
          <p:nvPr/>
        </p:nvSpPr>
        <p:spPr bwMode="auto">
          <a:xfrm>
            <a:off x="7531101" y="4462463"/>
            <a:ext cx="1243013" cy="419100"/>
          </a:xfrm>
          <a:custGeom>
            <a:avLst/>
            <a:gdLst>
              <a:gd name="T0" fmla="*/ 6 w 783"/>
              <a:gd name="T1" fmla="*/ 0 h 264"/>
              <a:gd name="T2" fmla="*/ 724 w 783"/>
              <a:gd name="T3" fmla="*/ 228 h 264"/>
              <a:gd name="T4" fmla="*/ 725 w 783"/>
              <a:gd name="T5" fmla="*/ 229 h 264"/>
              <a:gd name="T6" fmla="*/ 727 w 783"/>
              <a:gd name="T7" fmla="*/ 231 h 264"/>
              <a:gd name="T8" fmla="*/ 728 w 783"/>
              <a:gd name="T9" fmla="*/ 232 h 264"/>
              <a:gd name="T10" fmla="*/ 728 w 783"/>
              <a:gd name="T11" fmla="*/ 234 h 264"/>
              <a:gd name="T12" fmla="*/ 727 w 783"/>
              <a:gd name="T13" fmla="*/ 235 h 264"/>
              <a:gd name="T14" fmla="*/ 725 w 783"/>
              <a:gd name="T15" fmla="*/ 237 h 264"/>
              <a:gd name="T16" fmla="*/ 724 w 783"/>
              <a:gd name="T17" fmla="*/ 237 h 264"/>
              <a:gd name="T18" fmla="*/ 722 w 783"/>
              <a:gd name="T19" fmla="*/ 237 h 264"/>
              <a:gd name="T20" fmla="*/ 3 w 783"/>
              <a:gd name="T21" fmla="*/ 9 h 264"/>
              <a:gd name="T22" fmla="*/ 2 w 783"/>
              <a:gd name="T23" fmla="*/ 8 h 264"/>
              <a:gd name="T24" fmla="*/ 0 w 783"/>
              <a:gd name="T25" fmla="*/ 8 h 264"/>
              <a:gd name="T26" fmla="*/ 0 w 783"/>
              <a:gd name="T27" fmla="*/ 5 h 264"/>
              <a:gd name="T28" fmla="*/ 0 w 783"/>
              <a:gd name="T29" fmla="*/ 3 h 264"/>
              <a:gd name="T30" fmla="*/ 0 w 783"/>
              <a:gd name="T31" fmla="*/ 2 h 264"/>
              <a:gd name="T32" fmla="*/ 2 w 783"/>
              <a:gd name="T33" fmla="*/ 0 h 264"/>
              <a:gd name="T34" fmla="*/ 3 w 783"/>
              <a:gd name="T35" fmla="*/ 0 h 264"/>
              <a:gd name="T36" fmla="*/ 6 w 783"/>
              <a:gd name="T37" fmla="*/ 0 h 264"/>
              <a:gd name="T38" fmla="*/ 6 w 783"/>
              <a:gd name="T39" fmla="*/ 0 h 264"/>
              <a:gd name="T40" fmla="*/ 722 w 783"/>
              <a:gd name="T41" fmla="*/ 193 h 264"/>
              <a:gd name="T42" fmla="*/ 783 w 783"/>
              <a:gd name="T43" fmla="*/ 252 h 264"/>
              <a:gd name="T44" fmla="*/ 700 w 783"/>
              <a:gd name="T45" fmla="*/ 264 h 264"/>
              <a:gd name="T46" fmla="*/ 722 w 783"/>
              <a:gd name="T47" fmla="*/ 193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83" h="264">
                <a:moveTo>
                  <a:pt x="6" y="0"/>
                </a:moveTo>
                <a:lnTo>
                  <a:pt x="724" y="228"/>
                </a:lnTo>
                <a:lnTo>
                  <a:pt x="725" y="229"/>
                </a:lnTo>
                <a:lnTo>
                  <a:pt x="727" y="231"/>
                </a:lnTo>
                <a:lnTo>
                  <a:pt x="728" y="232"/>
                </a:lnTo>
                <a:lnTo>
                  <a:pt x="728" y="234"/>
                </a:lnTo>
                <a:lnTo>
                  <a:pt x="727" y="235"/>
                </a:lnTo>
                <a:lnTo>
                  <a:pt x="725" y="237"/>
                </a:lnTo>
                <a:lnTo>
                  <a:pt x="724" y="237"/>
                </a:lnTo>
                <a:lnTo>
                  <a:pt x="722" y="237"/>
                </a:lnTo>
                <a:lnTo>
                  <a:pt x="3" y="9"/>
                </a:lnTo>
                <a:lnTo>
                  <a:pt x="2" y="8"/>
                </a:lnTo>
                <a:lnTo>
                  <a:pt x="0" y="8"/>
                </a:lnTo>
                <a:lnTo>
                  <a:pt x="0" y="5"/>
                </a:lnTo>
                <a:lnTo>
                  <a:pt x="0" y="3"/>
                </a:lnTo>
                <a:lnTo>
                  <a:pt x="0" y="2"/>
                </a:lnTo>
                <a:lnTo>
                  <a:pt x="2" y="0"/>
                </a:lnTo>
                <a:lnTo>
                  <a:pt x="3" y="0"/>
                </a:lnTo>
                <a:lnTo>
                  <a:pt x="6" y="0"/>
                </a:lnTo>
                <a:lnTo>
                  <a:pt x="6" y="0"/>
                </a:lnTo>
                <a:close/>
                <a:moveTo>
                  <a:pt x="722" y="193"/>
                </a:moveTo>
                <a:lnTo>
                  <a:pt x="783" y="252"/>
                </a:lnTo>
                <a:lnTo>
                  <a:pt x="700" y="264"/>
                </a:lnTo>
                <a:lnTo>
                  <a:pt x="722" y="193"/>
                </a:lnTo>
                <a:close/>
              </a:path>
            </a:pathLst>
          </a:custGeom>
          <a:solidFill>
            <a:srgbClr val="000000"/>
          </a:solidFill>
          <a:ln w="3175">
            <a:solidFill>
              <a:srgbClr val="000000"/>
            </a:solidFill>
            <a:prstDash val="solid"/>
            <a:round/>
            <a:headEnd/>
            <a:tailEnd/>
          </a:ln>
        </p:spPr>
        <p:txBody>
          <a:bodyPr/>
          <a:lstStyle/>
          <a:p>
            <a:endParaRPr lang="en-IN"/>
          </a:p>
        </p:txBody>
      </p:sp>
      <p:sp>
        <p:nvSpPr>
          <p:cNvPr id="111656" name="Freeform 40">
            <a:extLst>
              <a:ext uri="{FF2B5EF4-FFF2-40B4-BE49-F238E27FC236}">
                <a16:creationId xmlns:a16="http://schemas.microsoft.com/office/drawing/2014/main" id="{FC267011-985B-AA2C-0D55-1CEA763EEB31}"/>
              </a:ext>
            </a:extLst>
          </p:cNvPr>
          <p:cNvSpPr>
            <a:spLocks noEditPoints="1"/>
          </p:cNvSpPr>
          <p:nvPr/>
        </p:nvSpPr>
        <p:spPr bwMode="auto">
          <a:xfrm>
            <a:off x="7893050" y="4951414"/>
            <a:ext cx="820738" cy="566737"/>
          </a:xfrm>
          <a:custGeom>
            <a:avLst/>
            <a:gdLst>
              <a:gd name="T0" fmla="*/ 2 w 517"/>
              <a:gd name="T1" fmla="*/ 348 h 357"/>
              <a:gd name="T2" fmla="*/ 462 w 517"/>
              <a:gd name="T3" fmla="*/ 32 h 357"/>
              <a:gd name="T4" fmla="*/ 464 w 517"/>
              <a:gd name="T5" fmla="*/ 32 h 357"/>
              <a:gd name="T6" fmla="*/ 466 w 517"/>
              <a:gd name="T7" fmla="*/ 32 h 357"/>
              <a:gd name="T8" fmla="*/ 467 w 517"/>
              <a:gd name="T9" fmla="*/ 32 h 357"/>
              <a:gd name="T10" fmla="*/ 469 w 517"/>
              <a:gd name="T11" fmla="*/ 34 h 357"/>
              <a:gd name="T12" fmla="*/ 470 w 517"/>
              <a:gd name="T13" fmla="*/ 35 h 357"/>
              <a:gd name="T14" fmla="*/ 470 w 517"/>
              <a:gd name="T15" fmla="*/ 37 h 357"/>
              <a:gd name="T16" fmla="*/ 469 w 517"/>
              <a:gd name="T17" fmla="*/ 38 h 357"/>
              <a:gd name="T18" fmla="*/ 469 w 517"/>
              <a:gd name="T19" fmla="*/ 40 h 357"/>
              <a:gd name="T20" fmla="*/ 8 w 517"/>
              <a:gd name="T21" fmla="*/ 355 h 357"/>
              <a:gd name="T22" fmla="*/ 5 w 517"/>
              <a:gd name="T23" fmla="*/ 357 h 357"/>
              <a:gd name="T24" fmla="*/ 3 w 517"/>
              <a:gd name="T25" fmla="*/ 355 h 357"/>
              <a:gd name="T26" fmla="*/ 2 w 517"/>
              <a:gd name="T27" fmla="*/ 355 h 357"/>
              <a:gd name="T28" fmla="*/ 0 w 517"/>
              <a:gd name="T29" fmla="*/ 354 h 357"/>
              <a:gd name="T30" fmla="*/ 0 w 517"/>
              <a:gd name="T31" fmla="*/ 352 h 357"/>
              <a:gd name="T32" fmla="*/ 0 w 517"/>
              <a:gd name="T33" fmla="*/ 351 h 357"/>
              <a:gd name="T34" fmla="*/ 0 w 517"/>
              <a:gd name="T35" fmla="*/ 349 h 357"/>
              <a:gd name="T36" fmla="*/ 2 w 517"/>
              <a:gd name="T37" fmla="*/ 348 h 357"/>
              <a:gd name="T38" fmla="*/ 2 w 517"/>
              <a:gd name="T39" fmla="*/ 348 h 357"/>
              <a:gd name="T40" fmla="*/ 434 w 517"/>
              <a:gd name="T41" fmla="*/ 12 h 357"/>
              <a:gd name="T42" fmla="*/ 517 w 517"/>
              <a:gd name="T43" fmla="*/ 0 h 357"/>
              <a:gd name="T44" fmla="*/ 476 w 517"/>
              <a:gd name="T45" fmla="*/ 75 h 357"/>
              <a:gd name="T46" fmla="*/ 434 w 517"/>
              <a:gd name="T47" fmla="*/ 12 h 3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17" h="357">
                <a:moveTo>
                  <a:pt x="2" y="348"/>
                </a:moveTo>
                <a:lnTo>
                  <a:pt x="462" y="32"/>
                </a:lnTo>
                <a:lnTo>
                  <a:pt x="464" y="32"/>
                </a:lnTo>
                <a:lnTo>
                  <a:pt x="466" y="32"/>
                </a:lnTo>
                <a:lnTo>
                  <a:pt x="467" y="32"/>
                </a:lnTo>
                <a:lnTo>
                  <a:pt x="469" y="34"/>
                </a:lnTo>
                <a:lnTo>
                  <a:pt x="470" y="35"/>
                </a:lnTo>
                <a:lnTo>
                  <a:pt x="470" y="37"/>
                </a:lnTo>
                <a:lnTo>
                  <a:pt x="469" y="38"/>
                </a:lnTo>
                <a:lnTo>
                  <a:pt x="469" y="40"/>
                </a:lnTo>
                <a:lnTo>
                  <a:pt x="8" y="355"/>
                </a:lnTo>
                <a:lnTo>
                  <a:pt x="5" y="357"/>
                </a:lnTo>
                <a:lnTo>
                  <a:pt x="3" y="355"/>
                </a:lnTo>
                <a:lnTo>
                  <a:pt x="2" y="355"/>
                </a:lnTo>
                <a:lnTo>
                  <a:pt x="0" y="354"/>
                </a:lnTo>
                <a:lnTo>
                  <a:pt x="0" y="352"/>
                </a:lnTo>
                <a:lnTo>
                  <a:pt x="0" y="351"/>
                </a:lnTo>
                <a:lnTo>
                  <a:pt x="0" y="349"/>
                </a:lnTo>
                <a:lnTo>
                  <a:pt x="2" y="348"/>
                </a:lnTo>
                <a:lnTo>
                  <a:pt x="2" y="348"/>
                </a:lnTo>
                <a:close/>
                <a:moveTo>
                  <a:pt x="434" y="12"/>
                </a:moveTo>
                <a:lnTo>
                  <a:pt x="517" y="0"/>
                </a:lnTo>
                <a:lnTo>
                  <a:pt x="476" y="75"/>
                </a:lnTo>
                <a:lnTo>
                  <a:pt x="434" y="12"/>
                </a:lnTo>
                <a:close/>
              </a:path>
            </a:pathLst>
          </a:custGeom>
          <a:solidFill>
            <a:srgbClr val="000000"/>
          </a:solidFill>
          <a:ln w="3175">
            <a:solidFill>
              <a:srgbClr val="000000"/>
            </a:solidFill>
            <a:prstDash val="solid"/>
            <a:round/>
            <a:headEnd/>
            <a:tailEnd/>
          </a:ln>
        </p:spPr>
        <p:txBody>
          <a:bodyPr/>
          <a:lstStyle/>
          <a:p>
            <a:endParaRPr lang="en-IN"/>
          </a:p>
        </p:txBody>
      </p:sp>
      <p:sp>
        <p:nvSpPr>
          <p:cNvPr id="111657" name="Rectangle 41">
            <a:extLst>
              <a:ext uri="{FF2B5EF4-FFF2-40B4-BE49-F238E27FC236}">
                <a16:creationId xmlns:a16="http://schemas.microsoft.com/office/drawing/2014/main" id="{64BDE821-164F-922B-E715-E5DD5ACEC76E}"/>
              </a:ext>
            </a:extLst>
          </p:cNvPr>
          <p:cNvSpPr>
            <a:spLocks noChangeArrowheads="1"/>
          </p:cNvSpPr>
          <p:nvPr/>
        </p:nvSpPr>
        <p:spPr bwMode="auto">
          <a:xfrm>
            <a:off x="4432300" y="5032376"/>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FF33CC"/>
                </a:solidFill>
              </a:rPr>
              <a:t>2</a:t>
            </a:r>
            <a:endParaRPr lang="en-US" altLang="en-US">
              <a:solidFill>
                <a:srgbClr val="FF33CC"/>
              </a:solidFill>
            </a:endParaRPr>
          </a:p>
        </p:txBody>
      </p:sp>
      <p:sp>
        <p:nvSpPr>
          <p:cNvPr id="111658" name="Rectangle 42">
            <a:extLst>
              <a:ext uri="{FF2B5EF4-FFF2-40B4-BE49-F238E27FC236}">
                <a16:creationId xmlns:a16="http://schemas.microsoft.com/office/drawing/2014/main" id="{38DDF4B6-96BB-ED56-F876-B9EFA58552B7}"/>
              </a:ext>
            </a:extLst>
          </p:cNvPr>
          <p:cNvSpPr>
            <a:spLocks noChangeArrowheads="1"/>
          </p:cNvSpPr>
          <p:nvPr/>
        </p:nvSpPr>
        <p:spPr bwMode="auto">
          <a:xfrm>
            <a:off x="4597400" y="5630864"/>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t>6</a:t>
            </a:r>
            <a:endParaRPr lang="en-US" altLang="en-US"/>
          </a:p>
        </p:txBody>
      </p:sp>
      <p:sp>
        <p:nvSpPr>
          <p:cNvPr id="111659" name="Rectangle 43">
            <a:extLst>
              <a:ext uri="{FF2B5EF4-FFF2-40B4-BE49-F238E27FC236}">
                <a16:creationId xmlns:a16="http://schemas.microsoft.com/office/drawing/2014/main" id="{47D22C15-159F-435F-FC02-32479C4E234B}"/>
              </a:ext>
            </a:extLst>
          </p:cNvPr>
          <p:cNvSpPr>
            <a:spLocks noChangeArrowheads="1"/>
          </p:cNvSpPr>
          <p:nvPr/>
        </p:nvSpPr>
        <p:spPr bwMode="auto">
          <a:xfrm>
            <a:off x="4884738" y="5213351"/>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0</a:t>
            </a:r>
            <a:endParaRPr lang="en-US" altLang="en-US"/>
          </a:p>
        </p:txBody>
      </p:sp>
      <p:sp>
        <p:nvSpPr>
          <p:cNvPr id="111660" name="Rectangle 44">
            <a:extLst>
              <a:ext uri="{FF2B5EF4-FFF2-40B4-BE49-F238E27FC236}">
                <a16:creationId xmlns:a16="http://schemas.microsoft.com/office/drawing/2014/main" id="{8901C4D4-0384-1201-105C-804D4FB6730B}"/>
              </a:ext>
            </a:extLst>
          </p:cNvPr>
          <p:cNvSpPr>
            <a:spLocks noChangeArrowheads="1"/>
          </p:cNvSpPr>
          <p:nvPr/>
        </p:nvSpPr>
        <p:spPr bwMode="auto">
          <a:xfrm>
            <a:off x="6378575" y="4819651"/>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0</a:t>
            </a:r>
            <a:endParaRPr lang="en-US" altLang="en-US"/>
          </a:p>
        </p:txBody>
      </p:sp>
      <p:sp>
        <p:nvSpPr>
          <p:cNvPr id="111662" name="Rectangle 46">
            <a:extLst>
              <a:ext uri="{FF2B5EF4-FFF2-40B4-BE49-F238E27FC236}">
                <a16:creationId xmlns:a16="http://schemas.microsoft.com/office/drawing/2014/main" id="{BDA3E5CD-7DCE-23FC-9E6E-41FC68786B47}"/>
              </a:ext>
            </a:extLst>
          </p:cNvPr>
          <p:cNvSpPr>
            <a:spLocks noChangeArrowheads="1"/>
          </p:cNvSpPr>
          <p:nvPr/>
        </p:nvSpPr>
        <p:spPr bwMode="auto">
          <a:xfrm>
            <a:off x="8008938" y="4640264"/>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solidFill>
                  <a:srgbClr val="FF33CC"/>
                </a:solidFill>
              </a:rPr>
              <a:t>8</a:t>
            </a:r>
            <a:endParaRPr lang="en-US" altLang="en-US">
              <a:solidFill>
                <a:srgbClr val="FF33CC"/>
              </a:solidFill>
            </a:endParaRPr>
          </a:p>
        </p:txBody>
      </p:sp>
      <p:sp>
        <p:nvSpPr>
          <p:cNvPr id="111663" name="Rectangle 47">
            <a:extLst>
              <a:ext uri="{FF2B5EF4-FFF2-40B4-BE49-F238E27FC236}">
                <a16:creationId xmlns:a16="http://schemas.microsoft.com/office/drawing/2014/main" id="{4352AB8F-328C-6917-D34E-BF68DEDC2CDA}"/>
              </a:ext>
            </a:extLst>
          </p:cNvPr>
          <p:cNvSpPr>
            <a:spLocks noChangeArrowheads="1"/>
          </p:cNvSpPr>
          <p:nvPr/>
        </p:nvSpPr>
        <p:spPr bwMode="auto">
          <a:xfrm>
            <a:off x="8053388" y="5153026"/>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0</a:t>
            </a:r>
            <a:endParaRPr lang="en-US" altLang="en-US"/>
          </a:p>
        </p:txBody>
      </p:sp>
      <p:sp>
        <p:nvSpPr>
          <p:cNvPr id="111664" name="Rectangle 48">
            <a:extLst>
              <a:ext uri="{FF2B5EF4-FFF2-40B4-BE49-F238E27FC236}">
                <a16:creationId xmlns:a16="http://schemas.microsoft.com/office/drawing/2014/main" id="{52F409D9-8A43-202F-E8F9-FFDD14D7CFDD}"/>
              </a:ext>
            </a:extLst>
          </p:cNvPr>
          <p:cNvSpPr>
            <a:spLocks noChangeArrowheads="1"/>
          </p:cNvSpPr>
          <p:nvPr/>
        </p:nvSpPr>
        <p:spPr bwMode="auto">
          <a:xfrm>
            <a:off x="6438900" y="5780089"/>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t>6</a:t>
            </a:r>
            <a:endParaRPr lang="en-US" altLang="en-US"/>
          </a:p>
        </p:txBody>
      </p:sp>
      <p:sp>
        <p:nvSpPr>
          <p:cNvPr id="111665" name="Freeform 49">
            <a:extLst>
              <a:ext uri="{FF2B5EF4-FFF2-40B4-BE49-F238E27FC236}">
                <a16:creationId xmlns:a16="http://schemas.microsoft.com/office/drawing/2014/main" id="{38C2D1C9-ABEB-23B0-ABDE-D1012FD4E8F1}"/>
              </a:ext>
            </a:extLst>
          </p:cNvPr>
          <p:cNvSpPr>
            <a:spLocks/>
          </p:cNvSpPr>
          <p:nvPr/>
        </p:nvSpPr>
        <p:spPr bwMode="auto">
          <a:xfrm>
            <a:off x="8866189" y="4725988"/>
            <a:ext cx="269875" cy="271462"/>
          </a:xfrm>
          <a:custGeom>
            <a:avLst/>
            <a:gdLst>
              <a:gd name="T0" fmla="*/ 76 w 170"/>
              <a:gd name="T1" fmla="*/ 1 h 171"/>
              <a:gd name="T2" fmla="*/ 59 w 170"/>
              <a:gd name="T3" fmla="*/ 4 h 171"/>
              <a:gd name="T4" fmla="*/ 44 w 170"/>
              <a:gd name="T5" fmla="*/ 10 h 171"/>
              <a:gd name="T6" fmla="*/ 30 w 170"/>
              <a:gd name="T7" fmla="*/ 19 h 171"/>
              <a:gd name="T8" fmla="*/ 18 w 170"/>
              <a:gd name="T9" fmla="*/ 31 h 171"/>
              <a:gd name="T10" fmla="*/ 9 w 170"/>
              <a:gd name="T11" fmla="*/ 45 h 171"/>
              <a:gd name="T12" fmla="*/ 3 w 170"/>
              <a:gd name="T13" fmla="*/ 60 h 171"/>
              <a:gd name="T14" fmla="*/ 0 w 170"/>
              <a:gd name="T15" fmla="*/ 77 h 171"/>
              <a:gd name="T16" fmla="*/ 0 w 170"/>
              <a:gd name="T17" fmla="*/ 94 h 171"/>
              <a:gd name="T18" fmla="*/ 3 w 170"/>
              <a:gd name="T19" fmla="*/ 110 h 171"/>
              <a:gd name="T20" fmla="*/ 9 w 170"/>
              <a:gd name="T21" fmla="*/ 126 h 171"/>
              <a:gd name="T22" fmla="*/ 18 w 170"/>
              <a:gd name="T23" fmla="*/ 139 h 171"/>
              <a:gd name="T24" fmla="*/ 30 w 170"/>
              <a:gd name="T25" fmla="*/ 151 h 171"/>
              <a:gd name="T26" fmla="*/ 44 w 170"/>
              <a:gd name="T27" fmla="*/ 160 h 171"/>
              <a:gd name="T28" fmla="*/ 59 w 170"/>
              <a:gd name="T29" fmla="*/ 167 h 171"/>
              <a:gd name="T30" fmla="*/ 76 w 170"/>
              <a:gd name="T31" fmla="*/ 170 h 171"/>
              <a:gd name="T32" fmla="*/ 94 w 170"/>
              <a:gd name="T33" fmla="*/ 170 h 171"/>
              <a:gd name="T34" fmla="*/ 111 w 170"/>
              <a:gd name="T35" fmla="*/ 167 h 171"/>
              <a:gd name="T36" fmla="*/ 126 w 170"/>
              <a:gd name="T37" fmla="*/ 160 h 171"/>
              <a:gd name="T38" fmla="*/ 140 w 170"/>
              <a:gd name="T39" fmla="*/ 151 h 171"/>
              <a:gd name="T40" fmla="*/ 150 w 170"/>
              <a:gd name="T41" fmla="*/ 139 h 171"/>
              <a:gd name="T42" fmla="*/ 160 w 170"/>
              <a:gd name="T43" fmla="*/ 126 h 171"/>
              <a:gd name="T44" fmla="*/ 167 w 170"/>
              <a:gd name="T45" fmla="*/ 110 h 171"/>
              <a:gd name="T46" fmla="*/ 170 w 170"/>
              <a:gd name="T47" fmla="*/ 94 h 171"/>
              <a:gd name="T48" fmla="*/ 170 w 170"/>
              <a:gd name="T49" fmla="*/ 77 h 171"/>
              <a:gd name="T50" fmla="*/ 167 w 170"/>
              <a:gd name="T51" fmla="*/ 60 h 171"/>
              <a:gd name="T52" fmla="*/ 160 w 170"/>
              <a:gd name="T53" fmla="*/ 45 h 171"/>
              <a:gd name="T54" fmla="*/ 150 w 170"/>
              <a:gd name="T55" fmla="*/ 31 h 171"/>
              <a:gd name="T56" fmla="*/ 140 w 170"/>
              <a:gd name="T57" fmla="*/ 19 h 171"/>
              <a:gd name="T58" fmla="*/ 126 w 170"/>
              <a:gd name="T59" fmla="*/ 10 h 171"/>
              <a:gd name="T60" fmla="*/ 111 w 170"/>
              <a:gd name="T61" fmla="*/ 4 h 171"/>
              <a:gd name="T62" fmla="*/ 94 w 170"/>
              <a:gd name="T63" fmla="*/ 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 h="171">
                <a:moveTo>
                  <a:pt x="85" y="0"/>
                </a:moveTo>
                <a:lnTo>
                  <a:pt x="76" y="1"/>
                </a:lnTo>
                <a:lnTo>
                  <a:pt x="67" y="1"/>
                </a:lnTo>
                <a:lnTo>
                  <a:pt x="59" y="4"/>
                </a:lnTo>
                <a:lnTo>
                  <a:pt x="52" y="7"/>
                </a:lnTo>
                <a:lnTo>
                  <a:pt x="44" y="10"/>
                </a:lnTo>
                <a:lnTo>
                  <a:pt x="36" y="15"/>
                </a:lnTo>
                <a:lnTo>
                  <a:pt x="30" y="19"/>
                </a:lnTo>
                <a:lnTo>
                  <a:pt x="24" y="25"/>
                </a:lnTo>
                <a:lnTo>
                  <a:pt x="18" y="31"/>
                </a:lnTo>
                <a:lnTo>
                  <a:pt x="14" y="37"/>
                </a:lnTo>
                <a:lnTo>
                  <a:pt x="9" y="45"/>
                </a:lnTo>
                <a:lnTo>
                  <a:pt x="6" y="53"/>
                </a:lnTo>
                <a:lnTo>
                  <a:pt x="3" y="60"/>
                </a:lnTo>
                <a:lnTo>
                  <a:pt x="1" y="68"/>
                </a:lnTo>
                <a:lnTo>
                  <a:pt x="0" y="77"/>
                </a:lnTo>
                <a:lnTo>
                  <a:pt x="0" y="86"/>
                </a:lnTo>
                <a:lnTo>
                  <a:pt x="0" y="94"/>
                </a:lnTo>
                <a:lnTo>
                  <a:pt x="1" y="103"/>
                </a:lnTo>
                <a:lnTo>
                  <a:pt x="3" y="110"/>
                </a:lnTo>
                <a:lnTo>
                  <a:pt x="6" y="118"/>
                </a:lnTo>
                <a:lnTo>
                  <a:pt x="9" y="126"/>
                </a:lnTo>
                <a:lnTo>
                  <a:pt x="14" y="133"/>
                </a:lnTo>
                <a:lnTo>
                  <a:pt x="18" y="139"/>
                </a:lnTo>
                <a:lnTo>
                  <a:pt x="24" y="145"/>
                </a:lnTo>
                <a:lnTo>
                  <a:pt x="30" y="151"/>
                </a:lnTo>
                <a:lnTo>
                  <a:pt x="36" y="156"/>
                </a:lnTo>
                <a:lnTo>
                  <a:pt x="44" y="160"/>
                </a:lnTo>
                <a:lnTo>
                  <a:pt x="52" y="163"/>
                </a:lnTo>
                <a:lnTo>
                  <a:pt x="59" y="167"/>
                </a:lnTo>
                <a:lnTo>
                  <a:pt x="67" y="170"/>
                </a:lnTo>
                <a:lnTo>
                  <a:pt x="76" y="170"/>
                </a:lnTo>
                <a:lnTo>
                  <a:pt x="85" y="171"/>
                </a:lnTo>
                <a:lnTo>
                  <a:pt x="94" y="170"/>
                </a:lnTo>
                <a:lnTo>
                  <a:pt x="102" y="170"/>
                </a:lnTo>
                <a:lnTo>
                  <a:pt x="111" y="167"/>
                </a:lnTo>
                <a:lnTo>
                  <a:pt x="119" y="163"/>
                </a:lnTo>
                <a:lnTo>
                  <a:pt x="126" y="160"/>
                </a:lnTo>
                <a:lnTo>
                  <a:pt x="132" y="156"/>
                </a:lnTo>
                <a:lnTo>
                  <a:pt x="140" y="151"/>
                </a:lnTo>
                <a:lnTo>
                  <a:pt x="146" y="145"/>
                </a:lnTo>
                <a:lnTo>
                  <a:pt x="150" y="139"/>
                </a:lnTo>
                <a:lnTo>
                  <a:pt x="155" y="133"/>
                </a:lnTo>
                <a:lnTo>
                  <a:pt x="160" y="126"/>
                </a:lnTo>
                <a:lnTo>
                  <a:pt x="164" y="118"/>
                </a:lnTo>
                <a:lnTo>
                  <a:pt x="167" y="110"/>
                </a:lnTo>
                <a:lnTo>
                  <a:pt x="169" y="103"/>
                </a:lnTo>
                <a:lnTo>
                  <a:pt x="170" y="94"/>
                </a:lnTo>
                <a:lnTo>
                  <a:pt x="170" y="86"/>
                </a:lnTo>
                <a:lnTo>
                  <a:pt x="170" y="77"/>
                </a:lnTo>
                <a:lnTo>
                  <a:pt x="169" y="68"/>
                </a:lnTo>
                <a:lnTo>
                  <a:pt x="167" y="60"/>
                </a:lnTo>
                <a:lnTo>
                  <a:pt x="164" y="53"/>
                </a:lnTo>
                <a:lnTo>
                  <a:pt x="160" y="45"/>
                </a:lnTo>
                <a:lnTo>
                  <a:pt x="155" y="37"/>
                </a:lnTo>
                <a:lnTo>
                  <a:pt x="150" y="31"/>
                </a:lnTo>
                <a:lnTo>
                  <a:pt x="146" y="25"/>
                </a:lnTo>
                <a:lnTo>
                  <a:pt x="140" y="19"/>
                </a:lnTo>
                <a:lnTo>
                  <a:pt x="132" y="15"/>
                </a:lnTo>
                <a:lnTo>
                  <a:pt x="126" y="10"/>
                </a:lnTo>
                <a:lnTo>
                  <a:pt x="119" y="7"/>
                </a:lnTo>
                <a:lnTo>
                  <a:pt x="111" y="4"/>
                </a:lnTo>
                <a:lnTo>
                  <a:pt x="102" y="1"/>
                </a:lnTo>
                <a:lnTo>
                  <a:pt x="94" y="1"/>
                </a:lnTo>
                <a:lnTo>
                  <a:pt x="85" y="0"/>
                </a:lnTo>
                <a:close/>
              </a:path>
            </a:pathLst>
          </a:custGeom>
          <a:solidFill>
            <a:srgbClr val="00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1666" name="Freeform 50">
            <a:extLst>
              <a:ext uri="{FF2B5EF4-FFF2-40B4-BE49-F238E27FC236}">
                <a16:creationId xmlns:a16="http://schemas.microsoft.com/office/drawing/2014/main" id="{BD397141-3A10-CDC0-5120-50FF94E6DC91}"/>
              </a:ext>
            </a:extLst>
          </p:cNvPr>
          <p:cNvSpPr>
            <a:spLocks/>
          </p:cNvSpPr>
          <p:nvPr/>
        </p:nvSpPr>
        <p:spPr bwMode="auto">
          <a:xfrm>
            <a:off x="8866189" y="4725988"/>
            <a:ext cx="269875" cy="271462"/>
          </a:xfrm>
          <a:custGeom>
            <a:avLst/>
            <a:gdLst>
              <a:gd name="T0" fmla="*/ 76 w 170"/>
              <a:gd name="T1" fmla="*/ 1 h 171"/>
              <a:gd name="T2" fmla="*/ 59 w 170"/>
              <a:gd name="T3" fmla="*/ 4 h 171"/>
              <a:gd name="T4" fmla="*/ 44 w 170"/>
              <a:gd name="T5" fmla="*/ 10 h 171"/>
              <a:gd name="T6" fmla="*/ 30 w 170"/>
              <a:gd name="T7" fmla="*/ 19 h 171"/>
              <a:gd name="T8" fmla="*/ 18 w 170"/>
              <a:gd name="T9" fmla="*/ 31 h 171"/>
              <a:gd name="T10" fmla="*/ 9 w 170"/>
              <a:gd name="T11" fmla="*/ 45 h 171"/>
              <a:gd name="T12" fmla="*/ 3 w 170"/>
              <a:gd name="T13" fmla="*/ 60 h 171"/>
              <a:gd name="T14" fmla="*/ 0 w 170"/>
              <a:gd name="T15" fmla="*/ 77 h 171"/>
              <a:gd name="T16" fmla="*/ 0 w 170"/>
              <a:gd name="T17" fmla="*/ 94 h 171"/>
              <a:gd name="T18" fmla="*/ 3 w 170"/>
              <a:gd name="T19" fmla="*/ 110 h 171"/>
              <a:gd name="T20" fmla="*/ 9 w 170"/>
              <a:gd name="T21" fmla="*/ 126 h 171"/>
              <a:gd name="T22" fmla="*/ 18 w 170"/>
              <a:gd name="T23" fmla="*/ 139 h 171"/>
              <a:gd name="T24" fmla="*/ 30 w 170"/>
              <a:gd name="T25" fmla="*/ 151 h 171"/>
              <a:gd name="T26" fmla="*/ 44 w 170"/>
              <a:gd name="T27" fmla="*/ 160 h 171"/>
              <a:gd name="T28" fmla="*/ 59 w 170"/>
              <a:gd name="T29" fmla="*/ 167 h 171"/>
              <a:gd name="T30" fmla="*/ 76 w 170"/>
              <a:gd name="T31" fmla="*/ 170 h 171"/>
              <a:gd name="T32" fmla="*/ 94 w 170"/>
              <a:gd name="T33" fmla="*/ 170 h 171"/>
              <a:gd name="T34" fmla="*/ 111 w 170"/>
              <a:gd name="T35" fmla="*/ 167 h 171"/>
              <a:gd name="T36" fmla="*/ 126 w 170"/>
              <a:gd name="T37" fmla="*/ 160 h 171"/>
              <a:gd name="T38" fmla="*/ 140 w 170"/>
              <a:gd name="T39" fmla="*/ 151 h 171"/>
              <a:gd name="T40" fmla="*/ 150 w 170"/>
              <a:gd name="T41" fmla="*/ 139 h 171"/>
              <a:gd name="T42" fmla="*/ 160 w 170"/>
              <a:gd name="T43" fmla="*/ 126 h 171"/>
              <a:gd name="T44" fmla="*/ 167 w 170"/>
              <a:gd name="T45" fmla="*/ 110 h 171"/>
              <a:gd name="T46" fmla="*/ 170 w 170"/>
              <a:gd name="T47" fmla="*/ 94 h 171"/>
              <a:gd name="T48" fmla="*/ 170 w 170"/>
              <a:gd name="T49" fmla="*/ 77 h 171"/>
              <a:gd name="T50" fmla="*/ 167 w 170"/>
              <a:gd name="T51" fmla="*/ 60 h 171"/>
              <a:gd name="T52" fmla="*/ 160 w 170"/>
              <a:gd name="T53" fmla="*/ 45 h 171"/>
              <a:gd name="T54" fmla="*/ 150 w 170"/>
              <a:gd name="T55" fmla="*/ 31 h 171"/>
              <a:gd name="T56" fmla="*/ 140 w 170"/>
              <a:gd name="T57" fmla="*/ 19 h 171"/>
              <a:gd name="T58" fmla="*/ 126 w 170"/>
              <a:gd name="T59" fmla="*/ 10 h 171"/>
              <a:gd name="T60" fmla="*/ 111 w 170"/>
              <a:gd name="T61" fmla="*/ 4 h 171"/>
              <a:gd name="T62" fmla="*/ 94 w 170"/>
              <a:gd name="T63" fmla="*/ 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 h="171">
                <a:moveTo>
                  <a:pt x="85" y="0"/>
                </a:moveTo>
                <a:lnTo>
                  <a:pt x="76" y="1"/>
                </a:lnTo>
                <a:lnTo>
                  <a:pt x="67" y="1"/>
                </a:lnTo>
                <a:lnTo>
                  <a:pt x="59" y="4"/>
                </a:lnTo>
                <a:lnTo>
                  <a:pt x="52" y="7"/>
                </a:lnTo>
                <a:lnTo>
                  <a:pt x="44" y="10"/>
                </a:lnTo>
                <a:lnTo>
                  <a:pt x="36" y="15"/>
                </a:lnTo>
                <a:lnTo>
                  <a:pt x="30" y="19"/>
                </a:lnTo>
                <a:lnTo>
                  <a:pt x="24" y="25"/>
                </a:lnTo>
                <a:lnTo>
                  <a:pt x="18" y="31"/>
                </a:lnTo>
                <a:lnTo>
                  <a:pt x="14" y="37"/>
                </a:lnTo>
                <a:lnTo>
                  <a:pt x="9" y="45"/>
                </a:lnTo>
                <a:lnTo>
                  <a:pt x="6" y="53"/>
                </a:lnTo>
                <a:lnTo>
                  <a:pt x="3" y="60"/>
                </a:lnTo>
                <a:lnTo>
                  <a:pt x="1" y="68"/>
                </a:lnTo>
                <a:lnTo>
                  <a:pt x="0" y="77"/>
                </a:lnTo>
                <a:lnTo>
                  <a:pt x="0" y="86"/>
                </a:lnTo>
                <a:lnTo>
                  <a:pt x="0" y="94"/>
                </a:lnTo>
                <a:lnTo>
                  <a:pt x="1" y="103"/>
                </a:lnTo>
                <a:lnTo>
                  <a:pt x="3" y="110"/>
                </a:lnTo>
                <a:lnTo>
                  <a:pt x="6" y="118"/>
                </a:lnTo>
                <a:lnTo>
                  <a:pt x="9" y="126"/>
                </a:lnTo>
                <a:lnTo>
                  <a:pt x="14" y="133"/>
                </a:lnTo>
                <a:lnTo>
                  <a:pt x="18" y="139"/>
                </a:lnTo>
                <a:lnTo>
                  <a:pt x="24" y="145"/>
                </a:lnTo>
                <a:lnTo>
                  <a:pt x="30" y="151"/>
                </a:lnTo>
                <a:lnTo>
                  <a:pt x="36" y="156"/>
                </a:lnTo>
                <a:lnTo>
                  <a:pt x="44" y="160"/>
                </a:lnTo>
                <a:lnTo>
                  <a:pt x="52" y="163"/>
                </a:lnTo>
                <a:lnTo>
                  <a:pt x="59" y="167"/>
                </a:lnTo>
                <a:lnTo>
                  <a:pt x="67" y="170"/>
                </a:lnTo>
                <a:lnTo>
                  <a:pt x="76" y="170"/>
                </a:lnTo>
                <a:lnTo>
                  <a:pt x="85" y="171"/>
                </a:lnTo>
                <a:lnTo>
                  <a:pt x="94" y="170"/>
                </a:lnTo>
                <a:lnTo>
                  <a:pt x="102" y="170"/>
                </a:lnTo>
                <a:lnTo>
                  <a:pt x="111" y="167"/>
                </a:lnTo>
                <a:lnTo>
                  <a:pt x="119" y="163"/>
                </a:lnTo>
                <a:lnTo>
                  <a:pt x="126" y="160"/>
                </a:lnTo>
                <a:lnTo>
                  <a:pt x="132" y="156"/>
                </a:lnTo>
                <a:lnTo>
                  <a:pt x="140" y="151"/>
                </a:lnTo>
                <a:lnTo>
                  <a:pt x="146" y="145"/>
                </a:lnTo>
                <a:lnTo>
                  <a:pt x="150" y="139"/>
                </a:lnTo>
                <a:lnTo>
                  <a:pt x="155" y="133"/>
                </a:lnTo>
                <a:lnTo>
                  <a:pt x="160" y="126"/>
                </a:lnTo>
                <a:lnTo>
                  <a:pt x="164" y="118"/>
                </a:lnTo>
                <a:lnTo>
                  <a:pt x="167" y="110"/>
                </a:lnTo>
                <a:lnTo>
                  <a:pt x="169" y="103"/>
                </a:lnTo>
                <a:lnTo>
                  <a:pt x="170" y="94"/>
                </a:lnTo>
                <a:lnTo>
                  <a:pt x="170" y="86"/>
                </a:lnTo>
                <a:lnTo>
                  <a:pt x="170" y="77"/>
                </a:lnTo>
                <a:lnTo>
                  <a:pt x="169" y="68"/>
                </a:lnTo>
                <a:lnTo>
                  <a:pt x="167" y="60"/>
                </a:lnTo>
                <a:lnTo>
                  <a:pt x="164" y="53"/>
                </a:lnTo>
                <a:lnTo>
                  <a:pt x="160" y="45"/>
                </a:lnTo>
                <a:lnTo>
                  <a:pt x="155" y="37"/>
                </a:lnTo>
                <a:lnTo>
                  <a:pt x="150" y="31"/>
                </a:lnTo>
                <a:lnTo>
                  <a:pt x="146" y="25"/>
                </a:lnTo>
                <a:lnTo>
                  <a:pt x="140" y="19"/>
                </a:lnTo>
                <a:lnTo>
                  <a:pt x="132" y="15"/>
                </a:lnTo>
                <a:lnTo>
                  <a:pt x="126" y="10"/>
                </a:lnTo>
                <a:lnTo>
                  <a:pt x="119" y="7"/>
                </a:lnTo>
                <a:lnTo>
                  <a:pt x="111" y="4"/>
                </a:lnTo>
                <a:lnTo>
                  <a:pt x="102" y="1"/>
                </a:lnTo>
                <a:lnTo>
                  <a:pt x="94" y="1"/>
                </a:lnTo>
                <a:lnTo>
                  <a:pt x="85"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1667" name="Rectangle 51">
            <a:extLst>
              <a:ext uri="{FF2B5EF4-FFF2-40B4-BE49-F238E27FC236}">
                <a16:creationId xmlns:a16="http://schemas.microsoft.com/office/drawing/2014/main" id="{AB5355CF-0C58-169C-C1BA-02E2F72A7BF3}"/>
              </a:ext>
            </a:extLst>
          </p:cNvPr>
          <p:cNvSpPr>
            <a:spLocks noChangeArrowheads="1"/>
          </p:cNvSpPr>
          <p:nvPr/>
        </p:nvSpPr>
        <p:spPr bwMode="auto">
          <a:xfrm>
            <a:off x="8929688" y="4757739"/>
            <a:ext cx="12663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D</a:t>
            </a:r>
            <a:endParaRPr lang="en-US" altLang="en-US"/>
          </a:p>
        </p:txBody>
      </p:sp>
      <p:sp>
        <p:nvSpPr>
          <p:cNvPr id="111668" name="Freeform 52">
            <a:extLst>
              <a:ext uri="{FF2B5EF4-FFF2-40B4-BE49-F238E27FC236}">
                <a16:creationId xmlns:a16="http://schemas.microsoft.com/office/drawing/2014/main" id="{D98DCF0F-1BF3-37F4-222D-B6816BC772CD}"/>
              </a:ext>
            </a:extLst>
          </p:cNvPr>
          <p:cNvSpPr>
            <a:spLocks/>
          </p:cNvSpPr>
          <p:nvPr/>
        </p:nvSpPr>
        <p:spPr bwMode="auto">
          <a:xfrm>
            <a:off x="7205663" y="4062413"/>
            <a:ext cx="273050" cy="273050"/>
          </a:xfrm>
          <a:custGeom>
            <a:avLst/>
            <a:gdLst>
              <a:gd name="T0" fmla="*/ 78 w 172"/>
              <a:gd name="T1" fmla="*/ 2 h 172"/>
              <a:gd name="T2" fmla="*/ 61 w 172"/>
              <a:gd name="T3" fmla="*/ 5 h 172"/>
              <a:gd name="T4" fmla="*/ 44 w 172"/>
              <a:gd name="T5" fmla="*/ 11 h 172"/>
              <a:gd name="T6" fmla="*/ 32 w 172"/>
              <a:gd name="T7" fmla="*/ 20 h 172"/>
              <a:gd name="T8" fmla="*/ 20 w 172"/>
              <a:gd name="T9" fmla="*/ 32 h 172"/>
              <a:gd name="T10" fmla="*/ 11 w 172"/>
              <a:gd name="T11" fmla="*/ 46 h 172"/>
              <a:gd name="T12" fmla="*/ 5 w 172"/>
              <a:gd name="T13" fmla="*/ 61 h 172"/>
              <a:gd name="T14" fmla="*/ 0 w 172"/>
              <a:gd name="T15" fmla="*/ 77 h 172"/>
              <a:gd name="T16" fmla="*/ 0 w 172"/>
              <a:gd name="T17" fmla="*/ 94 h 172"/>
              <a:gd name="T18" fmla="*/ 5 w 172"/>
              <a:gd name="T19" fmla="*/ 111 h 172"/>
              <a:gd name="T20" fmla="*/ 11 w 172"/>
              <a:gd name="T21" fmla="*/ 126 h 172"/>
              <a:gd name="T22" fmla="*/ 20 w 172"/>
              <a:gd name="T23" fmla="*/ 140 h 172"/>
              <a:gd name="T24" fmla="*/ 32 w 172"/>
              <a:gd name="T25" fmla="*/ 152 h 172"/>
              <a:gd name="T26" fmla="*/ 44 w 172"/>
              <a:gd name="T27" fmla="*/ 161 h 172"/>
              <a:gd name="T28" fmla="*/ 61 w 172"/>
              <a:gd name="T29" fmla="*/ 167 h 172"/>
              <a:gd name="T30" fmla="*/ 78 w 172"/>
              <a:gd name="T31" fmla="*/ 170 h 172"/>
              <a:gd name="T32" fmla="*/ 94 w 172"/>
              <a:gd name="T33" fmla="*/ 170 h 172"/>
              <a:gd name="T34" fmla="*/ 111 w 172"/>
              <a:gd name="T35" fmla="*/ 167 h 172"/>
              <a:gd name="T36" fmla="*/ 126 w 172"/>
              <a:gd name="T37" fmla="*/ 161 h 172"/>
              <a:gd name="T38" fmla="*/ 140 w 172"/>
              <a:gd name="T39" fmla="*/ 152 h 172"/>
              <a:gd name="T40" fmla="*/ 152 w 172"/>
              <a:gd name="T41" fmla="*/ 140 h 172"/>
              <a:gd name="T42" fmla="*/ 161 w 172"/>
              <a:gd name="T43" fmla="*/ 126 h 172"/>
              <a:gd name="T44" fmla="*/ 167 w 172"/>
              <a:gd name="T45" fmla="*/ 111 h 172"/>
              <a:gd name="T46" fmla="*/ 170 w 172"/>
              <a:gd name="T47" fmla="*/ 94 h 172"/>
              <a:gd name="T48" fmla="*/ 170 w 172"/>
              <a:gd name="T49" fmla="*/ 77 h 172"/>
              <a:gd name="T50" fmla="*/ 167 w 172"/>
              <a:gd name="T51" fmla="*/ 61 h 172"/>
              <a:gd name="T52" fmla="*/ 161 w 172"/>
              <a:gd name="T53" fmla="*/ 46 h 172"/>
              <a:gd name="T54" fmla="*/ 152 w 172"/>
              <a:gd name="T55" fmla="*/ 32 h 172"/>
              <a:gd name="T56" fmla="*/ 140 w 172"/>
              <a:gd name="T57" fmla="*/ 20 h 172"/>
              <a:gd name="T58" fmla="*/ 126 w 172"/>
              <a:gd name="T59" fmla="*/ 11 h 172"/>
              <a:gd name="T60" fmla="*/ 111 w 172"/>
              <a:gd name="T61" fmla="*/ 5 h 172"/>
              <a:gd name="T62" fmla="*/ 94 w 172"/>
              <a:gd name="T63" fmla="*/ 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2" h="172">
                <a:moveTo>
                  <a:pt x="85" y="0"/>
                </a:moveTo>
                <a:lnTo>
                  <a:pt x="78" y="2"/>
                </a:lnTo>
                <a:lnTo>
                  <a:pt x="68" y="2"/>
                </a:lnTo>
                <a:lnTo>
                  <a:pt x="61" y="5"/>
                </a:lnTo>
                <a:lnTo>
                  <a:pt x="52" y="8"/>
                </a:lnTo>
                <a:lnTo>
                  <a:pt x="44" y="11"/>
                </a:lnTo>
                <a:lnTo>
                  <a:pt x="38" y="15"/>
                </a:lnTo>
                <a:lnTo>
                  <a:pt x="32" y="20"/>
                </a:lnTo>
                <a:lnTo>
                  <a:pt x="26" y="26"/>
                </a:lnTo>
                <a:lnTo>
                  <a:pt x="20" y="32"/>
                </a:lnTo>
                <a:lnTo>
                  <a:pt x="15" y="38"/>
                </a:lnTo>
                <a:lnTo>
                  <a:pt x="11" y="46"/>
                </a:lnTo>
                <a:lnTo>
                  <a:pt x="6" y="53"/>
                </a:lnTo>
                <a:lnTo>
                  <a:pt x="5" y="61"/>
                </a:lnTo>
                <a:lnTo>
                  <a:pt x="2" y="68"/>
                </a:lnTo>
                <a:lnTo>
                  <a:pt x="0" y="77"/>
                </a:lnTo>
                <a:lnTo>
                  <a:pt x="0" y="87"/>
                </a:lnTo>
                <a:lnTo>
                  <a:pt x="0" y="94"/>
                </a:lnTo>
                <a:lnTo>
                  <a:pt x="2" y="103"/>
                </a:lnTo>
                <a:lnTo>
                  <a:pt x="5" y="111"/>
                </a:lnTo>
                <a:lnTo>
                  <a:pt x="6" y="118"/>
                </a:lnTo>
                <a:lnTo>
                  <a:pt x="11" y="126"/>
                </a:lnTo>
                <a:lnTo>
                  <a:pt x="15" y="134"/>
                </a:lnTo>
                <a:lnTo>
                  <a:pt x="20" y="140"/>
                </a:lnTo>
                <a:lnTo>
                  <a:pt x="26" y="146"/>
                </a:lnTo>
                <a:lnTo>
                  <a:pt x="32" y="152"/>
                </a:lnTo>
                <a:lnTo>
                  <a:pt x="38" y="156"/>
                </a:lnTo>
                <a:lnTo>
                  <a:pt x="44" y="161"/>
                </a:lnTo>
                <a:lnTo>
                  <a:pt x="52" y="164"/>
                </a:lnTo>
                <a:lnTo>
                  <a:pt x="61" y="167"/>
                </a:lnTo>
                <a:lnTo>
                  <a:pt x="68" y="170"/>
                </a:lnTo>
                <a:lnTo>
                  <a:pt x="78" y="170"/>
                </a:lnTo>
                <a:lnTo>
                  <a:pt x="85" y="172"/>
                </a:lnTo>
                <a:lnTo>
                  <a:pt x="94" y="170"/>
                </a:lnTo>
                <a:lnTo>
                  <a:pt x="103" y="170"/>
                </a:lnTo>
                <a:lnTo>
                  <a:pt x="111" y="167"/>
                </a:lnTo>
                <a:lnTo>
                  <a:pt x="119" y="164"/>
                </a:lnTo>
                <a:lnTo>
                  <a:pt x="126" y="161"/>
                </a:lnTo>
                <a:lnTo>
                  <a:pt x="134" y="156"/>
                </a:lnTo>
                <a:lnTo>
                  <a:pt x="140" y="152"/>
                </a:lnTo>
                <a:lnTo>
                  <a:pt x="146" y="146"/>
                </a:lnTo>
                <a:lnTo>
                  <a:pt x="152" y="140"/>
                </a:lnTo>
                <a:lnTo>
                  <a:pt x="157" y="134"/>
                </a:lnTo>
                <a:lnTo>
                  <a:pt x="161" y="126"/>
                </a:lnTo>
                <a:lnTo>
                  <a:pt x="164" y="118"/>
                </a:lnTo>
                <a:lnTo>
                  <a:pt x="167" y="111"/>
                </a:lnTo>
                <a:lnTo>
                  <a:pt x="169" y="103"/>
                </a:lnTo>
                <a:lnTo>
                  <a:pt x="170" y="94"/>
                </a:lnTo>
                <a:lnTo>
                  <a:pt x="172" y="87"/>
                </a:lnTo>
                <a:lnTo>
                  <a:pt x="170" y="77"/>
                </a:lnTo>
                <a:lnTo>
                  <a:pt x="169" y="68"/>
                </a:lnTo>
                <a:lnTo>
                  <a:pt x="167" y="61"/>
                </a:lnTo>
                <a:lnTo>
                  <a:pt x="164" y="53"/>
                </a:lnTo>
                <a:lnTo>
                  <a:pt x="161" y="46"/>
                </a:lnTo>
                <a:lnTo>
                  <a:pt x="157" y="38"/>
                </a:lnTo>
                <a:lnTo>
                  <a:pt x="152" y="32"/>
                </a:lnTo>
                <a:lnTo>
                  <a:pt x="146" y="26"/>
                </a:lnTo>
                <a:lnTo>
                  <a:pt x="140" y="20"/>
                </a:lnTo>
                <a:lnTo>
                  <a:pt x="134" y="15"/>
                </a:lnTo>
                <a:lnTo>
                  <a:pt x="126" y="11"/>
                </a:lnTo>
                <a:lnTo>
                  <a:pt x="119" y="8"/>
                </a:lnTo>
                <a:lnTo>
                  <a:pt x="111" y="5"/>
                </a:lnTo>
                <a:lnTo>
                  <a:pt x="103" y="2"/>
                </a:lnTo>
                <a:lnTo>
                  <a:pt x="94" y="2"/>
                </a:lnTo>
                <a:lnTo>
                  <a:pt x="85" y="0"/>
                </a:lnTo>
                <a:close/>
              </a:path>
            </a:pathLst>
          </a:custGeom>
          <a:solidFill>
            <a:srgbClr val="00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1669" name="Freeform 53">
            <a:extLst>
              <a:ext uri="{FF2B5EF4-FFF2-40B4-BE49-F238E27FC236}">
                <a16:creationId xmlns:a16="http://schemas.microsoft.com/office/drawing/2014/main" id="{F21D56FF-3694-5BD3-2CD8-2D88C56200B0}"/>
              </a:ext>
            </a:extLst>
          </p:cNvPr>
          <p:cNvSpPr>
            <a:spLocks/>
          </p:cNvSpPr>
          <p:nvPr/>
        </p:nvSpPr>
        <p:spPr bwMode="auto">
          <a:xfrm>
            <a:off x="7205663" y="4062413"/>
            <a:ext cx="273050" cy="273050"/>
          </a:xfrm>
          <a:custGeom>
            <a:avLst/>
            <a:gdLst>
              <a:gd name="T0" fmla="*/ 78 w 172"/>
              <a:gd name="T1" fmla="*/ 2 h 172"/>
              <a:gd name="T2" fmla="*/ 61 w 172"/>
              <a:gd name="T3" fmla="*/ 5 h 172"/>
              <a:gd name="T4" fmla="*/ 44 w 172"/>
              <a:gd name="T5" fmla="*/ 11 h 172"/>
              <a:gd name="T6" fmla="*/ 32 w 172"/>
              <a:gd name="T7" fmla="*/ 20 h 172"/>
              <a:gd name="T8" fmla="*/ 20 w 172"/>
              <a:gd name="T9" fmla="*/ 32 h 172"/>
              <a:gd name="T10" fmla="*/ 11 w 172"/>
              <a:gd name="T11" fmla="*/ 46 h 172"/>
              <a:gd name="T12" fmla="*/ 5 w 172"/>
              <a:gd name="T13" fmla="*/ 61 h 172"/>
              <a:gd name="T14" fmla="*/ 0 w 172"/>
              <a:gd name="T15" fmla="*/ 77 h 172"/>
              <a:gd name="T16" fmla="*/ 0 w 172"/>
              <a:gd name="T17" fmla="*/ 94 h 172"/>
              <a:gd name="T18" fmla="*/ 5 w 172"/>
              <a:gd name="T19" fmla="*/ 111 h 172"/>
              <a:gd name="T20" fmla="*/ 11 w 172"/>
              <a:gd name="T21" fmla="*/ 126 h 172"/>
              <a:gd name="T22" fmla="*/ 20 w 172"/>
              <a:gd name="T23" fmla="*/ 140 h 172"/>
              <a:gd name="T24" fmla="*/ 32 w 172"/>
              <a:gd name="T25" fmla="*/ 152 h 172"/>
              <a:gd name="T26" fmla="*/ 44 w 172"/>
              <a:gd name="T27" fmla="*/ 161 h 172"/>
              <a:gd name="T28" fmla="*/ 61 w 172"/>
              <a:gd name="T29" fmla="*/ 167 h 172"/>
              <a:gd name="T30" fmla="*/ 78 w 172"/>
              <a:gd name="T31" fmla="*/ 170 h 172"/>
              <a:gd name="T32" fmla="*/ 94 w 172"/>
              <a:gd name="T33" fmla="*/ 170 h 172"/>
              <a:gd name="T34" fmla="*/ 111 w 172"/>
              <a:gd name="T35" fmla="*/ 167 h 172"/>
              <a:gd name="T36" fmla="*/ 126 w 172"/>
              <a:gd name="T37" fmla="*/ 161 h 172"/>
              <a:gd name="T38" fmla="*/ 140 w 172"/>
              <a:gd name="T39" fmla="*/ 152 h 172"/>
              <a:gd name="T40" fmla="*/ 152 w 172"/>
              <a:gd name="T41" fmla="*/ 140 h 172"/>
              <a:gd name="T42" fmla="*/ 161 w 172"/>
              <a:gd name="T43" fmla="*/ 126 h 172"/>
              <a:gd name="T44" fmla="*/ 167 w 172"/>
              <a:gd name="T45" fmla="*/ 111 h 172"/>
              <a:gd name="T46" fmla="*/ 170 w 172"/>
              <a:gd name="T47" fmla="*/ 94 h 172"/>
              <a:gd name="T48" fmla="*/ 170 w 172"/>
              <a:gd name="T49" fmla="*/ 77 h 172"/>
              <a:gd name="T50" fmla="*/ 167 w 172"/>
              <a:gd name="T51" fmla="*/ 61 h 172"/>
              <a:gd name="T52" fmla="*/ 161 w 172"/>
              <a:gd name="T53" fmla="*/ 46 h 172"/>
              <a:gd name="T54" fmla="*/ 152 w 172"/>
              <a:gd name="T55" fmla="*/ 32 h 172"/>
              <a:gd name="T56" fmla="*/ 140 w 172"/>
              <a:gd name="T57" fmla="*/ 20 h 172"/>
              <a:gd name="T58" fmla="*/ 126 w 172"/>
              <a:gd name="T59" fmla="*/ 11 h 172"/>
              <a:gd name="T60" fmla="*/ 111 w 172"/>
              <a:gd name="T61" fmla="*/ 5 h 172"/>
              <a:gd name="T62" fmla="*/ 94 w 172"/>
              <a:gd name="T63" fmla="*/ 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2" h="172">
                <a:moveTo>
                  <a:pt x="85" y="0"/>
                </a:moveTo>
                <a:lnTo>
                  <a:pt x="78" y="2"/>
                </a:lnTo>
                <a:lnTo>
                  <a:pt x="68" y="2"/>
                </a:lnTo>
                <a:lnTo>
                  <a:pt x="61" y="5"/>
                </a:lnTo>
                <a:lnTo>
                  <a:pt x="52" y="8"/>
                </a:lnTo>
                <a:lnTo>
                  <a:pt x="44" y="11"/>
                </a:lnTo>
                <a:lnTo>
                  <a:pt x="38" y="15"/>
                </a:lnTo>
                <a:lnTo>
                  <a:pt x="32" y="20"/>
                </a:lnTo>
                <a:lnTo>
                  <a:pt x="26" y="26"/>
                </a:lnTo>
                <a:lnTo>
                  <a:pt x="20" y="32"/>
                </a:lnTo>
                <a:lnTo>
                  <a:pt x="15" y="38"/>
                </a:lnTo>
                <a:lnTo>
                  <a:pt x="11" y="46"/>
                </a:lnTo>
                <a:lnTo>
                  <a:pt x="6" y="53"/>
                </a:lnTo>
                <a:lnTo>
                  <a:pt x="5" y="61"/>
                </a:lnTo>
                <a:lnTo>
                  <a:pt x="2" y="68"/>
                </a:lnTo>
                <a:lnTo>
                  <a:pt x="0" y="77"/>
                </a:lnTo>
                <a:lnTo>
                  <a:pt x="0" y="87"/>
                </a:lnTo>
                <a:lnTo>
                  <a:pt x="0" y="94"/>
                </a:lnTo>
                <a:lnTo>
                  <a:pt x="2" y="103"/>
                </a:lnTo>
                <a:lnTo>
                  <a:pt x="5" y="111"/>
                </a:lnTo>
                <a:lnTo>
                  <a:pt x="6" y="118"/>
                </a:lnTo>
                <a:lnTo>
                  <a:pt x="11" y="126"/>
                </a:lnTo>
                <a:lnTo>
                  <a:pt x="15" y="134"/>
                </a:lnTo>
                <a:lnTo>
                  <a:pt x="20" y="140"/>
                </a:lnTo>
                <a:lnTo>
                  <a:pt x="26" y="146"/>
                </a:lnTo>
                <a:lnTo>
                  <a:pt x="32" y="152"/>
                </a:lnTo>
                <a:lnTo>
                  <a:pt x="38" y="156"/>
                </a:lnTo>
                <a:lnTo>
                  <a:pt x="44" y="161"/>
                </a:lnTo>
                <a:lnTo>
                  <a:pt x="52" y="164"/>
                </a:lnTo>
                <a:lnTo>
                  <a:pt x="61" y="167"/>
                </a:lnTo>
                <a:lnTo>
                  <a:pt x="68" y="170"/>
                </a:lnTo>
                <a:lnTo>
                  <a:pt x="78" y="170"/>
                </a:lnTo>
                <a:lnTo>
                  <a:pt x="85" y="172"/>
                </a:lnTo>
                <a:lnTo>
                  <a:pt x="94" y="170"/>
                </a:lnTo>
                <a:lnTo>
                  <a:pt x="103" y="170"/>
                </a:lnTo>
                <a:lnTo>
                  <a:pt x="111" y="167"/>
                </a:lnTo>
                <a:lnTo>
                  <a:pt x="119" y="164"/>
                </a:lnTo>
                <a:lnTo>
                  <a:pt x="126" y="161"/>
                </a:lnTo>
                <a:lnTo>
                  <a:pt x="134" y="156"/>
                </a:lnTo>
                <a:lnTo>
                  <a:pt x="140" y="152"/>
                </a:lnTo>
                <a:lnTo>
                  <a:pt x="146" y="146"/>
                </a:lnTo>
                <a:lnTo>
                  <a:pt x="152" y="140"/>
                </a:lnTo>
                <a:lnTo>
                  <a:pt x="157" y="134"/>
                </a:lnTo>
                <a:lnTo>
                  <a:pt x="161" y="126"/>
                </a:lnTo>
                <a:lnTo>
                  <a:pt x="164" y="118"/>
                </a:lnTo>
                <a:lnTo>
                  <a:pt x="167" y="111"/>
                </a:lnTo>
                <a:lnTo>
                  <a:pt x="169" y="103"/>
                </a:lnTo>
                <a:lnTo>
                  <a:pt x="170" y="94"/>
                </a:lnTo>
                <a:lnTo>
                  <a:pt x="172" y="87"/>
                </a:lnTo>
                <a:lnTo>
                  <a:pt x="170" y="77"/>
                </a:lnTo>
                <a:lnTo>
                  <a:pt x="169" y="68"/>
                </a:lnTo>
                <a:lnTo>
                  <a:pt x="167" y="61"/>
                </a:lnTo>
                <a:lnTo>
                  <a:pt x="164" y="53"/>
                </a:lnTo>
                <a:lnTo>
                  <a:pt x="161" y="46"/>
                </a:lnTo>
                <a:lnTo>
                  <a:pt x="157" y="38"/>
                </a:lnTo>
                <a:lnTo>
                  <a:pt x="152" y="32"/>
                </a:lnTo>
                <a:lnTo>
                  <a:pt x="146" y="26"/>
                </a:lnTo>
                <a:lnTo>
                  <a:pt x="140" y="20"/>
                </a:lnTo>
                <a:lnTo>
                  <a:pt x="134" y="15"/>
                </a:lnTo>
                <a:lnTo>
                  <a:pt x="126" y="11"/>
                </a:lnTo>
                <a:lnTo>
                  <a:pt x="119" y="8"/>
                </a:lnTo>
                <a:lnTo>
                  <a:pt x="111" y="5"/>
                </a:lnTo>
                <a:lnTo>
                  <a:pt x="103" y="2"/>
                </a:lnTo>
                <a:lnTo>
                  <a:pt x="94" y="2"/>
                </a:lnTo>
                <a:lnTo>
                  <a:pt x="85"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1670" name="Rectangle 54">
            <a:extLst>
              <a:ext uri="{FF2B5EF4-FFF2-40B4-BE49-F238E27FC236}">
                <a16:creationId xmlns:a16="http://schemas.microsoft.com/office/drawing/2014/main" id="{728D3220-AEFC-C5BE-FF4B-0535DA8D07DA}"/>
              </a:ext>
            </a:extLst>
          </p:cNvPr>
          <p:cNvSpPr>
            <a:spLocks noChangeArrowheads="1"/>
          </p:cNvSpPr>
          <p:nvPr/>
        </p:nvSpPr>
        <p:spPr bwMode="auto">
          <a:xfrm>
            <a:off x="7253289" y="4094164"/>
            <a:ext cx="1809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M</a:t>
            </a:r>
            <a:endParaRPr lang="en-US" altLang="en-US"/>
          </a:p>
        </p:txBody>
      </p:sp>
      <p:sp>
        <p:nvSpPr>
          <p:cNvPr id="111671" name="Freeform 55">
            <a:extLst>
              <a:ext uri="{FF2B5EF4-FFF2-40B4-BE49-F238E27FC236}">
                <a16:creationId xmlns:a16="http://schemas.microsoft.com/office/drawing/2014/main" id="{4CF019C4-DD89-DC71-C602-FF4558ECA111}"/>
              </a:ext>
            </a:extLst>
          </p:cNvPr>
          <p:cNvSpPr>
            <a:spLocks/>
          </p:cNvSpPr>
          <p:nvPr/>
        </p:nvSpPr>
        <p:spPr bwMode="auto">
          <a:xfrm>
            <a:off x="7599364" y="5721351"/>
            <a:ext cx="269875" cy="269875"/>
          </a:xfrm>
          <a:custGeom>
            <a:avLst/>
            <a:gdLst>
              <a:gd name="T0" fmla="*/ 76 w 170"/>
              <a:gd name="T1" fmla="*/ 0 h 170"/>
              <a:gd name="T2" fmla="*/ 59 w 170"/>
              <a:gd name="T3" fmla="*/ 3 h 170"/>
              <a:gd name="T4" fmla="*/ 44 w 170"/>
              <a:gd name="T5" fmla="*/ 10 h 170"/>
              <a:gd name="T6" fmla="*/ 30 w 170"/>
              <a:gd name="T7" fmla="*/ 19 h 170"/>
              <a:gd name="T8" fmla="*/ 18 w 170"/>
              <a:gd name="T9" fmla="*/ 30 h 170"/>
              <a:gd name="T10" fmla="*/ 9 w 170"/>
              <a:gd name="T11" fmla="*/ 44 h 170"/>
              <a:gd name="T12" fmla="*/ 3 w 170"/>
              <a:gd name="T13" fmla="*/ 59 h 170"/>
              <a:gd name="T14" fmla="*/ 0 w 170"/>
              <a:gd name="T15" fmla="*/ 75 h 170"/>
              <a:gd name="T16" fmla="*/ 0 w 170"/>
              <a:gd name="T17" fmla="*/ 94 h 170"/>
              <a:gd name="T18" fmla="*/ 3 w 170"/>
              <a:gd name="T19" fmla="*/ 110 h 170"/>
              <a:gd name="T20" fmla="*/ 9 w 170"/>
              <a:gd name="T21" fmla="*/ 126 h 170"/>
              <a:gd name="T22" fmla="*/ 18 w 170"/>
              <a:gd name="T23" fmla="*/ 139 h 170"/>
              <a:gd name="T24" fmla="*/ 30 w 170"/>
              <a:gd name="T25" fmla="*/ 150 h 170"/>
              <a:gd name="T26" fmla="*/ 44 w 170"/>
              <a:gd name="T27" fmla="*/ 160 h 170"/>
              <a:gd name="T28" fmla="*/ 59 w 170"/>
              <a:gd name="T29" fmla="*/ 167 h 170"/>
              <a:gd name="T30" fmla="*/ 76 w 170"/>
              <a:gd name="T31" fmla="*/ 170 h 170"/>
              <a:gd name="T32" fmla="*/ 94 w 170"/>
              <a:gd name="T33" fmla="*/ 170 h 170"/>
              <a:gd name="T34" fmla="*/ 111 w 170"/>
              <a:gd name="T35" fmla="*/ 167 h 170"/>
              <a:gd name="T36" fmla="*/ 126 w 170"/>
              <a:gd name="T37" fmla="*/ 160 h 170"/>
              <a:gd name="T38" fmla="*/ 140 w 170"/>
              <a:gd name="T39" fmla="*/ 150 h 170"/>
              <a:gd name="T40" fmla="*/ 150 w 170"/>
              <a:gd name="T41" fmla="*/ 139 h 170"/>
              <a:gd name="T42" fmla="*/ 159 w 170"/>
              <a:gd name="T43" fmla="*/ 126 h 170"/>
              <a:gd name="T44" fmla="*/ 167 w 170"/>
              <a:gd name="T45" fmla="*/ 110 h 170"/>
              <a:gd name="T46" fmla="*/ 170 w 170"/>
              <a:gd name="T47" fmla="*/ 94 h 170"/>
              <a:gd name="T48" fmla="*/ 170 w 170"/>
              <a:gd name="T49" fmla="*/ 75 h 170"/>
              <a:gd name="T50" fmla="*/ 167 w 170"/>
              <a:gd name="T51" fmla="*/ 59 h 170"/>
              <a:gd name="T52" fmla="*/ 159 w 170"/>
              <a:gd name="T53" fmla="*/ 44 h 170"/>
              <a:gd name="T54" fmla="*/ 150 w 170"/>
              <a:gd name="T55" fmla="*/ 30 h 170"/>
              <a:gd name="T56" fmla="*/ 140 w 170"/>
              <a:gd name="T57" fmla="*/ 19 h 170"/>
              <a:gd name="T58" fmla="*/ 126 w 170"/>
              <a:gd name="T59" fmla="*/ 10 h 170"/>
              <a:gd name="T60" fmla="*/ 111 w 170"/>
              <a:gd name="T61" fmla="*/ 3 h 170"/>
              <a:gd name="T62" fmla="*/ 94 w 170"/>
              <a:gd name="T63"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 h="170">
                <a:moveTo>
                  <a:pt x="85" y="0"/>
                </a:moveTo>
                <a:lnTo>
                  <a:pt x="76" y="0"/>
                </a:lnTo>
                <a:lnTo>
                  <a:pt x="67" y="1"/>
                </a:lnTo>
                <a:lnTo>
                  <a:pt x="59" y="3"/>
                </a:lnTo>
                <a:lnTo>
                  <a:pt x="52" y="6"/>
                </a:lnTo>
                <a:lnTo>
                  <a:pt x="44" y="10"/>
                </a:lnTo>
                <a:lnTo>
                  <a:pt x="36" y="13"/>
                </a:lnTo>
                <a:lnTo>
                  <a:pt x="30" y="19"/>
                </a:lnTo>
                <a:lnTo>
                  <a:pt x="24" y="24"/>
                </a:lnTo>
                <a:lnTo>
                  <a:pt x="18" y="30"/>
                </a:lnTo>
                <a:lnTo>
                  <a:pt x="14" y="37"/>
                </a:lnTo>
                <a:lnTo>
                  <a:pt x="9" y="44"/>
                </a:lnTo>
                <a:lnTo>
                  <a:pt x="6" y="51"/>
                </a:lnTo>
                <a:lnTo>
                  <a:pt x="3" y="59"/>
                </a:lnTo>
                <a:lnTo>
                  <a:pt x="1" y="68"/>
                </a:lnTo>
                <a:lnTo>
                  <a:pt x="0" y="75"/>
                </a:lnTo>
                <a:lnTo>
                  <a:pt x="0" y="85"/>
                </a:lnTo>
                <a:lnTo>
                  <a:pt x="0" y="94"/>
                </a:lnTo>
                <a:lnTo>
                  <a:pt x="1" y="101"/>
                </a:lnTo>
                <a:lnTo>
                  <a:pt x="3" y="110"/>
                </a:lnTo>
                <a:lnTo>
                  <a:pt x="6" y="118"/>
                </a:lnTo>
                <a:lnTo>
                  <a:pt x="9" y="126"/>
                </a:lnTo>
                <a:lnTo>
                  <a:pt x="14" y="133"/>
                </a:lnTo>
                <a:lnTo>
                  <a:pt x="18" y="139"/>
                </a:lnTo>
                <a:lnTo>
                  <a:pt x="24" y="145"/>
                </a:lnTo>
                <a:lnTo>
                  <a:pt x="30" y="150"/>
                </a:lnTo>
                <a:lnTo>
                  <a:pt x="36" y="156"/>
                </a:lnTo>
                <a:lnTo>
                  <a:pt x="44" y="160"/>
                </a:lnTo>
                <a:lnTo>
                  <a:pt x="52" y="163"/>
                </a:lnTo>
                <a:lnTo>
                  <a:pt x="59" y="167"/>
                </a:lnTo>
                <a:lnTo>
                  <a:pt x="67" y="168"/>
                </a:lnTo>
                <a:lnTo>
                  <a:pt x="76" y="170"/>
                </a:lnTo>
                <a:lnTo>
                  <a:pt x="85" y="170"/>
                </a:lnTo>
                <a:lnTo>
                  <a:pt x="94" y="170"/>
                </a:lnTo>
                <a:lnTo>
                  <a:pt x="102" y="168"/>
                </a:lnTo>
                <a:lnTo>
                  <a:pt x="111" y="167"/>
                </a:lnTo>
                <a:lnTo>
                  <a:pt x="118" y="163"/>
                </a:lnTo>
                <a:lnTo>
                  <a:pt x="126" y="160"/>
                </a:lnTo>
                <a:lnTo>
                  <a:pt x="132" y="156"/>
                </a:lnTo>
                <a:lnTo>
                  <a:pt x="140" y="150"/>
                </a:lnTo>
                <a:lnTo>
                  <a:pt x="146" y="145"/>
                </a:lnTo>
                <a:lnTo>
                  <a:pt x="150" y="139"/>
                </a:lnTo>
                <a:lnTo>
                  <a:pt x="155" y="133"/>
                </a:lnTo>
                <a:lnTo>
                  <a:pt x="159" y="126"/>
                </a:lnTo>
                <a:lnTo>
                  <a:pt x="164" y="118"/>
                </a:lnTo>
                <a:lnTo>
                  <a:pt x="167" y="110"/>
                </a:lnTo>
                <a:lnTo>
                  <a:pt x="169" y="101"/>
                </a:lnTo>
                <a:lnTo>
                  <a:pt x="170" y="94"/>
                </a:lnTo>
                <a:lnTo>
                  <a:pt x="170" y="85"/>
                </a:lnTo>
                <a:lnTo>
                  <a:pt x="170" y="75"/>
                </a:lnTo>
                <a:lnTo>
                  <a:pt x="169" y="68"/>
                </a:lnTo>
                <a:lnTo>
                  <a:pt x="167" y="59"/>
                </a:lnTo>
                <a:lnTo>
                  <a:pt x="164" y="51"/>
                </a:lnTo>
                <a:lnTo>
                  <a:pt x="159" y="44"/>
                </a:lnTo>
                <a:lnTo>
                  <a:pt x="155" y="37"/>
                </a:lnTo>
                <a:lnTo>
                  <a:pt x="150" y="30"/>
                </a:lnTo>
                <a:lnTo>
                  <a:pt x="146" y="24"/>
                </a:lnTo>
                <a:lnTo>
                  <a:pt x="140" y="19"/>
                </a:lnTo>
                <a:lnTo>
                  <a:pt x="132" y="13"/>
                </a:lnTo>
                <a:lnTo>
                  <a:pt x="126" y="10"/>
                </a:lnTo>
                <a:lnTo>
                  <a:pt x="118" y="6"/>
                </a:lnTo>
                <a:lnTo>
                  <a:pt x="111" y="3"/>
                </a:lnTo>
                <a:lnTo>
                  <a:pt x="102" y="1"/>
                </a:lnTo>
                <a:lnTo>
                  <a:pt x="94" y="0"/>
                </a:lnTo>
                <a:lnTo>
                  <a:pt x="85" y="0"/>
                </a:lnTo>
                <a:close/>
              </a:path>
            </a:pathLst>
          </a:custGeom>
          <a:solidFill>
            <a:srgbClr val="00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1672" name="Freeform 56">
            <a:extLst>
              <a:ext uri="{FF2B5EF4-FFF2-40B4-BE49-F238E27FC236}">
                <a16:creationId xmlns:a16="http://schemas.microsoft.com/office/drawing/2014/main" id="{49B1E81A-FF10-863B-33D5-BFEA9CC6FA2E}"/>
              </a:ext>
            </a:extLst>
          </p:cNvPr>
          <p:cNvSpPr>
            <a:spLocks/>
          </p:cNvSpPr>
          <p:nvPr/>
        </p:nvSpPr>
        <p:spPr bwMode="auto">
          <a:xfrm>
            <a:off x="7599364" y="5721351"/>
            <a:ext cx="269875" cy="269875"/>
          </a:xfrm>
          <a:custGeom>
            <a:avLst/>
            <a:gdLst>
              <a:gd name="T0" fmla="*/ 76 w 170"/>
              <a:gd name="T1" fmla="*/ 0 h 170"/>
              <a:gd name="T2" fmla="*/ 59 w 170"/>
              <a:gd name="T3" fmla="*/ 3 h 170"/>
              <a:gd name="T4" fmla="*/ 44 w 170"/>
              <a:gd name="T5" fmla="*/ 10 h 170"/>
              <a:gd name="T6" fmla="*/ 30 w 170"/>
              <a:gd name="T7" fmla="*/ 19 h 170"/>
              <a:gd name="T8" fmla="*/ 18 w 170"/>
              <a:gd name="T9" fmla="*/ 30 h 170"/>
              <a:gd name="T10" fmla="*/ 9 w 170"/>
              <a:gd name="T11" fmla="*/ 44 h 170"/>
              <a:gd name="T12" fmla="*/ 3 w 170"/>
              <a:gd name="T13" fmla="*/ 59 h 170"/>
              <a:gd name="T14" fmla="*/ 0 w 170"/>
              <a:gd name="T15" fmla="*/ 75 h 170"/>
              <a:gd name="T16" fmla="*/ 0 w 170"/>
              <a:gd name="T17" fmla="*/ 94 h 170"/>
              <a:gd name="T18" fmla="*/ 3 w 170"/>
              <a:gd name="T19" fmla="*/ 110 h 170"/>
              <a:gd name="T20" fmla="*/ 9 w 170"/>
              <a:gd name="T21" fmla="*/ 126 h 170"/>
              <a:gd name="T22" fmla="*/ 18 w 170"/>
              <a:gd name="T23" fmla="*/ 139 h 170"/>
              <a:gd name="T24" fmla="*/ 30 w 170"/>
              <a:gd name="T25" fmla="*/ 150 h 170"/>
              <a:gd name="T26" fmla="*/ 44 w 170"/>
              <a:gd name="T27" fmla="*/ 160 h 170"/>
              <a:gd name="T28" fmla="*/ 59 w 170"/>
              <a:gd name="T29" fmla="*/ 167 h 170"/>
              <a:gd name="T30" fmla="*/ 76 w 170"/>
              <a:gd name="T31" fmla="*/ 170 h 170"/>
              <a:gd name="T32" fmla="*/ 94 w 170"/>
              <a:gd name="T33" fmla="*/ 170 h 170"/>
              <a:gd name="T34" fmla="*/ 111 w 170"/>
              <a:gd name="T35" fmla="*/ 167 h 170"/>
              <a:gd name="T36" fmla="*/ 126 w 170"/>
              <a:gd name="T37" fmla="*/ 160 h 170"/>
              <a:gd name="T38" fmla="*/ 140 w 170"/>
              <a:gd name="T39" fmla="*/ 150 h 170"/>
              <a:gd name="T40" fmla="*/ 150 w 170"/>
              <a:gd name="T41" fmla="*/ 139 h 170"/>
              <a:gd name="T42" fmla="*/ 159 w 170"/>
              <a:gd name="T43" fmla="*/ 126 h 170"/>
              <a:gd name="T44" fmla="*/ 167 w 170"/>
              <a:gd name="T45" fmla="*/ 110 h 170"/>
              <a:gd name="T46" fmla="*/ 170 w 170"/>
              <a:gd name="T47" fmla="*/ 94 h 170"/>
              <a:gd name="T48" fmla="*/ 170 w 170"/>
              <a:gd name="T49" fmla="*/ 75 h 170"/>
              <a:gd name="T50" fmla="*/ 167 w 170"/>
              <a:gd name="T51" fmla="*/ 59 h 170"/>
              <a:gd name="T52" fmla="*/ 159 w 170"/>
              <a:gd name="T53" fmla="*/ 44 h 170"/>
              <a:gd name="T54" fmla="*/ 150 w 170"/>
              <a:gd name="T55" fmla="*/ 30 h 170"/>
              <a:gd name="T56" fmla="*/ 140 w 170"/>
              <a:gd name="T57" fmla="*/ 19 h 170"/>
              <a:gd name="T58" fmla="*/ 126 w 170"/>
              <a:gd name="T59" fmla="*/ 10 h 170"/>
              <a:gd name="T60" fmla="*/ 111 w 170"/>
              <a:gd name="T61" fmla="*/ 3 h 170"/>
              <a:gd name="T62" fmla="*/ 94 w 170"/>
              <a:gd name="T63"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 h="170">
                <a:moveTo>
                  <a:pt x="85" y="0"/>
                </a:moveTo>
                <a:lnTo>
                  <a:pt x="76" y="0"/>
                </a:lnTo>
                <a:lnTo>
                  <a:pt x="67" y="1"/>
                </a:lnTo>
                <a:lnTo>
                  <a:pt x="59" y="3"/>
                </a:lnTo>
                <a:lnTo>
                  <a:pt x="52" y="6"/>
                </a:lnTo>
                <a:lnTo>
                  <a:pt x="44" y="10"/>
                </a:lnTo>
                <a:lnTo>
                  <a:pt x="36" y="13"/>
                </a:lnTo>
                <a:lnTo>
                  <a:pt x="30" y="19"/>
                </a:lnTo>
                <a:lnTo>
                  <a:pt x="24" y="24"/>
                </a:lnTo>
                <a:lnTo>
                  <a:pt x="18" y="30"/>
                </a:lnTo>
                <a:lnTo>
                  <a:pt x="14" y="37"/>
                </a:lnTo>
                <a:lnTo>
                  <a:pt x="9" y="44"/>
                </a:lnTo>
                <a:lnTo>
                  <a:pt x="6" y="51"/>
                </a:lnTo>
                <a:lnTo>
                  <a:pt x="3" y="59"/>
                </a:lnTo>
                <a:lnTo>
                  <a:pt x="1" y="68"/>
                </a:lnTo>
                <a:lnTo>
                  <a:pt x="0" y="75"/>
                </a:lnTo>
                <a:lnTo>
                  <a:pt x="0" y="85"/>
                </a:lnTo>
                <a:lnTo>
                  <a:pt x="0" y="94"/>
                </a:lnTo>
                <a:lnTo>
                  <a:pt x="1" y="101"/>
                </a:lnTo>
                <a:lnTo>
                  <a:pt x="3" y="110"/>
                </a:lnTo>
                <a:lnTo>
                  <a:pt x="6" y="118"/>
                </a:lnTo>
                <a:lnTo>
                  <a:pt x="9" y="126"/>
                </a:lnTo>
                <a:lnTo>
                  <a:pt x="14" y="133"/>
                </a:lnTo>
                <a:lnTo>
                  <a:pt x="18" y="139"/>
                </a:lnTo>
                <a:lnTo>
                  <a:pt x="24" y="145"/>
                </a:lnTo>
                <a:lnTo>
                  <a:pt x="30" y="150"/>
                </a:lnTo>
                <a:lnTo>
                  <a:pt x="36" y="156"/>
                </a:lnTo>
                <a:lnTo>
                  <a:pt x="44" y="160"/>
                </a:lnTo>
                <a:lnTo>
                  <a:pt x="52" y="163"/>
                </a:lnTo>
                <a:lnTo>
                  <a:pt x="59" y="167"/>
                </a:lnTo>
                <a:lnTo>
                  <a:pt x="67" y="168"/>
                </a:lnTo>
                <a:lnTo>
                  <a:pt x="76" y="170"/>
                </a:lnTo>
                <a:lnTo>
                  <a:pt x="85" y="170"/>
                </a:lnTo>
                <a:lnTo>
                  <a:pt x="94" y="170"/>
                </a:lnTo>
                <a:lnTo>
                  <a:pt x="102" y="168"/>
                </a:lnTo>
                <a:lnTo>
                  <a:pt x="111" y="167"/>
                </a:lnTo>
                <a:lnTo>
                  <a:pt x="118" y="163"/>
                </a:lnTo>
                <a:lnTo>
                  <a:pt x="126" y="160"/>
                </a:lnTo>
                <a:lnTo>
                  <a:pt x="132" y="156"/>
                </a:lnTo>
                <a:lnTo>
                  <a:pt x="140" y="150"/>
                </a:lnTo>
                <a:lnTo>
                  <a:pt x="146" y="145"/>
                </a:lnTo>
                <a:lnTo>
                  <a:pt x="150" y="139"/>
                </a:lnTo>
                <a:lnTo>
                  <a:pt x="155" y="133"/>
                </a:lnTo>
                <a:lnTo>
                  <a:pt x="159" y="126"/>
                </a:lnTo>
                <a:lnTo>
                  <a:pt x="164" y="118"/>
                </a:lnTo>
                <a:lnTo>
                  <a:pt x="167" y="110"/>
                </a:lnTo>
                <a:lnTo>
                  <a:pt x="169" y="101"/>
                </a:lnTo>
                <a:lnTo>
                  <a:pt x="170" y="94"/>
                </a:lnTo>
                <a:lnTo>
                  <a:pt x="170" y="85"/>
                </a:lnTo>
                <a:lnTo>
                  <a:pt x="170" y="75"/>
                </a:lnTo>
                <a:lnTo>
                  <a:pt x="169" y="68"/>
                </a:lnTo>
                <a:lnTo>
                  <a:pt x="167" y="59"/>
                </a:lnTo>
                <a:lnTo>
                  <a:pt x="164" y="51"/>
                </a:lnTo>
                <a:lnTo>
                  <a:pt x="159" y="44"/>
                </a:lnTo>
                <a:lnTo>
                  <a:pt x="155" y="37"/>
                </a:lnTo>
                <a:lnTo>
                  <a:pt x="150" y="30"/>
                </a:lnTo>
                <a:lnTo>
                  <a:pt x="146" y="24"/>
                </a:lnTo>
                <a:lnTo>
                  <a:pt x="140" y="19"/>
                </a:lnTo>
                <a:lnTo>
                  <a:pt x="132" y="13"/>
                </a:lnTo>
                <a:lnTo>
                  <a:pt x="126" y="10"/>
                </a:lnTo>
                <a:lnTo>
                  <a:pt x="118" y="6"/>
                </a:lnTo>
                <a:lnTo>
                  <a:pt x="111" y="3"/>
                </a:lnTo>
                <a:lnTo>
                  <a:pt x="102" y="1"/>
                </a:lnTo>
                <a:lnTo>
                  <a:pt x="94" y="0"/>
                </a:lnTo>
                <a:lnTo>
                  <a:pt x="85"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1673" name="Rectangle 57">
            <a:extLst>
              <a:ext uri="{FF2B5EF4-FFF2-40B4-BE49-F238E27FC236}">
                <a16:creationId xmlns:a16="http://schemas.microsoft.com/office/drawing/2014/main" id="{F93F75F2-AF14-ABBB-9C42-E856C4399F0C}"/>
              </a:ext>
            </a:extLst>
          </p:cNvPr>
          <p:cNvSpPr>
            <a:spLocks noChangeArrowheads="1"/>
          </p:cNvSpPr>
          <p:nvPr/>
        </p:nvSpPr>
        <p:spPr bwMode="auto">
          <a:xfrm>
            <a:off x="7661275" y="5753101"/>
            <a:ext cx="10740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K</a:t>
            </a:r>
            <a:endParaRPr lang="en-US" altLang="en-US"/>
          </a:p>
        </p:txBody>
      </p:sp>
      <p:sp>
        <p:nvSpPr>
          <p:cNvPr id="111674" name="Freeform 58">
            <a:extLst>
              <a:ext uri="{FF2B5EF4-FFF2-40B4-BE49-F238E27FC236}">
                <a16:creationId xmlns:a16="http://schemas.microsoft.com/office/drawing/2014/main" id="{40752F57-E83A-A6D0-BDA4-6005C2320041}"/>
              </a:ext>
            </a:extLst>
          </p:cNvPr>
          <p:cNvSpPr>
            <a:spLocks/>
          </p:cNvSpPr>
          <p:nvPr/>
        </p:nvSpPr>
        <p:spPr bwMode="auto">
          <a:xfrm>
            <a:off x="3557589" y="5387975"/>
            <a:ext cx="269875" cy="273050"/>
          </a:xfrm>
          <a:custGeom>
            <a:avLst/>
            <a:gdLst>
              <a:gd name="T0" fmla="*/ 76 w 170"/>
              <a:gd name="T1" fmla="*/ 2 h 172"/>
              <a:gd name="T2" fmla="*/ 59 w 170"/>
              <a:gd name="T3" fmla="*/ 5 h 172"/>
              <a:gd name="T4" fmla="*/ 44 w 170"/>
              <a:gd name="T5" fmla="*/ 11 h 172"/>
              <a:gd name="T6" fmla="*/ 30 w 170"/>
              <a:gd name="T7" fmla="*/ 20 h 172"/>
              <a:gd name="T8" fmla="*/ 18 w 170"/>
              <a:gd name="T9" fmla="*/ 32 h 172"/>
              <a:gd name="T10" fmla="*/ 9 w 170"/>
              <a:gd name="T11" fmla="*/ 46 h 172"/>
              <a:gd name="T12" fmla="*/ 3 w 170"/>
              <a:gd name="T13" fmla="*/ 61 h 172"/>
              <a:gd name="T14" fmla="*/ 0 w 170"/>
              <a:gd name="T15" fmla="*/ 77 h 172"/>
              <a:gd name="T16" fmla="*/ 0 w 170"/>
              <a:gd name="T17" fmla="*/ 94 h 172"/>
              <a:gd name="T18" fmla="*/ 3 w 170"/>
              <a:gd name="T19" fmla="*/ 111 h 172"/>
              <a:gd name="T20" fmla="*/ 9 w 170"/>
              <a:gd name="T21" fmla="*/ 126 h 172"/>
              <a:gd name="T22" fmla="*/ 18 w 170"/>
              <a:gd name="T23" fmla="*/ 140 h 172"/>
              <a:gd name="T24" fmla="*/ 30 w 170"/>
              <a:gd name="T25" fmla="*/ 152 h 172"/>
              <a:gd name="T26" fmla="*/ 44 w 170"/>
              <a:gd name="T27" fmla="*/ 161 h 172"/>
              <a:gd name="T28" fmla="*/ 59 w 170"/>
              <a:gd name="T29" fmla="*/ 167 h 172"/>
              <a:gd name="T30" fmla="*/ 76 w 170"/>
              <a:gd name="T31" fmla="*/ 170 h 172"/>
              <a:gd name="T32" fmla="*/ 94 w 170"/>
              <a:gd name="T33" fmla="*/ 170 h 172"/>
              <a:gd name="T34" fmla="*/ 111 w 170"/>
              <a:gd name="T35" fmla="*/ 167 h 172"/>
              <a:gd name="T36" fmla="*/ 126 w 170"/>
              <a:gd name="T37" fmla="*/ 161 h 172"/>
              <a:gd name="T38" fmla="*/ 139 w 170"/>
              <a:gd name="T39" fmla="*/ 152 h 172"/>
              <a:gd name="T40" fmla="*/ 150 w 170"/>
              <a:gd name="T41" fmla="*/ 140 h 172"/>
              <a:gd name="T42" fmla="*/ 159 w 170"/>
              <a:gd name="T43" fmla="*/ 126 h 172"/>
              <a:gd name="T44" fmla="*/ 165 w 170"/>
              <a:gd name="T45" fmla="*/ 111 h 172"/>
              <a:gd name="T46" fmla="*/ 170 w 170"/>
              <a:gd name="T47" fmla="*/ 94 h 172"/>
              <a:gd name="T48" fmla="*/ 170 w 170"/>
              <a:gd name="T49" fmla="*/ 77 h 172"/>
              <a:gd name="T50" fmla="*/ 165 w 170"/>
              <a:gd name="T51" fmla="*/ 61 h 172"/>
              <a:gd name="T52" fmla="*/ 159 w 170"/>
              <a:gd name="T53" fmla="*/ 46 h 172"/>
              <a:gd name="T54" fmla="*/ 150 w 170"/>
              <a:gd name="T55" fmla="*/ 32 h 172"/>
              <a:gd name="T56" fmla="*/ 139 w 170"/>
              <a:gd name="T57" fmla="*/ 20 h 172"/>
              <a:gd name="T58" fmla="*/ 126 w 170"/>
              <a:gd name="T59" fmla="*/ 11 h 172"/>
              <a:gd name="T60" fmla="*/ 111 w 170"/>
              <a:gd name="T61" fmla="*/ 5 h 172"/>
              <a:gd name="T62" fmla="*/ 94 w 170"/>
              <a:gd name="T63" fmla="*/ 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 h="172">
                <a:moveTo>
                  <a:pt x="85" y="0"/>
                </a:moveTo>
                <a:lnTo>
                  <a:pt x="76" y="2"/>
                </a:lnTo>
                <a:lnTo>
                  <a:pt x="66" y="2"/>
                </a:lnTo>
                <a:lnTo>
                  <a:pt x="59" y="5"/>
                </a:lnTo>
                <a:lnTo>
                  <a:pt x="51" y="8"/>
                </a:lnTo>
                <a:lnTo>
                  <a:pt x="44" y="11"/>
                </a:lnTo>
                <a:lnTo>
                  <a:pt x="36" y="15"/>
                </a:lnTo>
                <a:lnTo>
                  <a:pt x="30" y="20"/>
                </a:lnTo>
                <a:lnTo>
                  <a:pt x="24" y="26"/>
                </a:lnTo>
                <a:lnTo>
                  <a:pt x="18" y="32"/>
                </a:lnTo>
                <a:lnTo>
                  <a:pt x="13" y="38"/>
                </a:lnTo>
                <a:lnTo>
                  <a:pt x="9" y="46"/>
                </a:lnTo>
                <a:lnTo>
                  <a:pt x="6" y="53"/>
                </a:lnTo>
                <a:lnTo>
                  <a:pt x="3" y="61"/>
                </a:lnTo>
                <a:lnTo>
                  <a:pt x="1" y="68"/>
                </a:lnTo>
                <a:lnTo>
                  <a:pt x="0" y="77"/>
                </a:lnTo>
                <a:lnTo>
                  <a:pt x="0" y="87"/>
                </a:lnTo>
                <a:lnTo>
                  <a:pt x="0" y="94"/>
                </a:lnTo>
                <a:lnTo>
                  <a:pt x="1" y="103"/>
                </a:lnTo>
                <a:lnTo>
                  <a:pt x="3" y="111"/>
                </a:lnTo>
                <a:lnTo>
                  <a:pt x="6" y="118"/>
                </a:lnTo>
                <a:lnTo>
                  <a:pt x="9" y="126"/>
                </a:lnTo>
                <a:lnTo>
                  <a:pt x="13" y="134"/>
                </a:lnTo>
                <a:lnTo>
                  <a:pt x="18" y="140"/>
                </a:lnTo>
                <a:lnTo>
                  <a:pt x="24" y="146"/>
                </a:lnTo>
                <a:lnTo>
                  <a:pt x="30" y="152"/>
                </a:lnTo>
                <a:lnTo>
                  <a:pt x="36" y="156"/>
                </a:lnTo>
                <a:lnTo>
                  <a:pt x="44" y="161"/>
                </a:lnTo>
                <a:lnTo>
                  <a:pt x="51" y="164"/>
                </a:lnTo>
                <a:lnTo>
                  <a:pt x="59" y="167"/>
                </a:lnTo>
                <a:lnTo>
                  <a:pt x="66" y="170"/>
                </a:lnTo>
                <a:lnTo>
                  <a:pt x="76" y="170"/>
                </a:lnTo>
                <a:lnTo>
                  <a:pt x="85" y="172"/>
                </a:lnTo>
                <a:lnTo>
                  <a:pt x="94" y="170"/>
                </a:lnTo>
                <a:lnTo>
                  <a:pt x="101" y="170"/>
                </a:lnTo>
                <a:lnTo>
                  <a:pt x="111" y="167"/>
                </a:lnTo>
                <a:lnTo>
                  <a:pt x="118" y="164"/>
                </a:lnTo>
                <a:lnTo>
                  <a:pt x="126" y="161"/>
                </a:lnTo>
                <a:lnTo>
                  <a:pt x="132" y="156"/>
                </a:lnTo>
                <a:lnTo>
                  <a:pt x="139" y="152"/>
                </a:lnTo>
                <a:lnTo>
                  <a:pt x="145" y="146"/>
                </a:lnTo>
                <a:lnTo>
                  <a:pt x="150" y="140"/>
                </a:lnTo>
                <a:lnTo>
                  <a:pt x="155" y="134"/>
                </a:lnTo>
                <a:lnTo>
                  <a:pt x="159" y="126"/>
                </a:lnTo>
                <a:lnTo>
                  <a:pt x="164" y="118"/>
                </a:lnTo>
                <a:lnTo>
                  <a:pt x="165" y="111"/>
                </a:lnTo>
                <a:lnTo>
                  <a:pt x="168" y="103"/>
                </a:lnTo>
                <a:lnTo>
                  <a:pt x="170" y="94"/>
                </a:lnTo>
                <a:lnTo>
                  <a:pt x="170" y="87"/>
                </a:lnTo>
                <a:lnTo>
                  <a:pt x="170" y="77"/>
                </a:lnTo>
                <a:lnTo>
                  <a:pt x="168" y="68"/>
                </a:lnTo>
                <a:lnTo>
                  <a:pt x="165" y="61"/>
                </a:lnTo>
                <a:lnTo>
                  <a:pt x="164" y="53"/>
                </a:lnTo>
                <a:lnTo>
                  <a:pt x="159" y="46"/>
                </a:lnTo>
                <a:lnTo>
                  <a:pt x="155" y="38"/>
                </a:lnTo>
                <a:lnTo>
                  <a:pt x="150" y="32"/>
                </a:lnTo>
                <a:lnTo>
                  <a:pt x="145" y="26"/>
                </a:lnTo>
                <a:lnTo>
                  <a:pt x="139" y="20"/>
                </a:lnTo>
                <a:lnTo>
                  <a:pt x="132" y="15"/>
                </a:lnTo>
                <a:lnTo>
                  <a:pt x="126" y="11"/>
                </a:lnTo>
                <a:lnTo>
                  <a:pt x="118" y="8"/>
                </a:lnTo>
                <a:lnTo>
                  <a:pt x="111" y="5"/>
                </a:lnTo>
                <a:lnTo>
                  <a:pt x="101" y="2"/>
                </a:lnTo>
                <a:lnTo>
                  <a:pt x="94" y="2"/>
                </a:lnTo>
                <a:lnTo>
                  <a:pt x="85" y="0"/>
                </a:lnTo>
                <a:close/>
              </a:path>
            </a:pathLst>
          </a:custGeom>
          <a:solidFill>
            <a:srgbClr val="00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1675" name="Freeform 59">
            <a:extLst>
              <a:ext uri="{FF2B5EF4-FFF2-40B4-BE49-F238E27FC236}">
                <a16:creationId xmlns:a16="http://schemas.microsoft.com/office/drawing/2014/main" id="{0A05AD05-6C8C-38F7-7ECB-1E40531F511C}"/>
              </a:ext>
            </a:extLst>
          </p:cNvPr>
          <p:cNvSpPr>
            <a:spLocks/>
          </p:cNvSpPr>
          <p:nvPr/>
        </p:nvSpPr>
        <p:spPr bwMode="auto">
          <a:xfrm>
            <a:off x="3557589" y="5387975"/>
            <a:ext cx="269875" cy="273050"/>
          </a:xfrm>
          <a:custGeom>
            <a:avLst/>
            <a:gdLst>
              <a:gd name="T0" fmla="*/ 76 w 170"/>
              <a:gd name="T1" fmla="*/ 2 h 172"/>
              <a:gd name="T2" fmla="*/ 59 w 170"/>
              <a:gd name="T3" fmla="*/ 5 h 172"/>
              <a:gd name="T4" fmla="*/ 44 w 170"/>
              <a:gd name="T5" fmla="*/ 11 h 172"/>
              <a:gd name="T6" fmla="*/ 30 w 170"/>
              <a:gd name="T7" fmla="*/ 20 h 172"/>
              <a:gd name="T8" fmla="*/ 18 w 170"/>
              <a:gd name="T9" fmla="*/ 32 h 172"/>
              <a:gd name="T10" fmla="*/ 9 w 170"/>
              <a:gd name="T11" fmla="*/ 46 h 172"/>
              <a:gd name="T12" fmla="*/ 3 w 170"/>
              <a:gd name="T13" fmla="*/ 61 h 172"/>
              <a:gd name="T14" fmla="*/ 0 w 170"/>
              <a:gd name="T15" fmla="*/ 77 h 172"/>
              <a:gd name="T16" fmla="*/ 0 w 170"/>
              <a:gd name="T17" fmla="*/ 94 h 172"/>
              <a:gd name="T18" fmla="*/ 3 w 170"/>
              <a:gd name="T19" fmla="*/ 111 h 172"/>
              <a:gd name="T20" fmla="*/ 9 w 170"/>
              <a:gd name="T21" fmla="*/ 126 h 172"/>
              <a:gd name="T22" fmla="*/ 18 w 170"/>
              <a:gd name="T23" fmla="*/ 140 h 172"/>
              <a:gd name="T24" fmla="*/ 30 w 170"/>
              <a:gd name="T25" fmla="*/ 152 h 172"/>
              <a:gd name="T26" fmla="*/ 44 w 170"/>
              <a:gd name="T27" fmla="*/ 161 h 172"/>
              <a:gd name="T28" fmla="*/ 59 w 170"/>
              <a:gd name="T29" fmla="*/ 167 h 172"/>
              <a:gd name="T30" fmla="*/ 76 w 170"/>
              <a:gd name="T31" fmla="*/ 170 h 172"/>
              <a:gd name="T32" fmla="*/ 94 w 170"/>
              <a:gd name="T33" fmla="*/ 170 h 172"/>
              <a:gd name="T34" fmla="*/ 111 w 170"/>
              <a:gd name="T35" fmla="*/ 167 h 172"/>
              <a:gd name="T36" fmla="*/ 126 w 170"/>
              <a:gd name="T37" fmla="*/ 161 h 172"/>
              <a:gd name="T38" fmla="*/ 139 w 170"/>
              <a:gd name="T39" fmla="*/ 152 h 172"/>
              <a:gd name="T40" fmla="*/ 150 w 170"/>
              <a:gd name="T41" fmla="*/ 140 h 172"/>
              <a:gd name="T42" fmla="*/ 159 w 170"/>
              <a:gd name="T43" fmla="*/ 126 h 172"/>
              <a:gd name="T44" fmla="*/ 165 w 170"/>
              <a:gd name="T45" fmla="*/ 111 h 172"/>
              <a:gd name="T46" fmla="*/ 170 w 170"/>
              <a:gd name="T47" fmla="*/ 94 h 172"/>
              <a:gd name="T48" fmla="*/ 170 w 170"/>
              <a:gd name="T49" fmla="*/ 77 h 172"/>
              <a:gd name="T50" fmla="*/ 165 w 170"/>
              <a:gd name="T51" fmla="*/ 61 h 172"/>
              <a:gd name="T52" fmla="*/ 159 w 170"/>
              <a:gd name="T53" fmla="*/ 46 h 172"/>
              <a:gd name="T54" fmla="*/ 150 w 170"/>
              <a:gd name="T55" fmla="*/ 32 h 172"/>
              <a:gd name="T56" fmla="*/ 139 w 170"/>
              <a:gd name="T57" fmla="*/ 20 h 172"/>
              <a:gd name="T58" fmla="*/ 126 w 170"/>
              <a:gd name="T59" fmla="*/ 11 h 172"/>
              <a:gd name="T60" fmla="*/ 111 w 170"/>
              <a:gd name="T61" fmla="*/ 5 h 172"/>
              <a:gd name="T62" fmla="*/ 94 w 170"/>
              <a:gd name="T63" fmla="*/ 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 h="172">
                <a:moveTo>
                  <a:pt x="85" y="0"/>
                </a:moveTo>
                <a:lnTo>
                  <a:pt x="76" y="2"/>
                </a:lnTo>
                <a:lnTo>
                  <a:pt x="66" y="2"/>
                </a:lnTo>
                <a:lnTo>
                  <a:pt x="59" y="5"/>
                </a:lnTo>
                <a:lnTo>
                  <a:pt x="51" y="8"/>
                </a:lnTo>
                <a:lnTo>
                  <a:pt x="44" y="11"/>
                </a:lnTo>
                <a:lnTo>
                  <a:pt x="36" y="15"/>
                </a:lnTo>
                <a:lnTo>
                  <a:pt x="30" y="20"/>
                </a:lnTo>
                <a:lnTo>
                  <a:pt x="24" y="26"/>
                </a:lnTo>
                <a:lnTo>
                  <a:pt x="18" y="32"/>
                </a:lnTo>
                <a:lnTo>
                  <a:pt x="13" y="38"/>
                </a:lnTo>
                <a:lnTo>
                  <a:pt x="9" y="46"/>
                </a:lnTo>
                <a:lnTo>
                  <a:pt x="6" y="53"/>
                </a:lnTo>
                <a:lnTo>
                  <a:pt x="3" y="61"/>
                </a:lnTo>
                <a:lnTo>
                  <a:pt x="1" y="68"/>
                </a:lnTo>
                <a:lnTo>
                  <a:pt x="0" y="77"/>
                </a:lnTo>
                <a:lnTo>
                  <a:pt x="0" y="87"/>
                </a:lnTo>
                <a:lnTo>
                  <a:pt x="0" y="94"/>
                </a:lnTo>
                <a:lnTo>
                  <a:pt x="1" y="103"/>
                </a:lnTo>
                <a:lnTo>
                  <a:pt x="3" y="111"/>
                </a:lnTo>
                <a:lnTo>
                  <a:pt x="6" y="118"/>
                </a:lnTo>
                <a:lnTo>
                  <a:pt x="9" y="126"/>
                </a:lnTo>
                <a:lnTo>
                  <a:pt x="13" y="134"/>
                </a:lnTo>
                <a:lnTo>
                  <a:pt x="18" y="140"/>
                </a:lnTo>
                <a:lnTo>
                  <a:pt x="24" y="146"/>
                </a:lnTo>
                <a:lnTo>
                  <a:pt x="30" y="152"/>
                </a:lnTo>
                <a:lnTo>
                  <a:pt x="36" y="156"/>
                </a:lnTo>
                <a:lnTo>
                  <a:pt x="44" y="161"/>
                </a:lnTo>
                <a:lnTo>
                  <a:pt x="51" y="164"/>
                </a:lnTo>
                <a:lnTo>
                  <a:pt x="59" y="167"/>
                </a:lnTo>
                <a:lnTo>
                  <a:pt x="66" y="170"/>
                </a:lnTo>
                <a:lnTo>
                  <a:pt x="76" y="170"/>
                </a:lnTo>
                <a:lnTo>
                  <a:pt x="85" y="172"/>
                </a:lnTo>
                <a:lnTo>
                  <a:pt x="94" y="170"/>
                </a:lnTo>
                <a:lnTo>
                  <a:pt x="101" y="170"/>
                </a:lnTo>
                <a:lnTo>
                  <a:pt x="111" y="167"/>
                </a:lnTo>
                <a:lnTo>
                  <a:pt x="118" y="164"/>
                </a:lnTo>
                <a:lnTo>
                  <a:pt x="126" y="161"/>
                </a:lnTo>
                <a:lnTo>
                  <a:pt x="132" y="156"/>
                </a:lnTo>
                <a:lnTo>
                  <a:pt x="139" y="152"/>
                </a:lnTo>
                <a:lnTo>
                  <a:pt x="145" y="146"/>
                </a:lnTo>
                <a:lnTo>
                  <a:pt x="150" y="140"/>
                </a:lnTo>
                <a:lnTo>
                  <a:pt x="155" y="134"/>
                </a:lnTo>
                <a:lnTo>
                  <a:pt x="159" y="126"/>
                </a:lnTo>
                <a:lnTo>
                  <a:pt x="164" y="118"/>
                </a:lnTo>
                <a:lnTo>
                  <a:pt x="165" y="111"/>
                </a:lnTo>
                <a:lnTo>
                  <a:pt x="168" y="103"/>
                </a:lnTo>
                <a:lnTo>
                  <a:pt x="170" y="94"/>
                </a:lnTo>
                <a:lnTo>
                  <a:pt x="170" y="87"/>
                </a:lnTo>
                <a:lnTo>
                  <a:pt x="170" y="77"/>
                </a:lnTo>
                <a:lnTo>
                  <a:pt x="168" y="68"/>
                </a:lnTo>
                <a:lnTo>
                  <a:pt x="165" y="61"/>
                </a:lnTo>
                <a:lnTo>
                  <a:pt x="164" y="53"/>
                </a:lnTo>
                <a:lnTo>
                  <a:pt x="159" y="46"/>
                </a:lnTo>
                <a:lnTo>
                  <a:pt x="155" y="38"/>
                </a:lnTo>
                <a:lnTo>
                  <a:pt x="150" y="32"/>
                </a:lnTo>
                <a:lnTo>
                  <a:pt x="145" y="26"/>
                </a:lnTo>
                <a:lnTo>
                  <a:pt x="139" y="20"/>
                </a:lnTo>
                <a:lnTo>
                  <a:pt x="132" y="15"/>
                </a:lnTo>
                <a:lnTo>
                  <a:pt x="126" y="11"/>
                </a:lnTo>
                <a:lnTo>
                  <a:pt x="118" y="8"/>
                </a:lnTo>
                <a:lnTo>
                  <a:pt x="111" y="5"/>
                </a:lnTo>
                <a:lnTo>
                  <a:pt x="101" y="2"/>
                </a:lnTo>
                <a:lnTo>
                  <a:pt x="94" y="2"/>
                </a:lnTo>
                <a:lnTo>
                  <a:pt x="85"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1676" name="Rectangle 60">
            <a:extLst>
              <a:ext uri="{FF2B5EF4-FFF2-40B4-BE49-F238E27FC236}">
                <a16:creationId xmlns:a16="http://schemas.microsoft.com/office/drawing/2014/main" id="{3238A903-93D7-9ADA-D420-A4F9FFB52001}"/>
              </a:ext>
            </a:extLst>
          </p:cNvPr>
          <p:cNvSpPr>
            <a:spLocks noChangeArrowheads="1"/>
          </p:cNvSpPr>
          <p:nvPr/>
        </p:nvSpPr>
        <p:spPr bwMode="auto">
          <a:xfrm>
            <a:off x="3636963" y="5419726"/>
            <a:ext cx="9457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S</a:t>
            </a:r>
            <a:endParaRPr lang="en-US" altLang="en-US"/>
          </a:p>
        </p:txBody>
      </p:sp>
      <p:sp>
        <p:nvSpPr>
          <p:cNvPr id="111677" name="Freeform 61">
            <a:extLst>
              <a:ext uri="{FF2B5EF4-FFF2-40B4-BE49-F238E27FC236}">
                <a16:creationId xmlns:a16="http://schemas.microsoft.com/office/drawing/2014/main" id="{AAE8ABA9-AC77-1FA6-3A4C-84F57AC4274A}"/>
              </a:ext>
            </a:extLst>
          </p:cNvPr>
          <p:cNvSpPr>
            <a:spLocks/>
          </p:cNvSpPr>
          <p:nvPr/>
        </p:nvSpPr>
        <p:spPr bwMode="auto">
          <a:xfrm>
            <a:off x="4792663" y="4275139"/>
            <a:ext cx="273050" cy="269875"/>
          </a:xfrm>
          <a:custGeom>
            <a:avLst/>
            <a:gdLst>
              <a:gd name="T0" fmla="*/ 77 w 172"/>
              <a:gd name="T1" fmla="*/ 0 h 170"/>
              <a:gd name="T2" fmla="*/ 61 w 172"/>
              <a:gd name="T3" fmla="*/ 3 h 170"/>
              <a:gd name="T4" fmla="*/ 44 w 172"/>
              <a:gd name="T5" fmla="*/ 10 h 170"/>
              <a:gd name="T6" fmla="*/ 32 w 172"/>
              <a:gd name="T7" fmla="*/ 19 h 170"/>
              <a:gd name="T8" fmla="*/ 20 w 172"/>
              <a:gd name="T9" fmla="*/ 30 h 170"/>
              <a:gd name="T10" fmla="*/ 11 w 172"/>
              <a:gd name="T11" fmla="*/ 44 h 170"/>
              <a:gd name="T12" fmla="*/ 4 w 172"/>
              <a:gd name="T13" fmla="*/ 59 h 170"/>
              <a:gd name="T14" fmla="*/ 0 w 172"/>
              <a:gd name="T15" fmla="*/ 76 h 170"/>
              <a:gd name="T16" fmla="*/ 0 w 172"/>
              <a:gd name="T17" fmla="*/ 94 h 170"/>
              <a:gd name="T18" fmla="*/ 4 w 172"/>
              <a:gd name="T19" fmla="*/ 110 h 170"/>
              <a:gd name="T20" fmla="*/ 11 w 172"/>
              <a:gd name="T21" fmla="*/ 126 h 170"/>
              <a:gd name="T22" fmla="*/ 20 w 172"/>
              <a:gd name="T23" fmla="*/ 139 h 170"/>
              <a:gd name="T24" fmla="*/ 32 w 172"/>
              <a:gd name="T25" fmla="*/ 150 h 170"/>
              <a:gd name="T26" fmla="*/ 44 w 172"/>
              <a:gd name="T27" fmla="*/ 159 h 170"/>
              <a:gd name="T28" fmla="*/ 61 w 172"/>
              <a:gd name="T29" fmla="*/ 167 h 170"/>
              <a:gd name="T30" fmla="*/ 77 w 172"/>
              <a:gd name="T31" fmla="*/ 170 h 170"/>
              <a:gd name="T32" fmla="*/ 94 w 172"/>
              <a:gd name="T33" fmla="*/ 170 h 170"/>
              <a:gd name="T34" fmla="*/ 111 w 172"/>
              <a:gd name="T35" fmla="*/ 167 h 170"/>
              <a:gd name="T36" fmla="*/ 126 w 172"/>
              <a:gd name="T37" fmla="*/ 159 h 170"/>
              <a:gd name="T38" fmla="*/ 140 w 172"/>
              <a:gd name="T39" fmla="*/ 150 h 170"/>
              <a:gd name="T40" fmla="*/ 152 w 172"/>
              <a:gd name="T41" fmla="*/ 139 h 170"/>
              <a:gd name="T42" fmla="*/ 161 w 172"/>
              <a:gd name="T43" fmla="*/ 126 h 170"/>
              <a:gd name="T44" fmla="*/ 167 w 172"/>
              <a:gd name="T45" fmla="*/ 110 h 170"/>
              <a:gd name="T46" fmla="*/ 170 w 172"/>
              <a:gd name="T47" fmla="*/ 94 h 170"/>
              <a:gd name="T48" fmla="*/ 170 w 172"/>
              <a:gd name="T49" fmla="*/ 76 h 170"/>
              <a:gd name="T50" fmla="*/ 167 w 172"/>
              <a:gd name="T51" fmla="*/ 59 h 170"/>
              <a:gd name="T52" fmla="*/ 161 w 172"/>
              <a:gd name="T53" fmla="*/ 44 h 170"/>
              <a:gd name="T54" fmla="*/ 152 w 172"/>
              <a:gd name="T55" fmla="*/ 30 h 170"/>
              <a:gd name="T56" fmla="*/ 140 w 172"/>
              <a:gd name="T57" fmla="*/ 19 h 170"/>
              <a:gd name="T58" fmla="*/ 126 w 172"/>
              <a:gd name="T59" fmla="*/ 10 h 170"/>
              <a:gd name="T60" fmla="*/ 111 w 172"/>
              <a:gd name="T61" fmla="*/ 3 h 170"/>
              <a:gd name="T62" fmla="*/ 94 w 172"/>
              <a:gd name="T63"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2" h="170">
                <a:moveTo>
                  <a:pt x="85" y="0"/>
                </a:moveTo>
                <a:lnTo>
                  <a:pt x="77" y="0"/>
                </a:lnTo>
                <a:lnTo>
                  <a:pt x="68" y="1"/>
                </a:lnTo>
                <a:lnTo>
                  <a:pt x="61" y="3"/>
                </a:lnTo>
                <a:lnTo>
                  <a:pt x="52" y="6"/>
                </a:lnTo>
                <a:lnTo>
                  <a:pt x="44" y="10"/>
                </a:lnTo>
                <a:lnTo>
                  <a:pt x="38" y="13"/>
                </a:lnTo>
                <a:lnTo>
                  <a:pt x="32" y="19"/>
                </a:lnTo>
                <a:lnTo>
                  <a:pt x="26" y="24"/>
                </a:lnTo>
                <a:lnTo>
                  <a:pt x="20" y="30"/>
                </a:lnTo>
                <a:lnTo>
                  <a:pt x="15" y="38"/>
                </a:lnTo>
                <a:lnTo>
                  <a:pt x="11" y="44"/>
                </a:lnTo>
                <a:lnTo>
                  <a:pt x="6" y="51"/>
                </a:lnTo>
                <a:lnTo>
                  <a:pt x="4" y="59"/>
                </a:lnTo>
                <a:lnTo>
                  <a:pt x="1" y="68"/>
                </a:lnTo>
                <a:lnTo>
                  <a:pt x="0" y="76"/>
                </a:lnTo>
                <a:lnTo>
                  <a:pt x="0" y="85"/>
                </a:lnTo>
                <a:lnTo>
                  <a:pt x="0" y="94"/>
                </a:lnTo>
                <a:lnTo>
                  <a:pt x="1" y="101"/>
                </a:lnTo>
                <a:lnTo>
                  <a:pt x="4" y="110"/>
                </a:lnTo>
                <a:lnTo>
                  <a:pt x="6" y="118"/>
                </a:lnTo>
                <a:lnTo>
                  <a:pt x="11" y="126"/>
                </a:lnTo>
                <a:lnTo>
                  <a:pt x="15" y="132"/>
                </a:lnTo>
                <a:lnTo>
                  <a:pt x="20" y="139"/>
                </a:lnTo>
                <a:lnTo>
                  <a:pt x="26" y="145"/>
                </a:lnTo>
                <a:lnTo>
                  <a:pt x="32" y="150"/>
                </a:lnTo>
                <a:lnTo>
                  <a:pt x="38" y="156"/>
                </a:lnTo>
                <a:lnTo>
                  <a:pt x="44" y="159"/>
                </a:lnTo>
                <a:lnTo>
                  <a:pt x="52" y="164"/>
                </a:lnTo>
                <a:lnTo>
                  <a:pt x="61" y="167"/>
                </a:lnTo>
                <a:lnTo>
                  <a:pt x="68" y="168"/>
                </a:lnTo>
                <a:lnTo>
                  <a:pt x="77" y="170"/>
                </a:lnTo>
                <a:lnTo>
                  <a:pt x="85" y="170"/>
                </a:lnTo>
                <a:lnTo>
                  <a:pt x="94" y="170"/>
                </a:lnTo>
                <a:lnTo>
                  <a:pt x="103" y="168"/>
                </a:lnTo>
                <a:lnTo>
                  <a:pt x="111" y="167"/>
                </a:lnTo>
                <a:lnTo>
                  <a:pt x="118" y="164"/>
                </a:lnTo>
                <a:lnTo>
                  <a:pt x="126" y="159"/>
                </a:lnTo>
                <a:lnTo>
                  <a:pt x="134" y="156"/>
                </a:lnTo>
                <a:lnTo>
                  <a:pt x="140" y="150"/>
                </a:lnTo>
                <a:lnTo>
                  <a:pt x="146" y="145"/>
                </a:lnTo>
                <a:lnTo>
                  <a:pt x="152" y="139"/>
                </a:lnTo>
                <a:lnTo>
                  <a:pt x="156" y="132"/>
                </a:lnTo>
                <a:lnTo>
                  <a:pt x="161" y="126"/>
                </a:lnTo>
                <a:lnTo>
                  <a:pt x="164" y="118"/>
                </a:lnTo>
                <a:lnTo>
                  <a:pt x="167" y="110"/>
                </a:lnTo>
                <a:lnTo>
                  <a:pt x="169" y="101"/>
                </a:lnTo>
                <a:lnTo>
                  <a:pt x="170" y="94"/>
                </a:lnTo>
                <a:lnTo>
                  <a:pt x="172" y="85"/>
                </a:lnTo>
                <a:lnTo>
                  <a:pt x="170" y="76"/>
                </a:lnTo>
                <a:lnTo>
                  <a:pt x="169" y="68"/>
                </a:lnTo>
                <a:lnTo>
                  <a:pt x="167" y="59"/>
                </a:lnTo>
                <a:lnTo>
                  <a:pt x="164" y="51"/>
                </a:lnTo>
                <a:lnTo>
                  <a:pt x="161" y="44"/>
                </a:lnTo>
                <a:lnTo>
                  <a:pt x="156" y="38"/>
                </a:lnTo>
                <a:lnTo>
                  <a:pt x="152" y="30"/>
                </a:lnTo>
                <a:lnTo>
                  <a:pt x="146" y="24"/>
                </a:lnTo>
                <a:lnTo>
                  <a:pt x="140" y="19"/>
                </a:lnTo>
                <a:lnTo>
                  <a:pt x="134" y="13"/>
                </a:lnTo>
                <a:lnTo>
                  <a:pt x="126" y="10"/>
                </a:lnTo>
                <a:lnTo>
                  <a:pt x="118" y="6"/>
                </a:lnTo>
                <a:lnTo>
                  <a:pt x="111" y="3"/>
                </a:lnTo>
                <a:lnTo>
                  <a:pt x="103" y="1"/>
                </a:lnTo>
                <a:lnTo>
                  <a:pt x="94" y="0"/>
                </a:lnTo>
                <a:lnTo>
                  <a:pt x="85" y="0"/>
                </a:lnTo>
                <a:close/>
              </a:path>
            </a:pathLst>
          </a:custGeom>
          <a:solidFill>
            <a:srgbClr val="00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1678" name="Freeform 62">
            <a:extLst>
              <a:ext uri="{FF2B5EF4-FFF2-40B4-BE49-F238E27FC236}">
                <a16:creationId xmlns:a16="http://schemas.microsoft.com/office/drawing/2014/main" id="{7CD213B7-FB01-D061-A54D-AC55234577F4}"/>
              </a:ext>
            </a:extLst>
          </p:cNvPr>
          <p:cNvSpPr>
            <a:spLocks/>
          </p:cNvSpPr>
          <p:nvPr/>
        </p:nvSpPr>
        <p:spPr bwMode="auto">
          <a:xfrm>
            <a:off x="4792663" y="4275139"/>
            <a:ext cx="273050" cy="269875"/>
          </a:xfrm>
          <a:custGeom>
            <a:avLst/>
            <a:gdLst>
              <a:gd name="T0" fmla="*/ 77 w 172"/>
              <a:gd name="T1" fmla="*/ 0 h 170"/>
              <a:gd name="T2" fmla="*/ 61 w 172"/>
              <a:gd name="T3" fmla="*/ 3 h 170"/>
              <a:gd name="T4" fmla="*/ 44 w 172"/>
              <a:gd name="T5" fmla="*/ 10 h 170"/>
              <a:gd name="T6" fmla="*/ 32 w 172"/>
              <a:gd name="T7" fmla="*/ 19 h 170"/>
              <a:gd name="T8" fmla="*/ 20 w 172"/>
              <a:gd name="T9" fmla="*/ 30 h 170"/>
              <a:gd name="T10" fmla="*/ 11 w 172"/>
              <a:gd name="T11" fmla="*/ 44 h 170"/>
              <a:gd name="T12" fmla="*/ 4 w 172"/>
              <a:gd name="T13" fmla="*/ 59 h 170"/>
              <a:gd name="T14" fmla="*/ 0 w 172"/>
              <a:gd name="T15" fmla="*/ 76 h 170"/>
              <a:gd name="T16" fmla="*/ 0 w 172"/>
              <a:gd name="T17" fmla="*/ 94 h 170"/>
              <a:gd name="T18" fmla="*/ 4 w 172"/>
              <a:gd name="T19" fmla="*/ 110 h 170"/>
              <a:gd name="T20" fmla="*/ 11 w 172"/>
              <a:gd name="T21" fmla="*/ 126 h 170"/>
              <a:gd name="T22" fmla="*/ 20 w 172"/>
              <a:gd name="T23" fmla="*/ 139 h 170"/>
              <a:gd name="T24" fmla="*/ 32 w 172"/>
              <a:gd name="T25" fmla="*/ 150 h 170"/>
              <a:gd name="T26" fmla="*/ 44 w 172"/>
              <a:gd name="T27" fmla="*/ 159 h 170"/>
              <a:gd name="T28" fmla="*/ 61 w 172"/>
              <a:gd name="T29" fmla="*/ 167 h 170"/>
              <a:gd name="T30" fmla="*/ 77 w 172"/>
              <a:gd name="T31" fmla="*/ 170 h 170"/>
              <a:gd name="T32" fmla="*/ 94 w 172"/>
              <a:gd name="T33" fmla="*/ 170 h 170"/>
              <a:gd name="T34" fmla="*/ 111 w 172"/>
              <a:gd name="T35" fmla="*/ 167 h 170"/>
              <a:gd name="T36" fmla="*/ 126 w 172"/>
              <a:gd name="T37" fmla="*/ 159 h 170"/>
              <a:gd name="T38" fmla="*/ 140 w 172"/>
              <a:gd name="T39" fmla="*/ 150 h 170"/>
              <a:gd name="T40" fmla="*/ 152 w 172"/>
              <a:gd name="T41" fmla="*/ 139 h 170"/>
              <a:gd name="T42" fmla="*/ 161 w 172"/>
              <a:gd name="T43" fmla="*/ 126 h 170"/>
              <a:gd name="T44" fmla="*/ 167 w 172"/>
              <a:gd name="T45" fmla="*/ 110 h 170"/>
              <a:gd name="T46" fmla="*/ 170 w 172"/>
              <a:gd name="T47" fmla="*/ 94 h 170"/>
              <a:gd name="T48" fmla="*/ 170 w 172"/>
              <a:gd name="T49" fmla="*/ 76 h 170"/>
              <a:gd name="T50" fmla="*/ 167 w 172"/>
              <a:gd name="T51" fmla="*/ 59 h 170"/>
              <a:gd name="T52" fmla="*/ 161 w 172"/>
              <a:gd name="T53" fmla="*/ 44 h 170"/>
              <a:gd name="T54" fmla="*/ 152 w 172"/>
              <a:gd name="T55" fmla="*/ 30 h 170"/>
              <a:gd name="T56" fmla="*/ 140 w 172"/>
              <a:gd name="T57" fmla="*/ 19 h 170"/>
              <a:gd name="T58" fmla="*/ 126 w 172"/>
              <a:gd name="T59" fmla="*/ 10 h 170"/>
              <a:gd name="T60" fmla="*/ 111 w 172"/>
              <a:gd name="T61" fmla="*/ 3 h 170"/>
              <a:gd name="T62" fmla="*/ 94 w 172"/>
              <a:gd name="T63"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2" h="170">
                <a:moveTo>
                  <a:pt x="85" y="0"/>
                </a:moveTo>
                <a:lnTo>
                  <a:pt x="77" y="0"/>
                </a:lnTo>
                <a:lnTo>
                  <a:pt x="68" y="1"/>
                </a:lnTo>
                <a:lnTo>
                  <a:pt x="61" y="3"/>
                </a:lnTo>
                <a:lnTo>
                  <a:pt x="52" y="6"/>
                </a:lnTo>
                <a:lnTo>
                  <a:pt x="44" y="10"/>
                </a:lnTo>
                <a:lnTo>
                  <a:pt x="38" y="13"/>
                </a:lnTo>
                <a:lnTo>
                  <a:pt x="32" y="19"/>
                </a:lnTo>
                <a:lnTo>
                  <a:pt x="26" y="24"/>
                </a:lnTo>
                <a:lnTo>
                  <a:pt x="20" y="30"/>
                </a:lnTo>
                <a:lnTo>
                  <a:pt x="15" y="38"/>
                </a:lnTo>
                <a:lnTo>
                  <a:pt x="11" y="44"/>
                </a:lnTo>
                <a:lnTo>
                  <a:pt x="6" y="51"/>
                </a:lnTo>
                <a:lnTo>
                  <a:pt x="4" y="59"/>
                </a:lnTo>
                <a:lnTo>
                  <a:pt x="1" y="68"/>
                </a:lnTo>
                <a:lnTo>
                  <a:pt x="0" y="76"/>
                </a:lnTo>
                <a:lnTo>
                  <a:pt x="0" y="85"/>
                </a:lnTo>
                <a:lnTo>
                  <a:pt x="0" y="94"/>
                </a:lnTo>
                <a:lnTo>
                  <a:pt x="1" y="101"/>
                </a:lnTo>
                <a:lnTo>
                  <a:pt x="4" y="110"/>
                </a:lnTo>
                <a:lnTo>
                  <a:pt x="6" y="118"/>
                </a:lnTo>
                <a:lnTo>
                  <a:pt x="11" y="126"/>
                </a:lnTo>
                <a:lnTo>
                  <a:pt x="15" y="132"/>
                </a:lnTo>
                <a:lnTo>
                  <a:pt x="20" y="139"/>
                </a:lnTo>
                <a:lnTo>
                  <a:pt x="26" y="145"/>
                </a:lnTo>
                <a:lnTo>
                  <a:pt x="32" y="150"/>
                </a:lnTo>
                <a:lnTo>
                  <a:pt x="38" y="156"/>
                </a:lnTo>
                <a:lnTo>
                  <a:pt x="44" y="159"/>
                </a:lnTo>
                <a:lnTo>
                  <a:pt x="52" y="164"/>
                </a:lnTo>
                <a:lnTo>
                  <a:pt x="61" y="167"/>
                </a:lnTo>
                <a:lnTo>
                  <a:pt x="68" y="168"/>
                </a:lnTo>
                <a:lnTo>
                  <a:pt x="77" y="170"/>
                </a:lnTo>
                <a:lnTo>
                  <a:pt x="85" y="170"/>
                </a:lnTo>
                <a:lnTo>
                  <a:pt x="94" y="170"/>
                </a:lnTo>
                <a:lnTo>
                  <a:pt x="103" y="168"/>
                </a:lnTo>
                <a:lnTo>
                  <a:pt x="111" y="167"/>
                </a:lnTo>
                <a:lnTo>
                  <a:pt x="118" y="164"/>
                </a:lnTo>
                <a:lnTo>
                  <a:pt x="126" y="159"/>
                </a:lnTo>
                <a:lnTo>
                  <a:pt x="134" y="156"/>
                </a:lnTo>
                <a:lnTo>
                  <a:pt x="140" y="150"/>
                </a:lnTo>
                <a:lnTo>
                  <a:pt x="146" y="145"/>
                </a:lnTo>
                <a:lnTo>
                  <a:pt x="152" y="139"/>
                </a:lnTo>
                <a:lnTo>
                  <a:pt x="156" y="132"/>
                </a:lnTo>
                <a:lnTo>
                  <a:pt x="161" y="126"/>
                </a:lnTo>
                <a:lnTo>
                  <a:pt x="164" y="118"/>
                </a:lnTo>
                <a:lnTo>
                  <a:pt x="167" y="110"/>
                </a:lnTo>
                <a:lnTo>
                  <a:pt x="169" y="101"/>
                </a:lnTo>
                <a:lnTo>
                  <a:pt x="170" y="94"/>
                </a:lnTo>
                <a:lnTo>
                  <a:pt x="172" y="85"/>
                </a:lnTo>
                <a:lnTo>
                  <a:pt x="170" y="76"/>
                </a:lnTo>
                <a:lnTo>
                  <a:pt x="169" y="68"/>
                </a:lnTo>
                <a:lnTo>
                  <a:pt x="167" y="59"/>
                </a:lnTo>
                <a:lnTo>
                  <a:pt x="164" y="51"/>
                </a:lnTo>
                <a:lnTo>
                  <a:pt x="161" y="44"/>
                </a:lnTo>
                <a:lnTo>
                  <a:pt x="156" y="38"/>
                </a:lnTo>
                <a:lnTo>
                  <a:pt x="152" y="30"/>
                </a:lnTo>
                <a:lnTo>
                  <a:pt x="146" y="24"/>
                </a:lnTo>
                <a:lnTo>
                  <a:pt x="140" y="19"/>
                </a:lnTo>
                <a:lnTo>
                  <a:pt x="134" y="13"/>
                </a:lnTo>
                <a:lnTo>
                  <a:pt x="126" y="10"/>
                </a:lnTo>
                <a:lnTo>
                  <a:pt x="118" y="6"/>
                </a:lnTo>
                <a:lnTo>
                  <a:pt x="111" y="3"/>
                </a:lnTo>
                <a:lnTo>
                  <a:pt x="103" y="1"/>
                </a:lnTo>
                <a:lnTo>
                  <a:pt x="94" y="0"/>
                </a:lnTo>
                <a:lnTo>
                  <a:pt x="85"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1679" name="Rectangle 63">
            <a:extLst>
              <a:ext uri="{FF2B5EF4-FFF2-40B4-BE49-F238E27FC236}">
                <a16:creationId xmlns:a16="http://schemas.microsoft.com/office/drawing/2014/main" id="{FF6AADF4-ADAB-9982-788A-4C25F091C6F2}"/>
              </a:ext>
            </a:extLst>
          </p:cNvPr>
          <p:cNvSpPr>
            <a:spLocks noChangeArrowheads="1"/>
          </p:cNvSpPr>
          <p:nvPr/>
        </p:nvSpPr>
        <p:spPr bwMode="auto">
          <a:xfrm>
            <a:off x="4865688" y="4306889"/>
            <a:ext cx="11221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B</a:t>
            </a:r>
            <a:endParaRPr lang="en-US" altLang="en-US"/>
          </a:p>
        </p:txBody>
      </p:sp>
      <p:sp>
        <p:nvSpPr>
          <p:cNvPr id="111680" name="Freeform 64">
            <a:extLst>
              <a:ext uri="{FF2B5EF4-FFF2-40B4-BE49-F238E27FC236}">
                <a16:creationId xmlns:a16="http://schemas.microsoft.com/office/drawing/2014/main" id="{CF22CF4B-D96C-514D-4487-2F7E4923750A}"/>
              </a:ext>
            </a:extLst>
          </p:cNvPr>
          <p:cNvSpPr>
            <a:spLocks/>
          </p:cNvSpPr>
          <p:nvPr/>
        </p:nvSpPr>
        <p:spPr bwMode="auto">
          <a:xfrm>
            <a:off x="5307014" y="6276975"/>
            <a:ext cx="269875" cy="273050"/>
          </a:xfrm>
          <a:custGeom>
            <a:avLst/>
            <a:gdLst>
              <a:gd name="T0" fmla="*/ 76 w 170"/>
              <a:gd name="T1" fmla="*/ 0 h 172"/>
              <a:gd name="T2" fmla="*/ 59 w 170"/>
              <a:gd name="T3" fmla="*/ 5 h 172"/>
              <a:gd name="T4" fmla="*/ 44 w 170"/>
              <a:gd name="T5" fmla="*/ 11 h 172"/>
              <a:gd name="T6" fmla="*/ 30 w 170"/>
              <a:gd name="T7" fmla="*/ 20 h 172"/>
              <a:gd name="T8" fmla="*/ 18 w 170"/>
              <a:gd name="T9" fmla="*/ 32 h 172"/>
              <a:gd name="T10" fmla="*/ 9 w 170"/>
              <a:gd name="T11" fmla="*/ 44 h 172"/>
              <a:gd name="T12" fmla="*/ 3 w 170"/>
              <a:gd name="T13" fmla="*/ 61 h 172"/>
              <a:gd name="T14" fmla="*/ 0 w 170"/>
              <a:gd name="T15" fmla="*/ 78 h 172"/>
              <a:gd name="T16" fmla="*/ 0 w 170"/>
              <a:gd name="T17" fmla="*/ 94 h 172"/>
              <a:gd name="T18" fmla="*/ 3 w 170"/>
              <a:gd name="T19" fmla="*/ 111 h 172"/>
              <a:gd name="T20" fmla="*/ 9 w 170"/>
              <a:gd name="T21" fmla="*/ 126 h 172"/>
              <a:gd name="T22" fmla="*/ 18 w 170"/>
              <a:gd name="T23" fmla="*/ 140 h 172"/>
              <a:gd name="T24" fmla="*/ 30 w 170"/>
              <a:gd name="T25" fmla="*/ 152 h 172"/>
              <a:gd name="T26" fmla="*/ 44 w 170"/>
              <a:gd name="T27" fmla="*/ 161 h 172"/>
              <a:gd name="T28" fmla="*/ 59 w 170"/>
              <a:gd name="T29" fmla="*/ 167 h 172"/>
              <a:gd name="T30" fmla="*/ 76 w 170"/>
              <a:gd name="T31" fmla="*/ 170 h 172"/>
              <a:gd name="T32" fmla="*/ 94 w 170"/>
              <a:gd name="T33" fmla="*/ 170 h 172"/>
              <a:gd name="T34" fmla="*/ 111 w 170"/>
              <a:gd name="T35" fmla="*/ 167 h 172"/>
              <a:gd name="T36" fmla="*/ 126 w 170"/>
              <a:gd name="T37" fmla="*/ 161 h 172"/>
              <a:gd name="T38" fmla="*/ 140 w 170"/>
              <a:gd name="T39" fmla="*/ 152 h 172"/>
              <a:gd name="T40" fmla="*/ 150 w 170"/>
              <a:gd name="T41" fmla="*/ 140 h 172"/>
              <a:gd name="T42" fmla="*/ 159 w 170"/>
              <a:gd name="T43" fmla="*/ 126 h 172"/>
              <a:gd name="T44" fmla="*/ 165 w 170"/>
              <a:gd name="T45" fmla="*/ 111 h 172"/>
              <a:gd name="T46" fmla="*/ 170 w 170"/>
              <a:gd name="T47" fmla="*/ 94 h 172"/>
              <a:gd name="T48" fmla="*/ 170 w 170"/>
              <a:gd name="T49" fmla="*/ 78 h 172"/>
              <a:gd name="T50" fmla="*/ 165 w 170"/>
              <a:gd name="T51" fmla="*/ 61 h 172"/>
              <a:gd name="T52" fmla="*/ 159 w 170"/>
              <a:gd name="T53" fmla="*/ 44 h 172"/>
              <a:gd name="T54" fmla="*/ 150 w 170"/>
              <a:gd name="T55" fmla="*/ 32 h 172"/>
              <a:gd name="T56" fmla="*/ 140 w 170"/>
              <a:gd name="T57" fmla="*/ 20 h 172"/>
              <a:gd name="T58" fmla="*/ 126 w 170"/>
              <a:gd name="T59" fmla="*/ 11 h 172"/>
              <a:gd name="T60" fmla="*/ 111 w 170"/>
              <a:gd name="T61" fmla="*/ 5 h 172"/>
              <a:gd name="T62" fmla="*/ 94 w 170"/>
              <a:gd name="T63" fmla="*/ 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 h="172">
                <a:moveTo>
                  <a:pt x="85" y="0"/>
                </a:moveTo>
                <a:lnTo>
                  <a:pt x="76" y="0"/>
                </a:lnTo>
                <a:lnTo>
                  <a:pt x="67" y="2"/>
                </a:lnTo>
                <a:lnTo>
                  <a:pt x="59" y="5"/>
                </a:lnTo>
                <a:lnTo>
                  <a:pt x="51" y="6"/>
                </a:lnTo>
                <a:lnTo>
                  <a:pt x="44" y="11"/>
                </a:lnTo>
                <a:lnTo>
                  <a:pt x="36" y="15"/>
                </a:lnTo>
                <a:lnTo>
                  <a:pt x="30" y="20"/>
                </a:lnTo>
                <a:lnTo>
                  <a:pt x="24" y="26"/>
                </a:lnTo>
                <a:lnTo>
                  <a:pt x="18" y="32"/>
                </a:lnTo>
                <a:lnTo>
                  <a:pt x="13" y="38"/>
                </a:lnTo>
                <a:lnTo>
                  <a:pt x="9" y="44"/>
                </a:lnTo>
                <a:lnTo>
                  <a:pt x="6" y="52"/>
                </a:lnTo>
                <a:lnTo>
                  <a:pt x="3" y="61"/>
                </a:lnTo>
                <a:lnTo>
                  <a:pt x="1" y="69"/>
                </a:lnTo>
                <a:lnTo>
                  <a:pt x="0" y="78"/>
                </a:lnTo>
                <a:lnTo>
                  <a:pt x="0" y="85"/>
                </a:lnTo>
                <a:lnTo>
                  <a:pt x="0" y="94"/>
                </a:lnTo>
                <a:lnTo>
                  <a:pt x="1" y="103"/>
                </a:lnTo>
                <a:lnTo>
                  <a:pt x="3" y="111"/>
                </a:lnTo>
                <a:lnTo>
                  <a:pt x="6" y="119"/>
                </a:lnTo>
                <a:lnTo>
                  <a:pt x="9" y="126"/>
                </a:lnTo>
                <a:lnTo>
                  <a:pt x="13" y="134"/>
                </a:lnTo>
                <a:lnTo>
                  <a:pt x="18" y="140"/>
                </a:lnTo>
                <a:lnTo>
                  <a:pt x="24" y="146"/>
                </a:lnTo>
                <a:lnTo>
                  <a:pt x="30" y="152"/>
                </a:lnTo>
                <a:lnTo>
                  <a:pt x="36" y="157"/>
                </a:lnTo>
                <a:lnTo>
                  <a:pt x="44" y="161"/>
                </a:lnTo>
                <a:lnTo>
                  <a:pt x="51" y="164"/>
                </a:lnTo>
                <a:lnTo>
                  <a:pt x="59" y="167"/>
                </a:lnTo>
                <a:lnTo>
                  <a:pt x="67" y="169"/>
                </a:lnTo>
                <a:lnTo>
                  <a:pt x="76" y="170"/>
                </a:lnTo>
                <a:lnTo>
                  <a:pt x="85" y="172"/>
                </a:lnTo>
                <a:lnTo>
                  <a:pt x="94" y="170"/>
                </a:lnTo>
                <a:lnTo>
                  <a:pt x="102" y="169"/>
                </a:lnTo>
                <a:lnTo>
                  <a:pt x="111" y="167"/>
                </a:lnTo>
                <a:lnTo>
                  <a:pt x="118" y="164"/>
                </a:lnTo>
                <a:lnTo>
                  <a:pt x="126" y="161"/>
                </a:lnTo>
                <a:lnTo>
                  <a:pt x="132" y="157"/>
                </a:lnTo>
                <a:lnTo>
                  <a:pt x="140" y="152"/>
                </a:lnTo>
                <a:lnTo>
                  <a:pt x="146" y="146"/>
                </a:lnTo>
                <a:lnTo>
                  <a:pt x="150" y="140"/>
                </a:lnTo>
                <a:lnTo>
                  <a:pt x="155" y="134"/>
                </a:lnTo>
                <a:lnTo>
                  <a:pt x="159" y="126"/>
                </a:lnTo>
                <a:lnTo>
                  <a:pt x="164" y="119"/>
                </a:lnTo>
                <a:lnTo>
                  <a:pt x="165" y="111"/>
                </a:lnTo>
                <a:lnTo>
                  <a:pt x="168" y="103"/>
                </a:lnTo>
                <a:lnTo>
                  <a:pt x="170" y="94"/>
                </a:lnTo>
                <a:lnTo>
                  <a:pt x="170" y="85"/>
                </a:lnTo>
                <a:lnTo>
                  <a:pt x="170" y="78"/>
                </a:lnTo>
                <a:lnTo>
                  <a:pt x="168" y="69"/>
                </a:lnTo>
                <a:lnTo>
                  <a:pt x="165" y="61"/>
                </a:lnTo>
                <a:lnTo>
                  <a:pt x="164" y="52"/>
                </a:lnTo>
                <a:lnTo>
                  <a:pt x="159" y="44"/>
                </a:lnTo>
                <a:lnTo>
                  <a:pt x="155" y="38"/>
                </a:lnTo>
                <a:lnTo>
                  <a:pt x="150" y="32"/>
                </a:lnTo>
                <a:lnTo>
                  <a:pt x="146" y="26"/>
                </a:lnTo>
                <a:lnTo>
                  <a:pt x="140" y="20"/>
                </a:lnTo>
                <a:lnTo>
                  <a:pt x="132" y="15"/>
                </a:lnTo>
                <a:lnTo>
                  <a:pt x="126" y="11"/>
                </a:lnTo>
                <a:lnTo>
                  <a:pt x="118" y="6"/>
                </a:lnTo>
                <a:lnTo>
                  <a:pt x="111" y="5"/>
                </a:lnTo>
                <a:lnTo>
                  <a:pt x="102" y="2"/>
                </a:lnTo>
                <a:lnTo>
                  <a:pt x="94" y="0"/>
                </a:lnTo>
                <a:lnTo>
                  <a:pt x="85" y="0"/>
                </a:lnTo>
                <a:close/>
              </a:path>
            </a:pathLst>
          </a:custGeom>
          <a:solidFill>
            <a:srgbClr val="00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1681" name="Freeform 65">
            <a:extLst>
              <a:ext uri="{FF2B5EF4-FFF2-40B4-BE49-F238E27FC236}">
                <a16:creationId xmlns:a16="http://schemas.microsoft.com/office/drawing/2014/main" id="{1FFDA34E-F43C-C3CC-3D27-1E79113E09F2}"/>
              </a:ext>
            </a:extLst>
          </p:cNvPr>
          <p:cNvSpPr>
            <a:spLocks/>
          </p:cNvSpPr>
          <p:nvPr/>
        </p:nvSpPr>
        <p:spPr bwMode="auto">
          <a:xfrm>
            <a:off x="5307014" y="6276975"/>
            <a:ext cx="269875" cy="273050"/>
          </a:xfrm>
          <a:custGeom>
            <a:avLst/>
            <a:gdLst>
              <a:gd name="T0" fmla="*/ 76 w 170"/>
              <a:gd name="T1" fmla="*/ 0 h 172"/>
              <a:gd name="T2" fmla="*/ 59 w 170"/>
              <a:gd name="T3" fmla="*/ 5 h 172"/>
              <a:gd name="T4" fmla="*/ 44 w 170"/>
              <a:gd name="T5" fmla="*/ 11 h 172"/>
              <a:gd name="T6" fmla="*/ 30 w 170"/>
              <a:gd name="T7" fmla="*/ 20 h 172"/>
              <a:gd name="T8" fmla="*/ 18 w 170"/>
              <a:gd name="T9" fmla="*/ 32 h 172"/>
              <a:gd name="T10" fmla="*/ 9 w 170"/>
              <a:gd name="T11" fmla="*/ 44 h 172"/>
              <a:gd name="T12" fmla="*/ 3 w 170"/>
              <a:gd name="T13" fmla="*/ 61 h 172"/>
              <a:gd name="T14" fmla="*/ 0 w 170"/>
              <a:gd name="T15" fmla="*/ 78 h 172"/>
              <a:gd name="T16" fmla="*/ 0 w 170"/>
              <a:gd name="T17" fmla="*/ 94 h 172"/>
              <a:gd name="T18" fmla="*/ 3 w 170"/>
              <a:gd name="T19" fmla="*/ 111 h 172"/>
              <a:gd name="T20" fmla="*/ 9 w 170"/>
              <a:gd name="T21" fmla="*/ 126 h 172"/>
              <a:gd name="T22" fmla="*/ 18 w 170"/>
              <a:gd name="T23" fmla="*/ 140 h 172"/>
              <a:gd name="T24" fmla="*/ 30 w 170"/>
              <a:gd name="T25" fmla="*/ 152 h 172"/>
              <a:gd name="T26" fmla="*/ 44 w 170"/>
              <a:gd name="T27" fmla="*/ 161 h 172"/>
              <a:gd name="T28" fmla="*/ 59 w 170"/>
              <a:gd name="T29" fmla="*/ 167 h 172"/>
              <a:gd name="T30" fmla="*/ 76 w 170"/>
              <a:gd name="T31" fmla="*/ 170 h 172"/>
              <a:gd name="T32" fmla="*/ 94 w 170"/>
              <a:gd name="T33" fmla="*/ 170 h 172"/>
              <a:gd name="T34" fmla="*/ 111 w 170"/>
              <a:gd name="T35" fmla="*/ 167 h 172"/>
              <a:gd name="T36" fmla="*/ 126 w 170"/>
              <a:gd name="T37" fmla="*/ 161 h 172"/>
              <a:gd name="T38" fmla="*/ 140 w 170"/>
              <a:gd name="T39" fmla="*/ 152 h 172"/>
              <a:gd name="T40" fmla="*/ 150 w 170"/>
              <a:gd name="T41" fmla="*/ 140 h 172"/>
              <a:gd name="T42" fmla="*/ 159 w 170"/>
              <a:gd name="T43" fmla="*/ 126 h 172"/>
              <a:gd name="T44" fmla="*/ 165 w 170"/>
              <a:gd name="T45" fmla="*/ 111 h 172"/>
              <a:gd name="T46" fmla="*/ 170 w 170"/>
              <a:gd name="T47" fmla="*/ 94 h 172"/>
              <a:gd name="T48" fmla="*/ 170 w 170"/>
              <a:gd name="T49" fmla="*/ 78 h 172"/>
              <a:gd name="T50" fmla="*/ 165 w 170"/>
              <a:gd name="T51" fmla="*/ 61 h 172"/>
              <a:gd name="T52" fmla="*/ 159 w 170"/>
              <a:gd name="T53" fmla="*/ 44 h 172"/>
              <a:gd name="T54" fmla="*/ 150 w 170"/>
              <a:gd name="T55" fmla="*/ 32 h 172"/>
              <a:gd name="T56" fmla="*/ 140 w 170"/>
              <a:gd name="T57" fmla="*/ 20 h 172"/>
              <a:gd name="T58" fmla="*/ 126 w 170"/>
              <a:gd name="T59" fmla="*/ 11 h 172"/>
              <a:gd name="T60" fmla="*/ 111 w 170"/>
              <a:gd name="T61" fmla="*/ 5 h 172"/>
              <a:gd name="T62" fmla="*/ 94 w 170"/>
              <a:gd name="T63" fmla="*/ 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 h="172">
                <a:moveTo>
                  <a:pt x="85" y="0"/>
                </a:moveTo>
                <a:lnTo>
                  <a:pt x="76" y="0"/>
                </a:lnTo>
                <a:lnTo>
                  <a:pt x="67" y="2"/>
                </a:lnTo>
                <a:lnTo>
                  <a:pt x="59" y="5"/>
                </a:lnTo>
                <a:lnTo>
                  <a:pt x="51" y="6"/>
                </a:lnTo>
                <a:lnTo>
                  <a:pt x="44" y="11"/>
                </a:lnTo>
                <a:lnTo>
                  <a:pt x="36" y="15"/>
                </a:lnTo>
                <a:lnTo>
                  <a:pt x="30" y="20"/>
                </a:lnTo>
                <a:lnTo>
                  <a:pt x="24" y="26"/>
                </a:lnTo>
                <a:lnTo>
                  <a:pt x="18" y="32"/>
                </a:lnTo>
                <a:lnTo>
                  <a:pt x="13" y="38"/>
                </a:lnTo>
                <a:lnTo>
                  <a:pt x="9" y="44"/>
                </a:lnTo>
                <a:lnTo>
                  <a:pt x="6" y="52"/>
                </a:lnTo>
                <a:lnTo>
                  <a:pt x="3" y="61"/>
                </a:lnTo>
                <a:lnTo>
                  <a:pt x="1" y="69"/>
                </a:lnTo>
                <a:lnTo>
                  <a:pt x="0" y="78"/>
                </a:lnTo>
                <a:lnTo>
                  <a:pt x="0" y="85"/>
                </a:lnTo>
                <a:lnTo>
                  <a:pt x="0" y="94"/>
                </a:lnTo>
                <a:lnTo>
                  <a:pt x="1" y="103"/>
                </a:lnTo>
                <a:lnTo>
                  <a:pt x="3" y="111"/>
                </a:lnTo>
                <a:lnTo>
                  <a:pt x="6" y="119"/>
                </a:lnTo>
                <a:lnTo>
                  <a:pt x="9" y="126"/>
                </a:lnTo>
                <a:lnTo>
                  <a:pt x="13" y="134"/>
                </a:lnTo>
                <a:lnTo>
                  <a:pt x="18" y="140"/>
                </a:lnTo>
                <a:lnTo>
                  <a:pt x="24" y="146"/>
                </a:lnTo>
                <a:lnTo>
                  <a:pt x="30" y="152"/>
                </a:lnTo>
                <a:lnTo>
                  <a:pt x="36" y="157"/>
                </a:lnTo>
                <a:lnTo>
                  <a:pt x="44" y="161"/>
                </a:lnTo>
                <a:lnTo>
                  <a:pt x="51" y="164"/>
                </a:lnTo>
                <a:lnTo>
                  <a:pt x="59" y="167"/>
                </a:lnTo>
                <a:lnTo>
                  <a:pt x="67" y="169"/>
                </a:lnTo>
                <a:lnTo>
                  <a:pt x="76" y="170"/>
                </a:lnTo>
                <a:lnTo>
                  <a:pt x="85" y="172"/>
                </a:lnTo>
                <a:lnTo>
                  <a:pt x="94" y="170"/>
                </a:lnTo>
                <a:lnTo>
                  <a:pt x="102" y="169"/>
                </a:lnTo>
                <a:lnTo>
                  <a:pt x="111" y="167"/>
                </a:lnTo>
                <a:lnTo>
                  <a:pt x="118" y="164"/>
                </a:lnTo>
                <a:lnTo>
                  <a:pt x="126" y="161"/>
                </a:lnTo>
                <a:lnTo>
                  <a:pt x="132" y="157"/>
                </a:lnTo>
                <a:lnTo>
                  <a:pt x="140" y="152"/>
                </a:lnTo>
                <a:lnTo>
                  <a:pt x="146" y="146"/>
                </a:lnTo>
                <a:lnTo>
                  <a:pt x="150" y="140"/>
                </a:lnTo>
                <a:lnTo>
                  <a:pt x="155" y="134"/>
                </a:lnTo>
                <a:lnTo>
                  <a:pt x="159" y="126"/>
                </a:lnTo>
                <a:lnTo>
                  <a:pt x="164" y="119"/>
                </a:lnTo>
                <a:lnTo>
                  <a:pt x="165" y="111"/>
                </a:lnTo>
                <a:lnTo>
                  <a:pt x="168" y="103"/>
                </a:lnTo>
                <a:lnTo>
                  <a:pt x="170" y="94"/>
                </a:lnTo>
                <a:lnTo>
                  <a:pt x="170" y="85"/>
                </a:lnTo>
                <a:lnTo>
                  <a:pt x="170" y="78"/>
                </a:lnTo>
                <a:lnTo>
                  <a:pt x="168" y="69"/>
                </a:lnTo>
                <a:lnTo>
                  <a:pt x="165" y="61"/>
                </a:lnTo>
                <a:lnTo>
                  <a:pt x="164" y="52"/>
                </a:lnTo>
                <a:lnTo>
                  <a:pt x="159" y="44"/>
                </a:lnTo>
                <a:lnTo>
                  <a:pt x="155" y="38"/>
                </a:lnTo>
                <a:lnTo>
                  <a:pt x="150" y="32"/>
                </a:lnTo>
                <a:lnTo>
                  <a:pt x="146" y="26"/>
                </a:lnTo>
                <a:lnTo>
                  <a:pt x="140" y="20"/>
                </a:lnTo>
                <a:lnTo>
                  <a:pt x="132" y="15"/>
                </a:lnTo>
                <a:lnTo>
                  <a:pt x="126" y="11"/>
                </a:lnTo>
                <a:lnTo>
                  <a:pt x="118" y="6"/>
                </a:lnTo>
                <a:lnTo>
                  <a:pt x="111" y="5"/>
                </a:lnTo>
                <a:lnTo>
                  <a:pt x="102" y="2"/>
                </a:lnTo>
                <a:lnTo>
                  <a:pt x="94" y="0"/>
                </a:lnTo>
                <a:lnTo>
                  <a:pt x="85"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1682" name="Rectangle 66">
            <a:extLst>
              <a:ext uri="{FF2B5EF4-FFF2-40B4-BE49-F238E27FC236}">
                <a16:creationId xmlns:a16="http://schemas.microsoft.com/office/drawing/2014/main" id="{37DFD33E-977A-5A73-754D-295D892C6F4F}"/>
              </a:ext>
            </a:extLst>
          </p:cNvPr>
          <p:cNvSpPr>
            <a:spLocks noChangeArrowheads="1"/>
          </p:cNvSpPr>
          <p:nvPr/>
        </p:nvSpPr>
        <p:spPr bwMode="auto">
          <a:xfrm>
            <a:off x="5386388" y="6308726"/>
            <a:ext cx="10579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P</a:t>
            </a:r>
            <a:endParaRPr lang="en-US" altLang="en-US"/>
          </a:p>
        </p:txBody>
      </p:sp>
      <p:sp>
        <p:nvSpPr>
          <p:cNvPr id="111694" name="Rectangle 78">
            <a:extLst>
              <a:ext uri="{FF2B5EF4-FFF2-40B4-BE49-F238E27FC236}">
                <a16:creationId xmlns:a16="http://schemas.microsoft.com/office/drawing/2014/main" id="{D0A51DD4-C306-4213-39A3-13F5B6F9B2DB}"/>
              </a:ext>
            </a:extLst>
          </p:cNvPr>
          <p:cNvSpPr>
            <a:spLocks noChangeArrowheads="1"/>
          </p:cNvSpPr>
          <p:nvPr/>
        </p:nvSpPr>
        <p:spPr bwMode="auto">
          <a:xfrm>
            <a:off x="8369300" y="5348289"/>
            <a:ext cx="20839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14</a:t>
            </a:r>
            <a:endParaRPr lang="en-US" altLang="en-US"/>
          </a:p>
        </p:txBody>
      </p:sp>
      <p:sp>
        <p:nvSpPr>
          <p:cNvPr id="111695" name="Rectangle 79">
            <a:extLst>
              <a:ext uri="{FF2B5EF4-FFF2-40B4-BE49-F238E27FC236}">
                <a16:creationId xmlns:a16="http://schemas.microsoft.com/office/drawing/2014/main" id="{181F2D50-81E3-B950-2012-1593A8E481D2}"/>
              </a:ext>
            </a:extLst>
          </p:cNvPr>
          <p:cNvSpPr>
            <a:spLocks noChangeArrowheads="1"/>
          </p:cNvSpPr>
          <p:nvPr/>
        </p:nvSpPr>
        <p:spPr bwMode="auto">
          <a:xfrm>
            <a:off x="7673975" y="4922839"/>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t>8</a:t>
            </a:r>
            <a:endParaRPr lang="en-US" altLang="en-US"/>
          </a:p>
        </p:txBody>
      </p:sp>
      <p:sp>
        <p:nvSpPr>
          <p:cNvPr id="111696" name="Rectangle 80">
            <a:extLst>
              <a:ext uri="{FF2B5EF4-FFF2-40B4-BE49-F238E27FC236}">
                <a16:creationId xmlns:a16="http://schemas.microsoft.com/office/drawing/2014/main" id="{FB427D63-7592-D401-51A8-B3BC120D6D46}"/>
              </a:ext>
            </a:extLst>
          </p:cNvPr>
          <p:cNvSpPr>
            <a:spLocks noChangeArrowheads="1"/>
          </p:cNvSpPr>
          <p:nvPr/>
        </p:nvSpPr>
        <p:spPr bwMode="auto">
          <a:xfrm>
            <a:off x="7208838" y="4862514"/>
            <a:ext cx="20839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t>12</a:t>
            </a:r>
            <a:endParaRPr lang="en-US" altLang="en-US"/>
          </a:p>
        </p:txBody>
      </p:sp>
      <p:sp>
        <p:nvSpPr>
          <p:cNvPr id="111697" name="Rectangle 81">
            <a:extLst>
              <a:ext uri="{FF2B5EF4-FFF2-40B4-BE49-F238E27FC236}">
                <a16:creationId xmlns:a16="http://schemas.microsoft.com/office/drawing/2014/main" id="{7C10E20F-1F44-3BA8-6AA7-ACA8DB5490EF}"/>
              </a:ext>
            </a:extLst>
          </p:cNvPr>
          <p:cNvSpPr>
            <a:spLocks noChangeArrowheads="1"/>
          </p:cNvSpPr>
          <p:nvPr/>
        </p:nvSpPr>
        <p:spPr bwMode="auto">
          <a:xfrm>
            <a:off x="6110288" y="4137026"/>
            <a:ext cx="20839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FF0000"/>
                </a:solidFill>
              </a:rPr>
              <a:t>10</a:t>
            </a:r>
            <a:endParaRPr lang="en-US" altLang="en-US">
              <a:solidFill>
                <a:srgbClr val="FF0000"/>
              </a:solidFill>
            </a:endParaRPr>
          </a:p>
        </p:txBody>
      </p:sp>
      <p:sp>
        <p:nvSpPr>
          <p:cNvPr id="111698" name="Rectangle 82">
            <a:extLst>
              <a:ext uri="{FF2B5EF4-FFF2-40B4-BE49-F238E27FC236}">
                <a16:creationId xmlns:a16="http://schemas.microsoft.com/office/drawing/2014/main" id="{E804CB55-62B5-F549-E3AB-B7B6AA033BD3}"/>
              </a:ext>
            </a:extLst>
          </p:cNvPr>
          <p:cNvSpPr>
            <a:spLocks noChangeArrowheads="1"/>
          </p:cNvSpPr>
          <p:nvPr/>
        </p:nvSpPr>
        <p:spPr bwMode="auto">
          <a:xfrm>
            <a:off x="6045200" y="5195889"/>
            <a:ext cx="20839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10</a:t>
            </a:r>
            <a:endParaRPr lang="en-US" altLang="en-US"/>
          </a:p>
        </p:txBody>
      </p:sp>
      <p:sp>
        <p:nvSpPr>
          <p:cNvPr id="111699" name="Rectangle 83">
            <a:extLst>
              <a:ext uri="{FF2B5EF4-FFF2-40B4-BE49-F238E27FC236}">
                <a16:creationId xmlns:a16="http://schemas.microsoft.com/office/drawing/2014/main" id="{5F6E5D3B-E809-F006-8960-C2D4F403F6C7}"/>
              </a:ext>
            </a:extLst>
          </p:cNvPr>
          <p:cNvSpPr>
            <a:spLocks noChangeArrowheads="1"/>
          </p:cNvSpPr>
          <p:nvPr/>
        </p:nvSpPr>
        <p:spPr bwMode="auto">
          <a:xfrm>
            <a:off x="6605588" y="6113464"/>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t>4</a:t>
            </a:r>
            <a:endParaRPr lang="en-US" altLang="en-US"/>
          </a:p>
        </p:txBody>
      </p:sp>
      <p:sp>
        <p:nvSpPr>
          <p:cNvPr id="111700" name="Rectangle 84">
            <a:extLst>
              <a:ext uri="{FF2B5EF4-FFF2-40B4-BE49-F238E27FC236}">
                <a16:creationId xmlns:a16="http://schemas.microsoft.com/office/drawing/2014/main" id="{D7F56354-2BC6-7AA6-29D8-C4404067165C}"/>
              </a:ext>
            </a:extLst>
          </p:cNvPr>
          <p:cNvSpPr>
            <a:spLocks noChangeArrowheads="1"/>
          </p:cNvSpPr>
          <p:nvPr/>
        </p:nvSpPr>
        <p:spPr bwMode="auto">
          <a:xfrm>
            <a:off x="5292725" y="5408614"/>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7</a:t>
            </a:r>
            <a:endParaRPr lang="en-US" altLang="en-US"/>
          </a:p>
        </p:txBody>
      </p:sp>
      <p:sp>
        <p:nvSpPr>
          <p:cNvPr id="111702" name="Rectangle 86">
            <a:extLst>
              <a:ext uri="{FF2B5EF4-FFF2-40B4-BE49-F238E27FC236}">
                <a16:creationId xmlns:a16="http://schemas.microsoft.com/office/drawing/2014/main" id="{F01B7246-1433-3B4F-2EB1-35B92EB637C7}"/>
              </a:ext>
            </a:extLst>
          </p:cNvPr>
          <p:cNvSpPr>
            <a:spLocks noChangeArrowheads="1"/>
          </p:cNvSpPr>
          <p:nvPr/>
        </p:nvSpPr>
        <p:spPr bwMode="auto">
          <a:xfrm>
            <a:off x="4448175" y="6035676"/>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t>0</a:t>
            </a:r>
            <a:endParaRPr lang="en-US" altLang="en-US"/>
          </a:p>
        </p:txBody>
      </p:sp>
      <p:sp>
        <p:nvSpPr>
          <p:cNvPr id="111712" name="Rectangle 96">
            <a:extLst>
              <a:ext uri="{FF2B5EF4-FFF2-40B4-BE49-F238E27FC236}">
                <a16:creationId xmlns:a16="http://schemas.microsoft.com/office/drawing/2014/main" id="{79F078A5-DBDE-F680-9948-973F145CA20C}"/>
              </a:ext>
            </a:extLst>
          </p:cNvPr>
          <p:cNvSpPr>
            <a:spLocks noChangeArrowheads="1"/>
          </p:cNvSpPr>
          <p:nvPr/>
        </p:nvSpPr>
        <p:spPr bwMode="auto">
          <a:xfrm>
            <a:off x="4597400" y="5630864"/>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t>6</a:t>
            </a:r>
            <a:endParaRPr lang="en-US" altLang="en-US"/>
          </a:p>
        </p:txBody>
      </p:sp>
      <p:sp>
        <p:nvSpPr>
          <p:cNvPr id="111713" name="Rectangle 97">
            <a:extLst>
              <a:ext uri="{FF2B5EF4-FFF2-40B4-BE49-F238E27FC236}">
                <a16:creationId xmlns:a16="http://schemas.microsoft.com/office/drawing/2014/main" id="{94CC1A7B-683E-B7F5-3D6F-DE0F16F6DD4F}"/>
              </a:ext>
            </a:extLst>
          </p:cNvPr>
          <p:cNvSpPr>
            <a:spLocks noChangeArrowheads="1"/>
          </p:cNvSpPr>
          <p:nvPr/>
        </p:nvSpPr>
        <p:spPr bwMode="auto">
          <a:xfrm>
            <a:off x="4884738" y="5213351"/>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0</a:t>
            </a:r>
            <a:endParaRPr lang="en-US" altLang="en-US"/>
          </a:p>
        </p:txBody>
      </p:sp>
      <p:sp>
        <p:nvSpPr>
          <p:cNvPr id="111714" name="Rectangle 98">
            <a:extLst>
              <a:ext uri="{FF2B5EF4-FFF2-40B4-BE49-F238E27FC236}">
                <a16:creationId xmlns:a16="http://schemas.microsoft.com/office/drawing/2014/main" id="{41DAD051-135D-7306-8210-40AD2A5E92F9}"/>
              </a:ext>
            </a:extLst>
          </p:cNvPr>
          <p:cNvSpPr>
            <a:spLocks noChangeArrowheads="1"/>
          </p:cNvSpPr>
          <p:nvPr/>
        </p:nvSpPr>
        <p:spPr bwMode="auto">
          <a:xfrm>
            <a:off x="6378575" y="4819651"/>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0</a:t>
            </a:r>
            <a:endParaRPr lang="en-US" altLang="en-US"/>
          </a:p>
        </p:txBody>
      </p:sp>
      <p:sp>
        <p:nvSpPr>
          <p:cNvPr id="111715" name="Rectangle 99">
            <a:extLst>
              <a:ext uri="{FF2B5EF4-FFF2-40B4-BE49-F238E27FC236}">
                <a16:creationId xmlns:a16="http://schemas.microsoft.com/office/drawing/2014/main" id="{1167BC68-E25A-B57F-EF2E-3EF912162BE9}"/>
              </a:ext>
            </a:extLst>
          </p:cNvPr>
          <p:cNvSpPr>
            <a:spLocks noChangeArrowheads="1"/>
          </p:cNvSpPr>
          <p:nvPr/>
        </p:nvSpPr>
        <p:spPr bwMode="auto">
          <a:xfrm>
            <a:off x="6267450" y="4468814"/>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FF33CC"/>
                </a:solidFill>
              </a:rPr>
              <a:t>2</a:t>
            </a:r>
            <a:endParaRPr lang="en-US" altLang="en-US">
              <a:solidFill>
                <a:srgbClr val="FF33CC"/>
              </a:solidFill>
            </a:endParaRPr>
          </a:p>
        </p:txBody>
      </p:sp>
      <p:sp>
        <p:nvSpPr>
          <p:cNvPr id="111717" name="Rectangle 101">
            <a:extLst>
              <a:ext uri="{FF2B5EF4-FFF2-40B4-BE49-F238E27FC236}">
                <a16:creationId xmlns:a16="http://schemas.microsoft.com/office/drawing/2014/main" id="{2A6703BC-59CF-4E89-FD43-28ABA148C724}"/>
              </a:ext>
            </a:extLst>
          </p:cNvPr>
          <p:cNvSpPr>
            <a:spLocks noChangeArrowheads="1"/>
          </p:cNvSpPr>
          <p:nvPr/>
        </p:nvSpPr>
        <p:spPr bwMode="auto">
          <a:xfrm>
            <a:off x="8053388" y="5153026"/>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0</a:t>
            </a:r>
            <a:endParaRPr lang="en-US" altLang="en-US"/>
          </a:p>
        </p:txBody>
      </p:sp>
      <p:sp>
        <p:nvSpPr>
          <p:cNvPr id="111718" name="Rectangle 102">
            <a:extLst>
              <a:ext uri="{FF2B5EF4-FFF2-40B4-BE49-F238E27FC236}">
                <a16:creationId xmlns:a16="http://schemas.microsoft.com/office/drawing/2014/main" id="{4C13D67E-2742-F70D-F520-4C3F6E8A4EB1}"/>
              </a:ext>
            </a:extLst>
          </p:cNvPr>
          <p:cNvSpPr>
            <a:spLocks noChangeArrowheads="1"/>
          </p:cNvSpPr>
          <p:nvPr/>
        </p:nvSpPr>
        <p:spPr bwMode="auto">
          <a:xfrm>
            <a:off x="6438900" y="5780089"/>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t>6</a:t>
            </a: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16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Text Box 2">
            <a:extLst>
              <a:ext uri="{FF2B5EF4-FFF2-40B4-BE49-F238E27FC236}">
                <a16:creationId xmlns:a16="http://schemas.microsoft.com/office/drawing/2014/main" id="{FF965325-018B-BD3E-AEBD-8DB3F1779376}"/>
              </a:ext>
            </a:extLst>
          </p:cNvPr>
          <p:cNvSpPr txBox="1">
            <a:spLocks noChangeArrowheads="1"/>
          </p:cNvSpPr>
          <p:nvPr/>
        </p:nvSpPr>
        <p:spPr bwMode="auto">
          <a:xfrm>
            <a:off x="2170113" y="366714"/>
            <a:ext cx="359585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a:latin typeface="Times New Roman" panose="02020603050405020304" pitchFamily="18" charset="0"/>
                <a:cs typeface="Times New Roman" panose="02020603050405020304" pitchFamily="18" charset="0"/>
              </a:rPr>
              <a:t>Ford-Fulkerson Method…..</a:t>
            </a:r>
          </a:p>
        </p:txBody>
      </p:sp>
      <p:grpSp>
        <p:nvGrpSpPr>
          <p:cNvPr id="112775" name="Group 135">
            <a:extLst>
              <a:ext uri="{FF2B5EF4-FFF2-40B4-BE49-F238E27FC236}">
                <a16:creationId xmlns:a16="http://schemas.microsoft.com/office/drawing/2014/main" id="{F98BDD9B-77FD-D8CD-427C-8703949D3D70}"/>
              </a:ext>
            </a:extLst>
          </p:cNvPr>
          <p:cNvGrpSpPr>
            <a:grpSpLocks/>
          </p:cNvGrpSpPr>
          <p:nvPr/>
        </p:nvGrpSpPr>
        <p:grpSpPr bwMode="auto">
          <a:xfrm>
            <a:off x="1770064" y="1020763"/>
            <a:ext cx="4752975" cy="2301740"/>
            <a:chOff x="242" y="781"/>
            <a:chExt cx="3514" cy="1584"/>
          </a:xfrm>
        </p:grpSpPr>
        <p:sp>
          <p:nvSpPr>
            <p:cNvPr id="112643" name="Freeform 3">
              <a:extLst>
                <a:ext uri="{FF2B5EF4-FFF2-40B4-BE49-F238E27FC236}">
                  <a16:creationId xmlns:a16="http://schemas.microsoft.com/office/drawing/2014/main" id="{EB13F377-4B1C-AABF-FA0E-C688D3982E5F}"/>
                </a:ext>
              </a:extLst>
            </p:cNvPr>
            <p:cNvSpPr>
              <a:spLocks noEditPoints="1"/>
            </p:cNvSpPr>
            <p:nvPr/>
          </p:nvSpPr>
          <p:spPr bwMode="auto">
            <a:xfrm>
              <a:off x="2663" y="933"/>
              <a:ext cx="928" cy="337"/>
            </a:xfrm>
            <a:custGeom>
              <a:avLst/>
              <a:gdLst>
                <a:gd name="T0" fmla="*/ 921 w 928"/>
                <a:gd name="T1" fmla="*/ 337 h 337"/>
                <a:gd name="T2" fmla="*/ 60 w 928"/>
                <a:gd name="T3" fmla="*/ 35 h 337"/>
                <a:gd name="T4" fmla="*/ 58 w 928"/>
                <a:gd name="T5" fmla="*/ 35 h 337"/>
                <a:gd name="T6" fmla="*/ 56 w 928"/>
                <a:gd name="T7" fmla="*/ 33 h 337"/>
                <a:gd name="T8" fmla="*/ 56 w 928"/>
                <a:gd name="T9" fmla="*/ 32 h 337"/>
                <a:gd name="T10" fmla="*/ 56 w 928"/>
                <a:gd name="T11" fmla="*/ 29 h 337"/>
                <a:gd name="T12" fmla="*/ 56 w 928"/>
                <a:gd name="T13" fmla="*/ 27 h 337"/>
                <a:gd name="T14" fmla="*/ 58 w 928"/>
                <a:gd name="T15" fmla="*/ 27 h 337"/>
                <a:gd name="T16" fmla="*/ 60 w 928"/>
                <a:gd name="T17" fmla="*/ 26 h 337"/>
                <a:gd name="T18" fmla="*/ 63 w 928"/>
                <a:gd name="T19" fmla="*/ 27 h 337"/>
                <a:gd name="T20" fmla="*/ 924 w 928"/>
                <a:gd name="T21" fmla="*/ 328 h 337"/>
                <a:gd name="T22" fmla="*/ 926 w 928"/>
                <a:gd name="T23" fmla="*/ 329 h 337"/>
                <a:gd name="T24" fmla="*/ 926 w 928"/>
                <a:gd name="T25" fmla="*/ 331 h 337"/>
                <a:gd name="T26" fmla="*/ 928 w 928"/>
                <a:gd name="T27" fmla="*/ 332 h 337"/>
                <a:gd name="T28" fmla="*/ 928 w 928"/>
                <a:gd name="T29" fmla="*/ 334 h 337"/>
                <a:gd name="T30" fmla="*/ 926 w 928"/>
                <a:gd name="T31" fmla="*/ 335 h 337"/>
                <a:gd name="T32" fmla="*/ 924 w 928"/>
                <a:gd name="T33" fmla="*/ 337 h 337"/>
                <a:gd name="T34" fmla="*/ 923 w 928"/>
                <a:gd name="T35" fmla="*/ 337 h 337"/>
                <a:gd name="T36" fmla="*/ 921 w 928"/>
                <a:gd name="T37" fmla="*/ 337 h 337"/>
                <a:gd name="T38" fmla="*/ 921 w 928"/>
                <a:gd name="T39" fmla="*/ 337 h 337"/>
                <a:gd name="T40" fmla="*/ 60 w 928"/>
                <a:gd name="T41" fmla="*/ 71 h 337"/>
                <a:gd name="T42" fmla="*/ 0 w 928"/>
                <a:gd name="T43" fmla="*/ 10 h 337"/>
                <a:gd name="T44" fmla="*/ 85 w 928"/>
                <a:gd name="T45" fmla="*/ 0 h 337"/>
                <a:gd name="T46" fmla="*/ 60 w 928"/>
                <a:gd name="T47" fmla="*/ 71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28" h="337">
                  <a:moveTo>
                    <a:pt x="921" y="337"/>
                  </a:moveTo>
                  <a:lnTo>
                    <a:pt x="60" y="35"/>
                  </a:lnTo>
                  <a:lnTo>
                    <a:pt x="58" y="35"/>
                  </a:lnTo>
                  <a:lnTo>
                    <a:pt x="56" y="33"/>
                  </a:lnTo>
                  <a:lnTo>
                    <a:pt x="56" y="32"/>
                  </a:lnTo>
                  <a:lnTo>
                    <a:pt x="56" y="29"/>
                  </a:lnTo>
                  <a:lnTo>
                    <a:pt x="56" y="27"/>
                  </a:lnTo>
                  <a:lnTo>
                    <a:pt x="58" y="27"/>
                  </a:lnTo>
                  <a:lnTo>
                    <a:pt x="60" y="26"/>
                  </a:lnTo>
                  <a:lnTo>
                    <a:pt x="63" y="27"/>
                  </a:lnTo>
                  <a:lnTo>
                    <a:pt x="924" y="328"/>
                  </a:lnTo>
                  <a:lnTo>
                    <a:pt x="926" y="329"/>
                  </a:lnTo>
                  <a:lnTo>
                    <a:pt x="926" y="331"/>
                  </a:lnTo>
                  <a:lnTo>
                    <a:pt x="928" y="332"/>
                  </a:lnTo>
                  <a:lnTo>
                    <a:pt x="928" y="334"/>
                  </a:lnTo>
                  <a:lnTo>
                    <a:pt x="926" y="335"/>
                  </a:lnTo>
                  <a:lnTo>
                    <a:pt x="924" y="337"/>
                  </a:lnTo>
                  <a:lnTo>
                    <a:pt x="923" y="337"/>
                  </a:lnTo>
                  <a:lnTo>
                    <a:pt x="921" y="337"/>
                  </a:lnTo>
                  <a:lnTo>
                    <a:pt x="921" y="337"/>
                  </a:lnTo>
                  <a:close/>
                  <a:moveTo>
                    <a:pt x="60" y="71"/>
                  </a:moveTo>
                  <a:lnTo>
                    <a:pt x="0" y="10"/>
                  </a:lnTo>
                  <a:lnTo>
                    <a:pt x="85" y="0"/>
                  </a:lnTo>
                  <a:lnTo>
                    <a:pt x="60" y="71"/>
                  </a:lnTo>
                  <a:close/>
                </a:path>
              </a:pathLst>
            </a:custGeom>
            <a:solidFill>
              <a:srgbClr val="000000"/>
            </a:solidFill>
            <a:ln w="3175">
              <a:solidFill>
                <a:srgbClr val="000000"/>
              </a:solidFill>
              <a:prstDash val="solid"/>
              <a:round/>
              <a:headEnd/>
              <a:tailEnd/>
            </a:ln>
          </p:spPr>
          <p:txBody>
            <a:bodyPr/>
            <a:lstStyle/>
            <a:p>
              <a:endParaRPr lang="en-IN"/>
            </a:p>
          </p:txBody>
        </p:sp>
        <p:sp>
          <p:nvSpPr>
            <p:cNvPr id="112644" name="Freeform 4">
              <a:extLst>
                <a:ext uri="{FF2B5EF4-FFF2-40B4-BE49-F238E27FC236}">
                  <a16:creationId xmlns:a16="http://schemas.microsoft.com/office/drawing/2014/main" id="{C43993A3-943D-E763-2396-F3945345C25B}"/>
                </a:ext>
              </a:extLst>
            </p:cNvPr>
            <p:cNvSpPr>
              <a:spLocks noEditPoints="1"/>
            </p:cNvSpPr>
            <p:nvPr/>
          </p:nvSpPr>
          <p:spPr bwMode="auto">
            <a:xfrm>
              <a:off x="2891" y="1318"/>
              <a:ext cx="718" cy="508"/>
            </a:xfrm>
            <a:custGeom>
              <a:avLst/>
              <a:gdLst>
                <a:gd name="T0" fmla="*/ 716 w 718"/>
                <a:gd name="T1" fmla="*/ 8 h 508"/>
                <a:gd name="T2" fmla="*/ 55 w 718"/>
                <a:gd name="T3" fmla="*/ 474 h 508"/>
                <a:gd name="T4" fmla="*/ 53 w 718"/>
                <a:gd name="T5" fmla="*/ 476 h 508"/>
                <a:gd name="T6" fmla="*/ 52 w 718"/>
                <a:gd name="T7" fmla="*/ 476 h 508"/>
                <a:gd name="T8" fmla="*/ 50 w 718"/>
                <a:gd name="T9" fmla="*/ 474 h 508"/>
                <a:gd name="T10" fmla="*/ 49 w 718"/>
                <a:gd name="T11" fmla="*/ 474 h 508"/>
                <a:gd name="T12" fmla="*/ 47 w 718"/>
                <a:gd name="T13" fmla="*/ 471 h 508"/>
                <a:gd name="T14" fmla="*/ 47 w 718"/>
                <a:gd name="T15" fmla="*/ 470 h 508"/>
                <a:gd name="T16" fmla="*/ 49 w 718"/>
                <a:gd name="T17" fmla="*/ 468 h 508"/>
                <a:gd name="T18" fmla="*/ 50 w 718"/>
                <a:gd name="T19" fmla="*/ 467 h 508"/>
                <a:gd name="T20" fmla="*/ 710 w 718"/>
                <a:gd name="T21" fmla="*/ 0 h 508"/>
                <a:gd name="T22" fmla="*/ 712 w 718"/>
                <a:gd name="T23" fmla="*/ 0 h 508"/>
                <a:gd name="T24" fmla="*/ 715 w 718"/>
                <a:gd name="T25" fmla="*/ 0 h 508"/>
                <a:gd name="T26" fmla="*/ 716 w 718"/>
                <a:gd name="T27" fmla="*/ 0 h 508"/>
                <a:gd name="T28" fmla="*/ 718 w 718"/>
                <a:gd name="T29" fmla="*/ 2 h 508"/>
                <a:gd name="T30" fmla="*/ 718 w 718"/>
                <a:gd name="T31" fmla="*/ 4 h 508"/>
                <a:gd name="T32" fmla="*/ 718 w 718"/>
                <a:gd name="T33" fmla="*/ 5 h 508"/>
                <a:gd name="T34" fmla="*/ 718 w 718"/>
                <a:gd name="T35" fmla="*/ 7 h 508"/>
                <a:gd name="T36" fmla="*/ 716 w 718"/>
                <a:gd name="T37" fmla="*/ 8 h 508"/>
                <a:gd name="T38" fmla="*/ 716 w 718"/>
                <a:gd name="T39" fmla="*/ 8 h 508"/>
                <a:gd name="T40" fmla="*/ 85 w 718"/>
                <a:gd name="T41" fmla="*/ 495 h 508"/>
                <a:gd name="T42" fmla="*/ 0 w 718"/>
                <a:gd name="T43" fmla="*/ 508 h 508"/>
                <a:gd name="T44" fmla="*/ 41 w 718"/>
                <a:gd name="T45" fmla="*/ 433 h 508"/>
                <a:gd name="T46" fmla="*/ 85 w 718"/>
                <a:gd name="T47" fmla="*/ 495 h 5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18" h="508">
                  <a:moveTo>
                    <a:pt x="716" y="8"/>
                  </a:moveTo>
                  <a:lnTo>
                    <a:pt x="55" y="474"/>
                  </a:lnTo>
                  <a:lnTo>
                    <a:pt x="53" y="476"/>
                  </a:lnTo>
                  <a:lnTo>
                    <a:pt x="52" y="476"/>
                  </a:lnTo>
                  <a:lnTo>
                    <a:pt x="50" y="474"/>
                  </a:lnTo>
                  <a:lnTo>
                    <a:pt x="49" y="474"/>
                  </a:lnTo>
                  <a:lnTo>
                    <a:pt x="47" y="471"/>
                  </a:lnTo>
                  <a:lnTo>
                    <a:pt x="47" y="470"/>
                  </a:lnTo>
                  <a:lnTo>
                    <a:pt x="49" y="468"/>
                  </a:lnTo>
                  <a:lnTo>
                    <a:pt x="50" y="467"/>
                  </a:lnTo>
                  <a:lnTo>
                    <a:pt x="710" y="0"/>
                  </a:lnTo>
                  <a:lnTo>
                    <a:pt x="712" y="0"/>
                  </a:lnTo>
                  <a:lnTo>
                    <a:pt x="715" y="0"/>
                  </a:lnTo>
                  <a:lnTo>
                    <a:pt x="716" y="0"/>
                  </a:lnTo>
                  <a:lnTo>
                    <a:pt x="718" y="2"/>
                  </a:lnTo>
                  <a:lnTo>
                    <a:pt x="718" y="4"/>
                  </a:lnTo>
                  <a:lnTo>
                    <a:pt x="718" y="5"/>
                  </a:lnTo>
                  <a:lnTo>
                    <a:pt x="718" y="7"/>
                  </a:lnTo>
                  <a:lnTo>
                    <a:pt x="716" y="8"/>
                  </a:lnTo>
                  <a:lnTo>
                    <a:pt x="716" y="8"/>
                  </a:lnTo>
                  <a:close/>
                  <a:moveTo>
                    <a:pt x="85" y="495"/>
                  </a:moveTo>
                  <a:lnTo>
                    <a:pt x="0" y="508"/>
                  </a:lnTo>
                  <a:lnTo>
                    <a:pt x="41" y="433"/>
                  </a:lnTo>
                  <a:lnTo>
                    <a:pt x="85" y="495"/>
                  </a:lnTo>
                  <a:close/>
                </a:path>
              </a:pathLst>
            </a:custGeom>
            <a:solidFill>
              <a:srgbClr val="000000"/>
            </a:solidFill>
            <a:ln w="3175">
              <a:solidFill>
                <a:srgbClr val="000000"/>
              </a:solidFill>
              <a:prstDash val="solid"/>
              <a:round/>
              <a:headEnd/>
              <a:tailEnd/>
            </a:ln>
          </p:spPr>
          <p:txBody>
            <a:bodyPr/>
            <a:lstStyle/>
            <a:p>
              <a:endParaRPr lang="en-IN"/>
            </a:p>
          </p:txBody>
        </p:sp>
        <p:sp>
          <p:nvSpPr>
            <p:cNvPr id="112645" name="Freeform 5">
              <a:extLst>
                <a:ext uri="{FF2B5EF4-FFF2-40B4-BE49-F238E27FC236}">
                  <a16:creationId xmlns:a16="http://schemas.microsoft.com/office/drawing/2014/main" id="{8573A565-2FEA-87D1-89E1-D295D30A0A98}"/>
                </a:ext>
              </a:extLst>
            </p:cNvPr>
            <p:cNvSpPr>
              <a:spLocks noEditPoints="1"/>
            </p:cNvSpPr>
            <p:nvPr/>
          </p:nvSpPr>
          <p:spPr bwMode="auto">
            <a:xfrm>
              <a:off x="2580" y="962"/>
              <a:ext cx="241" cy="877"/>
            </a:xfrm>
            <a:custGeom>
              <a:avLst/>
              <a:gdLst>
                <a:gd name="T0" fmla="*/ 231 w 241"/>
                <a:gd name="T1" fmla="*/ 874 h 877"/>
                <a:gd name="T2" fmla="*/ 28 w 241"/>
                <a:gd name="T3" fmla="*/ 62 h 877"/>
                <a:gd name="T4" fmla="*/ 28 w 241"/>
                <a:gd name="T5" fmla="*/ 60 h 877"/>
                <a:gd name="T6" fmla="*/ 28 w 241"/>
                <a:gd name="T7" fmla="*/ 59 h 877"/>
                <a:gd name="T8" fmla="*/ 30 w 241"/>
                <a:gd name="T9" fmla="*/ 57 h 877"/>
                <a:gd name="T10" fmla="*/ 32 w 241"/>
                <a:gd name="T11" fmla="*/ 57 h 877"/>
                <a:gd name="T12" fmla="*/ 33 w 241"/>
                <a:gd name="T13" fmla="*/ 56 h 877"/>
                <a:gd name="T14" fmla="*/ 35 w 241"/>
                <a:gd name="T15" fmla="*/ 57 h 877"/>
                <a:gd name="T16" fmla="*/ 36 w 241"/>
                <a:gd name="T17" fmla="*/ 59 h 877"/>
                <a:gd name="T18" fmla="*/ 38 w 241"/>
                <a:gd name="T19" fmla="*/ 60 h 877"/>
                <a:gd name="T20" fmla="*/ 241 w 241"/>
                <a:gd name="T21" fmla="*/ 871 h 877"/>
                <a:gd name="T22" fmla="*/ 240 w 241"/>
                <a:gd name="T23" fmla="*/ 874 h 877"/>
                <a:gd name="T24" fmla="*/ 240 w 241"/>
                <a:gd name="T25" fmla="*/ 876 h 877"/>
                <a:gd name="T26" fmla="*/ 238 w 241"/>
                <a:gd name="T27" fmla="*/ 877 h 877"/>
                <a:gd name="T28" fmla="*/ 237 w 241"/>
                <a:gd name="T29" fmla="*/ 877 h 877"/>
                <a:gd name="T30" fmla="*/ 235 w 241"/>
                <a:gd name="T31" fmla="*/ 877 h 877"/>
                <a:gd name="T32" fmla="*/ 234 w 241"/>
                <a:gd name="T33" fmla="*/ 877 h 877"/>
                <a:gd name="T34" fmla="*/ 232 w 241"/>
                <a:gd name="T35" fmla="*/ 876 h 877"/>
                <a:gd name="T36" fmla="*/ 231 w 241"/>
                <a:gd name="T37" fmla="*/ 874 h 877"/>
                <a:gd name="T38" fmla="*/ 231 w 241"/>
                <a:gd name="T39" fmla="*/ 874 h 877"/>
                <a:gd name="T40" fmla="*/ 0 w 241"/>
                <a:gd name="T41" fmla="*/ 83 h 877"/>
                <a:gd name="T42" fmla="*/ 18 w 241"/>
                <a:gd name="T43" fmla="*/ 0 h 877"/>
                <a:gd name="T44" fmla="*/ 73 w 241"/>
                <a:gd name="T45" fmla="*/ 65 h 877"/>
                <a:gd name="T46" fmla="*/ 0 w 241"/>
                <a:gd name="T47" fmla="*/ 83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1" h="877">
                  <a:moveTo>
                    <a:pt x="231" y="874"/>
                  </a:moveTo>
                  <a:lnTo>
                    <a:pt x="28" y="62"/>
                  </a:lnTo>
                  <a:lnTo>
                    <a:pt x="28" y="60"/>
                  </a:lnTo>
                  <a:lnTo>
                    <a:pt x="28" y="59"/>
                  </a:lnTo>
                  <a:lnTo>
                    <a:pt x="30" y="57"/>
                  </a:lnTo>
                  <a:lnTo>
                    <a:pt x="32" y="57"/>
                  </a:lnTo>
                  <a:lnTo>
                    <a:pt x="33" y="56"/>
                  </a:lnTo>
                  <a:lnTo>
                    <a:pt x="35" y="57"/>
                  </a:lnTo>
                  <a:lnTo>
                    <a:pt x="36" y="59"/>
                  </a:lnTo>
                  <a:lnTo>
                    <a:pt x="38" y="60"/>
                  </a:lnTo>
                  <a:lnTo>
                    <a:pt x="241" y="871"/>
                  </a:lnTo>
                  <a:lnTo>
                    <a:pt x="240" y="874"/>
                  </a:lnTo>
                  <a:lnTo>
                    <a:pt x="240" y="876"/>
                  </a:lnTo>
                  <a:lnTo>
                    <a:pt x="238" y="877"/>
                  </a:lnTo>
                  <a:lnTo>
                    <a:pt x="237" y="877"/>
                  </a:lnTo>
                  <a:lnTo>
                    <a:pt x="235" y="877"/>
                  </a:lnTo>
                  <a:lnTo>
                    <a:pt x="234" y="877"/>
                  </a:lnTo>
                  <a:lnTo>
                    <a:pt x="232" y="876"/>
                  </a:lnTo>
                  <a:lnTo>
                    <a:pt x="231" y="874"/>
                  </a:lnTo>
                  <a:lnTo>
                    <a:pt x="231" y="874"/>
                  </a:lnTo>
                  <a:close/>
                  <a:moveTo>
                    <a:pt x="0" y="83"/>
                  </a:moveTo>
                  <a:lnTo>
                    <a:pt x="18" y="0"/>
                  </a:lnTo>
                  <a:lnTo>
                    <a:pt x="73" y="65"/>
                  </a:lnTo>
                  <a:lnTo>
                    <a:pt x="0" y="83"/>
                  </a:lnTo>
                  <a:close/>
                </a:path>
              </a:pathLst>
            </a:custGeom>
            <a:solidFill>
              <a:srgbClr val="000000"/>
            </a:solidFill>
            <a:ln w="3175">
              <a:solidFill>
                <a:srgbClr val="000000"/>
              </a:solidFill>
              <a:prstDash val="solid"/>
              <a:round/>
              <a:headEnd/>
              <a:tailEnd/>
            </a:ln>
          </p:spPr>
          <p:txBody>
            <a:bodyPr/>
            <a:lstStyle/>
            <a:p>
              <a:endParaRPr lang="en-IN"/>
            </a:p>
          </p:txBody>
        </p:sp>
        <p:sp>
          <p:nvSpPr>
            <p:cNvPr id="112646" name="Freeform 6">
              <a:extLst>
                <a:ext uri="{FF2B5EF4-FFF2-40B4-BE49-F238E27FC236}">
                  <a16:creationId xmlns:a16="http://schemas.microsoft.com/office/drawing/2014/main" id="{D9A0A3F8-D604-AC27-7AC2-F108547D60EB}"/>
                </a:ext>
              </a:extLst>
            </p:cNvPr>
            <p:cNvSpPr>
              <a:spLocks noEditPoints="1"/>
            </p:cNvSpPr>
            <p:nvPr/>
          </p:nvSpPr>
          <p:spPr bwMode="auto">
            <a:xfrm>
              <a:off x="2659" y="966"/>
              <a:ext cx="223" cy="831"/>
            </a:xfrm>
            <a:custGeom>
              <a:avLst/>
              <a:gdLst>
                <a:gd name="T0" fmla="*/ 10 w 223"/>
                <a:gd name="T1" fmla="*/ 5 h 831"/>
                <a:gd name="T2" fmla="*/ 194 w 223"/>
                <a:gd name="T3" fmla="*/ 768 h 831"/>
                <a:gd name="T4" fmla="*/ 194 w 223"/>
                <a:gd name="T5" fmla="*/ 770 h 831"/>
                <a:gd name="T6" fmla="*/ 194 w 223"/>
                <a:gd name="T7" fmla="*/ 771 h 831"/>
                <a:gd name="T8" fmla="*/ 193 w 223"/>
                <a:gd name="T9" fmla="*/ 773 h 831"/>
                <a:gd name="T10" fmla="*/ 191 w 223"/>
                <a:gd name="T11" fmla="*/ 775 h 831"/>
                <a:gd name="T12" fmla="*/ 188 w 223"/>
                <a:gd name="T13" fmla="*/ 775 h 831"/>
                <a:gd name="T14" fmla="*/ 187 w 223"/>
                <a:gd name="T15" fmla="*/ 773 h 831"/>
                <a:gd name="T16" fmla="*/ 185 w 223"/>
                <a:gd name="T17" fmla="*/ 771 h 831"/>
                <a:gd name="T18" fmla="*/ 185 w 223"/>
                <a:gd name="T19" fmla="*/ 770 h 831"/>
                <a:gd name="T20" fmla="*/ 0 w 223"/>
                <a:gd name="T21" fmla="*/ 6 h 831"/>
                <a:gd name="T22" fmla="*/ 0 w 223"/>
                <a:gd name="T23" fmla="*/ 5 h 831"/>
                <a:gd name="T24" fmla="*/ 1 w 223"/>
                <a:gd name="T25" fmla="*/ 3 h 831"/>
                <a:gd name="T26" fmla="*/ 3 w 223"/>
                <a:gd name="T27" fmla="*/ 2 h 831"/>
                <a:gd name="T28" fmla="*/ 4 w 223"/>
                <a:gd name="T29" fmla="*/ 0 h 831"/>
                <a:gd name="T30" fmla="*/ 6 w 223"/>
                <a:gd name="T31" fmla="*/ 0 h 831"/>
                <a:gd name="T32" fmla="*/ 7 w 223"/>
                <a:gd name="T33" fmla="*/ 2 h 831"/>
                <a:gd name="T34" fmla="*/ 9 w 223"/>
                <a:gd name="T35" fmla="*/ 3 h 831"/>
                <a:gd name="T36" fmla="*/ 10 w 223"/>
                <a:gd name="T37" fmla="*/ 5 h 831"/>
                <a:gd name="T38" fmla="*/ 10 w 223"/>
                <a:gd name="T39" fmla="*/ 5 h 831"/>
                <a:gd name="T40" fmla="*/ 223 w 223"/>
                <a:gd name="T41" fmla="*/ 749 h 831"/>
                <a:gd name="T42" fmla="*/ 205 w 223"/>
                <a:gd name="T43" fmla="*/ 831 h 831"/>
                <a:gd name="T44" fmla="*/ 150 w 223"/>
                <a:gd name="T45" fmla="*/ 767 h 831"/>
                <a:gd name="T46" fmla="*/ 223 w 223"/>
                <a:gd name="T47" fmla="*/ 749 h 8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23" h="831">
                  <a:moveTo>
                    <a:pt x="10" y="5"/>
                  </a:moveTo>
                  <a:lnTo>
                    <a:pt x="194" y="768"/>
                  </a:lnTo>
                  <a:lnTo>
                    <a:pt x="194" y="770"/>
                  </a:lnTo>
                  <a:lnTo>
                    <a:pt x="194" y="771"/>
                  </a:lnTo>
                  <a:lnTo>
                    <a:pt x="193" y="773"/>
                  </a:lnTo>
                  <a:lnTo>
                    <a:pt x="191" y="775"/>
                  </a:lnTo>
                  <a:lnTo>
                    <a:pt x="188" y="775"/>
                  </a:lnTo>
                  <a:lnTo>
                    <a:pt x="187" y="773"/>
                  </a:lnTo>
                  <a:lnTo>
                    <a:pt x="185" y="771"/>
                  </a:lnTo>
                  <a:lnTo>
                    <a:pt x="185" y="770"/>
                  </a:lnTo>
                  <a:lnTo>
                    <a:pt x="0" y="6"/>
                  </a:lnTo>
                  <a:lnTo>
                    <a:pt x="0" y="5"/>
                  </a:lnTo>
                  <a:lnTo>
                    <a:pt x="1" y="3"/>
                  </a:lnTo>
                  <a:lnTo>
                    <a:pt x="3" y="2"/>
                  </a:lnTo>
                  <a:lnTo>
                    <a:pt x="4" y="0"/>
                  </a:lnTo>
                  <a:lnTo>
                    <a:pt x="6" y="0"/>
                  </a:lnTo>
                  <a:lnTo>
                    <a:pt x="7" y="2"/>
                  </a:lnTo>
                  <a:lnTo>
                    <a:pt x="9" y="3"/>
                  </a:lnTo>
                  <a:lnTo>
                    <a:pt x="10" y="5"/>
                  </a:lnTo>
                  <a:lnTo>
                    <a:pt x="10" y="5"/>
                  </a:lnTo>
                  <a:close/>
                  <a:moveTo>
                    <a:pt x="223" y="749"/>
                  </a:moveTo>
                  <a:lnTo>
                    <a:pt x="205" y="831"/>
                  </a:lnTo>
                  <a:lnTo>
                    <a:pt x="150" y="767"/>
                  </a:lnTo>
                  <a:lnTo>
                    <a:pt x="223" y="749"/>
                  </a:lnTo>
                  <a:close/>
                </a:path>
              </a:pathLst>
            </a:custGeom>
            <a:solidFill>
              <a:srgbClr val="000000"/>
            </a:solidFill>
            <a:ln w="3175">
              <a:solidFill>
                <a:srgbClr val="000000"/>
              </a:solidFill>
              <a:prstDash val="solid"/>
              <a:round/>
              <a:headEnd/>
              <a:tailEnd/>
            </a:ln>
          </p:spPr>
          <p:txBody>
            <a:bodyPr/>
            <a:lstStyle/>
            <a:p>
              <a:endParaRPr lang="en-IN"/>
            </a:p>
          </p:txBody>
        </p:sp>
        <p:sp>
          <p:nvSpPr>
            <p:cNvPr id="112647" name="Freeform 7">
              <a:extLst>
                <a:ext uri="{FF2B5EF4-FFF2-40B4-BE49-F238E27FC236}">
                  <a16:creationId xmlns:a16="http://schemas.microsoft.com/office/drawing/2014/main" id="{D8396581-F346-8743-A846-DA76AAFDAA6E}"/>
                </a:ext>
              </a:extLst>
            </p:cNvPr>
            <p:cNvSpPr>
              <a:spLocks noEditPoints="1"/>
            </p:cNvSpPr>
            <p:nvPr/>
          </p:nvSpPr>
          <p:spPr bwMode="auto">
            <a:xfrm>
              <a:off x="1192" y="928"/>
              <a:ext cx="1363" cy="132"/>
            </a:xfrm>
            <a:custGeom>
              <a:avLst/>
              <a:gdLst>
                <a:gd name="T0" fmla="*/ 1359 w 1363"/>
                <a:gd name="T1" fmla="*/ 11 h 132"/>
                <a:gd name="T2" fmla="*/ 64 w 1363"/>
                <a:gd name="T3" fmla="*/ 100 h 132"/>
                <a:gd name="T4" fmla="*/ 60 w 1363"/>
                <a:gd name="T5" fmla="*/ 100 h 132"/>
                <a:gd name="T6" fmla="*/ 59 w 1363"/>
                <a:gd name="T7" fmla="*/ 99 h 132"/>
                <a:gd name="T8" fmla="*/ 57 w 1363"/>
                <a:gd name="T9" fmla="*/ 97 h 132"/>
                <a:gd name="T10" fmla="*/ 57 w 1363"/>
                <a:gd name="T11" fmla="*/ 96 h 132"/>
                <a:gd name="T12" fmla="*/ 57 w 1363"/>
                <a:gd name="T13" fmla="*/ 94 h 132"/>
                <a:gd name="T14" fmla="*/ 59 w 1363"/>
                <a:gd name="T15" fmla="*/ 93 h 132"/>
                <a:gd name="T16" fmla="*/ 60 w 1363"/>
                <a:gd name="T17" fmla="*/ 91 h 132"/>
                <a:gd name="T18" fmla="*/ 62 w 1363"/>
                <a:gd name="T19" fmla="*/ 91 h 132"/>
                <a:gd name="T20" fmla="*/ 1357 w 1363"/>
                <a:gd name="T21" fmla="*/ 0 h 132"/>
                <a:gd name="T22" fmla="*/ 1359 w 1363"/>
                <a:gd name="T23" fmla="*/ 0 h 132"/>
                <a:gd name="T24" fmla="*/ 1360 w 1363"/>
                <a:gd name="T25" fmla="*/ 2 h 132"/>
                <a:gd name="T26" fmla="*/ 1362 w 1363"/>
                <a:gd name="T27" fmla="*/ 3 h 132"/>
                <a:gd name="T28" fmla="*/ 1363 w 1363"/>
                <a:gd name="T29" fmla="*/ 5 h 132"/>
                <a:gd name="T30" fmla="*/ 1362 w 1363"/>
                <a:gd name="T31" fmla="*/ 6 h 132"/>
                <a:gd name="T32" fmla="*/ 1362 w 1363"/>
                <a:gd name="T33" fmla="*/ 8 h 132"/>
                <a:gd name="T34" fmla="*/ 1360 w 1363"/>
                <a:gd name="T35" fmla="*/ 9 h 132"/>
                <a:gd name="T36" fmla="*/ 1359 w 1363"/>
                <a:gd name="T37" fmla="*/ 11 h 132"/>
                <a:gd name="T38" fmla="*/ 1359 w 1363"/>
                <a:gd name="T39" fmla="*/ 11 h 132"/>
                <a:gd name="T40" fmla="*/ 77 w 1363"/>
                <a:gd name="T41" fmla="*/ 132 h 132"/>
                <a:gd name="T42" fmla="*/ 0 w 1363"/>
                <a:gd name="T43" fmla="*/ 100 h 132"/>
                <a:gd name="T44" fmla="*/ 73 w 1363"/>
                <a:gd name="T45" fmla="*/ 58 h 132"/>
                <a:gd name="T46" fmla="*/ 77 w 1363"/>
                <a:gd name="T47"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63" h="132">
                  <a:moveTo>
                    <a:pt x="1359" y="11"/>
                  </a:moveTo>
                  <a:lnTo>
                    <a:pt x="64" y="100"/>
                  </a:lnTo>
                  <a:lnTo>
                    <a:pt x="60" y="100"/>
                  </a:lnTo>
                  <a:lnTo>
                    <a:pt x="59" y="99"/>
                  </a:lnTo>
                  <a:lnTo>
                    <a:pt x="57" y="97"/>
                  </a:lnTo>
                  <a:lnTo>
                    <a:pt x="57" y="96"/>
                  </a:lnTo>
                  <a:lnTo>
                    <a:pt x="57" y="94"/>
                  </a:lnTo>
                  <a:lnTo>
                    <a:pt x="59" y="93"/>
                  </a:lnTo>
                  <a:lnTo>
                    <a:pt x="60" y="91"/>
                  </a:lnTo>
                  <a:lnTo>
                    <a:pt x="62" y="91"/>
                  </a:lnTo>
                  <a:lnTo>
                    <a:pt x="1357" y="0"/>
                  </a:lnTo>
                  <a:lnTo>
                    <a:pt x="1359" y="0"/>
                  </a:lnTo>
                  <a:lnTo>
                    <a:pt x="1360" y="2"/>
                  </a:lnTo>
                  <a:lnTo>
                    <a:pt x="1362" y="3"/>
                  </a:lnTo>
                  <a:lnTo>
                    <a:pt x="1363" y="5"/>
                  </a:lnTo>
                  <a:lnTo>
                    <a:pt x="1362" y="6"/>
                  </a:lnTo>
                  <a:lnTo>
                    <a:pt x="1362" y="8"/>
                  </a:lnTo>
                  <a:lnTo>
                    <a:pt x="1360" y="9"/>
                  </a:lnTo>
                  <a:lnTo>
                    <a:pt x="1359" y="11"/>
                  </a:lnTo>
                  <a:lnTo>
                    <a:pt x="1359" y="11"/>
                  </a:lnTo>
                  <a:close/>
                  <a:moveTo>
                    <a:pt x="77" y="132"/>
                  </a:moveTo>
                  <a:lnTo>
                    <a:pt x="0" y="100"/>
                  </a:lnTo>
                  <a:lnTo>
                    <a:pt x="73" y="58"/>
                  </a:lnTo>
                  <a:lnTo>
                    <a:pt x="77" y="132"/>
                  </a:lnTo>
                  <a:close/>
                </a:path>
              </a:pathLst>
            </a:custGeom>
            <a:solidFill>
              <a:srgbClr val="000000"/>
            </a:solidFill>
            <a:ln w="3175">
              <a:solidFill>
                <a:srgbClr val="000000"/>
              </a:solidFill>
              <a:prstDash val="solid"/>
              <a:round/>
              <a:headEnd/>
              <a:tailEnd/>
            </a:ln>
          </p:spPr>
          <p:txBody>
            <a:bodyPr/>
            <a:lstStyle/>
            <a:p>
              <a:endParaRPr lang="en-IN"/>
            </a:p>
          </p:txBody>
        </p:sp>
        <p:sp>
          <p:nvSpPr>
            <p:cNvPr id="112648" name="Freeform 8">
              <a:extLst>
                <a:ext uri="{FF2B5EF4-FFF2-40B4-BE49-F238E27FC236}">
                  <a16:creationId xmlns:a16="http://schemas.microsoft.com/office/drawing/2014/main" id="{A4095877-23EF-1B53-5C21-5BA63DE60643}"/>
                </a:ext>
              </a:extLst>
            </p:cNvPr>
            <p:cNvSpPr>
              <a:spLocks noEditPoints="1"/>
            </p:cNvSpPr>
            <p:nvPr/>
          </p:nvSpPr>
          <p:spPr bwMode="auto">
            <a:xfrm>
              <a:off x="1158" y="1042"/>
              <a:ext cx="1639" cy="831"/>
            </a:xfrm>
            <a:custGeom>
              <a:avLst/>
              <a:gdLst>
                <a:gd name="T0" fmla="*/ 6 w 1639"/>
                <a:gd name="T1" fmla="*/ 2 h 831"/>
                <a:gd name="T2" fmla="*/ 1584 w 1639"/>
                <a:gd name="T3" fmla="*/ 799 h 831"/>
                <a:gd name="T4" fmla="*/ 1586 w 1639"/>
                <a:gd name="T5" fmla="*/ 799 h 831"/>
                <a:gd name="T6" fmla="*/ 1587 w 1639"/>
                <a:gd name="T7" fmla="*/ 800 h 831"/>
                <a:gd name="T8" fmla="*/ 1587 w 1639"/>
                <a:gd name="T9" fmla="*/ 803 h 831"/>
                <a:gd name="T10" fmla="*/ 1587 w 1639"/>
                <a:gd name="T11" fmla="*/ 805 h 831"/>
                <a:gd name="T12" fmla="*/ 1586 w 1639"/>
                <a:gd name="T13" fmla="*/ 806 h 831"/>
                <a:gd name="T14" fmla="*/ 1584 w 1639"/>
                <a:gd name="T15" fmla="*/ 806 h 831"/>
                <a:gd name="T16" fmla="*/ 1581 w 1639"/>
                <a:gd name="T17" fmla="*/ 806 h 831"/>
                <a:gd name="T18" fmla="*/ 1580 w 1639"/>
                <a:gd name="T19" fmla="*/ 806 h 831"/>
                <a:gd name="T20" fmla="*/ 3 w 1639"/>
                <a:gd name="T21" fmla="*/ 9 h 831"/>
                <a:gd name="T22" fmla="*/ 2 w 1639"/>
                <a:gd name="T23" fmla="*/ 9 h 831"/>
                <a:gd name="T24" fmla="*/ 0 w 1639"/>
                <a:gd name="T25" fmla="*/ 6 h 831"/>
                <a:gd name="T26" fmla="*/ 0 w 1639"/>
                <a:gd name="T27" fmla="*/ 5 h 831"/>
                <a:gd name="T28" fmla="*/ 0 w 1639"/>
                <a:gd name="T29" fmla="*/ 3 h 831"/>
                <a:gd name="T30" fmla="*/ 2 w 1639"/>
                <a:gd name="T31" fmla="*/ 2 h 831"/>
                <a:gd name="T32" fmla="*/ 3 w 1639"/>
                <a:gd name="T33" fmla="*/ 0 h 831"/>
                <a:gd name="T34" fmla="*/ 5 w 1639"/>
                <a:gd name="T35" fmla="*/ 0 h 831"/>
                <a:gd name="T36" fmla="*/ 6 w 1639"/>
                <a:gd name="T37" fmla="*/ 2 h 831"/>
                <a:gd name="T38" fmla="*/ 6 w 1639"/>
                <a:gd name="T39" fmla="*/ 2 h 831"/>
                <a:gd name="T40" fmla="*/ 1589 w 1639"/>
                <a:gd name="T41" fmla="*/ 762 h 831"/>
                <a:gd name="T42" fmla="*/ 1639 w 1639"/>
                <a:gd name="T43" fmla="*/ 831 h 831"/>
                <a:gd name="T44" fmla="*/ 1554 w 1639"/>
                <a:gd name="T45" fmla="*/ 831 h 831"/>
                <a:gd name="T46" fmla="*/ 1589 w 1639"/>
                <a:gd name="T47" fmla="*/ 762 h 8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39" h="831">
                  <a:moveTo>
                    <a:pt x="6" y="2"/>
                  </a:moveTo>
                  <a:lnTo>
                    <a:pt x="1584" y="799"/>
                  </a:lnTo>
                  <a:lnTo>
                    <a:pt x="1586" y="799"/>
                  </a:lnTo>
                  <a:lnTo>
                    <a:pt x="1587" y="800"/>
                  </a:lnTo>
                  <a:lnTo>
                    <a:pt x="1587" y="803"/>
                  </a:lnTo>
                  <a:lnTo>
                    <a:pt x="1587" y="805"/>
                  </a:lnTo>
                  <a:lnTo>
                    <a:pt x="1586" y="806"/>
                  </a:lnTo>
                  <a:lnTo>
                    <a:pt x="1584" y="806"/>
                  </a:lnTo>
                  <a:lnTo>
                    <a:pt x="1581" y="806"/>
                  </a:lnTo>
                  <a:lnTo>
                    <a:pt x="1580" y="806"/>
                  </a:lnTo>
                  <a:lnTo>
                    <a:pt x="3" y="9"/>
                  </a:lnTo>
                  <a:lnTo>
                    <a:pt x="2" y="9"/>
                  </a:lnTo>
                  <a:lnTo>
                    <a:pt x="0" y="6"/>
                  </a:lnTo>
                  <a:lnTo>
                    <a:pt x="0" y="5"/>
                  </a:lnTo>
                  <a:lnTo>
                    <a:pt x="0" y="3"/>
                  </a:lnTo>
                  <a:lnTo>
                    <a:pt x="2" y="2"/>
                  </a:lnTo>
                  <a:lnTo>
                    <a:pt x="3" y="0"/>
                  </a:lnTo>
                  <a:lnTo>
                    <a:pt x="5" y="0"/>
                  </a:lnTo>
                  <a:lnTo>
                    <a:pt x="6" y="2"/>
                  </a:lnTo>
                  <a:lnTo>
                    <a:pt x="6" y="2"/>
                  </a:lnTo>
                  <a:close/>
                  <a:moveTo>
                    <a:pt x="1589" y="762"/>
                  </a:moveTo>
                  <a:lnTo>
                    <a:pt x="1639" y="831"/>
                  </a:lnTo>
                  <a:lnTo>
                    <a:pt x="1554" y="831"/>
                  </a:lnTo>
                  <a:lnTo>
                    <a:pt x="1589" y="762"/>
                  </a:lnTo>
                  <a:close/>
                </a:path>
              </a:pathLst>
            </a:custGeom>
            <a:solidFill>
              <a:srgbClr val="000000"/>
            </a:solidFill>
            <a:ln w="3175">
              <a:solidFill>
                <a:srgbClr val="000000"/>
              </a:solidFill>
              <a:prstDash val="solid"/>
              <a:round/>
              <a:headEnd/>
              <a:tailEnd/>
            </a:ln>
          </p:spPr>
          <p:txBody>
            <a:bodyPr/>
            <a:lstStyle/>
            <a:p>
              <a:endParaRPr lang="en-IN"/>
            </a:p>
          </p:txBody>
        </p:sp>
        <p:sp>
          <p:nvSpPr>
            <p:cNvPr id="112649" name="Freeform 9">
              <a:extLst>
                <a:ext uri="{FF2B5EF4-FFF2-40B4-BE49-F238E27FC236}">
                  <a16:creationId xmlns:a16="http://schemas.microsoft.com/office/drawing/2014/main" id="{13558C26-879D-1BCC-A154-8210E53DAFAC}"/>
                </a:ext>
              </a:extLst>
            </p:cNvPr>
            <p:cNvSpPr>
              <a:spLocks noEditPoints="1"/>
            </p:cNvSpPr>
            <p:nvPr/>
          </p:nvSpPr>
          <p:spPr bwMode="auto">
            <a:xfrm>
              <a:off x="1496" y="1906"/>
              <a:ext cx="1296" cy="310"/>
            </a:xfrm>
            <a:custGeom>
              <a:avLst/>
              <a:gdLst>
                <a:gd name="T0" fmla="*/ 1292 w 1296"/>
                <a:gd name="T1" fmla="*/ 9 h 310"/>
                <a:gd name="T2" fmla="*/ 62 w 1296"/>
                <a:gd name="T3" fmla="*/ 281 h 310"/>
                <a:gd name="T4" fmla="*/ 61 w 1296"/>
                <a:gd name="T5" fmla="*/ 281 h 310"/>
                <a:gd name="T6" fmla="*/ 59 w 1296"/>
                <a:gd name="T7" fmla="*/ 279 h 310"/>
                <a:gd name="T8" fmla="*/ 57 w 1296"/>
                <a:gd name="T9" fmla="*/ 278 h 310"/>
                <a:gd name="T10" fmla="*/ 56 w 1296"/>
                <a:gd name="T11" fmla="*/ 276 h 310"/>
                <a:gd name="T12" fmla="*/ 56 w 1296"/>
                <a:gd name="T13" fmla="*/ 275 h 310"/>
                <a:gd name="T14" fmla="*/ 57 w 1296"/>
                <a:gd name="T15" fmla="*/ 273 h 310"/>
                <a:gd name="T16" fmla="*/ 59 w 1296"/>
                <a:gd name="T17" fmla="*/ 272 h 310"/>
                <a:gd name="T18" fmla="*/ 61 w 1296"/>
                <a:gd name="T19" fmla="*/ 272 h 310"/>
                <a:gd name="T20" fmla="*/ 1290 w 1296"/>
                <a:gd name="T21" fmla="*/ 0 h 310"/>
                <a:gd name="T22" fmla="*/ 1292 w 1296"/>
                <a:gd name="T23" fmla="*/ 0 h 310"/>
                <a:gd name="T24" fmla="*/ 1293 w 1296"/>
                <a:gd name="T25" fmla="*/ 2 h 310"/>
                <a:gd name="T26" fmla="*/ 1295 w 1296"/>
                <a:gd name="T27" fmla="*/ 2 h 310"/>
                <a:gd name="T28" fmla="*/ 1296 w 1296"/>
                <a:gd name="T29" fmla="*/ 5 h 310"/>
                <a:gd name="T30" fmla="*/ 1296 w 1296"/>
                <a:gd name="T31" fmla="*/ 6 h 310"/>
                <a:gd name="T32" fmla="*/ 1295 w 1296"/>
                <a:gd name="T33" fmla="*/ 8 h 310"/>
                <a:gd name="T34" fmla="*/ 1293 w 1296"/>
                <a:gd name="T35" fmla="*/ 9 h 310"/>
                <a:gd name="T36" fmla="*/ 1292 w 1296"/>
                <a:gd name="T37" fmla="*/ 9 h 310"/>
                <a:gd name="T38" fmla="*/ 1292 w 1296"/>
                <a:gd name="T39" fmla="*/ 9 h 310"/>
                <a:gd name="T40" fmla="*/ 82 w 1296"/>
                <a:gd name="T41" fmla="*/ 310 h 310"/>
                <a:gd name="T42" fmla="*/ 0 w 1296"/>
                <a:gd name="T43" fmla="*/ 290 h 310"/>
                <a:gd name="T44" fmla="*/ 65 w 1296"/>
                <a:gd name="T45" fmla="*/ 237 h 310"/>
                <a:gd name="T46" fmla="*/ 82 w 1296"/>
                <a:gd name="T47" fmla="*/ 310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96" h="310">
                  <a:moveTo>
                    <a:pt x="1292" y="9"/>
                  </a:moveTo>
                  <a:lnTo>
                    <a:pt x="62" y="281"/>
                  </a:lnTo>
                  <a:lnTo>
                    <a:pt x="61" y="281"/>
                  </a:lnTo>
                  <a:lnTo>
                    <a:pt x="59" y="279"/>
                  </a:lnTo>
                  <a:lnTo>
                    <a:pt x="57" y="278"/>
                  </a:lnTo>
                  <a:lnTo>
                    <a:pt x="56" y="276"/>
                  </a:lnTo>
                  <a:lnTo>
                    <a:pt x="56" y="275"/>
                  </a:lnTo>
                  <a:lnTo>
                    <a:pt x="57" y="273"/>
                  </a:lnTo>
                  <a:lnTo>
                    <a:pt x="59" y="272"/>
                  </a:lnTo>
                  <a:lnTo>
                    <a:pt x="61" y="272"/>
                  </a:lnTo>
                  <a:lnTo>
                    <a:pt x="1290" y="0"/>
                  </a:lnTo>
                  <a:lnTo>
                    <a:pt x="1292" y="0"/>
                  </a:lnTo>
                  <a:lnTo>
                    <a:pt x="1293" y="2"/>
                  </a:lnTo>
                  <a:lnTo>
                    <a:pt x="1295" y="2"/>
                  </a:lnTo>
                  <a:lnTo>
                    <a:pt x="1296" y="5"/>
                  </a:lnTo>
                  <a:lnTo>
                    <a:pt x="1296" y="6"/>
                  </a:lnTo>
                  <a:lnTo>
                    <a:pt x="1295" y="8"/>
                  </a:lnTo>
                  <a:lnTo>
                    <a:pt x="1293" y="9"/>
                  </a:lnTo>
                  <a:lnTo>
                    <a:pt x="1292" y="9"/>
                  </a:lnTo>
                  <a:lnTo>
                    <a:pt x="1292" y="9"/>
                  </a:lnTo>
                  <a:close/>
                  <a:moveTo>
                    <a:pt x="82" y="310"/>
                  </a:moveTo>
                  <a:lnTo>
                    <a:pt x="0" y="290"/>
                  </a:lnTo>
                  <a:lnTo>
                    <a:pt x="65" y="237"/>
                  </a:lnTo>
                  <a:lnTo>
                    <a:pt x="82" y="310"/>
                  </a:lnTo>
                  <a:close/>
                </a:path>
              </a:pathLst>
            </a:custGeom>
            <a:solidFill>
              <a:srgbClr val="000000"/>
            </a:solidFill>
            <a:ln w="3175">
              <a:solidFill>
                <a:srgbClr val="000000"/>
              </a:solidFill>
              <a:prstDash val="solid"/>
              <a:round/>
              <a:headEnd/>
              <a:tailEnd/>
            </a:ln>
          </p:spPr>
          <p:txBody>
            <a:bodyPr/>
            <a:lstStyle/>
            <a:p>
              <a:endParaRPr lang="en-IN"/>
            </a:p>
          </p:txBody>
        </p:sp>
        <p:sp>
          <p:nvSpPr>
            <p:cNvPr id="112650" name="Freeform 10">
              <a:extLst>
                <a:ext uri="{FF2B5EF4-FFF2-40B4-BE49-F238E27FC236}">
                  <a16:creationId xmlns:a16="http://schemas.microsoft.com/office/drawing/2014/main" id="{727684F5-B472-5A57-038A-1ECFE15E7DFA}"/>
                </a:ext>
              </a:extLst>
            </p:cNvPr>
            <p:cNvSpPr>
              <a:spLocks noEditPoints="1"/>
            </p:cNvSpPr>
            <p:nvPr/>
          </p:nvSpPr>
          <p:spPr bwMode="auto">
            <a:xfrm>
              <a:off x="412" y="1721"/>
              <a:ext cx="964" cy="498"/>
            </a:xfrm>
            <a:custGeom>
              <a:avLst/>
              <a:gdLst>
                <a:gd name="T0" fmla="*/ 958 w 964"/>
                <a:gd name="T1" fmla="*/ 498 h 498"/>
                <a:gd name="T2" fmla="*/ 55 w 964"/>
                <a:gd name="T3" fmla="*/ 33 h 498"/>
                <a:gd name="T4" fmla="*/ 53 w 964"/>
                <a:gd name="T5" fmla="*/ 32 h 498"/>
                <a:gd name="T6" fmla="*/ 52 w 964"/>
                <a:gd name="T7" fmla="*/ 30 h 498"/>
                <a:gd name="T8" fmla="*/ 52 w 964"/>
                <a:gd name="T9" fmla="*/ 29 h 498"/>
                <a:gd name="T10" fmla="*/ 52 w 964"/>
                <a:gd name="T11" fmla="*/ 27 h 498"/>
                <a:gd name="T12" fmla="*/ 53 w 964"/>
                <a:gd name="T13" fmla="*/ 26 h 498"/>
                <a:gd name="T14" fmla="*/ 55 w 964"/>
                <a:gd name="T15" fmla="*/ 24 h 498"/>
                <a:gd name="T16" fmla="*/ 56 w 964"/>
                <a:gd name="T17" fmla="*/ 24 h 498"/>
                <a:gd name="T18" fmla="*/ 59 w 964"/>
                <a:gd name="T19" fmla="*/ 24 h 498"/>
                <a:gd name="T20" fmla="*/ 962 w 964"/>
                <a:gd name="T21" fmla="*/ 489 h 498"/>
                <a:gd name="T22" fmla="*/ 964 w 964"/>
                <a:gd name="T23" fmla="*/ 490 h 498"/>
                <a:gd name="T24" fmla="*/ 964 w 964"/>
                <a:gd name="T25" fmla="*/ 492 h 498"/>
                <a:gd name="T26" fmla="*/ 964 w 964"/>
                <a:gd name="T27" fmla="*/ 493 h 498"/>
                <a:gd name="T28" fmla="*/ 964 w 964"/>
                <a:gd name="T29" fmla="*/ 496 h 498"/>
                <a:gd name="T30" fmla="*/ 962 w 964"/>
                <a:gd name="T31" fmla="*/ 496 h 498"/>
                <a:gd name="T32" fmla="*/ 961 w 964"/>
                <a:gd name="T33" fmla="*/ 498 h 498"/>
                <a:gd name="T34" fmla="*/ 959 w 964"/>
                <a:gd name="T35" fmla="*/ 498 h 498"/>
                <a:gd name="T36" fmla="*/ 958 w 964"/>
                <a:gd name="T37" fmla="*/ 498 h 498"/>
                <a:gd name="T38" fmla="*/ 958 w 964"/>
                <a:gd name="T39" fmla="*/ 498 h 498"/>
                <a:gd name="T40" fmla="*/ 50 w 964"/>
                <a:gd name="T41" fmla="*/ 68 h 498"/>
                <a:gd name="T42" fmla="*/ 0 w 964"/>
                <a:gd name="T43" fmla="*/ 0 h 498"/>
                <a:gd name="T44" fmla="*/ 85 w 964"/>
                <a:gd name="T45" fmla="*/ 1 h 498"/>
                <a:gd name="T46" fmla="*/ 50 w 964"/>
                <a:gd name="T47" fmla="*/ 68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64" h="498">
                  <a:moveTo>
                    <a:pt x="958" y="498"/>
                  </a:moveTo>
                  <a:lnTo>
                    <a:pt x="55" y="33"/>
                  </a:lnTo>
                  <a:lnTo>
                    <a:pt x="53" y="32"/>
                  </a:lnTo>
                  <a:lnTo>
                    <a:pt x="52" y="30"/>
                  </a:lnTo>
                  <a:lnTo>
                    <a:pt x="52" y="29"/>
                  </a:lnTo>
                  <a:lnTo>
                    <a:pt x="52" y="27"/>
                  </a:lnTo>
                  <a:lnTo>
                    <a:pt x="53" y="26"/>
                  </a:lnTo>
                  <a:lnTo>
                    <a:pt x="55" y="24"/>
                  </a:lnTo>
                  <a:lnTo>
                    <a:pt x="56" y="24"/>
                  </a:lnTo>
                  <a:lnTo>
                    <a:pt x="59" y="24"/>
                  </a:lnTo>
                  <a:lnTo>
                    <a:pt x="962" y="489"/>
                  </a:lnTo>
                  <a:lnTo>
                    <a:pt x="964" y="490"/>
                  </a:lnTo>
                  <a:lnTo>
                    <a:pt x="964" y="492"/>
                  </a:lnTo>
                  <a:lnTo>
                    <a:pt x="964" y="493"/>
                  </a:lnTo>
                  <a:lnTo>
                    <a:pt x="964" y="496"/>
                  </a:lnTo>
                  <a:lnTo>
                    <a:pt x="962" y="496"/>
                  </a:lnTo>
                  <a:lnTo>
                    <a:pt x="961" y="498"/>
                  </a:lnTo>
                  <a:lnTo>
                    <a:pt x="959" y="498"/>
                  </a:lnTo>
                  <a:lnTo>
                    <a:pt x="958" y="498"/>
                  </a:lnTo>
                  <a:lnTo>
                    <a:pt x="958" y="498"/>
                  </a:lnTo>
                  <a:close/>
                  <a:moveTo>
                    <a:pt x="50" y="68"/>
                  </a:moveTo>
                  <a:lnTo>
                    <a:pt x="0" y="0"/>
                  </a:lnTo>
                  <a:lnTo>
                    <a:pt x="85" y="1"/>
                  </a:lnTo>
                  <a:lnTo>
                    <a:pt x="50" y="68"/>
                  </a:lnTo>
                  <a:close/>
                </a:path>
              </a:pathLst>
            </a:custGeom>
            <a:solidFill>
              <a:srgbClr val="000000"/>
            </a:solidFill>
            <a:ln w="3175">
              <a:solidFill>
                <a:srgbClr val="000000"/>
              </a:solidFill>
              <a:prstDash val="solid"/>
              <a:round/>
              <a:headEnd/>
              <a:tailEnd/>
            </a:ln>
          </p:spPr>
          <p:txBody>
            <a:bodyPr/>
            <a:lstStyle/>
            <a:p>
              <a:endParaRPr lang="en-IN"/>
            </a:p>
          </p:txBody>
        </p:sp>
        <p:sp>
          <p:nvSpPr>
            <p:cNvPr id="112651" name="Freeform 11">
              <a:extLst>
                <a:ext uri="{FF2B5EF4-FFF2-40B4-BE49-F238E27FC236}">
                  <a16:creationId xmlns:a16="http://schemas.microsoft.com/office/drawing/2014/main" id="{6F32DC9E-861F-679F-236E-2867D124F61F}"/>
                </a:ext>
              </a:extLst>
            </p:cNvPr>
            <p:cNvSpPr>
              <a:spLocks noEditPoints="1"/>
            </p:cNvSpPr>
            <p:nvPr/>
          </p:nvSpPr>
          <p:spPr bwMode="auto">
            <a:xfrm>
              <a:off x="412" y="1062"/>
              <a:ext cx="650" cy="592"/>
            </a:xfrm>
            <a:custGeom>
              <a:avLst/>
              <a:gdLst>
                <a:gd name="T0" fmla="*/ 649 w 650"/>
                <a:gd name="T1" fmla="*/ 7 h 592"/>
                <a:gd name="T2" fmla="*/ 50 w 650"/>
                <a:gd name="T3" fmla="*/ 554 h 592"/>
                <a:gd name="T4" fmla="*/ 48 w 650"/>
                <a:gd name="T5" fmla="*/ 554 h 592"/>
                <a:gd name="T6" fmla="*/ 47 w 650"/>
                <a:gd name="T7" fmla="*/ 554 h 592"/>
                <a:gd name="T8" fmla="*/ 45 w 650"/>
                <a:gd name="T9" fmla="*/ 554 h 592"/>
                <a:gd name="T10" fmla="*/ 44 w 650"/>
                <a:gd name="T11" fmla="*/ 553 h 592"/>
                <a:gd name="T12" fmla="*/ 42 w 650"/>
                <a:gd name="T13" fmla="*/ 551 h 592"/>
                <a:gd name="T14" fmla="*/ 42 w 650"/>
                <a:gd name="T15" fmla="*/ 549 h 592"/>
                <a:gd name="T16" fmla="*/ 42 w 650"/>
                <a:gd name="T17" fmla="*/ 548 h 592"/>
                <a:gd name="T18" fmla="*/ 44 w 650"/>
                <a:gd name="T19" fmla="*/ 546 h 592"/>
                <a:gd name="T20" fmla="*/ 643 w 650"/>
                <a:gd name="T21" fmla="*/ 1 h 592"/>
                <a:gd name="T22" fmla="*/ 644 w 650"/>
                <a:gd name="T23" fmla="*/ 0 h 592"/>
                <a:gd name="T24" fmla="*/ 646 w 650"/>
                <a:gd name="T25" fmla="*/ 0 h 592"/>
                <a:gd name="T26" fmla="*/ 647 w 650"/>
                <a:gd name="T27" fmla="*/ 0 h 592"/>
                <a:gd name="T28" fmla="*/ 649 w 650"/>
                <a:gd name="T29" fmla="*/ 1 h 592"/>
                <a:gd name="T30" fmla="*/ 650 w 650"/>
                <a:gd name="T31" fmla="*/ 3 h 592"/>
                <a:gd name="T32" fmla="*/ 650 w 650"/>
                <a:gd name="T33" fmla="*/ 4 h 592"/>
                <a:gd name="T34" fmla="*/ 650 w 650"/>
                <a:gd name="T35" fmla="*/ 6 h 592"/>
                <a:gd name="T36" fmla="*/ 649 w 650"/>
                <a:gd name="T37" fmla="*/ 7 h 592"/>
                <a:gd name="T38" fmla="*/ 649 w 650"/>
                <a:gd name="T39" fmla="*/ 7 h 592"/>
                <a:gd name="T40" fmla="*/ 82 w 650"/>
                <a:gd name="T41" fmla="*/ 569 h 592"/>
                <a:gd name="T42" fmla="*/ 0 w 650"/>
                <a:gd name="T43" fmla="*/ 592 h 592"/>
                <a:gd name="T44" fmla="*/ 30 w 650"/>
                <a:gd name="T45" fmla="*/ 513 h 592"/>
                <a:gd name="T46" fmla="*/ 82 w 650"/>
                <a:gd name="T47" fmla="*/ 569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50" h="592">
                  <a:moveTo>
                    <a:pt x="649" y="7"/>
                  </a:moveTo>
                  <a:lnTo>
                    <a:pt x="50" y="554"/>
                  </a:lnTo>
                  <a:lnTo>
                    <a:pt x="48" y="554"/>
                  </a:lnTo>
                  <a:lnTo>
                    <a:pt x="47" y="554"/>
                  </a:lnTo>
                  <a:lnTo>
                    <a:pt x="45" y="554"/>
                  </a:lnTo>
                  <a:lnTo>
                    <a:pt x="44" y="553"/>
                  </a:lnTo>
                  <a:lnTo>
                    <a:pt x="42" y="551"/>
                  </a:lnTo>
                  <a:lnTo>
                    <a:pt x="42" y="549"/>
                  </a:lnTo>
                  <a:lnTo>
                    <a:pt x="42" y="548"/>
                  </a:lnTo>
                  <a:lnTo>
                    <a:pt x="44" y="546"/>
                  </a:lnTo>
                  <a:lnTo>
                    <a:pt x="643" y="1"/>
                  </a:lnTo>
                  <a:lnTo>
                    <a:pt x="644" y="0"/>
                  </a:lnTo>
                  <a:lnTo>
                    <a:pt x="646" y="0"/>
                  </a:lnTo>
                  <a:lnTo>
                    <a:pt x="647" y="0"/>
                  </a:lnTo>
                  <a:lnTo>
                    <a:pt x="649" y="1"/>
                  </a:lnTo>
                  <a:lnTo>
                    <a:pt x="650" y="3"/>
                  </a:lnTo>
                  <a:lnTo>
                    <a:pt x="650" y="4"/>
                  </a:lnTo>
                  <a:lnTo>
                    <a:pt x="650" y="6"/>
                  </a:lnTo>
                  <a:lnTo>
                    <a:pt x="649" y="7"/>
                  </a:lnTo>
                  <a:lnTo>
                    <a:pt x="649" y="7"/>
                  </a:lnTo>
                  <a:close/>
                  <a:moveTo>
                    <a:pt x="82" y="569"/>
                  </a:moveTo>
                  <a:lnTo>
                    <a:pt x="0" y="592"/>
                  </a:lnTo>
                  <a:lnTo>
                    <a:pt x="30" y="513"/>
                  </a:lnTo>
                  <a:lnTo>
                    <a:pt x="82" y="569"/>
                  </a:lnTo>
                  <a:close/>
                </a:path>
              </a:pathLst>
            </a:custGeom>
            <a:solidFill>
              <a:srgbClr val="000000"/>
            </a:solidFill>
            <a:ln w="3175">
              <a:solidFill>
                <a:srgbClr val="000000"/>
              </a:solidFill>
              <a:prstDash val="solid"/>
              <a:round/>
              <a:headEnd/>
              <a:tailEnd/>
            </a:ln>
          </p:spPr>
          <p:txBody>
            <a:bodyPr/>
            <a:lstStyle/>
            <a:p>
              <a:endParaRPr lang="en-IN"/>
            </a:p>
          </p:txBody>
        </p:sp>
        <p:sp>
          <p:nvSpPr>
            <p:cNvPr id="112652" name="Freeform 12">
              <a:extLst>
                <a:ext uri="{FF2B5EF4-FFF2-40B4-BE49-F238E27FC236}">
                  <a16:creationId xmlns:a16="http://schemas.microsoft.com/office/drawing/2014/main" id="{83DD5063-F772-8A2A-7821-5C54A0CD4A28}"/>
                </a:ext>
              </a:extLst>
            </p:cNvPr>
            <p:cNvSpPr>
              <a:spLocks noEditPoints="1"/>
            </p:cNvSpPr>
            <p:nvPr/>
          </p:nvSpPr>
          <p:spPr bwMode="auto">
            <a:xfrm>
              <a:off x="1100" y="1085"/>
              <a:ext cx="343" cy="1087"/>
            </a:xfrm>
            <a:custGeom>
              <a:avLst/>
              <a:gdLst>
                <a:gd name="T0" fmla="*/ 333 w 343"/>
                <a:gd name="T1" fmla="*/ 1084 h 1087"/>
                <a:gd name="T2" fmla="*/ 29 w 343"/>
                <a:gd name="T3" fmla="*/ 62 h 1087"/>
                <a:gd name="T4" fmla="*/ 28 w 343"/>
                <a:gd name="T5" fmla="*/ 60 h 1087"/>
                <a:gd name="T6" fmla="*/ 29 w 343"/>
                <a:gd name="T7" fmla="*/ 59 h 1087"/>
                <a:gd name="T8" fmla="*/ 31 w 343"/>
                <a:gd name="T9" fmla="*/ 57 h 1087"/>
                <a:gd name="T10" fmla="*/ 32 w 343"/>
                <a:gd name="T11" fmla="*/ 56 h 1087"/>
                <a:gd name="T12" fmla="*/ 34 w 343"/>
                <a:gd name="T13" fmla="*/ 56 h 1087"/>
                <a:gd name="T14" fmla="*/ 35 w 343"/>
                <a:gd name="T15" fmla="*/ 57 h 1087"/>
                <a:gd name="T16" fmla="*/ 37 w 343"/>
                <a:gd name="T17" fmla="*/ 57 h 1087"/>
                <a:gd name="T18" fmla="*/ 38 w 343"/>
                <a:gd name="T19" fmla="*/ 59 h 1087"/>
                <a:gd name="T20" fmla="*/ 343 w 343"/>
                <a:gd name="T21" fmla="*/ 1081 h 1087"/>
                <a:gd name="T22" fmla="*/ 343 w 343"/>
                <a:gd name="T23" fmla="*/ 1082 h 1087"/>
                <a:gd name="T24" fmla="*/ 343 w 343"/>
                <a:gd name="T25" fmla="*/ 1084 h 1087"/>
                <a:gd name="T26" fmla="*/ 341 w 343"/>
                <a:gd name="T27" fmla="*/ 1085 h 1087"/>
                <a:gd name="T28" fmla="*/ 339 w 343"/>
                <a:gd name="T29" fmla="*/ 1087 h 1087"/>
                <a:gd name="T30" fmla="*/ 338 w 343"/>
                <a:gd name="T31" fmla="*/ 1087 h 1087"/>
                <a:gd name="T32" fmla="*/ 336 w 343"/>
                <a:gd name="T33" fmla="*/ 1087 h 1087"/>
                <a:gd name="T34" fmla="*/ 335 w 343"/>
                <a:gd name="T35" fmla="*/ 1085 h 1087"/>
                <a:gd name="T36" fmla="*/ 333 w 343"/>
                <a:gd name="T37" fmla="*/ 1084 h 1087"/>
                <a:gd name="T38" fmla="*/ 333 w 343"/>
                <a:gd name="T39" fmla="*/ 1084 h 1087"/>
                <a:gd name="T40" fmla="*/ 0 w 343"/>
                <a:gd name="T41" fmla="*/ 83 h 1087"/>
                <a:gd name="T42" fmla="*/ 16 w 343"/>
                <a:gd name="T43" fmla="*/ 0 h 1087"/>
                <a:gd name="T44" fmla="*/ 73 w 343"/>
                <a:gd name="T45" fmla="*/ 62 h 1087"/>
                <a:gd name="T46" fmla="*/ 0 w 343"/>
                <a:gd name="T47" fmla="*/ 83 h 10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3" h="1087">
                  <a:moveTo>
                    <a:pt x="333" y="1084"/>
                  </a:moveTo>
                  <a:lnTo>
                    <a:pt x="29" y="62"/>
                  </a:lnTo>
                  <a:lnTo>
                    <a:pt x="28" y="60"/>
                  </a:lnTo>
                  <a:lnTo>
                    <a:pt x="29" y="59"/>
                  </a:lnTo>
                  <a:lnTo>
                    <a:pt x="31" y="57"/>
                  </a:lnTo>
                  <a:lnTo>
                    <a:pt x="32" y="56"/>
                  </a:lnTo>
                  <a:lnTo>
                    <a:pt x="34" y="56"/>
                  </a:lnTo>
                  <a:lnTo>
                    <a:pt x="35" y="57"/>
                  </a:lnTo>
                  <a:lnTo>
                    <a:pt x="37" y="57"/>
                  </a:lnTo>
                  <a:lnTo>
                    <a:pt x="38" y="59"/>
                  </a:lnTo>
                  <a:lnTo>
                    <a:pt x="343" y="1081"/>
                  </a:lnTo>
                  <a:lnTo>
                    <a:pt x="343" y="1082"/>
                  </a:lnTo>
                  <a:lnTo>
                    <a:pt x="343" y="1084"/>
                  </a:lnTo>
                  <a:lnTo>
                    <a:pt x="341" y="1085"/>
                  </a:lnTo>
                  <a:lnTo>
                    <a:pt x="339" y="1087"/>
                  </a:lnTo>
                  <a:lnTo>
                    <a:pt x="338" y="1087"/>
                  </a:lnTo>
                  <a:lnTo>
                    <a:pt x="336" y="1087"/>
                  </a:lnTo>
                  <a:lnTo>
                    <a:pt x="335" y="1085"/>
                  </a:lnTo>
                  <a:lnTo>
                    <a:pt x="333" y="1084"/>
                  </a:lnTo>
                  <a:lnTo>
                    <a:pt x="333" y="1084"/>
                  </a:lnTo>
                  <a:close/>
                  <a:moveTo>
                    <a:pt x="0" y="83"/>
                  </a:moveTo>
                  <a:lnTo>
                    <a:pt x="16" y="0"/>
                  </a:lnTo>
                  <a:lnTo>
                    <a:pt x="73" y="62"/>
                  </a:lnTo>
                  <a:lnTo>
                    <a:pt x="0" y="83"/>
                  </a:lnTo>
                  <a:close/>
                </a:path>
              </a:pathLst>
            </a:custGeom>
            <a:solidFill>
              <a:srgbClr val="000000"/>
            </a:solidFill>
            <a:ln w="3175">
              <a:solidFill>
                <a:srgbClr val="000000"/>
              </a:solidFill>
              <a:prstDash val="solid"/>
              <a:round/>
              <a:headEnd/>
              <a:tailEnd/>
            </a:ln>
          </p:spPr>
          <p:txBody>
            <a:bodyPr/>
            <a:lstStyle/>
            <a:p>
              <a:endParaRPr lang="en-IN"/>
            </a:p>
          </p:txBody>
        </p:sp>
        <p:sp>
          <p:nvSpPr>
            <p:cNvPr id="112653" name="Rectangle 13">
              <a:extLst>
                <a:ext uri="{FF2B5EF4-FFF2-40B4-BE49-F238E27FC236}">
                  <a16:creationId xmlns:a16="http://schemas.microsoft.com/office/drawing/2014/main" id="{B9D91BA4-B6EA-477D-56B2-9974E13D1A40}"/>
                </a:ext>
              </a:extLst>
            </p:cNvPr>
            <p:cNvSpPr>
              <a:spLocks noChangeArrowheads="1"/>
            </p:cNvSpPr>
            <p:nvPr/>
          </p:nvSpPr>
          <p:spPr bwMode="auto">
            <a:xfrm>
              <a:off x="3044" y="915"/>
              <a:ext cx="77"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t>0</a:t>
              </a:r>
              <a:endParaRPr lang="en-US" altLang="en-US"/>
            </a:p>
          </p:txBody>
        </p:sp>
        <p:sp>
          <p:nvSpPr>
            <p:cNvPr id="112654" name="Rectangle 14">
              <a:extLst>
                <a:ext uri="{FF2B5EF4-FFF2-40B4-BE49-F238E27FC236}">
                  <a16:creationId xmlns:a16="http://schemas.microsoft.com/office/drawing/2014/main" id="{2571C3F2-ABCD-1325-06AD-50ACCE226141}"/>
                </a:ext>
              </a:extLst>
            </p:cNvPr>
            <p:cNvSpPr>
              <a:spLocks noChangeArrowheads="1"/>
            </p:cNvSpPr>
            <p:nvPr/>
          </p:nvSpPr>
          <p:spPr bwMode="auto">
            <a:xfrm>
              <a:off x="3272" y="1591"/>
              <a:ext cx="154"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14</a:t>
              </a:r>
              <a:endParaRPr lang="en-US" altLang="en-US"/>
            </a:p>
          </p:txBody>
        </p:sp>
        <p:sp>
          <p:nvSpPr>
            <p:cNvPr id="112655" name="Rectangle 15">
              <a:extLst>
                <a:ext uri="{FF2B5EF4-FFF2-40B4-BE49-F238E27FC236}">
                  <a16:creationId xmlns:a16="http://schemas.microsoft.com/office/drawing/2014/main" id="{81B4ABA2-61FA-288E-3F26-84AE5CCB41D8}"/>
                </a:ext>
              </a:extLst>
            </p:cNvPr>
            <p:cNvSpPr>
              <a:spLocks noChangeArrowheads="1"/>
            </p:cNvSpPr>
            <p:nvPr/>
          </p:nvSpPr>
          <p:spPr bwMode="auto">
            <a:xfrm>
              <a:off x="2835" y="1322"/>
              <a:ext cx="77"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t>8</a:t>
              </a:r>
              <a:endParaRPr lang="en-US" altLang="en-US"/>
            </a:p>
          </p:txBody>
        </p:sp>
        <p:sp>
          <p:nvSpPr>
            <p:cNvPr id="112656" name="Rectangle 16">
              <a:extLst>
                <a:ext uri="{FF2B5EF4-FFF2-40B4-BE49-F238E27FC236}">
                  <a16:creationId xmlns:a16="http://schemas.microsoft.com/office/drawing/2014/main" id="{DA59B744-4FB1-7D31-8611-3797B3302E60}"/>
                </a:ext>
              </a:extLst>
            </p:cNvPr>
            <p:cNvSpPr>
              <a:spLocks noChangeArrowheads="1"/>
            </p:cNvSpPr>
            <p:nvPr/>
          </p:nvSpPr>
          <p:spPr bwMode="auto">
            <a:xfrm>
              <a:off x="2542" y="1285"/>
              <a:ext cx="154"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t>12</a:t>
              </a:r>
              <a:endParaRPr lang="en-US" altLang="en-US"/>
            </a:p>
          </p:txBody>
        </p:sp>
        <p:sp>
          <p:nvSpPr>
            <p:cNvPr id="112657" name="Rectangle 17">
              <a:extLst>
                <a:ext uri="{FF2B5EF4-FFF2-40B4-BE49-F238E27FC236}">
                  <a16:creationId xmlns:a16="http://schemas.microsoft.com/office/drawing/2014/main" id="{3D09B7BB-C809-0519-ED51-8855FB8A8079}"/>
                </a:ext>
              </a:extLst>
            </p:cNvPr>
            <p:cNvSpPr>
              <a:spLocks noChangeArrowheads="1"/>
            </p:cNvSpPr>
            <p:nvPr/>
          </p:nvSpPr>
          <p:spPr bwMode="auto">
            <a:xfrm>
              <a:off x="1810" y="1495"/>
              <a:ext cx="154"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10</a:t>
              </a:r>
              <a:endParaRPr lang="en-US" altLang="en-US"/>
            </a:p>
          </p:txBody>
        </p:sp>
        <p:sp>
          <p:nvSpPr>
            <p:cNvPr id="112658" name="Rectangle 18">
              <a:extLst>
                <a:ext uri="{FF2B5EF4-FFF2-40B4-BE49-F238E27FC236}">
                  <a16:creationId xmlns:a16="http://schemas.microsoft.com/office/drawing/2014/main" id="{F95929CD-1D9C-F408-4F5E-6A214DFA9C00}"/>
                </a:ext>
              </a:extLst>
            </p:cNvPr>
            <p:cNvSpPr>
              <a:spLocks noChangeArrowheads="1"/>
            </p:cNvSpPr>
            <p:nvPr/>
          </p:nvSpPr>
          <p:spPr bwMode="auto">
            <a:xfrm>
              <a:off x="2161" y="2073"/>
              <a:ext cx="77"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t>4</a:t>
              </a:r>
              <a:endParaRPr lang="en-US" altLang="en-US"/>
            </a:p>
          </p:txBody>
        </p:sp>
        <p:sp>
          <p:nvSpPr>
            <p:cNvPr id="112659" name="Rectangle 19">
              <a:extLst>
                <a:ext uri="{FF2B5EF4-FFF2-40B4-BE49-F238E27FC236}">
                  <a16:creationId xmlns:a16="http://schemas.microsoft.com/office/drawing/2014/main" id="{0763D9D2-D1DE-DF94-9397-74746B138FEC}"/>
                </a:ext>
              </a:extLst>
            </p:cNvPr>
            <p:cNvSpPr>
              <a:spLocks noChangeArrowheads="1"/>
            </p:cNvSpPr>
            <p:nvPr/>
          </p:nvSpPr>
          <p:spPr bwMode="auto">
            <a:xfrm>
              <a:off x="1335" y="1629"/>
              <a:ext cx="77"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7</a:t>
              </a:r>
              <a:endParaRPr lang="en-US" altLang="en-US"/>
            </a:p>
          </p:txBody>
        </p:sp>
        <p:sp>
          <p:nvSpPr>
            <p:cNvPr id="112660" name="Rectangle 20">
              <a:extLst>
                <a:ext uri="{FF2B5EF4-FFF2-40B4-BE49-F238E27FC236}">
                  <a16:creationId xmlns:a16="http://schemas.microsoft.com/office/drawing/2014/main" id="{8EA936EB-4056-B6D0-805B-98439D7E9951}"/>
                </a:ext>
              </a:extLst>
            </p:cNvPr>
            <p:cNvSpPr>
              <a:spLocks noChangeArrowheads="1"/>
            </p:cNvSpPr>
            <p:nvPr/>
          </p:nvSpPr>
          <p:spPr bwMode="auto">
            <a:xfrm>
              <a:off x="622" y="1191"/>
              <a:ext cx="154"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t>15</a:t>
              </a:r>
              <a:endParaRPr lang="en-US" altLang="en-US"/>
            </a:p>
          </p:txBody>
        </p:sp>
        <p:sp>
          <p:nvSpPr>
            <p:cNvPr id="112661" name="Rectangle 21">
              <a:extLst>
                <a:ext uri="{FF2B5EF4-FFF2-40B4-BE49-F238E27FC236}">
                  <a16:creationId xmlns:a16="http://schemas.microsoft.com/office/drawing/2014/main" id="{A50EC3B9-F285-2A13-FADD-20C774CEC1C8}"/>
                </a:ext>
              </a:extLst>
            </p:cNvPr>
            <p:cNvSpPr>
              <a:spLocks noChangeArrowheads="1"/>
            </p:cNvSpPr>
            <p:nvPr/>
          </p:nvSpPr>
          <p:spPr bwMode="auto">
            <a:xfrm>
              <a:off x="803" y="2025"/>
              <a:ext cx="77"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t>0</a:t>
              </a:r>
              <a:endParaRPr lang="en-US" altLang="en-US"/>
            </a:p>
          </p:txBody>
        </p:sp>
        <p:sp>
          <p:nvSpPr>
            <p:cNvPr id="112662" name="Freeform 22">
              <a:extLst>
                <a:ext uri="{FF2B5EF4-FFF2-40B4-BE49-F238E27FC236}">
                  <a16:creationId xmlns:a16="http://schemas.microsoft.com/office/drawing/2014/main" id="{2AA43BD3-1DE2-A5E5-79CE-2F0573A41E76}"/>
                </a:ext>
              </a:extLst>
            </p:cNvPr>
            <p:cNvSpPr>
              <a:spLocks noEditPoints="1"/>
            </p:cNvSpPr>
            <p:nvPr/>
          </p:nvSpPr>
          <p:spPr bwMode="auto">
            <a:xfrm>
              <a:off x="492" y="1142"/>
              <a:ext cx="566" cy="545"/>
            </a:xfrm>
            <a:custGeom>
              <a:avLst/>
              <a:gdLst>
                <a:gd name="T0" fmla="*/ 2 w 566"/>
                <a:gd name="T1" fmla="*/ 538 h 545"/>
                <a:gd name="T2" fmla="*/ 517 w 566"/>
                <a:gd name="T3" fmla="*/ 41 h 545"/>
                <a:gd name="T4" fmla="*/ 519 w 566"/>
                <a:gd name="T5" fmla="*/ 40 h 545"/>
                <a:gd name="T6" fmla="*/ 520 w 566"/>
                <a:gd name="T7" fmla="*/ 40 h 545"/>
                <a:gd name="T8" fmla="*/ 522 w 566"/>
                <a:gd name="T9" fmla="*/ 40 h 545"/>
                <a:gd name="T10" fmla="*/ 523 w 566"/>
                <a:gd name="T11" fmla="*/ 41 h 545"/>
                <a:gd name="T12" fmla="*/ 525 w 566"/>
                <a:gd name="T13" fmla="*/ 43 h 545"/>
                <a:gd name="T14" fmla="*/ 525 w 566"/>
                <a:gd name="T15" fmla="*/ 44 h 545"/>
                <a:gd name="T16" fmla="*/ 525 w 566"/>
                <a:gd name="T17" fmla="*/ 46 h 545"/>
                <a:gd name="T18" fmla="*/ 523 w 566"/>
                <a:gd name="T19" fmla="*/ 47 h 545"/>
                <a:gd name="T20" fmla="*/ 10 w 566"/>
                <a:gd name="T21" fmla="*/ 544 h 545"/>
                <a:gd name="T22" fmla="*/ 6 w 566"/>
                <a:gd name="T23" fmla="*/ 545 h 545"/>
                <a:gd name="T24" fmla="*/ 5 w 566"/>
                <a:gd name="T25" fmla="*/ 545 h 545"/>
                <a:gd name="T26" fmla="*/ 3 w 566"/>
                <a:gd name="T27" fmla="*/ 545 h 545"/>
                <a:gd name="T28" fmla="*/ 2 w 566"/>
                <a:gd name="T29" fmla="*/ 544 h 545"/>
                <a:gd name="T30" fmla="*/ 0 w 566"/>
                <a:gd name="T31" fmla="*/ 542 h 545"/>
                <a:gd name="T32" fmla="*/ 0 w 566"/>
                <a:gd name="T33" fmla="*/ 541 h 545"/>
                <a:gd name="T34" fmla="*/ 0 w 566"/>
                <a:gd name="T35" fmla="*/ 539 h 545"/>
                <a:gd name="T36" fmla="*/ 2 w 566"/>
                <a:gd name="T37" fmla="*/ 538 h 545"/>
                <a:gd name="T38" fmla="*/ 2 w 566"/>
                <a:gd name="T39" fmla="*/ 538 h 545"/>
                <a:gd name="T40" fmla="*/ 485 w 566"/>
                <a:gd name="T41" fmla="*/ 26 h 545"/>
                <a:gd name="T42" fmla="*/ 566 w 566"/>
                <a:gd name="T43" fmla="*/ 0 h 545"/>
                <a:gd name="T44" fmla="*/ 539 w 566"/>
                <a:gd name="T45" fmla="*/ 81 h 545"/>
                <a:gd name="T46" fmla="*/ 485 w 566"/>
                <a:gd name="T47" fmla="*/ 26 h 5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66" h="545">
                  <a:moveTo>
                    <a:pt x="2" y="538"/>
                  </a:moveTo>
                  <a:lnTo>
                    <a:pt x="517" y="41"/>
                  </a:lnTo>
                  <a:lnTo>
                    <a:pt x="519" y="40"/>
                  </a:lnTo>
                  <a:lnTo>
                    <a:pt x="520" y="40"/>
                  </a:lnTo>
                  <a:lnTo>
                    <a:pt x="522" y="40"/>
                  </a:lnTo>
                  <a:lnTo>
                    <a:pt x="523" y="41"/>
                  </a:lnTo>
                  <a:lnTo>
                    <a:pt x="525" y="43"/>
                  </a:lnTo>
                  <a:lnTo>
                    <a:pt x="525" y="44"/>
                  </a:lnTo>
                  <a:lnTo>
                    <a:pt x="525" y="46"/>
                  </a:lnTo>
                  <a:lnTo>
                    <a:pt x="523" y="47"/>
                  </a:lnTo>
                  <a:lnTo>
                    <a:pt x="10" y="544"/>
                  </a:lnTo>
                  <a:lnTo>
                    <a:pt x="6" y="545"/>
                  </a:lnTo>
                  <a:lnTo>
                    <a:pt x="5" y="545"/>
                  </a:lnTo>
                  <a:lnTo>
                    <a:pt x="3" y="545"/>
                  </a:lnTo>
                  <a:lnTo>
                    <a:pt x="2" y="544"/>
                  </a:lnTo>
                  <a:lnTo>
                    <a:pt x="0" y="542"/>
                  </a:lnTo>
                  <a:lnTo>
                    <a:pt x="0" y="541"/>
                  </a:lnTo>
                  <a:lnTo>
                    <a:pt x="0" y="539"/>
                  </a:lnTo>
                  <a:lnTo>
                    <a:pt x="2" y="538"/>
                  </a:lnTo>
                  <a:lnTo>
                    <a:pt x="2" y="538"/>
                  </a:lnTo>
                  <a:close/>
                  <a:moveTo>
                    <a:pt x="485" y="26"/>
                  </a:moveTo>
                  <a:lnTo>
                    <a:pt x="566" y="0"/>
                  </a:lnTo>
                  <a:lnTo>
                    <a:pt x="539" y="81"/>
                  </a:lnTo>
                  <a:lnTo>
                    <a:pt x="485" y="26"/>
                  </a:lnTo>
                  <a:close/>
                </a:path>
              </a:pathLst>
            </a:custGeom>
            <a:solidFill>
              <a:srgbClr val="000000"/>
            </a:solidFill>
            <a:ln w="3175">
              <a:solidFill>
                <a:srgbClr val="000000"/>
              </a:solidFill>
              <a:prstDash val="solid"/>
              <a:round/>
              <a:headEnd/>
              <a:tailEnd/>
            </a:ln>
          </p:spPr>
          <p:txBody>
            <a:bodyPr/>
            <a:lstStyle/>
            <a:p>
              <a:endParaRPr lang="en-IN"/>
            </a:p>
          </p:txBody>
        </p:sp>
        <p:sp>
          <p:nvSpPr>
            <p:cNvPr id="112663" name="Freeform 23">
              <a:extLst>
                <a:ext uri="{FF2B5EF4-FFF2-40B4-BE49-F238E27FC236}">
                  <a16:creationId xmlns:a16="http://schemas.microsoft.com/office/drawing/2014/main" id="{FE6614A5-2E8B-E0AB-B3BE-36AEDE2333A7}"/>
                </a:ext>
              </a:extLst>
            </p:cNvPr>
            <p:cNvSpPr>
              <a:spLocks noEditPoints="1"/>
            </p:cNvSpPr>
            <p:nvPr/>
          </p:nvSpPr>
          <p:spPr bwMode="auto">
            <a:xfrm>
              <a:off x="530" y="1696"/>
              <a:ext cx="823" cy="442"/>
            </a:xfrm>
            <a:custGeom>
              <a:avLst/>
              <a:gdLst>
                <a:gd name="T0" fmla="*/ 8 w 823"/>
                <a:gd name="T1" fmla="*/ 2 h 442"/>
                <a:gd name="T2" fmla="*/ 770 w 823"/>
                <a:gd name="T3" fmla="*/ 409 h 442"/>
                <a:gd name="T4" fmla="*/ 771 w 823"/>
                <a:gd name="T5" fmla="*/ 409 h 442"/>
                <a:gd name="T6" fmla="*/ 771 w 823"/>
                <a:gd name="T7" fmla="*/ 412 h 442"/>
                <a:gd name="T8" fmla="*/ 771 w 823"/>
                <a:gd name="T9" fmla="*/ 413 h 442"/>
                <a:gd name="T10" fmla="*/ 771 w 823"/>
                <a:gd name="T11" fmla="*/ 415 h 442"/>
                <a:gd name="T12" fmla="*/ 770 w 823"/>
                <a:gd name="T13" fmla="*/ 416 h 442"/>
                <a:gd name="T14" fmla="*/ 768 w 823"/>
                <a:gd name="T15" fmla="*/ 416 h 442"/>
                <a:gd name="T16" fmla="*/ 767 w 823"/>
                <a:gd name="T17" fmla="*/ 418 h 442"/>
                <a:gd name="T18" fmla="*/ 765 w 823"/>
                <a:gd name="T19" fmla="*/ 416 h 442"/>
                <a:gd name="T20" fmla="*/ 3 w 823"/>
                <a:gd name="T21" fmla="*/ 10 h 442"/>
                <a:gd name="T22" fmla="*/ 2 w 823"/>
                <a:gd name="T23" fmla="*/ 10 h 442"/>
                <a:gd name="T24" fmla="*/ 0 w 823"/>
                <a:gd name="T25" fmla="*/ 8 h 442"/>
                <a:gd name="T26" fmla="*/ 0 w 823"/>
                <a:gd name="T27" fmla="*/ 5 h 442"/>
                <a:gd name="T28" fmla="*/ 2 w 823"/>
                <a:gd name="T29" fmla="*/ 4 h 442"/>
                <a:gd name="T30" fmla="*/ 2 w 823"/>
                <a:gd name="T31" fmla="*/ 2 h 442"/>
                <a:gd name="T32" fmla="*/ 3 w 823"/>
                <a:gd name="T33" fmla="*/ 2 h 442"/>
                <a:gd name="T34" fmla="*/ 6 w 823"/>
                <a:gd name="T35" fmla="*/ 0 h 442"/>
                <a:gd name="T36" fmla="*/ 8 w 823"/>
                <a:gd name="T37" fmla="*/ 2 h 442"/>
                <a:gd name="T38" fmla="*/ 8 w 823"/>
                <a:gd name="T39" fmla="*/ 2 h 442"/>
                <a:gd name="T40" fmla="*/ 774 w 823"/>
                <a:gd name="T41" fmla="*/ 372 h 442"/>
                <a:gd name="T42" fmla="*/ 823 w 823"/>
                <a:gd name="T43" fmla="*/ 442 h 442"/>
                <a:gd name="T44" fmla="*/ 738 w 823"/>
                <a:gd name="T45" fmla="*/ 441 h 442"/>
                <a:gd name="T46" fmla="*/ 774 w 823"/>
                <a:gd name="T47" fmla="*/ 372 h 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23" h="442">
                  <a:moveTo>
                    <a:pt x="8" y="2"/>
                  </a:moveTo>
                  <a:lnTo>
                    <a:pt x="770" y="409"/>
                  </a:lnTo>
                  <a:lnTo>
                    <a:pt x="771" y="409"/>
                  </a:lnTo>
                  <a:lnTo>
                    <a:pt x="771" y="412"/>
                  </a:lnTo>
                  <a:lnTo>
                    <a:pt x="771" y="413"/>
                  </a:lnTo>
                  <a:lnTo>
                    <a:pt x="771" y="415"/>
                  </a:lnTo>
                  <a:lnTo>
                    <a:pt x="770" y="416"/>
                  </a:lnTo>
                  <a:lnTo>
                    <a:pt x="768" y="416"/>
                  </a:lnTo>
                  <a:lnTo>
                    <a:pt x="767" y="418"/>
                  </a:lnTo>
                  <a:lnTo>
                    <a:pt x="765" y="416"/>
                  </a:lnTo>
                  <a:lnTo>
                    <a:pt x="3" y="10"/>
                  </a:lnTo>
                  <a:lnTo>
                    <a:pt x="2" y="10"/>
                  </a:lnTo>
                  <a:lnTo>
                    <a:pt x="0" y="8"/>
                  </a:lnTo>
                  <a:lnTo>
                    <a:pt x="0" y="5"/>
                  </a:lnTo>
                  <a:lnTo>
                    <a:pt x="2" y="4"/>
                  </a:lnTo>
                  <a:lnTo>
                    <a:pt x="2" y="2"/>
                  </a:lnTo>
                  <a:lnTo>
                    <a:pt x="3" y="2"/>
                  </a:lnTo>
                  <a:lnTo>
                    <a:pt x="6" y="0"/>
                  </a:lnTo>
                  <a:lnTo>
                    <a:pt x="8" y="2"/>
                  </a:lnTo>
                  <a:lnTo>
                    <a:pt x="8" y="2"/>
                  </a:lnTo>
                  <a:close/>
                  <a:moveTo>
                    <a:pt x="774" y="372"/>
                  </a:moveTo>
                  <a:lnTo>
                    <a:pt x="823" y="442"/>
                  </a:lnTo>
                  <a:lnTo>
                    <a:pt x="738" y="441"/>
                  </a:lnTo>
                  <a:lnTo>
                    <a:pt x="774" y="372"/>
                  </a:lnTo>
                  <a:close/>
                </a:path>
              </a:pathLst>
            </a:custGeom>
            <a:solidFill>
              <a:srgbClr val="000000"/>
            </a:solidFill>
            <a:ln w="3175">
              <a:solidFill>
                <a:srgbClr val="000000"/>
              </a:solidFill>
              <a:prstDash val="solid"/>
              <a:round/>
              <a:headEnd/>
              <a:tailEnd/>
            </a:ln>
          </p:spPr>
          <p:txBody>
            <a:bodyPr/>
            <a:lstStyle/>
            <a:p>
              <a:endParaRPr lang="en-IN"/>
            </a:p>
          </p:txBody>
        </p:sp>
        <p:sp>
          <p:nvSpPr>
            <p:cNvPr id="112664" name="Freeform 24">
              <a:extLst>
                <a:ext uri="{FF2B5EF4-FFF2-40B4-BE49-F238E27FC236}">
                  <a16:creationId xmlns:a16="http://schemas.microsoft.com/office/drawing/2014/main" id="{10F1D951-FF60-17EE-5468-769D8A864FD2}"/>
                </a:ext>
              </a:extLst>
            </p:cNvPr>
            <p:cNvSpPr>
              <a:spLocks noEditPoints="1"/>
            </p:cNvSpPr>
            <p:nvPr/>
          </p:nvSpPr>
          <p:spPr bwMode="auto">
            <a:xfrm>
              <a:off x="1082" y="1214"/>
              <a:ext cx="275" cy="848"/>
            </a:xfrm>
            <a:custGeom>
              <a:avLst/>
              <a:gdLst>
                <a:gd name="T0" fmla="*/ 9 w 275"/>
                <a:gd name="T1" fmla="*/ 3 h 848"/>
                <a:gd name="T2" fmla="*/ 248 w 275"/>
                <a:gd name="T3" fmla="*/ 786 h 848"/>
                <a:gd name="T4" fmla="*/ 248 w 275"/>
                <a:gd name="T5" fmla="*/ 788 h 848"/>
                <a:gd name="T6" fmla="*/ 246 w 275"/>
                <a:gd name="T7" fmla="*/ 791 h 848"/>
                <a:gd name="T8" fmla="*/ 245 w 275"/>
                <a:gd name="T9" fmla="*/ 792 h 848"/>
                <a:gd name="T10" fmla="*/ 243 w 275"/>
                <a:gd name="T11" fmla="*/ 792 h 848"/>
                <a:gd name="T12" fmla="*/ 242 w 275"/>
                <a:gd name="T13" fmla="*/ 792 h 848"/>
                <a:gd name="T14" fmla="*/ 240 w 275"/>
                <a:gd name="T15" fmla="*/ 792 h 848"/>
                <a:gd name="T16" fmla="*/ 239 w 275"/>
                <a:gd name="T17" fmla="*/ 791 h 848"/>
                <a:gd name="T18" fmla="*/ 239 w 275"/>
                <a:gd name="T19" fmla="*/ 789 h 848"/>
                <a:gd name="T20" fmla="*/ 0 w 275"/>
                <a:gd name="T21" fmla="*/ 6 h 848"/>
                <a:gd name="T22" fmla="*/ 0 w 275"/>
                <a:gd name="T23" fmla="*/ 4 h 848"/>
                <a:gd name="T24" fmla="*/ 0 w 275"/>
                <a:gd name="T25" fmla="*/ 1 h 848"/>
                <a:gd name="T26" fmla="*/ 2 w 275"/>
                <a:gd name="T27" fmla="*/ 0 h 848"/>
                <a:gd name="T28" fmla="*/ 3 w 275"/>
                <a:gd name="T29" fmla="*/ 0 h 848"/>
                <a:gd name="T30" fmla="*/ 5 w 275"/>
                <a:gd name="T31" fmla="*/ 0 h 848"/>
                <a:gd name="T32" fmla="*/ 6 w 275"/>
                <a:gd name="T33" fmla="*/ 0 h 848"/>
                <a:gd name="T34" fmla="*/ 8 w 275"/>
                <a:gd name="T35" fmla="*/ 1 h 848"/>
                <a:gd name="T36" fmla="*/ 9 w 275"/>
                <a:gd name="T37" fmla="*/ 3 h 848"/>
                <a:gd name="T38" fmla="*/ 9 w 275"/>
                <a:gd name="T39" fmla="*/ 3 h 848"/>
                <a:gd name="T40" fmla="*/ 275 w 275"/>
                <a:gd name="T41" fmla="*/ 765 h 848"/>
                <a:gd name="T42" fmla="*/ 262 w 275"/>
                <a:gd name="T43" fmla="*/ 848 h 848"/>
                <a:gd name="T44" fmla="*/ 202 w 275"/>
                <a:gd name="T45" fmla="*/ 788 h 848"/>
                <a:gd name="T46" fmla="*/ 275 w 275"/>
                <a:gd name="T47" fmla="*/ 765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75" h="848">
                  <a:moveTo>
                    <a:pt x="9" y="3"/>
                  </a:moveTo>
                  <a:lnTo>
                    <a:pt x="248" y="786"/>
                  </a:lnTo>
                  <a:lnTo>
                    <a:pt x="248" y="788"/>
                  </a:lnTo>
                  <a:lnTo>
                    <a:pt x="246" y="791"/>
                  </a:lnTo>
                  <a:lnTo>
                    <a:pt x="245" y="792"/>
                  </a:lnTo>
                  <a:lnTo>
                    <a:pt x="243" y="792"/>
                  </a:lnTo>
                  <a:lnTo>
                    <a:pt x="242" y="792"/>
                  </a:lnTo>
                  <a:lnTo>
                    <a:pt x="240" y="792"/>
                  </a:lnTo>
                  <a:lnTo>
                    <a:pt x="239" y="791"/>
                  </a:lnTo>
                  <a:lnTo>
                    <a:pt x="239" y="789"/>
                  </a:lnTo>
                  <a:lnTo>
                    <a:pt x="0" y="6"/>
                  </a:lnTo>
                  <a:lnTo>
                    <a:pt x="0" y="4"/>
                  </a:lnTo>
                  <a:lnTo>
                    <a:pt x="0" y="1"/>
                  </a:lnTo>
                  <a:lnTo>
                    <a:pt x="2" y="0"/>
                  </a:lnTo>
                  <a:lnTo>
                    <a:pt x="3" y="0"/>
                  </a:lnTo>
                  <a:lnTo>
                    <a:pt x="5" y="0"/>
                  </a:lnTo>
                  <a:lnTo>
                    <a:pt x="6" y="0"/>
                  </a:lnTo>
                  <a:lnTo>
                    <a:pt x="8" y="1"/>
                  </a:lnTo>
                  <a:lnTo>
                    <a:pt x="9" y="3"/>
                  </a:lnTo>
                  <a:lnTo>
                    <a:pt x="9" y="3"/>
                  </a:lnTo>
                  <a:close/>
                  <a:moveTo>
                    <a:pt x="275" y="765"/>
                  </a:moveTo>
                  <a:lnTo>
                    <a:pt x="262" y="848"/>
                  </a:lnTo>
                  <a:lnTo>
                    <a:pt x="202" y="788"/>
                  </a:lnTo>
                  <a:lnTo>
                    <a:pt x="275" y="765"/>
                  </a:lnTo>
                  <a:close/>
                </a:path>
              </a:pathLst>
            </a:custGeom>
            <a:solidFill>
              <a:srgbClr val="000000"/>
            </a:solidFill>
            <a:ln w="3175">
              <a:solidFill>
                <a:srgbClr val="000000"/>
              </a:solidFill>
              <a:prstDash val="solid"/>
              <a:round/>
              <a:headEnd/>
              <a:tailEnd/>
            </a:ln>
          </p:spPr>
          <p:txBody>
            <a:bodyPr/>
            <a:lstStyle/>
            <a:p>
              <a:endParaRPr lang="en-IN"/>
            </a:p>
          </p:txBody>
        </p:sp>
        <p:sp>
          <p:nvSpPr>
            <p:cNvPr id="112665" name="Freeform 25">
              <a:extLst>
                <a:ext uri="{FF2B5EF4-FFF2-40B4-BE49-F238E27FC236}">
                  <a16:creationId xmlns:a16="http://schemas.microsoft.com/office/drawing/2014/main" id="{EB2E2A88-A980-AD7A-9F1D-37021048C13A}"/>
                </a:ext>
              </a:extLst>
            </p:cNvPr>
            <p:cNvSpPr>
              <a:spLocks noEditPoints="1"/>
            </p:cNvSpPr>
            <p:nvPr/>
          </p:nvSpPr>
          <p:spPr bwMode="auto">
            <a:xfrm>
              <a:off x="1576" y="1870"/>
              <a:ext cx="1069" cy="246"/>
            </a:xfrm>
            <a:custGeom>
              <a:avLst/>
              <a:gdLst>
                <a:gd name="T0" fmla="*/ 3 w 1069"/>
                <a:gd name="T1" fmla="*/ 235 h 246"/>
                <a:gd name="T2" fmla="*/ 1007 w 1069"/>
                <a:gd name="T3" fmla="*/ 30 h 246"/>
                <a:gd name="T4" fmla="*/ 1008 w 1069"/>
                <a:gd name="T5" fmla="*/ 30 h 246"/>
                <a:gd name="T6" fmla="*/ 1010 w 1069"/>
                <a:gd name="T7" fmla="*/ 30 h 246"/>
                <a:gd name="T8" fmla="*/ 1011 w 1069"/>
                <a:gd name="T9" fmla="*/ 31 h 246"/>
                <a:gd name="T10" fmla="*/ 1011 w 1069"/>
                <a:gd name="T11" fmla="*/ 33 h 246"/>
                <a:gd name="T12" fmla="*/ 1011 w 1069"/>
                <a:gd name="T13" fmla="*/ 36 h 246"/>
                <a:gd name="T14" fmla="*/ 1011 w 1069"/>
                <a:gd name="T15" fmla="*/ 38 h 246"/>
                <a:gd name="T16" fmla="*/ 1010 w 1069"/>
                <a:gd name="T17" fmla="*/ 39 h 246"/>
                <a:gd name="T18" fmla="*/ 1008 w 1069"/>
                <a:gd name="T19" fmla="*/ 39 h 246"/>
                <a:gd name="T20" fmla="*/ 6 w 1069"/>
                <a:gd name="T21" fmla="*/ 246 h 246"/>
                <a:gd name="T22" fmla="*/ 3 w 1069"/>
                <a:gd name="T23" fmla="*/ 244 h 246"/>
                <a:gd name="T24" fmla="*/ 2 w 1069"/>
                <a:gd name="T25" fmla="*/ 244 h 246"/>
                <a:gd name="T26" fmla="*/ 0 w 1069"/>
                <a:gd name="T27" fmla="*/ 242 h 246"/>
                <a:gd name="T28" fmla="*/ 0 w 1069"/>
                <a:gd name="T29" fmla="*/ 241 h 246"/>
                <a:gd name="T30" fmla="*/ 0 w 1069"/>
                <a:gd name="T31" fmla="*/ 239 h 246"/>
                <a:gd name="T32" fmla="*/ 0 w 1069"/>
                <a:gd name="T33" fmla="*/ 238 h 246"/>
                <a:gd name="T34" fmla="*/ 2 w 1069"/>
                <a:gd name="T35" fmla="*/ 236 h 246"/>
                <a:gd name="T36" fmla="*/ 3 w 1069"/>
                <a:gd name="T37" fmla="*/ 235 h 246"/>
                <a:gd name="T38" fmla="*/ 3 w 1069"/>
                <a:gd name="T39" fmla="*/ 235 h 246"/>
                <a:gd name="T40" fmla="*/ 987 w 1069"/>
                <a:gd name="T41" fmla="*/ 0 h 246"/>
                <a:gd name="T42" fmla="*/ 1069 w 1069"/>
                <a:gd name="T43" fmla="*/ 22 h 246"/>
                <a:gd name="T44" fmla="*/ 1002 w 1069"/>
                <a:gd name="T45" fmla="*/ 74 h 246"/>
                <a:gd name="T46" fmla="*/ 987 w 1069"/>
                <a:gd name="T47" fmla="*/ 0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69" h="246">
                  <a:moveTo>
                    <a:pt x="3" y="235"/>
                  </a:moveTo>
                  <a:lnTo>
                    <a:pt x="1007" y="30"/>
                  </a:lnTo>
                  <a:lnTo>
                    <a:pt x="1008" y="30"/>
                  </a:lnTo>
                  <a:lnTo>
                    <a:pt x="1010" y="30"/>
                  </a:lnTo>
                  <a:lnTo>
                    <a:pt x="1011" y="31"/>
                  </a:lnTo>
                  <a:lnTo>
                    <a:pt x="1011" y="33"/>
                  </a:lnTo>
                  <a:lnTo>
                    <a:pt x="1011" y="36"/>
                  </a:lnTo>
                  <a:lnTo>
                    <a:pt x="1011" y="38"/>
                  </a:lnTo>
                  <a:lnTo>
                    <a:pt x="1010" y="39"/>
                  </a:lnTo>
                  <a:lnTo>
                    <a:pt x="1008" y="39"/>
                  </a:lnTo>
                  <a:lnTo>
                    <a:pt x="6" y="246"/>
                  </a:lnTo>
                  <a:lnTo>
                    <a:pt x="3" y="244"/>
                  </a:lnTo>
                  <a:lnTo>
                    <a:pt x="2" y="244"/>
                  </a:lnTo>
                  <a:lnTo>
                    <a:pt x="0" y="242"/>
                  </a:lnTo>
                  <a:lnTo>
                    <a:pt x="0" y="241"/>
                  </a:lnTo>
                  <a:lnTo>
                    <a:pt x="0" y="239"/>
                  </a:lnTo>
                  <a:lnTo>
                    <a:pt x="0" y="238"/>
                  </a:lnTo>
                  <a:lnTo>
                    <a:pt x="2" y="236"/>
                  </a:lnTo>
                  <a:lnTo>
                    <a:pt x="3" y="235"/>
                  </a:lnTo>
                  <a:lnTo>
                    <a:pt x="3" y="235"/>
                  </a:lnTo>
                  <a:close/>
                  <a:moveTo>
                    <a:pt x="987" y="0"/>
                  </a:moveTo>
                  <a:lnTo>
                    <a:pt x="1069" y="22"/>
                  </a:lnTo>
                  <a:lnTo>
                    <a:pt x="1002" y="74"/>
                  </a:lnTo>
                  <a:lnTo>
                    <a:pt x="987" y="0"/>
                  </a:lnTo>
                  <a:close/>
                </a:path>
              </a:pathLst>
            </a:custGeom>
            <a:solidFill>
              <a:srgbClr val="000000"/>
            </a:solidFill>
            <a:ln w="3175">
              <a:solidFill>
                <a:srgbClr val="000000"/>
              </a:solidFill>
              <a:prstDash val="solid"/>
              <a:round/>
              <a:headEnd/>
              <a:tailEnd/>
            </a:ln>
          </p:spPr>
          <p:txBody>
            <a:bodyPr/>
            <a:lstStyle/>
            <a:p>
              <a:endParaRPr lang="en-IN"/>
            </a:p>
          </p:txBody>
        </p:sp>
        <p:sp>
          <p:nvSpPr>
            <p:cNvPr id="112666" name="Freeform 26">
              <a:extLst>
                <a:ext uri="{FF2B5EF4-FFF2-40B4-BE49-F238E27FC236}">
                  <a16:creationId xmlns:a16="http://schemas.microsoft.com/office/drawing/2014/main" id="{BD44F3A3-6E1F-1A8E-401F-AC1E78579A72}"/>
                </a:ext>
              </a:extLst>
            </p:cNvPr>
            <p:cNvSpPr>
              <a:spLocks noEditPoints="1"/>
            </p:cNvSpPr>
            <p:nvPr/>
          </p:nvSpPr>
          <p:spPr bwMode="auto">
            <a:xfrm>
              <a:off x="1382" y="1095"/>
              <a:ext cx="1315" cy="668"/>
            </a:xfrm>
            <a:custGeom>
              <a:avLst/>
              <a:gdLst>
                <a:gd name="T0" fmla="*/ 1309 w 1315"/>
                <a:gd name="T1" fmla="*/ 668 h 668"/>
                <a:gd name="T2" fmla="*/ 53 w 1315"/>
                <a:gd name="T3" fmla="*/ 32 h 668"/>
                <a:gd name="T4" fmla="*/ 51 w 1315"/>
                <a:gd name="T5" fmla="*/ 32 h 668"/>
                <a:gd name="T6" fmla="*/ 51 w 1315"/>
                <a:gd name="T7" fmla="*/ 29 h 668"/>
                <a:gd name="T8" fmla="*/ 51 w 1315"/>
                <a:gd name="T9" fmla="*/ 28 h 668"/>
                <a:gd name="T10" fmla="*/ 51 w 1315"/>
                <a:gd name="T11" fmla="*/ 26 h 668"/>
                <a:gd name="T12" fmla="*/ 53 w 1315"/>
                <a:gd name="T13" fmla="*/ 25 h 668"/>
                <a:gd name="T14" fmla="*/ 54 w 1315"/>
                <a:gd name="T15" fmla="*/ 25 h 668"/>
                <a:gd name="T16" fmla="*/ 56 w 1315"/>
                <a:gd name="T17" fmla="*/ 23 h 668"/>
                <a:gd name="T18" fmla="*/ 57 w 1315"/>
                <a:gd name="T19" fmla="*/ 25 h 668"/>
                <a:gd name="T20" fmla="*/ 1313 w 1315"/>
                <a:gd name="T21" fmla="*/ 659 h 668"/>
                <a:gd name="T22" fmla="*/ 1313 w 1315"/>
                <a:gd name="T23" fmla="*/ 661 h 668"/>
                <a:gd name="T24" fmla="*/ 1315 w 1315"/>
                <a:gd name="T25" fmla="*/ 662 h 668"/>
                <a:gd name="T26" fmla="*/ 1315 w 1315"/>
                <a:gd name="T27" fmla="*/ 664 h 668"/>
                <a:gd name="T28" fmla="*/ 1315 w 1315"/>
                <a:gd name="T29" fmla="*/ 667 h 668"/>
                <a:gd name="T30" fmla="*/ 1313 w 1315"/>
                <a:gd name="T31" fmla="*/ 667 h 668"/>
                <a:gd name="T32" fmla="*/ 1312 w 1315"/>
                <a:gd name="T33" fmla="*/ 668 h 668"/>
                <a:gd name="T34" fmla="*/ 1310 w 1315"/>
                <a:gd name="T35" fmla="*/ 668 h 668"/>
                <a:gd name="T36" fmla="*/ 1309 w 1315"/>
                <a:gd name="T37" fmla="*/ 668 h 668"/>
                <a:gd name="T38" fmla="*/ 1309 w 1315"/>
                <a:gd name="T39" fmla="*/ 668 h 668"/>
                <a:gd name="T40" fmla="*/ 50 w 1315"/>
                <a:gd name="T41" fmla="*/ 69 h 668"/>
                <a:gd name="T42" fmla="*/ 0 w 1315"/>
                <a:gd name="T43" fmla="*/ 0 h 668"/>
                <a:gd name="T44" fmla="*/ 85 w 1315"/>
                <a:gd name="T45" fmla="*/ 0 h 668"/>
                <a:gd name="T46" fmla="*/ 50 w 1315"/>
                <a:gd name="T47" fmla="*/ 69 h 6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15" h="668">
                  <a:moveTo>
                    <a:pt x="1309" y="668"/>
                  </a:moveTo>
                  <a:lnTo>
                    <a:pt x="53" y="32"/>
                  </a:lnTo>
                  <a:lnTo>
                    <a:pt x="51" y="32"/>
                  </a:lnTo>
                  <a:lnTo>
                    <a:pt x="51" y="29"/>
                  </a:lnTo>
                  <a:lnTo>
                    <a:pt x="51" y="28"/>
                  </a:lnTo>
                  <a:lnTo>
                    <a:pt x="51" y="26"/>
                  </a:lnTo>
                  <a:lnTo>
                    <a:pt x="53" y="25"/>
                  </a:lnTo>
                  <a:lnTo>
                    <a:pt x="54" y="25"/>
                  </a:lnTo>
                  <a:lnTo>
                    <a:pt x="56" y="23"/>
                  </a:lnTo>
                  <a:lnTo>
                    <a:pt x="57" y="25"/>
                  </a:lnTo>
                  <a:lnTo>
                    <a:pt x="1313" y="659"/>
                  </a:lnTo>
                  <a:lnTo>
                    <a:pt x="1313" y="661"/>
                  </a:lnTo>
                  <a:lnTo>
                    <a:pt x="1315" y="662"/>
                  </a:lnTo>
                  <a:lnTo>
                    <a:pt x="1315" y="664"/>
                  </a:lnTo>
                  <a:lnTo>
                    <a:pt x="1315" y="667"/>
                  </a:lnTo>
                  <a:lnTo>
                    <a:pt x="1313" y="667"/>
                  </a:lnTo>
                  <a:lnTo>
                    <a:pt x="1312" y="668"/>
                  </a:lnTo>
                  <a:lnTo>
                    <a:pt x="1310" y="668"/>
                  </a:lnTo>
                  <a:lnTo>
                    <a:pt x="1309" y="668"/>
                  </a:lnTo>
                  <a:lnTo>
                    <a:pt x="1309" y="668"/>
                  </a:lnTo>
                  <a:close/>
                  <a:moveTo>
                    <a:pt x="50" y="69"/>
                  </a:moveTo>
                  <a:lnTo>
                    <a:pt x="0" y="0"/>
                  </a:lnTo>
                  <a:lnTo>
                    <a:pt x="85" y="0"/>
                  </a:lnTo>
                  <a:lnTo>
                    <a:pt x="50" y="69"/>
                  </a:lnTo>
                  <a:close/>
                </a:path>
              </a:pathLst>
            </a:custGeom>
            <a:solidFill>
              <a:srgbClr val="000000"/>
            </a:solidFill>
            <a:ln w="3175">
              <a:solidFill>
                <a:srgbClr val="000000"/>
              </a:solidFill>
              <a:prstDash val="solid"/>
              <a:round/>
              <a:headEnd/>
              <a:tailEnd/>
            </a:ln>
          </p:spPr>
          <p:txBody>
            <a:bodyPr/>
            <a:lstStyle/>
            <a:p>
              <a:endParaRPr lang="en-IN"/>
            </a:p>
          </p:txBody>
        </p:sp>
        <p:sp>
          <p:nvSpPr>
            <p:cNvPr id="112667" name="Freeform 27">
              <a:extLst>
                <a:ext uri="{FF2B5EF4-FFF2-40B4-BE49-F238E27FC236}">
                  <a16:creationId xmlns:a16="http://schemas.microsoft.com/office/drawing/2014/main" id="{7A7975E1-26B8-2AD6-BCA0-01AB8EF1454E}"/>
                </a:ext>
              </a:extLst>
            </p:cNvPr>
            <p:cNvSpPr>
              <a:spLocks noEditPoints="1"/>
            </p:cNvSpPr>
            <p:nvPr/>
          </p:nvSpPr>
          <p:spPr bwMode="auto">
            <a:xfrm>
              <a:off x="1500" y="977"/>
              <a:ext cx="973" cy="114"/>
            </a:xfrm>
            <a:custGeom>
              <a:avLst/>
              <a:gdLst>
                <a:gd name="T0" fmla="*/ 5 w 973"/>
                <a:gd name="T1" fmla="*/ 103 h 114"/>
                <a:gd name="T2" fmla="*/ 911 w 973"/>
                <a:gd name="T3" fmla="*/ 33 h 114"/>
                <a:gd name="T4" fmla="*/ 912 w 973"/>
                <a:gd name="T5" fmla="*/ 33 h 114"/>
                <a:gd name="T6" fmla="*/ 914 w 973"/>
                <a:gd name="T7" fmla="*/ 33 h 114"/>
                <a:gd name="T8" fmla="*/ 915 w 973"/>
                <a:gd name="T9" fmla="*/ 35 h 114"/>
                <a:gd name="T10" fmla="*/ 915 w 973"/>
                <a:gd name="T11" fmla="*/ 38 h 114"/>
                <a:gd name="T12" fmla="*/ 915 w 973"/>
                <a:gd name="T13" fmla="*/ 39 h 114"/>
                <a:gd name="T14" fmla="*/ 914 w 973"/>
                <a:gd name="T15" fmla="*/ 41 h 114"/>
                <a:gd name="T16" fmla="*/ 912 w 973"/>
                <a:gd name="T17" fmla="*/ 41 h 114"/>
                <a:gd name="T18" fmla="*/ 911 w 973"/>
                <a:gd name="T19" fmla="*/ 42 h 114"/>
                <a:gd name="T20" fmla="*/ 5 w 973"/>
                <a:gd name="T21" fmla="*/ 114 h 114"/>
                <a:gd name="T22" fmla="*/ 3 w 973"/>
                <a:gd name="T23" fmla="*/ 112 h 114"/>
                <a:gd name="T24" fmla="*/ 2 w 973"/>
                <a:gd name="T25" fmla="*/ 112 h 114"/>
                <a:gd name="T26" fmla="*/ 0 w 973"/>
                <a:gd name="T27" fmla="*/ 111 h 114"/>
                <a:gd name="T28" fmla="*/ 0 w 973"/>
                <a:gd name="T29" fmla="*/ 109 h 114"/>
                <a:gd name="T30" fmla="*/ 0 w 973"/>
                <a:gd name="T31" fmla="*/ 106 h 114"/>
                <a:gd name="T32" fmla="*/ 0 w 973"/>
                <a:gd name="T33" fmla="*/ 105 h 114"/>
                <a:gd name="T34" fmla="*/ 2 w 973"/>
                <a:gd name="T35" fmla="*/ 105 h 114"/>
                <a:gd name="T36" fmla="*/ 5 w 973"/>
                <a:gd name="T37" fmla="*/ 103 h 114"/>
                <a:gd name="T38" fmla="*/ 5 w 973"/>
                <a:gd name="T39" fmla="*/ 103 h 114"/>
                <a:gd name="T40" fmla="*/ 896 w 973"/>
                <a:gd name="T41" fmla="*/ 0 h 114"/>
                <a:gd name="T42" fmla="*/ 973 w 973"/>
                <a:gd name="T43" fmla="*/ 32 h 114"/>
                <a:gd name="T44" fmla="*/ 902 w 973"/>
                <a:gd name="T45" fmla="*/ 76 h 114"/>
                <a:gd name="T46" fmla="*/ 896 w 973"/>
                <a:gd name="T47"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73" h="114">
                  <a:moveTo>
                    <a:pt x="5" y="103"/>
                  </a:moveTo>
                  <a:lnTo>
                    <a:pt x="911" y="33"/>
                  </a:lnTo>
                  <a:lnTo>
                    <a:pt x="912" y="33"/>
                  </a:lnTo>
                  <a:lnTo>
                    <a:pt x="914" y="33"/>
                  </a:lnTo>
                  <a:lnTo>
                    <a:pt x="915" y="35"/>
                  </a:lnTo>
                  <a:lnTo>
                    <a:pt x="915" y="38"/>
                  </a:lnTo>
                  <a:lnTo>
                    <a:pt x="915" y="39"/>
                  </a:lnTo>
                  <a:lnTo>
                    <a:pt x="914" y="41"/>
                  </a:lnTo>
                  <a:lnTo>
                    <a:pt x="912" y="41"/>
                  </a:lnTo>
                  <a:lnTo>
                    <a:pt x="911" y="42"/>
                  </a:lnTo>
                  <a:lnTo>
                    <a:pt x="5" y="114"/>
                  </a:lnTo>
                  <a:lnTo>
                    <a:pt x="3" y="112"/>
                  </a:lnTo>
                  <a:lnTo>
                    <a:pt x="2" y="112"/>
                  </a:lnTo>
                  <a:lnTo>
                    <a:pt x="0" y="111"/>
                  </a:lnTo>
                  <a:lnTo>
                    <a:pt x="0" y="109"/>
                  </a:lnTo>
                  <a:lnTo>
                    <a:pt x="0" y="106"/>
                  </a:lnTo>
                  <a:lnTo>
                    <a:pt x="0" y="105"/>
                  </a:lnTo>
                  <a:lnTo>
                    <a:pt x="2" y="105"/>
                  </a:lnTo>
                  <a:lnTo>
                    <a:pt x="5" y="103"/>
                  </a:lnTo>
                  <a:lnTo>
                    <a:pt x="5" y="103"/>
                  </a:lnTo>
                  <a:close/>
                  <a:moveTo>
                    <a:pt x="896" y="0"/>
                  </a:moveTo>
                  <a:lnTo>
                    <a:pt x="973" y="32"/>
                  </a:lnTo>
                  <a:lnTo>
                    <a:pt x="902" y="76"/>
                  </a:lnTo>
                  <a:lnTo>
                    <a:pt x="896" y="0"/>
                  </a:lnTo>
                  <a:close/>
                </a:path>
              </a:pathLst>
            </a:custGeom>
            <a:solidFill>
              <a:srgbClr val="000000"/>
            </a:solidFill>
            <a:ln w="3175">
              <a:solidFill>
                <a:srgbClr val="000000"/>
              </a:solidFill>
              <a:prstDash val="solid"/>
              <a:round/>
              <a:headEnd/>
              <a:tailEnd/>
            </a:ln>
          </p:spPr>
          <p:txBody>
            <a:bodyPr/>
            <a:lstStyle/>
            <a:p>
              <a:endParaRPr lang="en-IN"/>
            </a:p>
          </p:txBody>
        </p:sp>
        <p:sp>
          <p:nvSpPr>
            <p:cNvPr id="112668" name="Freeform 28">
              <a:extLst>
                <a:ext uri="{FF2B5EF4-FFF2-40B4-BE49-F238E27FC236}">
                  <a16:creationId xmlns:a16="http://schemas.microsoft.com/office/drawing/2014/main" id="{41990642-CB39-2323-40AD-BBFA205FB60E}"/>
                </a:ext>
              </a:extLst>
            </p:cNvPr>
            <p:cNvSpPr>
              <a:spLocks noEditPoints="1"/>
            </p:cNvSpPr>
            <p:nvPr/>
          </p:nvSpPr>
          <p:spPr bwMode="auto">
            <a:xfrm>
              <a:off x="2745" y="1033"/>
              <a:ext cx="783" cy="264"/>
            </a:xfrm>
            <a:custGeom>
              <a:avLst/>
              <a:gdLst>
                <a:gd name="T0" fmla="*/ 6 w 783"/>
                <a:gd name="T1" fmla="*/ 0 h 264"/>
                <a:gd name="T2" fmla="*/ 724 w 783"/>
                <a:gd name="T3" fmla="*/ 228 h 264"/>
                <a:gd name="T4" fmla="*/ 725 w 783"/>
                <a:gd name="T5" fmla="*/ 229 h 264"/>
                <a:gd name="T6" fmla="*/ 727 w 783"/>
                <a:gd name="T7" fmla="*/ 231 h 264"/>
                <a:gd name="T8" fmla="*/ 728 w 783"/>
                <a:gd name="T9" fmla="*/ 232 h 264"/>
                <a:gd name="T10" fmla="*/ 728 w 783"/>
                <a:gd name="T11" fmla="*/ 234 h 264"/>
                <a:gd name="T12" fmla="*/ 727 w 783"/>
                <a:gd name="T13" fmla="*/ 235 h 264"/>
                <a:gd name="T14" fmla="*/ 725 w 783"/>
                <a:gd name="T15" fmla="*/ 237 h 264"/>
                <a:gd name="T16" fmla="*/ 724 w 783"/>
                <a:gd name="T17" fmla="*/ 237 h 264"/>
                <a:gd name="T18" fmla="*/ 722 w 783"/>
                <a:gd name="T19" fmla="*/ 237 h 264"/>
                <a:gd name="T20" fmla="*/ 3 w 783"/>
                <a:gd name="T21" fmla="*/ 9 h 264"/>
                <a:gd name="T22" fmla="*/ 2 w 783"/>
                <a:gd name="T23" fmla="*/ 8 h 264"/>
                <a:gd name="T24" fmla="*/ 0 w 783"/>
                <a:gd name="T25" fmla="*/ 8 h 264"/>
                <a:gd name="T26" fmla="*/ 0 w 783"/>
                <a:gd name="T27" fmla="*/ 5 h 264"/>
                <a:gd name="T28" fmla="*/ 0 w 783"/>
                <a:gd name="T29" fmla="*/ 3 h 264"/>
                <a:gd name="T30" fmla="*/ 0 w 783"/>
                <a:gd name="T31" fmla="*/ 2 h 264"/>
                <a:gd name="T32" fmla="*/ 2 w 783"/>
                <a:gd name="T33" fmla="*/ 0 h 264"/>
                <a:gd name="T34" fmla="*/ 3 w 783"/>
                <a:gd name="T35" fmla="*/ 0 h 264"/>
                <a:gd name="T36" fmla="*/ 6 w 783"/>
                <a:gd name="T37" fmla="*/ 0 h 264"/>
                <a:gd name="T38" fmla="*/ 6 w 783"/>
                <a:gd name="T39" fmla="*/ 0 h 264"/>
                <a:gd name="T40" fmla="*/ 722 w 783"/>
                <a:gd name="T41" fmla="*/ 193 h 264"/>
                <a:gd name="T42" fmla="*/ 783 w 783"/>
                <a:gd name="T43" fmla="*/ 252 h 264"/>
                <a:gd name="T44" fmla="*/ 700 w 783"/>
                <a:gd name="T45" fmla="*/ 264 h 264"/>
                <a:gd name="T46" fmla="*/ 722 w 783"/>
                <a:gd name="T47" fmla="*/ 193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83" h="264">
                  <a:moveTo>
                    <a:pt x="6" y="0"/>
                  </a:moveTo>
                  <a:lnTo>
                    <a:pt x="724" y="228"/>
                  </a:lnTo>
                  <a:lnTo>
                    <a:pt x="725" y="229"/>
                  </a:lnTo>
                  <a:lnTo>
                    <a:pt x="727" y="231"/>
                  </a:lnTo>
                  <a:lnTo>
                    <a:pt x="728" y="232"/>
                  </a:lnTo>
                  <a:lnTo>
                    <a:pt x="728" y="234"/>
                  </a:lnTo>
                  <a:lnTo>
                    <a:pt x="727" y="235"/>
                  </a:lnTo>
                  <a:lnTo>
                    <a:pt x="725" y="237"/>
                  </a:lnTo>
                  <a:lnTo>
                    <a:pt x="724" y="237"/>
                  </a:lnTo>
                  <a:lnTo>
                    <a:pt x="722" y="237"/>
                  </a:lnTo>
                  <a:lnTo>
                    <a:pt x="3" y="9"/>
                  </a:lnTo>
                  <a:lnTo>
                    <a:pt x="2" y="8"/>
                  </a:lnTo>
                  <a:lnTo>
                    <a:pt x="0" y="8"/>
                  </a:lnTo>
                  <a:lnTo>
                    <a:pt x="0" y="5"/>
                  </a:lnTo>
                  <a:lnTo>
                    <a:pt x="0" y="3"/>
                  </a:lnTo>
                  <a:lnTo>
                    <a:pt x="0" y="2"/>
                  </a:lnTo>
                  <a:lnTo>
                    <a:pt x="2" y="0"/>
                  </a:lnTo>
                  <a:lnTo>
                    <a:pt x="3" y="0"/>
                  </a:lnTo>
                  <a:lnTo>
                    <a:pt x="6" y="0"/>
                  </a:lnTo>
                  <a:lnTo>
                    <a:pt x="6" y="0"/>
                  </a:lnTo>
                  <a:close/>
                  <a:moveTo>
                    <a:pt x="722" y="193"/>
                  </a:moveTo>
                  <a:lnTo>
                    <a:pt x="783" y="252"/>
                  </a:lnTo>
                  <a:lnTo>
                    <a:pt x="700" y="264"/>
                  </a:lnTo>
                  <a:lnTo>
                    <a:pt x="722" y="193"/>
                  </a:lnTo>
                  <a:close/>
                </a:path>
              </a:pathLst>
            </a:custGeom>
            <a:solidFill>
              <a:srgbClr val="000000"/>
            </a:solidFill>
            <a:ln w="3175">
              <a:solidFill>
                <a:srgbClr val="000000"/>
              </a:solidFill>
              <a:prstDash val="solid"/>
              <a:round/>
              <a:headEnd/>
              <a:tailEnd/>
            </a:ln>
          </p:spPr>
          <p:txBody>
            <a:bodyPr/>
            <a:lstStyle/>
            <a:p>
              <a:endParaRPr lang="en-IN"/>
            </a:p>
          </p:txBody>
        </p:sp>
        <p:sp>
          <p:nvSpPr>
            <p:cNvPr id="112669" name="Freeform 29">
              <a:extLst>
                <a:ext uri="{FF2B5EF4-FFF2-40B4-BE49-F238E27FC236}">
                  <a16:creationId xmlns:a16="http://schemas.microsoft.com/office/drawing/2014/main" id="{AF0FFDCD-43CD-AC20-DBAC-943344970DB6}"/>
                </a:ext>
              </a:extLst>
            </p:cNvPr>
            <p:cNvSpPr>
              <a:spLocks noEditPoints="1"/>
            </p:cNvSpPr>
            <p:nvPr/>
          </p:nvSpPr>
          <p:spPr bwMode="auto">
            <a:xfrm>
              <a:off x="2973" y="1341"/>
              <a:ext cx="517" cy="357"/>
            </a:xfrm>
            <a:custGeom>
              <a:avLst/>
              <a:gdLst>
                <a:gd name="T0" fmla="*/ 2 w 517"/>
                <a:gd name="T1" fmla="*/ 348 h 357"/>
                <a:gd name="T2" fmla="*/ 462 w 517"/>
                <a:gd name="T3" fmla="*/ 32 h 357"/>
                <a:gd name="T4" fmla="*/ 464 w 517"/>
                <a:gd name="T5" fmla="*/ 32 h 357"/>
                <a:gd name="T6" fmla="*/ 466 w 517"/>
                <a:gd name="T7" fmla="*/ 32 h 357"/>
                <a:gd name="T8" fmla="*/ 467 w 517"/>
                <a:gd name="T9" fmla="*/ 32 h 357"/>
                <a:gd name="T10" fmla="*/ 469 w 517"/>
                <a:gd name="T11" fmla="*/ 34 h 357"/>
                <a:gd name="T12" fmla="*/ 470 w 517"/>
                <a:gd name="T13" fmla="*/ 35 h 357"/>
                <a:gd name="T14" fmla="*/ 470 w 517"/>
                <a:gd name="T15" fmla="*/ 37 h 357"/>
                <a:gd name="T16" fmla="*/ 469 w 517"/>
                <a:gd name="T17" fmla="*/ 38 h 357"/>
                <a:gd name="T18" fmla="*/ 469 w 517"/>
                <a:gd name="T19" fmla="*/ 40 h 357"/>
                <a:gd name="T20" fmla="*/ 8 w 517"/>
                <a:gd name="T21" fmla="*/ 355 h 357"/>
                <a:gd name="T22" fmla="*/ 5 w 517"/>
                <a:gd name="T23" fmla="*/ 357 h 357"/>
                <a:gd name="T24" fmla="*/ 3 w 517"/>
                <a:gd name="T25" fmla="*/ 355 h 357"/>
                <a:gd name="T26" fmla="*/ 2 w 517"/>
                <a:gd name="T27" fmla="*/ 355 h 357"/>
                <a:gd name="T28" fmla="*/ 0 w 517"/>
                <a:gd name="T29" fmla="*/ 354 h 357"/>
                <a:gd name="T30" fmla="*/ 0 w 517"/>
                <a:gd name="T31" fmla="*/ 352 h 357"/>
                <a:gd name="T32" fmla="*/ 0 w 517"/>
                <a:gd name="T33" fmla="*/ 351 h 357"/>
                <a:gd name="T34" fmla="*/ 0 w 517"/>
                <a:gd name="T35" fmla="*/ 349 h 357"/>
                <a:gd name="T36" fmla="*/ 2 w 517"/>
                <a:gd name="T37" fmla="*/ 348 h 357"/>
                <a:gd name="T38" fmla="*/ 2 w 517"/>
                <a:gd name="T39" fmla="*/ 348 h 357"/>
                <a:gd name="T40" fmla="*/ 434 w 517"/>
                <a:gd name="T41" fmla="*/ 12 h 357"/>
                <a:gd name="T42" fmla="*/ 517 w 517"/>
                <a:gd name="T43" fmla="*/ 0 h 357"/>
                <a:gd name="T44" fmla="*/ 476 w 517"/>
                <a:gd name="T45" fmla="*/ 75 h 357"/>
                <a:gd name="T46" fmla="*/ 434 w 517"/>
                <a:gd name="T47" fmla="*/ 12 h 3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17" h="357">
                  <a:moveTo>
                    <a:pt x="2" y="348"/>
                  </a:moveTo>
                  <a:lnTo>
                    <a:pt x="462" y="32"/>
                  </a:lnTo>
                  <a:lnTo>
                    <a:pt x="464" y="32"/>
                  </a:lnTo>
                  <a:lnTo>
                    <a:pt x="466" y="32"/>
                  </a:lnTo>
                  <a:lnTo>
                    <a:pt x="467" y="32"/>
                  </a:lnTo>
                  <a:lnTo>
                    <a:pt x="469" y="34"/>
                  </a:lnTo>
                  <a:lnTo>
                    <a:pt x="470" y="35"/>
                  </a:lnTo>
                  <a:lnTo>
                    <a:pt x="470" y="37"/>
                  </a:lnTo>
                  <a:lnTo>
                    <a:pt x="469" y="38"/>
                  </a:lnTo>
                  <a:lnTo>
                    <a:pt x="469" y="40"/>
                  </a:lnTo>
                  <a:lnTo>
                    <a:pt x="8" y="355"/>
                  </a:lnTo>
                  <a:lnTo>
                    <a:pt x="5" y="357"/>
                  </a:lnTo>
                  <a:lnTo>
                    <a:pt x="3" y="355"/>
                  </a:lnTo>
                  <a:lnTo>
                    <a:pt x="2" y="355"/>
                  </a:lnTo>
                  <a:lnTo>
                    <a:pt x="0" y="354"/>
                  </a:lnTo>
                  <a:lnTo>
                    <a:pt x="0" y="352"/>
                  </a:lnTo>
                  <a:lnTo>
                    <a:pt x="0" y="351"/>
                  </a:lnTo>
                  <a:lnTo>
                    <a:pt x="0" y="349"/>
                  </a:lnTo>
                  <a:lnTo>
                    <a:pt x="2" y="348"/>
                  </a:lnTo>
                  <a:lnTo>
                    <a:pt x="2" y="348"/>
                  </a:lnTo>
                  <a:close/>
                  <a:moveTo>
                    <a:pt x="434" y="12"/>
                  </a:moveTo>
                  <a:lnTo>
                    <a:pt x="517" y="0"/>
                  </a:lnTo>
                  <a:lnTo>
                    <a:pt x="476" y="75"/>
                  </a:lnTo>
                  <a:lnTo>
                    <a:pt x="434" y="12"/>
                  </a:lnTo>
                  <a:close/>
                </a:path>
              </a:pathLst>
            </a:custGeom>
            <a:solidFill>
              <a:srgbClr val="000000"/>
            </a:solidFill>
            <a:ln w="3175">
              <a:solidFill>
                <a:srgbClr val="000000"/>
              </a:solidFill>
              <a:prstDash val="solid"/>
              <a:round/>
              <a:headEnd/>
              <a:tailEnd/>
            </a:ln>
          </p:spPr>
          <p:txBody>
            <a:bodyPr/>
            <a:lstStyle/>
            <a:p>
              <a:endParaRPr lang="en-IN"/>
            </a:p>
          </p:txBody>
        </p:sp>
        <p:sp>
          <p:nvSpPr>
            <p:cNvPr id="112670" name="Rectangle 30">
              <a:extLst>
                <a:ext uri="{FF2B5EF4-FFF2-40B4-BE49-F238E27FC236}">
                  <a16:creationId xmlns:a16="http://schemas.microsoft.com/office/drawing/2014/main" id="{B71AFD22-9A08-A79E-61EE-9A4131B3083A}"/>
                </a:ext>
              </a:extLst>
            </p:cNvPr>
            <p:cNvSpPr>
              <a:spLocks noChangeArrowheads="1"/>
            </p:cNvSpPr>
            <p:nvPr/>
          </p:nvSpPr>
          <p:spPr bwMode="auto">
            <a:xfrm>
              <a:off x="792" y="1393"/>
              <a:ext cx="77"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t>2</a:t>
              </a:r>
              <a:endParaRPr lang="en-US" altLang="en-US"/>
            </a:p>
          </p:txBody>
        </p:sp>
        <p:sp>
          <p:nvSpPr>
            <p:cNvPr id="112671" name="Rectangle 31">
              <a:extLst>
                <a:ext uri="{FF2B5EF4-FFF2-40B4-BE49-F238E27FC236}">
                  <a16:creationId xmlns:a16="http://schemas.microsoft.com/office/drawing/2014/main" id="{1E593AE7-E27E-6FB1-2677-D447E6756C79}"/>
                </a:ext>
              </a:extLst>
            </p:cNvPr>
            <p:cNvSpPr>
              <a:spLocks noChangeArrowheads="1"/>
            </p:cNvSpPr>
            <p:nvPr/>
          </p:nvSpPr>
          <p:spPr bwMode="auto">
            <a:xfrm>
              <a:off x="897" y="1770"/>
              <a:ext cx="77"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t>6</a:t>
              </a:r>
              <a:endParaRPr lang="en-US" altLang="en-US"/>
            </a:p>
          </p:txBody>
        </p:sp>
        <p:sp>
          <p:nvSpPr>
            <p:cNvPr id="112672" name="Rectangle 32">
              <a:extLst>
                <a:ext uri="{FF2B5EF4-FFF2-40B4-BE49-F238E27FC236}">
                  <a16:creationId xmlns:a16="http://schemas.microsoft.com/office/drawing/2014/main" id="{C2A350FE-A101-8A11-F83A-A9846F9CFDBF}"/>
                </a:ext>
              </a:extLst>
            </p:cNvPr>
            <p:cNvSpPr>
              <a:spLocks noChangeArrowheads="1"/>
            </p:cNvSpPr>
            <p:nvPr/>
          </p:nvSpPr>
          <p:spPr bwMode="auto">
            <a:xfrm>
              <a:off x="1078" y="1506"/>
              <a:ext cx="77"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0</a:t>
              </a:r>
              <a:endParaRPr lang="en-US" altLang="en-US"/>
            </a:p>
          </p:txBody>
        </p:sp>
        <p:sp>
          <p:nvSpPr>
            <p:cNvPr id="112673" name="Rectangle 33">
              <a:extLst>
                <a:ext uri="{FF2B5EF4-FFF2-40B4-BE49-F238E27FC236}">
                  <a16:creationId xmlns:a16="http://schemas.microsoft.com/office/drawing/2014/main" id="{BFC72A1F-75A3-A94B-6D97-CE7823B61FE3}"/>
                </a:ext>
              </a:extLst>
            </p:cNvPr>
            <p:cNvSpPr>
              <a:spLocks noChangeArrowheads="1"/>
            </p:cNvSpPr>
            <p:nvPr/>
          </p:nvSpPr>
          <p:spPr bwMode="auto">
            <a:xfrm>
              <a:off x="2019" y="1258"/>
              <a:ext cx="77"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0</a:t>
              </a:r>
              <a:endParaRPr lang="en-US" altLang="en-US"/>
            </a:p>
          </p:txBody>
        </p:sp>
        <p:sp>
          <p:nvSpPr>
            <p:cNvPr id="112674" name="Rectangle 34">
              <a:extLst>
                <a:ext uri="{FF2B5EF4-FFF2-40B4-BE49-F238E27FC236}">
                  <a16:creationId xmlns:a16="http://schemas.microsoft.com/office/drawing/2014/main" id="{6A3699FF-3651-0D43-422E-D8B54A0EC66C}"/>
                </a:ext>
              </a:extLst>
            </p:cNvPr>
            <p:cNvSpPr>
              <a:spLocks noChangeArrowheads="1"/>
            </p:cNvSpPr>
            <p:nvPr/>
          </p:nvSpPr>
          <p:spPr bwMode="auto">
            <a:xfrm>
              <a:off x="3046" y="1146"/>
              <a:ext cx="77"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t>8</a:t>
              </a:r>
              <a:endParaRPr lang="en-US" altLang="en-US"/>
            </a:p>
          </p:txBody>
        </p:sp>
        <p:sp>
          <p:nvSpPr>
            <p:cNvPr id="112675" name="Rectangle 35">
              <a:extLst>
                <a:ext uri="{FF2B5EF4-FFF2-40B4-BE49-F238E27FC236}">
                  <a16:creationId xmlns:a16="http://schemas.microsoft.com/office/drawing/2014/main" id="{D2D15E23-FAFA-F973-38E3-F284BFC10EE9}"/>
                </a:ext>
              </a:extLst>
            </p:cNvPr>
            <p:cNvSpPr>
              <a:spLocks noChangeArrowheads="1"/>
            </p:cNvSpPr>
            <p:nvPr/>
          </p:nvSpPr>
          <p:spPr bwMode="auto">
            <a:xfrm>
              <a:off x="3074" y="1468"/>
              <a:ext cx="77"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0</a:t>
              </a:r>
              <a:endParaRPr lang="en-US" altLang="en-US"/>
            </a:p>
          </p:txBody>
        </p:sp>
        <p:sp>
          <p:nvSpPr>
            <p:cNvPr id="112676" name="Rectangle 36">
              <a:extLst>
                <a:ext uri="{FF2B5EF4-FFF2-40B4-BE49-F238E27FC236}">
                  <a16:creationId xmlns:a16="http://schemas.microsoft.com/office/drawing/2014/main" id="{6131B395-87DA-4BD7-E512-C7FFD1629594}"/>
                </a:ext>
              </a:extLst>
            </p:cNvPr>
            <p:cNvSpPr>
              <a:spLocks noChangeArrowheads="1"/>
            </p:cNvSpPr>
            <p:nvPr/>
          </p:nvSpPr>
          <p:spPr bwMode="auto">
            <a:xfrm>
              <a:off x="2057" y="1863"/>
              <a:ext cx="77"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t>6</a:t>
              </a:r>
              <a:endParaRPr lang="en-US" altLang="en-US"/>
            </a:p>
          </p:txBody>
        </p:sp>
        <p:sp>
          <p:nvSpPr>
            <p:cNvPr id="112677" name="Freeform 37">
              <a:extLst>
                <a:ext uri="{FF2B5EF4-FFF2-40B4-BE49-F238E27FC236}">
                  <a16:creationId xmlns:a16="http://schemas.microsoft.com/office/drawing/2014/main" id="{C74C9D69-9654-2859-293A-8A1E2A1C2326}"/>
                </a:ext>
              </a:extLst>
            </p:cNvPr>
            <p:cNvSpPr>
              <a:spLocks/>
            </p:cNvSpPr>
            <p:nvPr/>
          </p:nvSpPr>
          <p:spPr bwMode="auto">
            <a:xfrm>
              <a:off x="3586" y="1199"/>
              <a:ext cx="170" cy="171"/>
            </a:xfrm>
            <a:custGeom>
              <a:avLst/>
              <a:gdLst>
                <a:gd name="T0" fmla="*/ 76 w 170"/>
                <a:gd name="T1" fmla="*/ 1 h 171"/>
                <a:gd name="T2" fmla="*/ 59 w 170"/>
                <a:gd name="T3" fmla="*/ 4 h 171"/>
                <a:gd name="T4" fmla="*/ 44 w 170"/>
                <a:gd name="T5" fmla="*/ 10 h 171"/>
                <a:gd name="T6" fmla="*/ 30 w 170"/>
                <a:gd name="T7" fmla="*/ 19 h 171"/>
                <a:gd name="T8" fmla="*/ 18 w 170"/>
                <a:gd name="T9" fmla="*/ 31 h 171"/>
                <a:gd name="T10" fmla="*/ 9 w 170"/>
                <a:gd name="T11" fmla="*/ 45 h 171"/>
                <a:gd name="T12" fmla="*/ 3 w 170"/>
                <a:gd name="T13" fmla="*/ 60 h 171"/>
                <a:gd name="T14" fmla="*/ 0 w 170"/>
                <a:gd name="T15" fmla="*/ 77 h 171"/>
                <a:gd name="T16" fmla="*/ 0 w 170"/>
                <a:gd name="T17" fmla="*/ 94 h 171"/>
                <a:gd name="T18" fmla="*/ 3 w 170"/>
                <a:gd name="T19" fmla="*/ 110 h 171"/>
                <a:gd name="T20" fmla="*/ 9 w 170"/>
                <a:gd name="T21" fmla="*/ 126 h 171"/>
                <a:gd name="T22" fmla="*/ 18 w 170"/>
                <a:gd name="T23" fmla="*/ 139 h 171"/>
                <a:gd name="T24" fmla="*/ 30 w 170"/>
                <a:gd name="T25" fmla="*/ 151 h 171"/>
                <a:gd name="T26" fmla="*/ 44 w 170"/>
                <a:gd name="T27" fmla="*/ 160 h 171"/>
                <a:gd name="T28" fmla="*/ 59 w 170"/>
                <a:gd name="T29" fmla="*/ 167 h 171"/>
                <a:gd name="T30" fmla="*/ 76 w 170"/>
                <a:gd name="T31" fmla="*/ 170 h 171"/>
                <a:gd name="T32" fmla="*/ 94 w 170"/>
                <a:gd name="T33" fmla="*/ 170 h 171"/>
                <a:gd name="T34" fmla="*/ 111 w 170"/>
                <a:gd name="T35" fmla="*/ 167 h 171"/>
                <a:gd name="T36" fmla="*/ 126 w 170"/>
                <a:gd name="T37" fmla="*/ 160 h 171"/>
                <a:gd name="T38" fmla="*/ 140 w 170"/>
                <a:gd name="T39" fmla="*/ 151 h 171"/>
                <a:gd name="T40" fmla="*/ 150 w 170"/>
                <a:gd name="T41" fmla="*/ 139 h 171"/>
                <a:gd name="T42" fmla="*/ 160 w 170"/>
                <a:gd name="T43" fmla="*/ 126 h 171"/>
                <a:gd name="T44" fmla="*/ 167 w 170"/>
                <a:gd name="T45" fmla="*/ 110 h 171"/>
                <a:gd name="T46" fmla="*/ 170 w 170"/>
                <a:gd name="T47" fmla="*/ 94 h 171"/>
                <a:gd name="T48" fmla="*/ 170 w 170"/>
                <a:gd name="T49" fmla="*/ 77 h 171"/>
                <a:gd name="T50" fmla="*/ 167 w 170"/>
                <a:gd name="T51" fmla="*/ 60 h 171"/>
                <a:gd name="T52" fmla="*/ 160 w 170"/>
                <a:gd name="T53" fmla="*/ 45 h 171"/>
                <a:gd name="T54" fmla="*/ 150 w 170"/>
                <a:gd name="T55" fmla="*/ 31 h 171"/>
                <a:gd name="T56" fmla="*/ 140 w 170"/>
                <a:gd name="T57" fmla="*/ 19 h 171"/>
                <a:gd name="T58" fmla="*/ 126 w 170"/>
                <a:gd name="T59" fmla="*/ 10 h 171"/>
                <a:gd name="T60" fmla="*/ 111 w 170"/>
                <a:gd name="T61" fmla="*/ 4 h 171"/>
                <a:gd name="T62" fmla="*/ 94 w 170"/>
                <a:gd name="T63" fmla="*/ 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 h="171">
                  <a:moveTo>
                    <a:pt x="85" y="0"/>
                  </a:moveTo>
                  <a:lnTo>
                    <a:pt x="76" y="1"/>
                  </a:lnTo>
                  <a:lnTo>
                    <a:pt x="67" y="1"/>
                  </a:lnTo>
                  <a:lnTo>
                    <a:pt x="59" y="4"/>
                  </a:lnTo>
                  <a:lnTo>
                    <a:pt x="52" y="7"/>
                  </a:lnTo>
                  <a:lnTo>
                    <a:pt x="44" y="10"/>
                  </a:lnTo>
                  <a:lnTo>
                    <a:pt x="36" y="15"/>
                  </a:lnTo>
                  <a:lnTo>
                    <a:pt x="30" y="19"/>
                  </a:lnTo>
                  <a:lnTo>
                    <a:pt x="24" y="25"/>
                  </a:lnTo>
                  <a:lnTo>
                    <a:pt x="18" y="31"/>
                  </a:lnTo>
                  <a:lnTo>
                    <a:pt x="14" y="37"/>
                  </a:lnTo>
                  <a:lnTo>
                    <a:pt x="9" y="45"/>
                  </a:lnTo>
                  <a:lnTo>
                    <a:pt x="6" y="53"/>
                  </a:lnTo>
                  <a:lnTo>
                    <a:pt x="3" y="60"/>
                  </a:lnTo>
                  <a:lnTo>
                    <a:pt x="1" y="68"/>
                  </a:lnTo>
                  <a:lnTo>
                    <a:pt x="0" y="77"/>
                  </a:lnTo>
                  <a:lnTo>
                    <a:pt x="0" y="86"/>
                  </a:lnTo>
                  <a:lnTo>
                    <a:pt x="0" y="94"/>
                  </a:lnTo>
                  <a:lnTo>
                    <a:pt x="1" y="103"/>
                  </a:lnTo>
                  <a:lnTo>
                    <a:pt x="3" y="110"/>
                  </a:lnTo>
                  <a:lnTo>
                    <a:pt x="6" y="118"/>
                  </a:lnTo>
                  <a:lnTo>
                    <a:pt x="9" y="126"/>
                  </a:lnTo>
                  <a:lnTo>
                    <a:pt x="14" y="133"/>
                  </a:lnTo>
                  <a:lnTo>
                    <a:pt x="18" y="139"/>
                  </a:lnTo>
                  <a:lnTo>
                    <a:pt x="24" y="145"/>
                  </a:lnTo>
                  <a:lnTo>
                    <a:pt x="30" y="151"/>
                  </a:lnTo>
                  <a:lnTo>
                    <a:pt x="36" y="156"/>
                  </a:lnTo>
                  <a:lnTo>
                    <a:pt x="44" y="160"/>
                  </a:lnTo>
                  <a:lnTo>
                    <a:pt x="52" y="163"/>
                  </a:lnTo>
                  <a:lnTo>
                    <a:pt x="59" y="167"/>
                  </a:lnTo>
                  <a:lnTo>
                    <a:pt x="67" y="170"/>
                  </a:lnTo>
                  <a:lnTo>
                    <a:pt x="76" y="170"/>
                  </a:lnTo>
                  <a:lnTo>
                    <a:pt x="85" y="171"/>
                  </a:lnTo>
                  <a:lnTo>
                    <a:pt x="94" y="170"/>
                  </a:lnTo>
                  <a:lnTo>
                    <a:pt x="102" y="170"/>
                  </a:lnTo>
                  <a:lnTo>
                    <a:pt x="111" y="167"/>
                  </a:lnTo>
                  <a:lnTo>
                    <a:pt x="119" y="163"/>
                  </a:lnTo>
                  <a:lnTo>
                    <a:pt x="126" y="160"/>
                  </a:lnTo>
                  <a:lnTo>
                    <a:pt x="132" y="156"/>
                  </a:lnTo>
                  <a:lnTo>
                    <a:pt x="140" y="151"/>
                  </a:lnTo>
                  <a:lnTo>
                    <a:pt x="146" y="145"/>
                  </a:lnTo>
                  <a:lnTo>
                    <a:pt x="150" y="139"/>
                  </a:lnTo>
                  <a:lnTo>
                    <a:pt x="155" y="133"/>
                  </a:lnTo>
                  <a:lnTo>
                    <a:pt x="160" y="126"/>
                  </a:lnTo>
                  <a:lnTo>
                    <a:pt x="164" y="118"/>
                  </a:lnTo>
                  <a:lnTo>
                    <a:pt x="167" y="110"/>
                  </a:lnTo>
                  <a:lnTo>
                    <a:pt x="169" y="103"/>
                  </a:lnTo>
                  <a:lnTo>
                    <a:pt x="170" y="94"/>
                  </a:lnTo>
                  <a:lnTo>
                    <a:pt x="170" y="86"/>
                  </a:lnTo>
                  <a:lnTo>
                    <a:pt x="170" y="77"/>
                  </a:lnTo>
                  <a:lnTo>
                    <a:pt x="169" y="68"/>
                  </a:lnTo>
                  <a:lnTo>
                    <a:pt x="167" y="60"/>
                  </a:lnTo>
                  <a:lnTo>
                    <a:pt x="164" y="53"/>
                  </a:lnTo>
                  <a:lnTo>
                    <a:pt x="160" y="45"/>
                  </a:lnTo>
                  <a:lnTo>
                    <a:pt x="155" y="37"/>
                  </a:lnTo>
                  <a:lnTo>
                    <a:pt x="150" y="31"/>
                  </a:lnTo>
                  <a:lnTo>
                    <a:pt x="146" y="25"/>
                  </a:lnTo>
                  <a:lnTo>
                    <a:pt x="140" y="19"/>
                  </a:lnTo>
                  <a:lnTo>
                    <a:pt x="132" y="15"/>
                  </a:lnTo>
                  <a:lnTo>
                    <a:pt x="126" y="10"/>
                  </a:lnTo>
                  <a:lnTo>
                    <a:pt x="119" y="7"/>
                  </a:lnTo>
                  <a:lnTo>
                    <a:pt x="111" y="4"/>
                  </a:lnTo>
                  <a:lnTo>
                    <a:pt x="102" y="1"/>
                  </a:lnTo>
                  <a:lnTo>
                    <a:pt x="94" y="1"/>
                  </a:lnTo>
                  <a:lnTo>
                    <a:pt x="85" y="0"/>
                  </a:lnTo>
                  <a:close/>
                </a:path>
              </a:pathLst>
            </a:custGeom>
            <a:solidFill>
              <a:srgbClr val="00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2678" name="Freeform 38">
              <a:extLst>
                <a:ext uri="{FF2B5EF4-FFF2-40B4-BE49-F238E27FC236}">
                  <a16:creationId xmlns:a16="http://schemas.microsoft.com/office/drawing/2014/main" id="{D4986F29-4DFD-D8FB-C168-448B63EAD948}"/>
                </a:ext>
              </a:extLst>
            </p:cNvPr>
            <p:cNvSpPr>
              <a:spLocks/>
            </p:cNvSpPr>
            <p:nvPr/>
          </p:nvSpPr>
          <p:spPr bwMode="auto">
            <a:xfrm>
              <a:off x="3586" y="1199"/>
              <a:ext cx="170" cy="171"/>
            </a:xfrm>
            <a:custGeom>
              <a:avLst/>
              <a:gdLst>
                <a:gd name="T0" fmla="*/ 76 w 170"/>
                <a:gd name="T1" fmla="*/ 1 h 171"/>
                <a:gd name="T2" fmla="*/ 59 w 170"/>
                <a:gd name="T3" fmla="*/ 4 h 171"/>
                <a:gd name="T4" fmla="*/ 44 w 170"/>
                <a:gd name="T5" fmla="*/ 10 h 171"/>
                <a:gd name="T6" fmla="*/ 30 w 170"/>
                <a:gd name="T7" fmla="*/ 19 h 171"/>
                <a:gd name="T8" fmla="*/ 18 w 170"/>
                <a:gd name="T9" fmla="*/ 31 h 171"/>
                <a:gd name="T10" fmla="*/ 9 w 170"/>
                <a:gd name="T11" fmla="*/ 45 h 171"/>
                <a:gd name="T12" fmla="*/ 3 w 170"/>
                <a:gd name="T13" fmla="*/ 60 h 171"/>
                <a:gd name="T14" fmla="*/ 0 w 170"/>
                <a:gd name="T15" fmla="*/ 77 h 171"/>
                <a:gd name="T16" fmla="*/ 0 w 170"/>
                <a:gd name="T17" fmla="*/ 94 h 171"/>
                <a:gd name="T18" fmla="*/ 3 w 170"/>
                <a:gd name="T19" fmla="*/ 110 h 171"/>
                <a:gd name="T20" fmla="*/ 9 w 170"/>
                <a:gd name="T21" fmla="*/ 126 h 171"/>
                <a:gd name="T22" fmla="*/ 18 w 170"/>
                <a:gd name="T23" fmla="*/ 139 h 171"/>
                <a:gd name="T24" fmla="*/ 30 w 170"/>
                <a:gd name="T25" fmla="*/ 151 h 171"/>
                <a:gd name="T26" fmla="*/ 44 w 170"/>
                <a:gd name="T27" fmla="*/ 160 h 171"/>
                <a:gd name="T28" fmla="*/ 59 w 170"/>
                <a:gd name="T29" fmla="*/ 167 h 171"/>
                <a:gd name="T30" fmla="*/ 76 w 170"/>
                <a:gd name="T31" fmla="*/ 170 h 171"/>
                <a:gd name="T32" fmla="*/ 94 w 170"/>
                <a:gd name="T33" fmla="*/ 170 h 171"/>
                <a:gd name="T34" fmla="*/ 111 w 170"/>
                <a:gd name="T35" fmla="*/ 167 h 171"/>
                <a:gd name="T36" fmla="*/ 126 w 170"/>
                <a:gd name="T37" fmla="*/ 160 h 171"/>
                <a:gd name="T38" fmla="*/ 140 w 170"/>
                <a:gd name="T39" fmla="*/ 151 h 171"/>
                <a:gd name="T40" fmla="*/ 150 w 170"/>
                <a:gd name="T41" fmla="*/ 139 h 171"/>
                <a:gd name="T42" fmla="*/ 160 w 170"/>
                <a:gd name="T43" fmla="*/ 126 h 171"/>
                <a:gd name="T44" fmla="*/ 167 w 170"/>
                <a:gd name="T45" fmla="*/ 110 h 171"/>
                <a:gd name="T46" fmla="*/ 170 w 170"/>
                <a:gd name="T47" fmla="*/ 94 h 171"/>
                <a:gd name="T48" fmla="*/ 170 w 170"/>
                <a:gd name="T49" fmla="*/ 77 h 171"/>
                <a:gd name="T50" fmla="*/ 167 w 170"/>
                <a:gd name="T51" fmla="*/ 60 h 171"/>
                <a:gd name="T52" fmla="*/ 160 w 170"/>
                <a:gd name="T53" fmla="*/ 45 h 171"/>
                <a:gd name="T54" fmla="*/ 150 w 170"/>
                <a:gd name="T55" fmla="*/ 31 h 171"/>
                <a:gd name="T56" fmla="*/ 140 w 170"/>
                <a:gd name="T57" fmla="*/ 19 h 171"/>
                <a:gd name="T58" fmla="*/ 126 w 170"/>
                <a:gd name="T59" fmla="*/ 10 h 171"/>
                <a:gd name="T60" fmla="*/ 111 w 170"/>
                <a:gd name="T61" fmla="*/ 4 h 171"/>
                <a:gd name="T62" fmla="*/ 94 w 170"/>
                <a:gd name="T63" fmla="*/ 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 h="171">
                  <a:moveTo>
                    <a:pt x="85" y="0"/>
                  </a:moveTo>
                  <a:lnTo>
                    <a:pt x="76" y="1"/>
                  </a:lnTo>
                  <a:lnTo>
                    <a:pt x="67" y="1"/>
                  </a:lnTo>
                  <a:lnTo>
                    <a:pt x="59" y="4"/>
                  </a:lnTo>
                  <a:lnTo>
                    <a:pt x="52" y="7"/>
                  </a:lnTo>
                  <a:lnTo>
                    <a:pt x="44" y="10"/>
                  </a:lnTo>
                  <a:lnTo>
                    <a:pt x="36" y="15"/>
                  </a:lnTo>
                  <a:lnTo>
                    <a:pt x="30" y="19"/>
                  </a:lnTo>
                  <a:lnTo>
                    <a:pt x="24" y="25"/>
                  </a:lnTo>
                  <a:lnTo>
                    <a:pt x="18" y="31"/>
                  </a:lnTo>
                  <a:lnTo>
                    <a:pt x="14" y="37"/>
                  </a:lnTo>
                  <a:lnTo>
                    <a:pt x="9" y="45"/>
                  </a:lnTo>
                  <a:lnTo>
                    <a:pt x="6" y="53"/>
                  </a:lnTo>
                  <a:lnTo>
                    <a:pt x="3" y="60"/>
                  </a:lnTo>
                  <a:lnTo>
                    <a:pt x="1" y="68"/>
                  </a:lnTo>
                  <a:lnTo>
                    <a:pt x="0" y="77"/>
                  </a:lnTo>
                  <a:lnTo>
                    <a:pt x="0" y="86"/>
                  </a:lnTo>
                  <a:lnTo>
                    <a:pt x="0" y="94"/>
                  </a:lnTo>
                  <a:lnTo>
                    <a:pt x="1" y="103"/>
                  </a:lnTo>
                  <a:lnTo>
                    <a:pt x="3" y="110"/>
                  </a:lnTo>
                  <a:lnTo>
                    <a:pt x="6" y="118"/>
                  </a:lnTo>
                  <a:lnTo>
                    <a:pt x="9" y="126"/>
                  </a:lnTo>
                  <a:lnTo>
                    <a:pt x="14" y="133"/>
                  </a:lnTo>
                  <a:lnTo>
                    <a:pt x="18" y="139"/>
                  </a:lnTo>
                  <a:lnTo>
                    <a:pt x="24" y="145"/>
                  </a:lnTo>
                  <a:lnTo>
                    <a:pt x="30" y="151"/>
                  </a:lnTo>
                  <a:lnTo>
                    <a:pt x="36" y="156"/>
                  </a:lnTo>
                  <a:lnTo>
                    <a:pt x="44" y="160"/>
                  </a:lnTo>
                  <a:lnTo>
                    <a:pt x="52" y="163"/>
                  </a:lnTo>
                  <a:lnTo>
                    <a:pt x="59" y="167"/>
                  </a:lnTo>
                  <a:lnTo>
                    <a:pt x="67" y="170"/>
                  </a:lnTo>
                  <a:lnTo>
                    <a:pt x="76" y="170"/>
                  </a:lnTo>
                  <a:lnTo>
                    <a:pt x="85" y="171"/>
                  </a:lnTo>
                  <a:lnTo>
                    <a:pt x="94" y="170"/>
                  </a:lnTo>
                  <a:lnTo>
                    <a:pt x="102" y="170"/>
                  </a:lnTo>
                  <a:lnTo>
                    <a:pt x="111" y="167"/>
                  </a:lnTo>
                  <a:lnTo>
                    <a:pt x="119" y="163"/>
                  </a:lnTo>
                  <a:lnTo>
                    <a:pt x="126" y="160"/>
                  </a:lnTo>
                  <a:lnTo>
                    <a:pt x="132" y="156"/>
                  </a:lnTo>
                  <a:lnTo>
                    <a:pt x="140" y="151"/>
                  </a:lnTo>
                  <a:lnTo>
                    <a:pt x="146" y="145"/>
                  </a:lnTo>
                  <a:lnTo>
                    <a:pt x="150" y="139"/>
                  </a:lnTo>
                  <a:lnTo>
                    <a:pt x="155" y="133"/>
                  </a:lnTo>
                  <a:lnTo>
                    <a:pt x="160" y="126"/>
                  </a:lnTo>
                  <a:lnTo>
                    <a:pt x="164" y="118"/>
                  </a:lnTo>
                  <a:lnTo>
                    <a:pt x="167" y="110"/>
                  </a:lnTo>
                  <a:lnTo>
                    <a:pt x="169" y="103"/>
                  </a:lnTo>
                  <a:lnTo>
                    <a:pt x="170" y="94"/>
                  </a:lnTo>
                  <a:lnTo>
                    <a:pt x="170" y="86"/>
                  </a:lnTo>
                  <a:lnTo>
                    <a:pt x="170" y="77"/>
                  </a:lnTo>
                  <a:lnTo>
                    <a:pt x="169" y="68"/>
                  </a:lnTo>
                  <a:lnTo>
                    <a:pt x="167" y="60"/>
                  </a:lnTo>
                  <a:lnTo>
                    <a:pt x="164" y="53"/>
                  </a:lnTo>
                  <a:lnTo>
                    <a:pt x="160" y="45"/>
                  </a:lnTo>
                  <a:lnTo>
                    <a:pt x="155" y="37"/>
                  </a:lnTo>
                  <a:lnTo>
                    <a:pt x="150" y="31"/>
                  </a:lnTo>
                  <a:lnTo>
                    <a:pt x="146" y="25"/>
                  </a:lnTo>
                  <a:lnTo>
                    <a:pt x="140" y="19"/>
                  </a:lnTo>
                  <a:lnTo>
                    <a:pt x="132" y="15"/>
                  </a:lnTo>
                  <a:lnTo>
                    <a:pt x="126" y="10"/>
                  </a:lnTo>
                  <a:lnTo>
                    <a:pt x="119" y="7"/>
                  </a:lnTo>
                  <a:lnTo>
                    <a:pt x="111" y="4"/>
                  </a:lnTo>
                  <a:lnTo>
                    <a:pt x="102" y="1"/>
                  </a:lnTo>
                  <a:lnTo>
                    <a:pt x="94" y="1"/>
                  </a:lnTo>
                  <a:lnTo>
                    <a:pt x="85"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2679" name="Rectangle 39">
              <a:extLst>
                <a:ext uri="{FF2B5EF4-FFF2-40B4-BE49-F238E27FC236}">
                  <a16:creationId xmlns:a16="http://schemas.microsoft.com/office/drawing/2014/main" id="{22C12B36-3132-39E1-DC28-80CFA40FBBC7}"/>
                </a:ext>
              </a:extLst>
            </p:cNvPr>
            <p:cNvSpPr>
              <a:spLocks noChangeArrowheads="1"/>
            </p:cNvSpPr>
            <p:nvPr/>
          </p:nvSpPr>
          <p:spPr bwMode="auto">
            <a:xfrm>
              <a:off x="3626" y="1218"/>
              <a:ext cx="94"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D</a:t>
              </a:r>
              <a:endParaRPr lang="en-US" altLang="en-US"/>
            </a:p>
          </p:txBody>
        </p:sp>
        <p:sp>
          <p:nvSpPr>
            <p:cNvPr id="112680" name="Freeform 40">
              <a:extLst>
                <a:ext uri="{FF2B5EF4-FFF2-40B4-BE49-F238E27FC236}">
                  <a16:creationId xmlns:a16="http://schemas.microsoft.com/office/drawing/2014/main" id="{597C7958-4B52-4347-8C89-FDE201F39192}"/>
                </a:ext>
              </a:extLst>
            </p:cNvPr>
            <p:cNvSpPr>
              <a:spLocks/>
            </p:cNvSpPr>
            <p:nvPr/>
          </p:nvSpPr>
          <p:spPr bwMode="auto">
            <a:xfrm>
              <a:off x="2540" y="781"/>
              <a:ext cx="172" cy="172"/>
            </a:xfrm>
            <a:custGeom>
              <a:avLst/>
              <a:gdLst>
                <a:gd name="T0" fmla="*/ 78 w 172"/>
                <a:gd name="T1" fmla="*/ 2 h 172"/>
                <a:gd name="T2" fmla="*/ 61 w 172"/>
                <a:gd name="T3" fmla="*/ 5 h 172"/>
                <a:gd name="T4" fmla="*/ 44 w 172"/>
                <a:gd name="T5" fmla="*/ 11 h 172"/>
                <a:gd name="T6" fmla="*/ 32 w 172"/>
                <a:gd name="T7" fmla="*/ 20 h 172"/>
                <a:gd name="T8" fmla="*/ 20 w 172"/>
                <a:gd name="T9" fmla="*/ 32 h 172"/>
                <a:gd name="T10" fmla="*/ 11 w 172"/>
                <a:gd name="T11" fmla="*/ 46 h 172"/>
                <a:gd name="T12" fmla="*/ 5 w 172"/>
                <a:gd name="T13" fmla="*/ 61 h 172"/>
                <a:gd name="T14" fmla="*/ 0 w 172"/>
                <a:gd name="T15" fmla="*/ 77 h 172"/>
                <a:gd name="T16" fmla="*/ 0 w 172"/>
                <a:gd name="T17" fmla="*/ 94 h 172"/>
                <a:gd name="T18" fmla="*/ 5 w 172"/>
                <a:gd name="T19" fmla="*/ 111 h 172"/>
                <a:gd name="T20" fmla="*/ 11 w 172"/>
                <a:gd name="T21" fmla="*/ 126 h 172"/>
                <a:gd name="T22" fmla="*/ 20 w 172"/>
                <a:gd name="T23" fmla="*/ 140 h 172"/>
                <a:gd name="T24" fmla="*/ 32 w 172"/>
                <a:gd name="T25" fmla="*/ 152 h 172"/>
                <a:gd name="T26" fmla="*/ 44 w 172"/>
                <a:gd name="T27" fmla="*/ 161 h 172"/>
                <a:gd name="T28" fmla="*/ 61 w 172"/>
                <a:gd name="T29" fmla="*/ 167 h 172"/>
                <a:gd name="T30" fmla="*/ 78 w 172"/>
                <a:gd name="T31" fmla="*/ 170 h 172"/>
                <a:gd name="T32" fmla="*/ 94 w 172"/>
                <a:gd name="T33" fmla="*/ 170 h 172"/>
                <a:gd name="T34" fmla="*/ 111 w 172"/>
                <a:gd name="T35" fmla="*/ 167 h 172"/>
                <a:gd name="T36" fmla="*/ 126 w 172"/>
                <a:gd name="T37" fmla="*/ 161 h 172"/>
                <a:gd name="T38" fmla="*/ 140 w 172"/>
                <a:gd name="T39" fmla="*/ 152 h 172"/>
                <a:gd name="T40" fmla="*/ 152 w 172"/>
                <a:gd name="T41" fmla="*/ 140 h 172"/>
                <a:gd name="T42" fmla="*/ 161 w 172"/>
                <a:gd name="T43" fmla="*/ 126 h 172"/>
                <a:gd name="T44" fmla="*/ 167 w 172"/>
                <a:gd name="T45" fmla="*/ 111 h 172"/>
                <a:gd name="T46" fmla="*/ 170 w 172"/>
                <a:gd name="T47" fmla="*/ 94 h 172"/>
                <a:gd name="T48" fmla="*/ 170 w 172"/>
                <a:gd name="T49" fmla="*/ 77 h 172"/>
                <a:gd name="T50" fmla="*/ 167 w 172"/>
                <a:gd name="T51" fmla="*/ 61 h 172"/>
                <a:gd name="T52" fmla="*/ 161 w 172"/>
                <a:gd name="T53" fmla="*/ 46 h 172"/>
                <a:gd name="T54" fmla="*/ 152 w 172"/>
                <a:gd name="T55" fmla="*/ 32 h 172"/>
                <a:gd name="T56" fmla="*/ 140 w 172"/>
                <a:gd name="T57" fmla="*/ 20 h 172"/>
                <a:gd name="T58" fmla="*/ 126 w 172"/>
                <a:gd name="T59" fmla="*/ 11 h 172"/>
                <a:gd name="T60" fmla="*/ 111 w 172"/>
                <a:gd name="T61" fmla="*/ 5 h 172"/>
                <a:gd name="T62" fmla="*/ 94 w 172"/>
                <a:gd name="T63" fmla="*/ 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2" h="172">
                  <a:moveTo>
                    <a:pt x="85" y="0"/>
                  </a:moveTo>
                  <a:lnTo>
                    <a:pt x="78" y="2"/>
                  </a:lnTo>
                  <a:lnTo>
                    <a:pt x="68" y="2"/>
                  </a:lnTo>
                  <a:lnTo>
                    <a:pt x="61" y="5"/>
                  </a:lnTo>
                  <a:lnTo>
                    <a:pt x="52" y="8"/>
                  </a:lnTo>
                  <a:lnTo>
                    <a:pt x="44" y="11"/>
                  </a:lnTo>
                  <a:lnTo>
                    <a:pt x="38" y="15"/>
                  </a:lnTo>
                  <a:lnTo>
                    <a:pt x="32" y="20"/>
                  </a:lnTo>
                  <a:lnTo>
                    <a:pt x="26" y="26"/>
                  </a:lnTo>
                  <a:lnTo>
                    <a:pt x="20" y="32"/>
                  </a:lnTo>
                  <a:lnTo>
                    <a:pt x="15" y="38"/>
                  </a:lnTo>
                  <a:lnTo>
                    <a:pt x="11" y="46"/>
                  </a:lnTo>
                  <a:lnTo>
                    <a:pt x="6" y="53"/>
                  </a:lnTo>
                  <a:lnTo>
                    <a:pt x="5" y="61"/>
                  </a:lnTo>
                  <a:lnTo>
                    <a:pt x="2" y="68"/>
                  </a:lnTo>
                  <a:lnTo>
                    <a:pt x="0" y="77"/>
                  </a:lnTo>
                  <a:lnTo>
                    <a:pt x="0" y="87"/>
                  </a:lnTo>
                  <a:lnTo>
                    <a:pt x="0" y="94"/>
                  </a:lnTo>
                  <a:lnTo>
                    <a:pt x="2" y="103"/>
                  </a:lnTo>
                  <a:lnTo>
                    <a:pt x="5" y="111"/>
                  </a:lnTo>
                  <a:lnTo>
                    <a:pt x="6" y="118"/>
                  </a:lnTo>
                  <a:lnTo>
                    <a:pt x="11" y="126"/>
                  </a:lnTo>
                  <a:lnTo>
                    <a:pt x="15" y="134"/>
                  </a:lnTo>
                  <a:lnTo>
                    <a:pt x="20" y="140"/>
                  </a:lnTo>
                  <a:lnTo>
                    <a:pt x="26" y="146"/>
                  </a:lnTo>
                  <a:lnTo>
                    <a:pt x="32" y="152"/>
                  </a:lnTo>
                  <a:lnTo>
                    <a:pt x="38" y="156"/>
                  </a:lnTo>
                  <a:lnTo>
                    <a:pt x="44" y="161"/>
                  </a:lnTo>
                  <a:lnTo>
                    <a:pt x="52" y="164"/>
                  </a:lnTo>
                  <a:lnTo>
                    <a:pt x="61" y="167"/>
                  </a:lnTo>
                  <a:lnTo>
                    <a:pt x="68" y="170"/>
                  </a:lnTo>
                  <a:lnTo>
                    <a:pt x="78" y="170"/>
                  </a:lnTo>
                  <a:lnTo>
                    <a:pt x="85" y="172"/>
                  </a:lnTo>
                  <a:lnTo>
                    <a:pt x="94" y="170"/>
                  </a:lnTo>
                  <a:lnTo>
                    <a:pt x="103" y="170"/>
                  </a:lnTo>
                  <a:lnTo>
                    <a:pt x="111" y="167"/>
                  </a:lnTo>
                  <a:lnTo>
                    <a:pt x="119" y="164"/>
                  </a:lnTo>
                  <a:lnTo>
                    <a:pt x="126" y="161"/>
                  </a:lnTo>
                  <a:lnTo>
                    <a:pt x="134" y="156"/>
                  </a:lnTo>
                  <a:lnTo>
                    <a:pt x="140" y="152"/>
                  </a:lnTo>
                  <a:lnTo>
                    <a:pt x="146" y="146"/>
                  </a:lnTo>
                  <a:lnTo>
                    <a:pt x="152" y="140"/>
                  </a:lnTo>
                  <a:lnTo>
                    <a:pt x="157" y="134"/>
                  </a:lnTo>
                  <a:lnTo>
                    <a:pt x="161" y="126"/>
                  </a:lnTo>
                  <a:lnTo>
                    <a:pt x="164" y="118"/>
                  </a:lnTo>
                  <a:lnTo>
                    <a:pt x="167" y="111"/>
                  </a:lnTo>
                  <a:lnTo>
                    <a:pt x="169" y="103"/>
                  </a:lnTo>
                  <a:lnTo>
                    <a:pt x="170" y="94"/>
                  </a:lnTo>
                  <a:lnTo>
                    <a:pt x="172" y="87"/>
                  </a:lnTo>
                  <a:lnTo>
                    <a:pt x="170" y="77"/>
                  </a:lnTo>
                  <a:lnTo>
                    <a:pt x="169" y="68"/>
                  </a:lnTo>
                  <a:lnTo>
                    <a:pt x="167" y="61"/>
                  </a:lnTo>
                  <a:lnTo>
                    <a:pt x="164" y="53"/>
                  </a:lnTo>
                  <a:lnTo>
                    <a:pt x="161" y="46"/>
                  </a:lnTo>
                  <a:lnTo>
                    <a:pt x="157" y="38"/>
                  </a:lnTo>
                  <a:lnTo>
                    <a:pt x="152" y="32"/>
                  </a:lnTo>
                  <a:lnTo>
                    <a:pt x="146" y="26"/>
                  </a:lnTo>
                  <a:lnTo>
                    <a:pt x="140" y="20"/>
                  </a:lnTo>
                  <a:lnTo>
                    <a:pt x="134" y="15"/>
                  </a:lnTo>
                  <a:lnTo>
                    <a:pt x="126" y="11"/>
                  </a:lnTo>
                  <a:lnTo>
                    <a:pt x="119" y="8"/>
                  </a:lnTo>
                  <a:lnTo>
                    <a:pt x="111" y="5"/>
                  </a:lnTo>
                  <a:lnTo>
                    <a:pt x="103" y="2"/>
                  </a:lnTo>
                  <a:lnTo>
                    <a:pt x="94" y="2"/>
                  </a:lnTo>
                  <a:lnTo>
                    <a:pt x="85" y="0"/>
                  </a:lnTo>
                  <a:close/>
                </a:path>
              </a:pathLst>
            </a:custGeom>
            <a:solidFill>
              <a:srgbClr val="00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2681" name="Freeform 41">
              <a:extLst>
                <a:ext uri="{FF2B5EF4-FFF2-40B4-BE49-F238E27FC236}">
                  <a16:creationId xmlns:a16="http://schemas.microsoft.com/office/drawing/2014/main" id="{1A2C49D0-EFD7-D922-C82F-AC5E80B9947A}"/>
                </a:ext>
              </a:extLst>
            </p:cNvPr>
            <p:cNvSpPr>
              <a:spLocks/>
            </p:cNvSpPr>
            <p:nvPr/>
          </p:nvSpPr>
          <p:spPr bwMode="auto">
            <a:xfrm>
              <a:off x="2540" y="781"/>
              <a:ext cx="172" cy="172"/>
            </a:xfrm>
            <a:custGeom>
              <a:avLst/>
              <a:gdLst>
                <a:gd name="T0" fmla="*/ 78 w 172"/>
                <a:gd name="T1" fmla="*/ 2 h 172"/>
                <a:gd name="T2" fmla="*/ 61 w 172"/>
                <a:gd name="T3" fmla="*/ 5 h 172"/>
                <a:gd name="T4" fmla="*/ 44 w 172"/>
                <a:gd name="T5" fmla="*/ 11 h 172"/>
                <a:gd name="T6" fmla="*/ 32 w 172"/>
                <a:gd name="T7" fmla="*/ 20 h 172"/>
                <a:gd name="T8" fmla="*/ 20 w 172"/>
                <a:gd name="T9" fmla="*/ 32 h 172"/>
                <a:gd name="T10" fmla="*/ 11 w 172"/>
                <a:gd name="T11" fmla="*/ 46 h 172"/>
                <a:gd name="T12" fmla="*/ 5 w 172"/>
                <a:gd name="T13" fmla="*/ 61 h 172"/>
                <a:gd name="T14" fmla="*/ 0 w 172"/>
                <a:gd name="T15" fmla="*/ 77 h 172"/>
                <a:gd name="T16" fmla="*/ 0 w 172"/>
                <a:gd name="T17" fmla="*/ 94 h 172"/>
                <a:gd name="T18" fmla="*/ 5 w 172"/>
                <a:gd name="T19" fmla="*/ 111 h 172"/>
                <a:gd name="T20" fmla="*/ 11 w 172"/>
                <a:gd name="T21" fmla="*/ 126 h 172"/>
                <a:gd name="T22" fmla="*/ 20 w 172"/>
                <a:gd name="T23" fmla="*/ 140 h 172"/>
                <a:gd name="T24" fmla="*/ 32 w 172"/>
                <a:gd name="T25" fmla="*/ 152 h 172"/>
                <a:gd name="T26" fmla="*/ 44 w 172"/>
                <a:gd name="T27" fmla="*/ 161 h 172"/>
                <a:gd name="T28" fmla="*/ 61 w 172"/>
                <a:gd name="T29" fmla="*/ 167 h 172"/>
                <a:gd name="T30" fmla="*/ 78 w 172"/>
                <a:gd name="T31" fmla="*/ 170 h 172"/>
                <a:gd name="T32" fmla="*/ 94 w 172"/>
                <a:gd name="T33" fmla="*/ 170 h 172"/>
                <a:gd name="T34" fmla="*/ 111 w 172"/>
                <a:gd name="T35" fmla="*/ 167 h 172"/>
                <a:gd name="T36" fmla="*/ 126 w 172"/>
                <a:gd name="T37" fmla="*/ 161 h 172"/>
                <a:gd name="T38" fmla="*/ 140 w 172"/>
                <a:gd name="T39" fmla="*/ 152 h 172"/>
                <a:gd name="T40" fmla="*/ 152 w 172"/>
                <a:gd name="T41" fmla="*/ 140 h 172"/>
                <a:gd name="T42" fmla="*/ 161 w 172"/>
                <a:gd name="T43" fmla="*/ 126 h 172"/>
                <a:gd name="T44" fmla="*/ 167 w 172"/>
                <a:gd name="T45" fmla="*/ 111 h 172"/>
                <a:gd name="T46" fmla="*/ 170 w 172"/>
                <a:gd name="T47" fmla="*/ 94 h 172"/>
                <a:gd name="T48" fmla="*/ 170 w 172"/>
                <a:gd name="T49" fmla="*/ 77 h 172"/>
                <a:gd name="T50" fmla="*/ 167 w 172"/>
                <a:gd name="T51" fmla="*/ 61 h 172"/>
                <a:gd name="T52" fmla="*/ 161 w 172"/>
                <a:gd name="T53" fmla="*/ 46 h 172"/>
                <a:gd name="T54" fmla="*/ 152 w 172"/>
                <a:gd name="T55" fmla="*/ 32 h 172"/>
                <a:gd name="T56" fmla="*/ 140 w 172"/>
                <a:gd name="T57" fmla="*/ 20 h 172"/>
                <a:gd name="T58" fmla="*/ 126 w 172"/>
                <a:gd name="T59" fmla="*/ 11 h 172"/>
                <a:gd name="T60" fmla="*/ 111 w 172"/>
                <a:gd name="T61" fmla="*/ 5 h 172"/>
                <a:gd name="T62" fmla="*/ 94 w 172"/>
                <a:gd name="T63" fmla="*/ 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2" h="172">
                  <a:moveTo>
                    <a:pt x="85" y="0"/>
                  </a:moveTo>
                  <a:lnTo>
                    <a:pt x="78" y="2"/>
                  </a:lnTo>
                  <a:lnTo>
                    <a:pt x="68" y="2"/>
                  </a:lnTo>
                  <a:lnTo>
                    <a:pt x="61" y="5"/>
                  </a:lnTo>
                  <a:lnTo>
                    <a:pt x="52" y="8"/>
                  </a:lnTo>
                  <a:lnTo>
                    <a:pt x="44" y="11"/>
                  </a:lnTo>
                  <a:lnTo>
                    <a:pt x="38" y="15"/>
                  </a:lnTo>
                  <a:lnTo>
                    <a:pt x="32" y="20"/>
                  </a:lnTo>
                  <a:lnTo>
                    <a:pt x="26" y="26"/>
                  </a:lnTo>
                  <a:lnTo>
                    <a:pt x="20" y="32"/>
                  </a:lnTo>
                  <a:lnTo>
                    <a:pt x="15" y="38"/>
                  </a:lnTo>
                  <a:lnTo>
                    <a:pt x="11" y="46"/>
                  </a:lnTo>
                  <a:lnTo>
                    <a:pt x="6" y="53"/>
                  </a:lnTo>
                  <a:lnTo>
                    <a:pt x="5" y="61"/>
                  </a:lnTo>
                  <a:lnTo>
                    <a:pt x="2" y="68"/>
                  </a:lnTo>
                  <a:lnTo>
                    <a:pt x="0" y="77"/>
                  </a:lnTo>
                  <a:lnTo>
                    <a:pt x="0" y="87"/>
                  </a:lnTo>
                  <a:lnTo>
                    <a:pt x="0" y="94"/>
                  </a:lnTo>
                  <a:lnTo>
                    <a:pt x="2" y="103"/>
                  </a:lnTo>
                  <a:lnTo>
                    <a:pt x="5" y="111"/>
                  </a:lnTo>
                  <a:lnTo>
                    <a:pt x="6" y="118"/>
                  </a:lnTo>
                  <a:lnTo>
                    <a:pt x="11" y="126"/>
                  </a:lnTo>
                  <a:lnTo>
                    <a:pt x="15" y="134"/>
                  </a:lnTo>
                  <a:lnTo>
                    <a:pt x="20" y="140"/>
                  </a:lnTo>
                  <a:lnTo>
                    <a:pt x="26" y="146"/>
                  </a:lnTo>
                  <a:lnTo>
                    <a:pt x="32" y="152"/>
                  </a:lnTo>
                  <a:lnTo>
                    <a:pt x="38" y="156"/>
                  </a:lnTo>
                  <a:lnTo>
                    <a:pt x="44" y="161"/>
                  </a:lnTo>
                  <a:lnTo>
                    <a:pt x="52" y="164"/>
                  </a:lnTo>
                  <a:lnTo>
                    <a:pt x="61" y="167"/>
                  </a:lnTo>
                  <a:lnTo>
                    <a:pt x="68" y="170"/>
                  </a:lnTo>
                  <a:lnTo>
                    <a:pt x="78" y="170"/>
                  </a:lnTo>
                  <a:lnTo>
                    <a:pt x="85" y="172"/>
                  </a:lnTo>
                  <a:lnTo>
                    <a:pt x="94" y="170"/>
                  </a:lnTo>
                  <a:lnTo>
                    <a:pt x="103" y="170"/>
                  </a:lnTo>
                  <a:lnTo>
                    <a:pt x="111" y="167"/>
                  </a:lnTo>
                  <a:lnTo>
                    <a:pt x="119" y="164"/>
                  </a:lnTo>
                  <a:lnTo>
                    <a:pt x="126" y="161"/>
                  </a:lnTo>
                  <a:lnTo>
                    <a:pt x="134" y="156"/>
                  </a:lnTo>
                  <a:lnTo>
                    <a:pt x="140" y="152"/>
                  </a:lnTo>
                  <a:lnTo>
                    <a:pt x="146" y="146"/>
                  </a:lnTo>
                  <a:lnTo>
                    <a:pt x="152" y="140"/>
                  </a:lnTo>
                  <a:lnTo>
                    <a:pt x="157" y="134"/>
                  </a:lnTo>
                  <a:lnTo>
                    <a:pt x="161" y="126"/>
                  </a:lnTo>
                  <a:lnTo>
                    <a:pt x="164" y="118"/>
                  </a:lnTo>
                  <a:lnTo>
                    <a:pt x="167" y="111"/>
                  </a:lnTo>
                  <a:lnTo>
                    <a:pt x="169" y="103"/>
                  </a:lnTo>
                  <a:lnTo>
                    <a:pt x="170" y="94"/>
                  </a:lnTo>
                  <a:lnTo>
                    <a:pt x="172" y="87"/>
                  </a:lnTo>
                  <a:lnTo>
                    <a:pt x="170" y="77"/>
                  </a:lnTo>
                  <a:lnTo>
                    <a:pt x="169" y="68"/>
                  </a:lnTo>
                  <a:lnTo>
                    <a:pt x="167" y="61"/>
                  </a:lnTo>
                  <a:lnTo>
                    <a:pt x="164" y="53"/>
                  </a:lnTo>
                  <a:lnTo>
                    <a:pt x="161" y="46"/>
                  </a:lnTo>
                  <a:lnTo>
                    <a:pt x="157" y="38"/>
                  </a:lnTo>
                  <a:lnTo>
                    <a:pt x="152" y="32"/>
                  </a:lnTo>
                  <a:lnTo>
                    <a:pt x="146" y="26"/>
                  </a:lnTo>
                  <a:lnTo>
                    <a:pt x="140" y="20"/>
                  </a:lnTo>
                  <a:lnTo>
                    <a:pt x="134" y="15"/>
                  </a:lnTo>
                  <a:lnTo>
                    <a:pt x="126" y="11"/>
                  </a:lnTo>
                  <a:lnTo>
                    <a:pt x="119" y="8"/>
                  </a:lnTo>
                  <a:lnTo>
                    <a:pt x="111" y="5"/>
                  </a:lnTo>
                  <a:lnTo>
                    <a:pt x="103" y="2"/>
                  </a:lnTo>
                  <a:lnTo>
                    <a:pt x="94" y="2"/>
                  </a:lnTo>
                  <a:lnTo>
                    <a:pt x="85"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2682" name="Rectangle 42">
              <a:extLst>
                <a:ext uri="{FF2B5EF4-FFF2-40B4-BE49-F238E27FC236}">
                  <a16:creationId xmlns:a16="http://schemas.microsoft.com/office/drawing/2014/main" id="{53D5895A-5E1D-5336-C60A-052B43C980C5}"/>
                </a:ext>
              </a:extLst>
            </p:cNvPr>
            <p:cNvSpPr>
              <a:spLocks noChangeArrowheads="1"/>
            </p:cNvSpPr>
            <p:nvPr/>
          </p:nvSpPr>
          <p:spPr bwMode="auto">
            <a:xfrm>
              <a:off x="2571" y="801"/>
              <a:ext cx="133"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M</a:t>
              </a:r>
              <a:endParaRPr lang="en-US" altLang="en-US"/>
            </a:p>
          </p:txBody>
        </p:sp>
        <p:sp>
          <p:nvSpPr>
            <p:cNvPr id="112683" name="Freeform 43">
              <a:extLst>
                <a:ext uri="{FF2B5EF4-FFF2-40B4-BE49-F238E27FC236}">
                  <a16:creationId xmlns:a16="http://schemas.microsoft.com/office/drawing/2014/main" id="{49645993-24B7-8277-FE81-B7D76FF3703B}"/>
                </a:ext>
              </a:extLst>
            </p:cNvPr>
            <p:cNvSpPr>
              <a:spLocks/>
            </p:cNvSpPr>
            <p:nvPr/>
          </p:nvSpPr>
          <p:spPr bwMode="auto">
            <a:xfrm>
              <a:off x="2788" y="1826"/>
              <a:ext cx="170" cy="170"/>
            </a:xfrm>
            <a:custGeom>
              <a:avLst/>
              <a:gdLst>
                <a:gd name="T0" fmla="*/ 76 w 170"/>
                <a:gd name="T1" fmla="*/ 0 h 170"/>
                <a:gd name="T2" fmla="*/ 59 w 170"/>
                <a:gd name="T3" fmla="*/ 3 h 170"/>
                <a:gd name="T4" fmla="*/ 44 w 170"/>
                <a:gd name="T5" fmla="*/ 10 h 170"/>
                <a:gd name="T6" fmla="*/ 30 w 170"/>
                <a:gd name="T7" fmla="*/ 19 h 170"/>
                <a:gd name="T8" fmla="*/ 18 w 170"/>
                <a:gd name="T9" fmla="*/ 30 h 170"/>
                <a:gd name="T10" fmla="*/ 9 w 170"/>
                <a:gd name="T11" fmla="*/ 44 h 170"/>
                <a:gd name="T12" fmla="*/ 3 w 170"/>
                <a:gd name="T13" fmla="*/ 59 h 170"/>
                <a:gd name="T14" fmla="*/ 0 w 170"/>
                <a:gd name="T15" fmla="*/ 75 h 170"/>
                <a:gd name="T16" fmla="*/ 0 w 170"/>
                <a:gd name="T17" fmla="*/ 94 h 170"/>
                <a:gd name="T18" fmla="*/ 3 w 170"/>
                <a:gd name="T19" fmla="*/ 110 h 170"/>
                <a:gd name="T20" fmla="*/ 9 w 170"/>
                <a:gd name="T21" fmla="*/ 126 h 170"/>
                <a:gd name="T22" fmla="*/ 18 w 170"/>
                <a:gd name="T23" fmla="*/ 139 h 170"/>
                <a:gd name="T24" fmla="*/ 30 w 170"/>
                <a:gd name="T25" fmla="*/ 150 h 170"/>
                <a:gd name="T26" fmla="*/ 44 w 170"/>
                <a:gd name="T27" fmla="*/ 160 h 170"/>
                <a:gd name="T28" fmla="*/ 59 w 170"/>
                <a:gd name="T29" fmla="*/ 167 h 170"/>
                <a:gd name="T30" fmla="*/ 76 w 170"/>
                <a:gd name="T31" fmla="*/ 170 h 170"/>
                <a:gd name="T32" fmla="*/ 94 w 170"/>
                <a:gd name="T33" fmla="*/ 170 h 170"/>
                <a:gd name="T34" fmla="*/ 111 w 170"/>
                <a:gd name="T35" fmla="*/ 167 h 170"/>
                <a:gd name="T36" fmla="*/ 126 w 170"/>
                <a:gd name="T37" fmla="*/ 160 h 170"/>
                <a:gd name="T38" fmla="*/ 140 w 170"/>
                <a:gd name="T39" fmla="*/ 150 h 170"/>
                <a:gd name="T40" fmla="*/ 150 w 170"/>
                <a:gd name="T41" fmla="*/ 139 h 170"/>
                <a:gd name="T42" fmla="*/ 159 w 170"/>
                <a:gd name="T43" fmla="*/ 126 h 170"/>
                <a:gd name="T44" fmla="*/ 167 w 170"/>
                <a:gd name="T45" fmla="*/ 110 h 170"/>
                <a:gd name="T46" fmla="*/ 170 w 170"/>
                <a:gd name="T47" fmla="*/ 94 h 170"/>
                <a:gd name="T48" fmla="*/ 170 w 170"/>
                <a:gd name="T49" fmla="*/ 75 h 170"/>
                <a:gd name="T50" fmla="*/ 167 w 170"/>
                <a:gd name="T51" fmla="*/ 59 h 170"/>
                <a:gd name="T52" fmla="*/ 159 w 170"/>
                <a:gd name="T53" fmla="*/ 44 h 170"/>
                <a:gd name="T54" fmla="*/ 150 w 170"/>
                <a:gd name="T55" fmla="*/ 30 h 170"/>
                <a:gd name="T56" fmla="*/ 140 w 170"/>
                <a:gd name="T57" fmla="*/ 19 h 170"/>
                <a:gd name="T58" fmla="*/ 126 w 170"/>
                <a:gd name="T59" fmla="*/ 10 h 170"/>
                <a:gd name="T60" fmla="*/ 111 w 170"/>
                <a:gd name="T61" fmla="*/ 3 h 170"/>
                <a:gd name="T62" fmla="*/ 94 w 170"/>
                <a:gd name="T63"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 h="170">
                  <a:moveTo>
                    <a:pt x="85" y="0"/>
                  </a:moveTo>
                  <a:lnTo>
                    <a:pt x="76" y="0"/>
                  </a:lnTo>
                  <a:lnTo>
                    <a:pt x="67" y="1"/>
                  </a:lnTo>
                  <a:lnTo>
                    <a:pt x="59" y="3"/>
                  </a:lnTo>
                  <a:lnTo>
                    <a:pt x="52" y="6"/>
                  </a:lnTo>
                  <a:lnTo>
                    <a:pt x="44" y="10"/>
                  </a:lnTo>
                  <a:lnTo>
                    <a:pt x="36" y="13"/>
                  </a:lnTo>
                  <a:lnTo>
                    <a:pt x="30" y="19"/>
                  </a:lnTo>
                  <a:lnTo>
                    <a:pt x="24" y="24"/>
                  </a:lnTo>
                  <a:lnTo>
                    <a:pt x="18" y="30"/>
                  </a:lnTo>
                  <a:lnTo>
                    <a:pt x="14" y="37"/>
                  </a:lnTo>
                  <a:lnTo>
                    <a:pt x="9" y="44"/>
                  </a:lnTo>
                  <a:lnTo>
                    <a:pt x="6" y="51"/>
                  </a:lnTo>
                  <a:lnTo>
                    <a:pt x="3" y="59"/>
                  </a:lnTo>
                  <a:lnTo>
                    <a:pt x="1" y="68"/>
                  </a:lnTo>
                  <a:lnTo>
                    <a:pt x="0" y="75"/>
                  </a:lnTo>
                  <a:lnTo>
                    <a:pt x="0" y="85"/>
                  </a:lnTo>
                  <a:lnTo>
                    <a:pt x="0" y="94"/>
                  </a:lnTo>
                  <a:lnTo>
                    <a:pt x="1" y="101"/>
                  </a:lnTo>
                  <a:lnTo>
                    <a:pt x="3" y="110"/>
                  </a:lnTo>
                  <a:lnTo>
                    <a:pt x="6" y="118"/>
                  </a:lnTo>
                  <a:lnTo>
                    <a:pt x="9" y="126"/>
                  </a:lnTo>
                  <a:lnTo>
                    <a:pt x="14" y="133"/>
                  </a:lnTo>
                  <a:lnTo>
                    <a:pt x="18" y="139"/>
                  </a:lnTo>
                  <a:lnTo>
                    <a:pt x="24" y="145"/>
                  </a:lnTo>
                  <a:lnTo>
                    <a:pt x="30" y="150"/>
                  </a:lnTo>
                  <a:lnTo>
                    <a:pt x="36" y="156"/>
                  </a:lnTo>
                  <a:lnTo>
                    <a:pt x="44" y="160"/>
                  </a:lnTo>
                  <a:lnTo>
                    <a:pt x="52" y="163"/>
                  </a:lnTo>
                  <a:lnTo>
                    <a:pt x="59" y="167"/>
                  </a:lnTo>
                  <a:lnTo>
                    <a:pt x="67" y="168"/>
                  </a:lnTo>
                  <a:lnTo>
                    <a:pt x="76" y="170"/>
                  </a:lnTo>
                  <a:lnTo>
                    <a:pt x="85" y="170"/>
                  </a:lnTo>
                  <a:lnTo>
                    <a:pt x="94" y="170"/>
                  </a:lnTo>
                  <a:lnTo>
                    <a:pt x="102" y="168"/>
                  </a:lnTo>
                  <a:lnTo>
                    <a:pt x="111" y="167"/>
                  </a:lnTo>
                  <a:lnTo>
                    <a:pt x="118" y="163"/>
                  </a:lnTo>
                  <a:lnTo>
                    <a:pt x="126" y="160"/>
                  </a:lnTo>
                  <a:lnTo>
                    <a:pt x="132" y="156"/>
                  </a:lnTo>
                  <a:lnTo>
                    <a:pt x="140" y="150"/>
                  </a:lnTo>
                  <a:lnTo>
                    <a:pt x="146" y="145"/>
                  </a:lnTo>
                  <a:lnTo>
                    <a:pt x="150" y="139"/>
                  </a:lnTo>
                  <a:lnTo>
                    <a:pt x="155" y="133"/>
                  </a:lnTo>
                  <a:lnTo>
                    <a:pt x="159" y="126"/>
                  </a:lnTo>
                  <a:lnTo>
                    <a:pt x="164" y="118"/>
                  </a:lnTo>
                  <a:lnTo>
                    <a:pt x="167" y="110"/>
                  </a:lnTo>
                  <a:lnTo>
                    <a:pt x="169" y="101"/>
                  </a:lnTo>
                  <a:lnTo>
                    <a:pt x="170" y="94"/>
                  </a:lnTo>
                  <a:lnTo>
                    <a:pt x="170" y="85"/>
                  </a:lnTo>
                  <a:lnTo>
                    <a:pt x="170" y="75"/>
                  </a:lnTo>
                  <a:lnTo>
                    <a:pt x="169" y="68"/>
                  </a:lnTo>
                  <a:lnTo>
                    <a:pt x="167" y="59"/>
                  </a:lnTo>
                  <a:lnTo>
                    <a:pt x="164" y="51"/>
                  </a:lnTo>
                  <a:lnTo>
                    <a:pt x="159" y="44"/>
                  </a:lnTo>
                  <a:lnTo>
                    <a:pt x="155" y="37"/>
                  </a:lnTo>
                  <a:lnTo>
                    <a:pt x="150" y="30"/>
                  </a:lnTo>
                  <a:lnTo>
                    <a:pt x="146" y="24"/>
                  </a:lnTo>
                  <a:lnTo>
                    <a:pt x="140" y="19"/>
                  </a:lnTo>
                  <a:lnTo>
                    <a:pt x="132" y="13"/>
                  </a:lnTo>
                  <a:lnTo>
                    <a:pt x="126" y="10"/>
                  </a:lnTo>
                  <a:lnTo>
                    <a:pt x="118" y="6"/>
                  </a:lnTo>
                  <a:lnTo>
                    <a:pt x="111" y="3"/>
                  </a:lnTo>
                  <a:lnTo>
                    <a:pt x="102" y="1"/>
                  </a:lnTo>
                  <a:lnTo>
                    <a:pt x="94" y="0"/>
                  </a:lnTo>
                  <a:lnTo>
                    <a:pt x="85" y="0"/>
                  </a:lnTo>
                  <a:close/>
                </a:path>
              </a:pathLst>
            </a:custGeom>
            <a:solidFill>
              <a:srgbClr val="00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2684" name="Freeform 44">
              <a:extLst>
                <a:ext uri="{FF2B5EF4-FFF2-40B4-BE49-F238E27FC236}">
                  <a16:creationId xmlns:a16="http://schemas.microsoft.com/office/drawing/2014/main" id="{3C952ABD-8B0B-19B1-2EE9-411BDCA1F12C}"/>
                </a:ext>
              </a:extLst>
            </p:cNvPr>
            <p:cNvSpPr>
              <a:spLocks/>
            </p:cNvSpPr>
            <p:nvPr/>
          </p:nvSpPr>
          <p:spPr bwMode="auto">
            <a:xfrm>
              <a:off x="2788" y="1826"/>
              <a:ext cx="170" cy="170"/>
            </a:xfrm>
            <a:custGeom>
              <a:avLst/>
              <a:gdLst>
                <a:gd name="T0" fmla="*/ 76 w 170"/>
                <a:gd name="T1" fmla="*/ 0 h 170"/>
                <a:gd name="T2" fmla="*/ 59 w 170"/>
                <a:gd name="T3" fmla="*/ 3 h 170"/>
                <a:gd name="T4" fmla="*/ 44 w 170"/>
                <a:gd name="T5" fmla="*/ 10 h 170"/>
                <a:gd name="T6" fmla="*/ 30 w 170"/>
                <a:gd name="T7" fmla="*/ 19 h 170"/>
                <a:gd name="T8" fmla="*/ 18 w 170"/>
                <a:gd name="T9" fmla="*/ 30 h 170"/>
                <a:gd name="T10" fmla="*/ 9 w 170"/>
                <a:gd name="T11" fmla="*/ 44 h 170"/>
                <a:gd name="T12" fmla="*/ 3 w 170"/>
                <a:gd name="T13" fmla="*/ 59 h 170"/>
                <a:gd name="T14" fmla="*/ 0 w 170"/>
                <a:gd name="T15" fmla="*/ 75 h 170"/>
                <a:gd name="T16" fmla="*/ 0 w 170"/>
                <a:gd name="T17" fmla="*/ 94 h 170"/>
                <a:gd name="T18" fmla="*/ 3 w 170"/>
                <a:gd name="T19" fmla="*/ 110 h 170"/>
                <a:gd name="T20" fmla="*/ 9 w 170"/>
                <a:gd name="T21" fmla="*/ 126 h 170"/>
                <a:gd name="T22" fmla="*/ 18 w 170"/>
                <a:gd name="T23" fmla="*/ 139 h 170"/>
                <a:gd name="T24" fmla="*/ 30 w 170"/>
                <a:gd name="T25" fmla="*/ 150 h 170"/>
                <a:gd name="T26" fmla="*/ 44 w 170"/>
                <a:gd name="T27" fmla="*/ 160 h 170"/>
                <a:gd name="T28" fmla="*/ 59 w 170"/>
                <a:gd name="T29" fmla="*/ 167 h 170"/>
                <a:gd name="T30" fmla="*/ 76 w 170"/>
                <a:gd name="T31" fmla="*/ 170 h 170"/>
                <a:gd name="T32" fmla="*/ 94 w 170"/>
                <a:gd name="T33" fmla="*/ 170 h 170"/>
                <a:gd name="T34" fmla="*/ 111 w 170"/>
                <a:gd name="T35" fmla="*/ 167 h 170"/>
                <a:gd name="T36" fmla="*/ 126 w 170"/>
                <a:gd name="T37" fmla="*/ 160 h 170"/>
                <a:gd name="T38" fmla="*/ 140 w 170"/>
                <a:gd name="T39" fmla="*/ 150 h 170"/>
                <a:gd name="T40" fmla="*/ 150 w 170"/>
                <a:gd name="T41" fmla="*/ 139 h 170"/>
                <a:gd name="T42" fmla="*/ 159 w 170"/>
                <a:gd name="T43" fmla="*/ 126 h 170"/>
                <a:gd name="T44" fmla="*/ 167 w 170"/>
                <a:gd name="T45" fmla="*/ 110 h 170"/>
                <a:gd name="T46" fmla="*/ 170 w 170"/>
                <a:gd name="T47" fmla="*/ 94 h 170"/>
                <a:gd name="T48" fmla="*/ 170 w 170"/>
                <a:gd name="T49" fmla="*/ 75 h 170"/>
                <a:gd name="T50" fmla="*/ 167 w 170"/>
                <a:gd name="T51" fmla="*/ 59 h 170"/>
                <a:gd name="T52" fmla="*/ 159 w 170"/>
                <a:gd name="T53" fmla="*/ 44 h 170"/>
                <a:gd name="T54" fmla="*/ 150 w 170"/>
                <a:gd name="T55" fmla="*/ 30 h 170"/>
                <a:gd name="T56" fmla="*/ 140 w 170"/>
                <a:gd name="T57" fmla="*/ 19 h 170"/>
                <a:gd name="T58" fmla="*/ 126 w 170"/>
                <a:gd name="T59" fmla="*/ 10 h 170"/>
                <a:gd name="T60" fmla="*/ 111 w 170"/>
                <a:gd name="T61" fmla="*/ 3 h 170"/>
                <a:gd name="T62" fmla="*/ 94 w 170"/>
                <a:gd name="T63"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 h="170">
                  <a:moveTo>
                    <a:pt x="85" y="0"/>
                  </a:moveTo>
                  <a:lnTo>
                    <a:pt x="76" y="0"/>
                  </a:lnTo>
                  <a:lnTo>
                    <a:pt x="67" y="1"/>
                  </a:lnTo>
                  <a:lnTo>
                    <a:pt x="59" y="3"/>
                  </a:lnTo>
                  <a:lnTo>
                    <a:pt x="52" y="6"/>
                  </a:lnTo>
                  <a:lnTo>
                    <a:pt x="44" y="10"/>
                  </a:lnTo>
                  <a:lnTo>
                    <a:pt x="36" y="13"/>
                  </a:lnTo>
                  <a:lnTo>
                    <a:pt x="30" y="19"/>
                  </a:lnTo>
                  <a:lnTo>
                    <a:pt x="24" y="24"/>
                  </a:lnTo>
                  <a:lnTo>
                    <a:pt x="18" y="30"/>
                  </a:lnTo>
                  <a:lnTo>
                    <a:pt x="14" y="37"/>
                  </a:lnTo>
                  <a:lnTo>
                    <a:pt x="9" y="44"/>
                  </a:lnTo>
                  <a:lnTo>
                    <a:pt x="6" y="51"/>
                  </a:lnTo>
                  <a:lnTo>
                    <a:pt x="3" y="59"/>
                  </a:lnTo>
                  <a:lnTo>
                    <a:pt x="1" y="68"/>
                  </a:lnTo>
                  <a:lnTo>
                    <a:pt x="0" y="75"/>
                  </a:lnTo>
                  <a:lnTo>
                    <a:pt x="0" y="85"/>
                  </a:lnTo>
                  <a:lnTo>
                    <a:pt x="0" y="94"/>
                  </a:lnTo>
                  <a:lnTo>
                    <a:pt x="1" y="101"/>
                  </a:lnTo>
                  <a:lnTo>
                    <a:pt x="3" y="110"/>
                  </a:lnTo>
                  <a:lnTo>
                    <a:pt x="6" y="118"/>
                  </a:lnTo>
                  <a:lnTo>
                    <a:pt x="9" y="126"/>
                  </a:lnTo>
                  <a:lnTo>
                    <a:pt x="14" y="133"/>
                  </a:lnTo>
                  <a:lnTo>
                    <a:pt x="18" y="139"/>
                  </a:lnTo>
                  <a:lnTo>
                    <a:pt x="24" y="145"/>
                  </a:lnTo>
                  <a:lnTo>
                    <a:pt x="30" y="150"/>
                  </a:lnTo>
                  <a:lnTo>
                    <a:pt x="36" y="156"/>
                  </a:lnTo>
                  <a:lnTo>
                    <a:pt x="44" y="160"/>
                  </a:lnTo>
                  <a:lnTo>
                    <a:pt x="52" y="163"/>
                  </a:lnTo>
                  <a:lnTo>
                    <a:pt x="59" y="167"/>
                  </a:lnTo>
                  <a:lnTo>
                    <a:pt x="67" y="168"/>
                  </a:lnTo>
                  <a:lnTo>
                    <a:pt x="76" y="170"/>
                  </a:lnTo>
                  <a:lnTo>
                    <a:pt x="85" y="170"/>
                  </a:lnTo>
                  <a:lnTo>
                    <a:pt x="94" y="170"/>
                  </a:lnTo>
                  <a:lnTo>
                    <a:pt x="102" y="168"/>
                  </a:lnTo>
                  <a:lnTo>
                    <a:pt x="111" y="167"/>
                  </a:lnTo>
                  <a:lnTo>
                    <a:pt x="118" y="163"/>
                  </a:lnTo>
                  <a:lnTo>
                    <a:pt x="126" y="160"/>
                  </a:lnTo>
                  <a:lnTo>
                    <a:pt x="132" y="156"/>
                  </a:lnTo>
                  <a:lnTo>
                    <a:pt x="140" y="150"/>
                  </a:lnTo>
                  <a:lnTo>
                    <a:pt x="146" y="145"/>
                  </a:lnTo>
                  <a:lnTo>
                    <a:pt x="150" y="139"/>
                  </a:lnTo>
                  <a:lnTo>
                    <a:pt x="155" y="133"/>
                  </a:lnTo>
                  <a:lnTo>
                    <a:pt x="159" y="126"/>
                  </a:lnTo>
                  <a:lnTo>
                    <a:pt x="164" y="118"/>
                  </a:lnTo>
                  <a:lnTo>
                    <a:pt x="167" y="110"/>
                  </a:lnTo>
                  <a:lnTo>
                    <a:pt x="169" y="101"/>
                  </a:lnTo>
                  <a:lnTo>
                    <a:pt x="170" y="94"/>
                  </a:lnTo>
                  <a:lnTo>
                    <a:pt x="170" y="85"/>
                  </a:lnTo>
                  <a:lnTo>
                    <a:pt x="170" y="75"/>
                  </a:lnTo>
                  <a:lnTo>
                    <a:pt x="169" y="68"/>
                  </a:lnTo>
                  <a:lnTo>
                    <a:pt x="167" y="59"/>
                  </a:lnTo>
                  <a:lnTo>
                    <a:pt x="164" y="51"/>
                  </a:lnTo>
                  <a:lnTo>
                    <a:pt x="159" y="44"/>
                  </a:lnTo>
                  <a:lnTo>
                    <a:pt x="155" y="37"/>
                  </a:lnTo>
                  <a:lnTo>
                    <a:pt x="150" y="30"/>
                  </a:lnTo>
                  <a:lnTo>
                    <a:pt x="146" y="24"/>
                  </a:lnTo>
                  <a:lnTo>
                    <a:pt x="140" y="19"/>
                  </a:lnTo>
                  <a:lnTo>
                    <a:pt x="132" y="13"/>
                  </a:lnTo>
                  <a:lnTo>
                    <a:pt x="126" y="10"/>
                  </a:lnTo>
                  <a:lnTo>
                    <a:pt x="118" y="6"/>
                  </a:lnTo>
                  <a:lnTo>
                    <a:pt x="111" y="3"/>
                  </a:lnTo>
                  <a:lnTo>
                    <a:pt x="102" y="1"/>
                  </a:lnTo>
                  <a:lnTo>
                    <a:pt x="94" y="0"/>
                  </a:lnTo>
                  <a:lnTo>
                    <a:pt x="85"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2685" name="Rectangle 45">
              <a:extLst>
                <a:ext uri="{FF2B5EF4-FFF2-40B4-BE49-F238E27FC236}">
                  <a16:creationId xmlns:a16="http://schemas.microsoft.com/office/drawing/2014/main" id="{9A1E3899-06B7-448B-0C75-D42BA91B4563}"/>
                </a:ext>
              </a:extLst>
            </p:cNvPr>
            <p:cNvSpPr>
              <a:spLocks noChangeArrowheads="1"/>
            </p:cNvSpPr>
            <p:nvPr/>
          </p:nvSpPr>
          <p:spPr bwMode="auto">
            <a:xfrm>
              <a:off x="2826" y="1846"/>
              <a:ext cx="79"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K</a:t>
              </a:r>
              <a:endParaRPr lang="en-US" altLang="en-US"/>
            </a:p>
          </p:txBody>
        </p:sp>
        <p:sp>
          <p:nvSpPr>
            <p:cNvPr id="112686" name="Freeform 46">
              <a:extLst>
                <a:ext uri="{FF2B5EF4-FFF2-40B4-BE49-F238E27FC236}">
                  <a16:creationId xmlns:a16="http://schemas.microsoft.com/office/drawing/2014/main" id="{A99C5F4B-86A7-884C-25F9-04D38DD96079}"/>
                </a:ext>
              </a:extLst>
            </p:cNvPr>
            <p:cNvSpPr>
              <a:spLocks/>
            </p:cNvSpPr>
            <p:nvPr/>
          </p:nvSpPr>
          <p:spPr bwMode="auto">
            <a:xfrm>
              <a:off x="242" y="1616"/>
              <a:ext cx="170" cy="172"/>
            </a:xfrm>
            <a:custGeom>
              <a:avLst/>
              <a:gdLst>
                <a:gd name="T0" fmla="*/ 76 w 170"/>
                <a:gd name="T1" fmla="*/ 2 h 172"/>
                <a:gd name="T2" fmla="*/ 59 w 170"/>
                <a:gd name="T3" fmla="*/ 5 h 172"/>
                <a:gd name="T4" fmla="*/ 44 w 170"/>
                <a:gd name="T5" fmla="*/ 11 h 172"/>
                <a:gd name="T6" fmla="*/ 30 w 170"/>
                <a:gd name="T7" fmla="*/ 20 h 172"/>
                <a:gd name="T8" fmla="*/ 18 w 170"/>
                <a:gd name="T9" fmla="*/ 32 h 172"/>
                <a:gd name="T10" fmla="*/ 9 w 170"/>
                <a:gd name="T11" fmla="*/ 46 h 172"/>
                <a:gd name="T12" fmla="*/ 3 w 170"/>
                <a:gd name="T13" fmla="*/ 61 h 172"/>
                <a:gd name="T14" fmla="*/ 0 w 170"/>
                <a:gd name="T15" fmla="*/ 77 h 172"/>
                <a:gd name="T16" fmla="*/ 0 w 170"/>
                <a:gd name="T17" fmla="*/ 94 h 172"/>
                <a:gd name="T18" fmla="*/ 3 w 170"/>
                <a:gd name="T19" fmla="*/ 111 h 172"/>
                <a:gd name="T20" fmla="*/ 9 w 170"/>
                <a:gd name="T21" fmla="*/ 126 h 172"/>
                <a:gd name="T22" fmla="*/ 18 w 170"/>
                <a:gd name="T23" fmla="*/ 140 h 172"/>
                <a:gd name="T24" fmla="*/ 30 w 170"/>
                <a:gd name="T25" fmla="*/ 152 h 172"/>
                <a:gd name="T26" fmla="*/ 44 w 170"/>
                <a:gd name="T27" fmla="*/ 161 h 172"/>
                <a:gd name="T28" fmla="*/ 59 w 170"/>
                <a:gd name="T29" fmla="*/ 167 h 172"/>
                <a:gd name="T30" fmla="*/ 76 w 170"/>
                <a:gd name="T31" fmla="*/ 170 h 172"/>
                <a:gd name="T32" fmla="*/ 94 w 170"/>
                <a:gd name="T33" fmla="*/ 170 h 172"/>
                <a:gd name="T34" fmla="*/ 111 w 170"/>
                <a:gd name="T35" fmla="*/ 167 h 172"/>
                <a:gd name="T36" fmla="*/ 126 w 170"/>
                <a:gd name="T37" fmla="*/ 161 h 172"/>
                <a:gd name="T38" fmla="*/ 139 w 170"/>
                <a:gd name="T39" fmla="*/ 152 h 172"/>
                <a:gd name="T40" fmla="*/ 150 w 170"/>
                <a:gd name="T41" fmla="*/ 140 h 172"/>
                <a:gd name="T42" fmla="*/ 159 w 170"/>
                <a:gd name="T43" fmla="*/ 126 h 172"/>
                <a:gd name="T44" fmla="*/ 165 w 170"/>
                <a:gd name="T45" fmla="*/ 111 h 172"/>
                <a:gd name="T46" fmla="*/ 170 w 170"/>
                <a:gd name="T47" fmla="*/ 94 h 172"/>
                <a:gd name="T48" fmla="*/ 170 w 170"/>
                <a:gd name="T49" fmla="*/ 77 h 172"/>
                <a:gd name="T50" fmla="*/ 165 w 170"/>
                <a:gd name="T51" fmla="*/ 61 h 172"/>
                <a:gd name="T52" fmla="*/ 159 w 170"/>
                <a:gd name="T53" fmla="*/ 46 h 172"/>
                <a:gd name="T54" fmla="*/ 150 w 170"/>
                <a:gd name="T55" fmla="*/ 32 h 172"/>
                <a:gd name="T56" fmla="*/ 139 w 170"/>
                <a:gd name="T57" fmla="*/ 20 h 172"/>
                <a:gd name="T58" fmla="*/ 126 w 170"/>
                <a:gd name="T59" fmla="*/ 11 h 172"/>
                <a:gd name="T60" fmla="*/ 111 w 170"/>
                <a:gd name="T61" fmla="*/ 5 h 172"/>
                <a:gd name="T62" fmla="*/ 94 w 170"/>
                <a:gd name="T63" fmla="*/ 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 h="172">
                  <a:moveTo>
                    <a:pt x="85" y="0"/>
                  </a:moveTo>
                  <a:lnTo>
                    <a:pt x="76" y="2"/>
                  </a:lnTo>
                  <a:lnTo>
                    <a:pt x="66" y="2"/>
                  </a:lnTo>
                  <a:lnTo>
                    <a:pt x="59" y="5"/>
                  </a:lnTo>
                  <a:lnTo>
                    <a:pt x="51" y="8"/>
                  </a:lnTo>
                  <a:lnTo>
                    <a:pt x="44" y="11"/>
                  </a:lnTo>
                  <a:lnTo>
                    <a:pt x="36" y="15"/>
                  </a:lnTo>
                  <a:lnTo>
                    <a:pt x="30" y="20"/>
                  </a:lnTo>
                  <a:lnTo>
                    <a:pt x="24" y="26"/>
                  </a:lnTo>
                  <a:lnTo>
                    <a:pt x="18" y="32"/>
                  </a:lnTo>
                  <a:lnTo>
                    <a:pt x="13" y="38"/>
                  </a:lnTo>
                  <a:lnTo>
                    <a:pt x="9" y="46"/>
                  </a:lnTo>
                  <a:lnTo>
                    <a:pt x="6" y="53"/>
                  </a:lnTo>
                  <a:lnTo>
                    <a:pt x="3" y="61"/>
                  </a:lnTo>
                  <a:lnTo>
                    <a:pt x="1" y="68"/>
                  </a:lnTo>
                  <a:lnTo>
                    <a:pt x="0" y="77"/>
                  </a:lnTo>
                  <a:lnTo>
                    <a:pt x="0" y="87"/>
                  </a:lnTo>
                  <a:lnTo>
                    <a:pt x="0" y="94"/>
                  </a:lnTo>
                  <a:lnTo>
                    <a:pt x="1" y="103"/>
                  </a:lnTo>
                  <a:lnTo>
                    <a:pt x="3" y="111"/>
                  </a:lnTo>
                  <a:lnTo>
                    <a:pt x="6" y="118"/>
                  </a:lnTo>
                  <a:lnTo>
                    <a:pt x="9" y="126"/>
                  </a:lnTo>
                  <a:lnTo>
                    <a:pt x="13" y="134"/>
                  </a:lnTo>
                  <a:lnTo>
                    <a:pt x="18" y="140"/>
                  </a:lnTo>
                  <a:lnTo>
                    <a:pt x="24" y="146"/>
                  </a:lnTo>
                  <a:lnTo>
                    <a:pt x="30" y="152"/>
                  </a:lnTo>
                  <a:lnTo>
                    <a:pt x="36" y="156"/>
                  </a:lnTo>
                  <a:lnTo>
                    <a:pt x="44" y="161"/>
                  </a:lnTo>
                  <a:lnTo>
                    <a:pt x="51" y="164"/>
                  </a:lnTo>
                  <a:lnTo>
                    <a:pt x="59" y="167"/>
                  </a:lnTo>
                  <a:lnTo>
                    <a:pt x="66" y="170"/>
                  </a:lnTo>
                  <a:lnTo>
                    <a:pt x="76" y="170"/>
                  </a:lnTo>
                  <a:lnTo>
                    <a:pt x="85" y="172"/>
                  </a:lnTo>
                  <a:lnTo>
                    <a:pt x="94" y="170"/>
                  </a:lnTo>
                  <a:lnTo>
                    <a:pt x="101" y="170"/>
                  </a:lnTo>
                  <a:lnTo>
                    <a:pt x="111" y="167"/>
                  </a:lnTo>
                  <a:lnTo>
                    <a:pt x="118" y="164"/>
                  </a:lnTo>
                  <a:lnTo>
                    <a:pt x="126" y="161"/>
                  </a:lnTo>
                  <a:lnTo>
                    <a:pt x="132" y="156"/>
                  </a:lnTo>
                  <a:lnTo>
                    <a:pt x="139" y="152"/>
                  </a:lnTo>
                  <a:lnTo>
                    <a:pt x="145" y="146"/>
                  </a:lnTo>
                  <a:lnTo>
                    <a:pt x="150" y="140"/>
                  </a:lnTo>
                  <a:lnTo>
                    <a:pt x="155" y="134"/>
                  </a:lnTo>
                  <a:lnTo>
                    <a:pt x="159" y="126"/>
                  </a:lnTo>
                  <a:lnTo>
                    <a:pt x="164" y="118"/>
                  </a:lnTo>
                  <a:lnTo>
                    <a:pt x="165" y="111"/>
                  </a:lnTo>
                  <a:lnTo>
                    <a:pt x="168" y="103"/>
                  </a:lnTo>
                  <a:lnTo>
                    <a:pt x="170" y="94"/>
                  </a:lnTo>
                  <a:lnTo>
                    <a:pt x="170" y="87"/>
                  </a:lnTo>
                  <a:lnTo>
                    <a:pt x="170" y="77"/>
                  </a:lnTo>
                  <a:lnTo>
                    <a:pt x="168" y="68"/>
                  </a:lnTo>
                  <a:lnTo>
                    <a:pt x="165" y="61"/>
                  </a:lnTo>
                  <a:lnTo>
                    <a:pt x="164" y="53"/>
                  </a:lnTo>
                  <a:lnTo>
                    <a:pt x="159" y="46"/>
                  </a:lnTo>
                  <a:lnTo>
                    <a:pt x="155" y="38"/>
                  </a:lnTo>
                  <a:lnTo>
                    <a:pt x="150" y="32"/>
                  </a:lnTo>
                  <a:lnTo>
                    <a:pt x="145" y="26"/>
                  </a:lnTo>
                  <a:lnTo>
                    <a:pt x="139" y="20"/>
                  </a:lnTo>
                  <a:lnTo>
                    <a:pt x="132" y="15"/>
                  </a:lnTo>
                  <a:lnTo>
                    <a:pt x="126" y="11"/>
                  </a:lnTo>
                  <a:lnTo>
                    <a:pt x="118" y="8"/>
                  </a:lnTo>
                  <a:lnTo>
                    <a:pt x="111" y="5"/>
                  </a:lnTo>
                  <a:lnTo>
                    <a:pt x="101" y="2"/>
                  </a:lnTo>
                  <a:lnTo>
                    <a:pt x="94" y="2"/>
                  </a:lnTo>
                  <a:lnTo>
                    <a:pt x="85" y="0"/>
                  </a:lnTo>
                  <a:close/>
                </a:path>
              </a:pathLst>
            </a:custGeom>
            <a:solidFill>
              <a:srgbClr val="00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2687" name="Freeform 47">
              <a:extLst>
                <a:ext uri="{FF2B5EF4-FFF2-40B4-BE49-F238E27FC236}">
                  <a16:creationId xmlns:a16="http://schemas.microsoft.com/office/drawing/2014/main" id="{44C2FC78-0027-B7C5-F873-B7006C7DFAF9}"/>
                </a:ext>
              </a:extLst>
            </p:cNvPr>
            <p:cNvSpPr>
              <a:spLocks/>
            </p:cNvSpPr>
            <p:nvPr/>
          </p:nvSpPr>
          <p:spPr bwMode="auto">
            <a:xfrm>
              <a:off x="242" y="1616"/>
              <a:ext cx="170" cy="172"/>
            </a:xfrm>
            <a:custGeom>
              <a:avLst/>
              <a:gdLst>
                <a:gd name="T0" fmla="*/ 76 w 170"/>
                <a:gd name="T1" fmla="*/ 2 h 172"/>
                <a:gd name="T2" fmla="*/ 59 w 170"/>
                <a:gd name="T3" fmla="*/ 5 h 172"/>
                <a:gd name="T4" fmla="*/ 44 w 170"/>
                <a:gd name="T5" fmla="*/ 11 h 172"/>
                <a:gd name="T6" fmla="*/ 30 w 170"/>
                <a:gd name="T7" fmla="*/ 20 h 172"/>
                <a:gd name="T8" fmla="*/ 18 w 170"/>
                <a:gd name="T9" fmla="*/ 32 h 172"/>
                <a:gd name="T10" fmla="*/ 9 w 170"/>
                <a:gd name="T11" fmla="*/ 46 h 172"/>
                <a:gd name="T12" fmla="*/ 3 w 170"/>
                <a:gd name="T13" fmla="*/ 61 h 172"/>
                <a:gd name="T14" fmla="*/ 0 w 170"/>
                <a:gd name="T15" fmla="*/ 77 h 172"/>
                <a:gd name="T16" fmla="*/ 0 w 170"/>
                <a:gd name="T17" fmla="*/ 94 h 172"/>
                <a:gd name="T18" fmla="*/ 3 w 170"/>
                <a:gd name="T19" fmla="*/ 111 h 172"/>
                <a:gd name="T20" fmla="*/ 9 w 170"/>
                <a:gd name="T21" fmla="*/ 126 h 172"/>
                <a:gd name="T22" fmla="*/ 18 w 170"/>
                <a:gd name="T23" fmla="*/ 140 h 172"/>
                <a:gd name="T24" fmla="*/ 30 w 170"/>
                <a:gd name="T25" fmla="*/ 152 h 172"/>
                <a:gd name="T26" fmla="*/ 44 w 170"/>
                <a:gd name="T27" fmla="*/ 161 h 172"/>
                <a:gd name="T28" fmla="*/ 59 w 170"/>
                <a:gd name="T29" fmla="*/ 167 h 172"/>
                <a:gd name="T30" fmla="*/ 76 w 170"/>
                <a:gd name="T31" fmla="*/ 170 h 172"/>
                <a:gd name="T32" fmla="*/ 94 w 170"/>
                <a:gd name="T33" fmla="*/ 170 h 172"/>
                <a:gd name="T34" fmla="*/ 111 w 170"/>
                <a:gd name="T35" fmla="*/ 167 h 172"/>
                <a:gd name="T36" fmla="*/ 126 w 170"/>
                <a:gd name="T37" fmla="*/ 161 h 172"/>
                <a:gd name="T38" fmla="*/ 139 w 170"/>
                <a:gd name="T39" fmla="*/ 152 h 172"/>
                <a:gd name="T40" fmla="*/ 150 w 170"/>
                <a:gd name="T41" fmla="*/ 140 h 172"/>
                <a:gd name="T42" fmla="*/ 159 w 170"/>
                <a:gd name="T43" fmla="*/ 126 h 172"/>
                <a:gd name="T44" fmla="*/ 165 w 170"/>
                <a:gd name="T45" fmla="*/ 111 h 172"/>
                <a:gd name="T46" fmla="*/ 170 w 170"/>
                <a:gd name="T47" fmla="*/ 94 h 172"/>
                <a:gd name="T48" fmla="*/ 170 w 170"/>
                <a:gd name="T49" fmla="*/ 77 h 172"/>
                <a:gd name="T50" fmla="*/ 165 w 170"/>
                <a:gd name="T51" fmla="*/ 61 h 172"/>
                <a:gd name="T52" fmla="*/ 159 w 170"/>
                <a:gd name="T53" fmla="*/ 46 h 172"/>
                <a:gd name="T54" fmla="*/ 150 w 170"/>
                <a:gd name="T55" fmla="*/ 32 h 172"/>
                <a:gd name="T56" fmla="*/ 139 w 170"/>
                <a:gd name="T57" fmla="*/ 20 h 172"/>
                <a:gd name="T58" fmla="*/ 126 w 170"/>
                <a:gd name="T59" fmla="*/ 11 h 172"/>
                <a:gd name="T60" fmla="*/ 111 w 170"/>
                <a:gd name="T61" fmla="*/ 5 h 172"/>
                <a:gd name="T62" fmla="*/ 94 w 170"/>
                <a:gd name="T63" fmla="*/ 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 h="172">
                  <a:moveTo>
                    <a:pt x="85" y="0"/>
                  </a:moveTo>
                  <a:lnTo>
                    <a:pt x="76" y="2"/>
                  </a:lnTo>
                  <a:lnTo>
                    <a:pt x="66" y="2"/>
                  </a:lnTo>
                  <a:lnTo>
                    <a:pt x="59" y="5"/>
                  </a:lnTo>
                  <a:lnTo>
                    <a:pt x="51" y="8"/>
                  </a:lnTo>
                  <a:lnTo>
                    <a:pt x="44" y="11"/>
                  </a:lnTo>
                  <a:lnTo>
                    <a:pt x="36" y="15"/>
                  </a:lnTo>
                  <a:lnTo>
                    <a:pt x="30" y="20"/>
                  </a:lnTo>
                  <a:lnTo>
                    <a:pt x="24" y="26"/>
                  </a:lnTo>
                  <a:lnTo>
                    <a:pt x="18" y="32"/>
                  </a:lnTo>
                  <a:lnTo>
                    <a:pt x="13" y="38"/>
                  </a:lnTo>
                  <a:lnTo>
                    <a:pt x="9" y="46"/>
                  </a:lnTo>
                  <a:lnTo>
                    <a:pt x="6" y="53"/>
                  </a:lnTo>
                  <a:lnTo>
                    <a:pt x="3" y="61"/>
                  </a:lnTo>
                  <a:lnTo>
                    <a:pt x="1" y="68"/>
                  </a:lnTo>
                  <a:lnTo>
                    <a:pt x="0" y="77"/>
                  </a:lnTo>
                  <a:lnTo>
                    <a:pt x="0" y="87"/>
                  </a:lnTo>
                  <a:lnTo>
                    <a:pt x="0" y="94"/>
                  </a:lnTo>
                  <a:lnTo>
                    <a:pt x="1" y="103"/>
                  </a:lnTo>
                  <a:lnTo>
                    <a:pt x="3" y="111"/>
                  </a:lnTo>
                  <a:lnTo>
                    <a:pt x="6" y="118"/>
                  </a:lnTo>
                  <a:lnTo>
                    <a:pt x="9" y="126"/>
                  </a:lnTo>
                  <a:lnTo>
                    <a:pt x="13" y="134"/>
                  </a:lnTo>
                  <a:lnTo>
                    <a:pt x="18" y="140"/>
                  </a:lnTo>
                  <a:lnTo>
                    <a:pt x="24" y="146"/>
                  </a:lnTo>
                  <a:lnTo>
                    <a:pt x="30" y="152"/>
                  </a:lnTo>
                  <a:lnTo>
                    <a:pt x="36" y="156"/>
                  </a:lnTo>
                  <a:lnTo>
                    <a:pt x="44" y="161"/>
                  </a:lnTo>
                  <a:lnTo>
                    <a:pt x="51" y="164"/>
                  </a:lnTo>
                  <a:lnTo>
                    <a:pt x="59" y="167"/>
                  </a:lnTo>
                  <a:lnTo>
                    <a:pt x="66" y="170"/>
                  </a:lnTo>
                  <a:lnTo>
                    <a:pt x="76" y="170"/>
                  </a:lnTo>
                  <a:lnTo>
                    <a:pt x="85" y="172"/>
                  </a:lnTo>
                  <a:lnTo>
                    <a:pt x="94" y="170"/>
                  </a:lnTo>
                  <a:lnTo>
                    <a:pt x="101" y="170"/>
                  </a:lnTo>
                  <a:lnTo>
                    <a:pt x="111" y="167"/>
                  </a:lnTo>
                  <a:lnTo>
                    <a:pt x="118" y="164"/>
                  </a:lnTo>
                  <a:lnTo>
                    <a:pt x="126" y="161"/>
                  </a:lnTo>
                  <a:lnTo>
                    <a:pt x="132" y="156"/>
                  </a:lnTo>
                  <a:lnTo>
                    <a:pt x="139" y="152"/>
                  </a:lnTo>
                  <a:lnTo>
                    <a:pt x="145" y="146"/>
                  </a:lnTo>
                  <a:lnTo>
                    <a:pt x="150" y="140"/>
                  </a:lnTo>
                  <a:lnTo>
                    <a:pt x="155" y="134"/>
                  </a:lnTo>
                  <a:lnTo>
                    <a:pt x="159" y="126"/>
                  </a:lnTo>
                  <a:lnTo>
                    <a:pt x="164" y="118"/>
                  </a:lnTo>
                  <a:lnTo>
                    <a:pt x="165" y="111"/>
                  </a:lnTo>
                  <a:lnTo>
                    <a:pt x="168" y="103"/>
                  </a:lnTo>
                  <a:lnTo>
                    <a:pt x="170" y="94"/>
                  </a:lnTo>
                  <a:lnTo>
                    <a:pt x="170" y="87"/>
                  </a:lnTo>
                  <a:lnTo>
                    <a:pt x="170" y="77"/>
                  </a:lnTo>
                  <a:lnTo>
                    <a:pt x="168" y="68"/>
                  </a:lnTo>
                  <a:lnTo>
                    <a:pt x="165" y="61"/>
                  </a:lnTo>
                  <a:lnTo>
                    <a:pt x="164" y="53"/>
                  </a:lnTo>
                  <a:lnTo>
                    <a:pt x="159" y="46"/>
                  </a:lnTo>
                  <a:lnTo>
                    <a:pt x="155" y="38"/>
                  </a:lnTo>
                  <a:lnTo>
                    <a:pt x="150" y="32"/>
                  </a:lnTo>
                  <a:lnTo>
                    <a:pt x="145" y="26"/>
                  </a:lnTo>
                  <a:lnTo>
                    <a:pt x="139" y="20"/>
                  </a:lnTo>
                  <a:lnTo>
                    <a:pt x="132" y="15"/>
                  </a:lnTo>
                  <a:lnTo>
                    <a:pt x="126" y="11"/>
                  </a:lnTo>
                  <a:lnTo>
                    <a:pt x="118" y="8"/>
                  </a:lnTo>
                  <a:lnTo>
                    <a:pt x="111" y="5"/>
                  </a:lnTo>
                  <a:lnTo>
                    <a:pt x="101" y="2"/>
                  </a:lnTo>
                  <a:lnTo>
                    <a:pt x="94" y="2"/>
                  </a:lnTo>
                  <a:lnTo>
                    <a:pt x="85"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2688" name="Rectangle 48">
              <a:extLst>
                <a:ext uri="{FF2B5EF4-FFF2-40B4-BE49-F238E27FC236}">
                  <a16:creationId xmlns:a16="http://schemas.microsoft.com/office/drawing/2014/main" id="{FE67385F-0557-4675-446F-5CCF921CAC77}"/>
                </a:ext>
              </a:extLst>
            </p:cNvPr>
            <p:cNvSpPr>
              <a:spLocks noChangeArrowheads="1"/>
            </p:cNvSpPr>
            <p:nvPr/>
          </p:nvSpPr>
          <p:spPr bwMode="auto">
            <a:xfrm>
              <a:off x="292" y="1636"/>
              <a:ext cx="70"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S</a:t>
              </a:r>
              <a:endParaRPr lang="en-US" altLang="en-US"/>
            </a:p>
          </p:txBody>
        </p:sp>
        <p:sp>
          <p:nvSpPr>
            <p:cNvPr id="112689" name="Freeform 49">
              <a:extLst>
                <a:ext uri="{FF2B5EF4-FFF2-40B4-BE49-F238E27FC236}">
                  <a16:creationId xmlns:a16="http://schemas.microsoft.com/office/drawing/2014/main" id="{3DA1F6B1-ABC1-D706-07CF-BC4AC22C4B1A}"/>
                </a:ext>
              </a:extLst>
            </p:cNvPr>
            <p:cNvSpPr>
              <a:spLocks/>
            </p:cNvSpPr>
            <p:nvPr/>
          </p:nvSpPr>
          <p:spPr bwMode="auto">
            <a:xfrm>
              <a:off x="1020" y="915"/>
              <a:ext cx="172" cy="170"/>
            </a:xfrm>
            <a:custGeom>
              <a:avLst/>
              <a:gdLst>
                <a:gd name="T0" fmla="*/ 77 w 172"/>
                <a:gd name="T1" fmla="*/ 0 h 170"/>
                <a:gd name="T2" fmla="*/ 61 w 172"/>
                <a:gd name="T3" fmla="*/ 3 h 170"/>
                <a:gd name="T4" fmla="*/ 44 w 172"/>
                <a:gd name="T5" fmla="*/ 10 h 170"/>
                <a:gd name="T6" fmla="*/ 32 w 172"/>
                <a:gd name="T7" fmla="*/ 19 h 170"/>
                <a:gd name="T8" fmla="*/ 20 w 172"/>
                <a:gd name="T9" fmla="*/ 30 h 170"/>
                <a:gd name="T10" fmla="*/ 11 w 172"/>
                <a:gd name="T11" fmla="*/ 44 h 170"/>
                <a:gd name="T12" fmla="*/ 4 w 172"/>
                <a:gd name="T13" fmla="*/ 59 h 170"/>
                <a:gd name="T14" fmla="*/ 0 w 172"/>
                <a:gd name="T15" fmla="*/ 76 h 170"/>
                <a:gd name="T16" fmla="*/ 0 w 172"/>
                <a:gd name="T17" fmla="*/ 94 h 170"/>
                <a:gd name="T18" fmla="*/ 4 w 172"/>
                <a:gd name="T19" fmla="*/ 110 h 170"/>
                <a:gd name="T20" fmla="*/ 11 w 172"/>
                <a:gd name="T21" fmla="*/ 126 h 170"/>
                <a:gd name="T22" fmla="*/ 20 w 172"/>
                <a:gd name="T23" fmla="*/ 139 h 170"/>
                <a:gd name="T24" fmla="*/ 32 w 172"/>
                <a:gd name="T25" fmla="*/ 150 h 170"/>
                <a:gd name="T26" fmla="*/ 44 w 172"/>
                <a:gd name="T27" fmla="*/ 159 h 170"/>
                <a:gd name="T28" fmla="*/ 61 w 172"/>
                <a:gd name="T29" fmla="*/ 167 h 170"/>
                <a:gd name="T30" fmla="*/ 77 w 172"/>
                <a:gd name="T31" fmla="*/ 170 h 170"/>
                <a:gd name="T32" fmla="*/ 94 w 172"/>
                <a:gd name="T33" fmla="*/ 170 h 170"/>
                <a:gd name="T34" fmla="*/ 111 w 172"/>
                <a:gd name="T35" fmla="*/ 167 h 170"/>
                <a:gd name="T36" fmla="*/ 126 w 172"/>
                <a:gd name="T37" fmla="*/ 159 h 170"/>
                <a:gd name="T38" fmla="*/ 140 w 172"/>
                <a:gd name="T39" fmla="*/ 150 h 170"/>
                <a:gd name="T40" fmla="*/ 152 w 172"/>
                <a:gd name="T41" fmla="*/ 139 h 170"/>
                <a:gd name="T42" fmla="*/ 161 w 172"/>
                <a:gd name="T43" fmla="*/ 126 h 170"/>
                <a:gd name="T44" fmla="*/ 167 w 172"/>
                <a:gd name="T45" fmla="*/ 110 h 170"/>
                <a:gd name="T46" fmla="*/ 170 w 172"/>
                <a:gd name="T47" fmla="*/ 94 h 170"/>
                <a:gd name="T48" fmla="*/ 170 w 172"/>
                <a:gd name="T49" fmla="*/ 76 h 170"/>
                <a:gd name="T50" fmla="*/ 167 w 172"/>
                <a:gd name="T51" fmla="*/ 59 h 170"/>
                <a:gd name="T52" fmla="*/ 161 w 172"/>
                <a:gd name="T53" fmla="*/ 44 h 170"/>
                <a:gd name="T54" fmla="*/ 152 w 172"/>
                <a:gd name="T55" fmla="*/ 30 h 170"/>
                <a:gd name="T56" fmla="*/ 140 w 172"/>
                <a:gd name="T57" fmla="*/ 19 h 170"/>
                <a:gd name="T58" fmla="*/ 126 w 172"/>
                <a:gd name="T59" fmla="*/ 10 h 170"/>
                <a:gd name="T60" fmla="*/ 111 w 172"/>
                <a:gd name="T61" fmla="*/ 3 h 170"/>
                <a:gd name="T62" fmla="*/ 94 w 172"/>
                <a:gd name="T63"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2" h="170">
                  <a:moveTo>
                    <a:pt x="85" y="0"/>
                  </a:moveTo>
                  <a:lnTo>
                    <a:pt x="77" y="0"/>
                  </a:lnTo>
                  <a:lnTo>
                    <a:pt x="68" y="1"/>
                  </a:lnTo>
                  <a:lnTo>
                    <a:pt x="61" y="3"/>
                  </a:lnTo>
                  <a:lnTo>
                    <a:pt x="52" y="6"/>
                  </a:lnTo>
                  <a:lnTo>
                    <a:pt x="44" y="10"/>
                  </a:lnTo>
                  <a:lnTo>
                    <a:pt x="38" y="13"/>
                  </a:lnTo>
                  <a:lnTo>
                    <a:pt x="32" y="19"/>
                  </a:lnTo>
                  <a:lnTo>
                    <a:pt x="26" y="24"/>
                  </a:lnTo>
                  <a:lnTo>
                    <a:pt x="20" y="30"/>
                  </a:lnTo>
                  <a:lnTo>
                    <a:pt x="15" y="38"/>
                  </a:lnTo>
                  <a:lnTo>
                    <a:pt x="11" y="44"/>
                  </a:lnTo>
                  <a:lnTo>
                    <a:pt x="6" y="51"/>
                  </a:lnTo>
                  <a:lnTo>
                    <a:pt x="4" y="59"/>
                  </a:lnTo>
                  <a:lnTo>
                    <a:pt x="1" y="68"/>
                  </a:lnTo>
                  <a:lnTo>
                    <a:pt x="0" y="76"/>
                  </a:lnTo>
                  <a:lnTo>
                    <a:pt x="0" y="85"/>
                  </a:lnTo>
                  <a:lnTo>
                    <a:pt x="0" y="94"/>
                  </a:lnTo>
                  <a:lnTo>
                    <a:pt x="1" y="101"/>
                  </a:lnTo>
                  <a:lnTo>
                    <a:pt x="4" y="110"/>
                  </a:lnTo>
                  <a:lnTo>
                    <a:pt x="6" y="118"/>
                  </a:lnTo>
                  <a:lnTo>
                    <a:pt x="11" y="126"/>
                  </a:lnTo>
                  <a:lnTo>
                    <a:pt x="15" y="132"/>
                  </a:lnTo>
                  <a:lnTo>
                    <a:pt x="20" y="139"/>
                  </a:lnTo>
                  <a:lnTo>
                    <a:pt x="26" y="145"/>
                  </a:lnTo>
                  <a:lnTo>
                    <a:pt x="32" y="150"/>
                  </a:lnTo>
                  <a:lnTo>
                    <a:pt x="38" y="156"/>
                  </a:lnTo>
                  <a:lnTo>
                    <a:pt x="44" y="159"/>
                  </a:lnTo>
                  <a:lnTo>
                    <a:pt x="52" y="164"/>
                  </a:lnTo>
                  <a:lnTo>
                    <a:pt x="61" y="167"/>
                  </a:lnTo>
                  <a:lnTo>
                    <a:pt x="68" y="168"/>
                  </a:lnTo>
                  <a:lnTo>
                    <a:pt x="77" y="170"/>
                  </a:lnTo>
                  <a:lnTo>
                    <a:pt x="85" y="170"/>
                  </a:lnTo>
                  <a:lnTo>
                    <a:pt x="94" y="170"/>
                  </a:lnTo>
                  <a:lnTo>
                    <a:pt x="103" y="168"/>
                  </a:lnTo>
                  <a:lnTo>
                    <a:pt x="111" y="167"/>
                  </a:lnTo>
                  <a:lnTo>
                    <a:pt x="118" y="164"/>
                  </a:lnTo>
                  <a:lnTo>
                    <a:pt x="126" y="159"/>
                  </a:lnTo>
                  <a:lnTo>
                    <a:pt x="134" y="156"/>
                  </a:lnTo>
                  <a:lnTo>
                    <a:pt x="140" y="150"/>
                  </a:lnTo>
                  <a:lnTo>
                    <a:pt x="146" y="145"/>
                  </a:lnTo>
                  <a:lnTo>
                    <a:pt x="152" y="139"/>
                  </a:lnTo>
                  <a:lnTo>
                    <a:pt x="156" y="132"/>
                  </a:lnTo>
                  <a:lnTo>
                    <a:pt x="161" y="126"/>
                  </a:lnTo>
                  <a:lnTo>
                    <a:pt x="164" y="118"/>
                  </a:lnTo>
                  <a:lnTo>
                    <a:pt x="167" y="110"/>
                  </a:lnTo>
                  <a:lnTo>
                    <a:pt x="169" y="101"/>
                  </a:lnTo>
                  <a:lnTo>
                    <a:pt x="170" y="94"/>
                  </a:lnTo>
                  <a:lnTo>
                    <a:pt x="172" y="85"/>
                  </a:lnTo>
                  <a:lnTo>
                    <a:pt x="170" y="76"/>
                  </a:lnTo>
                  <a:lnTo>
                    <a:pt x="169" y="68"/>
                  </a:lnTo>
                  <a:lnTo>
                    <a:pt x="167" y="59"/>
                  </a:lnTo>
                  <a:lnTo>
                    <a:pt x="164" y="51"/>
                  </a:lnTo>
                  <a:lnTo>
                    <a:pt x="161" y="44"/>
                  </a:lnTo>
                  <a:lnTo>
                    <a:pt x="156" y="38"/>
                  </a:lnTo>
                  <a:lnTo>
                    <a:pt x="152" y="30"/>
                  </a:lnTo>
                  <a:lnTo>
                    <a:pt x="146" y="24"/>
                  </a:lnTo>
                  <a:lnTo>
                    <a:pt x="140" y="19"/>
                  </a:lnTo>
                  <a:lnTo>
                    <a:pt x="134" y="13"/>
                  </a:lnTo>
                  <a:lnTo>
                    <a:pt x="126" y="10"/>
                  </a:lnTo>
                  <a:lnTo>
                    <a:pt x="118" y="6"/>
                  </a:lnTo>
                  <a:lnTo>
                    <a:pt x="111" y="3"/>
                  </a:lnTo>
                  <a:lnTo>
                    <a:pt x="103" y="1"/>
                  </a:lnTo>
                  <a:lnTo>
                    <a:pt x="94" y="0"/>
                  </a:lnTo>
                  <a:lnTo>
                    <a:pt x="85" y="0"/>
                  </a:lnTo>
                  <a:close/>
                </a:path>
              </a:pathLst>
            </a:custGeom>
            <a:solidFill>
              <a:srgbClr val="00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2690" name="Freeform 50">
              <a:extLst>
                <a:ext uri="{FF2B5EF4-FFF2-40B4-BE49-F238E27FC236}">
                  <a16:creationId xmlns:a16="http://schemas.microsoft.com/office/drawing/2014/main" id="{75797CFD-0C6B-39EB-EEC5-1D46A34E37C2}"/>
                </a:ext>
              </a:extLst>
            </p:cNvPr>
            <p:cNvSpPr>
              <a:spLocks/>
            </p:cNvSpPr>
            <p:nvPr/>
          </p:nvSpPr>
          <p:spPr bwMode="auto">
            <a:xfrm>
              <a:off x="1020" y="915"/>
              <a:ext cx="172" cy="170"/>
            </a:xfrm>
            <a:custGeom>
              <a:avLst/>
              <a:gdLst>
                <a:gd name="T0" fmla="*/ 77 w 172"/>
                <a:gd name="T1" fmla="*/ 0 h 170"/>
                <a:gd name="T2" fmla="*/ 61 w 172"/>
                <a:gd name="T3" fmla="*/ 3 h 170"/>
                <a:gd name="T4" fmla="*/ 44 w 172"/>
                <a:gd name="T5" fmla="*/ 10 h 170"/>
                <a:gd name="T6" fmla="*/ 32 w 172"/>
                <a:gd name="T7" fmla="*/ 19 h 170"/>
                <a:gd name="T8" fmla="*/ 20 w 172"/>
                <a:gd name="T9" fmla="*/ 30 h 170"/>
                <a:gd name="T10" fmla="*/ 11 w 172"/>
                <a:gd name="T11" fmla="*/ 44 h 170"/>
                <a:gd name="T12" fmla="*/ 4 w 172"/>
                <a:gd name="T13" fmla="*/ 59 h 170"/>
                <a:gd name="T14" fmla="*/ 0 w 172"/>
                <a:gd name="T15" fmla="*/ 76 h 170"/>
                <a:gd name="T16" fmla="*/ 0 w 172"/>
                <a:gd name="T17" fmla="*/ 94 h 170"/>
                <a:gd name="T18" fmla="*/ 4 w 172"/>
                <a:gd name="T19" fmla="*/ 110 h 170"/>
                <a:gd name="T20" fmla="*/ 11 w 172"/>
                <a:gd name="T21" fmla="*/ 126 h 170"/>
                <a:gd name="T22" fmla="*/ 20 w 172"/>
                <a:gd name="T23" fmla="*/ 139 h 170"/>
                <a:gd name="T24" fmla="*/ 32 w 172"/>
                <a:gd name="T25" fmla="*/ 150 h 170"/>
                <a:gd name="T26" fmla="*/ 44 w 172"/>
                <a:gd name="T27" fmla="*/ 159 h 170"/>
                <a:gd name="T28" fmla="*/ 61 w 172"/>
                <a:gd name="T29" fmla="*/ 167 h 170"/>
                <a:gd name="T30" fmla="*/ 77 w 172"/>
                <a:gd name="T31" fmla="*/ 170 h 170"/>
                <a:gd name="T32" fmla="*/ 94 w 172"/>
                <a:gd name="T33" fmla="*/ 170 h 170"/>
                <a:gd name="T34" fmla="*/ 111 w 172"/>
                <a:gd name="T35" fmla="*/ 167 h 170"/>
                <a:gd name="T36" fmla="*/ 126 w 172"/>
                <a:gd name="T37" fmla="*/ 159 h 170"/>
                <a:gd name="T38" fmla="*/ 140 w 172"/>
                <a:gd name="T39" fmla="*/ 150 h 170"/>
                <a:gd name="T40" fmla="*/ 152 w 172"/>
                <a:gd name="T41" fmla="*/ 139 h 170"/>
                <a:gd name="T42" fmla="*/ 161 w 172"/>
                <a:gd name="T43" fmla="*/ 126 h 170"/>
                <a:gd name="T44" fmla="*/ 167 w 172"/>
                <a:gd name="T45" fmla="*/ 110 h 170"/>
                <a:gd name="T46" fmla="*/ 170 w 172"/>
                <a:gd name="T47" fmla="*/ 94 h 170"/>
                <a:gd name="T48" fmla="*/ 170 w 172"/>
                <a:gd name="T49" fmla="*/ 76 h 170"/>
                <a:gd name="T50" fmla="*/ 167 w 172"/>
                <a:gd name="T51" fmla="*/ 59 h 170"/>
                <a:gd name="T52" fmla="*/ 161 w 172"/>
                <a:gd name="T53" fmla="*/ 44 h 170"/>
                <a:gd name="T54" fmla="*/ 152 w 172"/>
                <a:gd name="T55" fmla="*/ 30 h 170"/>
                <a:gd name="T56" fmla="*/ 140 w 172"/>
                <a:gd name="T57" fmla="*/ 19 h 170"/>
                <a:gd name="T58" fmla="*/ 126 w 172"/>
                <a:gd name="T59" fmla="*/ 10 h 170"/>
                <a:gd name="T60" fmla="*/ 111 w 172"/>
                <a:gd name="T61" fmla="*/ 3 h 170"/>
                <a:gd name="T62" fmla="*/ 94 w 172"/>
                <a:gd name="T63"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2" h="170">
                  <a:moveTo>
                    <a:pt x="85" y="0"/>
                  </a:moveTo>
                  <a:lnTo>
                    <a:pt x="77" y="0"/>
                  </a:lnTo>
                  <a:lnTo>
                    <a:pt x="68" y="1"/>
                  </a:lnTo>
                  <a:lnTo>
                    <a:pt x="61" y="3"/>
                  </a:lnTo>
                  <a:lnTo>
                    <a:pt x="52" y="6"/>
                  </a:lnTo>
                  <a:lnTo>
                    <a:pt x="44" y="10"/>
                  </a:lnTo>
                  <a:lnTo>
                    <a:pt x="38" y="13"/>
                  </a:lnTo>
                  <a:lnTo>
                    <a:pt x="32" y="19"/>
                  </a:lnTo>
                  <a:lnTo>
                    <a:pt x="26" y="24"/>
                  </a:lnTo>
                  <a:lnTo>
                    <a:pt x="20" y="30"/>
                  </a:lnTo>
                  <a:lnTo>
                    <a:pt x="15" y="38"/>
                  </a:lnTo>
                  <a:lnTo>
                    <a:pt x="11" y="44"/>
                  </a:lnTo>
                  <a:lnTo>
                    <a:pt x="6" y="51"/>
                  </a:lnTo>
                  <a:lnTo>
                    <a:pt x="4" y="59"/>
                  </a:lnTo>
                  <a:lnTo>
                    <a:pt x="1" y="68"/>
                  </a:lnTo>
                  <a:lnTo>
                    <a:pt x="0" y="76"/>
                  </a:lnTo>
                  <a:lnTo>
                    <a:pt x="0" y="85"/>
                  </a:lnTo>
                  <a:lnTo>
                    <a:pt x="0" y="94"/>
                  </a:lnTo>
                  <a:lnTo>
                    <a:pt x="1" y="101"/>
                  </a:lnTo>
                  <a:lnTo>
                    <a:pt x="4" y="110"/>
                  </a:lnTo>
                  <a:lnTo>
                    <a:pt x="6" y="118"/>
                  </a:lnTo>
                  <a:lnTo>
                    <a:pt x="11" y="126"/>
                  </a:lnTo>
                  <a:lnTo>
                    <a:pt x="15" y="132"/>
                  </a:lnTo>
                  <a:lnTo>
                    <a:pt x="20" y="139"/>
                  </a:lnTo>
                  <a:lnTo>
                    <a:pt x="26" y="145"/>
                  </a:lnTo>
                  <a:lnTo>
                    <a:pt x="32" y="150"/>
                  </a:lnTo>
                  <a:lnTo>
                    <a:pt x="38" y="156"/>
                  </a:lnTo>
                  <a:lnTo>
                    <a:pt x="44" y="159"/>
                  </a:lnTo>
                  <a:lnTo>
                    <a:pt x="52" y="164"/>
                  </a:lnTo>
                  <a:lnTo>
                    <a:pt x="61" y="167"/>
                  </a:lnTo>
                  <a:lnTo>
                    <a:pt x="68" y="168"/>
                  </a:lnTo>
                  <a:lnTo>
                    <a:pt x="77" y="170"/>
                  </a:lnTo>
                  <a:lnTo>
                    <a:pt x="85" y="170"/>
                  </a:lnTo>
                  <a:lnTo>
                    <a:pt x="94" y="170"/>
                  </a:lnTo>
                  <a:lnTo>
                    <a:pt x="103" y="168"/>
                  </a:lnTo>
                  <a:lnTo>
                    <a:pt x="111" y="167"/>
                  </a:lnTo>
                  <a:lnTo>
                    <a:pt x="118" y="164"/>
                  </a:lnTo>
                  <a:lnTo>
                    <a:pt x="126" y="159"/>
                  </a:lnTo>
                  <a:lnTo>
                    <a:pt x="134" y="156"/>
                  </a:lnTo>
                  <a:lnTo>
                    <a:pt x="140" y="150"/>
                  </a:lnTo>
                  <a:lnTo>
                    <a:pt x="146" y="145"/>
                  </a:lnTo>
                  <a:lnTo>
                    <a:pt x="152" y="139"/>
                  </a:lnTo>
                  <a:lnTo>
                    <a:pt x="156" y="132"/>
                  </a:lnTo>
                  <a:lnTo>
                    <a:pt x="161" y="126"/>
                  </a:lnTo>
                  <a:lnTo>
                    <a:pt x="164" y="118"/>
                  </a:lnTo>
                  <a:lnTo>
                    <a:pt x="167" y="110"/>
                  </a:lnTo>
                  <a:lnTo>
                    <a:pt x="169" y="101"/>
                  </a:lnTo>
                  <a:lnTo>
                    <a:pt x="170" y="94"/>
                  </a:lnTo>
                  <a:lnTo>
                    <a:pt x="172" y="85"/>
                  </a:lnTo>
                  <a:lnTo>
                    <a:pt x="170" y="76"/>
                  </a:lnTo>
                  <a:lnTo>
                    <a:pt x="169" y="68"/>
                  </a:lnTo>
                  <a:lnTo>
                    <a:pt x="167" y="59"/>
                  </a:lnTo>
                  <a:lnTo>
                    <a:pt x="164" y="51"/>
                  </a:lnTo>
                  <a:lnTo>
                    <a:pt x="161" y="44"/>
                  </a:lnTo>
                  <a:lnTo>
                    <a:pt x="156" y="38"/>
                  </a:lnTo>
                  <a:lnTo>
                    <a:pt x="152" y="30"/>
                  </a:lnTo>
                  <a:lnTo>
                    <a:pt x="146" y="24"/>
                  </a:lnTo>
                  <a:lnTo>
                    <a:pt x="140" y="19"/>
                  </a:lnTo>
                  <a:lnTo>
                    <a:pt x="134" y="13"/>
                  </a:lnTo>
                  <a:lnTo>
                    <a:pt x="126" y="10"/>
                  </a:lnTo>
                  <a:lnTo>
                    <a:pt x="118" y="6"/>
                  </a:lnTo>
                  <a:lnTo>
                    <a:pt x="111" y="3"/>
                  </a:lnTo>
                  <a:lnTo>
                    <a:pt x="103" y="1"/>
                  </a:lnTo>
                  <a:lnTo>
                    <a:pt x="94" y="0"/>
                  </a:lnTo>
                  <a:lnTo>
                    <a:pt x="85"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2691" name="Rectangle 51">
              <a:extLst>
                <a:ext uri="{FF2B5EF4-FFF2-40B4-BE49-F238E27FC236}">
                  <a16:creationId xmlns:a16="http://schemas.microsoft.com/office/drawing/2014/main" id="{026AF225-4620-CCE7-685A-A10EFCE2F1AE}"/>
                </a:ext>
              </a:extLst>
            </p:cNvPr>
            <p:cNvSpPr>
              <a:spLocks noChangeArrowheads="1"/>
            </p:cNvSpPr>
            <p:nvPr/>
          </p:nvSpPr>
          <p:spPr bwMode="auto">
            <a:xfrm>
              <a:off x="1066" y="935"/>
              <a:ext cx="83"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B</a:t>
              </a:r>
              <a:endParaRPr lang="en-US" altLang="en-US"/>
            </a:p>
          </p:txBody>
        </p:sp>
        <p:sp>
          <p:nvSpPr>
            <p:cNvPr id="112692" name="Freeform 52">
              <a:extLst>
                <a:ext uri="{FF2B5EF4-FFF2-40B4-BE49-F238E27FC236}">
                  <a16:creationId xmlns:a16="http://schemas.microsoft.com/office/drawing/2014/main" id="{CDC0EF7C-F891-1DF1-A00D-3415040743F2}"/>
                </a:ext>
              </a:extLst>
            </p:cNvPr>
            <p:cNvSpPr>
              <a:spLocks/>
            </p:cNvSpPr>
            <p:nvPr/>
          </p:nvSpPr>
          <p:spPr bwMode="auto">
            <a:xfrm>
              <a:off x="1344" y="2176"/>
              <a:ext cx="170" cy="172"/>
            </a:xfrm>
            <a:custGeom>
              <a:avLst/>
              <a:gdLst>
                <a:gd name="T0" fmla="*/ 76 w 170"/>
                <a:gd name="T1" fmla="*/ 0 h 172"/>
                <a:gd name="T2" fmla="*/ 59 w 170"/>
                <a:gd name="T3" fmla="*/ 5 h 172"/>
                <a:gd name="T4" fmla="*/ 44 w 170"/>
                <a:gd name="T5" fmla="*/ 11 h 172"/>
                <a:gd name="T6" fmla="*/ 30 w 170"/>
                <a:gd name="T7" fmla="*/ 20 h 172"/>
                <a:gd name="T8" fmla="*/ 18 w 170"/>
                <a:gd name="T9" fmla="*/ 32 h 172"/>
                <a:gd name="T10" fmla="*/ 9 w 170"/>
                <a:gd name="T11" fmla="*/ 44 h 172"/>
                <a:gd name="T12" fmla="*/ 3 w 170"/>
                <a:gd name="T13" fmla="*/ 61 h 172"/>
                <a:gd name="T14" fmla="*/ 0 w 170"/>
                <a:gd name="T15" fmla="*/ 78 h 172"/>
                <a:gd name="T16" fmla="*/ 0 w 170"/>
                <a:gd name="T17" fmla="*/ 94 h 172"/>
                <a:gd name="T18" fmla="*/ 3 w 170"/>
                <a:gd name="T19" fmla="*/ 111 h 172"/>
                <a:gd name="T20" fmla="*/ 9 w 170"/>
                <a:gd name="T21" fmla="*/ 126 h 172"/>
                <a:gd name="T22" fmla="*/ 18 w 170"/>
                <a:gd name="T23" fmla="*/ 140 h 172"/>
                <a:gd name="T24" fmla="*/ 30 w 170"/>
                <a:gd name="T25" fmla="*/ 152 h 172"/>
                <a:gd name="T26" fmla="*/ 44 w 170"/>
                <a:gd name="T27" fmla="*/ 161 h 172"/>
                <a:gd name="T28" fmla="*/ 59 w 170"/>
                <a:gd name="T29" fmla="*/ 167 h 172"/>
                <a:gd name="T30" fmla="*/ 76 w 170"/>
                <a:gd name="T31" fmla="*/ 170 h 172"/>
                <a:gd name="T32" fmla="*/ 94 w 170"/>
                <a:gd name="T33" fmla="*/ 170 h 172"/>
                <a:gd name="T34" fmla="*/ 111 w 170"/>
                <a:gd name="T35" fmla="*/ 167 h 172"/>
                <a:gd name="T36" fmla="*/ 126 w 170"/>
                <a:gd name="T37" fmla="*/ 161 h 172"/>
                <a:gd name="T38" fmla="*/ 140 w 170"/>
                <a:gd name="T39" fmla="*/ 152 h 172"/>
                <a:gd name="T40" fmla="*/ 150 w 170"/>
                <a:gd name="T41" fmla="*/ 140 h 172"/>
                <a:gd name="T42" fmla="*/ 159 w 170"/>
                <a:gd name="T43" fmla="*/ 126 h 172"/>
                <a:gd name="T44" fmla="*/ 165 w 170"/>
                <a:gd name="T45" fmla="*/ 111 h 172"/>
                <a:gd name="T46" fmla="*/ 170 w 170"/>
                <a:gd name="T47" fmla="*/ 94 h 172"/>
                <a:gd name="T48" fmla="*/ 170 w 170"/>
                <a:gd name="T49" fmla="*/ 78 h 172"/>
                <a:gd name="T50" fmla="*/ 165 w 170"/>
                <a:gd name="T51" fmla="*/ 61 h 172"/>
                <a:gd name="T52" fmla="*/ 159 w 170"/>
                <a:gd name="T53" fmla="*/ 44 h 172"/>
                <a:gd name="T54" fmla="*/ 150 w 170"/>
                <a:gd name="T55" fmla="*/ 32 h 172"/>
                <a:gd name="T56" fmla="*/ 140 w 170"/>
                <a:gd name="T57" fmla="*/ 20 h 172"/>
                <a:gd name="T58" fmla="*/ 126 w 170"/>
                <a:gd name="T59" fmla="*/ 11 h 172"/>
                <a:gd name="T60" fmla="*/ 111 w 170"/>
                <a:gd name="T61" fmla="*/ 5 h 172"/>
                <a:gd name="T62" fmla="*/ 94 w 170"/>
                <a:gd name="T63" fmla="*/ 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 h="172">
                  <a:moveTo>
                    <a:pt x="85" y="0"/>
                  </a:moveTo>
                  <a:lnTo>
                    <a:pt x="76" y="0"/>
                  </a:lnTo>
                  <a:lnTo>
                    <a:pt x="67" y="2"/>
                  </a:lnTo>
                  <a:lnTo>
                    <a:pt x="59" y="5"/>
                  </a:lnTo>
                  <a:lnTo>
                    <a:pt x="51" y="6"/>
                  </a:lnTo>
                  <a:lnTo>
                    <a:pt x="44" y="11"/>
                  </a:lnTo>
                  <a:lnTo>
                    <a:pt x="36" y="15"/>
                  </a:lnTo>
                  <a:lnTo>
                    <a:pt x="30" y="20"/>
                  </a:lnTo>
                  <a:lnTo>
                    <a:pt x="24" y="26"/>
                  </a:lnTo>
                  <a:lnTo>
                    <a:pt x="18" y="32"/>
                  </a:lnTo>
                  <a:lnTo>
                    <a:pt x="13" y="38"/>
                  </a:lnTo>
                  <a:lnTo>
                    <a:pt x="9" y="44"/>
                  </a:lnTo>
                  <a:lnTo>
                    <a:pt x="6" y="52"/>
                  </a:lnTo>
                  <a:lnTo>
                    <a:pt x="3" y="61"/>
                  </a:lnTo>
                  <a:lnTo>
                    <a:pt x="1" y="69"/>
                  </a:lnTo>
                  <a:lnTo>
                    <a:pt x="0" y="78"/>
                  </a:lnTo>
                  <a:lnTo>
                    <a:pt x="0" y="85"/>
                  </a:lnTo>
                  <a:lnTo>
                    <a:pt x="0" y="94"/>
                  </a:lnTo>
                  <a:lnTo>
                    <a:pt x="1" y="103"/>
                  </a:lnTo>
                  <a:lnTo>
                    <a:pt x="3" y="111"/>
                  </a:lnTo>
                  <a:lnTo>
                    <a:pt x="6" y="119"/>
                  </a:lnTo>
                  <a:lnTo>
                    <a:pt x="9" y="126"/>
                  </a:lnTo>
                  <a:lnTo>
                    <a:pt x="13" y="134"/>
                  </a:lnTo>
                  <a:lnTo>
                    <a:pt x="18" y="140"/>
                  </a:lnTo>
                  <a:lnTo>
                    <a:pt x="24" y="146"/>
                  </a:lnTo>
                  <a:lnTo>
                    <a:pt x="30" y="152"/>
                  </a:lnTo>
                  <a:lnTo>
                    <a:pt x="36" y="157"/>
                  </a:lnTo>
                  <a:lnTo>
                    <a:pt x="44" y="161"/>
                  </a:lnTo>
                  <a:lnTo>
                    <a:pt x="51" y="164"/>
                  </a:lnTo>
                  <a:lnTo>
                    <a:pt x="59" y="167"/>
                  </a:lnTo>
                  <a:lnTo>
                    <a:pt x="67" y="169"/>
                  </a:lnTo>
                  <a:lnTo>
                    <a:pt x="76" y="170"/>
                  </a:lnTo>
                  <a:lnTo>
                    <a:pt x="85" y="172"/>
                  </a:lnTo>
                  <a:lnTo>
                    <a:pt x="94" y="170"/>
                  </a:lnTo>
                  <a:lnTo>
                    <a:pt x="102" y="169"/>
                  </a:lnTo>
                  <a:lnTo>
                    <a:pt x="111" y="167"/>
                  </a:lnTo>
                  <a:lnTo>
                    <a:pt x="118" y="164"/>
                  </a:lnTo>
                  <a:lnTo>
                    <a:pt x="126" y="161"/>
                  </a:lnTo>
                  <a:lnTo>
                    <a:pt x="132" y="157"/>
                  </a:lnTo>
                  <a:lnTo>
                    <a:pt x="140" y="152"/>
                  </a:lnTo>
                  <a:lnTo>
                    <a:pt x="146" y="146"/>
                  </a:lnTo>
                  <a:lnTo>
                    <a:pt x="150" y="140"/>
                  </a:lnTo>
                  <a:lnTo>
                    <a:pt x="155" y="134"/>
                  </a:lnTo>
                  <a:lnTo>
                    <a:pt x="159" y="126"/>
                  </a:lnTo>
                  <a:lnTo>
                    <a:pt x="164" y="119"/>
                  </a:lnTo>
                  <a:lnTo>
                    <a:pt x="165" y="111"/>
                  </a:lnTo>
                  <a:lnTo>
                    <a:pt x="168" y="103"/>
                  </a:lnTo>
                  <a:lnTo>
                    <a:pt x="170" y="94"/>
                  </a:lnTo>
                  <a:lnTo>
                    <a:pt x="170" y="85"/>
                  </a:lnTo>
                  <a:lnTo>
                    <a:pt x="170" y="78"/>
                  </a:lnTo>
                  <a:lnTo>
                    <a:pt x="168" y="69"/>
                  </a:lnTo>
                  <a:lnTo>
                    <a:pt x="165" y="61"/>
                  </a:lnTo>
                  <a:lnTo>
                    <a:pt x="164" y="52"/>
                  </a:lnTo>
                  <a:lnTo>
                    <a:pt x="159" y="44"/>
                  </a:lnTo>
                  <a:lnTo>
                    <a:pt x="155" y="38"/>
                  </a:lnTo>
                  <a:lnTo>
                    <a:pt x="150" y="32"/>
                  </a:lnTo>
                  <a:lnTo>
                    <a:pt x="146" y="26"/>
                  </a:lnTo>
                  <a:lnTo>
                    <a:pt x="140" y="20"/>
                  </a:lnTo>
                  <a:lnTo>
                    <a:pt x="132" y="15"/>
                  </a:lnTo>
                  <a:lnTo>
                    <a:pt x="126" y="11"/>
                  </a:lnTo>
                  <a:lnTo>
                    <a:pt x="118" y="6"/>
                  </a:lnTo>
                  <a:lnTo>
                    <a:pt x="111" y="5"/>
                  </a:lnTo>
                  <a:lnTo>
                    <a:pt x="102" y="2"/>
                  </a:lnTo>
                  <a:lnTo>
                    <a:pt x="94" y="0"/>
                  </a:lnTo>
                  <a:lnTo>
                    <a:pt x="85" y="0"/>
                  </a:lnTo>
                  <a:close/>
                </a:path>
              </a:pathLst>
            </a:custGeom>
            <a:solidFill>
              <a:srgbClr val="00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2693" name="Freeform 53">
              <a:extLst>
                <a:ext uri="{FF2B5EF4-FFF2-40B4-BE49-F238E27FC236}">
                  <a16:creationId xmlns:a16="http://schemas.microsoft.com/office/drawing/2014/main" id="{CB47EE7C-4361-361D-028C-5BC47D2928F8}"/>
                </a:ext>
              </a:extLst>
            </p:cNvPr>
            <p:cNvSpPr>
              <a:spLocks/>
            </p:cNvSpPr>
            <p:nvPr/>
          </p:nvSpPr>
          <p:spPr bwMode="auto">
            <a:xfrm>
              <a:off x="1344" y="2176"/>
              <a:ext cx="170" cy="172"/>
            </a:xfrm>
            <a:custGeom>
              <a:avLst/>
              <a:gdLst>
                <a:gd name="T0" fmla="*/ 76 w 170"/>
                <a:gd name="T1" fmla="*/ 0 h 172"/>
                <a:gd name="T2" fmla="*/ 59 w 170"/>
                <a:gd name="T3" fmla="*/ 5 h 172"/>
                <a:gd name="T4" fmla="*/ 44 w 170"/>
                <a:gd name="T5" fmla="*/ 11 h 172"/>
                <a:gd name="T6" fmla="*/ 30 w 170"/>
                <a:gd name="T7" fmla="*/ 20 h 172"/>
                <a:gd name="T8" fmla="*/ 18 w 170"/>
                <a:gd name="T9" fmla="*/ 32 h 172"/>
                <a:gd name="T10" fmla="*/ 9 w 170"/>
                <a:gd name="T11" fmla="*/ 44 h 172"/>
                <a:gd name="T12" fmla="*/ 3 w 170"/>
                <a:gd name="T13" fmla="*/ 61 h 172"/>
                <a:gd name="T14" fmla="*/ 0 w 170"/>
                <a:gd name="T15" fmla="*/ 78 h 172"/>
                <a:gd name="T16" fmla="*/ 0 w 170"/>
                <a:gd name="T17" fmla="*/ 94 h 172"/>
                <a:gd name="T18" fmla="*/ 3 w 170"/>
                <a:gd name="T19" fmla="*/ 111 h 172"/>
                <a:gd name="T20" fmla="*/ 9 w 170"/>
                <a:gd name="T21" fmla="*/ 126 h 172"/>
                <a:gd name="T22" fmla="*/ 18 w 170"/>
                <a:gd name="T23" fmla="*/ 140 h 172"/>
                <a:gd name="T24" fmla="*/ 30 w 170"/>
                <a:gd name="T25" fmla="*/ 152 h 172"/>
                <a:gd name="T26" fmla="*/ 44 w 170"/>
                <a:gd name="T27" fmla="*/ 161 h 172"/>
                <a:gd name="T28" fmla="*/ 59 w 170"/>
                <a:gd name="T29" fmla="*/ 167 h 172"/>
                <a:gd name="T30" fmla="*/ 76 w 170"/>
                <a:gd name="T31" fmla="*/ 170 h 172"/>
                <a:gd name="T32" fmla="*/ 94 w 170"/>
                <a:gd name="T33" fmla="*/ 170 h 172"/>
                <a:gd name="T34" fmla="*/ 111 w 170"/>
                <a:gd name="T35" fmla="*/ 167 h 172"/>
                <a:gd name="T36" fmla="*/ 126 w 170"/>
                <a:gd name="T37" fmla="*/ 161 h 172"/>
                <a:gd name="T38" fmla="*/ 140 w 170"/>
                <a:gd name="T39" fmla="*/ 152 h 172"/>
                <a:gd name="T40" fmla="*/ 150 w 170"/>
                <a:gd name="T41" fmla="*/ 140 h 172"/>
                <a:gd name="T42" fmla="*/ 159 w 170"/>
                <a:gd name="T43" fmla="*/ 126 h 172"/>
                <a:gd name="T44" fmla="*/ 165 w 170"/>
                <a:gd name="T45" fmla="*/ 111 h 172"/>
                <a:gd name="T46" fmla="*/ 170 w 170"/>
                <a:gd name="T47" fmla="*/ 94 h 172"/>
                <a:gd name="T48" fmla="*/ 170 w 170"/>
                <a:gd name="T49" fmla="*/ 78 h 172"/>
                <a:gd name="T50" fmla="*/ 165 w 170"/>
                <a:gd name="T51" fmla="*/ 61 h 172"/>
                <a:gd name="T52" fmla="*/ 159 w 170"/>
                <a:gd name="T53" fmla="*/ 44 h 172"/>
                <a:gd name="T54" fmla="*/ 150 w 170"/>
                <a:gd name="T55" fmla="*/ 32 h 172"/>
                <a:gd name="T56" fmla="*/ 140 w 170"/>
                <a:gd name="T57" fmla="*/ 20 h 172"/>
                <a:gd name="T58" fmla="*/ 126 w 170"/>
                <a:gd name="T59" fmla="*/ 11 h 172"/>
                <a:gd name="T60" fmla="*/ 111 w 170"/>
                <a:gd name="T61" fmla="*/ 5 h 172"/>
                <a:gd name="T62" fmla="*/ 94 w 170"/>
                <a:gd name="T63" fmla="*/ 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 h="172">
                  <a:moveTo>
                    <a:pt x="85" y="0"/>
                  </a:moveTo>
                  <a:lnTo>
                    <a:pt x="76" y="0"/>
                  </a:lnTo>
                  <a:lnTo>
                    <a:pt x="67" y="2"/>
                  </a:lnTo>
                  <a:lnTo>
                    <a:pt x="59" y="5"/>
                  </a:lnTo>
                  <a:lnTo>
                    <a:pt x="51" y="6"/>
                  </a:lnTo>
                  <a:lnTo>
                    <a:pt x="44" y="11"/>
                  </a:lnTo>
                  <a:lnTo>
                    <a:pt x="36" y="15"/>
                  </a:lnTo>
                  <a:lnTo>
                    <a:pt x="30" y="20"/>
                  </a:lnTo>
                  <a:lnTo>
                    <a:pt x="24" y="26"/>
                  </a:lnTo>
                  <a:lnTo>
                    <a:pt x="18" y="32"/>
                  </a:lnTo>
                  <a:lnTo>
                    <a:pt x="13" y="38"/>
                  </a:lnTo>
                  <a:lnTo>
                    <a:pt x="9" y="44"/>
                  </a:lnTo>
                  <a:lnTo>
                    <a:pt x="6" y="52"/>
                  </a:lnTo>
                  <a:lnTo>
                    <a:pt x="3" y="61"/>
                  </a:lnTo>
                  <a:lnTo>
                    <a:pt x="1" y="69"/>
                  </a:lnTo>
                  <a:lnTo>
                    <a:pt x="0" y="78"/>
                  </a:lnTo>
                  <a:lnTo>
                    <a:pt x="0" y="85"/>
                  </a:lnTo>
                  <a:lnTo>
                    <a:pt x="0" y="94"/>
                  </a:lnTo>
                  <a:lnTo>
                    <a:pt x="1" y="103"/>
                  </a:lnTo>
                  <a:lnTo>
                    <a:pt x="3" y="111"/>
                  </a:lnTo>
                  <a:lnTo>
                    <a:pt x="6" y="119"/>
                  </a:lnTo>
                  <a:lnTo>
                    <a:pt x="9" y="126"/>
                  </a:lnTo>
                  <a:lnTo>
                    <a:pt x="13" y="134"/>
                  </a:lnTo>
                  <a:lnTo>
                    <a:pt x="18" y="140"/>
                  </a:lnTo>
                  <a:lnTo>
                    <a:pt x="24" y="146"/>
                  </a:lnTo>
                  <a:lnTo>
                    <a:pt x="30" y="152"/>
                  </a:lnTo>
                  <a:lnTo>
                    <a:pt x="36" y="157"/>
                  </a:lnTo>
                  <a:lnTo>
                    <a:pt x="44" y="161"/>
                  </a:lnTo>
                  <a:lnTo>
                    <a:pt x="51" y="164"/>
                  </a:lnTo>
                  <a:lnTo>
                    <a:pt x="59" y="167"/>
                  </a:lnTo>
                  <a:lnTo>
                    <a:pt x="67" y="169"/>
                  </a:lnTo>
                  <a:lnTo>
                    <a:pt x="76" y="170"/>
                  </a:lnTo>
                  <a:lnTo>
                    <a:pt x="85" y="172"/>
                  </a:lnTo>
                  <a:lnTo>
                    <a:pt x="94" y="170"/>
                  </a:lnTo>
                  <a:lnTo>
                    <a:pt x="102" y="169"/>
                  </a:lnTo>
                  <a:lnTo>
                    <a:pt x="111" y="167"/>
                  </a:lnTo>
                  <a:lnTo>
                    <a:pt x="118" y="164"/>
                  </a:lnTo>
                  <a:lnTo>
                    <a:pt x="126" y="161"/>
                  </a:lnTo>
                  <a:lnTo>
                    <a:pt x="132" y="157"/>
                  </a:lnTo>
                  <a:lnTo>
                    <a:pt x="140" y="152"/>
                  </a:lnTo>
                  <a:lnTo>
                    <a:pt x="146" y="146"/>
                  </a:lnTo>
                  <a:lnTo>
                    <a:pt x="150" y="140"/>
                  </a:lnTo>
                  <a:lnTo>
                    <a:pt x="155" y="134"/>
                  </a:lnTo>
                  <a:lnTo>
                    <a:pt x="159" y="126"/>
                  </a:lnTo>
                  <a:lnTo>
                    <a:pt x="164" y="119"/>
                  </a:lnTo>
                  <a:lnTo>
                    <a:pt x="165" y="111"/>
                  </a:lnTo>
                  <a:lnTo>
                    <a:pt x="168" y="103"/>
                  </a:lnTo>
                  <a:lnTo>
                    <a:pt x="170" y="94"/>
                  </a:lnTo>
                  <a:lnTo>
                    <a:pt x="170" y="85"/>
                  </a:lnTo>
                  <a:lnTo>
                    <a:pt x="170" y="78"/>
                  </a:lnTo>
                  <a:lnTo>
                    <a:pt x="168" y="69"/>
                  </a:lnTo>
                  <a:lnTo>
                    <a:pt x="165" y="61"/>
                  </a:lnTo>
                  <a:lnTo>
                    <a:pt x="164" y="52"/>
                  </a:lnTo>
                  <a:lnTo>
                    <a:pt x="159" y="44"/>
                  </a:lnTo>
                  <a:lnTo>
                    <a:pt x="155" y="38"/>
                  </a:lnTo>
                  <a:lnTo>
                    <a:pt x="150" y="32"/>
                  </a:lnTo>
                  <a:lnTo>
                    <a:pt x="146" y="26"/>
                  </a:lnTo>
                  <a:lnTo>
                    <a:pt x="140" y="20"/>
                  </a:lnTo>
                  <a:lnTo>
                    <a:pt x="132" y="15"/>
                  </a:lnTo>
                  <a:lnTo>
                    <a:pt x="126" y="11"/>
                  </a:lnTo>
                  <a:lnTo>
                    <a:pt x="118" y="6"/>
                  </a:lnTo>
                  <a:lnTo>
                    <a:pt x="111" y="5"/>
                  </a:lnTo>
                  <a:lnTo>
                    <a:pt x="102" y="2"/>
                  </a:lnTo>
                  <a:lnTo>
                    <a:pt x="94" y="0"/>
                  </a:lnTo>
                  <a:lnTo>
                    <a:pt x="85"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2694" name="Rectangle 54">
              <a:extLst>
                <a:ext uri="{FF2B5EF4-FFF2-40B4-BE49-F238E27FC236}">
                  <a16:creationId xmlns:a16="http://schemas.microsoft.com/office/drawing/2014/main" id="{A27CADFA-E0CA-7531-905C-05CDDF13A32D}"/>
                </a:ext>
              </a:extLst>
            </p:cNvPr>
            <p:cNvSpPr>
              <a:spLocks noChangeArrowheads="1"/>
            </p:cNvSpPr>
            <p:nvPr/>
          </p:nvSpPr>
          <p:spPr bwMode="auto">
            <a:xfrm>
              <a:off x="1395" y="2196"/>
              <a:ext cx="78"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P</a:t>
              </a:r>
              <a:endParaRPr lang="en-US" altLang="en-US"/>
            </a:p>
          </p:txBody>
        </p:sp>
        <p:sp>
          <p:nvSpPr>
            <p:cNvPr id="112695" name="Rectangle 55">
              <a:extLst>
                <a:ext uri="{FF2B5EF4-FFF2-40B4-BE49-F238E27FC236}">
                  <a16:creationId xmlns:a16="http://schemas.microsoft.com/office/drawing/2014/main" id="{75788628-3D50-7156-8B8A-2258317E99BF}"/>
                </a:ext>
              </a:extLst>
            </p:cNvPr>
            <p:cNvSpPr>
              <a:spLocks noChangeArrowheads="1"/>
            </p:cNvSpPr>
            <p:nvPr/>
          </p:nvSpPr>
          <p:spPr bwMode="auto">
            <a:xfrm>
              <a:off x="3272" y="1592"/>
              <a:ext cx="154"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14</a:t>
              </a:r>
              <a:endParaRPr lang="en-US" altLang="en-US"/>
            </a:p>
          </p:txBody>
        </p:sp>
        <p:sp>
          <p:nvSpPr>
            <p:cNvPr id="112696" name="Rectangle 56">
              <a:extLst>
                <a:ext uri="{FF2B5EF4-FFF2-40B4-BE49-F238E27FC236}">
                  <a16:creationId xmlns:a16="http://schemas.microsoft.com/office/drawing/2014/main" id="{1AB15BBF-9E2D-5E26-E083-D115591D9E07}"/>
                </a:ext>
              </a:extLst>
            </p:cNvPr>
            <p:cNvSpPr>
              <a:spLocks noChangeArrowheads="1"/>
            </p:cNvSpPr>
            <p:nvPr/>
          </p:nvSpPr>
          <p:spPr bwMode="auto">
            <a:xfrm>
              <a:off x="2835" y="1322"/>
              <a:ext cx="77"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t>8</a:t>
              </a:r>
              <a:endParaRPr lang="en-US" altLang="en-US"/>
            </a:p>
          </p:txBody>
        </p:sp>
        <p:sp>
          <p:nvSpPr>
            <p:cNvPr id="112697" name="Rectangle 57">
              <a:extLst>
                <a:ext uri="{FF2B5EF4-FFF2-40B4-BE49-F238E27FC236}">
                  <a16:creationId xmlns:a16="http://schemas.microsoft.com/office/drawing/2014/main" id="{819FC7E7-CA44-DA59-CBEB-08F522BA39ED}"/>
                </a:ext>
              </a:extLst>
            </p:cNvPr>
            <p:cNvSpPr>
              <a:spLocks noChangeArrowheads="1"/>
            </p:cNvSpPr>
            <p:nvPr/>
          </p:nvSpPr>
          <p:spPr bwMode="auto">
            <a:xfrm>
              <a:off x="2542" y="1285"/>
              <a:ext cx="154"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t>12</a:t>
              </a:r>
              <a:endParaRPr lang="en-US" altLang="en-US"/>
            </a:p>
          </p:txBody>
        </p:sp>
        <p:sp>
          <p:nvSpPr>
            <p:cNvPr id="112698" name="Rectangle 58">
              <a:extLst>
                <a:ext uri="{FF2B5EF4-FFF2-40B4-BE49-F238E27FC236}">
                  <a16:creationId xmlns:a16="http://schemas.microsoft.com/office/drawing/2014/main" id="{ABA7979E-0710-5757-DF20-3E8002D22256}"/>
                </a:ext>
              </a:extLst>
            </p:cNvPr>
            <p:cNvSpPr>
              <a:spLocks noChangeArrowheads="1"/>
            </p:cNvSpPr>
            <p:nvPr/>
          </p:nvSpPr>
          <p:spPr bwMode="auto">
            <a:xfrm>
              <a:off x="1849" y="828"/>
              <a:ext cx="154"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t>10</a:t>
              </a:r>
              <a:endParaRPr lang="en-US" altLang="en-US"/>
            </a:p>
          </p:txBody>
        </p:sp>
        <p:sp>
          <p:nvSpPr>
            <p:cNvPr id="112699" name="Rectangle 59">
              <a:extLst>
                <a:ext uri="{FF2B5EF4-FFF2-40B4-BE49-F238E27FC236}">
                  <a16:creationId xmlns:a16="http://schemas.microsoft.com/office/drawing/2014/main" id="{660D0B16-2DCE-D487-451A-E9E0A4A70165}"/>
                </a:ext>
              </a:extLst>
            </p:cNvPr>
            <p:cNvSpPr>
              <a:spLocks noChangeArrowheads="1"/>
            </p:cNvSpPr>
            <p:nvPr/>
          </p:nvSpPr>
          <p:spPr bwMode="auto">
            <a:xfrm>
              <a:off x="1810" y="1495"/>
              <a:ext cx="154"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10</a:t>
              </a:r>
              <a:endParaRPr lang="en-US" altLang="en-US"/>
            </a:p>
          </p:txBody>
        </p:sp>
        <p:sp>
          <p:nvSpPr>
            <p:cNvPr id="112700" name="Rectangle 60">
              <a:extLst>
                <a:ext uri="{FF2B5EF4-FFF2-40B4-BE49-F238E27FC236}">
                  <a16:creationId xmlns:a16="http://schemas.microsoft.com/office/drawing/2014/main" id="{FEC794C1-531F-3035-1367-B070D1101E89}"/>
                </a:ext>
              </a:extLst>
            </p:cNvPr>
            <p:cNvSpPr>
              <a:spLocks noChangeArrowheads="1"/>
            </p:cNvSpPr>
            <p:nvPr/>
          </p:nvSpPr>
          <p:spPr bwMode="auto">
            <a:xfrm>
              <a:off x="2161" y="2073"/>
              <a:ext cx="77"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t>4</a:t>
              </a:r>
              <a:endParaRPr lang="en-US" altLang="en-US"/>
            </a:p>
          </p:txBody>
        </p:sp>
        <p:sp>
          <p:nvSpPr>
            <p:cNvPr id="112701" name="Rectangle 61">
              <a:extLst>
                <a:ext uri="{FF2B5EF4-FFF2-40B4-BE49-F238E27FC236}">
                  <a16:creationId xmlns:a16="http://schemas.microsoft.com/office/drawing/2014/main" id="{CD4B7300-4826-6F6F-34B6-2835BF9D19C8}"/>
                </a:ext>
              </a:extLst>
            </p:cNvPr>
            <p:cNvSpPr>
              <a:spLocks noChangeArrowheads="1"/>
            </p:cNvSpPr>
            <p:nvPr/>
          </p:nvSpPr>
          <p:spPr bwMode="auto">
            <a:xfrm>
              <a:off x="1335" y="1629"/>
              <a:ext cx="77"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7</a:t>
              </a:r>
              <a:endParaRPr lang="en-US" altLang="en-US"/>
            </a:p>
          </p:txBody>
        </p:sp>
        <p:sp>
          <p:nvSpPr>
            <p:cNvPr id="112702" name="Rectangle 62">
              <a:extLst>
                <a:ext uri="{FF2B5EF4-FFF2-40B4-BE49-F238E27FC236}">
                  <a16:creationId xmlns:a16="http://schemas.microsoft.com/office/drawing/2014/main" id="{665874F4-F0C4-F500-D0FA-2BF2E499839F}"/>
                </a:ext>
              </a:extLst>
            </p:cNvPr>
            <p:cNvSpPr>
              <a:spLocks noChangeArrowheads="1"/>
            </p:cNvSpPr>
            <p:nvPr/>
          </p:nvSpPr>
          <p:spPr bwMode="auto">
            <a:xfrm>
              <a:off x="803" y="2025"/>
              <a:ext cx="77"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t>0</a:t>
              </a:r>
              <a:endParaRPr lang="en-US" altLang="en-US"/>
            </a:p>
          </p:txBody>
        </p:sp>
        <p:sp>
          <p:nvSpPr>
            <p:cNvPr id="112703" name="Rectangle 63">
              <a:extLst>
                <a:ext uri="{FF2B5EF4-FFF2-40B4-BE49-F238E27FC236}">
                  <a16:creationId xmlns:a16="http://schemas.microsoft.com/office/drawing/2014/main" id="{4546764E-D832-BC64-E5C3-B97A2C70498D}"/>
                </a:ext>
              </a:extLst>
            </p:cNvPr>
            <p:cNvSpPr>
              <a:spLocks noChangeArrowheads="1"/>
            </p:cNvSpPr>
            <p:nvPr/>
          </p:nvSpPr>
          <p:spPr bwMode="auto">
            <a:xfrm>
              <a:off x="897" y="1768"/>
              <a:ext cx="77"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t>6</a:t>
              </a:r>
              <a:endParaRPr lang="en-US" altLang="en-US"/>
            </a:p>
          </p:txBody>
        </p:sp>
        <p:sp>
          <p:nvSpPr>
            <p:cNvPr id="112704" name="Rectangle 64">
              <a:extLst>
                <a:ext uri="{FF2B5EF4-FFF2-40B4-BE49-F238E27FC236}">
                  <a16:creationId xmlns:a16="http://schemas.microsoft.com/office/drawing/2014/main" id="{2CC5F4A8-620C-31B0-D9AF-02B65B55C355}"/>
                </a:ext>
              </a:extLst>
            </p:cNvPr>
            <p:cNvSpPr>
              <a:spLocks noChangeArrowheads="1"/>
            </p:cNvSpPr>
            <p:nvPr/>
          </p:nvSpPr>
          <p:spPr bwMode="auto">
            <a:xfrm>
              <a:off x="1078" y="1505"/>
              <a:ext cx="77"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0</a:t>
              </a:r>
              <a:endParaRPr lang="en-US" altLang="en-US"/>
            </a:p>
          </p:txBody>
        </p:sp>
        <p:sp>
          <p:nvSpPr>
            <p:cNvPr id="112705" name="Rectangle 65">
              <a:extLst>
                <a:ext uri="{FF2B5EF4-FFF2-40B4-BE49-F238E27FC236}">
                  <a16:creationId xmlns:a16="http://schemas.microsoft.com/office/drawing/2014/main" id="{8D01BDB7-8A46-B27C-CB17-33A27E971B15}"/>
                </a:ext>
              </a:extLst>
            </p:cNvPr>
            <p:cNvSpPr>
              <a:spLocks noChangeArrowheads="1"/>
            </p:cNvSpPr>
            <p:nvPr/>
          </p:nvSpPr>
          <p:spPr bwMode="auto">
            <a:xfrm>
              <a:off x="2019" y="1258"/>
              <a:ext cx="77"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0</a:t>
              </a:r>
              <a:endParaRPr lang="en-US" altLang="en-US"/>
            </a:p>
          </p:txBody>
        </p:sp>
        <p:sp>
          <p:nvSpPr>
            <p:cNvPr id="112706" name="Rectangle 66">
              <a:extLst>
                <a:ext uri="{FF2B5EF4-FFF2-40B4-BE49-F238E27FC236}">
                  <a16:creationId xmlns:a16="http://schemas.microsoft.com/office/drawing/2014/main" id="{0A978361-0B79-9670-E556-406DE75BE6FE}"/>
                </a:ext>
              </a:extLst>
            </p:cNvPr>
            <p:cNvSpPr>
              <a:spLocks noChangeArrowheads="1"/>
            </p:cNvSpPr>
            <p:nvPr/>
          </p:nvSpPr>
          <p:spPr bwMode="auto">
            <a:xfrm>
              <a:off x="1950" y="1038"/>
              <a:ext cx="77"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t>2</a:t>
              </a:r>
              <a:endParaRPr lang="en-US" altLang="en-US"/>
            </a:p>
          </p:txBody>
        </p:sp>
        <p:sp>
          <p:nvSpPr>
            <p:cNvPr id="112707" name="Rectangle 67">
              <a:extLst>
                <a:ext uri="{FF2B5EF4-FFF2-40B4-BE49-F238E27FC236}">
                  <a16:creationId xmlns:a16="http://schemas.microsoft.com/office/drawing/2014/main" id="{2920636D-AB8D-4746-25D7-6EC35005289D}"/>
                </a:ext>
              </a:extLst>
            </p:cNvPr>
            <p:cNvSpPr>
              <a:spLocks noChangeArrowheads="1"/>
            </p:cNvSpPr>
            <p:nvPr/>
          </p:nvSpPr>
          <p:spPr bwMode="auto">
            <a:xfrm>
              <a:off x="3074" y="1468"/>
              <a:ext cx="77"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0</a:t>
              </a:r>
              <a:endParaRPr lang="en-US" altLang="en-US"/>
            </a:p>
          </p:txBody>
        </p:sp>
        <p:sp>
          <p:nvSpPr>
            <p:cNvPr id="112708" name="Rectangle 68">
              <a:extLst>
                <a:ext uri="{FF2B5EF4-FFF2-40B4-BE49-F238E27FC236}">
                  <a16:creationId xmlns:a16="http://schemas.microsoft.com/office/drawing/2014/main" id="{39AA99B8-2D49-134F-7391-4683BE3CD154}"/>
                </a:ext>
              </a:extLst>
            </p:cNvPr>
            <p:cNvSpPr>
              <a:spLocks noChangeArrowheads="1"/>
            </p:cNvSpPr>
            <p:nvPr/>
          </p:nvSpPr>
          <p:spPr bwMode="auto">
            <a:xfrm>
              <a:off x="2057" y="1864"/>
              <a:ext cx="77"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t>6</a:t>
              </a:r>
              <a:endParaRPr lang="en-US" altLang="en-US"/>
            </a:p>
          </p:txBody>
        </p:sp>
      </p:grpSp>
      <p:sp>
        <p:nvSpPr>
          <p:cNvPr id="112709" name="Freeform 69">
            <a:extLst>
              <a:ext uri="{FF2B5EF4-FFF2-40B4-BE49-F238E27FC236}">
                <a16:creationId xmlns:a16="http://schemas.microsoft.com/office/drawing/2014/main" id="{4BE9518A-337C-C0A7-009E-A09FE4538042}"/>
              </a:ext>
            </a:extLst>
          </p:cNvPr>
          <p:cNvSpPr>
            <a:spLocks noEditPoints="1"/>
          </p:cNvSpPr>
          <p:nvPr/>
        </p:nvSpPr>
        <p:spPr bwMode="auto">
          <a:xfrm>
            <a:off x="8636000" y="4306889"/>
            <a:ext cx="1473200" cy="534987"/>
          </a:xfrm>
          <a:custGeom>
            <a:avLst/>
            <a:gdLst>
              <a:gd name="T0" fmla="*/ 921 w 928"/>
              <a:gd name="T1" fmla="*/ 337 h 337"/>
              <a:gd name="T2" fmla="*/ 60 w 928"/>
              <a:gd name="T3" fmla="*/ 35 h 337"/>
              <a:gd name="T4" fmla="*/ 58 w 928"/>
              <a:gd name="T5" fmla="*/ 35 h 337"/>
              <a:gd name="T6" fmla="*/ 56 w 928"/>
              <a:gd name="T7" fmla="*/ 33 h 337"/>
              <a:gd name="T8" fmla="*/ 56 w 928"/>
              <a:gd name="T9" fmla="*/ 32 h 337"/>
              <a:gd name="T10" fmla="*/ 56 w 928"/>
              <a:gd name="T11" fmla="*/ 29 h 337"/>
              <a:gd name="T12" fmla="*/ 56 w 928"/>
              <a:gd name="T13" fmla="*/ 27 h 337"/>
              <a:gd name="T14" fmla="*/ 58 w 928"/>
              <a:gd name="T15" fmla="*/ 27 h 337"/>
              <a:gd name="T16" fmla="*/ 60 w 928"/>
              <a:gd name="T17" fmla="*/ 26 h 337"/>
              <a:gd name="T18" fmla="*/ 63 w 928"/>
              <a:gd name="T19" fmla="*/ 27 h 337"/>
              <a:gd name="T20" fmla="*/ 924 w 928"/>
              <a:gd name="T21" fmla="*/ 328 h 337"/>
              <a:gd name="T22" fmla="*/ 926 w 928"/>
              <a:gd name="T23" fmla="*/ 329 h 337"/>
              <a:gd name="T24" fmla="*/ 926 w 928"/>
              <a:gd name="T25" fmla="*/ 331 h 337"/>
              <a:gd name="T26" fmla="*/ 928 w 928"/>
              <a:gd name="T27" fmla="*/ 332 h 337"/>
              <a:gd name="T28" fmla="*/ 928 w 928"/>
              <a:gd name="T29" fmla="*/ 334 h 337"/>
              <a:gd name="T30" fmla="*/ 926 w 928"/>
              <a:gd name="T31" fmla="*/ 335 h 337"/>
              <a:gd name="T32" fmla="*/ 924 w 928"/>
              <a:gd name="T33" fmla="*/ 337 h 337"/>
              <a:gd name="T34" fmla="*/ 923 w 928"/>
              <a:gd name="T35" fmla="*/ 337 h 337"/>
              <a:gd name="T36" fmla="*/ 921 w 928"/>
              <a:gd name="T37" fmla="*/ 337 h 337"/>
              <a:gd name="T38" fmla="*/ 921 w 928"/>
              <a:gd name="T39" fmla="*/ 337 h 337"/>
              <a:gd name="T40" fmla="*/ 60 w 928"/>
              <a:gd name="T41" fmla="*/ 71 h 337"/>
              <a:gd name="T42" fmla="*/ 0 w 928"/>
              <a:gd name="T43" fmla="*/ 10 h 337"/>
              <a:gd name="T44" fmla="*/ 85 w 928"/>
              <a:gd name="T45" fmla="*/ 0 h 337"/>
              <a:gd name="T46" fmla="*/ 60 w 928"/>
              <a:gd name="T47" fmla="*/ 71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28" h="337">
                <a:moveTo>
                  <a:pt x="921" y="337"/>
                </a:moveTo>
                <a:lnTo>
                  <a:pt x="60" y="35"/>
                </a:lnTo>
                <a:lnTo>
                  <a:pt x="58" y="35"/>
                </a:lnTo>
                <a:lnTo>
                  <a:pt x="56" y="33"/>
                </a:lnTo>
                <a:lnTo>
                  <a:pt x="56" y="32"/>
                </a:lnTo>
                <a:lnTo>
                  <a:pt x="56" y="29"/>
                </a:lnTo>
                <a:lnTo>
                  <a:pt x="56" y="27"/>
                </a:lnTo>
                <a:lnTo>
                  <a:pt x="58" y="27"/>
                </a:lnTo>
                <a:lnTo>
                  <a:pt x="60" y="26"/>
                </a:lnTo>
                <a:lnTo>
                  <a:pt x="63" y="27"/>
                </a:lnTo>
                <a:lnTo>
                  <a:pt x="924" y="328"/>
                </a:lnTo>
                <a:lnTo>
                  <a:pt x="926" y="329"/>
                </a:lnTo>
                <a:lnTo>
                  <a:pt x="926" y="331"/>
                </a:lnTo>
                <a:lnTo>
                  <a:pt x="928" y="332"/>
                </a:lnTo>
                <a:lnTo>
                  <a:pt x="928" y="334"/>
                </a:lnTo>
                <a:lnTo>
                  <a:pt x="926" y="335"/>
                </a:lnTo>
                <a:lnTo>
                  <a:pt x="924" y="337"/>
                </a:lnTo>
                <a:lnTo>
                  <a:pt x="923" y="337"/>
                </a:lnTo>
                <a:lnTo>
                  <a:pt x="921" y="337"/>
                </a:lnTo>
                <a:lnTo>
                  <a:pt x="921" y="337"/>
                </a:lnTo>
                <a:close/>
                <a:moveTo>
                  <a:pt x="60" y="71"/>
                </a:moveTo>
                <a:lnTo>
                  <a:pt x="0" y="10"/>
                </a:lnTo>
                <a:lnTo>
                  <a:pt x="85" y="0"/>
                </a:lnTo>
                <a:lnTo>
                  <a:pt x="60" y="71"/>
                </a:lnTo>
                <a:close/>
              </a:path>
            </a:pathLst>
          </a:custGeom>
          <a:solidFill>
            <a:srgbClr val="000000"/>
          </a:solidFill>
          <a:ln w="3175">
            <a:solidFill>
              <a:srgbClr val="000000"/>
            </a:solidFill>
            <a:prstDash val="solid"/>
            <a:round/>
            <a:headEnd/>
            <a:tailEnd/>
          </a:ln>
        </p:spPr>
        <p:txBody>
          <a:bodyPr/>
          <a:lstStyle/>
          <a:p>
            <a:endParaRPr lang="en-IN"/>
          </a:p>
        </p:txBody>
      </p:sp>
      <p:sp>
        <p:nvSpPr>
          <p:cNvPr id="112710" name="Freeform 70">
            <a:extLst>
              <a:ext uri="{FF2B5EF4-FFF2-40B4-BE49-F238E27FC236}">
                <a16:creationId xmlns:a16="http://schemas.microsoft.com/office/drawing/2014/main" id="{1D4BAC46-8823-66AA-37B2-FA7499B8711F}"/>
              </a:ext>
            </a:extLst>
          </p:cNvPr>
          <p:cNvSpPr>
            <a:spLocks noEditPoints="1"/>
          </p:cNvSpPr>
          <p:nvPr/>
        </p:nvSpPr>
        <p:spPr bwMode="auto">
          <a:xfrm>
            <a:off x="8997951" y="4918075"/>
            <a:ext cx="1139825" cy="806450"/>
          </a:xfrm>
          <a:custGeom>
            <a:avLst/>
            <a:gdLst>
              <a:gd name="T0" fmla="*/ 716 w 718"/>
              <a:gd name="T1" fmla="*/ 8 h 508"/>
              <a:gd name="T2" fmla="*/ 55 w 718"/>
              <a:gd name="T3" fmla="*/ 474 h 508"/>
              <a:gd name="T4" fmla="*/ 53 w 718"/>
              <a:gd name="T5" fmla="*/ 476 h 508"/>
              <a:gd name="T6" fmla="*/ 52 w 718"/>
              <a:gd name="T7" fmla="*/ 476 h 508"/>
              <a:gd name="T8" fmla="*/ 50 w 718"/>
              <a:gd name="T9" fmla="*/ 474 h 508"/>
              <a:gd name="T10" fmla="*/ 49 w 718"/>
              <a:gd name="T11" fmla="*/ 474 h 508"/>
              <a:gd name="T12" fmla="*/ 47 w 718"/>
              <a:gd name="T13" fmla="*/ 471 h 508"/>
              <a:gd name="T14" fmla="*/ 47 w 718"/>
              <a:gd name="T15" fmla="*/ 470 h 508"/>
              <a:gd name="T16" fmla="*/ 49 w 718"/>
              <a:gd name="T17" fmla="*/ 468 h 508"/>
              <a:gd name="T18" fmla="*/ 50 w 718"/>
              <a:gd name="T19" fmla="*/ 467 h 508"/>
              <a:gd name="T20" fmla="*/ 710 w 718"/>
              <a:gd name="T21" fmla="*/ 0 h 508"/>
              <a:gd name="T22" fmla="*/ 712 w 718"/>
              <a:gd name="T23" fmla="*/ 0 h 508"/>
              <a:gd name="T24" fmla="*/ 715 w 718"/>
              <a:gd name="T25" fmla="*/ 0 h 508"/>
              <a:gd name="T26" fmla="*/ 716 w 718"/>
              <a:gd name="T27" fmla="*/ 0 h 508"/>
              <a:gd name="T28" fmla="*/ 718 w 718"/>
              <a:gd name="T29" fmla="*/ 2 h 508"/>
              <a:gd name="T30" fmla="*/ 718 w 718"/>
              <a:gd name="T31" fmla="*/ 4 h 508"/>
              <a:gd name="T32" fmla="*/ 718 w 718"/>
              <a:gd name="T33" fmla="*/ 5 h 508"/>
              <a:gd name="T34" fmla="*/ 718 w 718"/>
              <a:gd name="T35" fmla="*/ 7 h 508"/>
              <a:gd name="T36" fmla="*/ 716 w 718"/>
              <a:gd name="T37" fmla="*/ 8 h 508"/>
              <a:gd name="T38" fmla="*/ 716 w 718"/>
              <a:gd name="T39" fmla="*/ 8 h 508"/>
              <a:gd name="T40" fmla="*/ 85 w 718"/>
              <a:gd name="T41" fmla="*/ 495 h 508"/>
              <a:gd name="T42" fmla="*/ 0 w 718"/>
              <a:gd name="T43" fmla="*/ 508 h 508"/>
              <a:gd name="T44" fmla="*/ 41 w 718"/>
              <a:gd name="T45" fmla="*/ 433 h 508"/>
              <a:gd name="T46" fmla="*/ 85 w 718"/>
              <a:gd name="T47" fmla="*/ 495 h 5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18" h="508">
                <a:moveTo>
                  <a:pt x="716" y="8"/>
                </a:moveTo>
                <a:lnTo>
                  <a:pt x="55" y="474"/>
                </a:lnTo>
                <a:lnTo>
                  <a:pt x="53" y="476"/>
                </a:lnTo>
                <a:lnTo>
                  <a:pt x="52" y="476"/>
                </a:lnTo>
                <a:lnTo>
                  <a:pt x="50" y="474"/>
                </a:lnTo>
                <a:lnTo>
                  <a:pt x="49" y="474"/>
                </a:lnTo>
                <a:lnTo>
                  <a:pt x="47" y="471"/>
                </a:lnTo>
                <a:lnTo>
                  <a:pt x="47" y="470"/>
                </a:lnTo>
                <a:lnTo>
                  <a:pt x="49" y="468"/>
                </a:lnTo>
                <a:lnTo>
                  <a:pt x="50" y="467"/>
                </a:lnTo>
                <a:lnTo>
                  <a:pt x="710" y="0"/>
                </a:lnTo>
                <a:lnTo>
                  <a:pt x="712" y="0"/>
                </a:lnTo>
                <a:lnTo>
                  <a:pt x="715" y="0"/>
                </a:lnTo>
                <a:lnTo>
                  <a:pt x="716" y="0"/>
                </a:lnTo>
                <a:lnTo>
                  <a:pt x="718" y="2"/>
                </a:lnTo>
                <a:lnTo>
                  <a:pt x="718" y="4"/>
                </a:lnTo>
                <a:lnTo>
                  <a:pt x="718" y="5"/>
                </a:lnTo>
                <a:lnTo>
                  <a:pt x="718" y="7"/>
                </a:lnTo>
                <a:lnTo>
                  <a:pt x="716" y="8"/>
                </a:lnTo>
                <a:lnTo>
                  <a:pt x="716" y="8"/>
                </a:lnTo>
                <a:close/>
                <a:moveTo>
                  <a:pt x="85" y="495"/>
                </a:moveTo>
                <a:lnTo>
                  <a:pt x="0" y="508"/>
                </a:lnTo>
                <a:lnTo>
                  <a:pt x="41" y="433"/>
                </a:lnTo>
                <a:lnTo>
                  <a:pt x="85" y="495"/>
                </a:lnTo>
                <a:close/>
              </a:path>
            </a:pathLst>
          </a:custGeom>
          <a:solidFill>
            <a:srgbClr val="000000"/>
          </a:solidFill>
          <a:ln w="3175">
            <a:solidFill>
              <a:srgbClr val="000000"/>
            </a:solidFill>
            <a:prstDash val="solid"/>
            <a:round/>
            <a:headEnd/>
            <a:tailEnd/>
          </a:ln>
        </p:spPr>
        <p:txBody>
          <a:bodyPr/>
          <a:lstStyle/>
          <a:p>
            <a:endParaRPr lang="en-IN"/>
          </a:p>
        </p:txBody>
      </p:sp>
      <p:sp>
        <p:nvSpPr>
          <p:cNvPr id="112711" name="Freeform 71">
            <a:extLst>
              <a:ext uri="{FF2B5EF4-FFF2-40B4-BE49-F238E27FC236}">
                <a16:creationId xmlns:a16="http://schemas.microsoft.com/office/drawing/2014/main" id="{16BA9631-A744-A0D0-5ED6-694606081922}"/>
              </a:ext>
            </a:extLst>
          </p:cNvPr>
          <p:cNvSpPr>
            <a:spLocks noEditPoints="1"/>
          </p:cNvSpPr>
          <p:nvPr/>
        </p:nvSpPr>
        <p:spPr bwMode="auto">
          <a:xfrm>
            <a:off x="8504239" y="4352925"/>
            <a:ext cx="382587" cy="1392238"/>
          </a:xfrm>
          <a:custGeom>
            <a:avLst/>
            <a:gdLst>
              <a:gd name="T0" fmla="*/ 231 w 241"/>
              <a:gd name="T1" fmla="*/ 874 h 877"/>
              <a:gd name="T2" fmla="*/ 28 w 241"/>
              <a:gd name="T3" fmla="*/ 62 h 877"/>
              <a:gd name="T4" fmla="*/ 28 w 241"/>
              <a:gd name="T5" fmla="*/ 60 h 877"/>
              <a:gd name="T6" fmla="*/ 28 w 241"/>
              <a:gd name="T7" fmla="*/ 59 h 877"/>
              <a:gd name="T8" fmla="*/ 30 w 241"/>
              <a:gd name="T9" fmla="*/ 57 h 877"/>
              <a:gd name="T10" fmla="*/ 32 w 241"/>
              <a:gd name="T11" fmla="*/ 57 h 877"/>
              <a:gd name="T12" fmla="*/ 33 w 241"/>
              <a:gd name="T13" fmla="*/ 56 h 877"/>
              <a:gd name="T14" fmla="*/ 35 w 241"/>
              <a:gd name="T15" fmla="*/ 57 h 877"/>
              <a:gd name="T16" fmla="*/ 36 w 241"/>
              <a:gd name="T17" fmla="*/ 59 h 877"/>
              <a:gd name="T18" fmla="*/ 38 w 241"/>
              <a:gd name="T19" fmla="*/ 60 h 877"/>
              <a:gd name="T20" fmla="*/ 241 w 241"/>
              <a:gd name="T21" fmla="*/ 871 h 877"/>
              <a:gd name="T22" fmla="*/ 240 w 241"/>
              <a:gd name="T23" fmla="*/ 874 h 877"/>
              <a:gd name="T24" fmla="*/ 240 w 241"/>
              <a:gd name="T25" fmla="*/ 876 h 877"/>
              <a:gd name="T26" fmla="*/ 238 w 241"/>
              <a:gd name="T27" fmla="*/ 877 h 877"/>
              <a:gd name="T28" fmla="*/ 237 w 241"/>
              <a:gd name="T29" fmla="*/ 877 h 877"/>
              <a:gd name="T30" fmla="*/ 235 w 241"/>
              <a:gd name="T31" fmla="*/ 877 h 877"/>
              <a:gd name="T32" fmla="*/ 234 w 241"/>
              <a:gd name="T33" fmla="*/ 877 h 877"/>
              <a:gd name="T34" fmla="*/ 232 w 241"/>
              <a:gd name="T35" fmla="*/ 876 h 877"/>
              <a:gd name="T36" fmla="*/ 231 w 241"/>
              <a:gd name="T37" fmla="*/ 874 h 877"/>
              <a:gd name="T38" fmla="*/ 231 w 241"/>
              <a:gd name="T39" fmla="*/ 874 h 877"/>
              <a:gd name="T40" fmla="*/ 0 w 241"/>
              <a:gd name="T41" fmla="*/ 83 h 877"/>
              <a:gd name="T42" fmla="*/ 18 w 241"/>
              <a:gd name="T43" fmla="*/ 0 h 877"/>
              <a:gd name="T44" fmla="*/ 73 w 241"/>
              <a:gd name="T45" fmla="*/ 65 h 877"/>
              <a:gd name="T46" fmla="*/ 0 w 241"/>
              <a:gd name="T47" fmla="*/ 83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1" h="877">
                <a:moveTo>
                  <a:pt x="231" y="874"/>
                </a:moveTo>
                <a:lnTo>
                  <a:pt x="28" y="62"/>
                </a:lnTo>
                <a:lnTo>
                  <a:pt x="28" y="60"/>
                </a:lnTo>
                <a:lnTo>
                  <a:pt x="28" y="59"/>
                </a:lnTo>
                <a:lnTo>
                  <a:pt x="30" y="57"/>
                </a:lnTo>
                <a:lnTo>
                  <a:pt x="32" y="57"/>
                </a:lnTo>
                <a:lnTo>
                  <a:pt x="33" y="56"/>
                </a:lnTo>
                <a:lnTo>
                  <a:pt x="35" y="57"/>
                </a:lnTo>
                <a:lnTo>
                  <a:pt x="36" y="59"/>
                </a:lnTo>
                <a:lnTo>
                  <a:pt x="38" y="60"/>
                </a:lnTo>
                <a:lnTo>
                  <a:pt x="241" y="871"/>
                </a:lnTo>
                <a:lnTo>
                  <a:pt x="240" y="874"/>
                </a:lnTo>
                <a:lnTo>
                  <a:pt x="240" y="876"/>
                </a:lnTo>
                <a:lnTo>
                  <a:pt x="238" y="877"/>
                </a:lnTo>
                <a:lnTo>
                  <a:pt x="237" y="877"/>
                </a:lnTo>
                <a:lnTo>
                  <a:pt x="235" y="877"/>
                </a:lnTo>
                <a:lnTo>
                  <a:pt x="234" y="877"/>
                </a:lnTo>
                <a:lnTo>
                  <a:pt x="232" y="876"/>
                </a:lnTo>
                <a:lnTo>
                  <a:pt x="231" y="874"/>
                </a:lnTo>
                <a:lnTo>
                  <a:pt x="231" y="874"/>
                </a:lnTo>
                <a:close/>
                <a:moveTo>
                  <a:pt x="0" y="83"/>
                </a:moveTo>
                <a:lnTo>
                  <a:pt x="18" y="0"/>
                </a:lnTo>
                <a:lnTo>
                  <a:pt x="73" y="65"/>
                </a:lnTo>
                <a:lnTo>
                  <a:pt x="0" y="83"/>
                </a:lnTo>
                <a:close/>
              </a:path>
            </a:pathLst>
          </a:custGeom>
          <a:solidFill>
            <a:srgbClr val="000000"/>
          </a:solidFill>
          <a:ln w="3175">
            <a:solidFill>
              <a:srgbClr val="000000"/>
            </a:solidFill>
            <a:prstDash val="solid"/>
            <a:round/>
            <a:headEnd/>
            <a:tailEnd/>
          </a:ln>
        </p:spPr>
        <p:txBody>
          <a:bodyPr/>
          <a:lstStyle/>
          <a:p>
            <a:endParaRPr lang="en-IN"/>
          </a:p>
        </p:txBody>
      </p:sp>
      <p:sp>
        <p:nvSpPr>
          <p:cNvPr id="112712" name="Freeform 72">
            <a:extLst>
              <a:ext uri="{FF2B5EF4-FFF2-40B4-BE49-F238E27FC236}">
                <a16:creationId xmlns:a16="http://schemas.microsoft.com/office/drawing/2014/main" id="{E956EC6E-8692-4763-9593-066CBFF45BC1}"/>
              </a:ext>
            </a:extLst>
          </p:cNvPr>
          <p:cNvSpPr>
            <a:spLocks noEditPoints="1"/>
          </p:cNvSpPr>
          <p:nvPr/>
        </p:nvSpPr>
        <p:spPr bwMode="auto">
          <a:xfrm>
            <a:off x="8629651" y="4359276"/>
            <a:ext cx="354013" cy="1319213"/>
          </a:xfrm>
          <a:custGeom>
            <a:avLst/>
            <a:gdLst>
              <a:gd name="T0" fmla="*/ 10 w 223"/>
              <a:gd name="T1" fmla="*/ 5 h 831"/>
              <a:gd name="T2" fmla="*/ 194 w 223"/>
              <a:gd name="T3" fmla="*/ 768 h 831"/>
              <a:gd name="T4" fmla="*/ 194 w 223"/>
              <a:gd name="T5" fmla="*/ 770 h 831"/>
              <a:gd name="T6" fmla="*/ 194 w 223"/>
              <a:gd name="T7" fmla="*/ 771 h 831"/>
              <a:gd name="T8" fmla="*/ 193 w 223"/>
              <a:gd name="T9" fmla="*/ 773 h 831"/>
              <a:gd name="T10" fmla="*/ 191 w 223"/>
              <a:gd name="T11" fmla="*/ 775 h 831"/>
              <a:gd name="T12" fmla="*/ 188 w 223"/>
              <a:gd name="T13" fmla="*/ 775 h 831"/>
              <a:gd name="T14" fmla="*/ 187 w 223"/>
              <a:gd name="T15" fmla="*/ 773 h 831"/>
              <a:gd name="T16" fmla="*/ 185 w 223"/>
              <a:gd name="T17" fmla="*/ 771 h 831"/>
              <a:gd name="T18" fmla="*/ 185 w 223"/>
              <a:gd name="T19" fmla="*/ 770 h 831"/>
              <a:gd name="T20" fmla="*/ 0 w 223"/>
              <a:gd name="T21" fmla="*/ 6 h 831"/>
              <a:gd name="T22" fmla="*/ 0 w 223"/>
              <a:gd name="T23" fmla="*/ 5 h 831"/>
              <a:gd name="T24" fmla="*/ 1 w 223"/>
              <a:gd name="T25" fmla="*/ 3 h 831"/>
              <a:gd name="T26" fmla="*/ 3 w 223"/>
              <a:gd name="T27" fmla="*/ 2 h 831"/>
              <a:gd name="T28" fmla="*/ 4 w 223"/>
              <a:gd name="T29" fmla="*/ 0 h 831"/>
              <a:gd name="T30" fmla="*/ 6 w 223"/>
              <a:gd name="T31" fmla="*/ 0 h 831"/>
              <a:gd name="T32" fmla="*/ 7 w 223"/>
              <a:gd name="T33" fmla="*/ 2 h 831"/>
              <a:gd name="T34" fmla="*/ 9 w 223"/>
              <a:gd name="T35" fmla="*/ 3 h 831"/>
              <a:gd name="T36" fmla="*/ 10 w 223"/>
              <a:gd name="T37" fmla="*/ 5 h 831"/>
              <a:gd name="T38" fmla="*/ 10 w 223"/>
              <a:gd name="T39" fmla="*/ 5 h 831"/>
              <a:gd name="T40" fmla="*/ 223 w 223"/>
              <a:gd name="T41" fmla="*/ 749 h 831"/>
              <a:gd name="T42" fmla="*/ 205 w 223"/>
              <a:gd name="T43" fmla="*/ 831 h 831"/>
              <a:gd name="T44" fmla="*/ 150 w 223"/>
              <a:gd name="T45" fmla="*/ 767 h 831"/>
              <a:gd name="T46" fmla="*/ 223 w 223"/>
              <a:gd name="T47" fmla="*/ 749 h 8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23" h="831">
                <a:moveTo>
                  <a:pt x="10" y="5"/>
                </a:moveTo>
                <a:lnTo>
                  <a:pt x="194" y="768"/>
                </a:lnTo>
                <a:lnTo>
                  <a:pt x="194" y="770"/>
                </a:lnTo>
                <a:lnTo>
                  <a:pt x="194" y="771"/>
                </a:lnTo>
                <a:lnTo>
                  <a:pt x="193" y="773"/>
                </a:lnTo>
                <a:lnTo>
                  <a:pt x="191" y="775"/>
                </a:lnTo>
                <a:lnTo>
                  <a:pt x="188" y="775"/>
                </a:lnTo>
                <a:lnTo>
                  <a:pt x="187" y="773"/>
                </a:lnTo>
                <a:lnTo>
                  <a:pt x="185" y="771"/>
                </a:lnTo>
                <a:lnTo>
                  <a:pt x="185" y="770"/>
                </a:lnTo>
                <a:lnTo>
                  <a:pt x="0" y="6"/>
                </a:lnTo>
                <a:lnTo>
                  <a:pt x="0" y="5"/>
                </a:lnTo>
                <a:lnTo>
                  <a:pt x="1" y="3"/>
                </a:lnTo>
                <a:lnTo>
                  <a:pt x="3" y="2"/>
                </a:lnTo>
                <a:lnTo>
                  <a:pt x="4" y="0"/>
                </a:lnTo>
                <a:lnTo>
                  <a:pt x="6" y="0"/>
                </a:lnTo>
                <a:lnTo>
                  <a:pt x="7" y="2"/>
                </a:lnTo>
                <a:lnTo>
                  <a:pt x="9" y="3"/>
                </a:lnTo>
                <a:lnTo>
                  <a:pt x="10" y="5"/>
                </a:lnTo>
                <a:lnTo>
                  <a:pt x="10" y="5"/>
                </a:lnTo>
                <a:close/>
                <a:moveTo>
                  <a:pt x="223" y="749"/>
                </a:moveTo>
                <a:lnTo>
                  <a:pt x="205" y="831"/>
                </a:lnTo>
                <a:lnTo>
                  <a:pt x="150" y="767"/>
                </a:lnTo>
                <a:lnTo>
                  <a:pt x="223" y="749"/>
                </a:lnTo>
                <a:close/>
              </a:path>
            </a:pathLst>
          </a:custGeom>
          <a:solidFill>
            <a:srgbClr val="000000"/>
          </a:solidFill>
          <a:ln w="3175">
            <a:solidFill>
              <a:srgbClr val="000000"/>
            </a:solidFill>
            <a:prstDash val="solid"/>
            <a:round/>
            <a:headEnd/>
            <a:tailEnd/>
          </a:ln>
        </p:spPr>
        <p:txBody>
          <a:bodyPr/>
          <a:lstStyle/>
          <a:p>
            <a:endParaRPr lang="en-IN"/>
          </a:p>
        </p:txBody>
      </p:sp>
      <p:sp>
        <p:nvSpPr>
          <p:cNvPr id="112713" name="Freeform 73">
            <a:extLst>
              <a:ext uri="{FF2B5EF4-FFF2-40B4-BE49-F238E27FC236}">
                <a16:creationId xmlns:a16="http://schemas.microsoft.com/office/drawing/2014/main" id="{C5827921-4CB7-73AF-E2CD-A9B2F892CE1A}"/>
              </a:ext>
            </a:extLst>
          </p:cNvPr>
          <p:cNvSpPr>
            <a:spLocks noEditPoints="1"/>
          </p:cNvSpPr>
          <p:nvPr/>
        </p:nvSpPr>
        <p:spPr bwMode="auto">
          <a:xfrm>
            <a:off x="6300788" y="4298950"/>
            <a:ext cx="2163762" cy="209550"/>
          </a:xfrm>
          <a:custGeom>
            <a:avLst/>
            <a:gdLst>
              <a:gd name="T0" fmla="*/ 1359 w 1363"/>
              <a:gd name="T1" fmla="*/ 11 h 132"/>
              <a:gd name="T2" fmla="*/ 64 w 1363"/>
              <a:gd name="T3" fmla="*/ 100 h 132"/>
              <a:gd name="T4" fmla="*/ 60 w 1363"/>
              <a:gd name="T5" fmla="*/ 100 h 132"/>
              <a:gd name="T6" fmla="*/ 59 w 1363"/>
              <a:gd name="T7" fmla="*/ 99 h 132"/>
              <a:gd name="T8" fmla="*/ 57 w 1363"/>
              <a:gd name="T9" fmla="*/ 97 h 132"/>
              <a:gd name="T10" fmla="*/ 57 w 1363"/>
              <a:gd name="T11" fmla="*/ 96 h 132"/>
              <a:gd name="T12" fmla="*/ 57 w 1363"/>
              <a:gd name="T13" fmla="*/ 94 h 132"/>
              <a:gd name="T14" fmla="*/ 59 w 1363"/>
              <a:gd name="T15" fmla="*/ 93 h 132"/>
              <a:gd name="T16" fmla="*/ 60 w 1363"/>
              <a:gd name="T17" fmla="*/ 91 h 132"/>
              <a:gd name="T18" fmla="*/ 62 w 1363"/>
              <a:gd name="T19" fmla="*/ 91 h 132"/>
              <a:gd name="T20" fmla="*/ 1357 w 1363"/>
              <a:gd name="T21" fmla="*/ 0 h 132"/>
              <a:gd name="T22" fmla="*/ 1359 w 1363"/>
              <a:gd name="T23" fmla="*/ 0 h 132"/>
              <a:gd name="T24" fmla="*/ 1360 w 1363"/>
              <a:gd name="T25" fmla="*/ 2 h 132"/>
              <a:gd name="T26" fmla="*/ 1362 w 1363"/>
              <a:gd name="T27" fmla="*/ 3 h 132"/>
              <a:gd name="T28" fmla="*/ 1363 w 1363"/>
              <a:gd name="T29" fmla="*/ 5 h 132"/>
              <a:gd name="T30" fmla="*/ 1362 w 1363"/>
              <a:gd name="T31" fmla="*/ 6 h 132"/>
              <a:gd name="T32" fmla="*/ 1362 w 1363"/>
              <a:gd name="T33" fmla="*/ 8 h 132"/>
              <a:gd name="T34" fmla="*/ 1360 w 1363"/>
              <a:gd name="T35" fmla="*/ 9 h 132"/>
              <a:gd name="T36" fmla="*/ 1359 w 1363"/>
              <a:gd name="T37" fmla="*/ 11 h 132"/>
              <a:gd name="T38" fmla="*/ 1359 w 1363"/>
              <a:gd name="T39" fmla="*/ 11 h 132"/>
              <a:gd name="T40" fmla="*/ 77 w 1363"/>
              <a:gd name="T41" fmla="*/ 132 h 132"/>
              <a:gd name="T42" fmla="*/ 0 w 1363"/>
              <a:gd name="T43" fmla="*/ 100 h 132"/>
              <a:gd name="T44" fmla="*/ 73 w 1363"/>
              <a:gd name="T45" fmla="*/ 58 h 132"/>
              <a:gd name="T46" fmla="*/ 77 w 1363"/>
              <a:gd name="T47"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63" h="132">
                <a:moveTo>
                  <a:pt x="1359" y="11"/>
                </a:moveTo>
                <a:lnTo>
                  <a:pt x="64" y="100"/>
                </a:lnTo>
                <a:lnTo>
                  <a:pt x="60" y="100"/>
                </a:lnTo>
                <a:lnTo>
                  <a:pt x="59" y="99"/>
                </a:lnTo>
                <a:lnTo>
                  <a:pt x="57" y="97"/>
                </a:lnTo>
                <a:lnTo>
                  <a:pt x="57" y="96"/>
                </a:lnTo>
                <a:lnTo>
                  <a:pt x="57" y="94"/>
                </a:lnTo>
                <a:lnTo>
                  <a:pt x="59" y="93"/>
                </a:lnTo>
                <a:lnTo>
                  <a:pt x="60" y="91"/>
                </a:lnTo>
                <a:lnTo>
                  <a:pt x="62" y="91"/>
                </a:lnTo>
                <a:lnTo>
                  <a:pt x="1357" y="0"/>
                </a:lnTo>
                <a:lnTo>
                  <a:pt x="1359" y="0"/>
                </a:lnTo>
                <a:lnTo>
                  <a:pt x="1360" y="2"/>
                </a:lnTo>
                <a:lnTo>
                  <a:pt x="1362" y="3"/>
                </a:lnTo>
                <a:lnTo>
                  <a:pt x="1363" y="5"/>
                </a:lnTo>
                <a:lnTo>
                  <a:pt x="1362" y="6"/>
                </a:lnTo>
                <a:lnTo>
                  <a:pt x="1362" y="8"/>
                </a:lnTo>
                <a:lnTo>
                  <a:pt x="1360" y="9"/>
                </a:lnTo>
                <a:lnTo>
                  <a:pt x="1359" y="11"/>
                </a:lnTo>
                <a:lnTo>
                  <a:pt x="1359" y="11"/>
                </a:lnTo>
                <a:close/>
                <a:moveTo>
                  <a:pt x="77" y="132"/>
                </a:moveTo>
                <a:lnTo>
                  <a:pt x="0" y="100"/>
                </a:lnTo>
                <a:lnTo>
                  <a:pt x="73" y="58"/>
                </a:lnTo>
                <a:lnTo>
                  <a:pt x="77" y="132"/>
                </a:lnTo>
                <a:close/>
              </a:path>
            </a:pathLst>
          </a:custGeom>
          <a:solidFill>
            <a:srgbClr val="000000"/>
          </a:solidFill>
          <a:ln w="3175">
            <a:solidFill>
              <a:srgbClr val="000000"/>
            </a:solidFill>
            <a:prstDash val="solid"/>
            <a:round/>
            <a:headEnd/>
            <a:tailEnd/>
          </a:ln>
        </p:spPr>
        <p:txBody>
          <a:bodyPr/>
          <a:lstStyle/>
          <a:p>
            <a:endParaRPr lang="en-IN"/>
          </a:p>
        </p:txBody>
      </p:sp>
      <p:sp>
        <p:nvSpPr>
          <p:cNvPr id="112714" name="Freeform 74">
            <a:extLst>
              <a:ext uri="{FF2B5EF4-FFF2-40B4-BE49-F238E27FC236}">
                <a16:creationId xmlns:a16="http://schemas.microsoft.com/office/drawing/2014/main" id="{385C8B22-FA03-7E4D-36E9-891F7D701DE6}"/>
              </a:ext>
            </a:extLst>
          </p:cNvPr>
          <p:cNvSpPr>
            <a:spLocks noEditPoints="1"/>
          </p:cNvSpPr>
          <p:nvPr/>
        </p:nvSpPr>
        <p:spPr bwMode="auto">
          <a:xfrm>
            <a:off x="6246813" y="4479926"/>
            <a:ext cx="2601912" cy="1319213"/>
          </a:xfrm>
          <a:custGeom>
            <a:avLst/>
            <a:gdLst>
              <a:gd name="T0" fmla="*/ 6 w 1639"/>
              <a:gd name="T1" fmla="*/ 2 h 831"/>
              <a:gd name="T2" fmla="*/ 1584 w 1639"/>
              <a:gd name="T3" fmla="*/ 799 h 831"/>
              <a:gd name="T4" fmla="*/ 1586 w 1639"/>
              <a:gd name="T5" fmla="*/ 799 h 831"/>
              <a:gd name="T6" fmla="*/ 1587 w 1639"/>
              <a:gd name="T7" fmla="*/ 800 h 831"/>
              <a:gd name="T8" fmla="*/ 1587 w 1639"/>
              <a:gd name="T9" fmla="*/ 803 h 831"/>
              <a:gd name="T10" fmla="*/ 1587 w 1639"/>
              <a:gd name="T11" fmla="*/ 805 h 831"/>
              <a:gd name="T12" fmla="*/ 1586 w 1639"/>
              <a:gd name="T13" fmla="*/ 806 h 831"/>
              <a:gd name="T14" fmla="*/ 1584 w 1639"/>
              <a:gd name="T15" fmla="*/ 806 h 831"/>
              <a:gd name="T16" fmla="*/ 1581 w 1639"/>
              <a:gd name="T17" fmla="*/ 806 h 831"/>
              <a:gd name="T18" fmla="*/ 1580 w 1639"/>
              <a:gd name="T19" fmla="*/ 806 h 831"/>
              <a:gd name="T20" fmla="*/ 3 w 1639"/>
              <a:gd name="T21" fmla="*/ 9 h 831"/>
              <a:gd name="T22" fmla="*/ 2 w 1639"/>
              <a:gd name="T23" fmla="*/ 9 h 831"/>
              <a:gd name="T24" fmla="*/ 0 w 1639"/>
              <a:gd name="T25" fmla="*/ 6 h 831"/>
              <a:gd name="T26" fmla="*/ 0 w 1639"/>
              <a:gd name="T27" fmla="*/ 5 h 831"/>
              <a:gd name="T28" fmla="*/ 0 w 1639"/>
              <a:gd name="T29" fmla="*/ 3 h 831"/>
              <a:gd name="T30" fmla="*/ 2 w 1639"/>
              <a:gd name="T31" fmla="*/ 2 h 831"/>
              <a:gd name="T32" fmla="*/ 3 w 1639"/>
              <a:gd name="T33" fmla="*/ 0 h 831"/>
              <a:gd name="T34" fmla="*/ 5 w 1639"/>
              <a:gd name="T35" fmla="*/ 0 h 831"/>
              <a:gd name="T36" fmla="*/ 6 w 1639"/>
              <a:gd name="T37" fmla="*/ 2 h 831"/>
              <a:gd name="T38" fmla="*/ 6 w 1639"/>
              <a:gd name="T39" fmla="*/ 2 h 831"/>
              <a:gd name="T40" fmla="*/ 1589 w 1639"/>
              <a:gd name="T41" fmla="*/ 762 h 831"/>
              <a:gd name="T42" fmla="*/ 1639 w 1639"/>
              <a:gd name="T43" fmla="*/ 831 h 831"/>
              <a:gd name="T44" fmla="*/ 1554 w 1639"/>
              <a:gd name="T45" fmla="*/ 831 h 831"/>
              <a:gd name="T46" fmla="*/ 1589 w 1639"/>
              <a:gd name="T47" fmla="*/ 762 h 8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39" h="831">
                <a:moveTo>
                  <a:pt x="6" y="2"/>
                </a:moveTo>
                <a:lnTo>
                  <a:pt x="1584" y="799"/>
                </a:lnTo>
                <a:lnTo>
                  <a:pt x="1586" y="799"/>
                </a:lnTo>
                <a:lnTo>
                  <a:pt x="1587" y="800"/>
                </a:lnTo>
                <a:lnTo>
                  <a:pt x="1587" y="803"/>
                </a:lnTo>
                <a:lnTo>
                  <a:pt x="1587" y="805"/>
                </a:lnTo>
                <a:lnTo>
                  <a:pt x="1586" y="806"/>
                </a:lnTo>
                <a:lnTo>
                  <a:pt x="1584" y="806"/>
                </a:lnTo>
                <a:lnTo>
                  <a:pt x="1581" y="806"/>
                </a:lnTo>
                <a:lnTo>
                  <a:pt x="1580" y="806"/>
                </a:lnTo>
                <a:lnTo>
                  <a:pt x="3" y="9"/>
                </a:lnTo>
                <a:lnTo>
                  <a:pt x="2" y="9"/>
                </a:lnTo>
                <a:lnTo>
                  <a:pt x="0" y="6"/>
                </a:lnTo>
                <a:lnTo>
                  <a:pt x="0" y="5"/>
                </a:lnTo>
                <a:lnTo>
                  <a:pt x="0" y="3"/>
                </a:lnTo>
                <a:lnTo>
                  <a:pt x="2" y="2"/>
                </a:lnTo>
                <a:lnTo>
                  <a:pt x="3" y="0"/>
                </a:lnTo>
                <a:lnTo>
                  <a:pt x="5" y="0"/>
                </a:lnTo>
                <a:lnTo>
                  <a:pt x="6" y="2"/>
                </a:lnTo>
                <a:lnTo>
                  <a:pt x="6" y="2"/>
                </a:lnTo>
                <a:close/>
                <a:moveTo>
                  <a:pt x="1589" y="762"/>
                </a:moveTo>
                <a:lnTo>
                  <a:pt x="1639" y="831"/>
                </a:lnTo>
                <a:lnTo>
                  <a:pt x="1554" y="831"/>
                </a:lnTo>
                <a:lnTo>
                  <a:pt x="1589" y="762"/>
                </a:lnTo>
                <a:close/>
              </a:path>
            </a:pathLst>
          </a:custGeom>
          <a:solidFill>
            <a:srgbClr val="000000"/>
          </a:solidFill>
          <a:ln w="3175">
            <a:solidFill>
              <a:srgbClr val="000000"/>
            </a:solidFill>
            <a:prstDash val="solid"/>
            <a:round/>
            <a:headEnd/>
            <a:tailEnd/>
          </a:ln>
        </p:spPr>
        <p:txBody>
          <a:bodyPr/>
          <a:lstStyle/>
          <a:p>
            <a:endParaRPr lang="en-IN"/>
          </a:p>
        </p:txBody>
      </p:sp>
      <p:sp>
        <p:nvSpPr>
          <p:cNvPr id="112715" name="Freeform 75">
            <a:extLst>
              <a:ext uri="{FF2B5EF4-FFF2-40B4-BE49-F238E27FC236}">
                <a16:creationId xmlns:a16="http://schemas.microsoft.com/office/drawing/2014/main" id="{B622F25C-F2E0-BA4C-DDA3-E41C5C196257}"/>
              </a:ext>
            </a:extLst>
          </p:cNvPr>
          <p:cNvSpPr>
            <a:spLocks noEditPoints="1"/>
          </p:cNvSpPr>
          <p:nvPr/>
        </p:nvSpPr>
        <p:spPr bwMode="auto">
          <a:xfrm>
            <a:off x="6783388" y="5851526"/>
            <a:ext cx="2057400" cy="492125"/>
          </a:xfrm>
          <a:custGeom>
            <a:avLst/>
            <a:gdLst>
              <a:gd name="T0" fmla="*/ 1292 w 1296"/>
              <a:gd name="T1" fmla="*/ 9 h 310"/>
              <a:gd name="T2" fmla="*/ 62 w 1296"/>
              <a:gd name="T3" fmla="*/ 281 h 310"/>
              <a:gd name="T4" fmla="*/ 61 w 1296"/>
              <a:gd name="T5" fmla="*/ 281 h 310"/>
              <a:gd name="T6" fmla="*/ 59 w 1296"/>
              <a:gd name="T7" fmla="*/ 279 h 310"/>
              <a:gd name="T8" fmla="*/ 57 w 1296"/>
              <a:gd name="T9" fmla="*/ 278 h 310"/>
              <a:gd name="T10" fmla="*/ 56 w 1296"/>
              <a:gd name="T11" fmla="*/ 276 h 310"/>
              <a:gd name="T12" fmla="*/ 56 w 1296"/>
              <a:gd name="T13" fmla="*/ 275 h 310"/>
              <a:gd name="T14" fmla="*/ 57 w 1296"/>
              <a:gd name="T15" fmla="*/ 273 h 310"/>
              <a:gd name="T16" fmla="*/ 59 w 1296"/>
              <a:gd name="T17" fmla="*/ 272 h 310"/>
              <a:gd name="T18" fmla="*/ 61 w 1296"/>
              <a:gd name="T19" fmla="*/ 272 h 310"/>
              <a:gd name="T20" fmla="*/ 1290 w 1296"/>
              <a:gd name="T21" fmla="*/ 0 h 310"/>
              <a:gd name="T22" fmla="*/ 1292 w 1296"/>
              <a:gd name="T23" fmla="*/ 0 h 310"/>
              <a:gd name="T24" fmla="*/ 1293 w 1296"/>
              <a:gd name="T25" fmla="*/ 2 h 310"/>
              <a:gd name="T26" fmla="*/ 1295 w 1296"/>
              <a:gd name="T27" fmla="*/ 2 h 310"/>
              <a:gd name="T28" fmla="*/ 1296 w 1296"/>
              <a:gd name="T29" fmla="*/ 5 h 310"/>
              <a:gd name="T30" fmla="*/ 1296 w 1296"/>
              <a:gd name="T31" fmla="*/ 6 h 310"/>
              <a:gd name="T32" fmla="*/ 1295 w 1296"/>
              <a:gd name="T33" fmla="*/ 8 h 310"/>
              <a:gd name="T34" fmla="*/ 1293 w 1296"/>
              <a:gd name="T35" fmla="*/ 9 h 310"/>
              <a:gd name="T36" fmla="*/ 1292 w 1296"/>
              <a:gd name="T37" fmla="*/ 9 h 310"/>
              <a:gd name="T38" fmla="*/ 1292 w 1296"/>
              <a:gd name="T39" fmla="*/ 9 h 310"/>
              <a:gd name="T40" fmla="*/ 82 w 1296"/>
              <a:gd name="T41" fmla="*/ 310 h 310"/>
              <a:gd name="T42" fmla="*/ 0 w 1296"/>
              <a:gd name="T43" fmla="*/ 290 h 310"/>
              <a:gd name="T44" fmla="*/ 65 w 1296"/>
              <a:gd name="T45" fmla="*/ 237 h 310"/>
              <a:gd name="T46" fmla="*/ 82 w 1296"/>
              <a:gd name="T47" fmla="*/ 310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96" h="310">
                <a:moveTo>
                  <a:pt x="1292" y="9"/>
                </a:moveTo>
                <a:lnTo>
                  <a:pt x="62" y="281"/>
                </a:lnTo>
                <a:lnTo>
                  <a:pt x="61" y="281"/>
                </a:lnTo>
                <a:lnTo>
                  <a:pt x="59" y="279"/>
                </a:lnTo>
                <a:lnTo>
                  <a:pt x="57" y="278"/>
                </a:lnTo>
                <a:lnTo>
                  <a:pt x="56" y="276"/>
                </a:lnTo>
                <a:lnTo>
                  <a:pt x="56" y="275"/>
                </a:lnTo>
                <a:lnTo>
                  <a:pt x="57" y="273"/>
                </a:lnTo>
                <a:lnTo>
                  <a:pt x="59" y="272"/>
                </a:lnTo>
                <a:lnTo>
                  <a:pt x="61" y="272"/>
                </a:lnTo>
                <a:lnTo>
                  <a:pt x="1290" y="0"/>
                </a:lnTo>
                <a:lnTo>
                  <a:pt x="1292" y="0"/>
                </a:lnTo>
                <a:lnTo>
                  <a:pt x="1293" y="2"/>
                </a:lnTo>
                <a:lnTo>
                  <a:pt x="1295" y="2"/>
                </a:lnTo>
                <a:lnTo>
                  <a:pt x="1296" y="5"/>
                </a:lnTo>
                <a:lnTo>
                  <a:pt x="1296" y="6"/>
                </a:lnTo>
                <a:lnTo>
                  <a:pt x="1295" y="8"/>
                </a:lnTo>
                <a:lnTo>
                  <a:pt x="1293" y="9"/>
                </a:lnTo>
                <a:lnTo>
                  <a:pt x="1292" y="9"/>
                </a:lnTo>
                <a:lnTo>
                  <a:pt x="1292" y="9"/>
                </a:lnTo>
                <a:close/>
                <a:moveTo>
                  <a:pt x="82" y="310"/>
                </a:moveTo>
                <a:lnTo>
                  <a:pt x="0" y="290"/>
                </a:lnTo>
                <a:lnTo>
                  <a:pt x="65" y="237"/>
                </a:lnTo>
                <a:lnTo>
                  <a:pt x="82" y="310"/>
                </a:lnTo>
                <a:close/>
              </a:path>
            </a:pathLst>
          </a:custGeom>
          <a:solidFill>
            <a:srgbClr val="000000"/>
          </a:solidFill>
          <a:ln w="3175">
            <a:solidFill>
              <a:srgbClr val="000000"/>
            </a:solidFill>
            <a:prstDash val="solid"/>
            <a:round/>
            <a:headEnd/>
            <a:tailEnd/>
          </a:ln>
        </p:spPr>
        <p:txBody>
          <a:bodyPr/>
          <a:lstStyle/>
          <a:p>
            <a:endParaRPr lang="en-IN"/>
          </a:p>
        </p:txBody>
      </p:sp>
      <p:sp>
        <p:nvSpPr>
          <p:cNvPr id="112716" name="Freeform 76">
            <a:extLst>
              <a:ext uri="{FF2B5EF4-FFF2-40B4-BE49-F238E27FC236}">
                <a16:creationId xmlns:a16="http://schemas.microsoft.com/office/drawing/2014/main" id="{8FF4DBE2-267B-A570-C701-67BF28A6A461}"/>
              </a:ext>
            </a:extLst>
          </p:cNvPr>
          <p:cNvSpPr>
            <a:spLocks noEditPoints="1"/>
          </p:cNvSpPr>
          <p:nvPr/>
        </p:nvSpPr>
        <p:spPr bwMode="auto">
          <a:xfrm>
            <a:off x="5062538" y="5557839"/>
            <a:ext cx="1530350" cy="790575"/>
          </a:xfrm>
          <a:custGeom>
            <a:avLst/>
            <a:gdLst>
              <a:gd name="T0" fmla="*/ 958 w 964"/>
              <a:gd name="T1" fmla="*/ 498 h 498"/>
              <a:gd name="T2" fmla="*/ 55 w 964"/>
              <a:gd name="T3" fmla="*/ 33 h 498"/>
              <a:gd name="T4" fmla="*/ 53 w 964"/>
              <a:gd name="T5" fmla="*/ 32 h 498"/>
              <a:gd name="T6" fmla="*/ 52 w 964"/>
              <a:gd name="T7" fmla="*/ 30 h 498"/>
              <a:gd name="T8" fmla="*/ 52 w 964"/>
              <a:gd name="T9" fmla="*/ 29 h 498"/>
              <a:gd name="T10" fmla="*/ 52 w 964"/>
              <a:gd name="T11" fmla="*/ 27 h 498"/>
              <a:gd name="T12" fmla="*/ 53 w 964"/>
              <a:gd name="T13" fmla="*/ 26 h 498"/>
              <a:gd name="T14" fmla="*/ 55 w 964"/>
              <a:gd name="T15" fmla="*/ 24 h 498"/>
              <a:gd name="T16" fmla="*/ 56 w 964"/>
              <a:gd name="T17" fmla="*/ 24 h 498"/>
              <a:gd name="T18" fmla="*/ 59 w 964"/>
              <a:gd name="T19" fmla="*/ 24 h 498"/>
              <a:gd name="T20" fmla="*/ 962 w 964"/>
              <a:gd name="T21" fmla="*/ 489 h 498"/>
              <a:gd name="T22" fmla="*/ 964 w 964"/>
              <a:gd name="T23" fmla="*/ 490 h 498"/>
              <a:gd name="T24" fmla="*/ 964 w 964"/>
              <a:gd name="T25" fmla="*/ 492 h 498"/>
              <a:gd name="T26" fmla="*/ 964 w 964"/>
              <a:gd name="T27" fmla="*/ 493 h 498"/>
              <a:gd name="T28" fmla="*/ 964 w 964"/>
              <a:gd name="T29" fmla="*/ 496 h 498"/>
              <a:gd name="T30" fmla="*/ 962 w 964"/>
              <a:gd name="T31" fmla="*/ 496 h 498"/>
              <a:gd name="T32" fmla="*/ 961 w 964"/>
              <a:gd name="T33" fmla="*/ 498 h 498"/>
              <a:gd name="T34" fmla="*/ 959 w 964"/>
              <a:gd name="T35" fmla="*/ 498 h 498"/>
              <a:gd name="T36" fmla="*/ 958 w 964"/>
              <a:gd name="T37" fmla="*/ 498 h 498"/>
              <a:gd name="T38" fmla="*/ 958 w 964"/>
              <a:gd name="T39" fmla="*/ 498 h 498"/>
              <a:gd name="T40" fmla="*/ 50 w 964"/>
              <a:gd name="T41" fmla="*/ 68 h 498"/>
              <a:gd name="T42" fmla="*/ 0 w 964"/>
              <a:gd name="T43" fmla="*/ 0 h 498"/>
              <a:gd name="T44" fmla="*/ 85 w 964"/>
              <a:gd name="T45" fmla="*/ 1 h 498"/>
              <a:gd name="T46" fmla="*/ 50 w 964"/>
              <a:gd name="T47" fmla="*/ 68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64" h="498">
                <a:moveTo>
                  <a:pt x="958" y="498"/>
                </a:moveTo>
                <a:lnTo>
                  <a:pt x="55" y="33"/>
                </a:lnTo>
                <a:lnTo>
                  <a:pt x="53" y="32"/>
                </a:lnTo>
                <a:lnTo>
                  <a:pt x="52" y="30"/>
                </a:lnTo>
                <a:lnTo>
                  <a:pt x="52" y="29"/>
                </a:lnTo>
                <a:lnTo>
                  <a:pt x="52" y="27"/>
                </a:lnTo>
                <a:lnTo>
                  <a:pt x="53" y="26"/>
                </a:lnTo>
                <a:lnTo>
                  <a:pt x="55" y="24"/>
                </a:lnTo>
                <a:lnTo>
                  <a:pt x="56" y="24"/>
                </a:lnTo>
                <a:lnTo>
                  <a:pt x="59" y="24"/>
                </a:lnTo>
                <a:lnTo>
                  <a:pt x="962" y="489"/>
                </a:lnTo>
                <a:lnTo>
                  <a:pt x="964" y="490"/>
                </a:lnTo>
                <a:lnTo>
                  <a:pt x="964" y="492"/>
                </a:lnTo>
                <a:lnTo>
                  <a:pt x="964" y="493"/>
                </a:lnTo>
                <a:lnTo>
                  <a:pt x="964" y="496"/>
                </a:lnTo>
                <a:lnTo>
                  <a:pt x="962" y="496"/>
                </a:lnTo>
                <a:lnTo>
                  <a:pt x="961" y="498"/>
                </a:lnTo>
                <a:lnTo>
                  <a:pt x="959" y="498"/>
                </a:lnTo>
                <a:lnTo>
                  <a:pt x="958" y="498"/>
                </a:lnTo>
                <a:lnTo>
                  <a:pt x="958" y="498"/>
                </a:lnTo>
                <a:close/>
                <a:moveTo>
                  <a:pt x="50" y="68"/>
                </a:moveTo>
                <a:lnTo>
                  <a:pt x="0" y="0"/>
                </a:lnTo>
                <a:lnTo>
                  <a:pt x="85" y="1"/>
                </a:lnTo>
                <a:lnTo>
                  <a:pt x="50" y="68"/>
                </a:lnTo>
                <a:close/>
              </a:path>
            </a:pathLst>
          </a:custGeom>
          <a:solidFill>
            <a:srgbClr val="000000"/>
          </a:solidFill>
          <a:ln w="3175">
            <a:solidFill>
              <a:srgbClr val="000000"/>
            </a:solidFill>
            <a:prstDash val="solid"/>
            <a:round/>
            <a:headEnd/>
            <a:tailEnd/>
          </a:ln>
        </p:spPr>
        <p:txBody>
          <a:bodyPr/>
          <a:lstStyle/>
          <a:p>
            <a:endParaRPr lang="en-IN"/>
          </a:p>
        </p:txBody>
      </p:sp>
      <p:sp>
        <p:nvSpPr>
          <p:cNvPr id="112717" name="Freeform 77">
            <a:extLst>
              <a:ext uri="{FF2B5EF4-FFF2-40B4-BE49-F238E27FC236}">
                <a16:creationId xmlns:a16="http://schemas.microsoft.com/office/drawing/2014/main" id="{19CF6A4F-883F-03C3-58AE-94C48D91742B}"/>
              </a:ext>
            </a:extLst>
          </p:cNvPr>
          <p:cNvSpPr>
            <a:spLocks noEditPoints="1"/>
          </p:cNvSpPr>
          <p:nvPr/>
        </p:nvSpPr>
        <p:spPr bwMode="auto">
          <a:xfrm>
            <a:off x="5062539" y="4511675"/>
            <a:ext cx="1031875" cy="939800"/>
          </a:xfrm>
          <a:custGeom>
            <a:avLst/>
            <a:gdLst>
              <a:gd name="T0" fmla="*/ 649 w 650"/>
              <a:gd name="T1" fmla="*/ 7 h 592"/>
              <a:gd name="T2" fmla="*/ 50 w 650"/>
              <a:gd name="T3" fmla="*/ 554 h 592"/>
              <a:gd name="T4" fmla="*/ 48 w 650"/>
              <a:gd name="T5" fmla="*/ 554 h 592"/>
              <a:gd name="T6" fmla="*/ 47 w 650"/>
              <a:gd name="T7" fmla="*/ 554 h 592"/>
              <a:gd name="T8" fmla="*/ 45 w 650"/>
              <a:gd name="T9" fmla="*/ 554 h 592"/>
              <a:gd name="T10" fmla="*/ 44 w 650"/>
              <a:gd name="T11" fmla="*/ 553 h 592"/>
              <a:gd name="T12" fmla="*/ 42 w 650"/>
              <a:gd name="T13" fmla="*/ 551 h 592"/>
              <a:gd name="T14" fmla="*/ 42 w 650"/>
              <a:gd name="T15" fmla="*/ 549 h 592"/>
              <a:gd name="T16" fmla="*/ 42 w 650"/>
              <a:gd name="T17" fmla="*/ 548 h 592"/>
              <a:gd name="T18" fmla="*/ 44 w 650"/>
              <a:gd name="T19" fmla="*/ 546 h 592"/>
              <a:gd name="T20" fmla="*/ 643 w 650"/>
              <a:gd name="T21" fmla="*/ 1 h 592"/>
              <a:gd name="T22" fmla="*/ 644 w 650"/>
              <a:gd name="T23" fmla="*/ 0 h 592"/>
              <a:gd name="T24" fmla="*/ 646 w 650"/>
              <a:gd name="T25" fmla="*/ 0 h 592"/>
              <a:gd name="T26" fmla="*/ 647 w 650"/>
              <a:gd name="T27" fmla="*/ 0 h 592"/>
              <a:gd name="T28" fmla="*/ 649 w 650"/>
              <a:gd name="T29" fmla="*/ 1 h 592"/>
              <a:gd name="T30" fmla="*/ 650 w 650"/>
              <a:gd name="T31" fmla="*/ 3 h 592"/>
              <a:gd name="T32" fmla="*/ 650 w 650"/>
              <a:gd name="T33" fmla="*/ 4 h 592"/>
              <a:gd name="T34" fmla="*/ 650 w 650"/>
              <a:gd name="T35" fmla="*/ 6 h 592"/>
              <a:gd name="T36" fmla="*/ 649 w 650"/>
              <a:gd name="T37" fmla="*/ 7 h 592"/>
              <a:gd name="T38" fmla="*/ 649 w 650"/>
              <a:gd name="T39" fmla="*/ 7 h 592"/>
              <a:gd name="T40" fmla="*/ 82 w 650"/>
              <a:gd name="T41" fmla="*/ 569 h 592"/>
              <a:gd name="T42" fmla="*/ 0 w 650"/>
              <a:gd name="T43" fmla="*/ 592 h 592"/>
              <a:gd name="T44" fmla="*/ 30 w 650"/>
              <a:gd name="T45" fmla="*/ 513 h 592"/>
              <a:gd name="T46" fmla="*/ 82 w 650"/>
              <a:gd name="T47" fmla="*/ 569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50" h="592">
                <a:moveTo>
                  <a:pt x="649" y="7"/>
                </a:moveTo>
                <a:lnTo>
                  <a:pt x="50" y="554"/>
                </a:lnTo>
                <a:lnTo>
                  <a:pt x="48" y="554"/>
                </a:lnTo>
                <a:lnTo>
                  <a:pt x="47" y="554"/>
                </a:lnTo>
                <a:lnTo>
                  <a:pt x="45" y="554"/>
                </a:lnTo>
                <a:lnTo>
                  <a:pt x="44" y="553"/>
                </a:lnTo>
                <a:lnTo>
                  <a:pt x="42" y="551"/>
                </a:lnTo>
                <a:lnTo>
                  <a:pt x="42" y="549"/>
                </a:lnTo>
                <a:lnTo>
                  <a:pt x="42" y="548"/>
                </a:lnTo>
                <a:lnTo>
                  <a:pt x="44" y="546"/>
                </a:lnTo>
                <a:lnTo>
                  <a:pt x="643" y="1"/>
                </a:lnTo>
                <a:lnTo>
                  <a:pt x="644" y="0"/>
                </a:lnTo>
                <a:lnTo>
                  <a:pt x="646" y="0"/>
                </a:lnTo>
                <a:lnTo>
                  <a:pt x="647" y="0"/>
                </a:lnTo>
                <a:lnTo>
                  <a:pt x="649" y="1"/>
                </a:lnTo>
                <a:lnTo>
                  <a:pt x="650" y="3"/>
                </a:lnTo>
                <a:lnTo>
                  <a:pt x="650" y="4"/>
                </a:lnTo>
                <a:lnTo>
                  <a:pt x="650" y="6"/>
                </a:lnTo>
                <a:lnTo>
                  <a:pt x="649" y="7"/>
                </a:lnTo>
                <a:lnTo>
                  <a:pt x="649" y="7"/>
                </a:lnTo>
                <a:close/>
                <a:moveTo>
                  <a:pt x="82" y="569"/>
                </a:moveTo>
                <a:lnTo>
                  <a:pt x="0" y="592"/>
                </a:lnTo>
                <a:lnTo>
                  <a:pt x="30" y="513"/>
                </a:lnTo>
                <a:lnTo>
                  <a:pt x="82" y="569"/>
                </a:lnTo>
                <a:close/>
              </a:path>
            </a:pathLst>
          </a:custGeom>
          <a:solidFill>
            <a:srgbClr val="000000"/>
          </a:solidFill>
          <a:ln w="3175">
            <a:solidFill>
              <a:srgbClr val="000000"/>
            </a:solidFill>
            <a:prstDash val="solid"/>
            <a:round/>
            <a:headEnd/>
            <a:tailEnd/>
          </a:ln>
        </p:spPr>
        <p:txBody>
          <a:bodyPr/>
          <a:lstStyle/>
          <a:p>
            <a:endParaRPr lang="en-IN"/>
          </a:p>
        </p:txBody>
      </p:sp>
      <p:sp>
        <p:nvSpPr>
          <p:cNvPr id="112718" name="Freeform 78">
            <a:extLst>
              <a:ext uri="{FF2B5EF4-FFF2-40B4-BE49-F238E27FC236}">
                <a16:creationId xmlns:a16="http://schemas.microsoft.com/office/drawing/2014/main" id="{57EACBA8-F34D-A8A1-0568-E0DF1169A1A7}"/>
              </a:ext>
            </a:extLst>
          </p:cNvPr>
          <p:cNvSpPr>
            <a:spLocks noEditPoints="1"/>
          </p:cNvSpPr>
          <p:nvPr/>
        </p:nvSpPr>
        <p:spPr bwMode="auto">
          <a:xfrm>
            <a:off x="6154738" y="4548188"/>
            <a:ext cx="544512" cy="1725612"/>
          </a:xfrm>
          <a:custGeom>
            <a:avLst/>
            <a:gdLst>
              <a:gd name="T0" fmla="*/ 333 w 343"/>
              <a:gd name="T1" fmla="*/ 1084 h 1087"/>
              <a:gd name="T2" fmla="*/ 29 w 343"/>
              <a:gd name="T3" fmla="*/ 62 h 1087"/>
              <a:gd name="T4" fmla="*/ 28 w 343"/>
              <a:gd name="T5" fmla="*/ 60 h 1087"/>
              <a:gd name="T6" fmla="*/ 29 w 343"/>
              <a:gd name="T7" fmla="*/ 59 h 1087"/>
              <a:gd name="T8" fmla="*/ 31 w 343"/>
              <a:gd name="T9" fmla="*/ 57 h 1087"/>
              <a:gd name="T10" fmla="*/ 32 w 343"/>
              <a:gd name="T11" fmla="*/ 56 h 1087"/>
              <a:gd name="T12" fmla="*/ 34 w 343"/>
              <a:gd name="T13" fmla="*/ 56 h 1087"/>
              <a:gd name="T14" fmla="*/ 35 w 343"/>
              <a:gd name="T15" fmla="*/ 57 h 1087"/>
              <a:gd name="T16" fmla="*/ 37 w 343"/>
              <a:gd name="T17" fmla="*/ 57 h 1087"/>
              <a:gd name="T18" fmla="*/ 38 w 343"/>
              <a:gd name="T19" fmla="*/ 59 h 1087"/>
              <a:gd name="T20" fmla="*/ 343 w 343"/>
              <a:gd name="T21" fmla="*/ 1081 h 1087"/>
              <a:gd name="T22" fmla="*/ 343 w 343"/>
              <a:gd name="T23" fmla="*/ 1082 h 1087"/>
              <a:gd name="T24" fmla="*/ 343 w 343"/>
              <a:gd name="T25" fmla="*/ 1084 h 1087"/>
              <a:gd name="T26" fmla="*/ 341 w 343"/>
              <a:gd name="T27" fmla="*/ 1085 h 1087"/>
              <a:gd name="T28" fmla="*/ 339 w 343"/>
              <a:gd name="T29" fmla="*/ 1087 h 1087"/>
              <a:gd name="T30" fmla="*/ 338 w 343"/>
              <a:gd name="T31" fmla="*/ 1087 h 1087"/>
              <a:gd name="T32" fmla="*/ 336 w 343"/>
              <a:gd name="T33" fmla="*/ 1087 h 1087"/>
              <a:gd name="T34" fmla="*/ 335 w 343"/>
              <a:gd name="T35" fmla="*/ 1085 h 1087"/>
              <a:gd name="T36" fmla="*/ 333 w 343"/>
              <a:gd name="T37" fmla="*/ 1084 h 1087"/>
              <a:gd name="T38" fmla="*/ 333 w 343"/>
              <a:gd name="T39" fmla="*/ 1084 h 1087"/>
              <a:gd name="T40" fmla="*/ 0 w 343"/>
              <a:gd name="T41" fmla="*/ 83 h 1087"/>
              <a:gd name="T42" fmla="*/ 16 w 343"/>
              <a:gd name="T43" fmla="*/ 0 h 1087"/>
              <a:gd name="T44" fmla="*/ 73 w 343"/>
              <a:gd name="T45" fmla="*/ 62 h 1087"/>
              <a:gd name="T46" fmla="*/ 0 w 343"/>
              <a:gd name="T47" fmla="*/ 83 h 10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3" h="1087">
                <a:moveTo>
                  <a:pt x="333" y="1084"/>
                </a:moveTo>
                <a:lnTo>
                  <a:pt x="29" y="62"/>
                </a:lnTo>
                <a:lnTo>
                  <a:pt x="28" y="60"/>
                </a:lnTo>
                <a:lnTo>
                  <a:pt x="29" y="59"/>
                </a:lnTo>
                <a:lnTo>
                  <a:pt x="31" y="57"/>
                </a:lnTo>
                <a:lnTo>
                  <a:pt x="32" y="56"/>
                </a:lnTo>
                <a:lnTo>
                  <a:pt x="34" y="56"/>
                </a:lnTo>
                <a:lnTo>
                  <a:pt x="35" y="57"/>
                </a:lnTo>
                <a:lnTo>
                  <a:pt x="37" y="57"/>
                </a:lnTo>
                <a:lnTo>
                  <a:pt x="38" y="59"/>
                </a:lnTo>
                <a:lnTo>
                  <a:pt x="343" y="1081"/>
                </a:lnTo>
                <a:lnTo>
                  <a:pt x="343" y="1082"/>
                </a:lnTo>
                <a:lnTo>
                  <a:pt x="343" y="1084"/>
                </a:lnTo>
                <a:lnTo>
                  <a:pt x="341" y="1085"/>
                </a:lnTo>
                <a:lnTo>
                  <a:pt x="339" y="1087"/>
                </a:lnTo>
                <a:lnTo>
                  <a:pt x="338" y="1087"/>
                </a:lnTo>
                <a:lnTo>
                  <a:pt x="336" y="1087"/>
                </a:lnTo>
                <a:lnTo>
                  <a:pt x="335" y="1085"/>
                </a:lnTo>
                <a:lnTo>
                  <a:pt x="333" y="1084"/>
                </a:lnTo>
                <a:lnTo>
                  <a:pt x="333" y="1084"/>
                </a:lnTo>
                <a:close/>
                <a:moveTo>
                  <a:pt x="0" y="83"/>
                </a:moveTo>
                <a:lnTo>
                  <a:pt x="16" y="0"/>
                </a:lnTo>
                <a:lnTo>
                  <a:pt x="73" y="62"/>
                </a:lnTo>
                <a:lnTo>
                  <a:pt x="0" y="83"/>
                </a:lnTo>
                <a:close/>
              </a:path>
            </a:pathLst>
          </a:custGeom>
          <a:solidFill>
            <a:srgbClr val="000000"/>
          </a:solidFill>
          <a:ln w="3175">
            <a:solidFill>
              <a:srgbClr val="000000"/>
            </a:solidFill>
            <a:prstDash val="solid"/>
            <a:round/>
            <a:headEnd/>
            <a:tailEnd/>
          </a:ln>
        </p:spPr>
        <p:txBody>
          <a:bodyPr/>
          <a:lstStyle/>
          <a:p>
            <a:endParaRPr lang="en-IN"/>
          </a:p>
        </p:txBody>
      </p:sp>
      <p:sp>
        <p:nvSpPr>
          <p:cNvPr id="112719" name="Rectangle 79">
            <a:extLst>
              <a:ext uri="{FF2B5EF4-FFF2-40B4-BE49-F238E27FC236}">
                <a16:creationId xmlns:a16="http://schemas.microsoft.com/office/drawing/2014/main" id="{2DBC1FE8-6726-BB7B-DEAA-82B1CE5BC41C}"/>
              </a:ext>
            </a:extLst>
          </p:cNvPr>
          <p:cNvSpPr>
            <a:spLocks noChangeArrowheads="1"/>
          </p:cNvSpPr>
          <p:nvPr/>
        </p:nvSpPr>
        <p:spPr bwMode="auto">
          <a:xfrm>
            <a:off x="9242425" y="4276726"/>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t>0</a:t>
            </a:r>
            <a:endParaRPr lang="en-US" altLang="en-US"/>
          </a:p>
        </p:txBody>
      </p:sp>
      <p:sp>
        <p:nvSpPr>
          <p:cNvPr id="112721" name="Rectangle 81">
            <a:extLst>
              <a:ext uri="{FF2B5EF4-FFF2-40B4-BE49-F238E27FC236}">
                <a16:creationId xmlns:a16="http://schemas.microsoft.com/office/drawing/2014/main" id="{496177AB-1AA7-65F7-13AA-0B38D08C4A55}"/>
              </a:ext>
            </a:extLst>
          </p:cNvPr>
          <p:cNvSpPr>
            <a:spLocks noChangeArrowheads="1"/>
          </p:cNvSpPr>
          <p:nvPr/>
        </p:nvSpPr>
        <p:spPr bwMode="auto">
          <a:xfrm>
            <a:off x="8850313" y="4827589"/>
            <a:ext cx="20839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solidFill>
                  <a:srgbClr val="FF33CC"/>
                </a:solidFill>
              </a:rPr>
              <a:t>18</a:t>
            </a:r>
            <a:endParaRPr lang="en-US" altLang="en-US">
              <a:solidFill>
                <a:srgbClr val="FF33CC"/>
              </a:solidFill>
            </a:endParaRPr>
          </a:p>
        </p:txBody>
      </p:sp>
      <p:sp>
        <p:nvSpPr>
          <p:cNvPr id="112722" name="Rectangle 82">
            <a:extLst>
              <a:ext uri="{FF2B5EF4-FFF2-40B4-BE49-F238E27FC236}">
                <a16:creationId xmlns:a16="http://schemas.microsoft.com/office/drawing/2014/main" id="{3E42D1E5-30B4-8194-5FBA-342A3ECBF3FE}"/>
              </a:ext>
            </a:extLst>
          </p:cNvPr>
          <p:cNvSpPr>
            <a:spLocks noChangeArrowheads="1"/>
          </p:cNvSpPr>
          <p:nvPr/>
        </p:nvSpPr>
        <p:spPr bwMode="auto">
          <a:xfrm>
            <a:off x="8504238" y="4865689"/>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solidFill>
                  <a:srgbClr val="FF0000"/>
                </a:solidFill>
              </a:rPr>
              <a:t>2</a:t>
            </a:r>
            <a:endParaRPr lang="en-US" altLang="en-US">
              <a:solidFill>
                <a:srgbClr val="FF0000"/>
              </a:solidFill>
            </a:endParaRPr>
          </a:p>
        </p:txBody>
      </p:sp>
      <p:sp>
        <p:nvSpPr>
          <p:cNvPr id="112723" name="Rectangle 83">
            <a:extLst>
              <a:ext uri="{FF2B5EF4-FFF2-40B4-BE49-F238E27FC236}">
                <a16:creationId xmlns:a16="http://schemas.microsoft.com/office/drawing/2014/main" id="{45B8C715-08BC-F4C4-04BD-4F3875ED20E2}"/>
              </a:ext>
            </a:extLst>
          </p:cNvPr>
          <p:cNvSpPr>
            <a:spLocks noChangeArrowheads="1"/>
          </p:cNvSpPr>
          <p:nvPr/>
        </p:nvSpPr>
        <p:spPr bwMode="auto">
          <a:xfrm>
            <a:off x="7280275" y="5199064"/>
            <a:ext cx="20839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10</a:t>
            </a:r>
            <a:endParaRPr lang="en-US" altLang="en-US"/>
          </a:p>
        </p:txBody>
      </p:sp>
      <p:sp>
        <p:nvSpPr>
          <p:cNvPr id="112724" name="Rectangle 84">
            <a:extLst>
              <a:ext uri="{FF2B5EF4-FFF2-40B4-BE49-F238E27FC236}">
                <a16:creationId xmlns:a16="http://schemas.microsoft.com/office/drawing/2014/main" id="{0EF84A60-6632-A75B-2B80-76C5758EBF08}"/>
              </a:ext>
            </a:extLst>
          </p:cNvPr>
          <p:cNvSpPr>
            <a:spLocks noChangeArrowheads="1"/>
          </p:cNvSpPr>
          <p:nvPr/>
        </p:nvSpPr>
        <p:spPr bwMode="auto">
          <a:xfrm>
            <a:off x="7840663" y="6116639"/>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t>4</a:t>
            </a:r>
            <a:endParaRPr lang="en-US" altLang="en-US"/>
          </a:p>
        </p:txBody>
      </p:sp>
      <p:sp>
        <p:nvSpPr>
          <p:cNvPr id="112725" name="Rectangle 85">
            <a:extLst>
              <a:ext uri="{FF2B5EF4-FFF2-40B4-BE49-F238E27FC236}">
                <a16:creationId xmlns:a16="http://schemas.microsoft.com/office/drawing/2014/main" id="{AA591E00-CCE5-7066-DFFE-0D16E394D2E5}"/>
              </a:ext>
            </a:extLst>
          </p:cNvPr>
          <p:cNvSpPr>
            <a:spLocks noChangeArrowheads="1"/>
          </p:cNvSpPr>
          <p:nvPr/>
        </p:nvSpPr>
        <p:spPr bwMode="auto">
          <a:xfrm>
            <a:off x="6527800" y="5411789"/>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7</a:t>
            </a:r>
            <a:endParaRPr lang="en-US" altLang="en-US"/>
          </a:p>
        </p:txBody>
      </p:sp>
      <p:sp>
        <p:nvSpPr>
          <p:cNvPr id="112726" name="Rectangle 86">
            <a:extLst>
              <a:ext uri="{FF2B5EF4-FFF2-40B4-BE49-F238E27FC236}">
                <a16:creationId xmlns:a16="http://schemas.microsoft.com/office/drawing/2014/main" id="{DD7D815D-7ED7-6CAD-3507-BB7F58377B0A}"/>
              </a:ext>
            </a:extLst>
          </p:cNvPr>
          <p:cNvSpPr>
            <a:spLocks noChangeArrowheads="1"/>
          </p:cNvSpPr>
          <p:nvPr/>
        </p:nvSpPr>
        <p:spPr bwMode="auto">
          <a:xfrm>
            <a:off x="5395913" y="4716464"/>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FF0000"/>
                </a:solidFill>
              </a:rPr>
              <a:t>5</a:t>
            </a:r>
            <a:endParaRPr lang="en-US" altLang="en-US">
              <a:solidFill>
                <a:srgbClr val="FF0000"/>
              </a:solidFill>
            </a:endParaRPr>
          </a:p>
        </p:txBody>
      </p:sp>
      <p:sp>
        <p:nvSpPr>
          <p:cNvPr id="112727" name="Rectangle 87">
            <a:extLst>
              <a:ext uri="{FF2B5EF4-FFF2-40B4-BE49-F238E27FC236}">
                <a16:creationId xmlns:a16="http://schemas.microsoft.com/office/drawing/2014/main" id="{C2D10294-DEF3-8067-BD7B-B845AB8573D5}"/>
              </a:ext>
            </a:extLst>
          </p:cNvPr>
          <p:cNvSpPr>
            <a:spLocks noChangeArrowheads="1"/>
          </p:cNvSpPr>
          <p:nvPr/>
        </p:nvSpPr>
        <p:spPr bwMode="auto">
          <a:xfrm>
            <a:off x="5683250" y="6038851"/>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t>0</a:t>
            </a:r>
            <a:endParaRPr lang="en-US" altLang="en-US"/>
          </a:p>
        </p:txBody>
      </p:sp>
      <p:sp>
        <p:nvSpPr>
          <p:cNvPr id="112728" name="Freeform 88">
            <a:extLst>
              <a:ext uri="{FF2B5EF4-FFF2-40B4-BE49-F238E27FC236}">
                <a16:creationId xmlns:a16="http://schemas.microsoft.com/office/drawing/2014/main" id="{9C30F995-A0B4-6E32-CC32-CC45E526ADDD}"/>
              </a:ext>
            </a:extLst>
          </p:cNvPr>
          <p:cNvSpPr>
            <a:spLocks noEditPoints="1"/>
          </p:cNvSpPr>
          <p:nvPr/>
        </p:nvSpPr>
        <p:spPr bwMode="auto">
          <a:xfrm>
            <a:off x="5189539" y="4638675"/>
            <a:ext cx="898525" cy="865188"/>
          </a:xfrm>
          <a:custGeom>
            <a:avLst/>
            <a:gdLst>
              <a:gd name="T0" fmla="*/ 2 w 566"/>
              <a:gd name="T1" fmla="*/ 538 h 545"/>
              <a:gd name="T2" fmla="*/ 517 w 566"/>
              <a:gd name="T3" fmla="*/ 41 h 545"/>
              <a:gd name="T4" fmla="*/ 519 w 566"/>
              <a:gd name="T5" fmla="*/ 40 h 545"/>
              <a:gd name="T6" fmla="*/ 520 w 566"/>
              <a:gd name="T7" fmla="*/ 40 h 545"/>
              <a:gd name="T8" fmla="*/ 522 w 566"/>
              <a:gd name="T9" fmla="*/ 40 h 545"/>
              <a:gd name="T10" fmla="*/ 523 w 566"/>
              <a:gd name="T11" fmla="*/ 41 h 545"/>
              <a:gd name="T12" fmla="*/ 525 w 566"/>
              <a:gd name="T13" fmla="*/ 43 h 545"/>
              <a:gd name="T14" fmla="*/ 525 w 566"/>
              <a:gd name="T15" fmla="*/ 44 h 545"/>
              <a:gd name="T16" fmla="*/ 525 w 566"/>
              <a:gd name="T17" fmla="*/ 46 h 545"/>
              <a:gd name="T18" fmla="*/ 523 w 566"/>
              <a:gd name="T19" fmla="*/ 47 h 545"/>
              <a:gd name="T20" fmla="*/ 10 w 566"/>
              <a:gd name="T21" fmla="*/ 544 h 545"/>
              <a:gd name="T22" fmla="*/ 6 w 566"/>
              <a:gd name="T23" fmla="*/ 545 h 545"/>
              <a:gd name="T24" fmla="*/ 5 w 566"/>
              <a:gd name="T25" fmla="*/ 545 h 545"/>
              <a:gd name="T26" fmla="*/ 3 w 566"/>
              <a:gd name="T27" fmla="*/ 545 h 545"/>
              <a:gd name="T28" fmla="*/ 2 w 566"/>
              <a:gd name="T29" fmla="*/ 544 h 545"/>
              <a:gd name="T30" fmla="*/ 0 w 566"/>
              <a:gd name="T31" fmla="*/ 542 h 545"/>
              <a:gd name="T32" fmla="*/ 0 w 566"/>
              <a:gd name="T33" fmla="*/ 541 h 545"/>
              <a:gd name="T34" fmla="*/ 0 w 566"/>
              <a:gd name="T35" fmla="*/ 539 h 545"/>
              <a:gd name="T36" fmla="*/ 2 w 566"/>
              <a:gd name="T37" fmla="*/ 538 h 545"/>
              <a:gd name="T38" fmla="*/ 2 w 566"/>
              <a:gd name="T39" fmla="*/ 538 h 545"/>
              <a:gd name="T40" fmla="*/ 485 w 566"/>
              <a:gd name="T41" fmla="*/ 26 h 545"/>
              <a:gd name="T42" fmla="*/ 566 w 566"/>
              <a:gd name="T43" fmla="*/ 0 h 545"/>
              <a:gd name="T44" fmla="*/ 539 w 566"/>
              <a:gd name="T45" fmla="*/ 81 h 545"/>
              <a:gd name="T46" fmla="*/ 485 w 566"/>
              <a:gd name="T47" fmla="*/ 26 h 5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66" h="545">
                <a:moveTo>
                  <a:pt x="2" y="538"/>
                </a:moveTo>
                <a:lnTo>
                  <a:pt x="517" y="41"/>
                </a:lnTo>
                <a:lnTo>
                  <a:pt x="519" y="40"/>
                </a:lnTo>
                <a:lnTo>
                  <a:pt x="520" y="40"/>
                </a:lnTo>
                <a:lnTo>
                  <a:pt x="522" y="40"/>
                </a:lnTo>
                <a:lnTo>
                  <a:pt x="523" y="41"/>
                </a:lnTo>
                <a:lnTo>
                  <a:pt x="525" y="43"/>
                </a:lnTo>
                <a:lnTo>
                  <a:pt x="525" y="44"/>
                </a:lnTo>
                <a:lnTo>
                  <a:pt x="525" y="46"/>
                </a:lnTo>
                <a:lnTo>
                  <a:pt x="523" y="47"/>
                </a:lnTo>
                <a:lnTo>
                  <a:pt x="10" y="544"/>
                </a:lnTo>
                <a:lnTo>
                  <a:pt x="6" y="545"/>
                </a:lnTo>
                <a:lnTo>
                  <a:pt x="5" y="545"/>
                </a:lnTo>
                <a:lnTo>
                  <a:pt x="3" y="545"/>
                </a:lnTo>
                <a:lnTo>
                  <a:pt x="2" y="544"/>
                </a:lnTo>
                <a:lnTo>
                  <a:pt x="0" y="542"/>
                </a:lnTo>
                <a:lnTo>
                  <a:pt x="0" y="541"/>
                </a:lnTo>
                <a:lnTo>
                  <a:pt x="0" y="539"/>
                </a:lnTo>
                <a:lnTo>
                  <a:pt x="2" y="538"/>
                </a:lnTo>
                <a:lnTo>
                  <a:pt x="2" y="538"/>
                </a:lnTo>
                <a:close/>
                <a:moveTo>
                  <a:pt x="485" y="26"/>
                </a:moveTo>
                <a:lnTo>
                  <a:pt x="566" y="0"/>
                </a:lnTo>
                <a:lnTo>
                  <a:pt x="539" y="81"/>
                </a:lnTo>
                <a:lnTo>
                  <a:pt x="485" y="26"/>
                </a:lnTo>
                <a:close/>
              </a:path>
            </a:pathLst>
          </a:custGeom>
          <a:solidFill>
            <a:srgbClr val="000000"/>
          </a:solidFill>
          <a:ln w="3175">
            <a:solidFill>
              <a:srgbClr val="000000"/>
            </a:solidFill>
            <a:prstDash val="solid"/>
            <a:round/>
            <a:headEnd/>
            <a:tailEnd/>
          </a:ln>
        </p:spPr>
        <p:txBody>
          <a:bodyPr/>
          <a:lstStyle/>
          <a:p>
            <a:endParaRPr lang="en-IN"/>
          </a:p>
        </p:txBody>
      </p:sp>
      <p:sp>
        <p:nvSpPr>
          <p:cNvPr id="112729" name="Freeform 89">
            <a:extLst>
              <a:ext uri="{FF2B5EF4-FFF2-40B4-BE49-F238E27FC236}">
                <a16:creationId xmlns:a16="http://schemas.microsoft.com/office/drawing/2014/main" id="{FD385C59-AC33-8C8F-A62A-4548EF03634B}"/>
              </a:ext>
            </a:extLst>
          </p:cNvPr>
          <p:cNvSpPr>
            <a:spLocks noEditPoints="1"/>
          </p:cNvSpPr>
          <p:nvPr/>
        </p:nvSpPr>
        <p:spPr bwMode="auto">
          <a:xfrm>
            <a:off x="5249863" y="5518151"/>
            <a:ext cx="1306512" cy="701675"/>
          </a:xfrm>
          <a:custGeom>
            <a:avLst/>
            <a:gdLst>
              <a:gd name="T0" fmla="*/ 8 w 823"/>
              <a:gd name="T1" fmla="*/ 2 h 442"/>
              <a:gd name="T2" fmla="*/ 770 w 823"/>
              <a:gd name="T3" fmla="*/ 409 h 442"/>
              <a:gd name="T4" fmla="*/ 771 w 823"/>
              <a:gd name="T5" fmla="*/ 409 h 442"/>
              <a:gd name="T6" fmla="*/ 771 w 823"/>
              <a:gd name="T7" fmla="*/ 412 h 442"/>
              <a:gd name="T8" fmla="*/ 771 w 823"/>
              <a:gd name="T9" fmla="*/ 413 h 442"/>
              <a:gd name="T10" fmla="*/ 771 w 823"/>
              <a:gd name="T11" fmla="*/ 415 h 442"/>
              <a:gd name="T12" fmla="*/ 770 w 823"/>
              <a:gd name="T13" fmla="*/ 416 h 442"/>
              <a:gd name="T14" fmla="*/ 768 w 823"/>
              <a:gd name="T15" fmla="*/ 416 h 442"/>
              <a:gd name="T16" fmla="*/ 767 w 823"/>
              <a:gd name="T17" fmla="*/ 418 h 442"/>
              <a:gd name="T18" fmla="*/ 765 w 823"/>
              <a:gd name="T19" fmla="*/ 416 h 442"/>
              <a:gd name="T20" fmla="*/ 3 w 823"/>
              <a:gd name="T21" fmla="*/ 10 h 442"/>
              <a:gd name="T22" fmla="*/ 2 w 823"/>
              <a:gd name="T23" fmla="*/ 10 h 442"/>
              <a:gd name="T24" fmla="*/ 0 w 823"/>
              <a:gd name="T25" fmla="*/ 8 h 442"/>
              <a:gd name="T26" fmla="*/ 0 w 823"/>
              <a:gd name="T27" fmla="*/ 5 h 442"/>
              <a:gd name="T28" fmla="*/ 2 w 823"/>
              <a:gd name="T29" fmla="*/ 4 h 442"/>
              <a:gd name="T30" fmla="*/ 2 w 823"/>
              <a:gd name="T31" fmla="*/ 2 h 442"/>
              <a:gd name="T32" fmla="*/ 3 w 823"/>
              <a:gd name="T33" fmla="*/ 2 h 442"/>
              <a:gd name="T34" fmla="*/ 6 w 823"/>
              <a:gd name="T35" fmla="*/ 0 h 442"/>
              <a:gd name="T36" fmla="*/ 8 w 823"/>
              <a:gd name="T37" fmla="*/ 2 h 442"/>
              <a:gd name="T38" fmla="*/ 8 w 823"/>
              <a:gd name="T39" fmla="*/ 2 h 442"/>
              <a:gd name="T40" fmla="*/ 774 w 823"/>
              <a:gd name="T41" fmla="*/ 372 h 442"/>
              <a:gd name="T42" fmla="*/ 823 w 823"/>
              <a:gd name="T43" fmla="*/ 442 h 442"/>
              <a:gd name="T44" fmla="*/ 738 w 823"/>
              <a:gd name="T45" fmla="*/ 441 h 442"/>
              <a:gd name="T46" fmla="*/ 774 w 823"/>
              <a:gd name="T47" fmla="*/ 372 h 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23" h="442">
                <a:moveTo>
                  <a:pt x="8" y="2"/>
                </a:moveTo>
                <a:lnTo>
                  <a:pt x="770" y="409"/>
                </a:lnTo>
                <a:lnTo>
                  <a:pt x="771" y="409"/>
                </a:lnTo>
                <a:lnTo>
                  <a:pt x="771" y="412"/>
                </a:lnTo>
                <a:lnTo>
                  <a:pt x="771" y="413"/>
                </a:lnTo>
                <a:lnTo>
                  <a:pt x="771" y="415"/>
                </a:lnTo>
                <a:lnTo>
                  <a:pt x="770" y="416"/>
                </a:lnTo>
                <a:lnTo>
                  <a:pt x="768" y="416"/>
                </a:lnTo>
                <a:lnTo>
                  <a:pt x="767" y="418"/>
                </a:lnTo>
                <a:lnTo>
                  <a:pt x="765" y="416"/>
                </a:lnTo>
                <a:lnTo>
                  <a:pt x="3" y="10"/>
                </a:lnTo>
                <a:lnTo>
                  <a:pt x="2" y="10"/>
                </a:lnTo>
                <a:lnTo>
                  <a:pt x="0" y="8"/>
                </a:lnTo>
                <a:lnTo>
                  <a:pt x="0" y="5"/>
                </a:lnTo>
                <a:lnTo>
                  <a:pt x="2" y="4"/>
                </a:lnTo>
                <a:lnTo>
                  <a:pt x="2" y="2"/>
                </a:lnTo>
                <a:lnTo>
                  <a:pt x="3" y="2"/>
                </a:lnTo>
                <a:lnTo>
                  <a:pt x="6" y="0"/>
                </a:lnTo>
                <a:lnTo>
                  <a:pt x="8" y="2"/>
                </a:lnTo>
                <a:lnTo>
                  <a:pt x="8" y="2"/>
                </a:lnTo>
                <a:close/>
                <a:moveTo>
                  <a:pt x="774" y="372"/>
                </a:moveTo>
                <a:lnTo>
                  <a:pt x="823" y="442"/>
                </a:lnTo>
                <a:lnTo>
                  <a:pt x="738" y="441"/>
                </a:lnTo>
                <a:lnTo>
                  <a:pt x="774" y="372"/>
                </a:lnTo>
                <a:close/>
              </a:path>
            </a:pathLst>
          </a:custGeom>
          <a:solidFill>
            <a:srgbClr val="000000"/>
          </a:solidFill>
          <a:ln w="3175">
            <a:solidFill>
              <a:srgbClr val="000000"/>
            </a:solidFill>
            <a:prstDash val="solid"/>
            <a:round/>
            <a:headEnd/>
            <a:tailEnd/>
          </a:ln>
        </p:spPr>
        <p:txBody>
          <a:bodyPr/>
          <a:lstStyle/>
          <a:p>
            <a:endParaRPr lang="en-IN"/>
          </a:p>
        </p:txBody>
      </p:sp>
      <p:sp>
        <p:nvSpPr>
          <p:cNvPr id="112730" name="Freeform 90">
            <a:extLst>
              <a:ext uri="{FF2B5EF4-FFF2-40B4-BE49-F238E27FC236}">
                <a16:creationId xmlns:a16="http://schemas.microsoft.com/office/drawing/2014/main" id="{2C752AF8-AAC3-FAFB-92CA-2E3338772FB2}"/>
              </a:ext>
            </a:extLst>
          </p:cNvPr>
          <p:cNvSpPr>
            <a:spLocks noEditPoints="1"/>
          </p:cNvSpPr>
          <p:nvPr/>
        </p:nvSpPr>
        <p:spPr bwMode="auto">
          <a:xfrm>
            <a:off x="6126163" y="4752975"/>
            <a:ext cx="436562" cy="1346200"/>
          </a:xfrm>
          <a:custGeom>
            <a:avLst/>
            <a:gdLst>
              <a:gd name="T0" fmla="*/ 9 w 275"/>
              <a:gd name="T1" fmla="*/ 3 h 848"/>
              <a:gd name="T2" fmla="*/ 248 w 275"/>
              <a:gd name="T3" fmla="*/ 786 h 848"/>
              <a:gd name="T4" fmla="*/ 248 w 275"/>
              <a:gd name="T5" fmla="*/ 788 h 848"/>
              <a:gd name="T6" fmla="*/ 246 w 275"/>
              <a:gd name="T7" fmla="*/ 791 h 848"/>
              <a:gd name="T8" fmla="*/ 245 w 275"/>
              <a:gd name="T9" fmla="*/ 792 h 848"/>
              <a:gd name="T10" fmla="*/ 243 w 275"/>
              <a:gd name="T11" fmla="*/ 792 h 848"/>
              <a:gd name="T12" fmla="*/ 242 w 275"/>
              <a:gd name="T13" fmla="*/ 792 h 848"/>
              <a:gd name="T14" fmla="*/ 240 w 275"/>
              <a:gd name="T15" fmla="*/ 792 h 848"/>
              <a:gd name="T16" fmla="*/ 239 w 275"/>
              <a:gd name="T17" fmla="*/ 791 h 848"/>
              <a:gd name="T18" fmla="*/ 239 w 275"/>
              <a:gd name="T19" fmla="*/ 789 h 848"/>
              <a:gd name="T20" fmla="*/ 0 w 275"/>
              <a:gd name="T21" fmla="*/ 6 h 848"/>
              <a:gd name="T22" fmla="*/ 0 w 275"/>
              <a:gd name="T23" fmla="*/ 4 h 848"/>
              <a:gd name="T24" fmla="*/ 0 w 275"/>
              <a:gd name="T25" fmla="*/ 1 h 848"/>
              <a:gd name="T26" fmla="*/ 2 w 275"/>
              <a:gd name="T27" fmla="*/ 0 h 848"/>
              <a:gd name="T28" fmla="*/ 3 w 275"/>
              <a:gd name="T29" fmla="*/ 0 h 848"/>
              <a:gd name="T30" fmla="*/ 5 w 275"/>
              <a:gd name="T31" fmla="*/ 0 h 848"/>
              <a:gd name="T32" fmla="*/ 6 w 275"/>
              <a:gd name="T33" fmla="*/ 0 h 848"/>
              <a:gd name="T34" fmla="*/ 8 w 275"/>
              <a:gd name="T35" fmla="*/ 1 h 848"/>
              <a:gd name="T36" fmla="*/ 9 w 275"/>
              <a:gd name="T37" fmla="*/ 3 h 848"/>
              <a:gd name="T38" fmla="*/ 9 w 275"/>
              <a:gd name="T39" fmla="*/ 3 h 848"/>
              <a:gd name="T40" fmla="*/ 275 w 275"/>
              <a:gd name="T41" fmla="*/ 765 h 848"/>
              <a:gd name="T42" fmla="*/ 262 w 275"/>
              <a:gd name="T43" fmla="*/ 848 h 848"/>
              <a:gd name="T44" fmla="*/ 202 w 275"/>
              <a:gd name="T45" fmla="*/ 788 h 848"/>
              <a:gd name="T46" fmla="*/ 275 w 275"/>
              <a:gd name="T47" fmla="*/ 765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75" h="848">
                <a:moveTo>
                  <a:pt x="9" y="3"/>
                </a:moveTo>
                <a:lnTo>
                  <a:pt x="248" y="786"/>
                </a:lnTo>
                <a:lnTo>
                  <a:pt x="248" y="788"/>
                </a:lnTo>
                <a:lnTo>
                  <a:pt x="246" y="791"/>
                </a:lnTo>
                <a:lnTo>
                  <a:pt x="245" y="792"/>
                </a:lnTo>
                <a:lnTo>
                  <a:pt x="243" y="792"/>
                </a:lnTo>
                <a:lnTo>
                  <a:pt x="242" y="792"/>
                </a:lnTo>
                <a:lnTo>
                  <a:pt x="240" y="792"/>
                </a:lnTo>
                <a:lnTo>
                  <a:pt x="239" y="791"/>
                </a:lnTo>
                <a:lnTo>
                  <a:pt x="239" y="789"/>
                </a:lnTo>
                <a:lnTo>
                  <a:pt x="0" y="6"/>
                </a:lnTo>
                <a:lnTo>
                  <a:pt x="0" y="4"/>
                </a:lnTo>
                <a:lnTo>
                  <a:pt x="0" y="1"/>
                </a:lnTo>
                <a:lnTo>
                  <a:pt x="2" y="0"/>
                </a:lnTo>
                <a:lnTo>
                  <a:pt x="3" y="0"/>
                </a:lnTo>
                <a:lnTo>
                  <a:pt x="5" y="0"/>
                </a:lnTo>
                <a:lnTo>
                  <a:pt x="6" y="0"/>
                </a:lnTo>
                <a:lnTo>
                  <a:pt x="8" y="1"/>
                </a:lnTo>
                <a:lnTo>
                  <a:pt x="9" y="3"/>
                </a:lnTo>
                <a:lnTo>
                  <a:pt x="9" y="3"/>
                </a:lnTo>
                <a:close/>
                <a:moveTo>
                  <a:pt x="275" y="765"/>
                </a:moveTo>
                <a:lnTo>
                  <a:pt x="262" y="848"/>
                </a:lnTo>
                <a:lnTo>
                  <a:pt x="202" y="788"/>
                </a:lnTo>
                <a:lnTo>
                  <a:pt x="275" y="765"/>
                </a:lnTo>
                <a:close/>
              </a:path>
            </a:pathLst>
          </a:custGeom>
          <a:solidFill>
            <a:srgbClr val="000000"/>
          </a:solidFill>
          <a:ln w="3175">
            <a:solidFill>
              <a:srgbClr val="000000"/>
            </a:solidFill>
            <a:prstDash val="solid"/>
            <a:round/>
            <a:headEnd/>
            <a:tailEnd/>
          </a:ln>
        </p:spPr>
        <p:txBody>
          <a:bodyPr/>
          <a:lstStyle/>
          <a:p>
            <a:endParaRPr lang="en-IN"/>
          </a:p>
        </p:txBody>
      </p:sp>
      <p:sp>
        <p:nvSpPr>
          <p:cNvPr id="112731" name="Freeform 91">
            <a:extLst>
              <a:ext uri="{FF2B5EF4-FFF2-40B4-BE49-F238E27FC236}">
                <a16:creationId xmlns:a16="http://schemas.microsoft.com/office/drawing/2014/main" id="{1A34220F-317B-C1CE-7F0B-F8210053C1FD}"/>
              </a:ext>
            </a:extLst>
          </p:cNvPr>
          <p:cNvSpPr>
            <a:spLocks noEditPoints="1"/>
          </p:cNvSpPr>
          <p:nvPr/>
        </p:nvSpPr>
        <p:spPr bwMode="auto">
          <a:xfrm>
            <a:off x="6910389" y="5794376"/>
            <a:ext cx="1697037" cy="390525"/>
          </a:xfrm>
          <a:custGeom>
            <a:avLst/>
            <a:gdLst>
              <a:gd name="T0" fmla="*/ 3 w 1069"/>
              <a:gd name="T1" fmla="*/ 235 h 246"/>
              <a:gd name="T2" fmla="*/ 1007 w 1069"/>
              <a:gd name="T3" fmla="*/ 30 h 246"/>
              <a:gd name="T4" fmla="*/ 1008 w 1069"/>
              <a:gd name="T5" fmla="*/ 30 h 246"/>
              <a:gd name="T6" fmla="*/ 1010 w 1069"/>
              <a:gd name="T7" fmla="*/ 30 h 246"/>
              <a:gd name="T8" fmla="*/ 1011 w 1069"/>
              <a:gd name="T9" fmla="*/ 31 h 246"/>
              <a:gd name="T10" fmla="*/ 1011 w 1069"/>
              <a:gd name="T11" fmla="*/ 33 h 246"/>
              <a:gd name="T12" fmla="*/ 1011 w 1069"/>
              <a:gd name="T13" fmla="*/ 36 h 246"/>
              <a:gd name="T14" fmla="*/ 1011 w 1069"/>
              <a:gd name="T15" fmla="*/ 38 h 246"/>
              <a:gd name="T16" fmla="*/ 1010 w 1069"/>
              <a:gd name="T17" fmla="*/ 39 h 246"/>
              <a:gd name="T18" fmla="*/ 1008 w 1069"/>
              <a:gd name="T19" fmla="*/ 39 h 246"/>
              <a:gd name="T20" fmla="*/ 6 w 1069"/>
              <a:gd name="T21" fmla="*/ 246 h 246"/>
              <a:gd name="T22" fmla="*/ 3 w 1069"/>
              <a:gd name="T23" fmla="*/ 244 h 246"/>
              <a:gd name="T24" fmla="*/ 2 w 1069"/>
              <a:gd name="T25" fmla="*/ 244 h 246"/>
              <a:gd name="T26" fmla="*/ 0 w 1069"/>
              <a:gd name="T27" fmla="*/ 242 h 246"/>
              <a:gd name="T28" fmla="*/ 0 w 1069"/>
              <a:gd name="T29" fmla="*/ 241 h 246"/>
              <a:gd name="T30" fmla="*/ 0 w 1069"/>
              <a:gd name="T31" fmla="*/ 239 h 246"/>
              <a:gd name="T32" fmla="*/ 0 w 1069"/>
              <a:gd name="T33" fmla="*/ 238 h 246"/>
              <a:gd name="T34" fmla="*/ 2 w 1069"/>
              <a:gd name="T35" fmla="*/ 236 h 246"/>
              <a:gd name="T36" fmla="*/ 3 w 1069"/>
              <a:gd name="T37" fmla="*/ 235 h 246"/>
              <a:gd name="T38" fmla="*/ 3 w 1069"/>
              <a:gd name="T39" fmla="*/ 235 h 246"/>
              <a:gd name="T40" fmla="*/ 987 w 1069"/>
              <a:gd name="T41" fmla="*/ 0 h 246"/>
              <a:gd name="T42" fmla="*/ 1069 w 1069"/>
              <a:gd name="T43" fmla="*/ 22 h 246"/>
              <a:gd name="T44" fmla="*/ 1002 w 1069"/>
              <a:gd name="T45" fmla="*/ 74 h 246"/>
              <a:gd name="T46" fmla="*/ 987 w 1069"/>
              <a:gd name="T47" fmla="*/ 0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69" h="246">
                <a:moveTo>
                  <a:pt x="3" y="235"/>
                </a:moveTo>
                <a:lnTo>
                  <a:pt x="1007" y="30"/>
                </a:lnTo>
                <a:lnTo>
                  <a:pt x="1008" y="30"/>
                </a:lnTo>
                <a:lnTo>
                  <a:pt x="1010" y="30"/>
                </a:lnTo>
                <a:lnTo>
                  <a:pt x="1011" y="31"/>
                </a:lnTo>
                <a:lnTo>
                  <a:pt x="1011" y="33"/>
                </a:lnTo>
                <a:lnTo>
                  <a:pt x="1011" y="36"/>
                </a:lnTo>
                <a:lnTo>
                  <a:pt x="1011" y="38"/>
                </a:lnTo>
                <a:lnTo>
                  <a:pt x="1010" y="39"/>
                </a:lnTo>
                <a:lnTo>
                  <a:pt x="1008" y="39"/>
                </a:lnTo>
                <a:lnTo>
                  <a:pt x="6" y="246"/>
                </a:lnTo>
                <a:lnTo>
                  <a:pt x="3" y="244"/>
                </a:lnTo>
                <a:lnTo>
                  <a:pt x="2" y="244"/>
                </a:lnTo>
                <a:lnTo>
                  <a:pt x="0" y="242"/>
                </a:lnTo>
                <a:lnTo>
                  <a:pt x="0" y="241"/>
                </a:lnTo>
                <a:lnTo>
                  <a:pt x="0" y="239"/>
                </a:lnTo>
                <a:lnTo>
                  <a:pt x="0" y="238"/>
                </a:lnTo>
                <a:lnTo>
                  <a:pt x="2" y="236"/>
                </a:lnTo>
                <a:lnTo>
                  <a:pt x="3" y="235"/>
                </a:lnTo>
                <a:lnTo>
                  <a:pt x="3" y="235"/>
                </a:lnTo>
                <a:close/>
                <a:moveTo>
                  <a:pt x="987" y="0"/>
                </a:moveTo>
                <a:lnTo>
                  <a:pt x="1069" y="22"/>
                </a:lnTo>
                <a:lnTo>
                  <a:pt x="1002" y="74"/>
                </a:lnTo>
                <a:lnTo>
                  <a:pt x="987" y="0"/>
                </a:lnTo>
                <a:close/>
              </a:path>
            </a:pathLst>
          </a:custGeom>
          <a:solidFill>
            <a:srgbClr val="000000"/>
          </a:solidFill>
          <a:ln w="3175">
            <a:solidFill>
              <a:srgbClr val="000000"/>
            </a:solidFill>
            <a:prstDash val="solid"/>
            <a:round/>
            <a:headEnd/>
            <a:tailEnd/>
          </a:ln>
        </p:spPr>
        <p:txBody>
          <a:bodyPr/>
          <a:lstStyle/>
          <a:p>
            <a:endParaRPr lang="en-IN"/>
          </a:p>
        </p:txBody>
      </p:sp>
      <p:sp>
        <p:nvSpPr>
          <p:cNvPr id="112732" name="Freeform 92">
            <a:extLst>
              <a:ext uri="{FF2B5EF4-FFF2-40B4-BE49-F238E27FC236}">
                <a16:creationId xmlns:a16="http://schemas.microsoft.com/office/drawing/2014/main" id="{A02FAAF1-7B14-DEA8-CF46-514FBA056D99}"/>
              </a:ext>
            </a:extLst>
          </p:cNvPr>
          <p:cNvSpPr>
            <a:spLocks noEditPoints="1"/>
          </p:cNvSpPr>
          <p:nvPr/>
        </p:nvSpPr>
        <p:spPr bwMode="auto">
          <a:xfrm>
            <a:off x="6602413" y="4564063"/>
            <a:ext cx="2087562" cy="1060450"/>
          </a:xfrm>
          <a:custGeom>
            <a:avLst/>
            <a:gdLst>
              <a:gd name="T0" fmla="*/ 1309 w 1315"/>
              <a:gd name="T1" fmla="*/ 668 h 668"/>
              <a:gd name="T2" fmla="*/ 53 w 1315"/>
              <a:gd name="T3" fmla="*/ 32 h 668"/>
              <a:gd name="T4" fmla="*/ 51 w 1315"/>
              <a:gd name="T5" fmla="*/ 32 h 668"/>
              <a:gd name="T6" fmla="*/ 51 w 1315"/>
              <a:gd name="T7" fmla="*/ 29 h 668"/>
              <a:gd name="T8" fmla="*/ 51 w 1315"/>
              <a:gd name="T9" fmla="*/ 28 h 668"/>
              <a:gd name="T10" fmla="*/ 51 w 1315"/>
              <a:gd name="T11" fmla="*/ 26 h 668"/>
              <a:gd name="T12" fmla="*/ 53 w 1315"/>
              <a:gd name="T13" fmla="*/ 25 h 668"/>
              <a:gd name="T14" fmla="*/ 54 w 1315"/>
              <a:gd name="T15" fmla="*/ 25 h 668"/>
              <a:gd name="T16" fmla="*/ 56 w 1315"/>
              <a:gd name="T17" fmla="*/ 23 h 668"/>
              <a:gd name="T18" fmla="*/ 57 w 1315"/>
              <a:gd name="T19" fmla="*/ 25 h 668"/>
              <a:gd name="T20" fmla="*/ 1313 w 1315"/>
              <a:gd name="T21" fmla="*/ 659 h 668"/>
              <a:gd name="T22" fmla="*/ 1313 w 1315"/>
              <a:gd name="T23" fmla="*/ 661 h 668"/>
              <a:gd name="T24" fmla="*/ 1315 w 1315"/>
              <a:gd name="T25" fmla="*/ 662 h 668"/>
              <a:gd name="T26" fmla="*/ 1315 w 1315"/>
              <a:gd name="T27" fmla="*/ 664 h 668"/>
              <a:gd name="T28" fmla="*/ 1315 w 1315"/>
              <a:gd name="T29" fmla="*/ 667 h 668"/>
              <a:gd name="T30" fmla="*/ 1313 w 1315"/>
              <a:gd name="T31" fmla="*/ 667 h 668"/>
              <a:gd name="T32" fmla="*/ 1312 w 1315"/>
              <a:gd name="T33" fmla="*/ 668 h 668"/>
              <a:gd name="T34" fmla="*/ 1310 w 1315"/>
              <a:gd name="T35" fmla="*/ 668 h 668"/>
              <a:gd name="T36" fmla="*/ 1309 w 1315"/>
              <a:gd name="T37" fmla="*/ 668 h 668"/>
              <a:gd name="T38" fmla="*/ 1309 w 1315"/>
              <a:gd name="T39" fmla="*/ 668 h 668"/>
              <a:gd name="T40" fmla="*/ 50 w 1315"/>
              <a:gd name="T41" fmla="*/ 69 h 668"/>
              <a:gd name="T42" fmla="*/ 0 w 1315"/>
              <a:gd name="T43" fmla="*/ 0 h 668"/>
              <a:gd name="T44" fmla="*/ 85 w 1315"/>
              <a:gd name="T45" fmla="*/ 0 h 668"/>
              <a:gd name="T46" fmla="*/ 50 w 1315"/>
              <a:gd name="T47" fmla="*/ 69 h 6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15" h="668">
                <a:moveTo>
                  <a:pt x="1309" y="668"/>
                </a:moveTo>
                <a:lnTo>
                  <a:pt x="53" y="32"/>
                </a:lnTo>
                <a:lnTo>
                  <a:pt x="51" y="32"/>
                </a:lnTo>
                <a:lnTo>
                  <a:pt x="51" y="29"/>
                </a:lnTo>
                <a:lnTo>
                  <a:pt x="51" y="28"/>
                </a:lnTo>
                <a:lnTo>
                  <a:pt x="51" y="26"/>
                </a:lnTo>
                <a:lnTo>
                  <a:pt x="53" y="25"/>
                </a:lnTo>
                <a:lnTo>
                  <a:pt x="54" y="25"/>
                </a:lnTo>
                <a:lnTo>
                  <a:pt x="56" y="23"/>
                </a:lnTo>
                <a:lnTo>
                  <a:pt x="57" y="25"/>
                </a:lnTo>
                <a:lnTo>
                  <a:pt x="1313" y="659"/>
                </a:lnTo>
                <a:lnTo>
                  <a:pt x="1313" y="661"/>
                </a:lnTo>
                <a:lnTo>
                  <a:pt x="1315" y="662"/>
                </a:lnTo>
                <a:lnTo>
                  <a:pt x="1315" y="664"/>
                </a:lnTo>
                <a:lnTo>
                  <a:pt x="1315" y="667"/>
                </a:lnTo>
                <a:lnTo>
                  <a:pt x="1313" y="667"/>
                </a:lnTo>
                <a:lnTo>
                  <a:pt x="1312" y="668"/>
                </a:lnTo>
                <a:lnTo>
                  <a:pt x="1310" y="668"/>
                </a:lnTo>
                <a:lnTo>
                  <a:pt x="1309" y="668"/>
                </a:lnTo>
                <a:lnTo>
                  <a:pt x="1309" y="668"/>
                </a:lnTo>
                <a:close/>
                <a:moveTo>
                  <a:pt x="50" y="69"/>
                </a:moveTo>
                <a:lnTo>
                  <a:pt x="0" y="0"/>
                </a:lnTo>
                <a:lnTo>
                  <a:pt x="85" y="0"/>
                </a:lnTo>
                <a:lnTo>
                  <a:pt x="50" y="69"/>
                </a:lnTo>
                <a:close/>
              </a:path>
            </a:pathLst>
          </a:custGeom>
          <a:solidFill>
            <a:srgbClr val="000000"/>
          </a:solidFill>
          <a:ln w="3175">
            <a:solidFill>
              <a:srgbClr val="000000"/>
            </a:solidFill>
            <a:prstDash val="solid"/>
            <a:round/>
            <a:headEnd/>
            <a:tailEnd/>
          </a:ln>
        </p:spPr>
        <p:txBody>
          <a:bodyPr/>
          <a:lstStyle/>
          <a:p>
            <a:endParaRPr lang="en-IN"/>
          </a:p>
        </p:txBody>
      </p:sp>
      <p:sp>
        <p:nvSpPr>
          <p:cNvPr id="112733" name="Freeform 93">
            <a:extLst>
              <a:ext uri="{FF2B5EF4-FFF2-40B4-BE49-F238E27FC236}">
                <a16:creationId xmlns:a16="http://schemas.microsoft.com/office/drawing/2014/main" id="{5516C9F3-ACB6-E1E0-790F-4193D86B7A3F}"/>
              </a:ext>
            </a:extLst>
          </p:cNvPr>
          <p:cNvSpPr>
            <a:spLocks noEditPoints="1"/>
          </p:cNvSpPr>
          <p:nvPr/>
        </p:nvSpPr>
        <p:spPr bwMode="auto">
          <a:xfrm>
            <a:off x="6789739" y="4376739"/>
            <a:ext cx="1544637" cy="180975"/>
          </a:xfrm>
          <a:custGeom>
            <a:avLst/>
            <a:gdLst>
              <a:gd name="T0" fmla="*/ 5 w 973"/>
              <a:gd name="T1" fmla="*/ 103 h 114"/>
              <a:gd name="T2" fmla="*/ 911 w 973"/>
              <a:gd name="T3" fmla="*/ 33 h 114"/>
              <a:gd name="T4" fmla="*/ 912 w 973"/>
              <a:gd name="T5" fmla="*/ 33 h 114"/>
              <a:gd name="T6" fmla="*/ 914 w 973"/>
              <a:gd name="T7" fmla="*/ 33 h 114"/>
              <a:gd name="T8" fmla="*/ 915 w 973"/>
              <a:gd name="T9" fmla="*/ 35 h 114"/>
              <a:gd name="T10" fmla="*/ 915 w 973"/>
              <a:gd name="T11" fmla="*/ 38 h 114"/>
              <a:gd name="T12" fmla="*/ 915 w 973"/>
              <a:gd name="T13" fmla="*/ 39 h 114"/>
              <a:gd name="T14" fmla="*/ 914 w 973"/>
              <a:gd name="T15" fmla="*/ 41 h 114"/>
              <a:gd name="T16" fmla="*/ 912 w 973"/>
              <a:gd name="T17" fmla="*/ 41 h 114"/>
              <a:gd name="T18" fmla="*/ 911 w 973"/>
              <a:gd name="T19" fmla="*/ 42 h 114"/>
              <a:gd name="T20" fmla="*/ 5 w 973"/>
              <a:gd name="T21" fmla="*/ 114 h 114"/>
              <a:gd name="T22" fmla="*/ 3 w 973"/>
              <a:gd name="T23" fmla="*/ 112 h 114"/>
              <a:gd name="T24" fmla="*/ 2 w 973"/>
              <a:gd name="T25" fmla="*/ 112 h 114"/>
              <a:gd name="T26" fmla="*/ 0 w 973"/>
              <a:gd name="T27" fmla="*/ 111 h 114"/>
              <a:gd name="T28" fmla="*/ 0 w 973"/>
              <a:gd name="T29" fmla="*/ 109 h 114"/>
              <a:gd name="T30" fmla="*/ 0 w 973"/>
              <a:gd name="T31" fmla="*/ 106 h 114"/>
              <a:gd name="T32" fmla="*/ 0 w 973"/>
              <a:gd name="T33" fmla="*/ 105 h 114"/>
              <a:gd name="T34" fmla="*/ 2 w 973"/>
              <a:gd name="T35" fmla="*/ 105 h 114"/>
              <a:gd name="T36" fmla="*/ 5 w 973"/>
              <a:gd name="T37" fmla="*/ 103 h 114"/>
              <a:gd name="T38" fmla="*/ 5 w 973"/>
              <a:gd name="T39" fmla="*/ 103 h 114"/>
              <a:gd name="T40" fmla="*/ 896 w 973"/>
              <a:gd name="T41" fmla="*/ 0 h 114"/>
              <a:gd name="T42" fmla="*/ 973 w 973"/>
              <a:gd name="T43" fmla="*/ 32 h 114"/>
              <a:gd name="T44" fmla="*/ 902 w 973"/>
              <a:gd name="T45" fmla="*/ 76 h 114"/>
              <a:gd name="T46" fmla="*/ 896 w 973"/>
              <a:gd name="T47"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73" h="114">
                <a:moveTo>
                  <a:pt x="5" y="103"/>
                </a:moveTo>
                <a:lnTo>
                  <a:pt x="911" y="33"/>
                </a:lnTo>
                <a:lnTo>
                  <a:pt x="912" y="33"/>
                </a:lnTo>
                <a:lnTo>
                  <a:pt x="914" y="33"/>
                </a:lnTo>
                <a:lnTo>
                  <a:pt x="915" y="35"/>
                </a:lnTo>
                <a:lnTo>
                  <a:pt x="915" y="38"/>
                </a:lnTo>
                <a:lnTo>
                  <a:pt x="915" y="39"/>
                </a:lnTo>
                <a:lnTo>
                  <a:pt x="914" y="41"/>
                </a:lnTo>
                <a:lnTo>
                  <a:pt x="912" y="41"/>
                </a:lnTo>
                <a:lnTo>
                  <a:pt x="911" y="42"/>
                </a:lnTo>
                <a:lnTo>
                  <a:pt x="5" y="114"/>
                </a:lnTo>
                <a:lnTo>
                  <a:pt x="3" y="112"/>
                </a:lnTo>
                <a:lnTo>
                  <a:pt x="2" y="112"/>
                </a:lnTo>
                <a:lnTo>
                  <a:pt x="0" y="111"/>
                </a:lnTo>
                <a:lnTo>
                  <a:pt x="0" y="109"/>
                </a:lnTo>
                <a:lnTo>
                  <a:pt x="0" y="106"/>
                </a:lnTo>
                <a:lnTo>
                  <a:pt x="0" y="105"/>
                </a:lnTo>
                <a:lnTo>
                  <a:pt x="2" y="105"/>
                </a:lnTo>
                <a:lnTo>
                  <a:pt x="5" y="103"/>
                </a:lnTo>
                <a:lnTo>
                  <a:pt x="5" y="103"/>
                </a:lnTo>
                <a:close/>
                <a:moveTo>
                  <a:pt x="896" y="0"/>
                </a:moveTo>
                <a:lnTo>
                  <a:pt x="973" y="32"/>
                </a:lnTo>
                <a:lnTo>
                  <a:pt x="902" y="76"/>
                </a:lnTo>
                <a:lnTo>
                  <a:pt x="896" y="0"/>
                </a:lnTo>
                <a:close/>
              </a:path>
            </a:pathLst>
          </a:custGeom>
          <a:solidFill>
            <a:srgbClr val="000000"/>
          </a:solidFill>
          <a:ln w="3175">
            <a:solidFill>
              <a:srgbClr val="000000"/>
            </a:solidFill>
            <a:prstDash val="solid"/>
            <a:round/>
            <a:headEnd/>
            <a:tailEnd/>
          </a:ln>
        </p:spPr>
        <p:txBody>
          <a:bodyPr/>
          <a:lstStyle/>
          <a:p>
            <a:endParaRPr lang="en-IN"/>
          </a:p>
        </p:txBody>
      </p:sp>
      <p:sp>
        <p:nvSpPr>
          <p:cNvPr id="112734" name="Freeform 94">
            <a:extLst>
              <a:ext uri="{FF2B5EF4-FFF2-40B4-BE49-F238E27FC236}">
                <a16:creationId xmlns:a16="http://schemas.microsoft.com/office/drawing/2014/main" id="{C6E1F296-71B9-9816-AF09-563C4DEEF343}"/>
              </a:ext>
            </a:extLst>
          </p:cNvPr>
          <p:cNvSpPr>
            <a:spLocks noEditPoints="1"/>
          </p:cNvSpPr>
          <p:nvPr/>
        </p:nvSpPr>
        <p:spPr bwMode="auto">
          <a:xfrm>
            <a:off x="8766176" y="4465638"/>
            <a:ext cx="1243013" cy="419100"/>
          </a:xfrm>
          <a:custGeom>
            <a:avLst/>
            <a:gdLst>
              <a:gd name="T0" fmla="*/ 6 w 783"/>
              <a:gd name="T1" fmla="*/ 0 h 264"/>
              <a:gd name="T2" fmla="*/ 724 w 783"/>
              <a:gd name="T3" fmla="*/ 228 h 264"/>
              <a:gd name="T4" fmla="*/ 725 w 783"/>
              <a:gd name="T5" fmla="*/ 229 h 264"/>
              <a:gd name="T6" fmla="*/ 727 w 783"/>
              <a:gd name="T7" fmla="*/ 231 h 264"/>
              <a:gd name="T8" fmla="*/ 728 w 783"/>
              <a:gd name="T9" fmla="*/ 232 h 264"/>
              <a:gd name="T10" fmla="*/ 728 w 783"/>
              <a:gd name="T11" fmla="*/ 234 h 264"/>
              <a:gd name="T12" fmla="*/ 727 w 783"/>
              <a:gd name="T13" fmla="*/ 235 h 264"/>
              <a:gd name="T14" fmla="*/ 725 w 783"/>
              <a:gd name="T15" fmla="*/ 237 h 264"/>
              <a:gd name="T16" fmla="*/ 724 w 783"/>
              <a:gd name="T17" fmla="*/ 237 h 264"/>
              <a:gd name="T18" fmla="*/ 722 w 783"/>
              <a:gd name="T19" fmla="*/ 237 h 264"/>
              <a:gd name="T20" fmla="*/ 3 w 783"/>
              <a:gd name="T21" fmla="*/ 9 h 264"/>
              <a:gd name="T22" fmla="*/ 2 w 783"/>
              <a:gd name="T23" fmla="*/ 8 h 264"/>
              <a:gd name="T24" fmla="*/ 0 w 783"/>
              <a:gd name="T25" fmla="*/ 8 h 264"/>
              <a:gd name="T26" fmla="*/ 0 w 783"/>
              <a:gd name="T27" fmla="*/ 5 h 264"/>
              <a:gd name="T28" fmla="*/ 0 w 783"/>
              <a:gd name="T29" fmla="*/ 3 h 264"/>
              <a:gd name="T30" fmla="*/ 0 w 783"/>
              <a:gd name="T31" fmla="*/ 2 h 264"/>
              <a:gd name="T32" fmla="*/ 2 w 783"/>
              <a:gd name="T33" fmla="*/ 0 h 264"/>
              <a:gd name="T34" fmla="*/ 3 w 783"/>
              <a:gd name="T35" fmla="*/ 0 h 264"/>
              <a:gd name="T36" fmla="*/ 6 w 783"/>
              <a:gd name="T37" fmla="*/ 0 h 264"/>
              <a:gd name="T38" fmla="*/ 6 w 783"/>
              <a:gd name="T39" fmla="*/ 0 h 264"/>
              <a:gd name="T40" fmla="*/ 722 w 783"/>
              <a:gd name="T41" fmla="*/ 193 h 264"/>
              <a:gd name="T42" fmla="*/ 783 w 783"/>
              <a:gd name="T43" fmla="*/ 252 h 264"/>
              <a:gd name="T44" fmla="*/ 700 w 783"/>
              <a:gd name="T45" fmla="*/ 264 h 264"/>
              <a:gd name="T46" fmla="*/ 722 w 783"/>
              <a:gd name="T47" fmla="*/ 193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83" h="264">
                <a:moveTo>
                  <a:pt x="6" y="0"/>
                </a:moveTo>
                <a:lnTo>
                  <a:pt x="724" y="228"/>
                </a:lnTo>
                <a:lnTo>
                  <a:pt x="725" y="229"/>
                </a:lnTo>
                <a:lnTo>
                  <a:pt x="727" y="231"/>
                </a:lnTo>
                <a:lnTo>
                  <a:pt x="728" y="232"/>
                </a:lnTo>
                <a:lnTo>
                  <a:pt x="728" y="234"/>
                </a:lnTo>
                <a:lnTo>
                  <a:pt x="727" y="235"/>
                </a:lnTo>
                <a:lnTo>
                  <a:pt x="725" y="237"/>
                </a:lnTo>
                <a:lnTo>
                  <a:pt x="724" y="237"/>
                </a:lnTo>
                <a:lnTo>
                  <a:pt x="722" y="237"/>
                </a:lnTo>
                <a:lnTo>
                  <a:pt x="3" y="9"/>
                </a:lnTo>
                <a:lnTo>
                  <a:pt x="2" y="8"/>
                </a:lnTo>
                <a:lnTo>
                  <a:pt x="0" y="8"/>
                </a:lnTo>
                <a:lnTo>
                  <a:pt x="0" y="5"/>
                </a:lnTo>
                <a:lnTo>
                  <a:pt x="0" y="3"/>
                </a:lnTo>
                <a:lnTo>
                  <a:pt x="0" y="2"/>
                </a:lnTo>
                <a:lnTo>
                  <a:pt x="2" y="0"/>
                </a:lnTo>
                <a:lnTo>
                  <a:pt x="3" y="0"/>
                </a:lnTo>
                <a:lnTo>
                  <a:pt x="6" y="0"/>
                </a:lnTo>
                <a:lnTo>
                  <a:pt x="6" y="0"/>
                </a:lnTo>
                <a:close/>
                <a:moveTo>
                  <a:pt x="722" y="193"/>
                </a:moveTo>
                <a:lnTo>
                  <a:pt x="783" y="252"/>
                </a:lnTo>
                <a:lnTo>
                  <a:pt x="700" y="264"/>
                </a:lnTo>
                <a:lnTo>
                  <a:pt x="722" y="193"/>
                </a:lnTo>
                <a:close/>
              </a:path>
            </a:pathLst>
          </a:custGeom>
          <a:solidFill>
            <a:srgbClr val="000000"/>
          </a:solidFill>
          <a:ln w="3175">
            <a:solidFill>
              <a:srgbClr val="000000"/>
            </a:solidFill>
            <a:prstDash val="solid"/>
            <a:round/>
            <a:headEnd/>
            <a:tailEnd/>
          </a:ln>
        </p:spPr>
        <p:txBody>
          <a:bodyPr/>
          <a:lstStyle/>
          <a:p>
            <a:endParaRPr lang="en-IN"/>
          </a:p>
        </p:txBody>
      </p:sp>
      <p:sp>
        <p:nvSpPr>
          <p:cNvPr id="112735" name="Freeform 95">
            <a:extLst>
              <a:ext uri="{FF2B5EF4-FFF2-40B4-BE49-F238E27FC236}">
                <a16:creationId xmlns:a16="http://schemas.microsoft.com/office/drawing/2014/main" id="{9086B9B2-E746-4EFE-BA44-53DA209DCB78}"/>
              </a:ext>
            </a:extLst>
          </p:cNvPr>
          <p:cNvSpPr>
            <a:spLocks noEditPoints="1"/>
          </p:cNvSpPr>
          <p:nvPr/>
        </p:nvSpPr>
        <p:spPr bwMode="auto">
          <a:xfrm>
            <a:off x="9128125" y="4954589"/>
            <a:ext cx="820738" cy="566737"/>
          </a:xfrm>
          <a:custGeom>
            <a:avLst/>
            <a:gdLst>
              <a:gd name="T0" fmla="*/ 2 w 517"/>
              <a:gd name="T1" fmla="*/ 348 h 357"/>
              <a:gd name="T2" fmla="*/ 462 w 517"/>
              <a:gd name="T3" fmla="*/ 32 h 357"/>
              <a:gd name="T4" fmla="*/ 464 w 517"/>
              <a:gd name="T5" fmla="*/ 32 h 357"/>
              <a:gd name="T6" fmla="*/ 466 w 517"/>
              <a:gd name="T7" fmla="*/ 32 h 357"/>
              <a:gd name="T8" fmla="*/ 467 w 517"/>
              <a:gd name="T9" fmla="*/ 32 h 357"/>
              <a:gd name="T10" fmla="*/ 469 w 517"/>
              <a:gd name="T11" fmla="*/ 34 h 357"/>
              <a:gd name="T12" fmla="*/ 470 w 517"/>
              <a:gd name="T13" fmla="*/ 35 h 357"/>
              <a:gd name="T14" fmla="*/ 470 w 517"/>
              <a:gd name="T15" fmla="*/ 37 h 357"/>
              <a:gd name="T16" fmla="*/ 469 w 517"/>
              <a:gd name="T17" fmla="*/ 38 h 357"/>
              <a:gd name="T18" fmla="*/ 469 w 517"/>
              <a:gd name="T19" fmla="*/ 40 h 357"/>
              <a:gd name="T20" fmla="*/ 8 w 517"/>
              <a:gd name="T21" fmla="*/ 355 h 357"/>
              <a:gd name="T22" fmla="*/ 5 w 517"/>
              <a:gd name="T23" fmla="*/ 357 h 357"/>
              <a:gd name="T24" fmla="*/ 3 w 517"/>
              <a:gd name="T25" fmla="*/ 355 h 357"/>
              <a:gd name="T26" fmla="*/ 2 w 517"/>
              <a:gd name="T27" fmla="*/ 355 h 357"/>
              <a:gd name="T28" fmla="*/ 0 w 517"/>
              <a:gd name="T29" fmla="*/ 354 h 357"/>
              <a:gd name="T30" fmla="*/ 0 w 517"/>
              <a:gd name="T31" fmla="*/ 352 h 357"/>
              <a:gd name="T32" fmla="*/ 0 w 517"/>
              <a:gd name="T33" fmla="*/ 351 h 357"/>
              <a:gd name="T34" fmla="*/ 0 w 517"/>
              <a:gd name="T35" fmla="*/ 349 h 357"/>
              <a:gd name="T36" fmla="*/ 2 w 517"/>
              <a:gd name="T37" fmla="*/ 348 h 357"/>
              <a:gd name="T38" fmla="*/ 2 w 517"/>
              <a:gd name="T39" fmla="*/ 348 h 357"/>
              <a:gd name="T40" fmla="*/ 434 w 517"/>
              <a:gd name="T41" fmla="*/ 12 h 357"/>
              <a:gd name="T42" fmla="*/ 517 w 517"/>
              <a:gd name="T43" fmla="*/ 0 h 357"/>
              <a:gd name="T44" fmla="*/ 476 w 517"/>
              <a:gd name="T45" fmla="*/ 75 h 357"/>
              <a:gd name="T46" fmla="*/ 434 w 517"/>
              <a:gd name="T47" fmla="*/ 12 h 3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17" h="357">
                <a:moveTo>
                  <a:pt x="2" y="348"/>
                </a:moveTo>
                <a:lnTo>
                  <a:pt x="462" y="32"/>
                </a:lnTo>
                <a:lnTo>
                  <a:pt x="464" y="32"/>
                </a:lnTo>
                <a:lnTo>
                  <a:pt x="466" y="32"/>
                </a:lnTo>
                <a:lnTo>
                  <a:pt x="467" y="32"/>
                </a:lnTo>
                <a:lnTo>
                  <a:pt x="469" y="34"/>
                </a:lnTo>
                <a:lnTo>
                  <a:pt x="470" y="35"/>
                </a:lnTo>
                <a:lnTo>
                  <a:pt x="470" y="37"/>
                </a:lnTo>
                <a:lnTo>
                  <a:pt x="469" y="38"/>
                </a:lnTo>
                <a:lnTo>
                  <a:pt x="469" y="40"/>
                </a:lnTo>
                <a:lnTo>
                  <a:pt x="8" y="355"/>
                </a:lnTo>
                <a:lnTo>
                  <a:pt x="5" y="357"/>
                </a:lnTo>
                <a:lnTo>
                  <a:pt x="3" y="355"/>
                </a:lnTo>
                <a:lnTo>
                  <a:pt x="2" y="355"/>
                </a:lnTo>
                <a:lnTo>
                  <a:pt x="0" y="354"/>
                </a:lnTo>
                <a:lnTo>
                  <a:pt x="0" y="352"/>
                </a:lnTo>
                <a:lnTo>
                  <a:pt x="0" y="351"/>
                </a:lnTo>
                <a:lnTo>
                  <a:pt x="0" y="349"/>
                </a:lnTo>
                <a:lnTo>
                  <a:pt x="2" y="348"/>
                </a:lnTo>
                <a:lnTo>
                  <a:pt x="2" y="348"/>
                </a:lnTo>
                <a:close/>
                <a:moveTo>
                  <a:pt x="434" y="12"/>
                </a:moveTo>
                <a:lnTo>
                  <a:pt x="517" y="0"/>
                </a:lnTo>
                <a:lnTo>
                  <a:pt x="476" y="75"/>
                </a:lnTo>
                <a:lnTo>
                  <a:pt x="434" y="12"/>
                </a:lnTo>
                <a:close/>
              </a:path>
            </a:pathLst>
          </a:custGeom>
          <a:solidFill>
            <a:srgbClr val="000000"/>
          </a:solidFill>
          <a:ln w="3175">
            <a:solidFill>
              <a:srgbClr val="000000"/>
            </a:solidFill>
            <a:prstDash val="solid"/>
            <a:round/>
            <a:headEnd/>
            <a:tailEnd/>
          </a:ln>
        </p:spPr>
        <p:txBody>
          <a:bodyPr/>
          <a:lstStyle/>
          <a:p>
            <a:endParaRPr lang="en-IN"/>
          </a:p>
        </p:txBody>
      </p:sp>
      <p:sp>
        <p:nvSpPr>
          <p:cNvPr id="112736" name="Rectangle 96">
            <a:extLst>
              <a:ext uri="{FF2B5EF4-FFF2-40B4-BE49-F238E27FC236}">
                <a16:creationId xmlns:a16="http://schemas.microsoft.com/office/drawing/2014/main" id="{B60B1E84-20DB-B521-943F-EB3299EAE106}"/>
              </a:ext>
            </a:extLst>
          </p:cNvPr>
          <p:cNvSpPr>
            <a:spLocks noChangeArrowheads="1"/>
          </p:cNvSpPr>
          <p:nvPr/>
        </p:nvSpPr>
        <p:spPr bwMode="auto">
          <a:xfrm>
            <a:off x="5667375" y="5035551"/>
            <a:ext cx="20839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FF33CC"/>
                </a:solidFill>
              </a:rPr>
              <a:t>12</a:t>
            </a:r>
            <a:endParaRPr lang="en-US" altLang="en-US">
              <a:solidFill>
                <a:srgbClr val="FF33CC"/>
              </a:solidFill>
            </a:endParaRPr>
          </a:p>
        </p:txBody>
      </p:sp>
      <p:sp>
        <p:nvSpPr>
          <p:cNvPr id="112737" name="Rectangle 97">
            <a:extLst>
              <a:ext uri="{FF2B5EF4-FFF2-40B4-BE49-F238E27FC236}">
                <a16:creationId xmlns:a16="http://schemas.microsoft.com/office/drawing/2014/main" id="{E7DBF5ED-0F48-BD66-9841-28E23A36A77C}"/>
              </a:ext>
            </a:extLst>
          </p:cNvPr>
          <p:cNvSpPr>
            <a:spLocks noChangeArrowheads="1"/>
          </p:cNvSpPr>
          <p:nvPr/>
        </p:nvSpPr>
        <p:spPr bwMode="auto">
          <a:xfrm>
            <a:off x="5832475" y="5634039"/>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t>6</a:t>
            </a:r>
            <a:endParaRPr lang="en-US" altLang="en-US"/>
          </a:p>
        </p:txBody>
      </p:sp>
      <p:sp>
        <p:nvSpPr>
          <p:cNvPr id="112738" name="Rectangle 98">
            <a:extLst>
              <a:ext uri="{FF2B5EF4-FFF2-40B4-BE49-F238E27FC236}">
                <a16:creationId xmlns:a16="http://schemas.microsoft.com/office/drawing/2014/main" id="{580CBDE9-A1E3-F735-E6C5-201E59E54457}"/>
              </a:ext>
            </a:extLst>
          </p:cNvPr>
          <p:cNvSpPr>
            <a:spLocks noChangeArrowheads="1"/>
          </p:cNvSpPr>
          <p:nvPr/>
        </p:nvSpPr>
        <p:spPr bwMode="auto">
          <a:xfrm>
            <a:off x="6119813" y="5216526"/>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0</a:t>
            </a:r>
            <a:endParaRPr lang="en-US" altLang="en-US"/>
          </a:p>
        </p:txBody>
      </p:sp>
      <p:sp>
        <p:nvSpPr>
          <p:cNvPr id="112739" name="Rectangle 99">
            <a:extLst>
              <a:ext uri="{FF2B5EF4-FFF2-40B4-BE49-F238E27FC236}">
                <a16:creationId xmlns:a16="http://schemas.microsoft.com/office/drawing/2014/main" id="{F9064FFE-D45C-588A-6DFA-DCAE882286BF}"/>
              </a:ext>
            </a:extLst>
          </p:cNvPr>
          <p:cNvSpPr>
            <a:spLocks noChangeArrowheads="1"/>
          </p:cNvSpPr>
          <p:nvPr/>
        </p:nvSpPr>
        <p:spPr bwMode="auto">
          <a:xfrm>
            <a:off x="7613650" y="4822826"/>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0</a:t>
            </a:r>
            <a:endParaRPr lang="en-US" altLang="en-US"/>
          </a:p>
        </p:txBody>
      </p:sp>
      <p:sp>
        <p:nvSpPr>
          <p:cNvPr id="112740" name="Rectangle 100">
            <a:extLst>
              <a:ext uri="{FF2B5EF4-FFF2-40B4-BE49-F238E27FC236}">
                <a16:creationId xmlns:a16="http://schemas.microsoft.com/office/drawing/2014/main" id="{53C506B1-D647-15D7-8579-6F6230666758}"/>
              </a:ext>
            </a:extLst>
          </p:cNvPr>
          <p:cNvSpPr>
            <a:spLocks noChangeArrowheads="1"/>
          </p:cNvSpPr>
          <p:nvPr/>
        </p:nvSpPr>
        <p:spPr bwMode="auto">
          <a:xfrm>
            <a:off x="9244013" y="4643439"/>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t>8</a:t>
            </a:r>
            <a:endParaRPr lang="en-US" altLang="en-US"/>
          </a:p>
        </p:txBody>
      </p:sp>
      <p:sp>
        <p:nvSpPr>
          <p:cNvPr id="112741" name="Rectangle 101">
            <a:extLst>
              <a:ext uri="{FF2B5EF4-FFF2-40B4-BE49-F238E27FC236}">
                <a16:creationId xmlns:a16="http://schemas.microsoft.com/office/drawing/2014/main" id="{D37040EA-A3CB-0505-F81F-775B742BABB0}"/>
              </a:ext>
            </a:extLst>
          </p:cNvPr>
          <p:cNvSpPr>
            <a:spLocks noChangeArrowheads="1"/>
          </p:cNvSpPr>
          <p:nvPr/>
        </p:nvSpPr>
        <p:spPr bwMode="auto">
          <a:xfrm>
            <a:off x="9248775" y="5087939"/>
            <a:ext cx="20839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FF33CC"/>
                </a:solidFill>
              </a:rPr>
              <a:t>10</a:t>
            </a:r>
            <a:endParaRPr lang="en-US" altLang="en-US">
              <a:solidFill>
                <a:srgbClr val="FF33CC"/>
              </a:solidFill>
            </a:endParaRPr>
          </a:p>
        </p:txBody>
      </p:sp>
      <p:sp>
        <p:nvSpPr>
          <p:cNvPr id="112742" name="Rectangle 102">
            <a:extLst>
              <a:ext uri="{FF2B5EF4-FFF2-40B4-BE49-F238E27FC236}">
                <a16:creationId xmlns:a16="http://schemas.microsoft.com/office/drawing/2014/main" id="{479F91C3-0DF2-F13A-221B-C5AEF85FD58F}"/>
              </a:ext>
            </a:extLst>
          </p:cNvPr>
          <p:cNvSpPr>
            <a:spLocks noChangeArrowheads="1"/>
          </p:cNvSpPr>
          <p:nvPr/>
        </p:nvSpPr>
        <p:spPr bwMode="auto">
          <a:xfrm>
            <a:off x="7673975" y="5783264"/>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t>6</a:t>
            </a:r>
            <a:endParaRPr lang="en-US" altLang="en-US"/>
          </a:p>
        </p:txBody>
      </p:sp>
      <p:sp>
        <p:nvSpPr>
          <p:cNvPr id="112743" name="Freeform 103">
            <a:extLst>
              <a:ext uri="{FF2B5EF4-FFF2-40B4-BE49-F238E27FC236}">
                <a16:creationId xmlns:a16="http://schemas.microsoft.com/office/drawing/2014/main" id="{96D03C89-6895-A2D2-1228-48922BA153D7}"/>
              </a:ext>
            </a:extLst>
          </p:cNvPr>
          <p:cNvSpPr>
            <a:spLocks/>
          </p:cNvSpPr>
          <p:nvPr/>
        </p:nvSpPr>
        <p:spPr bwMode="auto">
          <a:xfrm>
            <a:off x="10101264" y="4729163"/>
            <a:ext cx="269875" cy="271462"/>
          </a:xfrm>
          <a:custGeom>
            <a:avLst/>
            <a:gdLst>
              <a:gd name="T0" fmla="*/ 76 w 170"/>
              <a:gd name="T1" fmla="*/ 1 h 171"/>
              <a:gd name="T2" fmla="*/ 59 w 170"/>
              <a:gd name="T3" fmla="*/ 4 h 171"/>
              <a:gd name="T4" fmla="*/ 44 w 170"/>
              <a:gd name="T5" fmla="*/ 10 h 171"/>
              <a:gd name="T6" fmla="*/ 30 w 170"/>
              <a:gd name="T7" fmla="*/ 19 h 171"/>
              <a:gd name="T8" fmla="*/ 18 w 170"/>
              <a:gd name="T9" fmla="*/ 31 h 171"/>
              <a:gd name="T10" fmla="*/ 9 w 170"/>
              <a:gd name="T11" fmla="*/ 45 h 171"/>
              <a:gd name="T12" fmla="*/ 3 w 170"/>
              <a:gd name="T13" fmla="*/ 60 h 171"/>
              <a:gd name="T14" fmla="*/ 0 w 170"/>
              <a:gd name="T15" fmla="*/ 77 h 171"/>
              <a:gd name="T16" fmla="*/ 0 w 170"/>
              <a:gd name="T17" fmla="*/ 94 h 171"/>
              <a:gd name="T18" fmla="*/ 3 w 170"/>
              <a:gd name="T19" fmla="*/ 110 h 171"/>
              <a:gd name="T20" fmla="*/ 9 w 170"/>
              <a:gd name="T21" fmla="*/ 126 h 171"/>
              <a:gd name="T22" fmla="*/ 18 w 170"/>
              <a:gd name="T23" fmla="*/ 139 h 171"/>
              <a:gd name="T24" fmla="*/ 30 w 170"/>
              <a:gd name="T25" fmla="*/ 151 h 171"/>
              <a:gd name="T26" fmla="*/ 44 w 170"/>
              <a:gd name="T27" fmla="*/ 160 h 171"/>
              <a:gd name="T28" fmla="*/ 59 w 170"/>
              <a:gd name="T29" fmla="*/ 167 h 171"/>
              <a:gd name="T30" fmla="*/ 76 w 170"/>
              <a:gd name="T31" fmla="*/ 170 h 171"/>
              <a:gd name="T32" fmla="*/ 94 w 170"/>
              <a:gd name="T33" fmla="*/ 170 h 171"/>
              <a:gd name="T34" fmla="*/ 111 w 170"/>
              <a:gd name="T35" fmla="*/ 167 h 171"/>
              <a:gd name="T36" fmla="*/ 126 w 170"/>
              <a:gd name="T37" fmla="*/ 160 h 171"/>
              <a:gd name="T38" fmla="*/ 140 w 170"/>
              <a:gd name="T39" fmla="*/ 151 h 171"/>
              <a:gd name="T40" fmla="*/ 150 w 170"/>
              <a:gd name="T41" fmla="*/ 139 h 171"/>
              <a:gd name="T42" fmla="*/ 160 w 170"/>
              <a:gd name="T43" fmla="*/ 126 h 171"/>
              <a:gd name="T44" fmla="*/ 167 w 170"/>
              <a:gd name="T45" fmla="*/ 110 h 171"/>
              <a:gd name="T46" fmla="*/ 170 w 170"/>
              <a:gd name="T47" fmla="*/ 94 h 171"/>
              <a:gd name="T48" fmla="*/ 170 w 170"/>
              <a:gd name="T49" fmla="*/ 77 h 171"/>
              <a:gd name="T50" fmla="*/ 167 w 170"/>
              <a:gd name="T51" fmla="*/ 60 h 171"/>
              <a:gd name="T52" fmla="*/ 160 w 170"/>
              <a:gd name="T53" fmla="*/ 45 h 171"/>
              <a:gd name="T54" fmla="*/ 150 w 170"/>
              <a:gd name="T55" fmla="*/ 31 h 171"/>
              <a:gd name="T56" fmla="*/ 140 w 170"/>
              <a:gd name="T57" fmla="*/ 19 h 171"/>
              <a:gd name="T58" fmla="*/ 126 w 170"/>
              <a:gd name="T59" fmla="*/ 10 h 171"/>
              <a:gd name="T60" fmla="*/ 111 w 170"/>
              <a:gd name="T61" fmla="*/ 4 h 171"/>
              <a:gd name="T62" fmla="*/ 94 w 170"/>
              <a:gd name="T63" fmla="*/ 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 h="171">
                <a:moveTo>
                  <a:pt x="85" y="0"/>
                </a:moveTo>
                <a:lnTo>
                  <a:pt x="76" y="1"/>
                </a:lnTo>
                <a:lnTo>
                  <a:pt x="67" y="1"/>
                </a:lnTo>
                <a:lnTo>
                  <a:pt x="59" y="4"/>
                </a:lnTo>
                <a:lnTo>
                  <a:pt x="52" y="7"/>
                </a:lnTo>
                <a:lnTo>
                  <a:pt x="44" y="10"/>
                </a:lnTo>
                <a:lnTo>
                  <a:pt x="36" y="15"/>
                </a:lnTo>
                <a:lnTo>
                  <a:pt x="30" y="19"/>
                </a:lnTo>
                <a:lnTo>
                  <a:pt x="24" y="25"/>
                </a:lnTo>
                <a:lnTo>
                  <a:pt x="18" y="31"/>
                </a:lnTo>
                <a:lnTo>
                  <a:pt x="14" y="37"/>
                </a:lnTo>
                <a:lnTo>
                  <a:pt x="9" y="45"/>
                </a:lnTo>
                <a:lnTo>
                  <a:pt x="6" y="53"/>
                </a:lnTo>
                <a:lnTo>
                  <a:pt x="3" y="60"/>
                </a:lnTo>
                <a:lnTo>
                  <a:pt x="1" y="68"/>
                </a:lnTo>
                <a:lnTo>
                  <a:pt x="0" y="77"/>
                </a:lnTo>
                <a:lnTo>
                  <a:pt x="0" y="86"/>
                </a:lnTo>
                <a:lnTo>
                  <a:pt x="0" y="94"/>
                </a:lnTo>
                <a:lnTo>
                  <a:pt x="1" y="103"/>
                </a:lnTo>
                <a:lnTo>
                  <a:pt x="3" y="110"/>
                </a:lnTo>
                <a:lnTo>
                  <a:pt x="6" y="118"/>
                </a:lnTo>
                <a:lnTo>
                  <a:pt x="9" y="126"/>
                </a:lnTo>
                <a:lnTo>
                  <a:pt x="14" y="133"/>
                </a:lnTo>
                <a:lnTo>
                  <a:pt x="18" y="139"/>
                </a:lnTo>
                <a:lnTo>
                  <a:pt x="24" y="145"/>
                </a:lnTo>
                <a:lnTo>
                  <a:pt x="30" y="151"/>
                </a:lnTo>
                <a:lnTo>
                  <a:pt x="36" y="156"/>
                </a:lnTo>
                <a:lnTo>
                  <a:pt x="44" y="160"/>
                </a:lnTo>
                <a:lnTo>
                  <a:pt x="52" y="163"/>
                </a:lnTo>
                <a:lnTo>
                  <a:pt x="59" y="167"/>
                </a:lnTo>
                <a:lnTo>
                  <a:pt x="67" y="170"/>
                </a:lnTo>
                <a:lnTo>
                  <a:pt x="76" y="170"/>
                </a:lnTo>
                <a:lnTo>
                  <a:pt x="85" y="171"/>
                </a:lnTo>
                <a:lnTo>
                  <a:pt x="94" y="170"/>
                </a:lnTo>
                <a:lnTo>
                  <a:pt x="102" y="170"/>
                </a:lnTo>
                <a:lnTo>
                  <a:pt x="111" y="167"/>
                </a:lnTo>
                <a:lnTo>
                  <a:pt x="119" y="163"/>
                </a:lnTo>
                <a:lnTo>
                  <a:pt x="126" y="160"/>
                </a:lnTo>
                <a:lnTo>
                  <a:pt x="132" y="156"/>
                </a:lnTo>
                <a:lnTo>
                  <a:pt x="140" y="151"/>
                </a:lnTo>
                <a:lnTo>
                  <a:pt x="146" y="145"/>
                </a:lnTo>
                <a:lnTo>
                  <a:pt x="150" y="139"/>
                </a:lnTo>
                <a:lnTo>
                  <a:pt x="155" y="133"/>
                </a:lnTo>
                <a:lnTo>
                  <a:pt x="160" y="126"/>
                </a:lnTo>
                <a:lnTo>
                  <a:pt x="164" y="118"/>
                </a:lnTo>
                <a:lnTo>
                  <a:pt x="167" y="110"/>
                </a:lnTo>
                <a:lnTo>
                  <a:pt x="169" y="103"/>
                </a:lnTo>
                <a:lnTo>
                  <a:pt x="170" y="94"/>
                </a:lnTo>
                <a:lnTo>
                  <a:pt x="170" y="86"/>
                </a:lnTo>
                <a:lnTo>
                  <a:pt x="170" y="77"/>
                </a:lnTo>
                <a:lnTo>
                  <a:pt x="169" y="68"/>
                </a:lnTo>
                <a:lnTo>
                  <a:pt x="167" y="60"/>
                </a:lnTo>
                <a:lnTo>
                  <a:pt x="164" y="53"/>
                </a:lnTo>
                <a:lnTo>
                  <a:pt x="160" y="45"/>
                </a:lnTo>
                <a:lnTo>
                  <a:pt x="155" y="37"/>
                </a:lnTo>
                <a:lnTo>
                  <a:pt x="150" y="31"/>
                </a:lnTo>
                <a:lnTo>
                  <a:pt x="146" y="25"/>
                </a:lnTo>
                <a:lnTo>
                  <a:pt x="140" y="19"/>
                </a:lnTo>
                <a:lnTo>
                  <a:pt x="132" y="15"/>
                </a:lnTo>
                <a:lnTo>
                  <a:pt x="126" y="10"/>
                </a:lnTo>
                <a:lnTo>
                  <a:pt x="119" y="7"/>
                </a:lnTo>
                <a:lnTo>
                  <a:pt x="111" y="4"/>
                </a:lnTo>
                <a:lnTo>
                  <a:pt x="102" y="1"/>
                </a:lnTo>
                <a:lnTo>
                  <a:pt x="94" y="1"/>
                </a:lnTo>
                <a:lnTo>
                  <a:pt x="85" y="0"/>
                </a:lnTo>
                <a:close/>
              </a:path>
            </a:pathLst>
          </a:custGeom>
          <a:solidFill>
            <a:srgbClr val="00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2744" name="Freeform 104">
            <a:extLst>
              <a:ext uri="{FF2B5EF4-FFF2-40B4-BE49-F238E27FC236}">
                <a16:creationId xmlns:a16="http://schemas.microsoft.com/office/drawing/2014/main" id="{A622A5A7-EFFB-B4C3-7E02-30F579BE1949}"/>
              </a:ext>
            </a:extLst>
          </p:cNvPr>
          <p:cNvSpPr>
            <a:spLocks/>
          </p:cNvSpPr>
          <p:nvPr/>
        </p:nvSpPr>
        <p:spPr bwMode="auto">
          <a:xfrm>
            <a:off x="10101264" y="4729163"/>
            <a:ext cx="269875" cy="271462"/>
          </a:xfrm>
          <a:custGeom>
            <a:avLst/>
            <a:gdLst>
              <a:gd name="T0" fmla="*/ 76 w 170"/>
              <a:gd name="T1" fmla="*/ 1 h 171"/>
              <a:gd name="T2" fmla="*/ 59 w 170"/>
              <a:gd name="T3" fmla="*/ 4 h 171"/>
              <a:gd name="T4" fmla="*/ 44 w 170"/>
              <a:gd name="T5" fmla="*/ 10 h 171"/>
              <a:gd name="T6" fmla="*/ 30 w 170"/>
              <a:gd name="T7" fmla="*/ 19 h 171"/>
              <a:gd name="T8" fmla="*/ 18 w 170"/>
              <a:gd name="T9" fmla="*/ 31 h 171"/>
              <a:gd name="T10" fmla="*/ 9 w 170"/>
              <a:gd name="T11" fmla="*/ 45 h 171"/>
              <a:gd name="T12" fmla="*/ 3 w 170"/>
              <a:gd name="T13" fmla="*/ 60 h 171"/>
              <a:gd name="T14" fmla="*/ 0 w 170"/>
              <a:gd name="T15" fmla="*/ 77 h 171"/>
              <a:gd name="T16" fmla="*/ 0 w 170"/>
              <a:gd name="T17" fmla="*/ 94 h 171"/>
              <a:gd name="T18" fmla="*/ 3 w 170"/>
              <a:gd name="T19" fmla="*/ 110 h 171"/>
              <a:gd name="T20" fmla="*/ 9 w 170"/>
              <a:gd name="T21" fmla="*/ 126 h 171"/>
              <a:gd name="T22" fmla="*/ 18 w 170"/>
              <a:gd name="T23" fmla="*/ 139 h 171"/>
              <a:gd name="T24" fmla="*/ 30 w 170"/>
              <a:gd name="T25" fmla="*/ 151 h 171"/>
              <a:gd name="T26" fmla="*/ 44 w 170"/>
              <a:gd name="T27" fmla="*/ 160 h 171"/>
              <a:gd name="T28" fmla="*/ 59 w 170"/>
              <a:gd name="T29" fmla="*/ 167 h 171"/>
              <a:gd name="T30" fmla="*/ 76 w 170"/>
              <a:gd name="T31" fmla="*/ 170 h 171"/>
              <a:gd name="T32" fmla="*/ 94 w 170"/>
              <a:gd name="T33" fmla="*/ 170 h 171"/>
              <a:gd name="T34" fmla="*/ 111 w 170"/>
              <a:gd name="T35" fmla="*/ 167 h 171"/>
              <a:gd name="T36" fmla="*/ 126 w 170"/>
              <a:gd name="T37" fmla="*/ 160 h 171"/>
              <a:gd name="T38" fmla="*/ 140 w 170"/>
              <a:gd name="T39" fmla="*/ 151 h 171"/>
              <a:gd name="T40" fmla="*/ 150 w 170"/>
              <a:gd name="T41" fmla="*/ 139 h 171"/>
              <a:gd name="T42" fmla="*/ 160 w 170"/>
              <a:gd name="T43" fmla="*/ 126 h 171"/>
              <a:gd name="T44" fmla="*/ 167 w 170"/>
              <a:gd name="T45" fmla="*/ 110 h 171"/>
              <a:gd name="T46" fmla="*/ 170 w 170"/>
              <a:gd name="T47" fmla="*/ 94 h 171"/>
              <a:gd name="T48" fmla="*/ 170 w 170"/>
              <a:gd name="T49" fmla="*/ 77 h 171"/>
              <a:gd name="T50" fmla="*/ 167 w 170"/>
              <a:gd name="T51" fmla="*/ 60 h 171"/>
              <a:gd name="T52" fmla="*/ 160 w 170"/>
              <a:gd name="T53" fmla="*/ 45 h 171"/>
              <a:gd name="T54" fmla="*/ 150 w 170"/>
              <a:gd name="T55" fmla="*/ 31 h 171"/>
              <a:gd name="T56" fmla="*/ 140 w 170"/>
              <a:gd name="T57" fmla="*/ 19 h 171"/>
              <a:gd name="T58" fmla="*/ 126 w 170"/>
              <a:gd name="T59" fmla="*/ 10 h 171"/>
              <a:gd name="T60" fmla="*/ 111 w 170"/>
              <a:gd name="T61" fmla="*/ 4 h 171"/>
              <a:gd name="T62" fmla="*/ 94 w 170"/>
              <a:gd name="T63" fmla="*/ 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 h="171">
                <a:moveTo>
                  <a:pt x="85" y="0"/>
                </a:moveTo>
                <a:lnTo>
                  <a:pt x="76" y="1"/>
                </a:lnTo>
                <a:lnTo>
                  <a:pt x="67" y="1"/>
                </a:lnTo>
                <a:lnTo>
                  <a:pt x="59" y="4"/>
                </a:lnTo>
                <a:lnTo>
                  <a:pt x="52" y="7"/>
                </a:lnTo>
                <a:lnTo>
                  <a:pt x="44" y="10"/>
                </a:lnTo>
                <a:lnTo>
                  <a:pt x="36" y="15"/>
                </a:lnTo>
                <a:lnTo>
                  <a:pt x="30" y="19"/>
                </a:lnTo>
                <a:lnTo>
                  <a:pt x="24" y="25"/>
                </a:lnTo>
                <a:lnTo>
                  <a:pt x="18" y="31"/>
                </a:lnTo>
                <a:lnTo>
                  <a:pt x="14" y="37"/>
                </a:lnTo>
                <a:lnTo>
                  <a:pt x="9" y="45"/>
                </a:lnTo>
                <a:lnTo>
                  <a:pt x="6" y="53"/>
                </a:lnTo>
                <a:lnTo>
                  <a:pt x="3" y="60"/>
                </a:lnTo>
                <a:lnTo>
                  <a:pt x="1" y="68"/>
                </a:lnTo>
                <a:lnTo>
                  <a:pt x="0" y="77"/>
                </a:lnTo>
                <a:lnTo>
                  <a:pt x="0" y="86"/>
                </a:lnTo>
                <a:lnTo>
                  <a:pt x="0" y="94"/>
                </a:lnTo>
                <a:lnTo>
                  <a:pt x="1" y="103"/>
                </a:lnTo>
                <a:lnTo>
                  <a:pt x="3" y="110"/>
                </a:lnTo>
                <a:lnTo>
                  <a:pt x="6" y="118"/>
                </a:lnTo>
                <a:lnTo>
                  <a:pt x="9" y="126"/>
                </a:lnTo>
                <a:lnTo>
                  <a:pt x="14" y="133"/>
                </a:lnTo>
                <a:lnTo>
                  <a:pt x="18" y="139"/>
                </a:lnTo>
                <a:lnTo>
                  <a:pt x="24" y="145"/>
                </a:lnTo>
                <a:lnTo>
                  <a:pt x="30" y="151"/>
                </a:lnTo>
                <a:lnTo>
                  <a:pt x="36" y="156"/>
                </a:lnTo>
                <a:lnTo>
                  <a:pt x="44" y="160"/>
                </a:lnTo>
                <a:lnTo>
                  <a:pt x="52" y="163"/>
                </a:lnTo>
                <a:lnTo>
                  <a:pt x="59" y="167"/>
                </a:lnTo>
                <a:lnTo>
                  <a:pt x="67" y="170"/>
                </a:lnTo>
                <a:lnTo>
                  <a:pt x="76" y="170"/>
                </a:lnTo>
                <a:lnTo>
                  <a:pt x="85" y="171"/>
                </a:lnTo>
                <a:lnTo>
                  <a:pt x="94" y="170"/>
                </a:lnTo>
                <a:lnTo>
                  <a:pt x="102" y="170"/>
                </a:lnTo>
                <a:lnTo>
                  <a:pt x="111" y="167"/>
                </a:lnTo>
                <a:lnTo>
                  <a:pt x="119" y="163"/>
                </a:lnTo>
                <a:lnTo>
                  <a:pt x="126" y="160"/>
                </a:lnTo>
                <a:lnTo>
                  <a:pt x="132" y="156"/>
                </a:lnTo>
                <a:lnTo>
                  <a:pt x="140" y="151"/>
                </a:lnTo>
                <a:lnTo>
                  <a:pt x="146" y="145"/>
                </a:lnTo>
                <a:lnTo>
                  <a:pt x="150" y="139"/>
                </a:lnTo>
                <a:lnTo>
                  <a:pt x="155" y="133"/>
                </a:lnTo>
                <a:lnTo>
                  <a:pt x="160" y="126"/>
                </a:lnTo>
                <a:lnTo>
                  <a:pt x="164" y="118"/>
                </a:lnTo>
                <a:lnTo>
                  <a:pt x="167" y="110"/>
                </a:lnTo>
                <a:lnTo>
                  <a:pt x="169" y="103"/>
                </a:lnTo>
                <a:lnTo>
                  <a:pt x="170" y="94"/>
                </a:lnTo>
                <a:lnTo>
                  <a:pt x="170" y="86"/>
                </a:lnTo>
                <a:lnTo>
                  <a:pt x="170" y="77"/>
                </a:lnTo>
                <a:lnTo>
                  <a:pt x="169" y="68"/>
                </a:lnTo>
                <a:lnTo>
                  <a:pt x="167" y="60"/>
                </a:lnTo>
                <a:lnTo>
                  <a:pt x="164" y="53"/>
                </a:lnTo>
                <a:lnTo>
                  <a:pt x="160" y="45"/>
                </a:lnTo>
                <a:lnTo>
                  <a:pt x="155" y="37"/>
                </a:lnTo>
                <a:lnTo>
                  <a:pt x="150" y="31"/>
                </a:lnTo>
                <a:lnTo>
                  <a:pt x="146" y="25"/>
                </a:lnTo>
                <a:lnTo>
                  <a:pt x="140" y="19"/>
                </a:lnTo>
                <a:lnTo>
                  <a:pt x="132" y="15"/>
                </a:lnTo>
                <a:lnTo>
                  <a:pt x="126" y="10"/>
                </a:lnTo>
                <a:lnTo>
                  <a:pt x="119" y="7"/>
                </a:lnTo>
                <a:lnTo>
                  <a:pt x="111" y="4"/>
                </a:lnTo>
                <a:lnTo>
                  <a:pt x="102" y="1"/>
                </a:lnTo>
                <a:lnTo>
                  <a:pt x="94" y="1"/>
                </a:lnTo>
                <a:lnTo>
                  <a:pt x="85"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2745" name="Rectangle 105">
            <a:extLst>
              <a:ext uri="{FF2B5EF4-FFF2-40B4-BE49-F238E27FC236}">
                <a16:creationId xmlns:a16="http://schemas.microsoft.com/office/drawing/2014/main" id="{6EBD87FC-DE73-B072-F785-CF01A9C59E65}"/>
              </a:ext>
            </a:extLst>
          </p:cNvPr>
          <p:cNvSpPr>
            <a:spLocks noChangeArrowheads="1"/>
          </p:cNvSpPr>
          <p:nvPr/>
        </p:nvSpPr>
        <p:spPr bwMode="auto">
          <a:xfrm>
            <a:off x="10164763" y="4760914"/>
            <a:ext cx="12663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D</a:t>
            </a:r>
            <a:endParaRPr lang="en-US" altLang="en-US"/>
          </a:p>
        </p:txBody>
      </p:sp>
      <p:sp>
        <p:nvSpPr>
          <p:cNvPr id="112746" name="Freeform 106">
            <a:extLst>
              <a:ext uri="{FF2B5EF4-FFF2-40B4-BE49-F238E27FC236}">
                <a16:creationId xmlns:a16="http://schemas.microsoft.com/office/drawing/2014/main" id="{4CD703FC-0001-B43B-4740-E80E710AC7AA}"/>
              </a:ext>
            </a:extLst>
          </p:cNvPr>
          <p:cNvSpPr>
            <a:spLocks/>
          </p:cNvSpPr>
          <p:nvPr/>
        </p:nvSpPr>
        <p:spPr bwMode="auto">
          <a:xfrm>
            <a:off x="8440738" y="4065588"/>
            <a:ext cx="273050" cy="273050"/>
          </a:xfrm>
          <a:custGeom>
            <a:avLst/>
            <a:gdLst>
              <a:gd name="T0" fmla="*/ 78 w 172"/>
              <a:gd name="T1" fmla="*/ 2 h 172"/>
              <a:gd name="T2" fmla="*/ 61 w 172"/>
              <a:gd name="T3" fmla="*/ 5 h 172"/>
              <a:gd name="T4" fmla="*/ 44 w 172"/>
              <a:gd name="T5" fmla="*/ 11 h 172"/>
              <a:gd name="T6" fmla="*/ 32 w 172"/>
              <a:gd name="T7" fmla="*/ 20 h 172"/>
              <a:gd name="T8" fmla="*/ 20 w 172"/>
              <a:gd name="T9" fmla="*/ 32 h 172"/>
              <a:gd name="T10" fmla="*/ 11 w 172"/>
              <a:gd name="T11" fmla="*/ 46 h 172"/>
              <a:gd name="T12" fmla="*/ 5 w 172"/>
              <a:gd name="T13" fmla="*/ 61 h 172"/>
              <a:gd name="T14" fmla="*/ 0 w 172"/>
              <a:gd name="T15" fmla="*/ 77 h 172"/>
              <a:gd name="T16" fmla="*/ 0 w 172"/>
              <a:gd name="T17" fmla="*/ 94 h 172"/>
              <a:gd name="T18" fmla="*/ 5 w 172"/>
              <a:gd name="T19" fmla="*/ 111 h 172"/>
              <a:gd name="T20" fmla="*/ 11 w 172"/>
              <a:gd name="T21" fmla="*/ 126 h 172"/>
              <a:gd name="T22" fmla="*/ 20 w 172"/>
              <a:gd name="T23" fmla="*/ 140 h 172"/>
              <a:gd name="T24" fmla="*/ 32 w 172"/>
              <a:gd name="T25" fmla="*/ 152 h 172"/>
              <a:gd name="T26" fmla="*/ 44 w 172"/>
              <a:gd name="T27" fmla="*/ 161 h 172"/>
              <a:gd name="T28" fmla="*/ 61 w 172"/>
              <a:gd name="T29" fmla="*/ 167 h 172"/>
              <a:gd name="T30" fmla="*/ 78 w 172"/>
              <a:gd name="T31" fmla="*/ 170 h 172"/>
              <a:gd name="T32" fmla="*/ 94 w 172"/>
              <a:gd name="T33" fmla="*/ 170 h 172"/>
              <a:gd name="T34" fmla="*/ 111 w 172"/>
              <a:gd name="T35" fmla="*/ 167 h 172"/>
              <a:gd name="T36" fmla="*/ 126 w 172"/>
              <a:gd name="T37" fmla="*/ 161 h 172"/>
              <a:gd name="T38" fmla="*/ 140 w 172"/>
              <a:gd name="T39" fmla="*/ 152 h 172"/>
              <a:gd name="T40" fmla="*/ 152 w 172"/>
              <a:gd name="T41" fmla="*/ 140 h 172"/>
              <a:gd name="T42" fmla="*/ 161 w 172"/>
              <a:gd name="T43" fmla="*/ 126 h 172"/>
              <a:gd name="T44" fmla="*/ 167 w 172"/>
              <a:gd name="T45" fmla="*/ 111 h 172"/>
              <a:gd name="T46" fmla="*/ 170 w 172"/>
              <a:gd name="T47" fmla="*/ 94 h 172"/>
              <a:gd name="T48" fmla="*/ 170 w 172"/>
              <a:gd name="T49" fmla="*/ 77 h 172"/>
              <a:gd name="T50" fmla="*/ 167 w 172"/>
              <a:gd name="T51" fmla="*/ 61 h 172"/>
              <a:gd name="T52" fmla="*/ 161 w 172"/>
              <a:gd name="T53" fmla="*/ 46 h 172"/>
              <a:gd name="T54" fmla="*/ 152 w 172"/>
              <a:gd name="T55" fmla="*/ 32 h 172"/>
              <a:gd name="T56" fmla="*/ 140 w 172"/>
              <a:gd name="T57" fmla="*/ 20 h 172"/>
              <a:gd name="T58" fmla="*/ 126 w 172"/>
              <a:gd name="T59" fmla="*/ 11 h 172"/>
              <a:gd name="T60" fmla="*/ 111 w 172"/>
              <a:gd name="T61" fmla="*/ 5 h 172"/>
              <a:gd name="T62" fmla="*/ 94 w 172"/>
              <a:gd name="T63" fmla="*/ 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2" h="172">
                <a:moveTo>
                  <a:pt x="85" y="0"/>
                </a:moveTo>
                <a:lnTo>
                  <a:pt x="78" y="2"/>
                </a:lnTo>
                <a:lnTo>
                  <a:pt x="68" y="2"/>
                </a:lnTo>
                <a:lnTo>
                  <a:pt x="61" y="5"/>
                </a:lnTo>
                <a:lnTo>
                  <a:pt x="52" y="8"/>
                </a:lnTo>
                <a:lnTo>
                  <a:pt x="44" y="11"/>
                </a:lnTo>
                <a:lnTo>
                  <a:pt x="38" y="15"/>
                </a:lnTo>
                <a:lnTo>
                  <a:pt x="32" y="20"/>
                </a:lnTo>
                <a:lnTo>
                  <a:pt x="26" y="26"/>
                </a:lnTo>
                <a:lnTo>
                  <a:pt x="20" y="32"/>
                </a:lnTo>
                <a:lnTo>
                  <a:pt x="15" y="38"/>
                </a:lnTo>
                <a:lnTo>
                  <a:pt x="11" y="46"/>
                </a:lnTo>
                <a:lnTo>
                  <a:pt x="6" y="53"/>
                </a:lnTo>
                <a:lnTo>
                  <a:pt x="5" y="61"/>
                </a:lnTo>
                <a:lnTo>
                  <a:pt x="2" y="68"/>
                </a:lnTo>
                <a:lnTo>
                  <a:pt x="0" y="77"/>
                </a:lnTo>
                <a:lnTo>
                  <a:pt x="0" y="87"/>
                </a:lnTo>
                <a:lnTo>
                  <a:pt x="0" y="94"/>
                </a:lnTo>
                <a:lnTo>
                  <a:pt x="2" y="103"/>
                </a:lnTo>
                <a:lnTo>
                  <a:pt x="5" y="111"/>
                </a:lnTo>
                <a:lnTo>
                  <a:pt x="6" y="118"/>
                </a:lnTo>
                <a:lnTo>
                  <a:pt x="11" y="126"/>
                </a:lnTo>
                <a:lnTo>
                  <a:pt x="15" y="134"/>
                </a:lnTo>
                <a:lnTo>
                  <a:pt x="20" y="140"/>
                </a:lnTo>
                <a:lnTo>
                  <a:pt x="26" y="146"/>
                </a:lnTo>
                <a:lnTo>
                  <a:pt x="32" y="152"/>
                </a:lnTo>
                <a:lnTo>
                  <a:pt x="38" y="156"/>
                </a:lnTo>
                <a:lnTo>
                  <a:pt x="44" y="161"/>
                </a:lnTo>
                <a:lnTo>
                  <a:pt x="52" y="164"/>
                </a:lnTo>
                <a:lnTo>
                  <a:pt x="61" y="167"/>
                </a:lnTo>
                <a:lnTo>
                  <a:pt x="68" y="170"/>
                </a:lnTo>
                <a:lnTo>
                  <a:pt x="78" y="170"/>
                </a:lnTo>
                <a:lnTo>
                  <a:pt x="85" y="172"/>
                </a:lnTo>
                <a:lnTo>
                  <a:pt x="94" y="170"/>
                </a:lnTo>
                <a:lnTo>
                  <a:pt x="103" y="170"/>
                </a:lnTo>
                <a:lnTo>
                  <a:pt x="111" y="167"/>
                </a:lnTo>
                <a:lnTo>
                  <a:pt x="119" y="164"/>
                </a:lnTo>
                <a:lnTo>
                  <a:pt x="126" y="161"/>
                </a:lnTo>
                <a:lnTo>
                  <a:pt x="134" y="156"/>
                </a:lnTo>
                <a:lnTo>
                  <a:pt x="140" y="152"/>
                </a:lnTo>
                <a:lnTo>
                  <a:pt x="146" y="146"/>
                </a:lnTo>
                <a:lnTo>
                  <a:pt x="152" y="140"/>
                </a:lnTo>
                <a:lnTo>
                  <a:pt x="157" y="134"/>
                </a:lnTo>
                <a:lnTo>
                  <a:pt x="161" y="126"/>
                </a:lnTo>
                <a:lnTo>
                  <a:pt x="164" y="118"/>
                </a:lnTo>
                <a:lnTo>
                  <a:pt x="167" y="111"/>
                </a:lnTo>
                <a:lnTo>
                  <a:pt x="169" y="103"/>
                </a:lnTo>
                <a:lnTo>
                  <a:pt x="170" y="94"/>
                </a:lnTo>
                <a:lnTo>
                  <a:pt x="172" y="87"/>
                </a:lnTo>
                <a:lnTo>
                  <a:pt x="170" y="77"/>
                </a:lnTo>
                <a:lnTo>
                  <a:pt x="169" y="68"/>
                </a:lnTo>
                <a:lnTo>
                  <a:pt x="167" y="61"/>
                </a:lnTo>
                <a:lnTo>
                  <a:pt x="164" y="53"/>
                </a:lnTo>
                <a:lnTo>
                  <a:pt x="161" y="46"/>
                </a:lnTo>
                <a:lnTo>
                  <a:pt x="157" y="38"/>
                </a:lnTo>
                <a:lnTo>
                  <a:pt x="152" y="32"/>
                </a:lnTo>
                <a:lnTo>
                  <a:pt x="146" y="26"/>
                </a:lnTo>
                <a:lnTo>
                  <a:pt x="140" y="20"/>
                </a:lnTo>
                <a:lnTo>
                  <a:pt x="134" y="15"/>
                </a:lnTo>
                <a:lnTo>
                  <a:pt x="126" y="11"/>
                </a:lnTo>
                <a:lnTo>
                  <a:pt x="119" y="8"/>
                </a:lnTo>
                <a:lnTo>
                  <a:pt x="111" y="5"/>
                </a:lnTo>
                <a:lnTo>
                  <a:pt x="103" y="2"/>
                </a:lnTo>
                <a:lnTo>
                  <a:pt x="94" y="2"/>
                </a:lnTo>
                <a:lnTo>
                  <a:pt x="85" y="0"/>
                </a:lnTo>
                <a:close/>
              </a:path>
            </a:pathLst>
          </a:custGeom>
          <a:solidFill>
            <a:srgbClr val="00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2747" name="Freeform 107">
            <a:extLst>
              <a:ext uri="{FF2B5EF4-FFF2-40B4-BE49-F238E27FC236}">
                <a16:creationId xmlns:a16="http://schemas.microsoft.com/office/drawing/2014/main" id="{506BF1D2-BB9D-CADB-C92D-710CDCFFAF83}"/>
              </a:ext>
            </a:extLst>
          </p:cNvPr>
          <p:cNvSpPr>
            <a:spLocks/>
          </p:cNvSpPr>
          <p:nvPr/>
        </p:nvSpPr>
        <p:spPr bwMode="auto">
          <a:xfrm>
            <a:off x="8440738" y="4065588"/>
            <a:ext cx="273050" cy="273050"/>
          </a:xfrm>
          <a:custGeom>
            <a:avLst/>
            <a:gdLst>
              <a:gd name="T0" fmla="*/ 78 w 172"/>
              <a:gd name="T1" fmla="*/ 2 h 172"/>
              <a:gd name="T2" fmla="*/ 61 w 172"/>
              <a:gd name="T3" fmla="*/ 5 h 172"/>
              <a:gd name="T4" fmla="*/ 44 w 172"/>
              <a:gd name="T5" fmla="*/ 11 h 172"/>
              <a:gd name="T6" fmla="*/ 32 w 172"/>
              <a:gd name="T7" fmla="*/ 20 h 172"/>
              <a:gd name="T8" fmla="*/ 20 w 172"/>
              <a:gd name="T9" fmla="*/ 32 h 172"/>
              <a:gd name="T10" fmla="*/ 11 w 172"/>
              <a:gd name="T11" fmla="*/ 46 h 172"/>
              <a:gd name="T12" fmla="*/ 5 w 172"/>
              <a:gd name="T13" fmla="*/ 61 h 172"/>
              <a:gd name="T14" fmla="*/ 0 w 172"/>
              <a:gd name="T15" fmla="*/ 77 h 172"/>
              <a:gd name="T16" fmla="*/ 0 w 172"/>
              <a:gd name="T17" fmla="*/ 94 h 172"/>
              <a:gd name="T18" fmla="*/ 5 w 172"/>
              <a:gd name="T19" fmla="*/ 111 h 172"/>
              <a:gd name="T20" fmla="*/ 11 w 172"/>
              <a:gd name="T21" fmla="*/ 126 h 172"/>
              <a:gd name="T22" fmla="*/ 20 w 172"/>
              <a:gd name="T23" fmla="*/ 140 h 172"/>
              <a:gd name="T24" fmla="*/ 32 w 172"/>
              <a:gd name="T25" fmla="*/ 152 h 172"/>
              <a:gd name="T26" fmla="*/ 44 w 172"/>
              <a:gd name="T27" fmla="*/ 161 h 172"/>
              <a:gd name="T28" fmla="*/ 61 w 172"/>
              <a:gd name="T29" fmla="*/ 167 h 172"/>
              <a:gd name="T30" fmla="*/ 78 w 172"/>
              <a:gd name="T31" fmla="*/ 170 h 172"/>
              <a:gd name="T32" fmla="*/ 94 w 172"/>
              <a:gd name="T33" fmla="*/ 170 h 172"/>
              <a:gd name="T34" fmla="*/ 111 w 172"/>
              <a:gd name="T35" fmla="*/ 167 h 172"/>
              <a:gd name="T36" fmla="*/ 126 w 172"/>
              <a:gd name="T37" fmla="*/ 161 h 172"/>
              <a:gd name="T38" fmla="*/ 140 w 172"/>
              <a:gd name="T39" fmla="*/ 152 h 172"/>
              <a:gd name="T40" fmla="*/ 152 w 172"/>
              <a:gd name="T41" fmla="*/ 140 h 172"/>
              <a:gd name="T42" fmla="*/ 161 w 172"/>
              <a:gd name="T43" fmla="*/ 126 h 172"/>
              <a:gd name="T44" fmla="*/ 167 w 172"/>
              <a:gd name="T45" fmla="*/ 111 h 172"/>
              <a:gd name="T46" fmla="*/ 170 w 172"/>
              <a:gd name="T47" fmla="*/ 94 h 172"/>
              <a:gd name="T48" fmla="*/ 170 w 172"/>
              <a:gd name="T49" fmla="*/ 77 h 172"/>
              <a:gd name="T50" fmla="*/ 167 w 172"/>
              <a:gd name="T51" fmla="*/ 61 h 172"/>
              <a:gd name="T52" fmla="*/ 161 w 172"/>
              <a:gd name="T53" fmla="*/ 46 h 172"/>
              <a:gd name="T54" fmla="*/ 152 w 172"/>
              <a:gd name="T55" fmla="*/ 32 h 172"/>
              <a:gd name="T56" fmla="*/ 140 w 172"/>
              <a:gd name="T57" fmla="*/ 20 h 172"/>
              <a:gd name="T58" fmla="*/ 126 w 172"/>
              <a:gd name="T59" fmla="*/ 11 h 172"/>
              <a:gd name="T60" fmla="*/ 111 w 172"/>
              <a:gd name="T61" fmla="*/ 5 h 172"/>
              <a:gd name="T62" fmla="*/ 94 w 172"/>
              <a:gd name="T63" fmla="*/ 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2" h="172">
                <a:moveTo>
                  <a:pt x="85" y="0"/>
                </a:moveTo>
                <a:lnTo>
                  <a:pt x="78" y="2"/>
                </a:lnTo>
                <a:lnTo>
                  <a:pt x="68" y="2"/>
                </a:lnTo>
                <a:lnTo>
                  <a:pt x="61" y="5"/>
                </a:lnTo>
                <a:lnTo>
                  <a:pt x="52" y="8"/>
                </a:lnTo>
                <a:lnTo>
                  <a:pt x="44" y="11"/>
                </a:lnTo>
                <a:lnTo>
                  <a:pt x="38" y="15"/>
                </a:lnTo>
                <a:lnTo>
                  <a:pt x="32" y="20"/>
                </a:lnTo>
                <a:lnTo>
                  <a:pt x="26" y="26"/>
                </a:lnTo>
                <a:lnTo>
                  <a:pt x="20" y="32"/>
                </a:lnTo>
                <a:lnTo>
                  <a:pt x="15" y="38"/>
                </a:lnTo>
                <a:lnTo>
                  <a:pt x="11" y="46"/>
                </a:lnTo>
                <a:lnTo>
                  <a:pt x="6" y="53"/>
                </a:lnTo>
                <a:lnTo>
                  <a:pt x="5" y="61"/>
                </a:lnTo>
                <a:lnTo>
                  <a:pt x="2" y="68"/>
                </a:lnTo>
                <a:lnTo>
                  <a:pt x="0" y="77"/>
                </a:lnTo>
                <a:lnTo>
                  <a:pt x="0" y="87"/>
                </a:lnTo>
                <a:lnTo>
                  <a:pt x="0" y="94"/>
                </a:lnTo>
                <a:lnTo>
                  <a:pt x="2" y="103"/>
                </a:lnTo>
                <a:lnTo>
                  <a:pt x="5" y="111"/>
                </a:lnTo>
                <a:lnTo>
                  <a:pt x="6" y="118"/>
                </a:lnTo>
                <a:lnTo>
                  <a:pt x="11" y="126"/>
                </a:lnTo>
                <a:lnTo>
                  <a:pt x="15" y="134"/>
                </a:lnTo>
                <a:lnTo>
                  <a:pt x="20" y="140"/>
                </a:lnTo>
                <a:lnTo>
                  <a:pt x="26" y="146"/>
                </a:lnTo>
                <a:lnTo>
                  <a:pt x="32" y="152"/>
                </a:lnTo>
                <a:lnTo>
                  <a:pt x="38" y="156"/>
                </a:lnTo>
                <a:lnTo>
                  <a:pt x="44" y="161"/>
                </a:lnTo>
                <a:lnTo>
                  <a:pt x="52" y="164"/>
                </a:lnTo>
                <a:lnTo>
                  <a:pt x="61" y="167"/>
                </a:lnTo>
                <a:lnTo>
                  <a:pt x="68" y="170"/>
                </a:lnTo>
                <a:lnTo>
                  <a:pt x="78" y="170"/>
                </a:lnTo>
                <a:lnTo>
                  <a:pt x="85" y="172"/>
                </a:lnTo>
                <a:lnTo>
                  <a:pt x="94" y="170"/>
                </a:lnTo>
                <a:lnTo>
                  <a:pt x="103" y="170"/>
                </a:lnTo>
                <a:lnTo>
                  <a:pt x="111" y="167"/>
                </a:lnTo>
                <a:lnTo>
                  <a:pt x="119" y="164"/>
                </a:lnTo>
                <a:lnTo>
                  <a:pt x="126" y="161"/>
                </a:lnTo>
                <a:lnTo>
                  <a:pt x="134" y="156"/>
                </a:lnTo>
                <a:lnTo>
                  <a:pt x="140" y="152"/>
                </a:lnTo>
                <a:lnTo>
                  <a:pt x="146" y="146"/>
                </a:lnTo>
                <a:lnTo>
                  <a:pt x="152" y="140"/>
                </a:lnTo>
                <a:lnTo>
                  <a:pt x="157" y="134"/>
                </a:lnTo>
                <a:lnTo>
                  <a:pt x="161" y="126"/>
                </a:lnTo>
                <a:lnTo>
                  <a:pt x="164" y="118"/>
                </a:lnTo>
                <a:lnTo>
                  <a:pt x="167" y="111"/>
                </a:lnTo>
                <a:lnTo>
                  <a:pt x="169" y="103"/>
                </a:lnTo>
                <a:lnTo>
                  <a:pt x="170" y="94"/>
                </a:lnTo>
                <a:lnTo>
                  <a:pt x="172" y="87"/>
                </a:lnTo>
                <a:lnTo>
                  <a:pt x="170" y="77"/>
                </a:lnTo>
                <a:lnTo>
                  <a:pt x="169" y="68"/>
                </a:lnTo>
                <a:lnTo>
                  <a:pt x="167" y="61"/>
                </a:lnTo>
                <a:lnTo>
                  <a:pt x="164" y="53"/>
                </a:lnTo>
                <a:lnTo>
                  <a:pt x="161" y="46"/>
                </a:lnTo>
                <a:lnTo>
                  <a:pt x="157" y="38"/>
                </a:lnTo>
                <a:lnTo>
                  <a:pt x="152" y="32"/>
                </a:lnTo>
                <a:lnTo>
                  <a:pt x="146" y="26"/>
                </a:lnTo>
                <a:lnTo>
                  <a:pt x="140" y="20"/>
                </a:lnTo>
                <a:lnTo>
                  <a:pt x="134" y="15"/>
                </a:lnTo>
                <a:lnTo>
                  <a:pt x="126" y="11"/>
                </a:lnTo>
                <a:lnTo>
                  <a:pt x="119" y="8"/>
                </a:lnTo>
                <a:lnTo>
                  <a:pt x="111" y="5"/>
                </a:lnTo>
                <a:lnTo>
                  <a:pt x="103" y="2"/>
                </a:lnTo>
                <a:lnTo>
                  <a:pt x="94" y="2"/>
                </a:lnTo>
                <a:lnTo>
                  <a:pt x="85"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2748" name="Rectangle 108">
            <a:extLst>
              <a:ext uri="{FF2B5EF4-FFF2-40B4-BE49-F238E27FC236}">
                <a16:creationId xmlns:a16="http://schemas.microsoft.com/office/drawing/2014/main" id="{E8A46ABE-CF33-4343-4707-14556160B1D0}"/>
              </a:ext>
            </a:extLst>
          </p:cNvPr>
          <p:cNvSpPr>
            <a:spLocks noChangeArrowheads="1"/>
          </p:cNvSpPr>
          <p:nvPr/>
        </p:nvSpPr>
        <p:spPr bwMode="auto">
          <a:xfrm>
            <a:off x="8488364" y="4097339"/>
            <a:ext cx="1809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M</a:t>
            </a:r>
            <a:endParaRPr lang="en-US" altLang="en-US"/>
          </a:p>
        </p:txBody>
      </p:sp>
      <p:sp>
        <p:nvSpPr>
          <p:cNvPr id="112749" name="Freeform 109">
            <a:extLst>
              <a:ext uri="{FF2B5EF4-FFF2-40B4-BE49-F238E27FC236}">
                <a16:creationId xmlns:a16="http://schemas.microsoft.com/office/drawing/2014/main" id="{198BB6E0-3624-C6AD-CB63-70D76B97C569}"/>
              </a:ext>
            </a:extLst>
          </p:cNvPr>
          <p:cNvSpPr>
            <a:spLocks/>
          </p:cNvSpPr>
          <p:nvPr/>
        </p:nvSpPr>
        <p:spPr bwMode="auto">
          <a:xfrm>
            <a:off x="8834439" y="5724526"/>
            <a:ext cx="269875" cy="269875"/>
          </a:xfrm>
          <a:custGeom>
            <a:avLst/>
            <a:gdLst>
              <a:gd name="T0" fmla="*/ 76 w 170"/>
              <a:gd name="T1" fmla="*/ 0 h 170"/>
              <a:gd name="T2" fmla="*/ 59 w 170"/>
              <a:gd name="T3" fmla="*/ 3 h 170"/>
              <a:gd name="T4" fmla="*/ 44 w 170"/>
              <a:gd name="T5" fmla="*/ 10 h 170"/>
              <a:gd name="T6" fmla="*/ 30 w 170"/>
              <a:gd name="T7" fmla="*/ 19 h 170"/>
              <a:gd name="T8" fmla="*/ 18 w 170"/>
              <a:gd name="T9" fmla="*/ 30 h 170"/>
              <a:gd name="T10" fmla="*/ 9 w 170"/>
              <a:gd name="T11" fmla="*/ 44 h 170"/>
              <a:gd name="T12" fmla="*/ 3 w 170"/>
              <a:gd name="T13" fmla="*/ 59 h 170"/>
              <a:gd name="T14" fmla="*/ 0 w 170"/>
              <a:gd name="T15" fmla="*/ 75 h 170"/>
              <a:gd name="T16" fmla="*/ 0 w 170"/>
              <a:gd name="T17" fmla="*/ 94 h 170"/>
              <a:gd name="T18" fmla="*/ 3 w 170"/>
              <a:gd name="T19" fmla="*/ 110 h 170"/>
              <a:gd name="T20" fmla="*/ 9 w 170"/>
              <a:gd name="T21" fmla="*/ 126 h 170"/>
              <a:gd name="T22" fmla="*/ 18 w 170"/>
              <a:gd name="T23" fmla="*/ 139 h 170"/>
              <a:gd name="T24" fmla="*/ 30 w 170"/>
              <a:gd name="T25" fmla="*/ 150 h 170"/>
              <a:gd name="T26" fmla="*/ 44 w 170"/>
              <a:gd name="T27" fmla="*/ 160 h 170"/>
              <a:gd name="T28" fmla="*/ 59 w 170"/>
              <a:gd name="T29" fmla="*/ 167 h 170"/>
              <a:gd name="T30" fmla="*/ 76 w 170"/>
              <a:gd name="T31" fmla="*/ 170 h 170"/>
              <a:gd name="T32" fmla="*/ 94 w 170"/>
              <a:gd name="T33" fmla="*/ 170 h 170"/>
              <a:gd name="T34" fmla="*/ 111 w 170"/>
              <a:gd name="T35" fmla="*/ 167 h 170"/>
              <a:gd name="T36" fmla="*/ 126 w 170"/>
              <a:gd name="T37" fmla="*/ 160 h 170"/>
              <a:gd name="T38" fmla="*/ 140 w 170"/>
              <a:gd name="T39" fmla="*/ 150 h 170"/>
              <a:gd name="T40" fmla="*/ 150 w 170"/>
              <a:gd name="T41" fmla="*/ 139 h 170"/>
              <a:gd name="T42" fmla="*/ 159 w 170"/>
              <a:gd name="T43" fmla="*/ 126 h 170"/>
              <a:gd name="T44" fmla="*/ 167 w 170"/>
              <a:gd name="T45" fmla="*/ 110 h 170"/>
              <a:gd name="T46" fmla="*/ 170 w 170"/>
              <a:gd name="T47" fmla="*/ 94 h 170"/>
              <a:gd name="T48" fmla="*/ 170 w 170"/>
              <a:gd name="T49" fmla="*/ 75 h 170"/>
              <a:gd name="T50" fmla="*/ 167 w 170"/>
              <a:gd name="T51" fmla="*/ 59 h 170"/>
              <a:gd name="T52" fmla="*/ 159 w 170"/>
              <a:gd name="T53" fmla="*/ 44 h 170"/>
              <a:gd name="T54" fmla="*/ 150 w 170"/>
              <a:gd name="T55" fmla="*/ 30 h 170"/>
              <a:gd name="T56" fmla="*/ 140 w 170"/>
              <a:gd name="T57" fmla="*/ 19 h 170"/>
              <a:gd name="T58" fmla="*/ 126 w 170"/>
              <a:gd name="T59" fmla="*/ 10 h 170"/>
              <a:gd name="T60" fmla="*/ 111 w 170"/>
              <a:gd name="T61" fmla="*/ 3 h 170"/>
              <a:gd name="T62" fmla="*/ 94 w 170"/>
              <a:gd name="T63"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 h="170">
                <a:moveTo>
                  <a:pt x="85" y="0"/>
                </a:moveTo>
                <a:lnTo>
                  <a:pt x="76" y="0"/>
                </a:lnTo>
                <a:lnTo>
                  <a:pt x="67" y="1"/>
                </a:lnTo>
                <a:lnTo>
                  <a:pt x="59" y="3"/>
                </a:lnTo>
                <a:lnTo>
                  <a:pt x="52" y="6"/>
                </a:lnTo>
                <a:lnTo>
                  <a:pt x="44" y="10"/>
                </a:lnTo>
                <a:lnTo>
                  <a:pt x="36" y="13"/>
                </a:lnTo>
                <a:lnTo>
                  <a:pt x="30" y="19"/>
                </a:lnTo>
                <a:lnTo>
                  <a:pt x="24" y="24"/>
                </a:lnTo>
                <a:lnTo>
                  <a:pt x="18" y="30"/>
                </a:lnTo>
                <a:lnTo>
                  <a:pt x="14" y="37"/>
                </a:lnTo>
                <a:lnTo>
                  <a:pt x="9" y="44"/>
                </a:lnTo>
                <a:lnTo>
                  <a:pt x="6" y="51"/>
                </a:lnTo>
                <a:lnTo>
                  <a:pt x="3" y="59"/>
                </a:lnTo>
                <a:lnTo>
                  <a:pt x="1" y="68"/>
                </a:lnTo>
                <a:lnTo>
                  <a:pt x="0" y="75"/>
                </a:lnTo>
                <a:lnTo>
                  <a:pt x="0" y="85"/>
                </a:lnTo>
                <a:lnTo>
                  <a:pt x="0" y="94"/>
                </a:lnTo>
                <a:lnTo>
                  <a:pt x="1" y="101"/>
                </a:lnTo>
                <a:lnTo>
                  <a:pt x="3" y="110"/>
                </a:lnTo>
                <a:lnTo>
                  <a:pt x="6" y="118"/>
                </a:lnTo>
                <a:lnTo>
                  <a:pt x="9" y="126"/>
                </a:lnTo>
                <a:lnTo>
                  <a:pt x="14" y="133"/>
                </a:lnTo>
                <a:lnTo>
                  <a:pt x="18" y="139"/>
                </a:lnTo>
                <a:lnTo>
                  <a:pt x="24" y="145"/>
                </a:lnTo>
                <a:lnTo>
                  <a:pt x="30" y="150"/>
                </a:lnTo>
                <a:lnTo>
                  <a:pt x="36" y="156"/>
                </a:lnTo>
                <a:lnTo>
                  <a:pt x="44" y="160"/>
                </a:lnTo>
                <a:lnTo>
                  <a:pt x="52" y="163"/>
                </a:lnTo>
                <a:lnTo>
                  <a:pt x="59" y="167"/>
                </a:lnTo>
                <a:lnTo>
                  <a:pt x="67" y="168"/>
                </a:lnTo>
                <a:lnTo>
                  <a:pt x="76" y="170"/>
                </a:lnTo>
                <a:lnTo>
                  <a:pt x="85" y="170"/>
                </a:lnTo>
                <a:lnTo>
                  <a:pt x="94" y="170"/>
                </a:lnTo>
                <a:lnTo>
                  <a:pt x="102" y="168"/>
                </a:lnTo>
                <a:lnTo>
                  <a:pt x="111" y="167"/>
                </a:lnTo>
                <a:lnTo>
                  <a:pt x="118" y="163"/>
                </a:lnTo>
                <a:lnTo>
                  <a:pt x="126" y="160"/>
                </a:lnTo>
                <a:lnTo>
                  <a:pt x="132" y="156"/>
                </a:lnTo>
                <a:lnTo>
                  <a:pt x="140" y="150"/>
                </a:lnTo>
                <a:lnTo>
                  <a:pt x="146" y="145"/>
                </a:lnTo>
                <a:lnTo>
                  <a:pt x="150" y="139"/>
                </a:lnTo>
                <a:lnTo>
                  <a:pt x="155" y="133"/>
                </a:lnTo>
                <a:lnTo>
                  <a:pt x="159" y="126"/>
                </a:lnTo>
                <a:lnTo>
                  <a:pt x="164" y="118"/>
                </a:lnTo>
                <a:lnTo>
                  <a:pt x="167" y="110"/>
                </a:lnTo>
                <a:lnTo>
                  <a:pt x="169" y="101"/>
                </a:lnTo>
                <a:lnTo>
                  <a:pt x="170" y="94"/>
                </a:lnTo>
                <a:lnTo>
                  <a:pt x="170" y="85"/>
                </a:lnTo>
                <a:lnTo>
                  <a:pt x="170" y="75"/>
                </a:lnTo>
                <a:lnTo>
                  <a:pt x="169" y="68"/>
                </a:lnTo>
                <a:lnTo>
                  <a:pt x="167" y="59"/>
                </a:lnTo>
                <a:lnTo>
                  <a:pt x="164" y="51"/>
                </a:lnTo>
                <a:lnTo>
                  <a:pt x="159" y="44"/>
                </a:lnTo>
                <a:lnTo>
                  <a:pt x="155" y="37"/>
                </a:lnTo>
                <a:lnTo>
                  <a:pt x="150" y="30"/>
                </a:lnTo>
                <a:lnTo>
                  <a:pt x="146" y="24"/>
                </a:lnTo>
                <a:lnTo>
                  <a:pt x="140" y="19"/>
                </a:lnTo>
                <a:lnTo>
                  <a:pt x="132" y="13"/>
                </a:lnTo>
                <a:lnTo>
                  <a:pt x="126" y="10"/>
                </a:lnTo>
                <a:lnTo>
                  <a:pt x="118" y="6"/>
                </a:lnTo>
                <a:lnTo>
                  <a:pt x="111" y="3"/>
                </a:lnTo>
                <a:lnTo>
                  <a:pt x="102" y="1"/>
                </a:lnTo>
                <a:lnTo>
                  <a:pt x="94" y="0"/>
                </a:lnTo>
                <a:lnTo>
                  <a:pt x="85" y="0"/>
                </a:lnTo>
                <a:close/>
              </a:path>
            </a:pathLst>
          </a:custGeom>
          <a:solidFill>
            <a:srgbClr val="00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2750" name="Freeform 110">
            <a:extLst>
              <a:ext uri="{FF2B5EF4-FFF2-40B4-BE49-F238E27FC236}">
                <a16:creationId xmlns:a16="http://schemas.microsoft.com/office/drawing/2014/main" id="{E375CF52-F69A-A5A4-4E7B-06B5AEB7FB5A}"/>
              </a:ext>
            </a:extLst>
          </p:cNvPr>
          <p:cNvSpPr>
            <a:spLocks/>
          </p:cNvSpPr>
          <p:nvPr/>
        </p:nvSpPr>
        <p:spPr bwMode="auto">
          <a:xfrm>
            <a:off x="8834439" y="5724526"/>
            <a:ext cx="269875" cy="269875"/>
          </a:xfrm>
          <a:custGeom>
            <a:avLst/>
            <a:gdLst>
              <a:gd name="T0" fmla="*/ 76 w 170"/>
              <a:gd name="T1" fmla="*/ 0 h 170"/>
              <a:gd name="T2" fmla="*/ 59 w 170"/>
              <a:gd name="T3" fmla="*/ 3 h 170"/>
              <a:gd name="T4" fmla="*/ 44 w 170"/>
              <a:gd name="T5" fmla="*/ 10 h 170"/>
              <a:gd name="T6" fmla="*/ 30 w 170"/>
              <a:gd name="T7" fmla="*/ 19 h 170"/>
              <a:gd name="T8" fmla="*/ 18 w 170"/>
              <a:gd name="T9" fmla="*/ 30 h 170"/>
              <a:gd name="T10" fmla="*/ 9 w 170"/>
              <a:gd name="T11" fmla="*/ 44 h 170"/>
              <a:gd name="T12" fmla="*/ 3 w 170"/>
              <a:gd name="T13" fmla="*/ 59 h 170"/>
              <a:gd name="T14" fmla="*/ 0 w 170"/>
              <a:gd name="T15" fmla="*/ 75 h 170"/>
              <a:gd name="T16" fmla="*/ 0 w 170"/>
              <a:gd name="T17" fmla="*/ 94 h 170"/>
              <a:gd name="T18" fmla="*/ 3 w 170"/>
              <a:gd name="T19" fmla="*/ 110 h 170"/>
              <a:gd name="T20" fmla="*/ 9 w 170"/>
              <a:gd name="T21" fmla="*/ 126 h 170"/>
              <a:gd name="T22" fmla="*/ 18 w 170"/>
              <a:gd name="T23" fmla="*/ 139 h 170"/>
              <a:gd name="T24" fmla="*/ 30 w 170"/>
              <a:gd name="T25" fmla="*/ 150 h 170"/>
              <a:gd name="T26" fmla="*/ 44 w 170"/>
              <a:gd name="T27" fmla="*/ 160 h 170"/>
              <a:gd name="T28" fmla="*/ 59 w 170"/>
              <a:gd name="T29" fmla="*/ 167 h 170"/>
              <a:gd name="T30" fmla="*/ 76 w 170"/>
              <a:gd name="T31" fmla="*/ 170 h 170"/>
              <a:gd name="T32" fmla="*/ 94 w 170"/>
              <a:gd name="T33" fmla="*/ 170 h 170"/>
              <a:gd name="T34" fmla="*/ 111 w 170"/>
              <a:gd name="T35" fmla="*/ 167 h 170"/>
              <a:gd name="T36" fmla="*/ 126 w 170"/>
              <a:gd name="T37" fmla="*/ 160 h 170"/>
              <a:gd name="T38" fmla="*/ 140 w 170"/>
              <a:gd name="T39" fmla="*/ 150 h 170"/>
              <a:gd name="T40" fmla="*/ 150 w 170"/>
              <a:gd name="T41" fmla="*/ 139 h 170"/>
              <a:gd name="T42" fmla="*/ 159 w 170"/>
              <a:gd name="T43" fmla="*/ 126 h 170"/>
              <a:gd name="T44" fmla="*/ 167 w 170"/>
              <a:gd name="T45" fmla="*/ 110 h 170"/>
              <a:gd name="T46" fmla="*/ 170 w 170"/>
              <a:gd name="T47" fmla="*/ 94 h 170"/>
              <a:gd name="T48" fmla="*/ 170 w 170"/>
              <a:gd name="T49" fmla="*/ 75 h 170"/>
              <a:gd name="T50" fmla="*/ 167 w 170"/>
              <a:gd name="T51" fmla="*/ 59 h 170"/>
              <a:gd name="T52" fmla="*/ 159 w 170"/>
              <a:gd name="T53" fmla="*/ 44 h 170"/>
              <a:gd name="T54" fmla="*/ 150 w 170"/>
              <a:gd name="T55" fmla="*/ 30 h 170"/>
              <a:gd name="T56" fmla="*/ 140 w 170"/>
              <a:gd name="T57" fmla="*/ 19 h 170"/>
              <a:gd name="T58" fmla="*/ 126 w 170"/>
              <a:gd name="T59" fmla="*/ 10 h 170"/>
              <a:gd name="T60" fmla="*/ 111 w 170"/>
              <a:gd name="T61" fmla="*/ 3 h 170"/>
              <a:gd name="T62" fmla="*/ 94 w 170"/>
              <a:gd name="T63"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 h="170">
                <a:moveTo>
                  <a:pt x="85" y="0"/>
                </a:moveTo>
                <a:lnTo>
                  <a:pt x="76" y="0"/>
                </a:lnTo>
                <a:lnTo>
                  <a:pt x="67" y="1"/>
                </a:lnTo>
                <a:lnTo>
                  <a:pt x="59" y="3"/>
                </a:lnTo>
                <a:lnTo>
                  <a:pt x="52" y="6"/>
                </a:lnTo>
                <a:lnTo>
                  <a:pt x="44" y="10"/>
                </a:lnTo>
                <a:lnTo>
                  <a:pt x="36" y="13"/>
                </a:lnTo>
                <a:lnTo>
                  <a:pt x="30" y="19"/>
                </a:lnTo>
                <a:lnTo>
                  <a:pt x="24" y="24"/>
                </a:lnTo>
                <a:lnTo>
                  <a:pt x="18" y="30"/>
                </a:lnTo>
                <a:lnTo>
                  <a:pt x="14" y="37"/>
                </a:lnTo>
                <a:lnTo>
                  <a:pt x="9" y="44"/>
                </a:lnTo>
                <a:lnTo>
                  <a:pt x="6" y="51"/>
                </a:lnTo>
                <a:lnTo>
                  <a:pt x="3" y="59"/>
                </a:lnTo>
                <a:lnTo>
                  <a:pt x="1" y="68"/>
                </a:lnTo>
                <a:lnTo>
                  <a:pt x="0" y="75"/>
                </a:lnTo>
                <a:lnTo>
                  <a:pt x="0" y="85"/>
                </a:lnTo>
                <a:lnTo>
                  <a:pt x="0" y="94"/>
                </a:lnTo>
                <a:lnTo>
                  <a:pt x="1" y="101"/>
                </a:lnTo>
                <a:lnTo>
                  <a:pt x="3" y="110"/>
                </a:lnTo>
                <a:lnTo>
                  <a:pt x="6" y="118"/>
                </a:lnTo>
                <a:lnTo>
                  <a:pt x="9" y="126"/>
                </a:lnTo>
                <a:lnTo>
                  <a:pt x="14" y="133"/>
                </a:lnTo>
                <a:lnTo>
                  <a:pt x="18" y="139"/>
                </a:lnTo>
                <a:lnTo>
                  <a:pt x="24" y="145"/>
                </a:lnTo>
                <a:lnTo>
                  <a:pt x="30" y="150"/>
                </a:lnTo>
                <a:lnTo>
                  <a:pt x="36" y="156"/>
                </a:lnTo>
                <a:lnTo>
                  <a:pt x="44" y="160"/>
                </a:lnTo>
                <a:lnTo>
                  <a:pt x="52" y="163"/>
                </a:lnTo>
                <a:lnTo>
                  <a:pt x="59" y="167"/>
                </a:lnTo>
                <a:lnTo>
                  <a:pt x="67" y="168"/>
                </a:lnTo>
                <a:lnTo>
                  <a:pt x="76" y="170"/>
                </a:lnTo>
                <a:lnTo>
                  <a:pt x="85" y="170"/>
                </a:lnTo>
                <a:lnTo>
                  <a:pt x="94" y="170"/>
                </a:lnTo>
                <a:lnTo>
                  <a:pt x="102" y="168"/>
                </a:lnTo>
                <a:lnTo>
                  <a:pt x="111" y="167"/>
                </a:lnTo>
                <a:lnTo>
                  <a:pt x="118" y="163"/>
                </a:lnTo>
                <a:lnTo>
                  <a:pt x="126" y="160"/>
                </a:lnTo>
                <a:lnTo>
                  <a:pt x="132" y="156"/>
                </a:lnTo>
                <a:lnTo>
                  <a:pt x="140" y="150"/>
                </a:lnTo>
                <a:lnTo>
                  <a:pt x="146" y="145"/>
                </a:lnTo>
                <a:lnTo>
                  <a:pt x="150" y="139"/>
                </a:lnTo>
                <a:lnTo>
                  <a:pt x="155" y="133"/>
                </a:lnTo>
                <a:lnTo>
                  <a:pt x="159" y="126"/>
                </a:lnTo>
                <a:lnTo>
                  <a:pt x="164" y="118"/>
                </a:lnTo>
                <a:lnTo>
                  <a:pt x="167" y="110"/>
                </a:lnTo>
                <a:lnTo>
                  <a:pt x="169" y="101"/>
                </a:lnTo>
                <a:lnTo>
                  <a:pt x="170" y="94"/>
                </a:lnTo>
                <a:lnTo>
                  <a:pt x="170" y="85"/>
                </a:lnTo>
                <a:lnTo>
                  <a:pt x="170" y="75"/>
                </a:lnTo>
                <a:lnTo>
                  <a:pt x="169" y="68"/>
                </a:lnTo>
                <a:lnTo>
                  <a:pt x="167" y="59"/>
                </a:lnTo>
                <a:lnTo>
                  <a:pt x="164" y="51"/>
                </a:lnTo>
                <a:lnTo>
                  <a:pt x="159" y="44"/>
                </a:lnTo>
                <a:lnTo>
                  <a:pt x="155" y="37"/>
                </a:lnTo>
                <a:lnTo>
                  <a:pt x="150" y="30"/>
                </a:lnTo>
                <a:lnTo>
                  <a:pt x="146" y="24"/>
                </a:lnTo>
                <a:lnTo>
                  <a:pt x="140" y="19"/>
                </a:lnTo>
                <a:lnTo>
                  <a:pt x="132" y="13"/>
                </a:lnTo>
                <a:lnTo>
                  <a:pt x="126" y="10"/>
                </a:lnTo>
                <a:lnTo>
                  <a:pt x="118" y="6"/>
                </a:lnTo>
                <a:lnTo>
                  <a:pt x="111" y="3"/>
                </a:lnTo>
                <a:lnTo>
                  <a:pt x="102" y="1"/>
                </a:lnTo>
                <a:lnTo>
                  <a:pt x="94" y="0"/>
                </a:lnTo>
                <a:lnTo>
                  <a:pt x="85"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2751" name="Rectangle 111">
            <a:extLst>
              <a:ext uri="{FF2B5EF4-FFF2-40B4-BE49-F238E27FC236}">
                <a16:creationId xmlns:a16="http://schemas.microsoft.com/office/drawing/2014/main" id="{C69C30BA-AD41-7697-DBCD-0DCB026CE249}"/>
              </a:ext>
            </a:extLst>
          </p:cNvPr>
          <p:cNvSpPr>
            <a:spLocks noChangeArrowheads="1"/>
          </p:cNvSpPr>
          <p:nvPr/>
        </p:nvSpPr>
        <p:spPr bwMode="auto">
          <a:xfrm>
            <a:off x="8896350" y="5756276"/>
            <a:ext cx="10740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K</a:t>
            </a:r>
            <a:endParaRPr lang="en-US" altLang="en-US"/>
          </a:p>
        </p:txBody>
      </p:sp>
      <p:sp>
        <p:nvSpPr>
          <p:cNvPr id="112752" name="Freeform 112">
            <a:extLst>
              <a:ext uri="{FF2B5EF4-FFF2-40B4-BE49-F238E27FC236}">
                <a16:creationId xmlns:a16="http://schemas.microsoft.com/office/drawing/2014/main" id="{5B0CE3B9-4507-3CD4-3D4E-E54CE335D765}"/>
              </a:ext>
            </a:extLst>
          </p:cNvPr>
          <p:cNvSpPr>
            <a:spLocks/>
          </p:cNvSpPr>
          <p:nvPr/>
        </p:nvSpPr>
        <p:spPr bwMode="auto">
          <a:xfrm>
            <a:off x="4792664" y="5391150"/>
            <a:ext cx="269875" cy="273050"/>
          </a:xfrm>
          <a:custGeom>
            <a:avLst/>
            <a:gdLst>
              <a:gd name="T0" fmla="*/ 76 w 170"/>
              <a:gd name="T1" fmla="*/ 2 h 172"/>
              <a:gd name="T2" fmla="*/ 59 w 170"/>
              <a:gd name="T3" fmla="*/ 5 h 172"/>
              <a:gd name="T4" fmla="*/ 44 w 170"/>
              <a:gd name="T5" fmla="*/ 11 h 172"/>
              <a:gd name="T6" fmla="*/ 30 w 170"/>
              <a:gd name="T7" fmla="*/ 20 h 172"/>
              <a:gd name="T8" fmla="*/ 18 w 170"/>
              <a:gd name="T9" fmla="*/ 32 h 172"/>
              <a:gd name="T10" fmla="*/ 9 w 170"/>
              <a:gd name="T11" fmla="*/ 46 h 172"/>
              <a:gd name="T12" fmla="*/ 3 w 170"/>
              <a:gd name="T13" fmla="*/ 61 h 172"/>
              <a:gd name="T14" fmla="*/ 0 w 170"/>
              <a:gd name="T15" fmla="*/ 77 h 172"/>
              <a:gd name="T16" fmla="*/ 0 w 170"/>
              <a:gd name="T17" fmla="*/ 94 h 172"/>
              <a:gd name="T18" fmla="*/ 3 w 170"/>
              <a:gd name="T19" fmla="*/ 111 h 172"/>
              <a:gd name="T20" fmla="*/ 9 w 170"/>
              <a:gd name="T21" fmla="*/ 126 h 172"/>
              <a:gd name="T22" fmla="*/ 18 w 170"/>
              <a:gd name="T23" fmla="*/ 140 h 172"/>
              <a:gd name="T24" fmla="*/ 30 w 170"/>
              <a:gd name="T25" fmla="*/ 152 h 172"/>
              <a:gd name="T26" fmla="*/ 44 w 170"/>
              <a:gd name="T27" fmla="*/ 161 h 172"/>
              <a:gd name="T28" fmla="*/ 59 w 170"/>
              <a:gd name="T29" fmla="*/ 167 h 172"/>
              <a:gd name="T30" fmla="*/ 76 w 170"/>
              <a:gd name="T31" fmla="*/ 170 h 172"/>
              <a:gd name="T32" fmla="*/ 94 w 170"/>
              <a:gd name="T33" fmla="*/ 170 h 172"/>
              <a:gd name="T34" fmla="*/ 111 w 170"/>
              <a:gd name="T35" fmla="*/ 167 h 172"/>
              <a:gd name="T36" fmla="*/ 126 w 170"/>
              <a:gd name="T37" fmla="*/ 161 h 172"/>
              <a:gd name="T38" fmla="*/ 139 w 170"/>
              <a:gd name="T39" fmla="*/ 152 h 172"/>
              <a:gd name="T40" fmla="*/ 150 w 170"/>
              <a:gd name="T41" fmla="*/ 140 h 172"/>
              <a:gd name="T42" fmla="*/ 159 w 170"/>
              <a:gd name="T43" fmla="*/ 126 h 172"/>
              <a:gd name="T44" fmla="*/ 165 w 170"/>
              <a:gd name="T45" fmla="*/ 111 h 172"/>
              <a:gd name="T46" fmla="*/ 170 w 170"/>
              <a:gd name="T47" fmla="*/ 94 h 172"/>
              <a:gd name="T48" fmla="*/ 170 w 170"/>
              <a:gd name="T49" fmla="*/ 77 h 172"/>
              <a:gd name="T50" fmla="*/ 165 w 170"/>
              <a:gd name="T51" fmla="*/ 61 h 172"/>
              <a:gd name="T52" fmla="*/ 159 w 170"/>
              <a:gd name="T53" fmla="*/ 46 h 172"/>
              <a:gd name="T54" fmla="*/ 150 w 170"/>
              <a:gd name="T55" fmla="*/ 32 h 172"/>
              <a:gd name="T56" fmla="*/ 139 w 170"/>
              <a:gd name="T57" fmla="*/ 20 h 172"/>
              <a:gd name="T58" fmla="*/ 126 w 170"/>
              <a:gd name="T59" fmla="*/ 11 h 172"/>
              <a:gd name="T60" fmla="*/ 111 w 170"/>
              <a:gd name="T61" fmla="*/ 5 h 172"/>
              <a:gd name="T62" fmla="*/ 94 w 170"/>
              <a:gd name="T63" fmla="*/ 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 h="172">
                <a:moveTo>
                  <a:pt x="85" y="0"/>
                </a:moveTo>
                <a:lnTo>
                  <a:pt x="76" y="2"/>
                </a:lnTo>
                <a:lnTo>
                  <a:pt x="66" y="2"/>
                </a:lnTo>
                <a:lnTo>
                  <a:pt x="59" y="5"/>
                </a:lnTo>
                <a:lnTo>
                  <a:pt x="51" y="8"/>
                </a:lnTo>
                <a:lnTo>
                  <a:pt x="44" y="11"/>
                </a:lnTo>
                <a:lnTo>
                  <a:pt x="36" y="15"/>
                </a:lnTo>
                <a:lnTo>
                  <a:pt x="30" y="20"/>
                </a:lnTo>
                <a:lnTo>
                  <a:pt x="24" y="26"/>
                </a:lnTo>
                <a:lnTo>
                  <a:pt x="18" y="32"/>
                </a:lnTo>
                <a:lnTo>
                  <a:pt x="13" y="38"/>
                </a:lnTo>
                <a:lnTo>
                  <a:pt x="9" y="46"/>
                </a:lnTo>
                <a:lnTo>
                  <a:pt x="6" y="53"/>
                </a:lnTo>
                <a:lnTo>
                  <a:pt x="3" y="61"/>
                </a:lnTo>
                <a:lnTo>
                  <a:pt x="1" y="68"/>
                </a:lnTo>
                <a:lnTo>
                  <a:pt x="0" y="77"/>
                </a:lnTo>
                <a:lnTo>
                  <a:pt x="0" y="87"/>
                </a:lnTo>
                <a:lnTo>
                  <a:pt x="0" y="94"/>
                </a:lnTo>
                <a:lnTo>
                  <a:pt x="1" y="103"/>
                </a:lnTo>
                <a:lnTo>
                  <a:pt x="3" y="111"/>
                </a:lnTo>
                <a:lnTo>
                  <a:pt x="6" y="118"/>
                </a:lnTo>
                <a:lnTo>
                  <a:pt x="9" y="126"/>
                </a:lnTo>
                <a:lnTo>
                  <a:pt x="13" y="134"/>
                </a:lnTo>
                <a:lnTo>
                  <a:pt x="18" y="140"/>
                </a:lnTo>
                <a:lnTo>
                  <a:pt x="24" y="146"/>
                </a:lnTo>
                <a:lnTo>
                  <a:pt x="30" y="152"/>
                </a:lnTo>
                <a:lnTo>
                  <a:pt x="36" y="156"/>
                </a:lnTo>
                <a:lnTo>
                  <a:pt x="44" y="161"/>
                </a:lnTo>
                <a:lnTo>
                  <a:pt x="51" y="164"/>
                </a:lnTo>
                <a:lnTo>
                  <a:pt x="59" y="167"/>
                </a:lnTo>
                <a:lnTo>
                  <a:pt x="66" y="170"/>
                </a:lnTo>
                <a:lnTo>
                  <a:pt x="76" y="170"/>
                </a:lnTo>
                <a:lnTo>
                  <a:pt x="85" y="172"/>
                </a:lnTo>
                <a:lnTo>
                  <a:pt x="94" y="170"/>
                </a:lnTo>
                <a:lnTo>
                  <a:pt x="101" y="170"/>
                </a:lnTo>
                <a:lnTo>
                  <a:pt x="111" y="167"/>
                </a:lnTo>
                <a:lnTo>
                  <a:pt x="118" y="164"/>
                </a:lnTo>
                <a:lnTo>
                  <a:pt x="126" y="161"/>
                </a:lnTo>
                <a:lnTo>
                  <a:pt x="132" y="156"/>
                </a:lnTo>
                <a:lnTo>
                  <a:pt x="139" y="152"/>
                </a:lnTo>
                <a:lnTo>
                  <a:pt x="145" y="146"/>
                </a:lnTo>
                <a:lnTo>
                  <a:pt x="150" y="140"/>
                </a:lnTo>
                <a:lnTo>
                  <a:pt x="155" y="134"/>
                </a:lnTo>
                <a:lnTo>
                  <a:pt x="159" y="126"/>
                </a:lnTo>
                <a:lnTo>
                  <a:pt x="164" y="118"/>
                </a:lnTo>
                <a:lnTo>
                  <a:pt x="165" y="111"/>
                </a:lnTo>
                <a:lnTo>
                  <a:pt x="168" y="103"/>
                </a:lnTo>
                <a:lnTo>
                  <a:pt x="170" y="94"/>
                </a:lnTo>
                <a:lnTo>
                  <a:pt x="170" y="87"/>
                </a:lnTo>
                <a:lnTo>
                  <a:pt x="170" y="77"/>
                </a:lnTo>
                <a:lnTo>
                  <a:pt x="168" y="68"/>
                </a:lnTo>
                <a:lnTo>
                  <a:pt x="165" y="61"/>
                </a:lnTo>
                <a:lnTo>
                  <a:pt x="164" y="53"/>
                </a:lnTo>
                <a:lnTo>
                  <a:pt x="159" y="46"/>
                </a:lnTo>
                <a:lnTo>
                  <a:pt x="155" y="38"/>
                </a:lnTo>
                <a:lnTo>
                  <a:pt x="150" y="32"/>
                </a:lnTo>
                <a:lnTo>
                  <a:pt x="145" y="26"/>
                </a:lnTo>
                <a:lnTo>
                  <a:pt x="139" y="20"/>
                </a:lnTo>
                <a:lnTo>
                  <a:pt x="132" y="15"/>
                </a:lnTo>
                <a:lnTo>
                  <a:pt x="126" y="11"/>
                </a:lnTo>
                <a:lnTo>
                  <a:pt x="118" y="8"/>
                </a:lnTo>
                <a:lnTo>
                  <a:pt x="111" y="5"/>
                </a:lnTo>
                <a:lnTo>
                  <a:pt x="101" y="2"/>
                </a:lnTo>
                <a:lnTo>
                  <a:pt x="94" y="2"/>
                </a:lnTo>
                <a:lnTo>
                  <a:pt x="85" y="0"/>
                </a:lnTo>
                <a:close/>
              </a:path>
            </a:pathLst>
          </a:custGeom>
          <a:solidFill>
            <a:srgbClr val="00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2753" name="Freeform 113">
            <a:extLst>
              <a:ext uri="{FF2B5EF4-FFF2-40B4-BE49-F238E27FC236}">
                <a16:creationId xmlns:a16="http://schemas.microsoft.com/office/drawing/2014/main" id="{CE7254F1-EE29-657B-5577-9057FE16DBD8}"/>
              </a:ext>
            </a:extLst>
          </p:cNvPr>
          <p:cNvSpPr>
            <a:spLocks/>
          </p:cNvSpPr>
          <p:nvPr/>
        </p:nvSpPr>
        <p:spPr bwMode="auto">
          <a:xfrm>
            <a:off x="4792664" y="5391150"/>
            <a:ext cx="269875" cy="273050"/>
          </a:xfrm>
          <a:custGeom>
            <a:avLst/>
            <a:gdLst>
              <a:gd name="T0" fmla="*/ 76 w 170"/>
              <a:gd name="T1" fmla="*/ 2 h 172"/>
              <a:gd name="T2" fmla="*/ 59 w 170"/>
              <a:gd name="T3" fmla="*/ 5 h 172"/>
              <a:gd name="T4" fmla="*/ 44 w 170"/>
              <a:gd name="T5" fmla="*/ 11 h 172"/>
              <a:gd name="T6" fmla="*/ 30 w 170"/>
              <a:gd name="T7" fmla="*/ 20 h 172"/>
              <a:gd name="T8" fmla="*/ 18 w 170"/>
              <a:gd name="T9" fmla="*/ 32 h 172"/>
              <a:gd name="T10" fmla="*/ 9 w 170"/>
              <a:gd name="T11" fmla="*/ 46 h 172"/>
              <a:gd name="T12" fmla="*/ 3 w 170"/>
              <a:gd name="T13" fmla="*/ 61 h 172"/>
              <a:gd name="T14" fmla="*/ 0 w 170"/>
              <a:gd name="T15" fmla="*/ 77 h 172"/>
              <a:gd name="T16" fmla="*/ 0 w 170"/>
              <a:gd name="T17" fmla="*/ 94 h 172"/>
              <a:gd name="T18" fmla="*/ 3 w 170"/>
              <a:gd name="T19" fmla="*/ 111 h 172"/>
              <a:gd name="T20" fmla="*/ 9 w 170"/>
              <a:gd name="T21" fmla="*/ 126 h 172"/>
              <a:gd name="T22" fmla="*/ 18 w 170"/>
              <a:gd name="T23" fmla="*/ 140 h 172"/>
              <a:gd name="T24" fmla="*/ 30 w 170"/>
              <a:gd name="T25" fmla="*/ 152 h 172"/>
              <a:gd name="T26" fmla="*/ 44 w 170"/>
              <a:gd name="T27" fmla="*/ 161 h 172"/>
              <a:gd name="T28" fmla="*/ 59 w 170"/>
              <a:gd name="T29" fmla="*/ 167 h 172"/>
              <a:gd name="T30" fmla="*/ 76 w 170"/>
              <a:gd name="T31" fmla="*/ 170 h 172"/>
              <a:gd name="T32" fmla="*/ 94 w 170"/>
              <a:gd name="T33" fmla="*/ 170 h 172"/>
              <a:gd name="T34" fmla="*/ 111 w 170"/>
              <a:gd name="T35" fmla="*/ 167 h 172"/>
              <a:gd name="T36" fmla="*/ 126 w 170"/>
              <a:gd name="T37" fmla="*/ 161 h 172"/>
              <a:gd name="T38" fmla="*/ 139 w 170"/>
              <a:gd name="T39" fmla="*/ 152 h 172"/>
              <a:gd name="T40" fmla="*/ 150 w 170"/>
              <a:gd name="T41" fmla="*/ 140 h 172"/>
              <a:gd name="T42" fmla="*/ 159 w 170"/>
              <a:gd name="T43" fmla="*/ 126 h 172"/>
              <a:gd name="T44" fmla="*/ 165 w 170"/>
              <a:gd name="T45" fmla="*/ 111 h 172"/>
              <a:gd name="T46" fmla="*/ 170 w 170"/>
              <a:gd name="T47" fmla="*/ 94 h 172"/>
              <a:gd name="T48" fmla="*/ 170 w 170"/>
              <a:gd name="T49" fmla="*/ 77 h 172"/>
              <a:gd name="T50" fmla="*/ 165 w 170"/>
              <a:gd name="T51" fmla="*/ 61 h 172"/>
              <a:gd name="T52" fmla="*/ 159 w 170"/>
              <a:gd name="T53" fmla="*/ 46 h 172"/>
              <a:gd name="T54" fmla="*/ 150 w 170"/>
              <a:gd name="T55" fmla="*/ 32 h 172"/>
              <a:gd name="T56" fmla="*/ 139 w 170"/>
              <a:gd name="T57" fmla="*/ 20 h 172"/>
              <a:gd name="T58" fmla="*/ 126 w 170"/>
              <a:gd name="T59" fmla="*/ 11 h 172"/>
              <a:gd name="T60" fmla="*/ 111 w 170"/>
              <a:gd name="T61" fmla="*/ 5 h 172"/>
              <a:gd name="T62" fmla="*/ 94 w 170"/>
              <a:gd name="T63" fmla="*/ 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 h="172">
                <a:moveTo>
                  <a:pt x="85" y="0"/>
                </a:moveTo>
                <a:lnTo>
                  <a:pt x="76" y="2"/>
                </a:lnTo>
                <a:lnTo>
                  <a:pt x="66" y="2"/>
                </a:lnTo>
                <a:lnTo>
                  <a:pt x="59" y="5"/>
                </a:lnTo>
                <a:lnTo>
                  <a:pt x="51" y="8"/>
                </a:lnTo>
                <a:lnTo>
                  <a:pt x="44" y="11"/>
                </a:lnTo>
                <a:lnTo>
                  <a:pt x="36" y="15"/>
                </a:lnTo>
                <a:lnTo>
                  <a:pt x="30" y="20"/>
                </a:lnTo>
                <a:lnTo>
                  <a:pt x="24" y="26"/>
                </a:lnTo>
                <a:lnTo>
                  <a:pt x="18" y="32"/>
                </a:lnTo>
                <a:lnTo>
                  <a:pt x="13" y="38"/>
                </a:lnTo>
                <a:lnTo>
                  <a:pt x="9" y="46"/>
                </a:lnTo>
                <a:lnTo>
                  <a:pt x="6" y="53"/>
                </a:lnTo>
                <a:lnTo>
                  <a:pt x="3" y="61"/>
                </a:lnTo>
                <a:lnTo>
                  <a:pt x="1" y="68"/>
                </a:lnTo>
                <a:lnTo>
                  <a:pt x="0" y="77"/>
                </a:lnTo>
                <a:lnTo>
                  <a:pt x="0" y="87"/>
                </a:lnTo>
                <a:lnTo>
                  <a:pt x="0" y="94"/>
                </a:lnTo>
                <a:lnTo>
                  <a:pt x="1" y="103"/>
                </a:lnTo>
                <a:lnTo>
                  <a:pt x="3" y="111"/>
                </a:lnTo>
                <a:lnTo>
                  <a:pt x="6" y="118"/>
                </a:lnTo>
                <a:lnTo>
                  <a:pt x="9" y="126"/>
                </a:lnTo>
                <a:lnTo>
                  <a:pt x="13" y="134"/>
                </a:lnTo>
                <a:lnTo>
                  <a:pt x="18" y="140"/>
                </a:lnTo>
                <a:lnTo>
                  <a:pt x="24" y="146"/>
                </a:lnTo>
                <a:lnTo>
                  <a:pt x="30" y="152"/>
                </a:lnTo>
                <a:lnTo>
                  <a:pt x="36" y="156"/>
                </a:lnTo>
                <a:lnTo>
                  <a:pt x="44" y="161"/>
                </a:lnTo>
                <a:lnTo>
                  <a:pt x="51" y="164"/>
                </a:lnTo>
                <a:lnTo>
                  <a:pt x="59" y="167"/>
                </a:lnTo>
                <a:lnTo>
                  <a:pt x="66" y="170"/>
                </a:lnTo>
                <a:lnTo>
                  <a:pt x="76" y="170"/>
                </a:lnTo>
                <a:lnTo>
                  <a:pt x="85" y="172"/>
                </a:lnTo>
                <a:lnTo>
                  <a:pt x="94" y="170"/>
                </a:lnTo>
                <a:lnTo>
                  <a:pt x="101" y="170"/>
                </a:lnTo>
                <a:lnTo>
                  <a:pt x="111" y="167"/>
                </a:lnTo>
                <a:lnTo>
                  <a:pt x="118" y="164"/>
                </a:lnTo>
                <a:lnTo>
                  <a:pt x="126" y="161"/>
                </a:lnTo>
                <a:lnTo>
                  <a:pt x="132" y="156"/>
                </a:lnTo>
                <a:lnTo>
                  <a:pt x="139" y="152"/>
                </a:lnTo>
                <a:lnTo>
                  <a:pt x="145" y="146"/>
                </a:lnTo>
                <a:lnTo>
                  <a:pt x="150" y="140"/>
                </a:lnTo>
                <a:lnTo>
                  <a:pt x="155" y="134"/>
                </a:lnTo>
                <a:lnTo>
                  <a:pt x="159" y="126"/>
                </a:lnTo>
                <a:lnTo>
                  <a:pt x="164" y="118"/>
                </a:lnTo>
                <a:lnTo>
                  <a:pt x="165" y="111"/>
                </a:lnTo>
                <a:lnTo>
                  <a:pt x="168" y="103"/>
                </a:lnTo>
                <a:lnTo>
                  <a:pt x="170" y="94"/>
                </a:lnTo>
                <a:lnTo>
                  <a:pt x="170" y="87"/>
                </a:lnTo>
                <a:lnTo>
                  <a:pt x="170" y="77"/>
                </a:lnTo>
                <a:lnTo>
                  <a:pt x="168" y="68"/>
                </a:lnTo>
                <a:lnTo>
                  <a:pt x="165" y="61"/>
                </a:lnTo>
                <a:lnTo>
                  <a:pt x="164" y="53"/>
                </a:lnTo>
                <a:lnTo>
                  <a:pt x="159" y="46"/>
                </a:lnTo>
                <a:lnTo>
                  <a:pt x="155" y="38"/>
                </a:lnTo>
                <a:lnTo>
                  <a:pt x="150" y="32"/>
                </a:lnTo>
                <a:lnTo>
                  <a:pt x="145" y="26"/>
                </a:lnTo>
                <a:lnTo>
                  <a:pt x="139" y="20"/>
                </a:lnTo>
                <a:lnTo>
                  <a:pt x="132" y="15"/>
                </a:lnTo>
                <a:lnTo>
                  <a:pt x="126" y="11"/>
                </a:lnTo>
                <a:lnTo>
                  <a:pt x="118" y="8"/>
                </a:lnTo>
                <a:lnTo>
                  <a:pt x="111" y="5"/>
                </a:lnTo>
                <a:lnTo>
                  <a:pt x="101" y="2"/>
                </a:lnTo>
                <a:lnTo>
                  <a:pt x="94" y="2"/>
                </a:lnTo>
                <a:lnTo>
                  <a:pt x="85"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2754" name="Rectangle 114">
            <a:extLst>
              <a:ext uri="{FF2B5EF4-FFF2-40B4-BE49-F238E27FC236}">
                <a16:creationId xmlns:a16="http://schemas.microsoft.com/office/drawing/2014/main" id="{BB88C9A5-454D-BBC7-2977-76B5F1250519}"/>
              </a:ext>
            </a:extLst>
          </p:cNvPr>
          <p:cNvSpPr>
            <a:spLocks noChangeArrowheads="1"/>
          </p:cNvSpPr>
          <p:nvPr/>
        </p:nvSpPr>
        <p:spPr bwMode="auto">
          <a:xfrm>
            <a:off x="4872038" y="5422901"/>
            <a:ext cx="9457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S</a:t>
            </a:r>
            <a:endParaRPr lang="en-US" altLang="en-US"/>
          </a:p>
        </p:txBody>
      </p:sp>
      <p:sp>
        <p:nvSpPr>
          <p:cNvPr id="112755" name="Freeform 115">
            <a:extLst>
              <a:ext uri="{FF2B5EF4-FFF2-40B4-BE49-F238E27FC236}">
                <a16:creationId xmlns:a16="http://schemas.microsoft.com/office/drawing/2014/main" id="{43688A2B-CCDA-0C73-A06F-569AB78649AF}"/>
              </a:ext>
            </a:extLst>
          </p:cNvPr>
          <p:cNvSpPr>
            <a:spLocks/>
          </p:cNvSpPr>
          <p:nvPr/>
        </p:nvSpPr>
        <p:spPr bwMode="auto">
          <a:xfrm>
            <a:off x="6027738" y="4278314"/>
            <a:ext cx="273050" cy="269875"/>
          </a:xfrm>
          <a:custGeom>
            <a:avLst/>
            <a:gdLst>
              <a:gd name="T0" fmla="*/ 77 w 172"/>
              <a:gd name="T1" fmla="*/ 0 h 170"/>
              <a:gd name="T2" fmla="*/ 61 w 172"/>
              <a:gd name="T3" fmla="*/ 3 h 170"/>
              <a:gd name="T4" fmla="*/ 44 w 172"/>
              <a:gd name="T5" fmla="*/ 10 h 170"/>
              <a:gd name="T6" fmla="*/ 32 w 172"/>
              <a:gd name="T7" fmla="*/ 19 h 170"/>
              <a:gd name="T8" fmla="*/ 20 w 172"/>
              <a:gd name="T9" fmla="*/ 30 h 170"/>
              <a:gd name="T10" fmla="*/ 11 w 172"/>
              <a:gd name="T11" fmla="*/ 44 h 170"/>
              <a:gd name="T12" fmla="*/ 4 w 172"/>
              <a:gd name="T13" fmla="*/ 59 h 170"/>
              <a:gd name="T14" fmla="*/ 0 w 172"/>
              <a:gd name="T15" fmla="*/ 76 h 170"/>
              <a:gd name="T16" fmla="*/ 0 w 172"/>
              <a:gd name="T17" fmla="*/ 94 h 170"/>
              <a:gd name="T18" fmla="*/ 4 w 172"/>
              <a:gd name="T19" fmla="*/ 110 h 170"/>
              <a:gd name="T20" fmla="*/ 11 w 172"/>
              <a:gd name="T21" fmla="*/ 126 h 170"/>
              <a:gd name="T22" fmla="*/ 20 w 172"/>
              <a:gd name="T23" fmla="*/ 139 h 170"/>
              <a:gd name="T24" fmla="*/ 32 w 172"/>
              <a:gd name="T25" fmla="*/ 150 h 170"/>
              <a:gd name="T26" fmla="*/ 44 w 172"/>
              <a:gd name="T27" fmla="*/ 159 h 170"/>
              <a:gd name="T28" fmla="*/ 61 w 172"/>
              <a:gd name="T29" fmla="*/ 167 h 170"/>
              <a:gd name="T30" fmla="*/ 77 w 172"/>
              <a:gd name="T31" fmla="*/ 170 h 170"/>
              <a:gd name="T32" fmla="*/ 94 w 172"/>
              <a:gd name="T33" fmla="*/ 170 h 170"/>
              <a:gd name="T34" fmla="*/ 111 w 172"/>
              <a:gd name="T35" fmla="*/ 167 h 170"/>
              <a:gd name="T36" fmla="*/ 126 w 172"/>
              <a:gd name="T37" fmla="*/ 159 h 170"/>
              <a:gd name="T38" fmla="*/ 140 w 172"/>
              <a:gd name="T39" fmla="*/ 150 h 170"/>
              <a:gd name="T40" fmla="*/ 152 w 172"/>
              <a:gd name="T41" fmla="*/ 139 h 170"/>
              <a:gd name="T42" fmla="*/ 161 w 172"/>
              <a:gd name="T43" fmla="*/ 126 h 170"/>
              <a:gd name="T44" fmla="*/ 167 w 172"/>
              <a:gd name="T45" fmla="*/ 110 h 170"/>
              <a:gd name="T46" fmla="*/ 170 w 172"/>
              <a:gd name="T47" fmla="*/ 94 h 170"/>
              <a:gd name="T48" fmla="*/ 170 w 172"/>
              <a:gd name="T49" fmla="*/ 76 h 170"/>
              <a:gd name="T50" fmla="*/ 167 w 172"/>
              <a:gd name="T51" fmla="*/ 59 h 170"/>
              <a:gd name="T52" fmla="*/ 161 w 172"/>
              <a:gd name="T53" fmla="*/ 44 h 170"/>
              <a:gd name="T54" fmla="*/ 152 w 172"/>
              <a:gd name="T55" fmla="*/ 30 h 170"/>
              <a:gd name="T56" fmla="*/ 140 w 172"/>
              <a:gd name="T57" fmla="*/ 19 h 170"/>
              <a:gd name="T58" fmla="*/ 126 w 172"/>
              <a:gd name="T59" fmla="*/ 10 h 170"/>
              <a:gd name="T60" fmla="*/ 111 w 172"/>
              <a:gd name="T61" fmla="*/ 3 h 170"/>
              <a:gd name="T62" fmla="*/ 94 w 172"/>
              <a:gd name="T63"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2" h="170">
                <a:moveTo>
                  <a:pt x="85" y="0"/>
                </a:moveTo>
                <a:lnTo>
                  <a:pt x="77" y="0"/>
                </a:lnTo>
                <a:lnTo>
                  <a:pt x="68" y="1"/>
                </a:lnTo>
                <a:lnTo>
                  <a:pt x="61" y="3"/>
                </a:lnTo>
                <a:lnTo>
                  <a:pt x="52" y="6"/>
                </a:lnTo>
                <a:lnTo>
                  <a:pt x="44" y="10"/>
                </a:lnTo>
                <a:lnTo>
                  <a:pt x="38" y="13"/>
                </a:lnTo>
                <a:lnTo>
                  <a:pt x="32" y="19"/>
                </a:lnTo>
                <a:lnTo>
                  <a:pt x="26" y="24"/>
                </a:lnTo>
                <a:lnTo>
                  <a:pt x="20" y="30"/>
                </a:lnTo>
                <a:lnTo>
                  <a:pt x="15" y="38"/>
                </a:lnTo>
                <a:lnTo>
                  <a:pt x="11" y="44"/>
                </a:lnTo>
                <a:lnTo>
                  <a:pt x="6" y="51"/>
                </a:lnTo>
                <a:lnTo>
                  <a:pt x="4" y="59"/>
                </a:lnTo>
                <a:lnTo>
                  <a:pt x="1" y="68"/>
                </a:lnTo>
                <a:lnTo>
                  <a:pt x="0" y="76"/>
                </a:lnTo>
                <a:lnTo>
                  <a:pt x="0" y="85"/>
                </a:lnTo>
                <a:lnTo>
                  <a:pt x="0" y="94"/>
                </a:lnTo>
                <a:lnTo>
                  <a:pt x="1" y="101"/>
                </a:lnTo>
                <a:lnTo>
                  <a:pt x="4" y="110"/>
                </a:lnTo>
                <a:lnTo>
                  <a:pt x="6" y="118"/>
                </a:lnTo>
                <a:lnTo>
                  <a:pt x="11" y="126"/>
                </a:lnTo>
                <a:lnTo>
                  <a:pt x="15" y="132"/>
                </a:lnTo>
                <a:lnTo>
                  <a:pt x="20" y="139"/>
                </a:lnTo>
                <a:lnTo>
                  <a:pt x="26" y="145"/>
                </a:lnTo>
                <a:lnTo>
                  <a:pt x="32" y="150"/>
                </a:lnTo>
                <a:lnTo>
                  <a:pt x="38" y="156"/>
                </a:lnTo>
                <a:lnTo>
                  <a:pt x="44" y="159"/>
                </a:lnTo>
                <a:lnTo>
                  <a:pt x="52" y="164"/>
                </a:lnTo>
                <a:lnTo>
                  <a:pt x="61" y="167"/>
                </a:lnTo>
                <a:lnTo>
                  <a:pt x="68" y="168"/>
                </a:lnTo>
                <a:lnTo>
                  <a:pt x="77" y="170"/>
                </a:lnTo>
                <a:lnTo>
                  <a:pt x="85" y="170"/>
                </a:lnTo>
                <a:lnTo>
                  <a:pt x="94" y="170"/>
                </a:lnTo>
                <a:lnTo>
                  <a:pt x="103" y="168"/>
                </a:lnTo>
                <a:lnTo>
                  <a:pt x="111" y="167"/>
                </a:lnTo>
                <a:lnTo>
                  <a:pt x="118" y="164"/>
                </a:lnTo>
                <a:lnTo>
                  <a:pt x="126" y="159"/>
                </a:lnTo>
                <a:lnTo>
                  <a:pt x="134" y="156"/>
                </a:lnTo>
                <a:lnTo>
                  <a:pt x="140" y="150"/>
                </a:lnTo>
                <a:lnTo>
                  <a:pt x="146" y="145"/>
                </a:lnTo>
                <a:lnTo>
                  <a:pt x="152" y="139"/>
                </a:lnTo>
                <a:lnTo>
                  <a:pt x="156" y="132"/>
                </a:lnTo>
                <a:lnTo>
                  <a:pt x="161" y="126"/>
                </a:lnTo>
                <a:lnTo>
                  <a:pt x="164" y="118"/>
                </a:lnTo>
                <a:lnTo>
                  <a:pt x="167" y="110"/>
                </a:lnTo>
                <a:lnTo>
                  <a:pt x="169" y="101"/>
                </a:lnTo>
                <a:lnTo>
                  <a:pt x="170" y="94"/>
                </a:lnTo>
                <a:lnTo>
                  <a:pt x="172" y="85"/>
                </a:lnTo>
                <a:lnTo>
                  <a:pt x="170" y="76"/>
                </a:lnTo>
                <a:lnTo>
                  <a:pt x="169" y="68"/>
                </a:lnTo>
                <a:lnTo>
                  <a:pt x="167" y="59"/>
                </a:lnTo>
                <a:lnTo>
                  <a:pt x="164" y="51"/>
                </a:lnTo>
                <a:lnTo>
                  <a:pt x="161" y="44"/>
                </a:lnTo>
                <a:lnTo>
                  <a:pt x="156" y="38"/>
                </a:lnTo>
                <a:lnTo>
                  <a:pt x="152" y="30"/>
                </a:lnTo>
                <a:lnTo>
                  <a:pt x="146" y="24"/>
                </a:lnTo>
                <a:lnTo>
                  <a:pt x="140" y="19"/>
                </a:lnTo>
                <a:lnTo>
                  <a:pt x="134" y="13"/>
                </a:lnTo>
                <a:lnTo>
                  <a:pt x="126" y="10"/>
                </a:lnTo>
                <a:lnTo>
                  <a:pt x="118" y="6"/>
                </a:lnTo>
                <a:lnTo>
                  <a:pt x="111" y="3"/>
                </a:lnTo>
                <a:lnTo>
                  <a:pt x="103" y="1"/>
                </a:lnTo>
                <a:lnTo>
                  <a:pt x="94" y="0"/>
                </a:lnTo>
                <a:lnTo>
                  <a:pt x="85" y="0"/>
                </a:lnTo>
                <a:close/>
              </a:path>
            </a:pathLst>
          </a:custGeom>
          <a:solidFill>
            <a:srgbClr val="00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2756" name="Freeform 116">
            <a:extLst>
              <a:ext uri="{FF2B5EF4-FFF2-40B4-BE49-F238E27FC236}">
                <a16:creationId xmlns:a16="http://schemas.microsoft.com/office/drawing/2014/main" id="{51C2CD2B-0035-C136-A03A-69C56DFF7E38}"/>
              </a:ext>
            </a:extLst>
          </p:cNvPr>
          <p:cNvSpPr>
            <a:spLocks/>
          </p:cNvSpPr>
          <p:nvPr/>
        </p:nvSpPr>
        <p:spPr bwMode="auto">
          <a:xfrm>
            <a:off x="6027738" y="4278314"/>
            <a:ext cx="273050" cy="269875"/>
          </a:xfrm>
          <a:custGeom>
            <a:avLst/>
            <a:gdLst>
              <a:gd name="T0" fmla="*/ 77 w 172"/>
              <a:gd name="T1" fmla="*/ 0 h 170"/>
              <a:gd name="T2" fmla="*/ 61 w 172"/>
              <a:gd name="T3" fmla="*/ 3 h 170"/>
              <a:gd name="T4" fmla="*/ 44 w 172"/>
              <a:gd name="T5" fmla="*/ 10 h 170"/>
              <a:gd name="T6" fmla="*/ 32 w 172"/>
              <a:gd name="T7" fmla="*/ 19 h 170"/>
              <a:gd name="T8" fmla="*/ 20 w 172"/>
              <a:gd name="T9" fmla="*/ 30 h 170"/>
              <a:gd name="T10" fmla="*/ 11 w 172"/>
              <a:gd name="T11" fmla="*/ 44 h 170"/>
              <a:gd name="T12" fmla="*/ 4 w 172"/>
              <a:gd name="T13" fmla="*/ 59 h 170"/>
              <a:gd name="T14" fmla="*/ 0 w 172"/>
              <a:gd name="T15" fmla="*/ 76 h 170"/>
              <a:gd name="T16" fmla="*/ 0 w 172"/>
              <a:gd name="T17" fmla="*/ 94 h 170"/>
              <a:gd name="T18" fmla="*/ 4 w 172"/>
              <a:gd name="T19" fmla="*/ 110 h 170"/>
              <a:gd name="T20" fmla="*/ 11 w 172"/>
              <a:gd name="T21" fmla="*/ 126 h 170"/>
              <a:gd name="T22" fmla="*/ 20 w 172"/>
              <a:gd name="T23" fmla="*/ 139 h 170"/>
              <a:gd name="T24" fmla="*/ 32 w 172"/>
              <a:gd name="T25" fmla="*/ 150 h 170"/>
              <a:gd name="T26" fmla="*/ 44 w 172"/>
              <a:gd name="T27" fmla="*/ 159 h 170"/>
              <a:gd name="T28" fmla="*/ 61 w 172"/>
              <a:gd name="T29" fmla="*/ 167 h 170"/>
              <a:gd name="T30" fmla="*/ 77 w 172"/>
              <a:gd name="T31" fmla="*/ 170 h 170"/>
              <a:gd name="T32" fmla="*/ 94 w 172"/>
              <a:gd name="T33" fmla="*/ 170 h 170"/>
              <a:gd name="T34" fmla="*/ 111 w 172"/>
              <a:gd name="T35" fmla="*/ 167 h 170"/>
              <a:gd name="T36" fmla="*/ 126 w 172"/>
              <a:gd name="T37" fmla="*/ 159 h 170"/>
              <a:gd name="T38" fmla="*/ 140 w 172"/>
              <a:gd name="T39" fmla="*/ 150 h 170"/>
              <a:gd name="T40" fmla="*/ 152 w 172"/>
              <a:gd name="T41" fmla="*/ 139 h 170"/>
              <a:gd name="T42" fmla="*/ 161 w 172"/>
              <a:gd name="T43" fmla="*/ 126 h 170"/>
              <a:gd name="T44" fmla="*/ 167 w 172"/>
              <a:gd name="T45" fmla="*/ 110 h 170"/>
              <a:gd name="T46" fmla="*/ 170 w 172"/>
              <a:gd name="T47" fmla="*/ 94 h 170"/>
              <a:gd name="T48" fmla="*/ 170 w 172"/>
              <a:gd name="T49" fmla="*/ 76 h 170"/>
              <a:gd name="T50" fmla="*/ 167 w 172"/>
              <a:gd name="T51" fmla="*/ 59 h 170"/>
              <a:gd name="T52" fmla="*/ 161 w 172"/>
              <a:gd name="T53" fmla="*/ 44 h 170"/>
              <a:gd name="T54" fmla="*/ 152 w 172"/>
              <a:gd name="T55" fmla="*/ 30 h 170"/>
              <a:gd name="T56" fmla="*/ 140 w 172"/>
              <a:gd name="T57" fmla="*/ 19 h 170"/>
              <a:gd name="T58" fmla="*/ 126 w 172"/>
              <a:gd name="T59" fmla="*/ 10 h 170"/>
              <a:gd name="T60" fmla="*/ 111 w 172"/>
              <a:gd name="T61" fmla="*/ 3 h 170"/>
              <a:gd name="T62" fmla="*/ 94 w 172"/>
              <a:gd name="T63"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2" h="170">
                <a:moveTo>
                  <a:pt x="85" y="0"/>
                </a:moveTo>
                <a:lnTo>
                  <a:pt x="77" y="0"/>
                </a:lnTo>
                <a:lnTo>
                  <a:pt x="68" y="1"/>
                </a:lnTo>
                <a:lnTo>
                  <a:pt x="61" y="3"/>
                </a:lnTo>
                <a:lnTo>
                  <a:pt x="52" y="6"/>
                </a:lnTo>
                <a:lnTo>
                  <a:pt x="44" y="10"/>
                </a:lnTo>
                <a:lnTo>
                  <a:pt x="38" y="13"/>
                </a:lnTo>
                <a:lnTo>
                  <a:pt x="32" y="19"/>
                </a:lnTo>
                <a:lnTo>
                  <a:pt x="26" y="24"/>
                </a:lnTo>
                <a:lnTo>
                  <a:pt x="20" y="30"/>
                </a:lnTo>
                <a:lnTo>
                  <a:pt x="15" y="38"/>
                </a:lnTo>
                <a:lnTo>
                  <a:pt x="11" y="44"/>
                </a:lnTo>
                <a:lnTo>
                  <a:pt x="6" y="51"/>
                </a:lnTo>
                <a:lnTo>
                  <a:pt x="4" y="59"/>
                </a:lnTo>
                <a:lnTo>
                  <a:pt x="1" y="68"/>
                </a:lnTo>
                <a:lnTo>
                  <a:pt x="0" y="76"/>
                </a:lnTo>
                <a:lnTo>
                  <a:pt x="0" y="85"/>
                </a:lnTo>
                <a:lnTo>
                  <a:pt x="0" y="94"/>
                </a:lnTo>
                <a:lnTo>
                  <a:pt x="1" y="101"/>
                </a:lnTo>
                <a:lnTo>
                  <a:pt x="4" y="110"/>
                </a:lnTo>
                <a:lnTo>
                  <a:pt x="6" y="118"/>
                </a:lnTo>
                <a:lnTo>
                  <a:pt x="11" y="126"/>
                </a:lnTo>
                <a:lnTo>
                  <a:pt x="15" y="132"/>
                </a:lnTo>
                <a:lnTo>
                  <a:pt x="20" y="139"/>
                </a:lnTo>
                <a:lnTo>
                  <a:pt x="26" y="145"/>
                </a:lnTo>
                <a:lnTo>
                  <a:pt x="32" y="150"/>
                </a:lnTo>
                <a:lnTo>
                  <a:pt x="38" y="156"/>
                </a:lnTo>
                <a:lnTo>
                  <a:pt x="44" y="159"/>
                </a:lnTo>
                <a:lnTo>
                  <a:pt x="52" y="164"/>
                </a:lnTo>
                <a:lnTo>
                  <a:pt x="61" y="167"/>
                </a:lnTo>
                <a:lnTo>
                  <a:pt x="68" y="168"/>
                </a:lnTo>
                <a:lnTo>
                  <a:pt x="77" y="170"/>
                </a:lnTo>
                <a:lnTo>
                  <a:pt x="85" y="170"/>
                </a:lnTo>
                <a:lnTo>
                  <a:pt x="94" y="170"/>
                </a:lnTo>
                <a:lnTo>
                  <a:pt x="103" y="168"/>
                </a:lnTo>
                <a:lnTo>
                  <a:pt x="111" y="167"/>
                </a:lnTo>
                <a:lnTo>
                  <a:pt x="118" y="164"/>
                </a:lnTo>
                <a:lnTo>
                  <a:pt x="126" y="159"/>
                </a:lnTo>
                <a:lnTo>
                  <a:pt x="134" y="156"/>
                </a:lnTo>
                <a:lnTo>
                  <a:pt x="140" y="150"/>
                </a:lnTo>
                <a:lnTo>
                  <a:pt x="146" y="145"/>
                </a:lnTo>
                <a:lnTo>
                  <a:pt x="152" y="139"/>
                </a:lnTo>
                <a:lnTo>
                  <a:pt x="156" y="132"/>
                </a:lnTo>
                <a:lnTo>
                  <a:pt x="161" y="126"/>
                </a:lnTo>
                <a:lnTo>
                  <a:pt x="164" y="118"/>
                </a:lnTo>
                <a:lnTo>
                  <a:pt x="167" y="110"/>
                </a:lnTo>
                <a:lnTo>
                  <a:pt x="169" y="101"/>
                </a:lnTo>
                <a:lnTo>
                  <a:pt x="170" y="94"/>
                </a:lnTo>
                <a:lnTo>
                  <a:pt x="172" y="85"/>
                </a:lnTo>
                <a:lnTo>
                  <a:pt x="170" y="76"/>
                </a:lnTo>
                <a:lnTo>
                  <a:pt x="169" y="68"/>
                </a:lnTo>
                <a:lnTo>
                  <a:pt x="167" y="59"/>
                </a:lnTo>
                <a:lnTo>
                  <a:pt x="164" y="51"/>
                </a:lnTo>
                <a:lnTo>
                  <a:pt x="161" y="44"/>
                </a:lnTo>
                <a:lnTo>
                  <a:pt x="156" y="38"/>
                </a:lnTo>
                <a:lnTo>
                  <a:pt x="152" y="30"/>
                </a:lnTo>
                <a:lnTo>
                  <a:pt x="146" y="24"/>
                </a:lnTo>
                <a:lnTo>
                  <a:pt x="140" y="19"/>
                </a:lnTo>
                <a:lnTo>
                  <a:pt x="134" y="13"/>
                </a:lnTo>
                <a:lnTo>
                  <a:pt x="126" y="10"/>
                </a:lnTo>
                <a:lnTo>
                  <a:pt x="118" y="6"/>
                </a:lnTo>
                <a:lnTo>
                  <a:pt x="111" y="3"/>
                </a:lnTo>
                <a:lnTo>
                  <a:pt x="103" y="1"/>
                </a:lnTo>
                <a:lnTo>
                  <a:pt x="94" y="0"/>
                </a:lnTo>
                <a:lnTo>
                  <a:pt x="85"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2757" name="Rectangle 117">
            <a:extLst>
              <a:ext uri="{FF2B5EF4-FFF2-40B4-BE49-F238E27FC236}">
                <a16:creationId xmlns:a16="http://schemas.microsoft.com/office/drawing/2014/main" id="{1AEB946F-0308-8E0C-B880-B6FA623ABC8A}"/>
              </a:ext>
            </a:extLst>
          </p:cNvPr>
          <p:cNvSpPr>
            <a:spLocks noChangeArrowheads="1"/>
          </p:cNvSpPr>
          <p:nvPr/>
        </p:nvSpPr>
        <p:spPr bwMode="auto">
          <a:xfrm>
            <a:off x="6100763" y="4310064"/>
            <a:ext cx="11221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B</a:t>
            </a:r>
            <a:endParaRPr lang="en-US" altLang="en-US"/>
          </a:p>
        </p:txBody>
      </p:sp>
      <p:sp>
        <p:nvSpPr>
          <p:cNvPr id="112758" name="Freeform 118">
            <a:extLst>
              <a:ext uri="{FF2B5EF4-FFF2-40B4-BE49-F238E27FC236}">
                <a16:creationId xmlns:a16="http://schemas.microsoft.com/office/drawing/2014/main" id="{405205A5-C2C4-63C6-0056-1AC90EAF2922}"/>
              </a:ext>
            </a:extLst>
          </p:cNvPr>
          <p:cNvSpPr>
            <a:spLocks/>
          </p:cNvSpPr>
          <p:nvPr/>
        </p:nvSpPr>
        <p:spPr bwMode="auto">
          <a:xfrm>
            <a:off x="6542089" y="6280150"/>
            <a:ext cx="269875" cy="273050"/>
          </a:xfrm>
          <a:custGeom>
            <a:avLst/>
            <a:gdLst>
              <a:gd name="T0" fmla="*/ 76 w 170"/>
              <a:gd name="T1" fmla="*/ 0 h 172"/>
              <a:gd name="T2" fmla="*/ 59 w 170"/>
              <a:gd name="T3" fmla="*/ 5 h 172"/>
              <a:gd name="T4" fmla="*/ 44 w 170"/>
              <a:gd name="T5" fmla="*/ 11 h 172"/>
              <a:gd name="T6" fmla="*/ 30 w 170"/>
              <a:gd name="T7" fmla="*/ 20 h 172"/>
              <a:gd name="T8" fmla="*/ 18 w 170"/>
              <a:gd name="T9" fmla="*/ 32 h 172"/>
              <a:gd name="T10" fmla="*/ 9 w 170"/>
              <a:gd name="T11" fmla="*/ 44 h 172"/>
              <a:gd name="T12" fmla="*/ 3 w 170"/>
              <a:gd name="T13" fmla="*/ 61 h 172"/>
              <a:gd name="T14" fmla="*/ 0 w 170"/>
              <a:gd name="T15" fmla="*/ 78 h 172"/>
              <a:gd name="T16" fmla="*/ 0 w 170"/>
              <a:gd name="T17" fmla="*/ 94 h 172"/>
              <a:gd name="T18" fmla="*/ 3 w 170"/>
              <a:gd name="T19" fmla="*/ 111 h 172"/>
              <a:gd name="T20" fmla="*/ 9 w 170"/>
              <a:gd name="T21" fmla="*/ 126 h 172"/>
              <a:gd name="T22" fmla="*/ 18 w 170"/>
              <a:gd name="T23" fmla="*/ 140 h 172"/>
              <a:gd name="T24" fmla="*/ 30 w 170"/>
              <a:gd name="T25" fmla="*/ 152 h 172"/>
              <a:gd name="T26" fmla="*/ 44 w 170"/>
              <a:gd name="T27" fmla="*/ 161 h 172"/>
              <a:gd name="T28" fmla="*/ 59 w 170"/>
              <a:gd name="T29" fmla="*/ 167 h 172"/>
              <a:gd name="T30" fmla="*/ 76 w 170"/>
              <a:gd name="T31" fmla="*/ 170 h 172"/>
              <a:gd name="T32" fmla="*/ 94 w 170"/>
              <a:gd name="T33" fmla="*/ 170 h 172"/>
              <a:gd name="T34" fmla="*/ 111 w 170"/>
              <a:gd name="T35" fmla="*/ 167 h 172"/>
              <a:gd name="T36" fmla="*/ 126 w 170"/>
              <a:gd name="T37" fmla="*/ 161 h 172"/>
              <a:gd name="T38" fmla="*/ 140 w 170"/>
              <a:gd name="T39" fmla="*/ 152 h 172"/>
              <a:gd name="T40" fmla="*/ 150 w 170"/>
              <a:gd name="T41" fmla="*/ 140 h 172"/>
              <a:gd name="T42" fmla="*/ 159 w 170"/>
              <a:gd name="T43" fmla="*/ 126 h 172"/>
              <a:gd name="T44" fmla="*/ 165 w 170"/>
              <a:gd name="T45" fmla="*/ 111 h 172"/>
              <a:gd name="T46" fmla="*/ 170 w 170"/>
              <a:gd name="T47" fmla="*/ 94 h 172"/>
              <a:gd name="T48" fmla="*/ 170 w 170"/>
              <a:gd name="T49" fmla="*/ 78 h 172"/>
              <a:gd name="T50" fmla="*/ 165 w 170"/>
              <a:gd name="T51" fmla="*/ 61 h 172"/>
              <a:gd name="T52" fmla="*/ 159 w 170"/>
              <a:gd name="T53" fmla="*/ 44 h 172"/>
              <a:gd name="T54" fmla="*/ 150 w 170"/>
              <a:gd name="T55" fmla="*/ 32 h 172"/>
              <a:gd name="T56" fmla="*/ 140 w 170"/>
              <a:gd name="T57" fmla="*/ 20 h 172"/>
              <a:gd name="T58" fmla="*/ 126 w 170"/>
              <a:gd name="T59" fmla="*/ 11 h 172"/>
              <a:gd name="T60" fmla="*/ 111 w 170"/>
              <a:gd name="T61" fmla="*/ 5 h 172"/>
              <a:gd name="T62" fmla="*/ 94 w 170"/>
              <a:gd name="T63" fmla="*/ 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 h="172">
                <a:moveTo>
                  <a:pt x="85" y="0"/>
                </a:moveTo>
                <a:lnTo>
                  <a:pt x="76" y="0"/>
                </a:lnTo>
                <a:lnTo>
                  <a:pt x="67" y="2"/>
                </a:lnTo>
                <a:lnTo>
                  <a:pt x="59" y="5"/>
                </a:lnTo>
                <a:lnTo>
                  <a:pt x="51" y="6"/>
                </a:lnTo>
                <a:lnTo>
                  <a:pt x="44" y="11"/>
                </a:lnTo>
                <a:lnTo>
                  <a:pt x="36" y="15"/>
                </a:lnTo>
                <a:lnTo>
                  <a:pt x="30" y="20"/>
                </a:lnTo>
                <a:lnTo>
                  <a:pt x="24" y="26"/>
                </a:lnTo>
                <a:lnTo>
                  <a:pt x="18" y="32"/>
                </a:lnTo>
                <a:lnTo>
                  <a:pt x="13" y="38"/>
                </a:lnTo>
                <a:lnTo>
                  <a:pt x="9" y="44"/>
                </a:lnTo>
                <a:lnTo>
                  <a:pt x="6" y="52"/>
                </a:lnTo>
                <a:lnTo>
                  <a:pt x="3" y="61"/>
                </a:lnTo>
                <a:lnTo>
                  <a:pt x="1" y="69"/>
                </a:lnTo>
                <a:lnTo>
                  <a:pt x="0" y="78"/>
                </a:lnTo>
                <a:lnTo>
                  <a:pt x="0" y="85"/>
                </a:lnTo>
                <a:lnTo>
                  <a:pt x="0" y="94"/>
                </a:lnTo>
                <a:lnTo>
                  <a:pt x="1" y="103"/>
                </a:lnTo>
                <a:lnTo>
                  <a:pt x="3" y="111"/>
                </a:lnTo>
                <a:lnTo>
                  <a:pt x="6" y="119"/>
                </a:lnTo>
                <a:lnTo>
                  <a:pt x="9" y="126"/>
                </a:lnTo>
                <a:lnTo>
                  <a:pt x="13" y="134"/>
                </a:lnTo>
                <a:lnTo>
                  <a:pt x="18" y="140"/>
                </a:lnTo>
                <a:lnTo>
                  <a:pt x="24" y="146"/>
                </a:lnTo>
                <a:lnTo>
                  <a:pt x="30" y="152"/>
                </a:lnTo>
                <a:lnTo>
                  <a:pt x="36" y="157"/>
                </a:lnTo>
                <a:lnTo>
                  <a:pt x="44" y="161"/>
                </a:lnTo>
                <a:lnTo>
                  <a:pt x="51" y="164"/>
                </a:lnTo>
                <a:lnTo>
                  <a:pt x="59" y="167"/>
                </a:lnTo>
                <a:lnTo>
                  <a:pt x="67" y="169"/>
                </a:lnTo>
                <a:lnTo>
                  <a:pt x="76" y="170"/>
                </a:lnTo>
                <a:lnTo>
                  <a:pt x="85" y="172"/>
                </a:lnTo>
                <a:lnTo>
                  <a:pt x="94" y="170"/>
                </a:lnTo>
                <a:lnTo>
                  <a:pt x="102" y="169"/>
                </a:lnTo>
                <a:lnTo>
                  <a:pt x="111" y="167"/>
                </a:lnTo>
                <a:lnTo>
                  <a:pt x="118" y="164"/>
                </a:lnTo>
                <a:lnTo>
                  <a:pt x="126" y="161"/>
                </a:lnTo>
                <a:lnTo>
                  <a:pt x="132" y="157"/>
                </a:lnTo>
                <a:lnTo>
                  <a:pt x="140" y="152"/>
                </a:lnTo>
                <a:lnTo>
                  <a:pt x="146" y="146"/>
                </a:lnTo>
                <a:lnTo>
                  <a:pt x="150" y="140"/>
                </a:lnTo>
                <a:lnTo>
                  <a:pt x="155" y="134"/>
                </a:lnTo>
                <a:lnTo>
                  <a:pt x="159" y="126"/>
                </a:lnTo>
                <a:lnTo>
                  <a:pt x="164" y="119"/>
                </a:lnTo>
                <a:lnTo>
                  <a:pt x="165" y="111"/>
                </a:lnTo>
                <a:lnTo>
                  <a:pt x="168" y="103"/>
                </a:lnTo>
                <a:lnTo>
                  <a:pt x="170" y="94"/>
                </a:lnTo>
                <a:lnTo>
                  <a:pt x="170" y="85"/>
                </a:lnTo>
                <a:lnTo>
                  <a:pt x="170" y="78"/>
                </a:lnTo>
                <a:lnTo>
                  <a:pt x="168" y="69"/>
                </a:lnTo>
                <a:lnTo>
                  <a:pt x="165" y="61"/>
                </a:lnTo>
                <a:lnTo>
                  <a:pt x="164" y="52"/>
                </a:lnTo>
                <a:lnTo>
                  <a:pt x="159" y="44"/>
                </a:lnTo>
                <a:lnTo>
                  <a:pt x="155" y="38"/>
                </a:lnTo>
                <a:lnTo>
                  <a:pt x="150" y="32"/>
                </a:lnTo>
                <a:lnTo>
                  <a:pt x="146" y="26"/>
                </a:lnTo>
                <a:lnTo>
                  <a:pt x="140" y="20"/>
                </a:lnTo>
                <a:lnTo>
                  <a:pt x="132" y="15"/>
                </a:lnTo>
                <a:lnTo>
                  <a:pt x="126" y="11"/>
                </a:lnTo>
                <a:lnTo>
                  <a:pt x="118" y="6"/>
                </a:lnTo>
                <a:lnTo>
                  <a:pt x="111" y="5"/>
                </a:lnTo>
                <a:lnTo>
                  <a:pt x="102" y="2"/>
                </a:lnTo>
                <a:lnTo>
                  <a:pt x="94" y="0"/>
                </a:lnTo>
                <a:lnTo>
                  <a:pt x="85" y="0"/>
                </a:lnTo>
                <a:close/>
              </a:path>
            </a:pathLst>
          </a:custGeom>
          <a:solidFill>
            <a:srgbClr val="00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2759" name="Freeform 119">
            <a:extLst>
              <a:ext uri="{FF2B5EF4-FFF2-40B4-BE49-F238E27FC236}">
                <a16:creationId xmlns:a16="http://schemas.microsoft.com/office/drawing/2014/main" id="{70060001-DBB5-6FD0-B800-94F95739FC16}"/>
              </a:ext>
            </a:extLst>
          </p:cNvPr>
          <p:cNvSpPr>
            <a:spLocks/>
          </p:cNvSpPr>
          <p:nvPr/>
        </p:nvSpPr>
        <p:spPr bwMode="auto">
          <a:xfrm>
            <a:off x="6542089" y="6280150"/>
            <a:ext cx="269875" cy="273050"/>
          </a:xfrm>
          <a:custGeom>
            <a:avLst/>
            <a:gdLst>
              <a:gd name="T0" fmla="*/ 76 w 170"/>
              <a:gd name="T1" fmla="*/ 0 h 172"/>
              <a:gd name="T2" fmla="*/ 59 w 170"/>
              <a:gd name="T3" fmla="*/ 5 h 172"/>
              <a:gd name="T4" fmla="*/ 44 w 170"/>
              <a:gd name="T5" fmla="*/ 11 h 172"/>
              <a:gd name="T6" fmla="*/ 30 w 170"/>
              <a:gd name="T7" fmla="*/ 20 h 172"/>
              <a:gd name="T8" fmla="*/ 18 w 170"/>
              <a:gd name="T9" fmla="*/ 32 h 172"/>
              <a:gd name="T10" fmla="*/ 9 w 170"/>
              <a:gd name="T11" fmla="*/ 44 h 172"/>
              <a:gd name="T12" fmla="*/ 3 w 170"/>
              <a:gd name="T13" fmla="*/ 61 h 172"/>
              <a:gd name="T14" fmla="*/ 0 w 170"/>
              <a:gd name="T15" fmla="*/ 78 h 172"/>
              <a:gd name="T16" fmla="*/ 0 w 170"/>
              <a:gd name="T17" fmla="*/ 94 h 172"/>
              <a:gd name="T18" fmla="*/ 3 w 170"/>
              <a:gd name="T19" fmla="*/ 111 h 172"/>
              <a:gd name="T20" fmla="*/ 9 w 170"/>
              <a:gd name="T21" fmla="*/ 126 h 172"/>
              <a:gd name="T22" fmla="*/ 18 w 170"/>
              <a:gd name="T23" fmla="*/ 140 h 172"/>
              <a:gd name="T24" fmla="*/ 30 w 170"/>
              <a:gd name="T25" fmla="*/ 152 h 172"/>
              <a:gd name="T26" fmla="*/ 44 w 170"/>
              <a:gd name="T27" fmla="*/ 161 h 172"/>
              <a:gd name="T28" fmla="*/ 59 w 170"/>
              <a:gd name="T29" fmla="*/ 167 h 172"/>
              <a:gd name="T30" fmla="*/ 76 w 170"/>
              <a:gd name="T31" fmla="*/ 170 h 172"/>
              <a:gd name="T32" fmla="*/ 94 w 170"/>
              <a:gd name="T33" fmla="*/ 170 h 172"/>
              <a:gd name="T34" fmla="*/ 111 w 170"/>
              <a:gd name="T35" fmla="*/ 167 h 172"/>
              <a:gd name="T36" fmla="*/ 126 w 170"/>
              <a:gd name="T37" fmla="*/ 161 h 172"/>
              <a:gd name="T38" fmla="*/ 140 w 170"/>
              <a:gd name="T39" fmla="*/ 152 h 172"/>
              <a:gd name="T40" fmla="*/ 150 w 170"/>
              <a:gd name="T41" fmla="*/ 140 h 172"/>
              <a:gd name="T42" fmla="*/ 159 w 170"/>
              <a:gd name="T43" fmla="*/ 126 h 172"/>
              <a:gd name="T44" fmla="*/ 165 w 170"/>
              <a:gd name="T45" fmla="*/ 111 h 172"/>
              <a:gd name="T46" fmla="*/ 170 w 170"/>
              <a:gd name="T47" fmla="*/ 94 h 172"/>
              <a:gd name="T48" fmla="*/ 170 w 170"/>
              <a:gd name="T49" fmla="*/ 78 h 172"/>
              <a:gd name="T50" fmla="*/ 165 w 170"/>
              <a:gd name="T51" fmla="*/ 61 h 172"/>
              <a:gd name="T52" fmla="*/ 159 w 170"/>
              <a:gd name="T53" fmla="*/ 44 h 172"/>
              <a:gd name="T54" fmla="*/ 150 w 170"/>
              <a:gd name="T55" fmla="*/ 32 h 172"/>
              <a:gd name="T56" fmla="*/ 140 w 170"/>
              <a:gd name="T57" fmla="*/ 20 h 172"/>
              <a:gd name="T58" fmla="*/ 126 w 170"/>
              <a:gd name="T59" fmla="*/ 11 h 172"/>
              <a:gd name="T60" fmla="*/ 111 w 170"/>
              <a:gd name="T61" fmla="*/ 5 h 172"/>
              <a:gd name="T62" fmla="*/ 94 w 170"/>
              <a:gd name="T63" fmla="*/ 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 h="172">
                <a:moveTo>
                  <a:pt x="85" y="0"/>
                </a:moveTo>
                <a:lnTo>
                  <a:pt x="76" y="0"/>
                </a:lnTo>
                <a:lnTo>
                  <a:pt x="67" y="2"/>
                </a:lnTo>
                <a:lnTo>
                  <a:pt x="59" y="5"/>
                </a:lnTo>
                <a:lnTo>
                  <a:pt x="51" y="6"/>
                </a:lnTo>
                <a:lnTo>
                  <a:pt x="44" y="11"/>
                </a:lnTo>
                <a:lnTo>
                  <a:pt x="36" y="15"/>
                </a:lnTo>
                <a:lnTo>
                  <a:pt x="30" y="20"/>
                </a:lnTo>
                <a:lnTo>
                  <a:pt x="24" y="26"/>
                </a:lnTo>
                <a:lnTo>
                  <a:pt x="18" y="32"/>
                </a:lnTo>
                <a:lnTo>
                  <a:pt x="13" y="38"/>
                </a:lnTo>
                <a:lnTo>
                  <a:pt x="9" y="44"/>
                </a:lnTo>
                <a:lnTo>
                  <a:pt x="6" y="52"/>
                </a:lnTo>
                <a:lnTo>
                  <a:pt x="3" y="61"/>
                </a:lnTo>
                <a:lnTo>
                  <a:pt x="1" y="69"/>
                </a:lnTo>
                <a:lnTo>
                  <a:pt x="0" y="78"/>
                </a:lnTo>
                <a:lnTo>
                  <a:pt x="0" y="85"/>
                </a:lnTo>
                <a:lnTo>
                  <a:pt x="0" y="94"/>
                </a:lnTo>
                <a:lnTo>
                  <a:pt x="1" y="103"/>
                </a:lnTo>
                <a:lnTo>
                  <a:pt x="3" y="111"/>
                </a:lnTo>
                <a:lnTo>
                  <a:pt x="6" y="119"/>
                </a:lnTo>
                <a:lnTo>
                  <a:pt x="9" y="126"/>
                </a:lnTo>
                <a:lnTo>
                  <a:pt x="13" y="134"/>
                </a:lnTo>
                <a:lnTo>
                  <a:pt x="18" y="140"/>
                </a:lnTo>
                <a:lnTo>
                  <a:pt x="24" y="146"/>
                </a:lnTo>
                <a:lnTo>
                  <a:pt x="30" y="152"/>
                </a:lnTo>
                <a:lnTo>
                  <a:pt x="36" y="157"/>
                </a:lnTo>
                <a:lnTo>
                  <a:pt x="44" y="161"/>
                </a:lnTo>
                <a:lnTo>
                  <a:pt x="51" y="164"/>
                </a:lnTo>
                <a:lnTo>
                  <a:pt x="59" y="167"/>
                </a:lnTo>
                <a:lnTo>
                  <a:pt x="67" y="169"/>
                </a:lnTo>
                <a:lnTo>
                  <a:pt x="76" y="170"/>
                </a:lnTo>
                <a:lnTo>
                  <a:pt x="85" y="172"/>
                </a:lnTo>
                <a:lnTo>
                  <a:pt x="94" y="170"/>
                </a:lnTo>
                <a:lnTo>
                  <a:pt x="102" y="169"/>
                </a:lnTo>
                <a:lnTo>
                  <a:pt x="111" y="167"/>
                </a:lnTo>
                <a:lnTo>
                  <a:pt x="118" y="164"/>
                </a:lnTo>
                <a:lnTo>
                  <a:pt x="126" y="161"/>
                </a:lnTo>
                <a:lnTo>
                  <a:pt x="132" y="157"/>
                </a:lnTo>
                <a:lnTo>
                  <a:pt x="140" y="152"/>
                </a:lnTo>
                <a:lnTo>
                  <a:pt x="146" y="146"/>
                </a:lnTo>
                <a:lnTo>
                  <a:pt x="150" y="140"/>
                </a:lnTo>
                <a:lnTo>
                  <a:pt x="155" y="134"/>
                </a:lnTo>
                <a:lnTo>
                  <a:pt x="159" y="126"/>
                </a:lnTo>
                <a:lnTo>
                  <a:pt x="164" y="119"/>
                </a:lnTo>
                <a:lnTo>
                  <a:pt x="165" y="111"/>
                </a:lnTo>
                <a:lnTo>
                  <a:pt x="168" y="103"/>
                </a:lnTo>
                <a:lnTo>
                  <a:pt x="170" y="94"/>
                </a:lnTo>
                <a:lnTo>
                  <a:pt x="170" y="85"/>
                </a:lnTo>
                <a:lnTo>
                  <a:pt x="170" y="78"/>
                </a:lnTo>
                <a:lnTo>
                  <a:pt x="168" y="69"/>
                </a:lnTo>
                <a:lnTo>
                  <a:pt x="165" y="61"/>
                </a:lnTo>
                <a:lnTo>
                  <a:pt x="164" y="52"/>
                </a:lnTo>
                <a:lnTo>
                  <a:pt x="159" y="44"/>
                </a:lnTo>
                <a:lnTo>
                  <a:pt x="155" y="38"/>
                </a:lnTo>
                <a:lnTo>
                  <a:pt x="150" y="32"/>
                </a:lnTo>
                <a:lnTo>
                  <a:pt x="146" y="26"/>
                </a:lnTo>
                <a:lnTo>
                  <a:pt x="140" y="20"/>
                </a:lnTo>
                <a:lnTo>
                  <a:pt x="132" y="15"/>
                </a:lnTo>
                <a:lnTo>
                  <a:pt x="126" y="11"/>
                </a:lnTo>
                <a:lnTo>
                  <a:pt x="118" y="6"/>
                </a:lnTo>
                <a:lnTo>
                  <a:pt x="111" y="5"/>
                </a:lnTo>
                <a:lnTo>
                  <a:pt x="102" y="2"/>
                </a:lnTo>
                <a:lnTo>
                  <a:pt x="94" y="0"/>
                </a:lnTo>
                <a:lnTo>
                  <a:pt x="85"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2760" name="Rectangle 120">
            <a:extLst>
              <a:ext uri="{FF2B5EF4-FFF2-40B4-BE49-F238E27FC236}">
                <a16:creationId xmlns:a16="http://schemas.microsoft.com/office/drawing/2014/main" id="{13588485-2D9C-F8CA-29CA-00BE369EFD1F}"/>
              </a:ext>
            </a:extLst>
          </p:cNvPr>
          <p:cNvSpPr>
            <a:spLocks noChangeArrowheads="1"/>
          </p:cNvSpPr>
          <p:nvPr/>
        </p:nvSpPr>
        <p:spPr bwMode="auto">
          <a:xfrm>
            <a:off x="6621463" y="6311901"/>
            <a:ext cx="10579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P</a:t>
            </a:r>
            <a:endParaRPr lang="en-US" altLang="en-US"/>
          </a:p>
        </p:txBody>
      </p:sp>
      <p:sp>
        <p:nvSpPr>
          <p:cNvPr id="112761" name="Rectangle 121">
            <a:extLst>
              <a:ext uri="{FF2B5EF4-FFF2-40B4-BE49-F238E27FC236}">
                <a16:creationId xmlns:a16="http://schemas.microsoft.com/office/drawing/2014/main" id="{37FDF122-FCF4-9172-EE56-8CB370D71A04}"/>
              </a:ext>
            </a:extLst>
          </p:cNvPr>
          <p:cNvSpPr>
            <a:spLocks noChangeArrowheads="1"/>
          </p:cNvSpPr>
          <p:nvPr/>
        </p:nvSpPr>
        <p:spPr bwMode="auto">
          <a:xfrm>
            <a:off x="9583738" y="5380039"/>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FF0000"/>
                </a:solidFill>
              </a:rPr>
              <a:t>4</a:t>
            </a:r>
            <a:endParaRPr lang="en-US" altLang="en-US">
              <a:solidFill>
                <a:srgbClr val="FF0000"/>
              </a:solidFill>
            </a:endParaRPr>
          </a:p>
        </p:txBody>
      </p:sp>
      <p:sp>
        <p:nvSpPr>
          <p:cNvPr id="112764" name="Rectangle 124">
            <a:extLst>
              <a:ext uri="{FF2B5EF4-FFF2-40B4-BE49-F238E27FC236}">
                <a16:creationId xmlns:a16="http://schemas.microsoft.com/office/drawing/2014/main" id="{A98B00F5-407E-8BA0-496F-3E701657B625}"/>
              </a:ext>
            </a:extLst>
          </p:cNvPr>
          <p:cNvSpPr>
            <a:spLocks noChangeArrowheads="1"/>
          </p:cNvSpPr>
          <p:nvPr/>
        </p:nvSpPr>
        <p:spPr bwMode="auto">
          <a:xfrm>
            <a:off x="7345363" y="4140201"/>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FF0000"/>
                </a:solidFill>
              </a:rPr>
              <a:t>0</a:t>
            </a:r>
            <a:endParaRPr lang="en-US" altLang="en-US">
              <a:solidFill>
                <a:srgbClr val="FF0000"/>
              </a:solidFill>
            </a:endParaRPr>
          </a:p>
        </p:txBody>
      </p:sp>
      <p:sp>
        <p:nvSpPr>
          <p:cNvPr id="112765" name="Rectangle 125">
            <a:extLst>
              <a:ext uri="{FF2B5EF4-FFF2-40B4-BE49-F238E27FC236}">
                <a16:creationId xmlns:a16="http://schemas.microsoft.com/office/drawing/2014/main" id="{6DA4C177-5DF5-DE40-BEB6-493AC305496A}"/>
              </a:ext>
            </a:extLst>
          </p:cNvPr>
          <p:cNvSpPr>
            <a:spLocks noChangeArrowheads="1"/>
          </p:cNvSpPr>
          <p:nvPr/>
        </p:nvSpPr>
        <p:spPr bwMode="auto">
          <a:xfrm>
            <a:off x="7280275" y="5199064"/>
            <a:ext cx="20839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10</a:t>
            </a:r>
            <a:endParaRPr lang="en-US" altLang="en-US"/>
          </a:p>
        </p:txBody>
      </p:sp>
      <p:sp>
        <p:nvSpPr>
          <p:cNvPr id="112767" name="Rectangle 127">
            <a:extLst>
              <a:ext uri="{FF2B5EF4-FFF2-40B4-BE49-F238E27FC236}">
                <a16:creationId xmlns:a16="http://schemas.microsoft.com/office/drawing/2014/main" id="{4DFB2108-96BD-3708-3BA1-48BCD38FE66F}"/>
              </a:ext>
            </a:extLst>
          </p:cNvPr>
          <p:cNvSpPr>
            <a:spLocks noChangeArrowheads="1"/>
          </p:cNvSpPr>
          <p:nvPr/>
        </p:nvSpPr>
        <p:spPr bwMode="auto">
          <a:xfrm>
            <a:off x="6527800" y="5411789"/>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7</a:t>
            </a:r>
            <a:endParaRPr lang="en-US" altLang="en-US"/>
          </a:p>
        </p:txBody>
      </p:sp>
      <p:sp>
        <p:nvSpPr>
          <p:cNvPr id="112770" name="Rectangle 130">
            <a:extLst>
              <a:ext uri="{FF2B5EF4-FFF2-40B4-BE49-F238E27FC236}">
                <a16:creationId xmlns:a16="http://schemas.microsoft.com/office/drawing/2014/main" id="{1705E426-E5B8-E66D-E27C-AAA37835A070}"/>
              </a:ext>
            </a:extLst>
          </p:cNvPr>
          <p:cNvSpPr>
            <a:spLocks noChangeArrowheads="1"/>
          </p:cNvSpPr>
          <p:nvPr/>
        </p:nvSpPr>
        <p:spPr bwMode="auto">
          <a:xfrm>
            <a:off x="6119813" y="5216526"/>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0</a:t>
            </a:r>
            <a:endParaRPr lang="en-US" altLang="en-US"/>
          </a:p>
        </p:txBody>
      </p:sp>
      <p:sp>
        <p:nvSpPr>
          <p:cNvPr id="112771" name="Rectangle 131">
            <a:extLst>
              <a:ext uri="{FF2B5EF4-FFF2-40B4-BE49-F238E27FC236}">
                <a16:creationId xmlns:a16="http://schemas.microsoft.com/office/drawing/2014/main" id="{65C10BF5-AA9E-FFF4-1602-A7B57F9D744B}"/>
              </a:ext>
            </a:extLst>
          </p:cNvPr>
          <p:cNvSpPr>
            <a:spLocks noChangeArrowheads="1"/>
          </p:cNvSpPr>
          <p:nvPr/>
        </p:nvSpPr>
        <p:spPr bwMode="auto">
          <a:xfrm>
            <a:off x="7613650" y="4822826"/>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0</a:t>
            </a:r>
            <a:endParaRPr lang="en-US" altLang="en-US"/>
          </a:p>
        </p:txBody>
      </p:sp>
      <p:sp>
        <p:nvSpPr>
          <p:cNvPr id="112772" name="Rectangle 132">
            <a:extLst>
              <a:ext uri="{FF2B5EF4-FFF2-40B4-BE49-F238E27FC236}">
                <a16:creationId xmlns:a16="http://schemas.microsoft.com/office/drawing/2014/main" id="{D5DF11BA-220B-8DCC-825B-5AA7F00874F6}"/>
              </a:ext>
            </a:extLst>
          </p:cNvPr>
          <p:cNvSpPr>
            <a:spLocks noChangeArrowheads="1"/>
          </p:cNvSpPr>
          <p:nvPr/>
        </p:nvSpPr>
        <p:spPr bwMode="auto">
          <a:xfrm>
            <a:off x="7502525" y="4471989"/>
            <a:ext cx="20839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FF33CC"/>
                </a:solidFill>
              </a:rPr>
              <a:t>12</a:t>
            </a:r>
            <a:endParaRPr lang="en-US" altLang="en-US">
              <a:solidFill>
                <a:srgbClr val="FF33CC"/>
              </a:solidFill>
            </a:endParaRPr>
          </a:p>
        </p:txBody>
      </p:sp>
      <p:sp>
        <p:nvSpPr>
          <p:cNvPr id="112776" name="Text Box 136">
            <a:extLst>
              <a:ext uri="{FF2B5EF4-FFF2-40B4-BE49-F238E27FC236}">
                <a16:creationId xmlns:a16="http://schemas.microsoft.com/office/drawing/2014/main" id="{4C9F3214-FB2C-E84A-19F6-936BC9BD51DB}"/>
              </a:ext>
            </a:extLst>
          </p:cNvPr>
          <p:cNvSpPr txBox="1">
            <a:spLocks noChangeArrowheads="1"/>
          </p:cNvSpPr>
          <p:nvPr/>
        </p:nvSpPr>
        <p:spPr bwMode="auto">
          <a:xfrm>
            <a:off x="6611938" y="1041401"/>
            <a:ext cx="3476336" cy="646331"/>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Augmentation path: &lt;D, K, M, B, S&gt;</a:t>
            </a:r>
          </a:p>
          <a:p>
            <a:r>
              <a:rPr lang="en-US" altLang="en-US"/>
              <a:t>Max flow: 10</a:t>
            </a:r>
          </a:p>
        </p:txBody>
      </p:sp>
      <p:sp>
        <p:nvSpPr>
          <p:cNvPr id="112777" name="AutoShape 137">
            <a:extLst>
              <a:ext uri="{FF2B5EF4-FFF2-40B4-BE49-F238E27FC236}">
                <a16:creationId xmlns:a16="http://schemas.microsoft.com/office/drawing/2014/main" id="{0E048B0F-A26F-B2BD-713D-1CC0389BAB81}"/>
              </a:ext>
            </a:extLst>
          </p:cNvPr>
          <p:cNvSpPr>
            <a:spLocks noChangeArrowheads="1"/>
          </p:cNvSpPr>
          <p:nvPr/>
        </p:nvSpPr>
        <p:spPr bwMode="auto">
          <a:xfrm flipV="1">
            <a:off x="7356476" y="2135188"/>
            <a:ext cx="1135063" cy="844550"/>
          </a:xfrm>
          <a:custGeom>
            <a:avLst/>
            <a:gdLst>
              <a:gd name="G0" fmla="+- 7200 0 0"/>
              <a:gd name="G1" fmla="+- 18488 0 0"/>
              <a:gd name="G2" fmla="+- 6699 0 0"/>
              <a:gd name="G3" fmla="*/ 7200 1 2"/>
              <a:gd name="G4" fmla="+- G3 10800 0"/>
              <a:gd name="G5" fmla="+- 21600 7200 18488"/>
              <a:gd name="G6" fmla="+- 18488 6699 0"/>
              <a:gd name="G7" fmla="*/ G6 1 2"/>
              <a:gd name="G8" fmla="*/ 18488 2 1"/>
              <a:gd name="G9" fmla="+- G8 0 21600"/>
              <a:gd name="G10" fmla="*/ 21600 G0 G1"/>
              <a:gd name="G11" fmla="*/ 21600 G4 G1"/>
              <a:gd name="G12" fmla="*/ 21600 G5 G1"/>
              <a:gd name="G13" fmla="*/ 21600 G7 G1"/>
              <a:gd name="G14" fmla="*/ 18488 1 2"/>
              <a:gd name="G15" fmla="+- G5 0 G4"/>
              <a:gd name="G16" fmla="+- G0 0 G4"/>
              <a:gd name="G17" fmla="*/ G2 G15 G16"/>
              <a:gd name="T0" fmla="*/ 14400 w 21600"/>
              <a:gd name="T1" fmla="*/ 0 h 21600"/>
              <a:gd name="T2" fmla="*/ 7200 w 21600"/>
              <a:gd name="T3" fmla="*/ 6699 h 21600"/>
              <a:gd name="T4" fmla="*/ 0 w 21600"/>
              <a:gd name="T5" fmla="*/ 16824 h 21600"/>
              <a:gd name="T6" fmla="*/ 9244 w 21600"/>
              <a:gd name="T7" fmla="*/ 21600 h 21600"/>
              <a:gd name="T8" fmla="*/ 18488 w 21600"/>
              <a:gd name="T9" fmla="*/ 14714 h 21600"/>
              <a:gd name="T10" fmla="*/ 21600 w 21600"/>
              <a:gd name="T11" fmla="*/ 6699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4400" y="0"/>
                </a:moveTo>
                <a:lnTo>
                  <a:pt x="7200" y="6699"/>
                </a:lnTo>
                <a:lnTo>
                  <a:pt x="10312" y="6699"/>
                </a:lnTo>
                <a:lnTo>
                  <a:pt x="10312" y="12048"/>
                </a:lnTo>
                <a:lnTo>
                  <a:pt x="0" y="12048"/>
                </a:lnTo>
                <a:lnTo>
                  <a:pt x="0" y="21600"/>
                </a:lnTo>
                <a:lnTo>
                  <a:pt x="18488" y="21600"/>
                </a:lnTo>
                <a:lnTo>
                  <a:pt x="18488" y="6699"/>
                </a:lnTo>
                <a:lnTo>
                  <a:pt x="21600" y="6699"/>
                </a:lnTo>
                <a:close/>
              </a:path>
            </a:pathLst>
          </a:cu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778" name="Text Box 138">
            <a:extLst>
              <a:ext uri="{FF2B5EF4-FFF2-40B4-BE49-F238E27FC236}">
                <a16:creationId xmlns:a16="http://schemas.microsoft.com/office/drawing/2014/main" id="{06B59315-6ED6-817F-A1D5-737C17DD9C7D}"/>
              </a:ext>
            </a:extLst>
          </p:cNvPr>
          <p:cNvSpPr txBox="1">
            <a:spLocks noChangeArrowheads="1"/>
          </p:cNvSpPr>
          <p:nvPr/>
        </p:nvSpPr>
        <p:spPr bwMode="auto">
          <a:xfrm>
            <a:off x="7296150" y="3021014"/>
            <a:ext cx="2715936" cy="646331"/>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Current total flow: 6+2+10 </a:t>
            </a:r>
          </a:p>
          <a:p>
            <a:r>
              <a:rPr lang="en-US" altLang="en-US"/>
              <a:t>Residual network</a:t>
            </a:r>
          </a:p>
        </p:txBody>
      </p:sp>
      <p:sp>
        <p:nvSpPr>
          <p:cNvPr id="112779" name="Line 139">
            <a:extLst>
              <a:ext uri="{FF2B5EF4-FFF2-40B4-BE49-F238E27FC236}">
                <a16:creationId xmlns:a16="http://schemas.microsoft.com/office/drawing/2014/main" id="{94979461-8A06-3525-9094-D283CD62ABD3}"/>
              </a:ext>
            </a:extLst>
          </p:cNvPr>
          <p:cNvSpPr>
            <a:spLocks noChangeShapeType="1"/>
          </p:cNvSpPr>
          <p:nvPr/>
        </p:nvSpPr>
        <p:spPr bwMode="auto">
          <a:xfrm flipH="1">
            <a:off x="5400675" y="1819275"/>
            <a:ext cx="914400" cy="685800"/>
          </a:xfrm>
          <a:prstGeom prst="line">
            <a:avLst/>
          </a:prstGeom>
          <a:noFill/>
          <a:ln w="38100" cmpd="dbl">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12780" name="Line 140">
            <a:extLst>
              <a:ext uri="{FF2B5EF4-FFF2-40B4-BE49-F238E27FC236}">
                <a16:creationId xmlns:a16="http://schemas.microsoft.com/office/drawing/2014/main" id="{F3063066-295C-38E0-FFA7-30CC0CDC63EA}"/>
              </a:ext>
            </a:extLst>
          </p:cNvPr>
          <p:cNvSpPr>
            <a:spLocks noChangeShapeType="1"/>
          </p:cNvSpPr>
          <p:nvPr/>
        </p:nvSpPr>
        <p:spPr bwMode="auto">
          <a:xfrm flipH="1" flipV="1">
            <a:off x="4962525" y="1311275"/>
            <a:ext cx="279400" cy="1282700"/>
          </a:xfrm>
          <a:prstGeom prst="line">
            <a:avLst/>
          </a:prstGeom>
          <a:noFill/>
          <a:ln w="38100" cmpd="dbl">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12781" name="Line 141">
            <a:extLst>
              <a:ext uri="{FF2B5EF4-FFF2-40B4-BE49-F238E27FC236}">
                <a16:creationId xmlns:a16="http://schemas.microsoft.com/office/drawing/2014/main" id="{E36B91C5-776D-2E1B-C874-6BC8509C42E9}"/>
              </a:ext>
            </a:extLst>
          </p:cNvPr>
          <p:cNvSpPr>
            <a:spLocks noChangeShapeType="1"/>
          </p:cNvSpPr>
          <p:nvPr/>
        </p:nvSpPr>
        <p:spPr bwMode="auto">
          <a:xfrm flipH="1">
            <a:off x="3094038" y="1222375"/>
            <a:ext cx="1789112" cy="139700"/>
          </a:xfrm>
          <a:prstGeom prst="line">
            <a:avLst/>
          </a:prstGeom>
          <a:noFill/>
          <a:ln w="38100" cmpd="dbl">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112782" name="Line 142">
            <a:extLst>
              <a:ext uri="{FF2B5EF4-FFF2-40B4-BE49-F238E27FC236}">
                <a16:creationId xmlns:a16="http://schemas.microsoft.com/office/drawing/2014/main" id="{E6AF6A3C-BB82-4579-4D6C-B741C91A5649}"/>
              </a:ext>
            </a:extLst>
          </p:cNvPr>
          <p:cNvSpPr>
            <a:spLocks noChangeShapeType="1"/>
          </p:cNvSpPr>
          <p:nvPr/>
        </p:nvSpPr>
        <p:spPr bwMode="auto">
          <a:xfrm flipH="1">
            <a:off x="2041525" y="1431925"/>
            <a:ext cx="793750" cy="833438"/>
          </a:xfrm>
          <a:prstGeom prst="line">
            <a:avLst/>
          </a:prstGeom>
          <a:noFill/>
          <a:ln w="38100" cmpd="dbl">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ext Box 2">
            <a:extLst>
              <a:ext uri="{FF2B5EF4-FFF2-40B4-BE49-F238E27FC236}">
                <a16:creationId xmlns:a16="http://schemas.microsoft.com/office/drawing/2014/main" id="{6A4333A7-AAA9-0D74-1F98-11DF97564B08}"/>
              </a:ext>
            </a:extLst>
          </p:cNvPr>
          <p:cNvSpPr txBox="1">
            <a:spLocks noChangeArrowheads="1"/>
          </p:cNvSpPr>
          <p:nvPr/>
        </p:nvSpPr>
        <p:spPr bwMode="auto">
          <a:xfrm>
            <a:off x="2170113" y="366714"/>
            <a:ext cx="374974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dirty="0">
                <a:latin typeface="Times New Roman" panose="02020603050405020304" pitchFamily="18" charset="0"/>
                <a:cs typeface="Times New Roman" panose="02020603050405020304" pitchFamily="18" charset="0"/>
              </a:rPr>
              <a:t>Ford-Fulkerson Method……</a:t>
            </a:r>
          </a:p>
        </p:txBody>
      </p:sp>
      <p:grpSp>
        <p:nvGrpSpPr>
          <p:cNvPr id="115831" name="Group 119">
            <a:extLst>
              <a:ext uri="{FF2B5EF4-FFF2-40B4-BE49-F238E27FC236}">
                <a16:creationId xmlns:a16="http://schemas.microsoft.com/office/drawing/2014/main" id="{920DF495-B394-2190-FA04-427151CE6C9B}"/>
              </a:ext>
            </a:extLst>
          </p:cNvPr>
          <p:cNvGrpSpPr>
            <a:grpSpLocks/>
          </p:cNvGrpSpPr>
          <p:nvPr/>
        </p:nvGrpSpPr>
        <p:grpSpPr bwMode="auto">
          <a:xfrm>
            <a:off x="1851025" y="1063625"/>
            <a:ext cx="4445000" cy="2144220"/>
            <a:chOff x="206" y="670"/>
            <a:chExt cx="3514" cy="1599"/>
          </a:xfrm>
        </p:grpSpPr>
        <p:sp>
          <p:nvSpPr>
            <p:cNvPr id="115715" name="Freeform 3">
              <a:extLst>
                <a:ext uri="{FF2B5EF4-FFF2-40B4-BE49-F238E27FC236}">
                  <a16:creationId xmlns:a16="http://schemas.microsoft.com/office/drawing/2014/main" id="{C9075324-2B55-E080-E0FD-BF75A383E4F6}"/>
                </a:ext>
              </a:extLst>
            </p:cNvPr>
            <p:cNvSpPr>
              <a:spLocks noEditPoints="1"/>
            </p:cNvSpPr>
            <p:nvPr/>
          </p:nvSpPr>
          <p:spPr bwMode="auto">
            <a:xfrm>
              <a:off x="2627" y="822"/>
              <a:ext cx="928" cy="337"/>
            </a:xfrm>
            <a:custGeom>
              <a:avLst/>
              <a:gdLst>
                <a:gd name="T0" fmla="*/ 921 w 928"/>
                <a:gd name="T1" fmla="*/ 337 h 337"/>
                <a:gd name="T2" fmla="*/ 60 w 928"/>
                <a:gd name="T3" fmla="*/ 35 h 337"/>
                <a:gd name="T4" fmla="*/ 58 w 928"/>
                <a:gd name="T5" fmla="*/ 35 h 337"/>
                <a:gd name="T6" fmla="*/ 56 w 928"/>
                <a:gd name="T7" fmla="*/ 33 h 337"/>
                <a:gd name="T8" fmla="*/ 56 w 928"/>
                <a:gd name="T9" fmla="*/ 32 h 337"/>
                <a:gd name="T10" fmla="*/ 56 w 928"/>
                <a:gd name="T11" fmla="*/ 29 h 337"/>
                <a:gd name="T12" fmla="*/ 56 w 928"/>
                <a:gd name="T13" fmla="*/ 27 h 337"/>
                <a:gd name="T14" fmla="*/ 58 w 928"/>
                <a:gd name="T15" fmla="*/ 27 h 337"/>
                <a:gd name="T16" fmla="*/ 60 w 928"/>
                <a:gd name="T17" fmla="*/ 26 h 337"/>
                <a:gd name="T18" fmla="*/ 63 w 928"/>
                <a:gd name="T19" fmla="*/ 27 h 337"/>
                <a:gd name="T20" fmla="*/ 924 w 928"/>
                <a:gd name="T21" fmla="*/ 328 h 337"/>
                <a:gd name="T22" fmla="*/ 926 w 928"/>
                <a:gd name="T23" fmla="*/ 329 h 337"/>
                <a:gd name="T24" fmla="*/ 926 w 928"/>
                <a:gd name="T25" fmla="*/ 331 h 337"/>
                <a:gd name="T26" fmla="*/ 928 w 928"/>
                <a:gd name="T27" fmla="*/ 332 h 337"/>
                <a:gd name="T28" fmla="*/ 928 w 928"/>
                <a:gd name="T29" fmla="*/ 334 h 337"/>
                <a:gd name="T30" fmla="*/ 926 w 928"/>
                <a:gd name="T31" fmla="*/ 335 h 337"/>
                <a:gd name="T32" fmla="*/ 924 w 928"/>
                <a:gd name="T33" fmla="*/ 337 h 337"/>
                <a:gd name="T34" fmla="*/ 923 w 928"/>
                <a:gd name="T35" fmla="*/ 337 h 337"/>
                <a:gd name="T36" fmla="*/ 921 w 928"/>
                <a:gd name="T37" fmla="*/ 337 h 337"/>
                <a:gd name="T38" fmla="*/ 921 w 928"/>
                <a:gd name="T39" fmla="*/ 337 h 337"/>
                <a:gd name="T40" fmla="*/ 60 w 928"/>
                <a:gd name="T41" fmla="*/ 71 h 337"/>
                <a:gd name="T42" fmla="*/ 0 w 928"/>
                <a:gd name="T43" fmla="*/ 10 h 337"/>
                <a:gd name="T44" fmla="*/ 85 w 928"/>
                <a:gd name="T45" fmla="*/ 0 h 337"/>
                <a:gd name="T46" fmla="*/ 60 w 928"/>
                <a:gd name="T47" fmla="*/ 71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28" h="337">
                  <a:moveTo>
                    <a:pt x="921" y="337"/>
                  </a:moveTo>
                  <a:lnTo>
                    <a:pt x="60" y="35"/>
                  </a:lnTo>
                  <a:lnTo>
                    <a:pt x="58" y="35"/>
                  </a:lnTo>
                  <a:lnTo>
                    <a:pt x="56" y="33"/>
                  </a:lnTo>
                  <a:lnTo>
                    <a:pt x="56" y="32"/>
                  </a:lnTo>
                  <a:lnTo>
                    <a:pt x="56" y="29"/>
                  </a:lnTo>
                  <a:lnTo>
                    <a:pt x="56" y="27"/>
                  </a:lnTo>
                  <a:lnTo>
                    <a:pt x="58" y="27"/>
                  </a:lnTo>
                  <a:lnTo>
                    <a:pt x="60" y="26"/>
                  </a:lnTo>
                  <a:lnTo>
                    <a:pt x="63" y="27"/>
                  </a:lnTo>
                  <a:lnTo>
                    <a:pt x="924" y="328"/>
                  </a:lnTo>
                  <a:lnTo>
                    <a:pt x="926" y="329"/>
                  </a:lnTo>
                  <a:lnTo>
                    <a:pt x="926" y="331"/>
                  </a:lnTo>
                  <a:lnTo>
                    <a:pt x="928" y="332"/>
                  </a:lnTo>
                  <a:lnTo>
                    <a:pt x="928" y="334"/>
                  </a:lnTo>
                  <a:lnTo>
                    <a:pt x="926" y="335"/>
                  </a:lnTo>
                  <a:lnTo>
                    <a:pt x="924" y="337"/>
                  </a:lnTo>
                  <a:lnTo>
                    <a:pt x="923" y="337"/>
                  </a:lnTo>
                  <a:lnTo>
                    <a:pt x="921" y="337"/>
                  </a:lnTo>
                  <a:lnTo>
                    <a:pt x="921" y="337"/>
                  </a:lnTo>
                  <a:close/>
                  <a:moveTo>
                    <a:pt x="60" y="71"/>
                  </a:moveTo>
                  <a:lnTo>
                    <a:pt x="0" y="10"/>
                  </a:lnTo>
                  <a:lnTo>
                    <a:pt x="85" y="0"/>
                  </a:lnTo>
                  <a:lnTo>
                    <a:pt x="60" y="71"/>
                  </a:lnTo>
                  <a:close/>
                </a:path>
              </a:pathLst>
            </a:custGeom>
            <a:solidFill>
              <a:srgbClr val="000000"/>
            </a:solidFill>
            <a:ln w="3175">
              <a:solidFill>
                <a:srgbClr val="000000"/>
              </a:solidFill>
              <a:prstDash val="solid"/>
              <a:round/>
              <a:headEnd/>
              <a:tailEnd/>
            </a:ln>
          </p:spPr>
          <p:txBody>
            <a:bodyPr/>
            <a:lstStyle/>
            <a:p>
              <a:endParaRPr lang="en-IN"/>
            </a:p>
          </p:txBody>
        </p:sp>
        <p:sp>
          <p:nvSpPr>
            <p:cNvPr id="115716" name="Freeform 4">
              <a:extLst>
                <a:ext uri="{FF2B5EF4-FFF2-40B4-BE49-F238E27FC236}">
                  <a16:creationId xmlns:a16="http://schemas.microsoft.com/office/drawing/2014/main" id="{B2B17F16-8CC9-7A13-83D8-2A4C2F4ABBB9}"/>
                </a:ext>
              </a:extLst>
            </p:cNvPr>
            <p:cNvSpPr>
              <a:spLocks noEditPoints="1"/>
            </p:cNvSpPr>
            <p:nvPr/>
          </p:nvSpPr>
          <p:spPr bwMode="auto">
            <a:xfrm>
              <a:off x="2855" y="1207"/>
              <a:ext cx="718" cy="508"/>
            </a:xfrm>
            <a:custGeom>
              <a:avLst/>
              <a:gdLst>
                <a:gd name="T0" fmla="*/ 716 w 718"/>
                <a:gd name="T1" fmla="*/ 8 h 508"/>
                <a:gd name="T2" fmla="*/ 55 w 718"/>
                <a:gd name="T3" fmla="*/ 474 h 508"/>
                <a:gd name="T4" fmla="*/ 53 w 718"/>
                <a:gd name="T5" fmla="*/ 476 h 508"/>
                <a:gd name="T6" fmla="*/ 52 w 718"/>
                <a:gd name="T7" fmla="*/ 476 h 508"/>
                <a:gd name="T8" fmla="*/ 50 w 718"/>
                <a:gd name="T9" fmla="*/ 474 h 508"/>
                <a:gd name="T10" fmla="*/ 49 w 718"/>
                <a:gd name="T11" fmla="*/ 474 h 508"/>
                <a:gd name="T12" fmla="*/ 47 w 718"/>
                <a:gd name="T13" fmla="*/ 471 h 508"/>
                <a:gd name="T14" fmla="*/ 47 w 718"/>
                <a:gd name="T15" fmla="*/ 470 h 508"/>
                <a:gd name="T16" fmla="*/ 49 w 718"/>
                <a:gd name="T17" fmla="*/ 468 h 508"/>
                <a:gd name="T18" fmla="*/ 50 w 718"/>
                <a:gd name="T19" fmla="*/ 467 h 508"/>
                <a:gd name="T20" fmla="*/ 710 w 718"/>
                <a:gd name="T21" fmla="*/ 0 h 508"/>
                <a:gd name="T22" fmla="*/ 712 w 718"/>
                <a:gd name="T23" fmla="*/ 0 h 508"/>
                <a:gd name="T24" fmla="*/ 715 w 718"/>
                <a:gd name="T25" fmla="*/ 0 h 508"/>
                <a:gd name="T26" fmla="*/ 716 w 718"/>
                <a:gd name="T27" fmla="*/ 0 h 508"/>
                <a:gd name="T28" fmla="*/ 718 w 718"/>
                <a:gd name="T29" fmla="*/ 2 h 508"/>
                <a:gd name="T30" fmla="*/ 718 w 718"/>
                <a:gd name="T31" fmla="*/ 4 h 508"/>
                <a:gd name="T32" fmla="*/ 718 w 718"/>
                <a:gd name="T33" fmla="*/ 5 h 508"/>
                <a:gd name="T34" fmla="*/ 718 w 718"/>
                <a:gd name="T35" fmla="*/ 7 h 508"/>
                <a:gd name="T36" fmla="*/ 716 w 718"/>
                <a:gd name="T37" fmla="*/ 8 h 508"/>
                <a:gd name="T38" fmla="*/ 716 w 718"/>
                <a:gd name="T39" fmla="*/ 8 h 508"/>
                <a:gd name="T40" fmla="*/ 85 w 718"/>
                <a:gd name="T41" fmla="*/ 495 h 508"/>
                <a:gd name="T42" fmla="*/ 0 w 718"/>
                <a:gd name="T43" fmla="*/ 508 h 508"/>
                <a:gd name="T44" fmla="*/ 41 w 718"/>
                <a:gd name="T45" fmla="*/ 433 h 508"/>
                <a:gd name="T46" fmla="*/ 85 w 718"/>
                <a:gd name="T47" fmla="*/ 495 h 5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18" h="508">
                  <a:moveTo>
                    <a:pt x="716" y="8"/>
                  </a:moveTo>
                  <a:lnTo>
                    <a:pt x="55" y="474"/>
                  </a:lnTo>
                  <a:lnTo>
                    <a:pt x="53" y="476"/>
                  </a:lnTo>
                  <a:lnTo>
                    <a:pt x="52" y="476"/>
                  </a:lnTo>
                  <a:lnTo>
                    <a:pt x="50" y="474"/>
                  </a:lnTo>
                  <a:lnTo>
                    <a:pt x="49" y="474"/>
                  </a:lnTo>
                  <a:lnTo>
                    <a:pt x="47" y="471"/>
                  </a:lnTo>
                  <a:lnTo>
                    <a:pt x="47" y="470"/>
                  </a:lnTo>
                  <a:lnTo>
                    <a:pt x="49" y="468"/>
                  </a:lnTo>
                  <a:lnTo>
                    <a:pt x="50" y="467"/>
                  </a:lnTo>
                  <a:lnTo>
                    <a:pt x="710" y="0"/>
                  </a:lnTo>
                  <a:lnTo>
                    <a:pt x="712" y="0"/>
                  </a:lnTo>
                  <a:lnTo>
                    <a:pt x="715" y="0"/>
                  </a:lnTo>
                  <a:lnTo>
                    <a:pt x="716" y="0"/>
                  </a:lnTo>
                  <a:lnTo>
                    <a:pt x="718" y="2"/>
                  </a:lnTo>
                  <a:lnTo>
                    <a:pt x="718" y="4"/>
                  </a:lnTo>
                  <a:lnTo>
                    <a:pt x="718" y="5"/>
                  </a:lnTo>
                  <a:lnTo>
                    <a:pt x="718" y="7"/>
                  </a:lnTo>
                  <a:lnTo>
                    <a:pt x="716" y="8"/>
                  </a:lnTo>
                  <a:lnTo>
                    <a:pt x="716" y="8"/>
                  </a:lnTo>
                  <a:close/>
                  <a:moveTo>
                    <a:pt x="85" y="495"/>
                  </a:moveTo>
                  <a:lnTo>
                    <a:pt x="0" y="508"/>
                  </a:lnTo>
                  <a:lnTo>
                    <a:pt x="41" y="433"/>
                  </a:lnTo>
                  <a:lnTo>
                    <a:pt x="85" y="495"/>
                  </a:lnTo>
                  <a:close/>
                </a:path>
              </a:pathLst>
            </a:custGeom>
            <a:solidFill>
              <a:srgbClr val="000000"/>
            </a:solidFill>
            <a:ln w="3175">
              <a:solidFill>
                <a:srgbClr val="000000"/>
              </a:solidFill>
              <a:prstDash val="solid"/>
              <a:round/>
              <a:headEnd/>
              <a:tailEnd/>
            </a:ln>
          </p:spPr>
          <p:txBody>
            <a:bodyPr/>
            <a:lstStyle/>
            <a:p>
              <a:endParaRPr lang="en-IN"/>
            </a:p>
          </p:txBody>
        </p:sp>
        <p:sp>
          <p:nvSpPr>
            <p:cNvPr id="115717" name="Freeform 5">
              <a:extLst>
                <a:ext uri="{FF2B5EF4-FFF2-40B4-BE49-F238E27FC236}">
                  <a16:creationId xmlns:a16="http://schemas.microsoft.com/office/drawing/2014/main" id="{F299A39D-C3AE-72E4-9E56-F4DC39A54425}"/>
                </a:ext>
              </a:extLst>
            </p:cNvPr>
            <p:cNvSpPr>
              <a:spLocks noEditPoints="1"/>
            </p:cNvSpPr>
            <p:nvPr/>
          </p:nvSpPr>
          <p:spPr bwMode="auto">
            <a:xfrm>
              <a:off x="2544" y="851"/>
              <a:ext cx="241" cy="877"/>
            </a:xfrm>
            <a:custGeom>
              <a:avLst/>
              <a:gdLst>
                <a:gd name="T0" fmla="*/ 231 w 241"/>
                <a:gd name="T1" fmla="*/ 874 h 877"/>
                <a:gd name="T2" fmla="*/ 28 w 241"/>
                <a:gd name="T3" fmla="*/ 62 h 877"/>
                <a:gd name="T4" fmla="*/ 28 w 241"/>
                <a:gd name="T5" fmla="*/ 60 h 877"/>
                <a:gd name="T6" fmla="*/ 28 w 241"/>
                <a:gd name="T7" fmla="*/ 59 h 877"/>
                <a:gd name="T8" fmla="*/ 30 w 241"/>
                <a:gd name="T9" fmla="*/ 57 h 877"/>
                <a:gd name="T10" fmla="*/ 32 w 241"/>
                <a:gd name="T11" fmla="*/ 57 h 877"/>
                <a:gd name="T12" fmla="*/ 33 w 241"/>
                <a:gd name="T13" fmla="*/ 56 h 877"/>
                <a:gd name="T14" fmla="*/ 35 w 241"/>
                <a:gd name="T15" fmla="*/ 57 h 877"/>
                <a:gd name="T16" fmla="*/ 36 w 241"/>
                <a:gd name="T17" fmla="*/ 59 h 877"/>
                <a:gd name="T18" fmla="*/ 38 w 241"/>
                <a:gd name="T19" fmla="*/ 60 h 877"/>
                <a:gd name="T20" fmla="*/ 241 w 241"/>
                <a:gd name="T21" fmla="*/ 871 h 877"/>
                <a:gd name="T22" fmla="*/ 240 w 241"/>
                <a:gd name="T23" fmla="*/ 874 h 877"/>
                <a:gd name="T24" fmla="*/ 240 w 241"/>
                <a:gd name="T25" fmla="*/ 876 h 877"/>
                <a:gd name="T26" fmla="*/ 238 w 241"/>
                <a:gd name="T27" fmla="*/ 877 h 877"/>
                <a:gd name="T28" fmla="*/ 237 w 241"/>
                <a:gd name="T29" fmla="*/ 877 h 877"/>
                <a:gd name="T30" fmla="*/ 235 w 241"/>
                <a:gd name="T31" fmla="*/ 877 h 877"/>
                <a:gd name="T32" fmla="*/ 234 w 241"/>
                <a:gd name="T33" fmla="*/ 877 h 877"/>
                <a:gd name="T34" fmla="*/ 232 w 241"/>
                <a:gd name="T35" fmla="*/ 876 h 877"/>
                <a:gd name="T36" fmla="*/ 231 w 241"/>
                <a:gd name="T37" fmla="*/ 874 h 877"/>
                <a:gd name="T38" fmla="*/ 231 w 241"/>
                <a:gd name="T39" fmla="*/ 874 h 877"/>
                <a:gd name="T40" fmla="*/ 0 w 241"/>
                <a:gd name="T41" fmla="*/ 83 h 877"/>
                <a:gd name="T42" fmla="*/ 18 w 241"/>
                <a:gd name="T43" fmla="*/ 0 h 877"/>
                <a:gd name="T44" fmla="*/ 73 w 241"/>
                <a:gd name="T45" fmla="*/ 65 h 877"/>
                <a:gd name="T46" fmla="*/ 0 w 241"/>
                <a:gd name="T47" fmla="*/ 83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1" h="877">
                  <a:moveTo>
                    <a:pt x="231" y="874"/>
                  </a:moveTo>
                  <a:lnTo>
                    <a:pt x="28" y="62"/>
                  </a:lnTo>
                  <a:lnTo>
                    <a:pt x="28" y="60"/>
                  </a:lnTo>
                  <a:lnTo>
                    <a:pt x="28" y="59"/>
                  </a:lnTo>
                  <a:lnTo>
                    <a:pt x="30" y="57"/>
                  </a:lnTo>
                  <a:lnTo>
                    <a:pt x="32" y="57"/>
                  </a:lnTo>
                  <a:lnTo>
                    <a:pt x="33" y="56"/>
                  </a:lnTo>
                  <a:lnTo>
                    <a:pt x="35" y="57"/>
                  </a:lnTo>
                  <a:lnTo>
                    <a:pt x="36" y="59"/>
                  </a:lnTo>
                  <a:lnTo>
                    <a:pt x="38" y="60"/>
                  </a:lnTo>
                  <a:lnTo>
                    <a:pt x="241" y="871"/>
                  </a:lnTo>
                  <a:lnTo>
                    <a:pt x="240" y="874"/>
                  </a:lnTo>
                  <a:lnTo>
                    <a:pt x="240" y="876"/>
                  </a:lnTo>
                  <a:lnTo>
                    <a:pt x="238" y="877"/>
                  </a:lnTo>
                  <a:lnTo>
                    <a:pt x="237" y="877"/>
                  </a:lnTo>
                  <a:lnTo>
                    <a:pt x="235" y="877"/>
                  </a:lnTo>
                  <a:lnTo>
                    <a:pt x="234" y="877"/>
                  </a:lnTo>
                  <a:lnTo>
                    <a:pt x="232" y="876"/>
                  </a:lnTo>
                  <a:lnTo>
                    <a:pt x="231" y="874"/>
                  </a:lnTo>
                  <a:lnTo>
                    <a:pt x="231" y="874"/>
                  </a:lnTo>
                  <a:close/>
                  <a:moveTo>
                    <a:pt x="0" y="83"/>
                  </a:moveTo>
                  <a:lnTo>
                    <a:pt x="18" y="0"/>
                  </a:lnTo>
                  <a:lnTo>
                    <a:pt x="73" y="65"/>
                  </a:lnTo>
                  <a:lnTo>
                    <a:pt x="0" y="83"/>
                  </a:lnTo>
                  <a:close/>
                </a:path>
              </a:pathLst>
            </a:custGeom>
            <a:solidFill>
              <a:srgbClr val="000000"/>
            </a:solidFill>
            <a:ln w="3175">
              <a:solidFill>
                <a:srgbClr val="000000"/>
              </a:solidFill>
              <a:prstDash val="solid"/>
              <a:round/>
              <a:headEnd/>
              <a:tailEnd/>
            </a:ln>
          </p:spPr>
          <p:txBody>
            <a:bodyPr/>
            <a:lstStyle/>
            <a:p>
              <a:endParaRPr lang="en-IN"/>
            </a:p>
          </p:txBody>
        </p:sp>
        <p:sp>
          <p:nvSpPr>
            <p:cNvPr id="115718" name="Freeform 6">
              <a:extLst>
                <a:ext uri="{FF2B5EF4-FFF2-40B4-BE49-F238E27FC236}">
                  <a16:creationId xmlns:a16="http://schemas.microsoft.com/office/drawing/2014/main" id="{F7D8077E-EC6C-43D5-1FED-0E607DE2DCEF}"/>
                </a:ext>
              </a:extLst>
            </p:cNvPr>
            <p:cNvSpPr>
              <a:spLocks noEditPoints="1"/>
            </p:cNvSpPr>
            <p:nvPr/>
          </p:nvSpPr>
          <p:spPr bwMode="auto">
            <a:xfrm>
              <a:off x="2623" y="855"/>
              <a:ext cx="223" cy="831"/>
            </a:xfrm>
            <a:custGeom>
              <a:avLst/>
              <a:gdLst>
                <a:gd name="T0" fmla="*/ 10 w 223"/>
                <a:gd name="T1" fmla="*/ 5 h 831"/>
                <a:gd name="T2" fmla="*/ 194 w 223"/>
                <a:gd name="T3" fmla="*/ 768 h 831"/>
                <a:gd name="T4" fmla="*/ 194 w 223"/>
                <a:gd name="T5" fmla="*/ 770 h 831"/>
                <a:gd name="T6" fmla="*/ 194 w 223"/>
                <a:gd name="T7" fmla="*/ 771 h 831"/>
                <a:gd name="T8" fmla="*/ 193 w 223"/>
                <a:gd name="T9" fmla="*/ 773 h 831"/>
                <a:gd name="T10" fmla="*/ 191 w 223"/>
                <a:gd name="T11" fmla="*/ 775 h 831"/>
                <a:gd name="T12" fmla="*/ 188 w 223"/>
                <a:gd name="T13" fmla="*/ 775 h 831"/>
                <a:gd name="T14" fmla="*/ 187 w 223"/>
                <a:gd name="T15" fmla="*/ 773 h 831"/>
                <a:gd name="T16" fmla="*/ 185 w 223"/>
                <a:gd name="T17" fmla="*/ 771 h 831"/>
                <a:gd name="T18" fmla="*/ 185 w 223"/>
                <a:gd name="T19" fmla="*/ 770 h 831"/>
                <a:gd name="T20" fmla="*/ 0 w 223"/>
                <a:gd name="T21" fmla="*/ 6 h 831"/>
                <a:gd name="T22" fmla="*/ 0 w 223"/>
                <a:gd name="T23" fmla="*/ 5 h 831"/>
                <a:gd name="T24" fmla="*/ 1 w 223"/>
                <a:gd name="T25" fmla="*/ 3 h 831"/>
                <a:gd name="T26" fmla="*/ 3 w 223"/>
                <a:gd name="T27" fmla="*/ 2 h 831"/>
                <a:gd name="T28" fmla="*/ 4 w 223"/>
                <a:gd name="T29" fmla="*/ 0 h 831"/>
                <a:gd name="T30" fmla="*/ 6 w 223"/>
                <a:gd name="T31" fmla="*/ 0 h 831"/>
                <a:gd name="T32" fmla="*/ 7 w 223"/>
                <a:gd name="T33" fmla="*/ 2 h 831"/>
                <a:gd name="T34" fmla="*/ 9 w 223"/>
                <a:gd name="T35" fmla="*/ 3 h 831"/>
                <a:gd name="T36" fmla="*/ 10 w 223"/>
                <a:gd name="T37" fmla="*/ 5 h 831"/>
                <a:gd name="T38" fmla="*/ 10 w 223"/>
                <a:gd name="T39" fmla="*/ 5 h 831"/>
                <a:gd name="T40" fmla="*/ 223 w 223"/>
                <a:gd name="T41" fmla="*/ 749 h 831"/>
                <a:gd name="T42" fmla="*/ 205 w 223"/>
                <a:gd name="T43" fmla="*/ 831 h 831"/>
                <a:gd name="T44" fmla="*/ 150 w 223"/>
                <a:gd name="T45" fmla="*/ 767 h 831"/>
                <a:gd name="T46" fmla="*/ 223 w 223"/>
                <a:gd name="T47" fmla="*/ 749 h 8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23" h="831">
                  <a:moveTo>
                    <a:pt x="10" y="5"/>
                  </a:moveTo>
                  <a:lnTo>
                    <a:pt x="194" y="768"/>
                  </a:lnTo>
                  <a:lnTo>
                    <a:pt x="194" y="770"/>
                  </a:lnTo>
                  <a:lnTo>
                    <a:pt x="194" y="771"/>
                  </a:lnTo>
                  <a:lnTo>
                    <a:pt x="193" y="773"/>
                  </a:lnTo>
                  <a:lnTo>
                    <a:pt x="191" y="775"/>
                  </a:lnTo>
                  <a:lnTo>
                    <a:pt x="188" y="775"/>
                  </a:lnTo>
                  <a:lnTo>
                    <a:pt x="187" y="773"/>
                  </a:lnTo>
                  <a:lnTo>
                    <a:pt x="185" y="771"/>
                  </a:lnTo>
                  <a:lnTo>
                    <a:pt x="185" y="770"/>
                  </a:lnTo>
                  <a:lnTo>
                    <a:pt x="0" y="6"/>
                  </a:lnTo>
                  <a:lnTo>
                    <a:pt x="0" y="5"/>
                  </a:lnTo>
                  <a:lnTo>
                    <a:pt x="1" y="3"/>
                  </a:lnTo>
                  <a:lnTo>
                    <a:pt x="3" y="2"/>
                  </a:lnTo>
                  <a:lnTo>
                    <a:pt x="4" y="0"/>
                  </a:lnTo>
                  <a:lnTo>
                    <a:pt x="6" y="0"/>
                  </a:lnTo>
                  <a:lnTo>
                    <a:pt x="7" y="2"/>
                  </a:lnTo>
                  <a:lnTo>
                    <a:pt x="9" y="3"/>
                  </a:lnTo>
                  <a:lnTo>
                    <a:pt x="10" y="5"/>
                  </a:lnTo>
                  <a:lnTo>
                    <a:pt x="10" y="5"/>
                  </a:lnTo>
                  <a:close/>
                  <a:moveTo>
                    <a:pt x="223" y="749"/>
                  </a:moveTo>
                  <a:lnTo>
                    <a:pt x="205" y="831"/>
                  </a:lnTo>
                  <a:lnTo>
                    <a:pt x="150" y="767"/>
                  </a:lnTo>
                  <a:lnTo>
                    <a:pt x="223" y="749"/>
                  </a:lnTo>
                  <a:close/>
                </a:path>
              </a:pathLst>
            </a:custGeom>
            <a:solidFill>
              <a:srgbClr val="000000"/>
            </a:solidFill>
            <a:ln w="3175">
              <a:solidFill>
                <a:srgbClr val="000000"/>
              </a:solidFill>
              <a:prstDash val="solid"/>
              <a:round/>
              <a:headEnd/>
              <a:tailEnd/>
            </a:ln>
          </p:spPr>
          <p:txBody>
            <a:bodyPr/>
            <a:lstStyle/>
            <a:p>
              <a:endParaRPr lang="en-IN"/>
            </a:p>
          </p:txBody>
        </p:sp>
        <p:sp>
          <p:nvSpPr>
            <p:cNvPr id="115719" name="Freeform 7">
              <a:extLst>
                <a:ext uri="{FF2B5EF4-FFF2-40B4-BE49-F238E27FC236}">
                  <a16:creationId xmlns:a16="http://schemas.microsoft.com/office/drawing/2014/main" id="{5FFEEFD0-1305-53E7-E612-4F18C8AF47AA}"/>
                </a:ext>
              </a:extLst>
            </p:cNvPr>
            <p:cNvSpPr>
              <a:spLocks noEditPoints="1"/>
            </p:cNvSpPr>
            <p:nvPr/>
          </p:nvSpPr>
          <p:spPr bwMode="auto">
            <a:xfrm>
              <a:off x="1156" y="817"/>
              <a:ext cx="1363" cy="132"/>
            </a:xfrm>
            <a:custGeom>
              <a:avLst/>
              <a:gdLst>
                <a:gd name="T0" fmla="*/ 1359 w 1363"/>
                <a:gd name="T1" fmla="*/ 11 h 132"/>
                <a:gd name="T2" fmla="*/ 64 w 1363"/>
                <a:gd name="T3" fmla="*/ 100 h 132"/>
                <a:gd name="T4" fmla="*/ 60 w 1363"/>
                <a:gd name="T5" fmla="*/ 100 h 132"/>
                <a:gd name="T6" fmla="*/ 59 w 1363"/>
                <a:gd name="T7" fmla="*/ 99 h 132"/>
                <a:gd name="T8" fmla="*/ 57 w 1363"/>
                <a:gd name="T9" fmla="*/ 97 h 132"/>
                <a:gd name="T10" fmla="*/ 57 w 1363"/>
                <a:gd name="T11" fmla="*/ 96 h 132"/>
                <a:gd name="T12" fmla="*/ 57 w 1363"/>
                <a:gd name="T13" fmla="*/ 94 h 132"/>
                <a:gd name="T14" fmla="*/ 59 w 1363"/>
                <a:gd name="T15" fmla="*/ 93 h 132"/>
                <a:gd name="T16" fmla="*/ 60 w 1363"/>
                <a:gd name="T17" fmla="*/ 91 h 132"/>
                <a:gd name="T18" fmla="*/ 62 w 1363"/>
                <a:gd name="T19" fmla="*/ 91 h 132"/>
                <a:gd name="T20" fmla="*/ 1357 w 1363"/>
                <a:gd name="T21" fmla="*/ 0 h 132"/>
                <a:gd name="T22" fmla="*/ 1359 w 1363"/>
                <a:gd name="T23" fmla="*/ 0 h 132"/>
                <a:gd name="T24" fmla="*/ 1360 w 1363"/>
                <a:gd name="T25" fmla="*/ 2 h 132"/>
                <a:gd name="T26" fmla="*/ 1362 w 1363"/>
                <a:gd name="T27" fmla="*/ 3 h 132"/>
                <a:gd name="T28" fmla="*/ 1363 w 1363"/>
                <a:gd name="T29" fmla="*/ 5 h 132"/>
                <a:gd name="T30" fmla="*/ 1362 w 1363"/>
                <a:gd name="T31" fmla="*/ 6 h 132"/>
                <a:gd name="T32" fmla="*/ 1362 w 1363"/>
                <a:gd name="T33" fmla="*/ 8 h 132"/>
                <a:gd name="T34" fmla="*/ 1360 w 1363"/>
                <a:gd name="T35" fmla="*/ 9 h 132"/>
                <a:gd name="T36" fmla="*/ 1359 w 1363"/>
                <a:gd name="T37" fmla="*/ 11 h 132"/>
                <a:gd name="T38" fmla="*/ 1359 w 1363"/>
                <a:gd name="T39" fmla="*/ 11 h 132"/>
                <a:gd name="T40" fmla="*/ 77 w 1363"/>
                <a:gd name="T41" fmla="*/ 132 h 132"/>
                <a:gd name="T42" fmla="*/ 0 w 1363"/>
                <a:gd name="T43" fmla="*/ 100 h 132"/>
                <a:gd name="T44" fmla="*/ 73 w 1363"/>
                <a:gd name="T45" fmla="*/ 58 h 132"/>
                <a:gd name="T46" fmla="*/ 77 w 1363"/>
                <a:gd name="T47"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63" h="132">
                  <a:moveTo>
                    <a:pt x="1359" y="11"/>
                  </a:moveTo>
                  <a:lnTo>
                    <a:pt x="64" y="100"/>
                  </a:lnTo>
                  <a:lnTo>
                    <a:pt x="60" y="100"/>
                  </a:lnTo>
                  <a:lnTo>
                    <a:pt x="59" y="99"/>
                  </a:lnTo>
                  <a:lnTo>
                    <a:pt x="57" y="97"/>
                  </a:lnTo>
                  <a:lnTo>
                    <a:pt x="57" y="96"/>
                  </a:lnTo>
                  <a:lnTo>
                    <a:pt x="57" y="94"/>
                  </a:lnTo>
                  <a:lnTo>
                    <a:pt x="59" y="93"/>
                  </a:lnTo>
                  <a:lnTo>
                    <a:pt x="60" y="91"/>
                  </a:lnTo>
                  <a:lnTo>
                    <a:pt x="62" y="91"/>
                  </a:lnTo>
                  <a:lnTo>
                    <a:pt x="1357" y="0"/>
                  </a:lnTo>
                  <a:lnTo>
                    <a:pt x="1359" y="0"/>
                  </a:lnTo>
                  <a:lnTo>
                    <a:pt x="1360" y="2"/>
                  </a:lnTo>
                  <a:lnTo>
                    <a:pt x="1362" y="3"/>
                  </a:lnTo>
                  <a:lnTo>
                    <a:pt x="1363" y="5"/>
                  </a:lnTo>
                  <a:lnTo>
                    <a:pt x="1362" y="6"/>
                  </a:lnTo>
                  <a:lnTo>
                    <a:pt x="1362" y="8"/>
                  </a:lnTo>
                  <a:lnTo>
                    <a:pt x="1360" y="9"/>
                  </a:lnTo>
                  <a:lnTo>
                    <a:pt x="1359" y="11"/>
                  </a:lnTo>
                  <a:lnTo>
                    <a:pt x="1359" y="11"/>
                  </a:lnTo>
                  <a:close/>
                  <a:moveTo>
                    <a:pt x="77" y="132"/>
                  </a:moveTo>
                  <a:lnTo>
                    <a:pt x="0" y="100"/>
                  </a:lnTo>
                  <a:lnTo>
                    <a:pt x="73" y="58"/>
                  </a:lnTo>
                  <a:lnTo>
                    <a:pt x="77" y="132"/>
                  </a:lnTo>
                  <a:close/>
                </a:path>
              </a:pathLst>
            </a:custGeom>
            <a:solidFill>
              <a:srgbClr val="000000"/>
            </a:solidFill>
            <a:ln w="3175">
              <a:solidFill>
                <a:srgbClr val="000000"/>
              </a:solidFill>
              <a:prstDash val="solid"/>
              <a:round/>
              <a:headEnd/>
              <a:tailEnd/>
            </a:ln>
          </p:spPr>
          <p:txBody>
            <a:bodyPr/>
            <a:lstStyle/>
            <a:p>
              <a:endParaRPr lang="en-IN"/>
            </a:p>
          </p:txBody>
        </p:sp>
        <p:sp>
          <p:nvSpPr>
            <p:cNvPr id="115720" name="Freeform 8">
              <a:extLst>
                <a:ext uri="{FF2B5EF4-FFF2-40B4-BE49-F238E27FC236}">
                  <a16:creationId xmlns:a16="http://schemas.microsoft.com/office/drawing/2014/main" id="{34CAAF20-52F6-53BB-8933-75F4F80F5927}"/>
                </a:ext>
              </a:extLst>
            </p:cNvPr>
            <p:cNvSpPr>
              <a:spLocks noEditPoints="1"/>
            </p:cNvSpPr>
            <p:nvPr/>
          </p:nvSpPr>
          <p:spPr bwMode="auto">
            <a:xfrm>
              <a:off x="1122" y="931"/>
              <a:ext cx="1639" cy="831"/>
            </a:xfrm>
            <a:custGeom>
              <a:avLst/>
              <a:gdLst>
                <a:gd name="T0" fmla="*/ 6 w 1639"/>
                <a:gd name="T1" fmla="*/ 2 h 831"/>
                <a:gd name="T2" fmla="*/ 1584 w 1639"/>
                <a:gd name="T3" fmla="*/ 799 h 831"/>
                <a:gd name="T4" fmla="*/ 1586 w 1639"/>
                <a:gd name="T5" fmla="*/ 799 h 831"/>
                <a:gd name="T6" fmla="*/ 1587 w 1639"/>
                <a:gd name="T7" fmla="*/ 800 h 831"/>
                <a:gd name="T8" fmla="*/ 1587 w 1639"/>
                <a:gd name="T9" fmla="*/ 803 h 831"/>
                <a:gd name="T10" fmla="*/ 1587 w 1639"/>
                <a:gd name="T11" fmla="*/ 805 h 831"/>
                <a:gd name="T12" fmla="*/ 1586 w 1639"/>
                <a:gd name="T13" fmla="*/ 806 h 831"/>
                <a:gd name="T14" fmla="*/ 1584 w 1639"/>
                <a:gd name="T15" fmla="*/ 806 h 831"/>
                <a:gd name="T16" fmla="*/ 1581 w 1639"/>
                <a:gd name="T17" fmla="*/ 806 h 831"/>
                <a:gd name="T18" fmla="*/ 1580 w 1639"/>
                <a:gd name="T19" fmla="*/ 806 h 831"/>
                <a:gd name="T20" fmla="*/ 3 w 1639"/>
                <a:gd name="T21" fmla="*/ 9 h 831"/>
                <a:gd name="T22" fmla="*/ 2 w 1639"/>
                <a:gd name="T23" fmla="*/ 9 h 831"/>
                <a:gd name="T24" fmla="*/ 0 w 1639"/>
                <a:gd name="T25" fmla="*/ 6 h 831"/>
                <a:gd name="T26" fmla="*/ 0 w 1639"/>
                <a:gd name="T27" fmla="*/ 5 h 831"/>
                <a:gd name="T28" fmla="*/ 0 w 1639"/>
                <a:gd name="T29" fmla="*/ 3 h 831"/>
                <a:gd name="T30" fmla="*/ 2 w 1639"/>
                <a:gd name="T31" fmla="*/ 2 h 831"/>
                <a:gd name="T32" fmla="*/ 3 w 1639"/>
                <a:gd name="T33" fmla="*/ 0 h 831"/>
                <a:gd name="T34" fmla="*/ 5 w 1639"/>
                <a:gd name="T35" fmla="*/ 0 h 831"/>
                <a:gd name="T36" fmla="*/ 6 w 1639"/>
                <a:gd name="T37" fmla="*/ 2 h 831"/>
                <a:gd name="T38" fmla="*/ 6 w 1639"/>
                <a:gd name="T39" fmla="*/ 2 h 831"/>
                <a:gd name="T40" fmla="*/ 1589 w 1639"/>
                <a:gd name="T41" fmla="*/ 762 h 831"/>
                <a:gd name="T42" fmla="*/ 1639 w 1639"/>
                <a:gd name="T43" fmla="*/ 831 h 831"/>
                <a:gd name="T44" fmla="*/ 1554 w 1639"/>
                <a:gd name="T45" fmla="*/ 831 h 831"/>
                <a:gd name="T46" fmla="*/ 1589 w 1639"/>
                <a:gd name="T47" fmla="*/ 762 h 8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39" h="831">
                  <a:moveTo>
                    <a:pt x="6" y="2"/>
                  </a:moveTo>
                  <a:lnTo>
                    <a:pt x="1584" y="799"/>
                  </a:lnTo>
                  <a:lnTo>
                    <a:pt x="1586" y="799"/>
                  </a:lnTo>
                  <a:lnTo>
                    <a:pt x="1587" y="800"/>
                  </a:lnTo>
                  <a:lnTo>
                    <a:pt x="1587" y="803"/>
                  </a:lnTo>
                  <a:lnTo>
                    <a:pt x="1587" y="805"/>
                  </a:lnTo>
                  <a:lnTo>
                    <a:pt x="1586" y="806"/>
                  </a:lnTo>
                  <a:lnTo>
                    <a:pt x="1584" y="806"/>
                  </a:lnTo>
                  <a:lnTo>
                    <a:pt x="1581" y="806"/>
                  </a:lnTo>
                  <a:lnTo>
                    <a:pt x="1580" y="806"/>
                  </a:lnTo>
                  <a:lnTo>
                    <a:pt x="3" y="9"/>
                  </a:lnTo>
                  <a:lnTo>
                    <a:pt x="2" y="9"/>
                  </a:lnTo>
                  <a:lnTo>
                    <a:pt x="0" y="6"/>
                  </a:lnTo>
                  <a:lnTo>
                    <a:pt x="0" y="5"/>
                  </a:lnTo>
                  <a:lnTo>
                    <a:pt x="0" y="3"/>
                  </a:lnTo>
                  <a:lnTo>
                    <a:pt x="2" y="2"/>
                  </a:lnTo>
                  <a:lnTo>
                    <a:pt x="3" y="0"/>
                  </a:lnTo>
                  <a:lnTo>
                    <a:pt x="5" y="0"/>
                  </a:lnTo>
                  <a:lnTo>
                    <a:pt x="6" y="2"/>
                  </a:lnTo>
                  <a:lnTo>
                    <a:pt x="6" y="2"/>
                  </a:lnTo>
                  <a:close/>
                  <a:moveTo>
                    <a:pt x="1589" y="762"/>
                  </a:moveTo>
                  <a:lnTo>
                    <a:pt x="1639" y="831"/>
                  </a:lnTo>
                  <a:lnTo>
                    <a:pt x="1554" y="831"/>
                  </a:lnTo>
                  <a:lnTo>
                    <a:pt x="1589" y="762"/>
                  </a:lnTo>
                  <a:close/>
                </a:path>
              </a:pathLst>
            </a:custGeom>
            <a:solidFill>
              <a:srgbClr val="000000"/>
            </a:solidFill>
            <a:ln w="3175">
              <a:solidFill>
                <a:srgbClr val="000000"/>
              </a:solidFill>
              <a:prstDash val="solid"/>
              <a:round/>
              <a:headEnd/>
              <a:tailEnd/>
            </a:ln>
          </p:spPr>
          <p:txBody>
            <a:bodyPr/>
            <a:lstStyle/>
            <a:p>
              <a:endParaRPr lang="en-IN"/>
            </a:p>
          </p:txBody>
        </p:sp>
        <p:sp>
          <p:nvSpPr>
            <p:cNvPr id="115721" name="Freeform 9">
              <a:extLst>
                <a:ext uri="{FF2B5EF4-FFF2-40B4-BE49-F238E27FC236}">
                  <a16:creationId xmlns:a16="http://schemas.microsoft.com/office/drawing/2014/main" id="{6B5A2946-5E20-B55F-F47D-59390BCA26E9}"/>
                </a:ext>
              </a:extLst>
            </p:cNvPr>
            <p:cNvSpPr>
              <a:spLocks noEditPoints="1"/>
            </p:cNvSpPr>
            <p:nvPr/>
          </p:nvSpPr>
          <p:spPr bwMode="auto">
            <a:xfrm>
              <a:off x="1460" y="1795"/>
              <a:ext cx="1296" cy="310"/>
            </a:xfrm>
            <a:custGeom>
              <a:avLst/>
              <a:gdLst>
                <a:gd name="T0" fmla="*/ 1292 w 1296"/>
                <a:gd name="T1" fmla="*/ 9 h 310"/>
                <a:gd name="T2" fmla="*/ 62 w 1296"/>
                <a:gd name="T3" fmla="*/ 281 h 310"/>
                <a:gd name="T4" fmla="*/ 61 w 1296"/>
                <a:gd name="T5" fmla="*/ 281 h 310"/>
                <a:gd name="T6" fmla="*/ 59 w 1296"/>
                <a:gd name="T7" fmla="*/ 279 h 310"/>
                <a:gd name="T8" fmla="*/ 57 w 1296"/>
                <a:gd name="T9" fmla="*/ 278 h 310"/>
                <a:gd name="T10" fmla="*/ 56 w 1296"/>
                <a:gd name="T11" fmla="*/ 276 h 310"/>
                <a:gd name="T12" fmla="*/ 56 w 1296"/>
                <a:gd name="T13" fmla="*/ 275 h 310"/>
                <a:gd name="T14" fmla="*/ 57 w 1296"/>
                <a:gd name="T15" fmla="*/ 273 h 310"/>
                <a:gd name="T16" fmla="*/ 59 w 1296"/>
                <a:gd name="T17" fmla="*/ 272 h 310"/>
                <a:gd name="T18" fmla="*/ 61 w 1296"/>
                <a:gd name="T19" fmla="*/ 272 h 310"/>
                <a:gd name="T20" fmla="*/ 1290 w 1296"/>
                <a:gd name="T21" fmla="*/ 0 h 310"/>
                <a:gd name="T22" fmla="*/ 1292 w 1296"/>
                <a:gd name="T23" fmla="*/ 0 h 310"/>
                <a:gd name="T24" fmla="*/ 1293 w 1296"/>
                <a:gd name="T25" fmla="*/ 2 h 310"/>
                <a:gd name="T26" fmla="*/ 1295 w 1296"/>
                <a:gd name="T27" fmla="*/ 2 h 310"/>
                <a:gd name="T28" fmla="*/ 1296 w 1296"/>
                <a:gd name="T29" fmla="*/ 5 h 310"/>
                <a:gd name="T30" fmla="*/ 1296 w 1296"/>
                <a:gd name="T31" fmla="*/ 6 h 310"/>
                <a:gd name="T32" fmla="*/ 1295 w 1296"/>
                <a:gd name="T33" fmla="*/ 8 h 310"/>
                <a:gd name="T34" fmla="*/ 1293 w 1296"/>
                <a:gd name="T35" fmla="*/ 9 h 310"/>
                <a:gd name="T36" fmla="*/ 1292 w 1296"/>
                <a:gd name="T37" fmla="*/ 9 h 310"/>
                <a:gd name="T38" fmla="*/ 1292 w 1296"/>
                <a:gd name="T39" fmla="*/ 9 h 310"/>
                <a:gd name="T40" fmla="*/ 82 w 1296"/>
                <a:gd name="T41" fmla="*/ 310 h 310"/>
                <a:gd name="T42" fmla="*/ 0 w 1296"/>
                <a:gd name="T43" fmla="*/ 290 h 310"/>
                <a:gd name="T44" fmla="*/ 65 w 1296"/>
                <a:gd name="T45" fmla="*/ 237 h 310"/>
                <a:gd name="T46" fmla="*/ 82 w 1296"/>
                <a:gd name="T47" fmla="*/ 310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96" h="310">
                  <a:moveTo>
                    <a:pt x="1292" y="9"/>
                  </a:moveTo>
                  <a:lnTo>
                    <a:pt x="62" y="281"/>
                  </a:lnTo>
                  <a:lnTo>
                    <a:pt x="61" y="281"/>
                  </a:lnTo>
                  <a:lnTo>
                    <a:pt x="59" y="279"/>
                  </a:lnTo>
                  <a:lnTo>
                    <a:pt x="57" y="278"/>
                  </a:lnTo>
                  <a:lnTo>
                    <a:pt x="56" y="276"/>
                  </a:lnTo>
                  <a:lnTo>
                    <a:pt x="56" y="275"/>
                  </a:lnTo>
                  <a:lnTo>
                    <a:pt x="57" y="273"/>
                  </a:lnTo>
                  <a:lnTo>
                    <a:pt x="59" y="272"/>
                  </a:lnTo>
                  <a:lnTo>
                    <a:pt x="61" y="272"/>
                  </a:lnTo>
                  <a:lnTo>
                    <a:pt x="1290" y="0"/>
                  </a:lnTo>
                  <a:lnTo>
                    <a:pt x="1292" y="0"/>
                  </a:lnTo>
                  <a:lnTo>
                    <a:pt x="1293" y="2"/>
                  </a:lnTo>
                  <a:lnTo>
                    <a:pt x="1295" y="2"/>
                  </a:lnTo>
                  <a:lnTo>
                    <a:pt x="1296" y="5"/>
                  </a:lnTo>
                  <a:lnTo>
                    <a:pt x="1296" y="6"/>
                  </a:lnTo>
                  <a:lnTo>
                    <a:pt x="1295" y="8"/>
                  </a:lnTo>
                  <a:lnTo>
                    <a:pt x="1293" y="9"/>
                  </a:lnTo>
                  <a:lnTo>
                    <a:pt x="1292" y="9"/>
                  </a:lnTo>
                  <a:lnTo>
                    <a:pt x="1292" y="9"/>
                  </a:lnTo>
                  <a:close/>
                  <a:moveTo>
                    <a:pt x="82" y="310"/>
                  </a:moveTo>
                  <a:lnTo>
                    <a:pt x="0" y="290"/>
                  </a:lnTo>
                  <a:lnTo>
                    <a:pt x="65" y="237"/>
                  </a:lnTo>
                  <a:lnTo>
                    <a:pt x="82" y="310"/>
                  </a:lnTo>
                  <a:close/>
                </a:path>
              </a:pathLst>
            </a:custGeom>
            <a:solidFill>
              <a:srgbClr val="000000"/>
            </a:solidFill>
            <a:ln w="3175">
              <a:solidFill>
                <a:srgbClr val="000000"/>
              </a:solidFill>
              <a:prstDash val="solid"/>
              <a:round/>
              <a:headEnd/>
              <a:tailEnd/>
            </a:ln>
          </p:spPr>
          <p:txBody>
            <a:bodyPr/>
            <a:lstStyle/>
            <a:p>
              <a:endParaRPr lang="en-IN"/>
            </a:p>
          </p:txBody>
        </p:sp>
        <p:sp>
          <p:nvSpPr>
            <p:cNvPr id="115722" name="Freeform 10">
              <a:extLst>
                <a:ext uri="{FF2B5EF4-FFF2-40B4-BE49-F238E27FC236}">
                  <a16:creationId xmlns:a16="http://schemas.microsoft.com/office/drawing/2014/main" id="{CED7F337-8F30-6F46-C85D-32F98831F488}"/>
                </a:ext>
              </a:extLst>
            </p:cNvPr>
            <p:cNvSpPr>
              <a:spLocks noEditPoints="1"/>
            </p:cNvSpPr>
            <p:nvPr/>
          </p:nvSpPr>
          <p:spPr bwMode="auto">
            <a:xfrm>
              <a:off x="376" y="1610"/>
              <a:ext cx="964" cy="498"/>
            </a:xfrm>
            <a:custGeom>
              <a:avLst/>
              <a:gdLst>
                <a:gd name="T0" fmla="*/ 958 w 964"/>
                <a:gd name="T1" fmla="*/ 498 h 498"/>
                <a:gd name="T2" fmla="*/ 55 w 964"/>
                <a:gd name="T3" fmla="*/ 33 h 498"/>
                <a:gd name="T4" fmla="*/ 53 w 964"/>
                <a:gd name="T5" fmla="*/ 32 h 498"/>
                <a:gd name="T6" fmla="*/ 52 w 964"/>
                <a:gd name="T7" fmla="*/ 30 h 498"/>
                <a:gd name="T8" fmla="*/ 52 w 964"/>
                <a:gd name="T9" fmla="*/ 29 h 498"/>
                <a:gd name="T10" fmla="*/ 52 w 964"/>
                <a:gd name="T11" fmla="*/ 27 h 498"/>
                <a:gd name="T12" fmla="*/ 53 w 964"/>
                <a:gd name="T13" fmla="*/ 26 h 498"/>
                <a:gd name="T14" fmla="*/ 55 w 964"/>
                <a:gd name="T15" fmla="*/ 24 h 498"/>
                <a:gd name="T16" fmla="*/ 56 w 964"/>
                <a:gd name="T17" fmla="*/ 24 h 498"/>
                <a:gd name="T18" fmla="*/ 59 w 964"/>
                <a:gd name="T19" fmla="*/ 24 h 498"/>
                <a:gd name="T20" fmla="*/ 962 w 964"/>
                <a:gd name="T21" fmla="*/ 489 h 498"/>
                <a:gd name="T22" fmla="*/ 964 w 964"/>
                <a:gd name="T23" fmla="*/ 490 h 498"/>
                <a:gd name="T24" fmla="*/ 964 w 964"/>
                <a:gd name="T25" fmla="*/ 492 h 498"/>
                <a:gd name="T26" fmla="*/ 964 w 964"/>
                <a:gd name="T27" fmla="*/ 493 h 498"/>
                <a:gd name="T28" fmla="*/ 964 w 964"/>
                <a:gd name="T29" fmla="*/ 496 h 498"/>
                <a:gd name="T30" fmla="*/ 962 w 964"/>
                <a:gd name="T31" fmla="*/ 496 h 498"/>
                <a:gd name="T32" fmla="*/ 961 w 964"/>
                <a:gd name="T33" fmla="*/ 498 h 498"/>
                <a:gd name="T34" fmla="*/ 959 w 964"/>
                <a:gd name="T35" fmla="*/ 498 h 498"/>
                <a:gd name="T36" fmla="*/ 958 w 964"/>
                <a:gd name="T37" fmla="*/ 498 h 498"/>
                <a:gd name="T38" fmla="*/ 958 w 964"/>
                <a:gd name="T39" fmla="*/ 498 h 498"/>
                <a:gd name="T40" fmla="*/ 50 w 964"/>
                <a:gd name="T41" fmla="*/ 68 h 498"/>
                <a:gd name="T42" fmla="*/ 0 w 964"/>
                <a:gd name="T43" fmla="*/ 0 h 498"/>
                <a:gd name="T44" fmla="*/ 85 w 964"/>
                <a:gd name="T45" fmla="*/ 1 h 498"/>
                <a:gd name="T46" fmla="*/ 50 w 964"/>
                <a:gd name="T47" fmla="*/ 68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64" h="498">
                  <a:moveTo>
                    <a:pt x="958" y="498"/>
                  </a:moveTo>
                  <a:lnTo>
                    <a:pt x="55" y="33"/>
                  </a:lnTo>
                  <a:lnTo>
                    <a:pt x="53" y="32"/>
                  </a:lnTo>
                  <a:lnTo>
                    <a:pt x="52" y="30"/>
                  </a:lnTo>
                  <a:lnTo>
                    <a:pt x="52" y="29"/>
                  </a:lnTo>
                  <a:lnTo>
                    <a:pt x="52" y="27"/>
                  </a:lnTo>
                  <a:lnTo>
                    <a:pt x="53" y="26"/>
                  </a:lnTo>
                  <a:lnTo>
                    <a:pt x="55" y="24"/>
                  </a:lnTo>
                  <a:lnTo>
                    <a:pt x="56" y="24"/>
                  </a:lnTo>
                  <a:lnTo>
                    <a:pt x="59" y="24"/>
                  </a:lnTo>
                  <a:lnTo>
                    <a:pt x="962" y="489"/>
                  </a:lnTo>
                  <a:lnTo>
                    <a:pt x="964" y="490"/>
                  </a:lnTo>
                  <a:lnTo>
                    <a:pt x="964" y="492"/>
                  </a:lnTo>
                  <a:lnTo>
                    <a:pt x="964" y="493"/>
                  </a:lnTo>
                  <a:lnTo>
                    <a:pt x="964" y="496"/>
                  </a:lnTo>
                  <a:lnTo>
                    <a:pt x="962" y="496"/>
                  </a:lnTo>
                  <a:lnTo>
                    <a:pt x="961" y="498"/>
                  </a:lnTo>
                  <a:lnTo>
                    <a:pt x="959" y="498"/>
                  </a:lnTo>
                  <a:lnTo>
                    <a:pt x="958" y="498"/>
                  </a:lnTo>
                  <a:lnTo>
                    <a:pt x="958" y="498"/>
                  </a:lnTo>
                  <a:close/>
                  <a:moveTo>
                    <a:pt x="50" y="68"/>
                  </a:moveTo>
                  <a:lnTo>
                    <a:pt x="0" y="0"/>
                  </a:lnTo>
                  <a:lnTo>
                    <a:pt x="85" y="1"/>
                  </a:lnTo>
                  <a:lnTo>
                    <a:pt x="50" y="68"/>
                  </a:lnTo>
                  <a:close/>
                </a:path>
              </a:pathLst>
            </a:custGeom>
            <a:solidFill>
              <a:srgbClr val="000000"/>
            </a:solidFill>
            <a:ln w="3175">
              <a:solidFill>
                <a:srgbClr val="000000"/>
              </a:solidFill>
              <a:prstDash val="solid"/>
              <a:round/>
              <a:headEnd/>
              <a:tailEnd/>
            </a:ln>
          </p:spPr>
          <p:txBody>
            <a:bodyPr/>
            <a:lstStyle/>
            <a:p>
              <a:endParaRPr lang="en-IN"/>
            </a:p>
          </p:txBody>
        </p:sp>
        <p:sp>
          <p:nvSpPr>
            <p:cNvPr id="115723" name="Freeform 11">
              <a:extLst>
                <a:ext uri="{FF2B5EF4-FFF2-40B4-BE49-F238E27FC236}">
                  <a16:creationId xmlns:a16="http://schemas.microsoft.com/office/drawing/2014/main" id="{BF0EF55D-9678-D4DE-AF3B-3BFC49BFC09F}"/>
                </a:ext>
              </a:extLst>
            </p:cNvPr>
            <p:cNvSpPr>
              <a:spLocks noEditPoints="1"/>
            </p:cNvSpPr>
            <p:nvPr/>
          </p:nvSpPr>
          <p:spPr bwMode="auto">
            <a:xfrm>
              <a:off x="376" y="951"/>
              <a:ext cx="650" cy="592"/>
            </a:xfrm>
            <a:custGeom>
              <a:avLst/>
              <a:gdLst>
                <a:gd name="T0" fmla="*/ 649 w 650"/>
                <a:gd name="T1" fmla="*/ 7 h 592"/>
                <a:gd name="T2" fmla="*/ 50 w 650"/>
                <a:gd name="T3" fmla="*/ 554 h 592"/>
                <a:gd name="T4" fmla="*/ 48 w 650"/>
                <a:gd name="T5" fmla="*/ 554 h 592"/>
                <a:gd name="T6" fmla="*/ 47 w 650"/>
                <a:gd name="T7" fmla="*/ 554 h 592"/>
                <a:gd name="T8" fmla="*/ 45 w 650"/>
                <a:gd name="T9" fmla="*/ 554 h 592"/>
                <a:gd name="T10" fmla="*/ 44 w 650"/>
                <a:gd name="T11" fmla="*/ 553 h 592"/>
                <a:gd name="T12" fmla="*/ 42 w 650"/>
                <a:gd name="T13" fmla="*/ 551 h 592"/>
                <a:gd name="T14" fmla="*/ 42 w 650"/>
                <a:gd name="T15" fmla="*/ 549 h 592"/>
                <a:gd name="T16" fmla="*/ 42 w 650"/>
                <a:gd name="T17" fmla="*/ 548 h 592"/>
                <a:gd name="T18" fmla="*/ 44 w 650"/>
                <a:gd name="T19" fmla="*/ 546 h 592"/>
                <a:gd name="T20" fmla="*/ 643 w 650"/>
                <a:gd name="T21" fmla="*/ 1 h 592"/>
                <a:gd name="T22" fmla="*/ 644 w 650"/>
                <a:gd name="T23" fmla="*/ 0 h 592"/>
                <a:gd name="T24" fmla="*/ 646 w 650"/>
                <a:gd name="T25" fmla="*/ 0 h 592"/>
                <a:gd name="T26" fmla="*/ 647 w 650"/>
                <a:gd name="T27" fmla="*/ 0 h 592"/>
                <a:gd name="T28" fmla="*/ 649 w 650"/>
                <a:gd name="T29" fmla="*/ 1 h 592"/>
                <a:gd name="T30" fmla="*/ 650 w 650"/>
                <a:gd name="T31" fmla="*/ 3 h 592"/>
                <a:gd name="T32" fmla="*/ 650 w 650"/>
                <a:gd name="T33" fmla="*/ 4 h 592"/>
                <a:gd name="T34" fmla="*/ 650 w 650"/>
                <a:gd name="T35" fmla="*/ 6 h 592"/>
                <a:gd name="T36" fmla="*/ 649 w 650"/>
                <a:gd name="T37" fmla="*/ 7 h 592"/>
                <a:gd name="T38" fmla="*/ 649 w 650"/>
                <a:gd name="T39" fmla="*/ 7 h 592"/>
                <a:gd name="T40" fmla="*/ 82 w 650"/>
                <a:gd name="T41" fmla="*/ 569 h 592"/>
                <a:gd name="T42" fmla="*/ 0 w 650"/>
                <a:gd name="T43" fmla="*/ 592 h 592"/>
                <a:gd name="T44" fmla="*/ 30 w 650"/>
                <a:gd name="T45" fmla="*/ 513 h 592"/>
                <a:gd name="T46" fmla="*/ 82 w 650"/>
                <a:gd name="T47" fmla="*/ 569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50" h="592">
                  <a:moveTo>
                    <a:pt x="649" y="7"/>
                  </a:moveTo>
                  <a:lnTo>
                    <a:pt x="50" y="554"/>
                  </a:lnTo>
                  <a:lnTo>
                    <a:pt x="48" y="554"/>
                  </a:lnTo>
                  <a:lnTo>
                    <a:pt x="47" y="554"/>
                  </a:lnTo>
                  <a:lnTo>
                    <a:pt x="45" y="554"/>
                  </a:lnTo>
                  <a:lnTo>
                    <a:pt x="44" y="553"/>
                  </a:lnTo>
                  <a:lnTo>
                    <a:pt x="42" y="551"/>
                  </a:lnTo>
                  <a:lnTo>
                    <a:pt x="42" y="549"/>
                  </a:lnTo>
                  <a:lnTo>
                    <a:pt x="42" y="548"/>
                  </a:lnTo>
                  <a:lnTo>
                    <a:pt x="44" y="546"/>
                  </a:lnTo>
                  <a:lnTo>
                    <a:pt x="643" y="1"/>
                  </a:lnTo>
                  <a:lnTo>
                    <a:pt x="644" y="0"/>
                  </a:lnTo>
                  <a:lnTo>
                    <a:pt x="646" y="0"/>
                  </a:lnTo>
                  <a:lnTo>
                    <a:pt x="647" y="0"/>
                  </a:lnTo>
                  <a:lnTo>
                    <a:pt x="649" y="1"/>
                  </a:lnTo>
                  <a:lnTo>
                    <a:pt x="650" y="3"/>
                  </a:lnTo>
                  <a:lnTo>
                    <a:pt x="650" y="4"/>
                  </a:lnTo>
                  <a:lnTo>
                    <a:pt x="650" y="6"/>
                  </a:lnTo>
                  <a:lnTo>
                    <a:pt x="649" y="7"/>
                  </a:lnTo>
                  <a:lnTo>
                    <a:pt x="649" y="7"/>
                  </a:lnTo>
                  <a:close/>
                  <a:moveTo>
                    <a:pt x="82" y="569"/>
                  </a:moveTo>
                  <a:lnTo>
                    <a:pt x="0" y="592"/>
                  </a:lnTo>
                  <a:lnTo>
                    <a:pt x="30" y="513"/>
                  </a:lnTo>
                  <a:lnTo>
                    <a:pt x="82" y="569"/>
                  </a:lnTo>
                  <a:close/>
                </a:path>
              </a:pathLst>
            </a:custGeom>
            <a:solidFill>
              <a:srgbClr val="000000"/>
            </a:solidFill>
            <a:ln w="3175">
              <a:solidFill>
                <a:srgbClr val="000000"/>
              </a:solidFill>
              <a:prstDash val="solid"/>
              <a:round/>
              <a:headEnd/>
              <a:tailEnd/>
            </a:ln>
          </p:spPr>
          <p:txBody>
            <a:bodyPr/>
            <a:lstStyle/>
            <a:p>
              <a:endParaRPr lang="en-IN"/>
            </a:p>
          </p:txBody>
        </p:sp>
        <p:sp>
          <p:nvSpPr>
            <p:cNvPr id="115724" name="Freeform 12">
              <a:extLst>
                <a:ext uri="{FF2B5EF4-FFF2-40B4-BE49-F238E27FC236}">
                  <a16:creationId xmlns:a16="http://schemas.microsoft.com/office/drawing/2014/main" id="{83A40002-D5FF-8A37-71A7-E1A1EDE9481F}"/>
                </a:ext>
              </a:extLst>
            </p:cNvPr>
            <p:cNvSpPr>
              <a:spLocks noEditPoints="1"/>
            </p:cNvSpPr>
            <p:nvPr/>
          </p:nvSpPr>
          <p:spPr bwMode="auto">
            <a:xfrm>
              <a:off x="1064" y="974"/>
              <a:ext cx="343" cy="1087"/>
            </a:xfrm>
            <a:custGeom>
              <a:avLst/>
              <a:gdLst>
                <a:gd name="T0" fmla="*/ 333 w 343"/>
                <a:gd name="T1" fmla="*/ 1084 h 1087"/>
                <a:gd name="T2" fmla="*/ 29 w 343"/>
                <a:gd name="T3" fmla="*/ 62 h 1087"/>
                <a:gd name="T4" fmla="*/ 28 w 343"/>
                <a:gd name="T5" fmla="*/ 60 h 1087"/>
                <a:gd name="T6" fmla="*/ 29 w 343"/>
                <a:gd name="T7" fmla="*/ 59 h 1087"/>
                <a:gd name="T8" fmla="*/ 31 w 343"/>
                <a:gd name="T9" fmla="*/ 57 h 1087"/>
                <a:gd name="T10" fmla="*/ 32 w 343"/>
                <a:gd name="T11" fmla="*/ 56 h 1087"/>
                <a:gd name="T12" fmla="*/ 34 w 343"/>
                <a:gd name="T13" fmla="*/ 56 h 1087"/>
                <a:gd name="T14" fmla="*/ 35 w 343"/>
                <a:gd name="T15" fmla="*/ 57 h 1087"/>
                <a:gd name="T16" fmla="*/ 37 w 343"/>
                <a:gd name="T17" fmla="*/ 57 h 1087"/>
                <a:gd name="T18" fmla="*/ 38 w 343"/>
                <a:gd name="T19" fmla="*/ 59 h 1087"/>
                <a:gd name="T20" fmla="*/ 343 w 343"/>
                <a:gd name="T21" fmla="*/ 1081 h 1087"/>
                <a:gd name="T22" fmla="*/ 343 w 343"/>
                <a:gd name="T23" fmla="*/ 1082 h 1087"/>
                <a:gd name="T24" fmla="*/ 343 w 343"/>
                <a:gd name="T25" fmla="*/ 1084 h 1087"/>
                <a:gd name="T26" fmla="*/ 341 w 343"/>
                <a:gd name="T27" fmla="*/ 1085 h 1087"/>
                <a:gd name="T28" fmla="*/ 339 w 343"/>
                <a:gd name="T29" fmla="*/ 1087 h 1087"/>
                <a:gd name="T30" fmla="*/ 338 w 343"/>
                <a:gd name="T31" fmla="*/ 1087 h 1087"/>
                <a:gd name="T32" fmla="*/ 336 w 343"/>
                <a:gd name="T33" fmla="*/ 1087 h 1087"/>
                <a:gd name="T34" fmla="*/ 335 w 343"/>
                <a:gd name="T35" fmla="*/ 1085 h 1087"/>
                <a:gd name="T36" fmla="*/ 333 w 343"/>
                <a:gd name="T37" fmla="*/ 1084 h 1087"/>
                <a:gd name="T38" fmla="*/ 333 w 343"/>
                <a:gd name="T39" fmla="*/ 1084 h 1087"/>
                <a:gd name="T40" fmla="*/ 0 w 343"/>
                <a:gd name="T41" fmla="*/ 83 h 1087"/>
                <a:gd name="T42" fmla="*/ 16 w 343"/>
                <a:gd name="T43" fmla="*/ 0 h 1087"/>
                <a:gd name="T44" fmla="*/ 73 w 343"/>
                <a:gd name="T45" fmla="*/ 62 h 1087"/>
                <a:gd name="T46" fmla="*/ 0 w 343"/>
                <a:gd name="T47" fmla="*/ 83 h 10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3" h="1087">
                  <a:moveTo>
                    <a:pt x="333" y="1084"/>
                  </a:moveTo>
                  <a:lnTo>
                    <a:pt x="29" y="62"/>
                  </a:lnTo>
                  <a:lnTo>
                    <a:pt x="28" y="60"/>
                  </a:lnTo>
                  <a:lnTo>
                    <a:pt x="29" y="59"/>
                  </a:lnTo>
                  <a:lnTo>
                    <a:pt x="31" y="57"/>
                  </a:lnTo>
                  <a:lnTo>
                    <a:pt x="32" y="56"/>
                  </a:lnTo>
                  <a:lnTo>
                    <a:pt x="34" y="56"/>
                  </a:lnTo>
                  <a:lnTo>
                    <a:pt x="35" y="57"/>
                  </a:lnTo>
                  <a:lnTo>
                    <a:pt x="37" y="57"/>
                  </a:lnTo>
                  <a:lnTo>
                    <a:pt x="38" y="59"/>
                  </a:lnTo>
                  <a:lnTo>
                    <a:pt x="343" y="1081"/>
                  </a:lnTo>
                  <a:lnTo>
                    <a:pt x="343" y="1082"/>
                  </a:lnTo>
                  <a:lnTo>
                    <a:pt x="343" y="1084"/>
                  </a:lnTo>
                  <a:lnTo>
                    <a:pt x="341" y="1085"/>
                  </a:lnTo>
                  <a:lnTo>
                    <a:pt x="339" y="1087"/>
                  </a:lnTo>
                  <a:lnTo>
                    <a:pt x="338" y="1087"/>
                  </a:lnTo>
                  <a:lnTo>
                    <a:pt x="336" y="1087"/>
                  </a:lnTo>
                  <a:lnTo>
                    <a:pt x="335" y="1085"/>
                  </a:lnTo>
                  <a:lnTo>
                    <a:pt x="333" y="1084"/>
                  </a:lnTo>
                  <a:lnTo>
                    <a:pt x="333" y="1084"/>
                  </a:lnTo>
                  <a:close/>
                  <a:moveTo>
                    <a:pt x="0" y="83"/>
                  </a:moveTo>
                  <a:lnTo>
                    <a:pt x="16" y="0"/>
                  </a:lnTo>
                  <a:lnTo>
                    <a:pt x="73" y="62"/>
                  </a:lnTo>
                  <a:lnTo>
                    <a:pt x="0" y="83"/>
                  </a:lnTo>
                  <a:close/>
                </a:path>
              </a:pathLst>
            </a:custGeom>
            <a:solidFill>
              <a:srgbClr val="000000"/>
            </a:solidFill>
            <a:ln w="3175">
              <a:solidFill>
                <a:srgbClr val="000000"/>
              </a:solidFill>
              <a:prstDash val="solid"/>
              <a:round/>
              <a:headEnd/>
              <a:tailEnd/>
            </a:ln>
          </p:spPr>
          <p:txBody>
            <a:bodyPr/>
            <a:lstStyle/>
            <a:p>
              <a:endParaRPr lang="en-IN"/>
            </a:p>
          </p:txBody>
        </p:sp>
        <p:sp>
          <p:nvSpPr>
            <p:cNvPr id="115725" name="Rectangle 13">
              <a:extLst>
                <a:ext uri="{FF2B5EF4-FFF2-40B4-BE49-F238E27FC236}">
                  <a16:creationId xmlns:a16="http://schemas.microsoft.com/office/drawing/2014/main" id="{CA177732-4B62-E8EC-EC15-9DED89DD6724}"/>
                </a:ext>
              </a:extLst>
            </p:cNvPr>
            <p:cNvSpPr>
              <a:spLocks noChangeArrowheads="1"/>
            </p:cNvSpPr>
            <p:nvPr/>
          </p:nvSpPr>
          <p:spPr bwMode="auto">
            <a:xfrm>
              <a:off x="3008" y="803"/>
              <a:ext cx="8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t>0</a:t>
              </a:r>
              <a:endParaRPr lang="en-US" altLang="en-US"/>
            </a:p>
          </p:txBody>
        </p:sp>
        <p:sp>
          <p:nvSpPr>
            <p:cNvPr id="115726" name="Rectangle 14">
              <a:extLst>
                <a:ext uri="{FF2B5EF4-FFF2-40B4-BE49-F238E27FC236}">
                  <a16:creationId xmlns:a16="http://schemas.microsoft.com/office/drawing/2014/main" id="{59B4CB42-A327-5FAB-B09F-A347C8670E34}"/>
                </a:ext>
              </a:extLst>
            </p:cNvPr>
            <p:cNvSpPr>
              <a:spLocks noChangeArrowheads="1"/>
            </p:cNvSpPr>
            <p:nvPr/>
          </p:nvSpPr>
          <p:spPr bwMode="auto">
            <a:xfrm>
              <a:off x="2762" y="1149"/>
              <a:ext cx="165"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t>18</a:t>
              </a:r>
              <a:endParaRPr lang="en-US" altLang="en-US"/>
            </a:p>
          </p:txBody>
        </p:sp>
        <p:sp>
          <p:nvSpPr>
            <p:cNvPr id="115727" name="Rectangle 15">
              <a:extLst>
                <a:ext uri="{FF2B5EF4-FFF2-40B4-BE49-F238E27FC236}">
                  <a16:creationId xmlns:a16="http://schemas.microsoft.com/office/drawing/2014/main" id="{29C2E665-E0B9-1602-4DE5-1BCD5A25CB6F}"/>
                </a:ext>
              </a:extLst>
            </p:cNvPr>
            <p:cNvSpPr>
              <a:spLocks noChangeArrowheads="1"/>
            </p:cNvSpPr>
            <p:nvPr/>
          </p:nvSpPr>
          <p:spPr bwMode="auto">
            <a:xfrm>
              <a:off x="2544" y="1174"/>
              <a:ext cx="8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t>2</a:t>
              </a:r>
              <a:endParaRPr lang="en-US" altLang="en-US"/>
            </a:p>
          </p:txBody>
        </p:sp>
        <p:sp>
          <p:nvSpPr>
            <p:cNvPr id="115728" name="Rectangle 16">
              <a:extLst>
                <a:ext uri="{FF2B5EF4-FFF2-40B4-BE49-F238E27FC236}">
                  <a16:creationId xmlns:a16="http://schemas.microsoft.com/office/drawing/2014/main" id="{DC71F270-BFDD-8288-C234-2C4F233EC969}"/>
                </a:ext>
              </a:extLst>
            </p:cNvPr>
            <p:cNvSpPr>
              <a:spLocks noChangeArrowheads="1"/>
            </p:cNvSpPr>
            <p:nvPr/>
          </p:nvSpPr>
          <p:spPr bwMode="auto">
            <a:xfrm>
              <a:off x="1773" y="1384"/>
              <a:ext cx="165"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t>10</a:t>
              </a:r>
              <a:endParaRPr lang="en-US" altLang="en-US"/>
            </a:p>
          </p:txBody>
        </p:sp>
        <p:sp>
          <p:nvSpPr>
            <p:cNvPr id="115729" name="Rectangle 17">
              <a:extLst>
                <a:ext uri="{FF2B5EF4-FFF2-40B4-BE49-F238E27FC236}">
                  <a16:creationId xmlns:a16="http://schemas.microsoft.com/office/drawing/2014/main" id="{9101BD70-B042-231A-7B86-DD6CBC079769}"/>
                </a:ext>
              </a:extLst>
            </p:cNvPr>
            <p:cNvSpPr>
              <a:spLocks noChangeArrowheads="1"/>
            </p:cNvSpPr>
            <p:nvPr/>
          </p:nvSpPr>
          <p:spPr bwMode="auto">
            <a:xfrm>
              <a:off x="2126" y="1962"/>
              <a:ext cx="8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t>4</a:t>
              </a:r>
              <a:endParaRPr lang="en-US" altLang="en-US"/>
            </a:p>
          </p:txBody>
        </p:sp>
        <p:sp>
          <p:nvSpPr>
            <p:cNvPr id="115730" name="Rectangle 18">
              <a:extLst>
                <a:ext uri="{FF2B5EF4-FFF2-40B4-BE49-F238E27FC236}">
                  <a16:creationId xmlns:a16="http://schemas.microsoft.com/office/drawing/2014/main" id="{B9C485D0-A509-75D9-3977-A388AAA8AA29}"/>
                </a:ext>
              </a:extLst>
            </p:cNvPr>
            <p:cNvSpPr>
              <a:spLocks noChangeArrowheads="1"/>
            </p:cNvSpPr>
            <p:nvPr/>
          </p:nvSpPr>
          <p:spPr bwMode="auto">
            <a:xfrm>
              <a:off x="1299" y="1518"/>
              <a:ext cx="8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t>7</a:t>
              </a:r>
              <a:endParaRPr lang="en-US" altLang="en-US"/>
            </a:p>
          </p:txBody>
        </p:sp>
        <p:sp>
          <p:nvSpPr>
            <p:cNvPr id="115731" name="Rectangle 19">
              <a:extLst>
                <a:ext uri="{FF2B5EF4-FFF2-40B4-BE49-F238E27FC236}">
                  <a16:creationId xmlns:a16="http://schemas.microsoft.com/office/drawing/2014/main" id="{2BD1B0CA-2A81-F33F-C8C5-3F57E1C49D9F}"/>
                </a:ext>
              </a:extLst>
            </p:cNvPr>
            <p:cNvSpPr>
              <a:spLocks noChangeArrowheads="1"/>
            </p:cNvSpPr>
            <p:nvPr/>
          </p:nvSpPr>
          <p:spPr bwMode="auto">
            <a:xfrm>
              <a:off x="586" y="1080"/>
              <a:ext cx="8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t>5</a:t>
              </a:r>
              <a:endParaRPr lang="en-US" altLang="en-US"/>
            </a:p>
          </p:txBody>
        </p:sp>
        <p:sp>
          <p:nvSpPr>
            <p:cNvPr id="115732" name="Rectangle 20">
              <a:extLst>
                <a:ext uri="{FF2B5EF4-FFF2-40B4-BE49-F238E27FC236}">
                  <a16:creationId xmlns:a16="http://schemas.microsoft.com/office/drawing/2014/main" id="{A983D024-CC6F-5719-D321-12A0A20C589D}"/>
                </a:ext>
              </a:extLst>
            </p:cNvPr>
            <p:cNvSpPr>
              <a:spLocks noChangeArrowheads="1"/>
            </p:cNvSpPr>
            <p:nvPr/>
          </p:nvSpPr>
          <p:spPr bwMode="auto">
            <a:xfrm>
              <a:off x="767" y="1913"/>
              <a:ext cx="8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t>0</a:t>
              </a:r>
              <a:endParaRPr lang="en-US" altLang="en-US"/>
            </a:p>
          </p:txBody>
        </p:sp>
        <p:sp>
          <p:nvSpPr>
            <p:cNvPr id="115733" name="Freeform 21">
              <a:extLst>
                <a:ext uri="{FF2B5EF4-FFF2-40B4-BE49-F238E27FC236}">
                  <a16:creationId xmlns:a16="http://schemas.microsoft.com/office/drawing/2014/main" id="{71D08FCB-6A73-1B97-20DD-AC3FE2AAEA5B}"/>
                </a:ext>
              </a:extLst>
            </p:cNvPr>
            <p:cNvSpPr>
              <a:spLocks noEditPoints="1"/>
            </p:cNvSpPr>
            <p:nvPr/>
          </p:nvSpPr>
          <p:spPr bwMode="auto">
            <a:xfrm>
              <a:off x="456" y="1031"/>
              <a:ext cx="566" cy="545"/>
            </a:xfrm>
            <a:custGeom>
              <a:avLst/>
              <a:gdLst>
                <a:gd name="T0" fmla="*/ 2 w 566"/>
                <a:gd name="T1" fmla="*/ 538 h 545"/>
                <a:gd name="T2" fmla="*/ 517 w 566"/>
                <a:gd name="T3" fmla="*/ 41 h 545"/>
                <a:gd name="T4" fmla="*/ 519 w 566"/>
                <a:gd name="T5" fmla="*/ 40 h 545"/>
                <a:gd name="T6" fmla="*/ 520 w 566"/>
                <a:gd name="T7" fmla="*/ 40 h 545"/>
                <a:gd name="T8" fmla="*/ 522 w 566"/>
                <a:gd name="T9" fmla="*/ 40 h 545"/>
                <a:gd name="T10" fmla="*/ 523 w 566"/>
                <a:gd name="T11" fmla="*/ 41 h 545"/>
                <a:gd name="T12" fmla="*/ 525 w 566"/>
                <a:gd name="T13" fmla="*/ 43 h 545"/>
                <a:gd name="T14" fmla="*/ 525 w 566"/>
                <a:gd name="T15" fmla="*/ 44 h 545"/>
                <a:gd name="T16" fmla="*/ 525 w 566"/>
                <a:gd name="T17" fmla="*/ 46 h 545"/>
                <a:gd name="T18" fmla="*/ 523 w 566"/>
                <a:gd name="T19" fmla="*/ 47 h 545"/>
                <a:gd name="T20" fmla="*/ 10 w 566"/>
                <a:gd name="T21" fmla="*/ 544 h 545"/>
                <a:gd name="T22" fmla="*/ 6 w 566"/>
                <a:gd name="T23" fmla="*/ 545 h 545"/>
                <a:gd name="T24" fmla="*/ 5 w 566"/>
                <a:gd name="T25" fmla="*/ 545 h 545"/>
                <a:gd name="T26" fmla="*/ 3 w 566"/>
                <a:gd name="T27" fmla="*/ 545 h 545"/>
                <a:gd name="T28" fmla="*/ 2 w 566"/>
                <a:gd name="T29" fmla="*/ 544 h 545"/>
                <a:gd name="T30" fmla="*/ 0 w 566"/>
                <a:gd name="T31" fmla="*/ 542 h 545"/>
                <a:gd name="T32" fmla="*/ 0 w 566"/>
                <a:gd name="T33" fmla="*/ 541 h 545"/>
                <a:gd name="T34" fmla="*/ 0 w 566"/>
                <a:gd name="T35" fmla="*/ 539 h 545"/>
                <a:gd name="T36" fmla="*/ 2 w 566"/>
                <a:gd name="T37" fmla="*/ 538 h 545"/>
                <a:gd name="T38" fmla="*/ 2 w 566"/>
                <a:gd name="T39" fmla="*/ 538 h 545"/>
                <a:gd name="T40" fmla="*/ 485 w 566"/>
                <a:gd name="T41" fmla="*/ 26 h 545"/>
                <a:gd name="T42" fmla="*/ 566 w 566"/>
                <a:gd name="T43" fmla="*/ 0 h 545"/>
                <a:gd name="T44" fmla="*/ 539 w 566"/>
                <a:gd name="T45" fmla="*/ 81 h 545"/>
                <a:gd name="T46" fmla="*/ 485 w 566"/>
                <a:gd name="T47" fmla="*/ 26 h 5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66" h="545">
                  <a:moveTo>
                    <a:pt x="2" y="538"/>
                  </a:moveTo>
                  <a:lnTo>
                    <a:pt x="517" y="41"/>
                  </a:lnTo>
                  <a:lnTo>
                    <a:pt x="519" y="40"/>
                  </a:lnTo>
                  <a:lnTo>
                    <a:pt x="520" y="40"/>
                  </a:lnTo>
                  <a:lnTo>
                    <a:pt x="522" y="40"/>
                  </a:lnTo>
                  <a:lnTo>
                    <a:pt x="523" y="41"/>
                  </a:lnTo>
                  <a:lnTo>
                    <a:pt x="525" y="43"/>
                  </a:lnTo>
                  <a:lnTo>
                    <a:pt x="525" y="44"/>
                  </a:lnTo>
                  <a:lnTo>
                    <a:pt x="525" y="46"/>
                  </a:lnTo>
                  <a:lnTo>
                    <a:pt x="523" y="47"/>
                  </a:lnTo>
                  <a:lnTo>
                    <a:pt x="10" y="544"/>
                  </a:lnTo>
                  <a:lnTo>
                    <a:pt x="6" y="545"/>
                  </a:lnTo>
                  <a:lnTo>
                    <a:pt x="5" y="545"/>
                  </a:lnTo>
                  <a:lnTo>
                    <a:pt x="3" y="545"/>
                  </a:lnTo>
                  <a:lnTo>
                    <a:pt x="2" y="544"/>
                  </a:lnTo>
                  <a:lnTo>
                    <a:pt x="0" y="542"/>
                  </a:lnTo>
                  <a:lnTo>
                    <a:pt x="0" y="541"/>
                  </a:lnTo>
                  <a:lnTo>
                    <a:pt x="0" y="539"/>
                  </a:lnTo>
                  <a:lnTo>
                    <a:pt x="2" y="538"/>
                  </a:lnTo>
                  <a:lnTo>
                    <a:pt x="2" y="538"/>
                  </a:lnTo>
                  <a:close/>
                  <a:moveTo>
                    <a:pt x="485" y="26"/>
                  </a:moveTo>
                  <a:lnTo>
                    <a:pt x="566" y="0"/>
                  </a:lnTo>
                  <a:lnTo>
                    <a:pt x="539" y="81"/>
                  </a:lnTo>
                  <a:lnTo>
                    <a:pt x="485" y="26"/>
                  </a:lnTo>
                  <a:close/>
                </a:path>
              </a:pathLst>
            </a:custGeom>
            <a:solidFill>
              <a:srgbClr val="000000"/>
            </a:solidFill>
            <a:ln w="3175">
              <a:solidFill>
                <a:srgbClr val="000000"/>
              </a:solidFill>
              <a:prstDash val="solid"/>
              <a:round/>
              <a:headEnd/>
              <a:tailEnd/>
            </a:ln>
          </p:spPr>
          <p:txBody>
            <a:bodyPr/>
            <a:lstStyle/>
            <a:p>
              <a:endParaRPr lang="en-IN"/>
            </a:p>
          </p:txBody>
        </p:sp>
        <p:sp>
          <p:nvSpPr>
            <p:cNvPr id="115734" name="Freeform 22">
              <a:extLst>
                <a:ext uri="{FF2B5EF4-FFF2-40B4-BE49-F238E27FC236}">
                  <a16:creationId xmlns:a16="http://schemas.microsoft.com/office/drawing/2014/main" id="{26DA7FE6-127B-5E17-C002-EC91994FB736}"/>
                </a:ext>
              </a:extLst>
            </p:cNvPr>
            <p:cNvSpPr>
              <a:spLocks noEditPoints="1"/>
            </p:cNvSpPr>
            <p:nvPr/>
          </p:nvSpPr>
          <p:spPr bwMode="auto">
            <a:xfrm>
              <a:off x="494" y="1585"/>
              <a:ext cx="823" cy="442"/>
            </a:xfrm>
            <a:custGeom>
              <a:avLst/>
              <a:gdLst>
                <a:gd name="T0" fmla="*/ 8 w 823"/>
                <a:gd name="T1" fmla="*/ 2 h 442"/>
                <a:gd name="T2" fmla="*/ 770 w 823"/>
                <a:gd name="T3" fmla="*/ 409 h 442"/>
                <a:gd name="T4" fmla="*/ 771 w 823"/>
                <a:gd name="T5" fmla="*/ 409 h 442"/>
                <a:gd name="T6" fmla="*/ 771 w 823"/>
                <a:gd name="T7" fmla="*/ 412 h 442"/>
                <a:gd name="T8" fmla="*/ 771 w 823"/>
                <a:gd name="T9" fmla="*/ 413 h 442"/>
                <a:gd name="T10" fmla="*/ 771 w 823"/>
                <a:gd name="T11" fmla="*/ 415 h 442"/>
                <a:gd name="T12" fmla="*/ 770 w 823"/>
                <a:gd name="T13" fmla="*/ 416 h 442"/>
                <a:gd name="T14" fmla="*/ 768 w 823"/>
                <a:gd name="T15" fmla="*/ 416 h 442"/>
                <a:gd name="T16" fmla="*/ 767 w 823"/>
                <a:gd name="T17" fmla="*/ 418 h 442"/>
                <a:gd name="T18" fmla="*/ 765 w 823"/>
                <a:gd name="T19" fmla="*/ 416 h 442"/>
                <a:gd name="T20" fmla="*/ 3 w 823"/>
                <a:gd name="T21" fmla="*/ 10 h 442"/>
                <a:gd name="T22" fmla="*/ 2 w 823"/>
                <a:gd name="T23" fmla="*/ 10 h 442"/>
                <a:gd name="T24" fmla="*/ 0 w 823"/>
                <a:gd name="T25" fmla="*/ 8 h 442"/>
                <a:gd name="T26" fmla="*/ 0 w 823"/>
                <a:gd name="T27" fmla="*/ 5 h 442"/>
                <a:gd name="T28" fmla="*/ 2 w 823"/>
                <a:gd name="T29" fmla="*/ 4 h 442"/>
                <a:gd name="T30" fmla="*/ 2 w 823"/>
                <a:gd name="T31" fmla="*/ 2 h 442"/>
                <a:gd name="T32" fmla="*/ 3 w 823"/>
                <a:gd name="T33" fmla="*/ 2 h 442"/>
                <a:gd name="T34" fmla="*/ 6 w 823"/>
                <a:gd name="T35" fmla="*/ 0 h 442"/>
                <a:gd name="T36" fmla="*/ 8 w 823"/>
                <a:gd name="T37" fmla="*/ 2 h 442"/>
                <a:gd name="T38" fmla="*/ 8 w 823"/>
                <a:gd name="T39" fmla="*/ 2 h 442"/>
                <a:gd name="T40" fmla="*/ 774 w 823"/>
                <a:gd name="T41" fmla="*/ 372 h 442"/>
                <a:gd name="T42" fmla="*/ 823 w 823"/>
                <a:gd name="T43" fmla="*/ 442 h 442"/>
                <a:gd name="T44" fmla="*/ 738 w 823"/>
                <a:gd name="T45" fmla="*/ 441 h 442"/>
                <a:gd name="T46" fmla="*/ 774 w 823"/>
                <a:gd name="T47" fmla="*/ 372 h 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23" h="442">
                  <a:moveTo>
                    <a:pt x="8" y="2"/>
                  </a:moveTo>
                  <a:lnTo>
                    <a:pt x="770" y="409"/>
                  </a:lnTo>
                  <a:lnTo>
                    <a:pt x="771" y="409"/>
                  </a:lnTo>
                  <a:lnTo>
                    <a:pt x="771" y="412"/>
                  </a:lnTo>
                  <a:lnTo>
                    <a:pt x="771" y="413"/>
                  </a:lnTo>
                  <a:lnTo>
                    <a:pt x="771" y="415"/>
                  </a:lnTo>
                  <a:lnTo>
                    <a:pt x="770" y="416"/>
                  </a:lnTo>
                  <a:lnTo>
                    <a:pt x="768" y="416"/>
                  </a:lnTo>
                  <a:lnTo>
                    <a:pt x="767" y="418"/>
                  </a:lnTo>
                  <a:lnTo>
                    <a:pt x="765" y="416"/>
                  </a:lnTo>
                  <a:lnTo>
                    <a:pt x="3" y="10"/>
                  </a:lnTo>
                  <a:lnTo>
                    <a:pt x="2" y="10"/>
                  </a:lnTo>
                  <a:lnTo>
                    <a:pt x="0" y="8"/>
                  </a:lnTo>
                  <a:lnTo>
                    <a:pt x="0" y="5"/>
                  </a:lnTo>
                  <a:lnTo>
                    <a:pt x="2" y="4"/>
                  </a:lnTo>
                  <a:lnTo>
                    <a:pt x="2" y="2"/>
                  </a:lnTo>
                  <a:lnTo>
                    <a:pt x="3" y="2"/>
                  </a:lnTo>
                  <a:lnTo>
                    <a:pt x="6" y="0"/>
                  </a:lnTo>
                  <a:lnTo>
                    <a:pt x="8" y="2"/>
                  </a:lnTo>
                  <a:lnTo>
                    <a:pt x="8" y="2"/>
                  </a:lnTo>
                  <a:close/>
                  <a:moveTo>
                    <a:pt x="774" y="372"/>
                  </a:moveTo>
                  <a:lnTo>
                    <a:pt x="823" y="442"/>
                  </a:lnTo>
                  <a:lnTo>
                    <a:pt x="738" y="441"/>
                  </a:lnTo>
                  <a:lnTo>
                    <a:pt x="774" y="372"/>
                  </a:lnTo>
                  <a:close/>
                </a:path>
              </a:pathLst>
            </a:custGeom>
            <a:solidFill>
              <a:srgbClr val="000000"/>
            </a:solidFill>
            <a:ln w="3175">
              <a:solidFill>
                <a:srgbClr val="000000"/>
              </a:solidFill>
              <a:prstDash val="solid"/>
              <a:round/>
              <a:headEnd/>
              <a:tailEnd/>
            </a:ln>
          </p:spPr>
          <p:txBody>
            <a:bodyPr/>
            <a:lstStyle/>
            <a:p>
              <a:endParaRPr lang="en-IN"/>
            </a:p>
          </p:txBody>
        </p:sp>
        <p:sp>
          <p:nvSpPr>
            <p:cNvPr id="115735" name="Freeform 23">
              <a:extLst>
                <a:ext uri="{FF2B5EF4-FFF2-40B4-BE49-F238E27FC236}">
                  <a16:creationId xmlns:a16="http://schemas.microsoft.com/office/drawing/2014/main" id="{6085AB1B-DDF8-EFFC-F9E8-CE98EECCB1D1}"/>
                </a:ext>
              </a:extLst>
            </p:cNvPr>
            <p:cNvSpPr>
              <a:spLocks noEditPoints="1"/>
            </p:cNvSpPr>
            <p:nvPr/>
          </p:nvSpPr>
          <p:spPr bwMode="auto">
            <a:xfrm>
              <a:off x="1046" y="1103"/>
              <a:ext cx="275" cy="848"/>
            </a:xfrm>
            <a:custGeom>
              <a:avLst/>
              <a:gdLst>
                <a:gd name="T0" fmla="*/ 9 w 275"/>
                <a:gd name="T1" fmla="*/ 3 h 848"/>
                <a:gd name="T2" fmla="*/ 248 w 275"/>
                <a:gd name="T3" fmla="*/ 786 h 848"/>
                <a:gd name="T4" fmla="*/ 248 w 275"/>
                <a:gd name="T5" fmla="*/ 788 h 848"/>
                <a:gd name="T6" fmla="*/ 246 w 275"/>
                <a:gd name="T7" fmla="*/ 791 h 848"/>
                <a:gd name="T8" fmla="*/ 245 w 275"/>
                <a:gd name="T9" fmla="*/ 792 h 848"/>
                <a:gd name="T10" fmla="*/ 243 w 275"/>
                <a:gd name="T11" fmla="*/ 792 h 848"/>
                <a:gd name="T12" fmla="*/ 242 w 275"/>
                <a:gd name="T13" fmla="*/ 792 h 848"/>
                <a:gd name="T14" fmla="*/ 240 w 275"/>
                <a:gd name="T15" fmla="*/ 792 h 848"/>
                <a:gd name="T16" fmla="*/ 239 w 275"/>
                <a:gd name="T17" fmla="*/ 791 h 848"/>
                <a:gd name="T18" fmla="*/ 239 w 275"/>
                <a:gd name="T19" fmla="*/ 789 h 848"/>
                <a:gd name="T20" fmla="*/ 0 w 275"/>
                <a:gd name="T21" fmla="*/ 6 h 848"/>
                <a:gd name="T22" fmla="*/ 0 w 275"/>
                <a:gd name="T23" fmla="*/ 4 h 848"/>
                <a:gd name="T24" fmla="*/ 0 w 275"/>
                <a:gd name="T25" fmla="*/ 1 h 848"/>
                <a:gd name="T26" fmla="*/ 2 w 275"/>
                <a:gd name="T27" fmla="*/ 0 h 848"/>
                <a:gd name="T28" fmla="*/ 3 w 275"/>
                <a:gd name="T29" fmla="*/ 0 h 848"/>
                <a:gd name="T30" fmla="*/ 5 w 275"/>
                <a:gd name="T31" fmla="*/ 0 h 848"/>
                <a:gd name="T32" fmla="*/ 6 w 275"/>
                <a:gd name="T33" fmla="*/ 0 h 848"/>
                <a:gd name="T34" fmla="*/ 8 w 275"/>
                <a:gd name="T35" fmla="*/ 1 h 848"/>
                <a:gd name="T36" fmla="*/ 9 w 275"/>
                <a:gd name="T37" fmla="*/ 3 h 848"/>
                <a:gd name="T38" fmla="*/ 9 w 275"/>
                <a:gd name="T39" fmla="*/ 3 h 848"/>
                <a:gd name="T40" fmla="*/ 275 w 275"/>
                <a:gd name="T41" fmla="*/ 765 h 848"/>
                <a:gd name="T42" fmla="*/ 262 w 275"/>
                <a:gd name="T43" fmla="*/ 848 h 848"/>
                <a:gd name="T44" fmla="*/ 202 w 275"/>
                <a:gd name="T45" fmla="*/ 788 h 848"/>
                <a:gd name="T46" fmla="*/ 275 w 275"/>
                <a:gd name="T47" fmla="*/ 765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75" h="848">
                  <a:moveTo>
                    <a:pt x="9" y="3"/>
                  </a:moveTo>
                  <a:lnTo>
                    <a:pt x="248" y="786"/>
                  </a:lnTo>
                  <a:lnTo>
                    <a:pt x="248" y="788"/>
                  </a:lnTo>
                  <a:lnTo>
                    <a:pt x="246" y="791"/>
                  </a:lnTo>
                  <a:lnTo>
                    <a:pt x="245" y="792"/>
                  </a:lnTo>
                  <a:lnTo>
                    <a:pt x="243" y="792"/>
                  </a:lnTo>
                  <a:lnTo>
                    <a:pt x="242" y="792"/>
                  </a:lnTo>
                  <a:lnTo>
                    <a:pt x="240" y="792"/>
                  </a:lnTo>
                  <a:lnTo>
                    <a:pt x="239" y="791"/>
                  </a:lnTo>
                  <a:lnTo>
                    <a:pt x="239" y="789"/>
                  </a:lnTo>
                  <a:lnTo>
                    <a:pt x="0" y="6"/>
                  </a:lnTo>
                  <a:lnTo>
                    <a:pt x="0" y="4"/>
                  </a:lnTo>
                  <a:lnTo>
                    <a:pt x="0" y="1"/>
                  </a:lnTo>
                  <a:lnTo>
                    <a:pt x="2" y="0"/>
                  </a:lnTo>
                  <a:lnTo>
                    <a:pt x="3" y="0"/>
                  </a:lnTo>
                  <a:lnTo>
                    <a:pt x="5" y="0"/>
                  </a:lnTo>
                  <a:lnTo>
                    <a:pt x="6" y="0"/>
                  </a:lnTo>
                  <a:lnTo>
                    <a:pt x="8" y="1"/>
                  </a:lnTo>
                  <a:lnTo>
                    <a:pt x="9" y="3"/>
                  </a:lnTo>
                  <a:lnTo>
                    <a:pt x="9" y="3"/>
                  </a:lnTo>
                  <a:close/>
                  <a:moveTo>
                    <a:pt x="275" y="765"/>
                  </a:moveTo>
                  <a:lnTo>
                    <a:pt x="262" y="848"/>
                  </a:lnTo>
                  <a:lnTo>
                    <a:pt x="202" y="788"/>
                  </a:lnTo>
                  <a:lnTo>
                    <a:pt x="275" y="765"/>
                  </a:lnTo>
                  <a:close/>
                </a:path>
              </a:pathLst>
            </a:custGeom>
            <a:solidFill>
              <a:srgbClr val="000000"/>
            </a:solidFill>
            <a:ln w="3175">
              <a:solidFill>
                <a:srgbClr val="000000"/>
              </a:solidFill>
              <a:prstDash val="solid"/>
              <a:round/>
              <a:headEnd/>
              <a:tailEnd/>
            </a:ln>
          </p:spPr>
          <p:txBody>
            <a:bodyPr/>
            <a:lstStyle/>
            <a:p>
              <a:endParaRPr lang="en-IN"/>
            </a:p>
          </p:txBody>
        </p:sp>
        <p:sp>
          <p:nvSpPr>
            <p:cNvPr id="115736" name="Freeform 24">
              <a:extLst>
                <a:ext uri="{FF2B5EF4-FFF2-40B4-BE49-F238E27FC236}">
                  <a16:creationId xmlns:a16="http://schemas.microsoft.com/office/drawing/2014/main" id="{2518BC94-043A-4C38-E430-01A3B0D69AD5}"/>
                </a:ext>
              </a:extLst>
            </p:cNvPr>
            <p:cNvSpPr>
              <a:spLocks noEditPoints="1"/>
            </p:cNvSpPr>
            <p:nvPr/>
          </p:nvSpPr>
          <p:spPr bwMode="auto">
            <a:xfrm>
              <a:off x="1540" y="1759"/>
              <a:ext cx="1069" cy="246"/>
            </a:xfrm>
            <a:custGeom>
              <a:avLst/>
              <a:gdLst>
                <a:gd name="T0" fmla="*/ 3 w 1069"/>
                <a:gd name="T1" fmla="*/ 235 h 246"/>
                <a:gd name="T2" fmla="*/ 1007 w 1069"/>
                <a:gd name="T3" fmla="*/ 30 h 246"/>
                <a:gd name="T4" fmla="*/ 1008 w 1069"/>
                <a:gd name="T5" fmla="*/ 30 h 246"/>
                <a:gd name="T6" fmla="*/ 1010 w 1069"/>
                <a:gd name="T7" fmla="*/ 30 h 246"/>
                <a:gd name="T8" fmla="*/ 1011 w 1069"/>
                <a:gd name="T9" fmla="*/ 31 h 246"/>
                <a:gd name="T10" fmla="*/ 1011 w 1069"/>
                <a:gd name="T11" fmla="*/ 33 h 246"/>
                <a:gd name="T12" fmla="*/ 1011 w 1069"/>
                <a:gd name="T13" fmla="*/ 36 h 246"/>
                <a:gd name="T14" fmla="*/ 1011 w 1069"/>
                <a:gd name="T15" fmla="*/ 38 h 246"/>
                <a:gd name="T16" fmla="*/ 1010 w 1069"/>
                <a:gd name="T17" fmla="*/ 39 h 246"/>
                <a:gd name="T18" fmla="*/ 1008 w 1069"/>
                <a:gd name="T19" fmla="*/ 39 h 246"/>
                <a:gd name="T20" fmla="*/ 6 w 1069"/>
                <a:gd name="T21" fmla="*/ 246 h 246"/>
                <a:gd name="T22" fmla="*/ 3 w 1069"/>
                <a:gd name="T23" fmla="*/ 244 h 246"/>
                <a:gd name="T24" fmla="*/ 2 w 1069"/>
                <a:gd name="T25" fmla="*/ 244 h 246"/>
                <a:gd name="T26" fmla="*/ 0 w 1069"/>
                <a:gd name="T27" fmla="*/ 242 h 246"/>
                <a:gd name="T28" fmla="*/ 0 w 1069"/>
                <a:gd name="T29" fmla="*/ 241 h 246"/>
                <a:gd name="T30" fmla="*/ 0 w 1069"/>
                <a:gd name="T31" fmla="*/ 239 h 246"/>
                <a:gd name="T32" fmla="*/ 0 w 1069"/>
                <a:gd name="T33" fmla="*/ 238 h 246"/>
                <a:gd name="T34" fmla="*/ 2 w 1069"/>
                <a:gd name="T35" fmla="*/ 236 h 246"/>
                <a:gd name="T36" fmla="*/ 3 w 1069"/>
                <a:gd name="T37" fmla="*/ 235 h 246"/>
                <a:gd name="T38" fmla="*/ 3 w 1069"/>
                <a:gd name="T39" fmla="*/ 235 h 246"/>
                <a:gd name="T40" fmla="*/ 987 w 1069"/>
                <a:gd name="T41" fmla="*/ 0 h 246"/>
                <a:gd name="T42" fmla="*/ 1069 w 1069"/>
                <a:gd name="T43" fmla="*/ 22 h 246"/>
                <a:gd name="T44" fmla="*/ 1002 w 1069"/>
                <a:gd name="T45" fmla="*/ 74 h 246"/>
                <a:gd name="T46" fmla="*/ 987 w 1069"/>
                <a:gd name="T47" fmla="*/ 0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69" h="246">
                  <a:moveTo>
                    <a:pt x="3" y="235"/>
                  </a:moveTo>
                  <a:lnTo>
                    <a:pt x="1007" y="30"/>
                  </a:lnTo>
                  <a:lnTo>
                    <a:pt x="1008" y="30"/>
                  </a:lnTo>
                  <a:lnTo>
                    <a:pt x="1010" y="30"/>
                  </a:lnTo>
                  <a:lnTo>
                    <a:pt x="1011" y="31"/>
                  </a:lnTo>
                  <a:lnTo>
                    <a:pt x="1011" y="33"/>
                  </a:lnTo>
                  <a:lnTo>
                    <a:pt x="1011" y="36"/>
                  </a:lnTo>
                  <a:lnTo>
                    <a:pt x="1011" y="38"/>
                  </a:lnTo>
                  <a:lnTo>
                    <a:pt x="1010" y="39"/>
                  </a:lnTo>
                  <a:lnTo>
                    <a:pt x="1008" y="39"/>
                  </a:lnTo>
                  <a:lnTo>
                    <a:pt x="6" y="246"/>
                  </a:lnTo>
                  <a:lnTo>
                    <a:pt x="3" y="244"/>
                  </a:lnTo>
                  <a:lnTo>
                    <a:pt x="2" y="244"/>
                  </a:lnTo>
                  <a:lnTo>
                    <a:pt x="0" y="242"/>
                  </a:lnTo>
                  <a:lnTo>
                    <a:pt x="0" y="241"/>
                  </a:lnTo>
                  <a:lnTo>
                    <a:pt x="0" y="239"/>
                  </a:lnTo>
                  <a:lnTo>
                    <a:pt x="0" y="238"/>
                  </a:lnTo>
                  <a:lnTo>
                    <a:pt x="2" y="236"/>
                  </a:lnTo>
                  <a:lnTo>
                    <a:pt x="3" y="235"/>
                  </a:lnTo>
                  <a:lnTo>
                    <a:pt x="3" y="235"/>
                  </a:lnTo>
                  <a:close/>
                  <a:moveTo>
                    <a:pt x="987" y="0"/>
                  </a:moveTo>
                  <a:lnTo>
                    <a:pt x="1069" y="22"/>
                  </a:lnTo>
                  <a:lnTo>
                    <a:pt x="1002" y="74"/>
                  </a:lnTo>
                  <a:lnTo>
                    <a:pt x="987" y="0"/>
                  </a:lnTo>
                  <a:close/>
                </a:path>
              </a:pathLst>
            </a:custGeom>
            <a:solidFill>
              <a:srgbClr val="000000"/>
            </a:solidFill>
            <a:ln w="3175">
              <a:solidFill>
                <a:srgbClr val="000000"/>
              </a:solidFill>
              <a:prstDash val="solid"/>
              <a:round/>
              <a:headEnd/>
              <a:tailEnd/>
            </a:ln>
          </p:spPr>
          <p:txBody>
            <a:bodyPr/>
            <a:lstStyle/>
            <a:p>
              <a:endParaRPr lang="en-IN"/>
            </a:p>
          </p:txBody>
        </p:sp>
        <p:sp>
          <p:nvSpPr>
            <p:cNvPr id="115737" name="Freeform 25">
              <a:extLst>
                <a:ext uri="{FF2B5EF4-FFF2-40B4-BE49-F238E27FC236}">
                  <a16:creationId xmlns:a16="http://schemas.microsoft.com/office/drawing/2014/main" id="{3BA48796-E449-EF6D-5E5F-2177DAEA52E4}"/>
                </a:ext>
              </a:extLst>
            </p:cNvPr>
            <p:cNvSpPr>
              <a:spLocks noEditPoints="1"/>
            </p:cNvSpPr>
            <p:nvPr/>
          </p:nvSpPr>
          <p:spPr bwMode="auto">
            <a:xfrm>
              <a:off x="1346" y="984"/>
              <a:ext cx="1315" cy="668"/>
            </a:xfrm>
            <a:custGeom>
              <a:avLst/>
              <a:gdLst>
                <a:gd name="T0" fmla="*/ 1309 w 1315"/>
                <a:gd name="T1" fmla="*/ 668 h 668"/>
                <a:gd name="T2" fmla="*/ 53 w 1315"/>
                <a:gd name="T3" fmla="*/ 32 h 668"/>
                <a:gd name="T4" fmla="*/ 51 w 1315"/>
                <a:gd name="T5" fmla="*/ 32 h 668"/>
                <a:gd name="T6" fmla="*/ 51 w 1315"/>
                <a:gd name="T7" fmla="*/ 29 h 668"/>
                <a:gd name="T8" fmla="*/ 51 w 1315"/>
                <a:gd name="T9" fmla="*/ 28 h 668"/>
                <a:gd name="T10" fmla="*/ 51 w 1315"/>
                <a:gd name="T11" fmla="*/ 26 h 668"/>
                <a:gd name="T12" fmla="*/ 53 w 1315"/>
                <a:gd name="T13" fmla="*/ 25 h 668"/>
                <a:gd name="T14" fmla="*/ 54 w 1315"/>
                <a:gd name="T15" fmla="*/ 25 h 668"/>
                <a:gd name="T16" fmla="*/ 56 w 1315"/>
                <a:gd name="T17" fmla="*/ 23 h 668"/>
                <a:gd name="T18" fmla="*/ 57 w 1315"/>
                <a:gd name="T19" fmla="*/ 25 h 668"/>
                <a:gd name="T20" fmla="*/ 1313 w 1315"/>
                <a:gd name="T21" fmla="*/ 659 h 668"/>
                <a:gd name="T22" fmla="*/ 1313 w 1315"/>
                <a:gd name="T23" fmla="*/ 661 h 668"/>
                <a:gd name="T24" fmla="*/ 1315 w 1315"/>
                <a:gd name="T25" fmla="*/ 662 h 668"/>
                <a:gd name="T26" fmla="*/ 1315 w 1315"/>
                <a:gd name="T27" fmla="*/ 664 h 668"/>
                <a:gd name="T28" fmla="*/ 1315 w 1315"/>
                <a:gd name="T29" fmla="*/ 667 h 668"/>
                <a:gd name="T30" fmla="*/ 1313 w 1315"/>
                <a:gd name="T31" fmla="*/ 667 h 668"/>
                <a:gd name="T32" fmla="*/ 1312 w 1315"/>
                <a:gd name="T33" fmla="*/ 668 h 668"/>
                <a:gd name="T34" fmla="*/ 1310 w 1315"/>
                <a:gd name="T35" fmla="*/ 668 h 668"/>
                <a:gd name="T36" fmla="*/ 1309 w 1315"/>
                <a:gd name="T37" fmla="*/ 668 h 668"/>
                <a:gd name="T38" fmla="*/ 1309 w 1315"/>
                <a:gd name="T39" fmla="*/ 668 h 668"/>
                <a:gd name="T40" fmla="*/ 50 w 1315"/>
                <a:gd name="T41" fmla="*/ 69 h 668"/>
                <a:gd name="T42" fmla="*/ 0 w 1315"/>
                <a:gd name="T43" fmla="*/ 0 h 668"/>
                <a:gd name="T44" fmla="*/ 85 w 1315"/>
                <a:gd name="T45" fmla="*/ 0 h 668"/>
                <a:gd name="T46" fmla="*/ 50 w 1315"/>
                <a:gd name="T47" fmla="*/ 69 h 6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15" h="668">
                  <a:moveTo>
                    <a:pt x="1309" y="668"/>
                  </a:moveTo>
                  <a:lnTo>
                    <a:pt x="53" y="32"/>
                  </a:lnTo>
                  <a:lnTo>
                    <a:pt x="51" y="32"/>
                  </a:lnTo>
                  <a:lnTo>
                    <a:pt x="51" y="29"/>
                  </a:lnTo>
                  <a:lnTo>
                    <a:pt x="51" y="28"/>
                  </a:lnTo>
                  <a:lnTo>
                    <a:pt x="51" y="26"/>
                  </a:lnTo>
                  <a:lnTo>
                    <a:pt x="53" y="25"/>
                  </a:lnTo>
                  <a:lnTo>
                    <a:pt x="54" y="25"/>
                  </a:lnTo>
                  <a:lnTo>
                    <a:pt x="56" y="23"/>
                  </a:lnTo>
                  <a:lnTo>
                    <a:pt x="57" y="25"/>
                  </a:lnTo>
                  <a:lnTo>
                    <a:pt x="1313" y="659"/>
                  </a:lnTo>
                  <a:lnTo>
                    <a:pt x="1313" y="661"/>
                  </a:lnTo>
                  <a:lnTo>
                    <a:pt x="1315" y="662"/>
                  </a:lnTo>
                  <a:lnTo>
                    <a:pt x="1315" y="664"/>
                  </a:lnTo>
                  <a:lnTo>
                    <a:pt x="1315" y="667"/>
                  </a:lnTo>
                  <a:lnTo>
                    <a:pt x="1313" y="667"/>
                  </a:lnTo>
                  <a:lnTo>
                    <a:pt x="1312" y="668"/>
                  </a:lnTo>
                  <a:lnTo>
                    <a:pt x="1310" y="668"/>
                  </a:lnTo>
                  <a:lnTo>
                    <a:pt x="1309" y="668"/>
                  </a:lnTo>
                  <a:lnTo>
                    <a:pt x="1309" y="668"/>
                  </a:lnTo>
                  <a:close/>
                  <a:moveTo>
                    <a:pt x="50" y="69"/>
                  </a:moveTo>
                  <a:lnTo>
                    <a:pt x="0" y="0"/>
                  </a:lnTo>
                  <a:lnTo>
                    <a:pt x="85" y="0"/>
                  </a:lnTo>
                  <a:lnTo>
                    <a:pt x="50" y="69"/>
                  </a:lnTo>
                  <a:close/>
                </a:path>
              </a:pathLst>
            </a:custGeom>
            <a:solidFill>
              <a:srgbClr val="000000"/>
            </a:solidFill>
            <a:ln w="3175">
              <a:solidFill>
                <a:srgbClr val="000000"/>
              </a:solidFill>
              <a:prstDash val="solid"/>
              <a:round/>
              <a:headEnd/>
              <a:tailEnd/>
            </a:ln>
          </p:spPr>
          <p:txBody>
            <a:bodyPr/>
            <a:lstStyle/>
            <a:p>
              <a:endParaRPr lang="en-IN"/>
            </a:p>
          </p:txBody>
        </p:sp>
        <p:sp>
          <p:nvSpPr>
            <p:cNvPr id="115738" name="Freeform 26">
              <a:extLst>
                <a:ext uri="{FF2B5EF4-FFF2-40B4-BE49-F238E27FC236}">
                  <a16:creationId xmlns:a16="http://schemas.microsoft.com/office/drawing/2014/main" id="{227A2CA4-26F4-6DFD-8E48-D63FCC3E6095}"/>
                </a:ext>
              </a:extLst>
            </p:cNvPr>
            <p:cNvSpPr>
              <a:spLocks noEditPoints="1"/>
            </p:cNvSpPr>
            <p:nvPr/>
          </p:nvSpPr>
          <p:spPr bwMode="auto">
            <a:xfrm>
              <a:off x="1464" y="866"/>
              <a:ext cx="973" cy="114"/>
            </a:xfrm>
            <a:custGeom>
              <a:avLst/>
              <a:gdLst>
                <a:gd name="T0" fmla="*/ 5 w 973"/>
                <a:gd name="T1" fmla="*/ 103 h 114"/>
                <a:gd name="T2" fmla="*/ 911 w 973"/>
                <a:gd name="T3" fmla="*/ 33 h 114"/>
                <a:gd name="T4" fmla="*/ 912 w 973"/>
                <a:gd name="T5" fmla="*/ 33 h 114"/>
                <a:gd name="T6" fmla="*/ 914 w 973"/>
                <a:gd name="T7" fmla="*/ 33 h 114"/>
                <a:gd name="T8" fmla="*/ 915 w 973"/>
                <a:gd name="T9" fmla="*/ 35 h 114"/>
                <a:gd name="T10" fmla="*/ 915 w 973"/>
                <a:gd name="T11" fmla="*/ 38 h 114"/>
                <a:gd name="T12" fmla="*/ 915 w 973"/>
                <a:gd name="T13" fmla="*/ 39 h 114"/>
                <a:gd name="T14" fmla="*/ 914 w 973"/>
                <a:gd name="T15" fmla="*/ 41 h 114"/>
                <a:gd name="T16" fmla="*/ 912 w 973"/>
                <a:gd name="T17" fmla="*/ 41 h 114"/>
                <a:gd name="T18" fmla="*/ 911 w 973"/>
                <a:gd name="T19" fmla="*/ 42 h 114"/>
                <a:gd name="T20" fmla="*/ 5 w 973"/>
                <a:gd name="T21" fmla="*/ 114 h 114"/>
                <a:gd name="T22" fmla="*/ 3 w 973"/>
                <a:gd name="T23" fmla="*/ 112 h 114"/>
                <a:gd name="T24" fmla="*/ 2 w 973"/>
                <a:gd name="T25" fmla="*/ 112 h 114"/>
                <a:gd name="T26" fmla="*/ 0 w 973"/>
                <a:gd name="T27" fmla="*/ 111 h 114"/>
                <a:gd name="T28" fmla="*/ 0 w 973"/>
                <a:gd name="T29" fmla="*/ 109 h 114"/>
                <a:gd name="T30" fmla="*/ 0 w 973"/>
                <a:gd name="T31" fmla="*/ 106 h 114"/>
                <a:gd name="T32" fmla="*/ 0 w 973"/>
                <a:gd name="T33" fmla="*/ 105 h 114"/>
                <a:gd name="T34" fmla="*/ 2 w 973"/>
                <a:gd name="T35" fmla="*/ 105 h 114"/>
                <a:gd name="T36" fmla="*/ 5 w 973"/>
                <a:gd name="T37" fmla="*/ 103 h 114"/>
                <a:gd name="T38" fmla="*/ 5 w 973"/>
                <a:gd name="T39" fmla="*/ 103 h 114"/>
                <a:gd name="T40" fmla="*/ 896 w 973"/>
                <a:gd name="T41" fmla="*/ 0 h 114"/>
                <a:gd name="T42" fmla="*/ 973 w 973"/>
                <a:gd name="T43" fmla="*/ 32 h 114"/>
                <a:gd name="T44" fmla="*/ 902 w 973"/>
                <a:gd name="T45" fmla="*/ 76 h 114"/>
                <a:gd name="T46" fmla="*/ 896 w 973"/>
                <a:gd name="T47"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73" h="114">
                  <a:moveTo>
                    <a:pt x="5" y="103"/>
                  </a:moveTo>
                  <a:lnTo>
                    <a:pt x="911" y="33"/>
                  </a:lnTo>
                  <a:lnTo>
                    <a:pt x="912" y="33"/>
                  </a:lnTo>
                  <a:lnTo>
                    <a:pt x="914" y="33"/>
                  </a:lnTo>
                  <a:lnTo>
                    <a:pt x="915" y="35"/>
                  </a:lnTo>
                  <a:lnTo>
                    <a:pt x="915" y="38"/>
                  </a:lnTo>
                  <a:lnTo>
                    <a:pt x="915" y="39"/>
                  </a:lnTo>
                  <a:lnTo>
                    <a:pt x="914" y="41"/>
                  </a:lnTo>
                  <a:lnTo>
                    <a:pt x="912" y="41"/>
                  </a:lnTo>
                  <a:lnTo>
                    <a:pt x="911" y="42"/>
                  </a:lnTo>
                  <a:lnTo>
                    <a:pt x="5" y="114"/>
                  </a:lnTo>
                  <a:lnTo>
                    <a:pt x="3" y="112"/>
                  </a:lnTo>
                  <a:lnTo>
                    <a:pt x="2" y="112"/>
                  </a:lnTo>
                  <a:lnTo>
                    <a:pt x="0" y="111"/>
                  </a:lnTo>
                  <a:lnTo>
                    <a:pt x="0" y="109"/>
                  </a:lnTo>
                  <a:lnTo>
                    <a:pt x="0" y="106"/>
                  </a:lnTo>
                  <a:lnTo>
                    <a:pt x="0" y="105"/>
                  </a:lnTo>
                  <a:lnTo>
                    <a:pt x="2" y="105"/>
                  </a:lnTo>
                  <a:lnTo>
                    <a:pt x="5" y="103"/>
                  </a:lnTo>
                  <a:lnTo>
                    <a:pt x="5" y="103"/>
                  </a:lnTo>
                  <a:close/>
                  <a:moveTo>
                    <a:pt x="896" y="0"/>
                  </a:moveTo>
                  <a:lnTo>
                    <a:pt x="973" y="32"/>
                  </a:lnTo>
                  <a:lnTo>
                    <a:pt x="902" y="76"/>
                  </a:lnTo>
                  <a:lnTo>
                    <a:pt x="896" y="0"/>
                  </a:lnTo>
                  <a:close/>
                </a:path>
              </a:pathLst>
            </a:custGeom>
            <a:solidFill>
              <a:srgbClr val="000000"/>
            </a:solidFill>
            <a:ln w="3175">
              <a:solidFill>
                <a:srgbClr val="000000"/>
              </a:solidFill>
              <a:prstDash val="solid"/>
              <a:round/>
              <a:headEnd/>
              <a:tailEnd/>
            </a:ln>
          </p:spPr>
          <p:txBody>
            <a:bodyPr/>
            <a:lstStyle/>
            <a:p>
              <a:endParaRPr lang="en-IN"/>
            </a:p>
          </p:txBody>
        </p:sp>
        <p:sp>
          <p:nvSpPr>
            <p:cNvPr id="115739" name="Freeform 27">
              <a:extLst>
                <a:ext uri="{FF2B5EF4-FFF2-40B4-BE49-F238E27FC236}">
                  <a16:creationId xmlns:a16="http://schemas.microsoft.com/office/drawing/2014/main" id="{D7D7FF44-0F79-C5A4-563D-24751DC82B27}"/>
                </a:ext>
              </a:extLst>
            </p:cNvPr>
            <p:cNvSpPr>
              <a:spLocks noEditPoints="1"/>
            </p:cNvSpPr>
            <p:nvPr/>
          </p:nvSpPr>
          <p:spPr bwMode="auto">
            <a:xfrm>
              <a:off x="2709" y="922"/>
              <a:ext cx="783" cy="264"/>
            </a:xfrm>
            <a:custGeom>
              <a:avLst/>
              <a:gdLst>
                <a:gd name="T0" fmla="*/ 6 w 783"/>
                <a:gd name="T1" fmla="*/ 0 h 264"/>
                <a:gd name="T2" fmla="*/ 724 w 783"/>
                <a:gd name="T3" fmla="*/ 228 h 264"/>
                <a:gd name="T4" fmla="*/ 725 w 783"/>
                <a:gd name="T5" fmla="*/ 229 h 264"/>
                <a:gd name="T6" fmla="*/ 727 w 783"/>
                <a:gd name="T7" fmla="*/ 231 h 264"/>
                <a:gd name="T8" fmla="*/ 728 w 783"/>
                <a:gd name="T9" fmla="*/ 232 h 264"/>
                <a:gd name="T10" fmla="*/ 728 w 783"/>
                <a:gd name="T11" fmla="*/ 234 h 264"/>
                <a:gd name="T12" fmla="*/ 727 w 783"/>
                <a:gd name="T13" fmla="*/ 235 h 264"/>
                <a:gd name="T14" fmla="*/ 725 w 783"/>
                <a:gd name="T15" fmla="*/ 237 h 264"/>
                <a:gd name="T16" fmla="*/ 724 w 783"/>
                <a:gd name="T17" fmla="*/ 237 h 264"/>
                <a:gd name="T18" fmla="*/ 722 w 783"/>
                <a:gd name="T19" fmla="*/ 237 h 264"/>
                <a:gd name="T20" fmla="*/ 3 w 783"/>
                <a:gd name="T21" fmla="*/ 9 h 264"/>
                <a:gd name="T22" fmla="*/ 2 w 783"/>
                <a:gd name="T23" fmla="*/ 8 h 264"/>
                <a:gd name="T24" fmla="*/ 0 w 783"/>
                <a:gd name="T25" fmla="*/ 8 h 264"/>
                <a:gd name="T26" fmla="*/ 0 w 783"/>
                <a:gd name="T27" fmla="*/ 5 h 264"/>
                <a:gd name="T28" fmla="*/ 0 w 783"/>
                <a:gd name="T29" fmla="*/ 3 h 264"/>
                <a:gd name="T30" fmla="*/ 0 w 783"/>
                <a:gd name="T31" fmla="*/ 2 h 264"/>
                <a:gd name="T32" fmla="*/ 2 w 783"/>
                <a:gd name="T33" fmla="*/ 0 h 264"/>
                <a:gd name="T34" fmla="*/ 3 w 783"/>
                <a:gd name="T35" fmla="*/ 0 h 264"/>
                <a:gd name="T36" fmla="*/ 6 w 783"/>
                <a:gd name="T37" fmla="*/ 0 h 264"/>
                <a:gd name="T38" fmla="*/ 6 w 783"/>
                <a:gd name="T39" fmla="*/ 0 h 264"/>
                <a:gd name="T40" fmla="*/ 722 w 783"/>
                <a:gd name="T41" fmla="*/ 193 h 264"/>
                <a:gd name="T42" fmla="*/ 783 w 783"/>
                <a:gd name="T43" fmla="*/ 252 h 264"/>
                <a:gd name="T44" fmla="*/ 700 w 783"/>
                <a:gd name="T45" fmla="*/ 264 h 264"/>
                <a:gd name="T46" fmla="*/ 722 w 783"/>
                <a:gd name="T47" fmla="*/ 193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83" h="264">
                  <a:moveTo>
                    <a:pt x="6" y="0"/>
                  </a:moveTo>
                  <a:lnTo>
                    <a:pt x="724" y="228"/>
                  </a:lnTo>
                  <a:lnTo>
                    <a:pt x="725" y="229"/>
                  </a:lnTo>
                  <a:lnTo>
                    <a:pt x="727" y="231"/>
                  </a:lnTo>
                  <a:lnTo>
                    <a:pt x="728" y="232"/>
                  </a:lnTo>
                  <a:lnTo>
                    <a:pt x="728" y="234"/>
                  </a:lnTo>
                  <a:lnTo>
                    <a:pt x="727" y="235"/>
                  </a:lnTo>
                  <a:lnTo>
                    <a:pt x="725" y="237"/>
                  </a:lnTo>
                  <a:lnTo>
                    <a:pt x="724" y="237"/>
                  </a:lnTo>
                  <a:lnTo>
                    <a:pt x="722" y="237"/>
                  </a:lnTo>
                  <a:lnTo>
                    <a:pt x="3" y="9"/>
                  </a:lnTo>
                  <a:lnTo>
                    <a:pt x="2" y="8"/>
                  </a:lnTo>
                  <a:lnTo>
                    <a:pt x="0" y="8"/>
                  </a:lnTo>
                  <a:lnTo>
                    <a:pt x="0" y="5"/>
                  </a:lnTo>
                  <a:lnTo>
                    <a:pt x="0" y="3"/>
                  </a:lnTo>
                  <a:lnTo>
                    <a:pt x="0" y="2"/>
                  </a:lnTo>
                  <a:lnTo>
                    <a:pt x="2" y="0"/>
                  </a:lnTo>
                  <a:lnTo>
                    <a:pt x="3" y="0"/>
                  </a:lnTo>
                  <a:lnTo>
                    <a:pt x="6" y="0"/>
                  </a:lnTo>
                  <a:lnTo>
                    <a:pt x="6" y="0"/>
                  </a:lnTo>
                  <a:close/>
                  <a:moveTo>
                    <a:pt x="722" y="193"/>
                  </a:moveTo>
                  <a:lnTo>
                    <a:pt x="783" y="252"/>
                  </a:lnTo>
                  <a:lnTo>
                    <a:pt x="700" y="264"/>
                  </a:lnTo>
                  <a:lnTo>
                    <a:pt x="722" y="193"/>
                  </a:lnTo>
                  <a:close/>
                </a:path>
              </a:pathLst>
            </a:custGeom>
            <a:solidFill>
              <a:srgbClr val="000000"/>
            </a:solidFill>
            <a:ln w="3175">
              <a:solidFill>
                <a:srgbClr val="000000"/>
              </a:solidFill>
              <a:prstDash val="solid"/>
              <a:round/>
              <a:headEnd/>
              <a:tailEnd/>
            </a:ln>
          </p:spPr>
          <p:txBody>
            <a:bodyPr/>
            <a:lstStyle/>
            <a:p>
              <a:endParaRPr lang="en-IN"/>
            </a:p>
          </p:txBody>
        </p:sp>
        <p:sp>
          <p:nvSpPr>
            <p:cNvPr id="115740" name="Freeform 28">
              <a:extLst>
                <a:ext uri="{FF2B5EF4-FFF2-40B4-BE49-F238E27FC236}">
                  <a16:creationId xmlns:a16="http://schemas.microsoft.com/office/drawing/2014/main" id="{F0A2A421-01B6-DE6F-2342-FFB215DAB98E}"/>
                </a:ext>
              </a:extLst>
            </p:cNvPr>
            <p:cNvSpPr>
              <a:spLocks noEditPoints="1"/>
            </p:cNvSpPr>
            <p:nvPr/>
          </p:nvSpPr>
          <p:spPr bwMode="auto">
            <a:xfrm>
              <a:off x="2937" y="1230"/>
              <a:ext cx="517" cy="357"/>
            </a:xfrm>
            <a:custGeom>
              <a:avLst/>
              <a:gdLst>
                <a:gd name="T0" fmla="*/ 2 w 517"/>
                <a:gd name="T1" fmla="*/ 348 h 357"/>
                <a:gd name="T2" fmla="*/ 462 w 517"/>
                <a:gd name="T3" fmla="*/ 32 h 357"/>
                <a:gd name="T4" fmla="*/ 464 w 517"/>
                <a:gd name="T5" fmla="*/ 32 h 357"/>
                <a:gd name="T6" fmla="*/ 466 w 517"/>
                <a:gd name="T7" fmla="*/ 32 h 357"/>
                <a:gd name="T8" fmla="*/ 467 w 517"/>
                <a:gd name="T9" fmla="*/ 32 h 357"/>
                <a:gd name="T10" fmla="*/ 469 w 517"/>
                <a:gd name="T11" fmla="*/ 34 h 357"/>
                <a:gd name="T12" fmla="*/ 470 w 517"/>
                <a:gd name="T13" fmla="*/ 35 h 357"/>
                <a:gd name="T14" fmla="*/ 470 w 517"/>
                <a:gd name="T15" fmla="*/ 37 h 357"/>
                <a:gd name="T16" fmla="*/ 469 w 517"/>
                <a:gd name="T17" fmla="*/ 38 h 357"/>
                <a:gd name="T18" fmla="*/ 469 w 517"/>
                <a:gd name="T19" fmla="*/ 40 h 357"/>
                <a:gd name="T20" fmla="*/ 8 w 517"/>
                <a:gd name="T21" fmla="*/ 355 h 357"/>
                <a:gd name="T22" fmla="*/ 5 w 517"/>
                <a:gd name="T23" fmla="*/ 357 h 357"/>
                <a:gd name="T24" fmla="*/ 3 w 517"/>
                <a:gd name="T25" fmla="*/ 355 h 357"/>
                <a:gd name="T26" fmla="*/ 2 w 517"/>
                <a:gd name="T27" fmla="*/ 355 h 357"/>
                <a:gd name="T28" fmla="*/ 0 w 517"/>
                <a:gd name="T29" fmla="*/ 354 h 357"/>
                <a:gd name="T30" fmla="*/ 0 w 517"/>
                <a:gd name="T31" fmla="*/ 352 h 357"/>
                <a:gd name="T32" fmla="*/ 0 w 517"/>
                <a:gd name="T33" fmla="*/ 351 h 357"/>
                <a:gd name="T34" fmla="*/ 0 w 517"/>
                <a:gd name="T35" fmla="*/ 349 h 357"/>
                <a:gd name="T36" fmla="*/ 2 w 517"/>
                <a:gd name="T37" fmla="*/ 348 h 357"/>
                <a:gd name="T38" fmla="*/ 2 w 517"/>
                <a:gd name="T39" fmla="*/ 348 h 357"/>
                <a:gd name="T40" fmla="*/ 434 w 517"/>
                <a:gd name="T41" fmla="*/ 12 h 357"/>
                <a:gd name="T42" fmla="*/ 517 w 517"/>
                <a:gd name="T43" fmla="*/ 0 h 357"/>
                <a:gd name="T44" fmla="*/ 476 w 517"/>
                <a:gd name="T45" fmla="*/ 75 h 357"/>
                <a:gd name="T46" fmla="*/ 434 w 517"/>
                <a:gd name="T47" fmla="*/ 12 h 3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17" h="357">
                  <a:moveTo>
                    <a:pt x="2" y="348"/>
                  </a:moveTo>
                  <a:lnTo>
                    <a:pt x="462" y="32"/>
                  </a:lnTo>
                  <a:lnTo>
                    <a:pt x="464" y="32"/>
                  </a:lnTo>
                  <a:lnTo>
                    <a:pt x="466" y="32"/>
                  </a:lnTo>
                  <a:lnTo>
                    <a:pt x="467" y="32"/>
                  </a:lnTo>
                  <a:lnTo>
                    <a:pt x="469" y="34"/>
                  </a:lnTo>
                  <a:lnTo>
                    <a:pt x="470" y="35"/>
                  </a:lnTo>
                  <a:lnTo>
                    <a:pt x="470" y="37"/>
                  </a:lnTo>
                  <a:lnTo>
                    <a:pt x="469" y="38"/>
                  </a:lnTo>
                  <a:lnTo>
                    <a:pt x="469" y="40"/>
                  </a:lnTo>
                  <a:lnTo>
                    <a:pt x="8" y="355"/>
                  </a:lnTo>
                  <a:lnTo>
                    <a:pt x="5" y="357"/>
                  </a:lnTo>
                  <a:lnTo>
                    <a:pt x="3" y="355"/>
                  </a:lnTo>
                  <a:lnTo>
                    <a:pt x="2" y="355"/>
                  </a:lnTo>
                  <a:lnTo>
                    <a:pt x="0" y="354"/>
                  </a:lnTo>
                  <a:lnTo>
                    <a:pt x="0" y="352"/>
                  </a:lnTo>
                  <a:lnTo>
                    <a:pt x="0" y="351"/>
                  </a:lnTo>
                  <a:lnTo>
                    <a:pt x="0" y="349"/>
                  </a:lnTo>
                  <a:lnTo>
                    <a:pt x="2" y="348"/>
                  </a:lnTo>
                  <a:lnTo>
                    <a:pt x="2" y="348"/>
                  </a:lnTo>
                  <a:close/>
                  <a:moveTo>
                    <a:pt x="434" y="12"/>
                  </a:moveTo>
                  <a:lnTo>
                    <a:pt x="517" y="0"/>
                  </a:lnTo>
                  <a:lnTo>
                    <a:pt x="476" y="75"/>
                  </a:lnTo>
                  <a:lnTo>
                    <a:pt x="434" y="12"/>
                  </a:lnTo>
                  <a:close/>
                </a:path>
              </a:pathLst>
            </a:custGeom>
            <a:solidFill>
              <a:srgbClr val="000000"/>
            </a:solidFill>
            <a:ln w="3175">
              <a:solidFill>
                <a:srgbClr val="000000"/>
              </a:solidFill>
              <a:prstDash val="solid"/>
              <a:round/>
              <a:headEnd/>
              <a:tailEnd/>
            </a:ln>
          </p:spPr>
          <p:txBody>
            <a:bodyPr/>
            <a:lstStyle/>
            <a:p>
              <a:endParaRPr lang="en-IN"/>
            </a:p>
          </p:txBody>
        </p:sp>
        <p:sp>
          <p:nvSpPr>
            <p:cNvPr id="115741" name="Rectangle 29">
              <a:extLst>
                <a:ext uri="{FF2B5EF4-FFF2-40B4-BE49-F238E27FC236}">
                  <a16:creationId xmlns:a16="http://schemas.microsoft.com/office/drawing/2014/main" id="{155F55C4-FDB3-2BF0-42B2-2086DD706734}"/>
                </a:ext>
              </a:extLst>
            </p:cNvPr>
            <p:cNvSpPr>
              <a:spLocks noChangeArrowheads="1"/>
            </p:cNvSpPr>
            <p:nvPr/>
          </p:nvSpPr>
          <p:spPr bwMode="auto">
            <a:xfrm>
              <a:off x="757" y="1281"/>
              <a:ext cx="165"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t>12</a:t>
              </a:r>
              <a:endParaRPr lang="en-US" altLang="en-US"/>
            </a:p>
          </p:txBody>
        </p:sp>
        <p:sp>
          <p:nvSpPr>
            <p:cNvPr id="115742" name="Rectangle 30">
              <a:extLst>
                <a:ext uri="{FF2B5EF4-FFF2-40B4-BE49-F238E27FC236}">
                  <a16:creationId xmlns:a16="http://schemas.microsoft.com/office/drawing/2014/main" id="{4025E7E8-1888-666F-F473-8F7CAA01D059}"/>
                </a:ext>
              </a:extLst>
            </p:cNvPr>
            <p:cNvSpPr>
              <a:spLocks noChangeArrowheads="1"/>
            </p:cNvSpPr>
            <p:nvPr/>
          </p:nvSpPr>
          <p:spPr bwMode="auto">
            <a:xfrm>
              <a:off x="861" y="1659"/>
              <a:ext cx="8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t>6</a:t>
              </a:r>
              <a:endParaRPr lang="en-US" altLang="en-US"/>
            </a:p>
          </p:txBody>
        </p:sp>
        <p:sp>
          <p:nvSpPr>
            <p:cNvPr id="115743" name="Rectangle 31">
              <a:extLst>
                <a:ext uri="{FF2B5EF4-FFF2-40B4-BE49-F238E27FC236}">
                  <a16:creationId xmlns:a16="http://schemas.microsoft.com/office/drawing/2014/main" id="{2CBACF3B-8D46-AFF1-BA14-250E7CA86B0E}"/>
                </a:ext>
              </a:extLst>
            </p:cNvPr>
            <p:cNvSpPr>
              <a:spLocks noChangeArrowheads="1"/>
            </p:cNvSpPr>
            <p:nvPr/>
          </p:nvSpPr>
          <p:spPr bwMode="auto">
            <a:xfrm>
              <a:off x="1042" y="1395"/>
              <a:ext cx="8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t>0</a:t>
              </a:r>
              <a:endParaRPr lang="en-US" altLang="en-US"/>
            </a:p>
          </p:txBody>
        </p:sp>
        <p:sp>
          <p:nvSpPr>
            <p:cNvPr id="115744" name="Rectangle 32">
              <a:extLst>
                <a:ext uri="{FF2B5EF4-FFF2-40B4-BE49-F238E27FC236}">
                  <a16:creationId xmlns:a16="http://schemas.microsoft.com/office/drawing/2014/main" id="{0311486A-D7F2-F48A-E03F-E99F9740B63C}"/>
                </a:ext>
              </a:extLst>
            </p:cNvPr>
            <p:cNvSpPr>
              <a:spLocks noChangeArrowheads="1"/>
            </p:cNvSpPr>
            <p:nvPr/>
          </p:nvSpPr>
          <p:spPr bwMode="auto">
            <a:xfrm>
              <a:off x="1983" y="1147"/>
              <a:ext cx="8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t>0</a:t>
              </a:r>
              <a:endParaRPr lang="en-US" altLang="en-US"/>
            </a:p>
          </p:txBody>
        </p:sp>
        <p:sp>
          <p:nvSpPr>
            <p:cNvPr id="115745" name="Rectangle 33">
              <a:extLst>
                <a:ext uri="{FF2B5EF4-FFF2-40B4-BE49-F238E27FC236}">
                  <a16:creationId xmlns:a16="http://schemas.microsoft.com/office/drawing/2014/main" id="{CBBE57CE-4602-CAAD-7489-42B6EF0C6D8D}"/>
                </a:ext>
              </a:extLst>
            </p:cNvPr>
            <p:cNvSpPr>
              <a:spLocks noChangeArrowheads="1"/>
            </p:cNvSpPr>
            <p:nvPr/>
          </p:nvSpPr>
          <p:spPr bwMode="auto">
            <a:xfrm>
              <a:off x="3010" y="1033"/>
              <a:ext cx="8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t>8</a:t>
              </a:r>
              <a:endParaRPr lang="en-US" altLang="en-US"/>
            </a:p>
          </p:txBody>
        </p:sp>
        <p:sp>
          <p:nvSpPr>
            <p:cNvPr id="115746" name="Rectangle 34">
              <a:extLst>
                <a:ext uri="{FF2B5EF4-FFF2-40B4-BE49-F238E27FC236}">
                  <a16:creationId xmlns:a16="http://schemas.microsoft.com/office/drawing/2014/main" id="{518EF18C-E6AF-F351-FE17-808058ED39A5}"/>
                </a:ext>
              </a:extLst>
            </p:cNvPr>
            <p:cNvSpPr>
              <a:spLocks noChangeArrowheads="1"/>
            </p:cNvSpPr>
            <p:nvPr/>
          </p:nvSpPr>
          <p:spPr bwMode="auto">
            <a:xfrm>
              <a:off x="3013" y="1314"/>
              <a:ext cx="165"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t>10</a:t>
              </a:r>
              <a:endParaRPr lang="en-US" altLang="en-US"/>
            </a:p>
          </p:txBody>
        </p:sp>
        <p:sp>
          <p:nvSpPr>
            <p:cNvPr id="115747" name="Rectangle 35">
              <a:extLst>
                <a:ext uri="{FF2B5EF4-FFF2-40B4-BE49-F238E27FC236}">
                  <a16:creationId xmlns:a16="http://schemas.microsoft.com/office/drawing/2014/main" id="{8FB046EE-C5F4-19FC-5AF7-D2FC32A9870C}"/>
                </a:ext>
              </a:extLst>
            </p:cNvPr>
            <p:cNvSpPr>
              <a:spLocks noChangeArrowheads="1"/>
            </p:cNvSpPr>
            <p:nvPr/>
          </p:nvSpPr>
          <p:spPr bwMode="auto">
            <a:xfrm>
              <a:off x="2021" y="1752"/>
              <a:ext cx="8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t>6</a:t>
              </a:r>
              <a:endParaRPr lang="en-US" altLang="en-US"/>
            </a:p>
          </p:txBody>
        </p:sp>
        <p:sp>
          <p:nvSpPr>
            <p:cNvPr id="115748" name="Freeform 36">
              <a:extLst>
                <a:ext uri="{FF2B5EF4-FFF2-40B4-BE49-F238E27FC236}">
                  <a16:creationId xmlns:a16="http://schemas.microsoft.com/office/drawing/2014/main" id="{62CD0A7E-F6B0-9888-A1E0-C1F75C825B98}"/>
                </a:ext>
              </a:extLst>
            </p:cNvPr>
            <p:cNvSpPr>
              <a:spLocks/>
            </p:cNvSpPr>
            <p:nvPr/>
          </p:nvSpPr>
          <p:spPr bwMode="auto">
            <a:xfrm>
              <a:off x="3550" y="1088"/>
              <a:ext cx="170" cy="171"/>
            </a:xfrm>
            <a:custGeom>
              <a:avLst/>
              <a:gdLst>
                <a:gd name="T0" fmla="*/ 76 w 170"/>
                <a:gd name="T1" fmla="*/ 1 h 171"/>
                <a:gd name="T2" fmla="*/ 59 w 170"/>
                <a:gd name="T3" fmla="*/ 4 h 171"/>
                <a:gd name="T4" fmla="*/ 44 w 170"/>
                <a:gd name="T5" fmla="*/ 10 h 171"/>
                <a:gd name="T6" fmla="*/ 30 w 170"/>
                <a:gd name="T7" fmla="*/ 19 h 171"/>
                <a:gd name="T8" fmla="*/ 18 w 170"/>
                <a:gd name="T9" fmla="*/ 31 h 171"/>
                <a:gd name="T10" fmla="*/ 9 w 170"/>
                <a:gd name="T11" fmla="*/ 45 h 171"/>
                <a:gd name="T12" fmla="*/ 3 w 170"/>
                <a:gd name="T13" fmla="*/ 60 h 171"/>
                <a:gd name="T14" fmla="*/ 0 w 170"/>
                <a:gd name="T15" fmla="*/ 77 h 171"/>
                <a:gd name="T16" fmla="*/ 0 w 170"/>
                <a:gd name="T17" fmla="*/ 94 h 171"/>
                <a:gd name="T18" fmla="*/ 3 w 170"/>
                <a:gd name="T19" fmla="*/ 110 h 171"/>
                <a:gd name="T20" fmla="*/ 9 w 170"/>
                <a:gd name="T21" fmla="*/ 126 h 171"/>
                <a:gd name="T22" fmla="*/ 18 w 170"/>
                <a:gd name="T23" fmla="*/ 139 h 171"/>
                <a:gd name="T24" fmla="*/ 30 w 170"/>
                <a:gd name="T25" fmla="*/ 151 h 171"/>
                <a:gd name="T26" fmla="*/ 44 w 170"/>
                <a:gd name="T27" fmla="*/ 160 h 171"/>
                <a:gd name="T28" fmla="*/ 59 w 170"/>
                <a:gd name="T29" fmla="*/ 167 h 171"/>
                <a:gd name="T30" fmla="*/ 76 w 170"/>
                <a:gd name="T31" fmla="*/ 170 h 171"/>
                <a:gd name="T32" fmla="*/ 94 w 170"/>
                <a:gd name="T33" fmla="*/ 170 h 171"/>
                <a:gd name="T34" fmla="*/ 111 w 170"/>
                <a:gd name="T35" fmla="*/ 167 h 171"/>
                <a:gd name="T36" fmla="*/ 126 w 170"/>
                <a:gd name="T37" fmla="*/ 160 h 171"/>
                <a:gd name="T38" fmla="*/ 140 w 170"/>
                <a:gd name="T39" fmla="*/ 151 h 171"/>
                <a:gd name="T40" fmla="*/ 150 w 170"/>
                <a:gd name="T41" fmla="*/ 139 h 171"/>
                <a:gd name="T42" fmla="*/ 160 w 170"/>
                <a:gd name="T43" fmla="*/ 126 h 171"/>
                <a:gd name="T44" fmla="*/ 167 w 170"/>
                <a:gd name="T45" fmla="*/ 110 h 171"/>
                <a:gd name="T46" fmla="*/ 170 w 170"/>
                <a:gd name="T47" fmla="*/ 94 h 171"/>
                <a:gd name="T48" fmla="*/ 170 w 170"/>
                <a:gd name="T49" fmla="*/ 77 h 171"/>
                <a:gd name="T50" fmla="*/ 167 w 170"/>
                <a:gd name="T51" fmla="*/ 60 h 171"/>
                <a:gd name="T52" fmla="*/ 160 w 170"/>
                <a:gd name="T53" fmla="*/ 45 h 171"/>
                <a:gd name="T54" fmla="*/ 150 w 170"/>
                <a:gd name="T55" fmla="*/ 31 h 171"/>
                <a:gd name="T56" fmla="*/ 140 w 170"/>
                <a:gd name="T57" fmla="*/ 19 h 171"/>
                <a:gd name="T58" fmla="*/ 126 w 170"/>
                <a:gd name="T59" fmla="*/ 10 h 171"/>
                <a:gd name="T60" fmla="*/ 111 w 170"/>
                <a:gd name="T61" fmla="*/ 4 h 171"/>
                <a:gd name="T62" fmla="*/ 94 w 170"/>
                <a:gd name="T63" fmla="*/ 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 h="171">
                  <a:moveTo>
                    <a:pt x="85" y="0"/>
                  </a:moveTo>
                  <a:lnTo>
                    <a:pt x="76" y="1"/>
                  </a:lnTo>
                  <a:lnTo>
                    <a:pt x="67" y="1"/>
                  </a:lnTo>
                  <a:lnTo>
                    <a:pt x="59" y="4"/>
                  </a:lnTo>
                  <a:lnTo>
                    <a:pt x="52" y="7"/>
                  </a:lnTo>
                  <a:lnTo>
                    <a:pt x="44" y="10"/>
                  </a:lnTo>
                  <a:lnTo>
                    <a:pt x="36" y="15"/>
                  </a:lnTo>
                  <a:lnTo>
                    <a:pt x="30" y="19"/>
                  </a:lnTo>
                  <a:lnTo>
                    <a:pt x="24" y="25"/>
                  </a:lnTo>
                  <a:lnTo>
                    <a:pt x="18" y="31"/>
                  </a:lnTo>
                  <a:lnTo>
                    <a:pt x="14" y="37"/>
                  </a:lnTo>
                  <a:lnTo>
                    <a:pt x="9" y="45"/>
                  </a:lnTo>
                  <a:lnTo>
                    <a:pt x="6" y="53"/>
                  </a:lnTo>
                  <a:lnTo>
                    <a:pt x="3" y="60"/>
                  </a:lnTo>
                  <a:lnTo>
                    <a:pt x="1" y="68"/>
                  </a:lnTo>
                  <a:lnTo>
                    <a:pt x="0" y="77"/>
                  </a:lnTo>
                  <a:lnTo>
                    <a:pt x="0" y="86"/>
                  </a:lnTo>
                  <a:lnTo>
                    <a:pt x="0" y="94"/>
                  </a:lnTo>
                  <a:lnTo>
                    <a:pt x="1" y="103"/>
                  </a:lnTo>
                  <a:lnTo>
                    <a:pt x="3" y="110"/>
                  </a:lnTo>
                  <a:lnTo>
                    <a:pt x="6" y="118"/>
                  </a:lnTo>
                  <a:lnTo>
                    <a:pt x="9" y="126"/>
                  </a:lnTo>
                  <a:lnTo>
                    <a:pt x="14" y="133"/>
                  </a:lnTo>
                  <a:lnTo>
                    <a:pt x="18" y="139"/>
                  </a:lnTo>
                  <a:lnTo>
                    <a:pt x="24" y="145"/>
                  </a:lnTo>
                  <a:lnTo>
                    <a:pt x="30" y="151"/>
                  </a:lnTo>
                  <a:lnTo>
                    <a:pt x="36" y="156"/>
                  </a:lnTo>
                  <a:lnTo>
                    <a:pt x="44" y="160"/>
                  </a:lnTo>
                  <a:lnTo>
                    <a:pt x="52" y="163"/>
                  </a:lnTo>
                  <a:lnTo>
                    <a:pt x="59" y="167"/>
                  </a:lnTo>
                  <a:lnTo>
                    <a:pt x="67" y="170"/>
                  </a:lnTo>
                  <a:lnTo>
                    <a:pt x="76" y="170"/>
                  </a:lnTo>
                  <a:lnTo>
                    <a:pt x="85" y="171"/>
                  </a:lnTo>
                  <a:lnTo>
                    <a:pt x="94" y="170"/>
                  </a:lnTo>
                  <a:lnTo>
                    <a:pt x="102" y="170"/>
                  </a:lnTo>
                  <a:lnTo>
                    <a:pt x="111" y="167"/>
                  </a:lnTo>
                  <a:lnTo>
                    <a:pt x="119" y="163"/>
                  </a:lnTo>
                  <a:lnTo>
                    <a:pt x="126" y="160"/>
                  </a:lnTo>
                  <a:lnTo>
                    <a:pt x="132" y="156"/>
                  </a:lnTo>
                  <a:lnTo>
                    <a:pt x="140" y="151"/>
                  </a:lnTo>
                  <a:lnTo>
                    <a:pt x="146" y="145"/>
                  </a:lnTo>
                  <a:lnTo>
                    <a:pt x="150" y="139"/>
                  </a:lnTo>
                  <a:lnTo>
                    <a:pt x="155" y="133"/>
                  </a:lnTo>
                  <a:lnTo>
                    <a:pt x="160" y="126"/>
                  </a:lnTo>
                  <a:lnTo>
                    <a:pt x="164" y="118"/>
                  </a:lnTo>
                  <a:lnTo>
                    <a:pt x="167" y="110"/>
                  </a:lnTo>
                  <a:lnTo>
                    <a:pt x="169" y="103"/>
                  </a:lnTo>
                  <a:lnTo>
                    <a:pt x="170" y="94"/>
                  </a:lnTo>
                  <a:lnTo>
                    <a:pt x="170" y="86"/>
                  </a:lnTo>
                  <a:lnTo>
                    <a:pt x="170" y="77"/>
                  </a:lnTo>
                  <a:lnTo>
                    <a:pt x="169" y="68"/>
                  </a:lnTo>
                  <a:lnTo>
                    <a:pt x="167" y="60"/>
                  </a:lnTo>
                  <a:lnTo>
                    <a:pt x="164" y="53"/>
                  </a:lnTo>
                  <a:lnTo>
                    <a:pt x="160" y="45"/>
                  </a:lnTo>
                  <a:lnTo>
                    <a:pt x="155" y="37"/>
                  </a:lnTo>
                  <a:lnTo>
                    <a:pt x="150" y="31"/>
                  </a:lnTo>
                  <a:lnTo>
                    <a:pt x="146" y="25"/>
                  </a:lnTo>
                  <a:lnTo>
                    <a:pt x="140" y="19"/>
                  </a:lnTo>
                  <a:lnTo>
                    <a:pt x="132" y="15"/>
                  </a:lnTo>
                  <a:lnTo>
                    <a:pt x="126" y="10"/>
                  </a:lnTo>
                  <a:lnTo>
                    <a:pt x="119" y="7"/>
                  </a:lnTo>
                  <a:lnTo>
                    <a:pt x="111" y="4"/>
                  </a:lnTo>
                  <a:lnTo>
                    <a:pt x="102" y="1"/>
                  </a:lnTo>
                  <a:lnTo>
                    <a:pt x="94" y="1"/>
                  </a:lnTo>
                  <a:lnTo>
                    <a:pt x="85" y="0"/>
                  </a:lnTo>
                  <a:close/>
                </a:path>
              </a:pathLst>
            </a:custGeom>
            <a:solidFill>
              <a:srgbClr val="00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5749" name="Freeform 37">
              <a:extLst>
                <a:ext uri="{FF2B5EF4-FFF2-40B4-BE49-F238E27FC236}">
                  <a16:creationId xmlns:a16="http://schemas.microsoft.com/office/drawing/2014/main" id="{F6F0CD73-E083-6F52-ADC6-C0FAADCFCFD1}"/>
                </a:ext>
              </a:extLst>
            </p:cNvPr>
            <p:cNvSpPr>
              <a:spLocks/>
            </p:cNvSpPr>
            <p:nvPr/>
          </p:nvSpPr>
          <p:spPr bwMode="auto">
            <a:xfrm>
              <a:off x="3550" y="1088"/>
              <a:ext cx="170" cy="171"/>
            </a:xfrm>
            <a:custGeom>
              <a:avLst/>
              <a:gdLst>
                <a:gd name="T0" fmla="*/ 76 w 170"/>
                <a:gd name="T1" fmla="*/ 1 h 171"/>
                <a:gd name="T2" fmla="*/ 59 w 170"/>
                <a:gd name="T3" fmla="*/ 4 h 171"/>
                <a:gd name="T4" fmla="*/ 44 w 170"/>
                <a:gd name="T5" fmla="*/ 10 h 171"/>
                <a:gd name="T6" fmla="*/ 30 w 170"/>
                <a:gd name="T7" fmla="*/ 19 h 171"/>
                <a:gd name="T8" fmla="*/ 18 w 170"/>
                <a:gd name="T9" fmla="*/ 31 h 171"/>
                <a:gd name="T10" fmla="*/ 9 w 170"/>
                <a:gd name="T11" fmla="*/ 45 h 171"/>
                <a:gd name="T12" fmla="*/ 3 w 170"/>
                <a:gd name="T13" fmla="*/ 60 h 171"/>
                <a:gd name="T14" fmla="*/ 0 w 170"/>
                <a:gd name="T15" fmla="*/ 77 h 171"/>
                <a:gd name="T16" fmla="*/ 0 w 170"/>
                <a:gd name="T17" fmla="*/ 94 h 171"/>
                <a:gd name="T18" fmla="*/ 3 w 170"/>
                <a:gd name="T19" fmla="*/ 110 h 171"/>
                <a:gd name="T20" fmla="*/ 9 w 170"/>
                <a:gd name="T21" fmla="*/ 126 h 171"/>
                <a:gd name="T22" fmla="*/ 18 w 170"/>
                <a:gd name="T23" fmla="*/ 139 h 171"/>
                <a:gd name="T24" fmla="*/ 30 w 170"/>
                <a:gd name="T25" fmla="*/ 151 h 171"/>
                <a:gd name="T26" fmla="*/ 44 w 170"/>
                <a:gd name="T27" fmla="*/ 160 h 171"/>
                <a:gd name="T28" fmla="*/ 59 w 170"/>
                <a:gd name="T29" fmla="*/ 167 h 171"/>
                <a:gd name="T30" fmla="*/ 76 w 170"/>
                <a:gd name="T31" fmla="*/ 170 h 171"/>
                <a:gd name="T32" fmla="*/ 94 w 170"/>
                <a:gd name="T33" fmla="*/ 170 h 171"/>
                <a:gd name="T34" fmla="*/ 111 w 170"/>
                <a:gd name="T35" fmla="*/ 167 h 171"/>
                <a:gd name="T36" fmla="*/ 126 w 170"/>
                <a:gd name="T37" fmla="*/ 160 h 171"/>
                <a:gd name="T38" fmla="*/ 140 w 170"/>
                <a:gd name="T39" fmla="*/ 151 h 171"/>
                <a:gd name="T40" fmla="*/ 150 w 170"/>
                <a:gd name="T41" fmla="*/ 139 h 171"/>
                <a:gd name="T42" fmla="*/ 160 w 170"/>
                <a:gd name="T43" fmla="*/ 126 h 171"/>
                <a:gd name="T44" fmla="*/ 167 w 170"/>
                <a:gd name="T45" fmla="*/ 110 h 171"/>
                <a:gd name="T46" fmla="*/ 170 w 170"/>
                <a:gd name="T47" fmla="*/ 94 h 171"/>
                <a:gd name="T48" fmla="*/ 170 w 170"/>
                <a:gd name="T49" fmla="*/ 77 h 171"/>
                <a:gd name="T50" fmla="*/ 167 w 170"/>
                <a:gd name="T51" fmla="*/ 60 h 171"/>
                <a:gd name="T52" fmla="*/ 160 w 170"/>
                <a:gd name="T53" fmla="*/ 45 h 171"/>
                <a:gd name="T54" fmla="*/ 150 w 170"/>
                <a:gd name="T55" fmla="*/ 31 h 171"/>
                <a:gd name="T56" fmla="*/ 140 w 170"/>
                <a:gd name="T57" fmla="*/ 19 h 171"/>
                <a:gd name="T58" fmla="*/ 126 w 170"/>
                <a:gd name="T59" fmla="*/ 10 h 171"/>
                <a:gd name="T60" fmla="*/ 111 w 170"/>
                <a:gd name="T61" fmla="*/ 4 h 171"/>
                <a:gd name="T62" fmla="*/ 94 w 170"/>
                <a:gd name="T63" fmla="*/ 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 h="171">
                  <a:moveTo>
                    <a:pt x="85" y="0"/>
                  </a:moveTo>
                  <a:lnTo>
                    <a:pt x="76" y="1"/>
                  </a:lnTo>
                  <a:lnTo>
                    <a:pt x="67" y="1"/>
                  </a:lnTo>
                  <a:lnTo>
                    <a:pt x="59" y="4"/>
                  </a:lnTo>
                  <a:lnTo>
                    <a:pt x="52" y="7"/>
                  </a:lnTo>
                  <a:lnTo>
                    <a:pt x="44" y="10"/>
                  </a:lnTo>
                  <a:lnTo>
                    <a:pt x="36" y="15"/>
                  </a:lnTo>
                  <a:lnTo>
                    <a:pt x="30" y="19"/>
                  </a:lnTo>
                  <a:lnTo>
                    <a:pt x="24" y="25"/>
                  </a:lnTo>
                  <a:lnTo>
                    <a:pt x="18" y="31"/>
                  </a:lnTo>
                  <a:lnTo>
                    <a:pt x="14" y="37"/>
                  </a:lnTo>
                  <a:lnTo>
                    <a:pt x="9" y="45"/>
                  </a:lnTo>
                  <a:lnTo>
                    <a:pt x="6" y="53"/>
                  </a:lnTo>
                  <a:lnTo>
                    <a:pt x="3" y="60"/>
                  </a:lnTo>
                  <a:lnTo>
                    <a:pt x="1" y="68"/>
                  </a:lnTo>
                  <a:lnTo>
                    <a:pt x="0" y="77"/>
                  </a:lnTo>
                  <a:lnTo>
                    <a:pt x="0" y="86"/>
                  </a:lnTo>
                  <a:lnTo>
                    <a:pt x="0" y="94"/>
                  </a:lnTo>
                  <a:lnTo>
                    <a:pt x="1" y="103"/>
                  </a:lnTo>
                  <a:lnTo>
                    <a:pt x="3" y="110"/>
                  </a:lnTo>
                  <a:lnTo>
                    <a:pt x="6" y="118"/>
                  </a:lnTo>
                  <a:lnTo>
                    <a:pt x="9" y="126"/>
                  </a:lnTo>
                  <a:lnTo>
                    <a:pt x="14" y="133"/>
                  </a:lnTo>
                  <a:lnTo>
                    <a:pt x="18" y="139"/>
                  </a:lnTo>
                  <a:lnTo>
                    <a:pt x="24" y="145"/>
                  </a:lnTo>
                  <a:lnTo>
                    <a:pt x="30" y="151"/>
                  </a:lnTo>
                  <a:lnTo>
                    <a:pt x="36" y="156"/>
                  </a:lnTo>
                  <a:lnTo>
                    <a:pt x="44" y="160"/>
                  </a:lnTo>
                  <a:lnTo>
                    <a:pt x="52" y="163"/>
                  </a:lnTo>
                  <a:lnTo>
                    <a:pt x="59" y="167"/>
                  </a:lnTo>
                  <a:lnTo>
                    <a:pt x="67" y="170"/>
                  </a:lnTo>
                  <a:lnTo>
                    <a:pt x="76" y="170"/>
                  </a:lnTo>
                  <a:lnTo>
                    <a:pt x="85" y="171"/>
                  </a:lnTo>
                  <a:lnTo>
                    <a:pt x="94" y="170"/>
                  </a:lnTo>
                  <a:lnTo>
                    <a:pt x="102" y="170"/>
                  </a:lnTo>
                  <a:lnTo>
                    <a:pt x="111" y="167"/>
                  </a:lnTo>
                  <a:lnTo>
                    <a:pt x="119" y="163"/>
                  </a:lnTo>
                  <a:lnTo>
                    <a:pt x="126" y="160"/>
                  </a:lnTo>
                  <a:lnTo>
                    <a:pt x="132" y="156"/>
                  </a:lnTo>
                  <a:lnTo>
                    <a:pt x="140" y="151"/>
                  </a:lnTo>
                  <a:lnTo>
                    <a:pt x="146" y="145"/>
                  </a:lnTo>
                  <a:lnTo>
                    <a:pt x="150" y="139"/>
                  </a:lnTo>
                  <a:lnTo>
                    <a:pt x="155" y="133"/>
                  </a:lnTo>
                  <a:lnTo>
                    <a:pt x="160" y="126"/>
                  </a:lnTo>
                  <a:lnTo>
                    <a:pt x="164" y="118"/>
                  </a:lnTo>
                  <a:lnTo>
                    <a:pt x="167" y="110"/>
                  </a:lnTo>
                  <a:lnTo>
                    <a:pt x="169" y="103"/>
                  </a:lnTo>
                  <a:lnTo>
                    <a:pt x="170" y="94"/>
                  </a:lnTo>
                  <a:lnTo>
                    <a:pt x="170" y="86"/>
                  </a:lnTo>
                  <a:lnTo>
                    <a:pt x="170" y="77"/>
                  </a:lnTo>
                  <a:lnTo>
                    <a:pt x="169" y="68"/>
                  </a:lnTo>
                  <a:lnTo>
                    <a:pt x="167" y="60"/>
                  </a:lnTo>
                  <a:lnTo>
                    <a:pt x="164" y="53"/>
                  </a:lnTo>
                  <a:lnTo>
                    <a:pt x="160" y="45"/>
                  </a:lnTo>
                  <a:lnTo>
                    <a:pt x="155" y="37"/>
                  </a:lnTo>
                  <a:lnTo>
                    <a:pt x="150" y="31"/>
                  </a:lnTo>
                  <a:lnTo>
                    <a:pt x="146" y="25"/>
                  </a:lnTo>
                  <a:lnTo>
                    <a:pt x="140" y="19"/>
                  </a:lnTo>
                  <a:lnTo>
                    <a:pt x="132" y="15"/>
                  </a:lnTo>
                  <a:lnTo>
                    <a:pt x="126" y="10"/>
                  </a:lnTo>
                  <a:lnTo>
                    <a:pt x="119" y="7"/>
                  </a:lnTo>
                  <a:lnTo>
                    <a:pt x="111" y="4"/>
                  </a:lnTo>
                  <a:lnTo>
                    <a:pt x="102" y="1"/>
                  </a:lnTo>
                  <a:lnTo>
                    <a:pt x="94" y="1"/>
                  </a:lnTo>
                  <a:lnTo>
                    <a:pt x="85"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5750" name="Rectangle 38">
              <a:extLst>
                <a:ext uri="{FF2B5EF4-FFF2-40B4-BE49-F238E27FC236}">
                  <a16:creationId xmlns:a16="http://schemas.microsoft.com/office/drawing/2014/main" id="{93B98FA2-59E5-5F09-EFDD-8A9F46D211CF}"/>
                </a:ext>
              </a:extLst>
            </p:cNvPr>
            <p:cNvSpPr>
              <a:spLocks noChangeArrowheads="1"/>
            </p:cNvSpPr>
            <p:nvPr/>
          </p:nvSpPr>
          <p:spPr bwMode="auto">
            <a:xfrm>
              <a:off x="3589" y="1108"/>
              <a:ext cx="100"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t>D</a:t>
              </a:r>
              <a:endParaRPr lang="en-US" altLang="en-US"/>
            </a:p>
          </p:txBody>
        </p:sp>
        <p:sp>
          <p:nvSpPr>
            <p:cNvPr id="115751" name="Freeform 39">
              <a:extLst>
                <a:ext uri="{FF2B5EF4-FFF2-40B4-BE49-F238E27FC236}">
                  <a16:creationId xmlns:a16="http://schemas.microsoft.com/office/drawing/2014/main" id="{7E3BFBF6-205A-E92B-63B8-20ADCF5571D1}"/>
                </a:ext>
              </a:extLst>
            </p:cNvPr>
            <p:cNvSpPr>
              <a:spLocks/>
            </p:cNvSpPr>
            <p:nvPr/>
          </p:nvSpPr>
          <p:spPr bwMode="auto">
            <a:xfrm>
              <a:off x="2504" y="670"/>
              <a:ext cx="172" cy="172"/>
            </a:xfrm>
            <a:custGeom>
              <a:avLst/>
              <a:gdLst>
                <a:gd name="T0" fmla="*/ 78 w 172"/>
                <a:gd name="T1" fmla="*/ 2 h 172"/>
                <a:gd name="T2" fmla="*/ 61 w 172"/>
                <a:gd name="T3" fmla="*/ 5 h 172"/>
                <a:gd name="T4" fmla="*/ 44 w 172"/>
                <a:gd name="T5" fmla="*/ 11 h 172"/>
                <a:gd name="T6" fmla="*/ 32 w 172"/>
                <a:gd name="T7" fmla="*/ 20 h 172"/>
                <a:gd name="T8" fmla="*/ 20 w 172"/>
                <a:gd name="T9" fmla="*/ 32 h 172"/>
                <a:gd name="T10" fmla="*/ 11 w 172"/>
                <a:gd name="T11" fmla="*/ 46 h 172"/>
                <a:gd name="T12" fmla="*/ 5 w 172"/>
                <a:gd name="T13" fmla="*/ 61 h 172"/>
                <a:gd name="T14" fmla="*/ 0 w 172"/>
                <a:gd name="T15" fmla="*/ 77 h 172"/>
                <a:gd name="T16" fmla="*/ 0 w 172"/>
                <a:gd name="T17" fmla="*/ 94 h 172"/>
                <a:gd name="T18" fmla="*/ 5 w 172"/>
                <a:gd name="T19" fmla="*/ 111 h 172"/>
                <a:gd name="T20" fmla="*/ 11 w 172"/>
                <a:gd name="T21" fmla="*/ 126 h 172"/>
                <a:gd name="T22" fmla="*/ 20 w 172"/>
                <a:gd name="T23" fmla="*/ 140 h 172"/>
                <a:gd name="T24" fmla="*/ 32 w 172"/>
                <a:gd name="T25" fmla="*/ 152 h 172"/>
                <a:gd name="T26" fmla="*/ 44 w 172"/>
                <a:gd name="T27" fmla="*/ 161 h 172"/>
                <a:gd name="T28" fmla="*/ 61 w 172"/>
                <a:gd name="T29" fmla="*/ 167 h 172"/>
                <a:gd name="T30" fmla="*/ 78 w 172"/>
                <a:gd name="T31" fmla="*/ 170 h 172"/>
                <a:gd name="T32" fmla="*/ 94 w 172"/>
                <a:gd name="T33" fmla="*/ 170 h 172"/>
                <a:gd name="T34" fmla="*/ 111 w 172"/>
                <a:gd name="T35" fmla="*/ 167 h 172"/>
                <a:gd name="T36" fmla="*/ 126 w 172"/>
                <a:gd name="T37" fmla="*/ 161 h 172"/>
                <a:gd name="T38" fmla="*/ 140 w 172"/>
                <a:gd name="T39" fmla="*/ 152 h 172"/>
                <a:gd name="T40" fmla="*/ 152 w 172"/>
                <a:gd name="T41" fmla="*/ 140 h 172"/>
                <a:gd name="T42" fmla="*/ 161 w 172"/>
                <a:gd name="T43" fmla="*/ 126 h 172"/>
                <a:gd name="T44" fmla="*/ 167 w 172"/>
                <a:gd name="T45" fmla="*/ 111 h 172"/>
                <a:gd name="T46" fmla="*/ 170 w 172"/>
                <a:gd name="T47" fmla="*/ 94 h 172"/>
                <a:gd name="T48" fmla="*/ 170 w 172"/>
                <a:gd name="T49" fmla="*/ 77 h 172"/>
                <a:gd name="T50" fmla="*/ 167 w 172"/>
                <a:gd name="T51" fmla="*/ 61 h 172"/>
                <a:gd name="T52" fmla="*/ 161 w 172"/>
                <a:gd name="T53" fmla="*/ 46 h 172"/>
                <a:gd name="T54" fmla="*/ 152 w 172"/>
                <a:gd name="T55" fmla="*/ 32 h 172"/>
                <a:gd name="T56" fmla="*/ 140 w 172"/>
                <a:gd name="T57" fmla="*/ 20 h 172"/>
                <a:gd name="T58" fmla="*/ 126 w 172"/>
                <a:gd name="T59" fmla="*/ 11 h 172"/>
                <a:gd name="T60" fmla="*/ 111 w 172"/>
                <a:gd name="T61" fmla="*/ 5 h 172"/>
                <a:gd name="T62" fmla="*/ 94 w 172"/>
                <a:gd name="T63" fmla="*/ 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2" h="172">
                  <a:moveTo>
                    <a:pt x="85" y="0"/>
                  </a:moveTo>
                  <a:lnTo>
                    <a:pt x="78" y="2"/>
                  </a:lnTo>
                  <a:lnTo>
                    <a:pt x="68" y="2"/>
                  </a:lnTo>
                  <a:lnTo>
                    <a:pt x="61" y="5"/>
                  </a:lnTo>
                  <a:lnTo>
                    <a:pt x="52" y="8"/>
                  </a:lnTo>
                  <a:lnTo>
                    <a:pt x="44" y="11"/>
                  </a:lnTo>
                  <a:lnTo>
                    <a:pt x="38" y="15"/>
                  </a:lnTo>
                  <a:lnTo>
                    <a:pt x="32" y="20"/>
                  </a:lnTo>
                  <a:lnTo>
                    <a:pt x="26" y="26"/>
                  </a:lnTo>
                  <a:lnTo>
                    <a:pt x="20" y="32"/>
                  </a:lnTo>
                  <a:lnTo>
                    <a:pt x="15" y="38"/>
                  </a:lnTo>
                  <a:lnTo>
                    <a:pt x="11" y="46"/>
                  </a:lnTo>
                  <a:lnTo>
                    <a:pt x="6" y="53"/>
                  </a:lnTo>
                  <a:lnTo>
                    <a:pt x="5" y="61"/>
                  </a:lnTo>
                  <a:lnTo>
                    <a:pt x="2" y="68"/>
                  </a:lnTo>
                  <a:lnTo>
                    <a:pt x="0" y="77"/>
                  </a:lnTo>
                  <a:lnTo>
                    <a:pt x="0" y="87"/>
                  </a:lnTo>
                  <a:lnTo>
                    <a:pt x="0" y="94"/>
                  </a:lnTo>
                  <a:lnTo>
                    <a:pt x="2" y="103"/>
                  </a:lnTo>
                  <a:lnTo>
                    <a:pt x="5" y="111"/>
                  </a:lnTo>
                  <a:lnTo>
                    <a:pt x="6" y="118"/>
                  </a:lnTo>
                  <a:lnTo>
                    <a:pt x="11" y="126"/>
                  </a:lnTo>
                  <a:lnTo>
                    <a:pt x="15" y="134"/>
                  </a:lnTo>
                  <a:lnTo>
                    <a:pt x="20" y="140"/>
                  </a:lnTo>
                  <a:lnTo>
                    <a:pt x="26" y="146"/>
                  </a:lnTo>
                  <a:lnTo>
                    <a:pt x="32" y="152"/>
                  </a:lnTo>
                  <a:lnTo>
                    <a:pt x="38" y="156"/>
                  </a:lnTo>
                  <a:lnTo>
                    <a:pt x="44" y="161"/>
                  </a:lnTo>
                  <a:lnTo>
                    <a:pt x="52" y="164"/>
                  </a:lnTo>
                  <a:lnTo>
                    <a:pt x="61" y="167"/>
                  </a:lnTo>
                  <a:lnTo>
                    <a:pt x="68" y="170"/>
                  </a:lnTo>
                  <a:lnTo>
                    <a:pt x="78" y="170"/>
                  </a:lnTo>
                  <a:lnTo>
                    <a:pt x="85" y="172"/>
                  </a:lnTo>
                  <a:lnTo>
                    <a:pt x="94" y="170"/>
                  </a:lnTo>
                  <a:lnTo>
                    <a:pt x="103" y="170"/>
                  </a:lnTo>
                  <a:lnTo>
                    <a:pt x="111" y="167"/>
                  </a:lnTo>
                  <a:lnTo>
                    <a:pt x="119" y="164"/>
                  </a:lnTo>
                  <a:lnTo>
                    <a:pt x="126" y="161"/>
                  </a:lnTo>
                  <a:lnTo>
                    <a:pt x="134" y="156"/>
                  </a:lnTo>
                  <a:lnTo>
                    <a:pt x="140" y="152"/>
                  </a:lnTo>
                  <a:lnTo>
                    <a:pt x="146" y="146"/>
                  </a:lnTo>
                  <a:lnTo>
                    <a:pt x="152" y="140"/>
                  </a:lnTo>
                  <a:lnTo>
                    <a:pt x="157" y="134"/>
                  </a:lnTo>
                  <a:lnTo>
                    <a:pt x="161" y="126"/>
                  </a:lnTo>
                  <a:lnTo>
                    <a:pt x="164" y="118"/>
                  </a:lnTo>
                  <a:lnTo>
                    <a:pt x="167" y="111"/>
                  </a:lnTo>
                  <a:lnTo>
                    <a:pt x="169" y="103"/>
                  </a:lnTo>
                  <a:lnTo>
                    <a:pt x="170" y="94"/>
                  </a:lnTo>
                  <a:lnTo>
                    <a:pt x="172" y="87"/>
                  </a:lnTo>
                  <a:lnTo>
                    <a:pt x="170" y="77"/>
                  </a:lnTo>
                  <a:lnTo>
                    <a:pt x="169" y="68"/>
                  </a:lnTo>
                  <a:lnTo>
                    <a:pt x="167" y="61"/>
                  </a:lnTo>
                  <a:lnTo>
                    <a:pt x="164" y="53"/>
                  </a:lnTo>
                  <a:lnTo>
                    <a:pt x="161" y="46"/>
                  </a:lnTo>
                  <a:lnTo>
                    <a:pt x="157" y="38"/>
                  </a:lnTo>
                  <a:lnTo>
                    <a:pt x="152" y="32"/>
                  </a:lnTo>
                  <a:lnTo>
                    <a:pt x="146" y="26"/>
                  </a:lnTo>
                  <a:lnTo>
                    <a:pt x="140" y="20"/>
                  </a:lnTo>
                  <a:lnTo>
                    <a:pt x="134" y="15"/>
                  </a:lnTo>
                  <a:lnTo>
                    <a:pt x="126" y="11"/>
                  </a:lnTo>
                  <a:lnTo>
                    <a:pt x="119" y="8"/>
                  </a:lnTo>
                  <a:lnTo>
                    <a:pt x="111" y="5"/>
                  </a:lnTo>
                  <a:lnTo>
                    <a:pt x="103" y="2"/>
                  </a:lnTo>
                  <a:lnTo>
                    <a:pt x="94" y="2"/>
                  </a:lnTo>
                  <a:lnTo>
                    <a:pt x="85" y="0"/>
                  </a:lnTo>
                  <a:close/>
                </a:path>
              </a:pathLst>
            </a:custGeom>
            <a:solidFill>
              <a:srgbClr val="00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5752" name="Freeform 40">
              <a:extLst>
                <a:ext uri="{FF2B5EF4-FFF2-40B4-BE49-F238E27FC236}">
                  <a16:creationId xmlns:a16="http://schemas.microsoft.com/office/drawing/2014/main" id="{873892D0-11D9-0FAE-9460-66A4BD50B7CE}"/>
                </a:ext>
              </a:extLst>
            </p:cNvPr>
            <p:cNvSpPr>
              <a:spLocks/>
            </p:cNvSpPr>
            <p:nvPr/>
          </p:nvSpPr>
          <p:spPr bwMode="auto">
            <a:xfrm>
              <a:off x="2504" y="670"/>
              <a:ext cx="172" cy="172"/>
            </a:xfrm>
            <a:custGeom>
              <a:avLst/>
              <a:gdLst>
                <a:gd name="T0" fmla="*/ 78 w 172"/>
                <a:gd name="T1" fmla="*/ 2 h 172"/>
                <a:gd name="T2" fmla="*/ 61 w 172"/>
                <a:gd name="T3" fmla="*/ 5 h 172"/>
                <a:gd name="T4" fmla="*/ 44 w 172"/>
                <a:gd name="T5" fmla="*/ 11 h 172"/>
                <a:gd name="T6" fmla="*/ 32 w 172"/>
                <a:gd name="T7" fmla="*/ 20 h 172"/>
                <a:gd name="T8" fmla="*/ 20 w 172"/>
                <a:gd name="T9" fmla="*/ 32 h 172"/>
                <a:gd name="T10" fmla="*/ 11 w 172"/>
                <a:gd name="T11" fmla="*/ 46 h 172"/>
                <a:gd name="T12" fmla="*/ 5 w 172"/>
                <a:gd name="T13" fmla="*/ 61 h 172"/>
                <a:gd name="T14" fmla="*/ 0 w 172"/>
                <a:gd name="T15" fmla="*/ 77 h 172"/>
                <a:gd name="T16" fmla="*/ 0 w 172"/>
                <a:gd name="T17" fmla="*/ 94 h 172"/>
                <a:gd name="T18" fmla="*/ 5 w 172"/>
                <a:gd name="T19" fmla="*/ 111 h 172"/>
                <a:gd name="T20" fmla="*/ 11 w 172"/>
                <a:gd name="T21" fmla="*/ 126 h 172"/>
                <a:gd name="T22" fmla="*/ 20 w 172"/>
                <a:gd name="T23" fmla="*/ 140 h 172"/>
                <a:gd name="T24" fmla="*/ 32 w 172"/>
                <a:gd name="T25" fmla="*/ 152 h 172"/>
                <a:gd name="T26" fmla="*/ 44 w 172"/>
                <a:gd name="T27" fmla="*/ 161 h 172"/>
                <a:gd name="T28" fmla="*/ 61 w 172"/>
                <a:gd name="T29" fmla="*/ 167 h 172"/>
                <a:gd name="T30" fmla="*/ 78 w 172"/>
                <a:gd name="T31" fmla="*/ 170 h 172"/>
                <a:gd name="T32" fmla="*/ 94 w 172"/>
                <a:gd name="T33" fmla="*/ 170 h 172"/>
                <a:gd name="T34" fmla="*/ 111 w 172"/>
                <a:gd name="T35" fmla="*/ 167 h 172"/>
                <a:gd name="T36" fmla="*/ 126 w 172"/>
                <a:gd name="T37" fmla="*/ 161 h 172"/>
                <a:gd name="T38" fmla="*/ 140 w 172"/>
                <a:gd name="T39" fmla="*/ 152 h 172"/>
                <a:gd name="T40" fmla="*/ 152 w 172"/>
                <a:gd name="T41" fmla="*/ 140 h 172"/>
                <a:gd name="T42" fmla="*/ 161 w 172"/>
                <a:gd name="T43" fmla="*/ 126 h 172"/>
                <a:gd name="T44" fmla="*/ 167 w 172"/>
                <a:gd name="T45" fmla="*/ 111 h 172"/>
                <a:gd name="T46" fmla="*/ 170 w 172"/>
                <a:gd name="T47" fmla="*/ 94 h 172"/>
                <a:gd name="T48" fmla="*/ 170 w 172"/>
                <a:gd name="T49" fmla="*/ 77 h 172"/>
                <a:gd name="T50" fmla="*/ 167 w 172"/>
                <a:gd name="T51" fmla="*/ 61 h 172"/>
                <a:gd name="T52" fmla="*/ 161 w 172"/>
                <a:gd name="T53" fmla="*/ 46 h 172"/>
                <a:gd name="T54" fmla="*/ 152 w 172"/>
                <a:gd name="T55" fmla="*/ 32 h 172"/>
                <a:gd name="T56" fmla="*/ 140 w 172"/>
                <a:gd name="T57" fmla="*/ 20 h 172"/>
                <a:gd name="T58" fmla="*/ 126 w 172"/>
                <a:gd name="T59" fmla="*/ 11 h 172"/>
                <a:gd name="T60" fmla="*/ 111 w 172"/>
                <a:gd name="T61" fmla="*/ 5 h 172"/>
                <a:gd name="T62" fmla="*/ 94 w 172"/>
                <a:gd name="T63" fmla="*/ 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2" h="172">
                  <a:moveTo>
                    <a:pt x="85" y="0"/>
                  </a:moveTo>
                  <a:lnTo>
                    <a:pt x="78" y="2"/>
                  </a:lnTo>
                  <a:lnTo>
                    <a:pt x="68" y="2"/>
                  </a:lnTo>
                  <a:lnTo>
                    <a:pt x="61" y="5"/>
                  </a:lnTo>
                  <a:lnTo>
                    <a:pt x="52" y="8"/>
                  </a:lnTo>
                  <a:lnTo>
                    <a:pt x="44" y="11"/>
                  </a:lnTo>
                  <a:lnTo>
                    <a:pt x="38" y="15"/>
                  </a:lnTo>
                  <a:lnTo>
                    <a:pt x="32" y="20"/>
                  </a:lnTo>
                  <a:lnTo>
                    <a:pt x="26" y="26"/>
                  </a:lnTo>
                  <a:lnTo>
                    <a:pt x="20" y="32"/>
                  </a:lnTo>
                  <a:lnTo>
                    <a:pt x="15" y="38"/>
                  </a:lnTo>
                  <a:lnTo>
                    <a:pt x="11" y="46"/>
                  </a:lnTo>
                  <a:lnTo>
                    <a:pt x="6" y="53"/>
                  </a:lnTo>
                  <a:lnTo>
                    <a:pt x="5" y="61"/>
                  </a:lnTo>
                  <a:lnTo>
                    <a:pt x="2" y="68"/>
                  </a:lnTo>
                  <a:lnTo>
                    <a:pt x="0" y="77"/>
                  </a:lnTo>
                  <a:lnTo>
                    <a:pt x="0" y="87"/>
                  </a:lnTo>
                  <a:lnTo>
                    <a:pt x="0" y="94"/>
                  </a:lnTo>
                  <a:lnTo>
                    <a:pt x="2" y="103"/>
                  </a:lnTo>
                  <a:lnTo>
                    <a:pt x="5" y="111"/>
                  </a:lnTo>
                  <a:lnTo>
                    <a:pt x="6" y="118"/>
                  </a:lnTo>
                  <a:lnTo>
                    <a:pt x="11" y="126"/>
                  </a:lnTo>
                  <a:lnTo>
                    <a:pt x="15" y="134"/>
                  </a:lnTo>
                  <a:lnTo>
                    <a:pt x="20" y="140"/>
                  </a:lnTo>
                  <a:lnTo>
                    <a:pt x="26" y="146"/>
                  </a:lnTo>
                  <a:lnTo>
                    <a:pt x="32" y="152"/>
                  </a:lnTo>
                  <a:lnTo>
                    <a:pt x="38" y="156"/>
                  </a:lnTo>
                  <a:lnTo>
                    <a:pt x="44" y="161"/>
                  </a:lnTo>
                  <a:lnTo>
                    <a:pt x="52" y="164"/>
                  </a:lnTo>
                  <a:lnTo>
                    <a:pt x="61" y="167"/>
                  </a:lnTo>
                  <a:lnTo>
                    <a:pt x="68" y="170"/>
                  </a:lnTo>
                  <a:lnTo>
                    <a:pt x="78" y="170"/>
                  </a:lnTo>
                  <a:lnTo>
                    <a:pt x="85" y="172"/>
                  </a:lnTo>
                  <a:lnTo>
                    <a:pt x="94" y="170"/>
                  </a:lnTo>
                  <a:lnTo>
                    <a:pt x="103" y="170"/>
                  </a:lnTo>
                  <a:lnTo>
                    <a:pt x="111" y="167"/>
                  </a:lnTo>
                  <a:lnTo>
                    <a:pt x="119" y="164"/>
                  </a:lnTo>
                  <a:lnTo>
                    <a:pt x="126" y="161"/>
                  </a:lnTo>
                  <a:lnTo>
                    <a:pt x="134" y="156"/>
                  </a:lnTo>
                  <a:lnTo>
                    <a:pt x="140" y="152"/>
                  </a:lnTo>
                  <a:lnTo>
                    <a:pt x="146" y="146"/>
                  </a:lnTo>
                  <a:lnTo>
                    <a:pt x="152" y="140"/>
                  </a:lnTo>
                  <a:lnTo>
                    <a:pt x="157" y="134"/>
                  </a:lnTo>
                  <a:lnTo>
                    <a:pt x="161" y="126"/>
                  </a:lnTo>
                  <a:lnTo>
                    <a:pt x="164" y="118"/>
                  </a:lnTo>
                  <a:lnTo>
                    <a:pt x="167" y="111"/>
                  </a:lnTo>
                  <a:lnTo>
                    <a:pt x="169" y="103"/>
                  </a:lnTo>
                  <a:lnTo>
                    <a:pt x="170" y="94"/>
                  </a:lnTo>
                  <a:lnTo>
                    <a:pt x="172" y="87"/>
                  </a:lnTo>
                  <a:lnTo>
                    <a:pt x="170" y="77"/>
                  </a:lnTo>
                  <a:lnTo>
                    <a:pt x="169" y="68"/>
                  </a:lnTo>
                  <a:lnTo>
                    <a:pt x="167" y="61"/>
                  </a:lnTo>
                  <a:lnTo>
                    <a:pt x="164" y="53"/>
                  </a:lnTo>
                  <a:lnTo>
                    <a:pt x="161" y="46"/>
                  </a:lnTo>
                  <a:lnTo>
                    <a:pt x="157" y="38"/>
                  </a:lnTo>
                  <a:lnTo>
                    <a:pt x="152" y="32"/>
                  </a:lnTo>
                  <a:lnTo>
                    <a:pt x="146" y="26"/>
                  </a:lnTo>
                  <a:lnTo>
                    <a:pt x="140" y="20"/>
                  </a:lnTo>
                  <a:lnTo>
                    <a:pt x="134" y="15"/>
                  </a:lnTo>
                  <a:lnTo>
                    <a:pt x="126" y="11"/>
                  </a:lnTo>
                  <a:lnTo>
                    <a:pt x="119" y="8"/>
                  </a:lnTo>
                  <a:lnTo>
                    <a:pt x="111" y="5"/>
                  </a:lnTo>
                  <a:lnTo>
                    <a:pt x="103" y="2"/>
                  </a:lnTo>
                  <a:lnTo>
                    <a:pt x="94" y="2"/>
                  </a:lnTo>
                  <a:lnTo>
                    <a:pt x="85"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5753" name="Rectangle 41">
              <a:extLst>
                <a:ext uri="{FF2B5EF4-FFF2-40B4-BE49-F238E27FC236}">
                  <a16:creationId xmlns:a16="http://schemas.microsoft.com/office/drawing/2014/main" id="{7DB29D9D-73CF-7348-7E7B-E52590D4A5DC}"/>
                </a:ext>
              </a:extLst>
            </p:cNvPr>
            <p:cNvSpPr>
              <a:spLocks noChangeArrowheads="1"/>
            </p:cNvSpPr>
            <p:nvPr/>
          </p:nvSpPr>
          <p:spPr bwMode="auto">
            <a:xfrm>
              <a:off x="2534" y="690"/>
              <a:ext cx="143"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t>M</a:t>
              </a:r>
              <a:endParaRPr lang="en-US" altLang="en-US"/>
            </a:p>
          </p:txBody>
        </p:sp>
        <p:sp>
          <p:nvSpPr>
            <p:cNvPr id="115754" name="Freeform 42">
              <a:extLst>
                <a:ext uri="{FF2B5EF4-FFF2-40B4-BE49-F238E27FC236}">
                  <a16:creationId xmlns:a16="http://schemas.microsoft.com/office/drawing/2014/main" id="{8696562A-534F-DD9C-BFB7-349DCB7B50C0}"/>
                </a:ext>
              </a:extLst>
            </p:cNvPr>
            <p:cNvSpPr>
              <a:spLocks/>
            </p:cNvSpPr>
            <p:nvPr/>
          </p:nvSpPr>
          <p:spPr bwMode="auto">
            <a:xfrm>
              <a:off x="2752" y="1715"/>
              <a:ext cx="170" cy="170"/>
            </a:xfrm>
            <a:custGeom>
              <a:avLst/>
              <a:gdLst>
                <a:gd name="T0" fmla="*/ 76 w 170"/>
                <a:gd name="T1" fmla="*/ 0 h 170"/>
                <a:gd name="T2" fmla="*/ 59 w 170"/>
                <a:gd name="T3" fmla="*/ 3 h 170"/>
                <a:gd name="T4" fmla="*/ 44 w 170"/>
                <a:gd name="T5" fmla="*/ 10 h 170"/>
                <a:gd name="T6" fmla="*/ 30 w 170"/>
                <a:gd name="T7" fmla="*/ 19 h 170"/>
                <a:gd name="T8" fmla="*/ 18 w 170"/>
                <a:gd name="T9" fmla="*/ 30 h 170"/>
                <a:gd name="T10" fmla="*/ 9 w 170"/>
                <a:gd name="T11" fmla="*/ 44 h 170"/>
                <a:gd name="T12" fmla="*/ 3 w 170"/>
                <a:gd name="T13" fmla="*/ 59 h 170"/>
                <a:gd name="T14" fmla="*/ 0 w 170"/>
                <a:gd name="T15" fmla="*/ 75 h 170"/>
                <a:gd name="T16" fmla="*/ 0 w 170"/>
                <a:gd name="T17" fmla="*/ 94 h 170"/>
                <a:gd name="T18" fmla="*/ 3 w 170"/>
                <a:gd name="T19" fmla="*/ 110 h 170"/>
                <a:gd name="T20" fmla="*/ 9 w 170"/>
                <a:gd name="T21" fmla="*/ 126 h 170"/>
                <a:gd name="T22" fmla="*/ 18 w 170"/>
                <a:gd name="T23" fmla="*/ 139 h 170"/>
                <a:gd name="T24" fmla="*/ 30 w 170"/>
                <a:gd name="T25" fmla="*/ 150 h 170"/>
                <a:gd name="T26" fmla="*/ 44 w 170"/>
                <a:gd name="T27" fmla="*/ 160 h 170"/>
                <a:gd name="T28" fmla="*/ 59 w 170"/>
                <a:gd name="T29" fmla="*/ 167 h 170"/>
                <a:gd name="T30" fmla="*/ 76 w 170"/>
                <a:gd name="T31" fmla="*/ 170 h 170"/>
                <a:gd name="T32" fmla="*/ 94 w 170"/>
                <a:gd name="T33" fmla="*/ 170 h 170"/>
                <a:gd name="T34" fmla="*/ 111 w 170"/>
                <a:gd name="T35" fmla="*/ 167 h 170"/>
                <a:gd name="T36" fmla="*/ 126 w 170"/>
                <a:gd name="T37" fmla="*/ 160 h 170"/>
                <a:gd name="T38" fmla="*/ 140 w 170"/>
                <a:gd name="T39" fmla="*/ 150 h 170"/>
                <a:gd name="T40" fmla="*/ 150 w 170"/>
                <a:gd name="T41" fmla="*/ 139 h 170"/>
                <a:gd name="T42" fmla="*/ 159 w 170"/>
                <a:gd name="T43" fmla="*/ 126 h 170"/>
                <a:gd name="T44" fmla="*/ 167 w 170"/>
                <a:gd name="T45" fmla="*/ 110 h 170"/>
                <a:gd name="T46" fmla="*/ 170 w 170"/>
                <a:gd name="T47" fmla="*/ 94 h 170"/>
                <a:gd name="T48" fmla="*/ 170 w 170"/>
                <a:gd name="T49" fmla="*/ 75 h 170"/>
                <a:gd name="T50" fmla="*/ 167 w 170"/>
                <a:gd name="T51" fmla="*/ 59 h 170"/>
                <a:gd name="T52" fmla="*/ 159 w 170"/>
                <a:gd name="T53" fmla="*/ 44 h 170"/>
                <a:gd name="T54" fmla="*/ 150 w 170"/>
                <a:gd name="T55" fmla="*/ 30 h 170"/>
                <a:gd name="T56" fmla="*/ 140 w 170"/>
                <a:gd name="T57" fmla="*/ 19 h 170"/>
                <a:gd name="T58" fmla="*/ 126 w 170"/>
                <a:gd name="T59" fmla="*/ 10 h 170"/>
                <a:gd name="T60" fmla="*/ 111 w 170"/>
                <a:gd name="T61" fmla="*/ 3 h 170"/>
                <a:gd name="T62" fmla="*/ 94 w 170"/>
                <a:gd name="T63"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 h="170">
                  <a:moveTo>
                    <a:pt x="85" y="0"/>
                  </a:moveTo>
                  <a:lnTo>
                    <a:pt x="76" y="0"/>
                  </a:lnTo>
                  <a:lnTo>
                    <a:pt x="67" y="1"/>
                  </a:lnTo>
                  <a:lnTo>
                    <a:pt x="59" y="3"/>
                  </a:lnTo>
                  <a:lnTo>
                    <a:pt x="52" y="6"/>
                  </a:lnTo>
                  <a:lnTo>
                    <a:pt x="44" y="10"/>
                  </a:lnTo>
                  <a:lnTo>
                    <a:pt x="36" y="13"/>
                  </a:lnTo>
                  <a:lnTo>
                    <a:pt x="30" y="19"/>
                  </a:lnTo>
                  <a:lnTo>
                    <a:pt x="24" y="24"/>
                  </a:lnTo>
                  <a:lnTo>
                    <a:pt x="18" y="30"/>
                  </a:lnTo>
                  <a:lnTo>
                    <a:pt x="14" y="37"/>
                  </a:lnTo>
                  <a:lnTo>
                    <a:pt x="9" y="44"/>
                  </a:lnTo>
                  <a:lnTo>
                    <a:pt x="6" y="51"/>
                  </a:lnTo>
                  <a:lnTo>
                    <a:pt x="3" y="59"/>
                  </a:lnTo>
                  <a:lnTo>
                    <a:pt x="1" y="68"/>
                  </a:lnTo>
                  <a:lnTo>
                    <a:pt x="0" y="75"/>
                  </a:lnTo>
                  <a:lnTo>
                    <a:pt x="0" y="85"/>
                  </a:lnTo>
                  <a:lnTo>
                    <a:pt x="0" y="94"/>
                  </a:lnTo>
                  <a:lnTo>
                    <a:pt x="1" y="101"/>
                  </a:lnTo>
                  <a:lnTo>
                    <a:pt x="3" y="110"/>
                  </a:lnTo>
                  <a:lnTo>
                    <a:pt x="6" y="118"/>
                  </a:lnTo>
                  <a:lnTo>
                    <a:pt x="9" y="126"/>
                  </a:lnTo>
                  <a:lnTo>
                    <a:pt x="14" y="133"/>
                  </a:lnTo>
                  <a:lnTo>
                    <a:pt x="18" y="139"/>
                  </a:lnTo>
                  <a:lnTo>
                    <a:pt x="24" y="145"/>
                  </a:lnTo>
                  <a:lnTo>
                    <a:pt x="30" y="150"/>
                  </a:lnTo>
                  <a:lnTo>
                    <a:pt x="36" y="156"/>
                  </a:lnTo>
                  <a:lnTo>
                    <a:pt x="44" y="160"/>
                  </a:lnTo>
                  <a:lnTo>
                    <a:pt x="52" y="163"/>
                  </a:lnTo>
                  <a:lnTo>
                    <a:pt x="59" y="167"/>
                  </a:lnTo>
                  <a:lnTo>
                    <a:pt x="67" y="168"/>
                  </a:lnTo>
                  <a:lnTo>
                    <a:pt x="76" y="170"/>
                  </a:lnTo>
                  <a:lnTo>
                    <a:pt x="85" y="170"/>
                  </a:lnTo>
                  <a:lnTo>
                    <a:pt x="94" y="170"/>
                  </a:lnTo>
                  <a:lnTo>
                    <a:pt x="102" y="168"/>
                  </a:lnTo>
                  <a:lnTo>
                    <a:pt x="111" y="167"/>
                  </a:lnTo>
                  <a:lnTo>
                    <a:pt x="118" y="163"/>
                  </a:lnTo>
                  <a:lnTo>
                    <a:pt x="126" y="160"/>
                  </a:lnTo>
                  <a:lnTo>
                    <a:pt x="132" y="156"/>
                  </a:lnTo>
                  <a:lnTo>
                    <a:pt x="140" y="150"/>
                  </a:lnTo>
                  <a:lnTo>
                    <a:pt x="146" y="145"/>
                  </a:lnTo>
                  <a:lnTo>
                    <a:pt x="150" y="139"/>
                  </a:lnTo>
                  <a:lnTo>
                    <a:pt x="155" y="133"/>
                  </a:lnTo>
                  <a:lnTo>
                    <a:pt x="159" y="126"/>
                  </a:lnTo>
                  <a:lnTo>
                    <a:pt x="164" y="118"/>
                  </a:lnTo>
                  <a:lnTo>
                    <a:pt x="167" y="110"/>
                  </a:lnTo>
                  <a:lnTo>
                    <a:pt x="169" y="101"/>
                  </a:lnTo>
                  <a:lnTo>
                    <a:pt x="170" y="94"/>
                  </a:lnTo>
                  <a:lnTo>
                    <a:pt x="170" y="85"/>
                  </a:lnTo>
                  <a:lnTo>
                    <a:pt x="170" y="75"/>
                  </a:lnTo>
                  <a:lnTo>
                    <a:pt x="169" y="68"/>
                  </a:lnTo>
                  <a:lnTo>
                    <a:pt x="167" y="59"/>
                  </a:lnTo>
                  <a:lnTo>
                    <a:pt x="164" y="51"/>
                  </a:lnTo>
                  <a:lnTo>
                    <a:pt x="159" y="44"/>
                  </a:lnTo>
                  <a:lnTo>
                    <a:pt x="155" y="37"/>
                  </a:lnTo>
                  <a:lnTo>
                    <a:pt x="150" y="30"/>
                  </a:lnTo>
                  <a:lnTo>
                    <a:pt x="146" y="24"/>
                  </a:lnTo>
                  <a:lnTo>
                    <a:pt x="140" y="19"/>
                  </a:lnTo>
                  <a:lnTo>
                    <a:pt x="132" y="13"/>
                  </a:lnTo>
                  <a:lnTo>
                    <a:pt x="126" y="10"/>
                  </a:lnTo>
                  <a:lnTo>
                    <a:pt x="118" y="6"/>
                  </a:lnTo>
                  <a:lnTo>
                    <a:pt x="111" y="3"/>
                  </a:lnTo>
                  <a:lnTo>
                    <a:pt x="102" y="1"/>
                  </a:lnTo>
                  <a:lnTo>
                    <a:pt x="94" y="0"/>
                  </a:lnTo>
                  <a:lnTo>
                    <a:pt x="85" y="0"/>
                  </a:lnTo>
                  <a:close/>
                </a:path>
              </a:pathLst>
            </a:custGeom>
            <a:solidFill>
              <a:srgbClr val="00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5755" name="Freeform 43">
              <a:extLst>
                <a:ext uri="{FF2B5EF4-FFF2-40B4-BE49-F238E27FC236}">
                  <a16:creationId xmlns:a16="http://schemas.microsoft.com/office/drawing/2014/main" id="{59E68C12-6060-D73A-A102-D2B527F9CF81}"/>
                </a:ext>
              </a:extLst>
            </p:cNvPr>
            <p:cNvSpPr>
              <a:spLocks/>
            </p:cNvSpPr>
            <p:nvPr/>
          </p:nvSpPr>
          <p:spPr bwMode="auto">
            <a:xfrm>
              <a:off x="2752" y="1715"/>
              <a:ext cx="170" cy="170"/>
            </a:xfrm>
            <a:custGeom>
              <a:avLst/>
              <a:gdLst>
                <a:gd name="T0" fmla="*/ 76 w 170"/>
                <a:gd name="T1" fmla="*/ 0 h 170"/>
                <a:gd name="T2" fmla="*/ 59 w 170"/>
                <a:gd name="T3" fmla="*/ 3 h 170"/>
                <a:gd name="T4" fmla="*/ 44 w 170"/>
                <a:gd name="T5" fmla="*/ 10 h 170"/>
                <a:gd name="T6" fmla="*/ 30 w 170"/>
                <a:gd name="T7" fmla="*/ 19 h 170"/>
                <a:gd name="T8" fmla="*/ 18 w 170"/>
                <a:gd name="T9" fmla="*/ 30 h 170"/>
                <a:gd name="T10" fmla="*/ 9 w 170"/>
                <a:gd name="T11" fmla="*/ 44 h 170"/>
                <a:gd name="T12" fmla="*/ 3 w 170"/>
                <a:gd name="T13" fmla="*/ 59 h 170"/>
                <a:gd name="T14" fmla="*/ 0 w 170"/>
                <a:gd name="T15" fmla="*/ 75 h 170"/>
                <a:gd name="T16" fmla="*/ 0 w 170"/>
                <a:gd name="T17" fmla="*/ 94 h 170"/>
                <a:gd name="T18" fmla="*/ 3 w 170"/>
                <a:gd name="T19" fmla="*/ 110 h 170"/>
                <a:gd name="T20" fmla="*/ 9 w 170"/>
                <a:gd name="T21" fmla="*/ 126 h 170"/>
                <a:gd name="T22" fmla="*/ 18 w 170"/>
                <a:gd name="T23" fmla="*/ 139 h 170"/>
                <a:gd name="T24" fmla="*/ 30 w 170"/>
                <a:gd name="T25" fmla="*/ 150 h 170"/>
                <a:gd name="T26" fmla="*/ 44 w 170"/>
                <a:gd name="T27" fmla="*/ 160 h 170"/>
                <a:gd name="T28" fmla="*/ 59 w 170"/>
                <a:gd name="T29" fmla="*/ 167 h 170"/>
                <a:gd name="T30" fmla="*/ 76 w 170"/>
                <a:gd name="T31" fmla="*/ 170 h 170"/>
                <a:gd name="T32" fmla="*/ 94 w 170"/>
                <a:gd name="T33" fmla="*/ 170 h 170"/>
                <a:gd name="T34" fmla="*/ 111 w 170"/>
                <a:gd name="T35" fmla="*/ 167 h 170"/>
                <a:gd name="T36" fmla="*/ 126 w 170"/>
                <a:gd name="T37" fmla="*/ 160 h 170"/>
                <a:gd name="T38" fmla="*/ 140 w 170"/>
                <a:gd name="T39" fmla="*/ 150 h 170"/>
                <a:gd name="T40" fmla="*/ 150 w 170"/>
                <a:gd name="T41" fmla="*/ 139 h 170"/>
                <a:gd name="T42" fmla="*/ 159 w 170"/>
                <a:gd name="T43" fmla="*/ 126 h 170"/>
                <a:gd name="T44" fmla="*/ 167 w 170"/>
                <a:gd name="T45" fmla="*/ 110 h 170"/>
                <a:gd name="T46" fmla="*/ 170 w 170"/>
                <a:gd name="T47" fmla="*/ 94 h 170"/>
                <a:gd name="T48" fmla="*/ 170 w 170"/>
                <a:gd name="T49" fmla="*/ 75 h 170"/>
                <a:gd name="T50" fmla="*/ 167 w 170"/>
                <a:gd name="T51" fmla="*/ 59 h 170"/>
                <a:gd name="T52" fmla="*/ 159 w 170"/>
                <a:gd name="T53" fmla="*/ 44 h 170"/>
                <a:gd name="T54" fmla="*/ 150 w 170"/>
                <a:gd name="T55" fmla="*/ 30 h 170"/>
                <a:gd name="T56" fmla="*/ 140 w 170"/>
                <a:gd name="T57" fmla="*/ 19 h 170"/>
                <a:gd name="T58" fmla="*/ 126 w 170"/>
                <a:gd name="T59" fmla="*/ 10 h 170"/>
                <a:gd name="T60" fmla="*/ 111 w 170"/>
                <a:gd name="T61" fmla="*/ 3 h 170"/>
                <a:gd name="T62" fmla="*/ 94 w 170"/>
                <a:gd name="T63"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 h="170">
                  <a:moveTo>
                    <a:pt x="85" y="0"/>
                  </a:moveTo>
                  <a:lnTo>
                    <a:pt x="76" y="0"/>
                  </a:lnTo>
                  <a:lnTo>
                    <a:pt x="67" y="1"/>
                  </a:lnTo>
                  <a:lnTo>
                    <a:pt x="59" y="3"/>
                  </a:lnTo>
                  <a:lnTo>
                    <a:pt x="52" y="6"/>
                  </a:lnTo>
                  <a:lnTo>
                    <a:pt x="44" y="10"/>
                  </a:lnTo>
                  <a:lnTo>
                    <a:pt x="36" y="13"/>
                  </a:lnTo>
                  <a:lnTo>
                    <a:pt x="30" y="19"/>
                  </a:lnTo>
                  <a:lnTo>
                    <a:pt x="24" y="24"/>
                  </a:lnTo>
                  <a:lnTo>
                    <a:pt x="18" y="30"/>
                  </a:lnTo>
                  <a:lnTo>
                    <a:pt x="14" y="37"/>
                  </a:lnTo>
                  <a:lnTo>
                    <a:pt x="9" y="44"/>
                  </a:lnTo>
                  <a:lnTo>
                    <a:pt x="6" y="51"/>
                  </a:lnTo>
                  <a:lnTo>
                    <a:pt x="3" y="59"/>
                  </a:lnTo>
                  <a:lnTo>
                    <a:pt x="1" y="68"/>
                  </a:lnTo>
                  <a:lnTo>
                    <a:pt x="0" y="75"/>
                  </a:lnTo>
                  <a:lnTo>
                    <a:pt x="0" y="85"/>
                  </a:lnTo>
                  <a:lnTo>
                    <a:pt x="0" y="94"/>
                  </a:lnTo>
                  <a:lnTo>
                    <a:pt x="1" y="101"/>
                  </a:lnTo>
                  <a:lnTo>
                    <a:pt x="3" y="110"/>
                  </a:lnTo>
                  <a:lnTo>
                    <a:pt x="6" y="118"/>
                  </a:lnTo>
                  <a:lnTo>
                    <a:pt x="9" y="126"/>
                  </a:lnTo>
                  <a:lnTo>
                    <a:pt x="14" y="133"/>
                  </a:lnTo>
                  <a:lnTo>
                    <a:pt x="18" y="139"/>
                  </a:lnTo>
                  <a:lnTo>
                    <a:pt x="24" y="145"/>
                  </a:lnTo>
                  <a:lnTo>
                    <a:pt x="30" y="150"/>
                  </a:lnTo>
                  <a:lnTo>
                    <a:pt x="36" y="156"/>
                  </a:lnTo>
                  <a:lnTo>
                    <a:pt x="44" y="160"/>
                  </a:lnTo>
                  <a:lnTo>
                    <a:pt x="52" y="163"/>
                  </a:lnTo>
                  <a:lnTo>
                    <a:pt x="59" y="167"/>
                  </a:lnTo>
                  <a:lnTo>
                    <a:pt x="67" y="168"/>
                  </a:lnTo>
                  <a:lnTo>
                    <a:pt x="76" y="170"/>
                  </a:lnTo>
                  <a:lnTo>
                    <a:pt x="85" y="170"/>
                  </a:lnTo>
                  <a:lnTo>
                    <a:pt x="94" y="170"/>
                  </a:lnTo>
                  <a:lnTo>
                    <a:pt x="102" y="168"/>
                  </a:lnTo>
                  <a:lnTo>
                    <a:pt x="111" y="167"/>
                  </a:lnTo>
                  <a:lnTo>
                    <a:pt x="118" y="163"/>
                  </a:lnTo>
                  <a:lnTo>
                    <a:pt x="126" y="160"/>
                  </a:lnTo>
                  <a:lnTo>
                    <a:pt x="132" y="156"/>
                  </a:lnTo>
                  <a:lnTo>
                    <a:pt x="140" y="150"/>
                  </a:lnTo>
                  <a:lnTo>
                    <a:pt x="146" y="145"/>
                  </a:lnTo>
                  <a:lnTo>
                    <a:pt x="150" y="139"/>
                  </a:lnTo>
                  <a:lnTo>
                    <a:pt x="155" y="133"/>
                  </a:lnTo>
                  <a:lnTo>
                    <a:pt x="159" y="126"/>
                  </a:lnTo>
                  <a:lnTo>
                    <a:pt x="164" y="118"/>
                  </a:lnTo>
                  <a:lnTo>
                    <a:pt x="167" y="110"/>
                  </a:lnTo>
                  <a:lnTo>
                    <a:pt x="169" y="101"/>
                  </a:lnTo>
                  <a:lnTo>
                    <a:pt x="170" y="94"/>
                  </a:lnTo>
                  <a:lnTo>
                    <a:pt x="170" y="85"/>
                  </a:lnTo>
                  <a:lnTo>
                    <a:pt x="170" y="75"/>
                  </a:lnTo>
                  <a:lnTo>
                    <a:pt x="169" y="68"/>
                  </a:lnTo>
                  <a:lnTo>
                    <a:pt x="167" y="59"/>
                  </a:lnTo>
                  <a:lnTo>
                    <a:pt x="164" y="51"/>
                  </a:lnTo>
                  <a:lnTo>
                    <a:pt x="159" y="44"/>
                  </a:lnTo>
                  <a:lnTo>
                    <a:pt x="155" y="37"/>
                  </a:lnTo>
                  <a:lnTo>
                    <a:pt x="150" y="30"/>
                  </a:lnTo>
                  <a:lnTo>
                    <a:pt x="146" y="24"/>
                  </a:lnTo>
                  <a:lnTo>
                    <a:pt x="140" y="19"/>
                  </a:lnTo>
                  <a:lnTo>
                    <a:pt x="132" y="13"/>
                  </a:lnTo>
                  <a:lnTo>
                    <a:pt x="126" y="10"/>
                  </a:lnTo>
                  <a:lnTo>
                    <a:pt x="118" y="6"/>
                  </a:lnTo>
                  <a:lnTo>
                    <a:pt x="111" y="3"/>
                  </a:lnTo>
                  <a:lnTo>
                    <a:pt x="102" y="1"/>
                  </a:lnTo>
                  <a:lnTo>
                    <a:pt x="94" y="0"/>
                  </a:lnTo>
                  <a:lnTo>
                    <a:pt x="85"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5756" name="Rectangle 44">
              <a:extLst>
                <a:ext uri="{FF2B5EF4-FFF2-40B4-BE49-F238E27FC236}">
                  <a16:creationId xmlns:a16="http://schemas.microsoft.com/office/drawing/2014/main" id="{B9970C5E-664D-5D18-A9C2-8FC6949101A0}"/>
                </a:ext>
              </a:extLst>
            </p:cNvPr>
            <p:cNvSpPr>
              <a:spLocks noChangeArrowheads="1"/>
            </p:cNvSpPr>
            <p:nvPr/>
          </p:nvSpPr>
          <p:spPr bwMode="auto">
            <a:xfrm>
              <a:off x="2791" y="1735"/>
              <a:ext cx="85"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t>K</a:t>
              </a:r>
              <a:endParaRPr lang="en-US" altLang="en-US"/>
            </a:p>
          </p:txBody>
        </p:sp>
        <p:sp>
          <p:nvSpPr>
            <p:cNvPr id="115757" name="Freeform 45">
              <a:extLst>
                <a:ext uri="{FF2B5EF4-FFF2-40B4-BE49-F238E27FC236}">
                  <a16:creationId xmlns:a16="http://schemas.microsoft.com/office/drawing/2014/main" id="{E2A859BC-B209-775F-2DEE-FA11C5853E2D}"/>
                </a:ext>
              </a:extLst>
            </p:cNvPr>
            <p:cNvSpPr>
              <a:spLocks/>
            </p:cNvSpPr>
            <p:nvPr/>
          </p:nvSpPr>
          <p:spPr bwMode="auto">
            <a:xfrm>
              <a:off x="206" y="1505"/>
              <a:ext cx="170" cy="172"/>
            </a:xfrm>
            <a:custGeom>
              <a:avLst/>
              <a:gdLst>
                <a:gd name="T0" fmla="*/ 76 w 170"/>
                <a:gd name="T1" fmla="*/ 2 h 172"/>
                <a:gd name="T2" fmla="*/ 59 w 170"/>
                <a:gd name="T3" fmla="*/ 5 h 172"/>
                <a:gd name="T4" fmla="*/ 44 w 170"/>
                <a:gd name="T5" fmla="*/ 11 h 172"/>
                <a:gd name="T6" fmla="*/ 30 w 170"/>
                <a:gd name="T7" fmla="*/ 20 h 172"/>
                <a:gd name="T8" fmla="*/ 18 w 170"/>
                <a:gd name="T9" fmla="*/ 32 h 172"/>
                <a:gd name="T10" fmla="*/ 9 w 170"/>
                <a:gd name="T11" fmla="*/ 46 h 172"/>
                <a:gd name="T12" fmla="*/ 3 w 170"/>
                <a:gd name="T13" fmla="*/ 61 h 172"/>
                <a:gd name="T14" fmla="*/ 0 w 170"/>
                <a:gd name="T15" fmla="*/ 77 h 172"/>
                <a:gd name="T16" fmla="*/ 0 w 170"/>
                <a:gd name="T17" fmla="*/ 94 h 172"/>
                <a:gd name="T18" fmla="*/ 3 w 170"/>
                <a:gd name="T19" fmla="*/ 111 h 172"/>
                <a:gd name="T20" fmla="*/ 9 w 170"/>
                <a:gd name="T21" fmla="*/ 126 h 172"/>
                <a:gd name="T22" fmla="*/ 18 w 170"/>
                <a:gd name="T23" fmla="*/ 140 h 172"/>
                <a:gd name="T24" fmla="*/ 30 w 170"/>
                <a:gd name="T25" fmla="*/ 152 h 172"/>
                <a:gd name="T26" fmla="*/ 44 w 170"/>
                <a:gd name="T27" fmla="*/ 161 h 172"/>
                <a:gd name="T28" fmla="*/ 59 w 170"/>
                <a:gd name="T29" fmla="*/ 167 h 172"/>
                <a:gd name="T30" fmla="*/ 76 w 170"/>
                <a:gd name="T31" fmla="*/ 170 h 172"/>
                <a:gd name="T32" fmla="*/ 94 w 170"/>
                <a:gd name="T33" fmla="*/ 170 h 172"/>
                <a:gd name="T34" fmla="*/ 111 w 170"/>
                <a:gd name="T35" fmla="*/ 167 h 172"/>
                <a:gd name="T36" fmla="*/ 126 w 170"/>
                <a:gd name="T37" fmla="*/ 161 h 172"/>
                <a:gd name="T38" fmla="*/ 139 w 170"/>
                <a:gd name="T39" fmla="*/ 152 h 172"/>
                <a:gd name="T40" fmla="*/ 150 w 170"/>
                <a:gd name="T41" fmla="*/ 140 h 172"/>
                <a:gd name="T42" fmla="*/ 159 w 170"/>
                <a:gd name="T43" fmla="*/ 126 h 172"/>
                <a:gd name="T44" fmla="*/ 165 w 170"/>
                <a:gd name="T45" fmla="*/ 111 h 172"/>
                <a:gd name="T46" fmla="*/ 170 w 170"/>
                <a:gd name="T47" fmla="*/ 94 h 172"/>
                <a:gd name="T48" fmla="*/ 170 w 170"/>
                <a:gd name="T49" fmla="*/ 77 h 172"/>
                <a:gd name="T50" fmla="*/ 165 w 170"/>
                <a:gd name="T51" fmla="*/ 61 h 172"/>
                <a:gd name="T52" fmla="*/ 159 w 170"/>
                <a:gd name="T53" fmla="*/ 46 h 172"/>
                <a:gd name="T54" fmla="*/ 150 w 170"/>
                <a:gd name="T55" fmla="*/ 32 h 172"/>
                <a:gd name="T56" fmla="*/ 139 w 170"/>
                <a:gd name="T57" fmla="*/ 20 h 172"/>
                <a:gd name="T58" fmla="*/ 126 w 170"/>
                <a:gd name="T59" fmla="*/ 11 h 172"/>
                <a:gd name="T60" fmla="*/ 111 w 170"/>
                <a:gd name="T61" fmla="*/ 5 h 172"/>
                <a:gd name="T62" fmla="*/ 94 w 170"/>
                <a:gd name="T63" fmla="*/ 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 h="172">
                  <a:moveTo>
                    <a:pt x="85" y="0"/>
                  </a:moveTo>
                  <a:lnTo>
                    <a:pt x="76" y="2"/>
                  </a:lnTo>
                  <a:lnTo>
                    <a:pt x="66" y="2"/>
                  </a:lnTo>
                  <a:lnTo>
                    <a:pt x="59" y="5"/>
                  </a:lnTo>
                  <a:lnTo>
                    <a:pt x="51" y="8"/>
                  </a:lnTo>
                  <a:lnTo>
                    <a:pt x="44" y="11"/>
                  </a:lnTo>
                  <a:lnTo>
                    <a:pt x="36" y="15"/>
                  </a:lnTo>
                  <a:lnTo>
                    <a:pt x="30" y="20"/>
                  </a:lnTo>
                  <a:lnTo>
                    <a:pt x="24" y="26"/>
                  </a:lnTo>
                  <a:lnTo>
                    <a:pt x="18" y="32"/>
                  </a:lnTo>
                  <a:lnTo>
                    <a:pt x="13" y="38"/>
                  </a:lnTo>
                  <a:lnTo>
                    <a:pt x="9" y="46"/>
                  </a:lnTo>
                  <a:lnTo>
                    <a:pt x="6" y="53"/>
                  </a:lnTo>
                  <a:lnTo>
                    <a:pt x="3" y="61"/>
                  </a:lnTo>
                  <a:lnTo>
                    <a:pt x="1" y="68"/>
                  </a:lnTo>
                  <a:lnTo>
                    <a:pt x="0" y="77"/>
                  </a:lnTo>
                  <a:lnTo>
                    <a:pt x="0" y="87"/>
                  </a:lnTo>
                  <a:lnTo>
                    <a:pt x="0" y="94"/>
                  </a:lnTo>
                  <a:lnTo>
                    <a:pt x="1" y="103"/>
                  </a:lnTo>
                  <a:lnTo>
                    <a:pt x="3" y="111"/>
                  </a:lnTo>
                  <a:lnTo>
                    <a:pt x="6" y="118"/>
                  </a:lnTo>
                  <a:lnTo>
                    <a:pt x="9" y="126"/>
                  </a:lnTo>
                  <a:lnTo>
                    <a:pt x="13" y="134"/>
                  </a:lnTo>
                  <a:lnTo>
                    <a:pt x="18" y="140"/>
                  </a:lnTo>
                  <a:lnTo>
                    <a:pt x="24" y="146"/>
                  </a:lnTo>
                  <a:lnTo>
                    <a:pt x="30" y="152"/>
                  </a:lnTo>
                  <a:lnTo>
                    <a:pt x="36" y="156"/>
                  </a:lnTo>
                  <a:lnTo>
                    <a:pt x="44" y="161"/>
                  </a:lnTo>
                  <a:lnTo>
                    <a:pt x="51" y="164"/>
                  </a:lnTo>
                  <a:lnTo>
                    <a:pt x="59" y="167"/>
                  </a:lnTo>
                  <a:lnTo>
                    <a:pt x="66" y="170"/>
                  </a:lnTo>
                  <a:lnTo>
                    <a:pt x="76" y="170"/>
                  </a:lnTo>
                  <a:lnTo>
                    <a:pt x="85" y="172"/>
                  </a:lnTo>
                  <a:lnTo>
                    <a:pt x="94" y="170"/>
                  </a:lnTo>
                  <a:lnTo>
                    <a:pt x="101" y="170"/>
                  </a:lnTo>
                  <a:lnTo>
                    <a:pt x="111" y="167"/>
                  </a:lnTo>
                  <a:lnTo>
                    <a:pt x="118" y="164"/>
                  </a:lnTo>
                  <a:lnTo>
                    <a:pt x="126" y="161"/>
                  </a:lnTo>
                  <a:lnTo>
                    <a:pt x="132" y="156"/>
                  </a:lnTo>
                  <a:lnTo>
                    <a:pt x="139" y="152"/>
                  </a:lnTo>
                  <a:lnTo>
                    <a:pt x="145" y="146"/>
                  </a:lnTo>
                  <a:lnTo>
                    <a:pt x="150" y="140"/>
                  </a:lnTo>
                  <a:lnTo>
                    <a:pt x="155" y="134"/>
                  </a:lnTo>
                  <a:lnTo>
                    <a:pt x="159" y="126"/>
                  </a:lnTo>
                  <a:lnTo>
                    <a:pt x="164" y="118"/>
                  </a:lnTo>
                  <a:lnTo>
                    <a:pt x="165" y="111"/>
                  </a:lnTo>
                  <a:lnTo>
                    <a:pt x="168" y="103"/>
                  </a:lnTo>
                  <a:lnTo>
                    <a:pt x="170" y="94"/>
                  </a:lnTo>
                  <a:lnTo>
                    <a:pt x="170" y="87"/>
                  </a:lnTo>
                  <a:lnTo>
                    <a:pt x="170" y="77"/>
                  </a:lnTo>
                  <a:lnTo>
                    <a:pt x="168" y="68"/>
                  </a:lnTo>
                  <a:lnTo>
                    <a:pt x="165" y="61"/>
                  </a:lnTo>
                  <a:lnTo>
                    <a:pt x="164" y="53"/>
                  </a:lnTo>
                  <a:lnTo>
                    <a:pt x="159" y="46"/>
                  </a:lnTo>
                  <a:lnTo>
                    <a:pt x="155" y="38"/>
                  </a:lnTo>
                  <a:lnTo>
                    <a:pt x="150" y="32"/>
                  </a:lnTo>
                  <a:lnTo>
                    <a:pt x="145" y="26"/>
                  </a:lnTo>
                  <a:lnTo>
                    <a:pt x="139" y="20"/>
                  </a:lnTo>
                  <a:lnTo>
                    <a:pt x="132" y="15"/>
                  </a:lnTo>
                  <a:lnTo>
                    <a:pt x="126" y="11"/>
                  </a:lnTo>
                  <a:lnTo>
                    <a:pt x="118" y="8"/>
                  </a:lnTo>
                  <a:lnTo>
                    <a:pt x="111" y="5"/>
                  </a:lnTo>
                  <a:lnTo>
                    <a:pt x="101" y="2"/>
                  </a:lnTo>
                  <a:lnTo>
                    <a:pt x="94" y="2"/>
                  </a:lnTo>
                  <a:lnTo>
                    <a:pt x="85" y="0"/>
                  </a:lnTo>
                  <a:close/>
                </a:path>
              </a:pathLst>
            </a:custGeom>
            <a:solidFill>
              <a:srgbClr val="00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5758" name="Freeform 46">
              <a:extLst>
                <a:ext uri="{FF2B5EF4-FFF2-40B4-BE49-F238E27FC236}">
                  <a16:creationId xmlns:a16="http://schemas.microsoft.com/office/drawing/2014/main" id="{2EA3B9C9-186A-68FD-87CC-4143B2280339}"/>
                </a:ext>
              </a:extLst>
            </p:cNvPr>
            <p:cNvSpPr>
              <a:spLocks/>
            </p:cNvSpPr>
            <p:nvPr/>
          </p:nvSpPr>
          <p:spPr bwMode="auto">
            <a:xfrm>
              <a:off x="206" y="1505"/>
              <a:ext cx="170" cy="172"/>
            </a:xfrm>
            <a:custGeom>
              <a:avLst/>
              <a:gdLst>
                <a:gd name="T0" fmla="*/ 76 w 170"/>
                <a:gd name="T1" fmla="*/ 2 h 172"/>
                <a:gd name="T2" fmla="*/ 59 w 170"/>
                <a:gd name="T3" fmla="*/ 5 h 172"/>
                <a:gd name="T4" fmla="*/ 44 w 170"/>
                <a:gd name="T5" fmla="*/ 11 h 172"/>
                <a:gd name="T6" fmla="*/ 30 w 170"/>
                <a:gd name="T7" fmla="*/ 20 h 172"/>
                <a:gd name="T8" fmla="*/ 18 w 170"/>
                <a:gd name="T9" fmla="*/ 32 h 172"/>
                <a:gd name="T10" fmla="*/ 9 w 170"/>
                <a:gd name="T11" fmla="*/ 46 h 172"/>
                <a:gd name="T12" fmla="*/ 3 w 170"/>
                <a:gd name="T13" fmla="*/ 61 h 172"/>
                <a:gd name="T14" fmla="*/ 0 w 170"/>
                <a:gd name="T15" fmla="*/ 77 h 172"/>
                <a:gd name="T16" fmla="*/ 0 w 170"/>
                <a:gd name="T17" fmla="*/ 94 h 172"/>
                <a:gd name="T18" fmla="*/ 3 w 170"/>
                <a:gd name="T19" fmla="*/ 111 h 172"/>
                <a:gd name="T20" fmla="*/ 9 w 170"/>
                <a:gd name="T21" fmla="*/ 126 h 172"/>
                <a:gd name="T22" fmla="*/ 18 w 170"/>
                <a:gd name="T23" fmla="*/ 140 h 172"/>
                <a:gd name="T24" fmla="*/ 30 w 170"/>
                <a:gd name="T25" fmla="*/ 152 h 172"/>
                <a:gd name="T26" fmla="*/ 44 w 170"/>
                <a:gd name="T27" fmla="*/ 161 h 172"/>
                <a:gd name="T28" fmla="*/ 59 w 170"/>
                <a:gd name="T29" fmla="*/ 167 h 172"/>
                <a:gd name="T30" fmla="*/ 76 w 170"/>
                <a:gd name="T31" fmla="*/ 170 h 172"/>
                <a:gd name="T32" fmla="*/ 94 w 170"/>
                <a:gd name="T33" fmla="*/ 170 h 172"/>
                <a:gd name="T34" fmla="*/ 111 w 170"/>
                <a:gd name="T35" fmla="*/ 167 h 172"/>
                <a:gd name="T36" fmla="*/ 126 w 170"/>
                <a:gd name="T37" fmla="*/ 161 h 172"/>
                <a:gd name="T38" fmla="*/ 139 w 170"/>
                <a:gd name="T39" fmla="*/ 152 h 172"/>
                <a:gd name="T40" fmla="*/ 150 w 170"/>
                <a:gd name="T41" fmla="*/ 140 h 172"/>
                <a:gd name="T42" fmla="*/ 159 w 170"/>
                <a:gd name="T43" fmla="*/ 126 h 172"/>
                <a:gd name="T44" fmla="*/ 165 w 170"/>
                <a:gd name="T45" fmla="*/ 111 h 172"/>
                <a:gd name="T46" fmla="*/ 170 w 170"/>
                <a:gd name="T47" fmla="*/ 94 h 172"/>
                <a:gd name="T48" fmla="*/ 170 w 170"/>
                <a:gd name="T49" fmla="*/ 77 h 172"/>
                <a:gd name="T50" fmla="*/ 165 w 170"/>
                <a:gd name="T51" fmla="*/ 61 h 172"/>
                <a:gd name="T52" fmla="*/ 159 w 170"/>
                <a:gd name="T53" fmla="*/ 46 h 172"/>
                <a:gd name="T54" fmla="*/ 150 w 170"/>
                <a:gd name="T55" fmla="*/ 32 h 172"/>
                <a:gd name="T56" fmla="*/ 139 w 170"/>
                <a:gd name="T57" fmla="*/ 20 h 172"/>
                <a:gd name="T58" fmla="*/ 126 w 170"/>
                <a:gd name="T59" fmla="*/ 11 h 172"/>
                <a:gd name="T60" fmla="*/ 111 w 170"/>
                <a:gd name="T61" fmla="*/ 5 h 172"/>
                <a:gd name="T62" fmla="*/ 94 w 170"/>
                <a:gd name="T63" fmla="*/ 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 h="172">
                  <a:moveTo>
                    <a:pt x="85" y="0"/>
                  </a:moveTo>
                  <a:lnTo>
                    <a:pt x="76" y="2"/>
                  </a:lnTo>
                  <a:lnTo>
                    <a:pt x="66" y="2"/>
                  </a:lnTo>
                  <a:lnTo>
                    <a:pt x="59" y="5"/>
                  </a:lnTo>
                  <a:lnTo>
                    <a:pt x="51" y="8"/>
                  </a:lnTo>
                  <a:lnTo>
                    <a:pt x="44" y="11"/>
                  </a:lnTo>
                  <a:lnTo>
                    <a:pt x="36" y="15"/>
                  </a:lnTo>
                  <a:lnTo>
                    <a:pt x="30" y="20"/>
                  </a:lnTo>
                  <a:lnTo>
                    <a:pt x="24" y="26"/>
                  </a:lnTo>
                  <a:lnTo>
                    <a:pt x="18" y="32"/>
                  </a:lnTo>
                  <a:lnTo>
                    <a:pt x="13" y="38"/>
                  </a:lnTo>
                  <a:lnTo>
                    <a:pt x="9" y="46"/>
                  </a:lnTo>
                  <a:lnTo>
                    <a:pt x="6" y="53"/>
                  </a:lnTo>
                  <a:lnTo>
                    <a:pt x="3" y="61"/>
                  </a:lnTo>
                  <a:lnTo>
                    <a:pt x="1" y="68"/>
                  </a:lnTo>
                  <a:lnTo>
                    <a:pt x="0" y="77"/>
                  </a:lnTo>
                  <a:lnTo>
                    <a:pt x="0" y="87"/>
                  </a:lnTo>
                  <a:lnTo>
                    <a:pt x="0" y="94"/>
                  </a:lnTo>
                  <a:lnTo>
                    <a:pt x="1" y="103"/>
                  </a:lnTo>
                  <a:lnTo>
                    <a:pt x="3" y="111"/>
                  </a:lnTo>
                  <a:lnTo>
                    <a:pt x="6" y="118"/>
                  </a:lnTo>
                  <a:lnTo>
                    <a:pt x="9" y="126"/>
                  </a:lnTo>
                  <a:lnTo>
                    <a:pt x="13" y="134"/>
                  </a:lnTo>
                  <a:lnTo>
                    <a:pt x="18" y="140"/>
                  </a:lnTo>
                  <a:lnTo>
                    <a:pt x="24" y="146"/>
                  </a:lnTo>
                  <a:lnTo>
                    <a:pt x="30" y="152"/>
                  </a:lnTo>
                  <a:lnTo>
                    <a:pt x="36" y="156"/>
                  </a:lnTo>
                  <a:lnTo>
                    <a:pt x="44" y="161"/>
                  </a:lnTo>
                  <a:lnTo>
                    <a:pt x="51" y="164"/>
                  </a:lnTo>
                  <a:lnTo>
                    <a:pt x="59" y="167"/>
                  </a:lnTo>
                  <a:lnTo>
                    <a:pt x="66" y="170"/>
                  </a:lnTo>
                  <a:lnTo>
                    <a:pt x="76" y="170"/>
                  </a:lnTo>
                  <a:lnTo>
                    <a:pt x="85" y="172"/>
                  </a:lnTo>
                  <a:lnTo>
                    <a:pt x="94" y="170"/>
                  </a:lnTo>
                  <a:lnTo>
                    <a:pt x="101" y="170"/>
                  </a:lnTo>
                  <a:lnTo>
                    <a:pt x="111" y="167"/>
                  </a:lnTo>
                  <a:lnTo>
                    <a:pt x="118" y="164"/>
                  </a:lnTo>
                  <a:lnTo>
                    <a:pt x="126" y="161"/>
                  </a:lnTo>
                  <a:lnTo>
                    <a:pt x="132" y="156"/>
                  </a:lnTo>
                  <a:lnTo>
                    <a:pt x="139" y="152"/>
                  </a:lnTo>
                  <a:lnTo>
                    <a:pt x="145" y="146"/>
                  </a:lnTo>
                  <a:lnTo>
                    <a:pt x="150" y="140"/>
                  </a:lnTo>
                  <a:lnTo>
                    <a:pt x="155" y="134"/>
                  </a:lnTo>
                  <a:lnTo>
                    <a:pt x="159" y="126"/>
                  </a:lnTo>
                  <a:lnTo>
                    <a:pt x="164" y="118"/>
                  </a:lnTo>
                  <a:lnTo>
                    <a:pt x="165" y="111"/>
                  </a:lnTo>
                  <a:lnTo>
                    <a:pt x="168" y="103"/>
                  </a:lnTo>
                  <a:lnTo>
                    <a:pt x="170" y="94"/>
                  </a:lnTo>
                  <a:lnTo>
                    <a:pt x="170" y="87"/>
                  </a:lnTo>
                  <a:lnTo>
                    <a:pt x="170" y="77"/>
                  </a:lnTo>
                  <a:lnTo>
                    <a:pt x="168" y="68"/>
                  </a:lnTo>
                  <a:lnTo>
                    <a:pt x="165" y="61"/>
                  </a:lnTo>
                  <a:lnTo>
                    <a:pt x="164" y="53"/>
                  </a:lnTo>
                  <a:lnTo>
                    <a:pt x="159" y="46"/>
                  </a:lnTo>
                  <a:lnTo>
                    <a:pt x="155" y="38"/>
                  </a:lnTo>
                  <a:lnTo>
                    <a:pt x="150" y="32"/>
                  </a:lnTo>
                  <a:lnTo>
                    <a:pt x="145" y="26"/>
                  </a:lnTo>
                  <a:lnTo>
                    <a:pt x="139" y="20"/>
                  </a:lnTo>
                  <a:lnTo>
                    <a:pt x="132" y="15"/>
                  </a:lnTo>
                  <a:lnTo>
                    <a:pt x="126" y="11"/>
                  </a:lnTo>
                  <a:lnTo>
                    <a:pt x="118" y="8"/>
                  </a:lnTo>
                  <a:lnTo>
                    <a:pt x="111" y="5"/>
                  </a:lnTo>
                  <a:lnTo>
                    <a:pt x="101" y="2"/>
                  </a:lnTo>
                  <a:lnTo>
                    <a:pt x="94" y="2"/>
                  </a:lnTo>
                  <a:lnTo>
                    <a:pt x="85"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5759" name="Rectangle 47">
              <a:extLst>
                <a:ext uri="{FF2B5EF4-FFF2-40B4-BE49-F238E27FC236}">
                  <a16:creationId xmlns:a16="http://schemas.microsoft.com/office/drawing/2014/main" id="{F51DA5A2-17E3-1B58-4955-75F750B71F23}"/>
                </a:ext>
              </a:extLst>
            </p:cNvPr>
            <p:cNvSpPr>
              <a:spLocks noChangeArrowheads="1"/>
            </p:cNvSpPr>
            <p:nvPr/>
          </p:nvSpPr>
          <p:spPr bwMode="auto">
            <a:xfrm>
              <a:off x="256" y="1525"/>
              <a:ext cx="75"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t>S</a:t>
              </a:r>
              <a:endParaRPr lang="en-US" altLang="en-US"/>
            </a:p>
          </p:txBody>
        </p:sp>
        <p:sp>
          <p:nvSpPr>
            <p:cNvPr id="115760" name="Freeform 48">
              <a:extLst>
                <a:ext uri="{FF2B5EF4-FFF2-40B4-BE49-F238E27FC236}">
                  <a16:creationId xmlns:a16="http://schemas.microsoft.com/office/drawing/2014/main" id="{C8A670E4-041C-1393-53AE-6E1653D595F0}"/>
                </a:ext>
              </a:extLst>
            </p:cNvPr>
            <p:cNvSpPr>
              <a:spLocks/>
            </p:cNvSpPr>
            <p:nvPr/>
          </p:nvSpPr>
          <p:spPr bwMode="auto">
            <a:xfrm>
              <a:off x="984" y="804"/>
              <a:ext cx="172" cy="170"/>
            </a:xfrm>
            <a:custGeom>
              <a:avLst/>
              <a:gdLst>
                <a:gd name="T0" fmla="*/ 77 w 172"/>
                <a:gd name="T1" fmla="*/ 0 h 170"/>
                <a:gd name="T2" fmla="*/ 61 w 172"/>
                <a:gd name="T3" fmla="*/ 3 h 170"/>
                <a:gd name="T4" fmla="*/ 44 w 172"/>
                <a:gd name="T5" fmla="*/ 10 h 170"/>
                <a:gd name="T6" fmla="*/ 32 w 172"/>
                <a:gd name="T7" fmla="*/ 19 h 170"/>
                <a:gd name="T8" fmla="*/ 20 w 172"/>
                <a:gd name="T9" fmla="*/ 30 h 170"/>
                <a:gd name="T10" fmla="*/ 11 w 172"/>
                <a:gd name="T11" fmla="*/ 44 h 170"/>
                <a:gd name="T12" fmla="*/ 4 w 172"/>
                <a:gd name="T13" fmla="*/ 59 h 170"/>
                <a:gd name="T14" fmla="*/ 0 w 172"/>
                <a:gd name="T15" fmla="*/ 76 h 170"/>
                <a:gd name="T16" fmla="*/ 0 w 172"/>
                <a:gd name="T17" fmla="*/ 94 h 170"/>
                <a:gd name="T18" fmla="*/ 4 w 172"/>
                <a:gd name="T19" fmla="*/ 110 h 170"/>
                <a:gd name="T20" fmla="*/ 11 w 172"/>
                <a:gd name="T21" fmla="*/ 126 h 170"/>
                <a:gd name="T22" fmla="*/ 20 w 172"/>
                <a:gd name="T23" fmla="*/ 139 h 170"/>
                <a:gd name="T24" fmla="*/ 32 w 172"/>
                <a:gd name="T25" fmla="*/ 150 h 170"/>
                <a:gd name="T26" fmla="*/ 44 w 172"/>
                <a:gd name="T27" fmla="*/ 159 h 170"/>
                <a:gd name="T28" fmla="*/ 61 w 172"/>
                <a:gd name="T29" fmla="*/ 167 h 170"/>
                <a:gd name="T30" fmla="*/ 77 w 172"/>
                <a:gd name="T31" fmla="*/ 170 h 170"/>
                <a:gd name="T32" fmla="*/ 94 w 172"/>
                <a:gd name="T33" fmla="*/ 170 h 170"/>
                <a:gd name="T34" fmla="*/ 111 w 172"/>
                <a:gd name="T35" fmla="*/ 167 h 170"/>
                <a:gd name="T36" fmla="*/ 126 w 172"/>
                <a:gd name="T37" fmla="*/ 159 h 170"/>
                <a:gd name="T38" fmla="*/ 140 w 172"/>
                <a:gd name="T39" fmla="*/ 150 h 170"/>
                <a:gd name="T40" fmla="*/ 152 w 172"/>
                <a:gd name="T41" fmla="*/ 139 h 170"/>
                <a:gd name="T42" fmla="*/ 161 w 172"/>
                <a:gd name="T43" fmla="*/ 126 h 170"/>
                <a:gd name="T44" fmla="*/ 167 w 172"/>
                <a:gd name="T45" fmla="*/ 110 h 170"/>
                <a:gd name="T46" fmla="*/ 170 w 172"/>
                <a:gd name="T47" fmla="*/ 94 h 170"/>
                <a:gd name="T48" fmla="*/ 170 w 172"/>
                <a:gd name="T49" fmla="*/ 76 h 170"/>
                <a:gd name="T50" fmla="*/ 167 w 172"/>
                <a:gd name="T51" fmla="*/ 59 h 170"/>
                <a:gd name="T52" fmla="*/ 161 w 172"/>
                <a:gd name="T53" fmla="*/ 44 h 170"/>
                <a:gd name="T54" fmla="*/ 152 w 172"/>
                <a:gd name="T55" fmla="*/ 30 h 170"/>
                <a:gd name="T56" fmla="*/ 140 w 172"/>
                <a:gd name="T57" fmla="*/ 19 h 170"/>
                <a:gd name="T58" fmla="*/ 126 w 172"/>
                <a:gd name="T59" fmla="*/ 10 h 170"/>
                <a:gd name="T60" fmla="*/ 111 w 172"/>
                <a:gd name="T61" fmla="*/ 3 h 170"/>
                <a:gd name="T62" fmla="*/ 94 w 172"/>
                <a:gd name="T63"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2" h="170">
                  <a:moveTo>
                    <a:pt x="85" y="0"/>
                  </a:moveTo>
                  <a:lnTo>
                    <a:pt x="77" y="0"/>
                  </a:lnTo>
                  <a:lnTo>
                    <a:pt x="68" y="1"/>
                  </a:lnTo>
                  <a:lnTo>
                    <a:pt x="61" y="3"/>
                  </a:lnTo>
                  <a:lnTo>
                    <a:pt x="52" y="6"/>
                  </a:lnTo>
                  <a:lnTo>
                    <a:pt x="44" y="10"/>
                  </a:lnTo>
                  <a:lnTo>
                    <a:pt x="38" y="13"/>
                  </a:lnTo>
                  <a:lnTo>
                    <a:pt x="32" y="19"/>
                  </a:lnTo>
                  <a:lnTo>
                    <a:pt x="26" y="24"/>
                  </a:lnTo>
                  <a:lnTo>
                    <a:pt x="20" y="30"/>
                  </a:lnTo>
                  <a:lnTo>
                    <a:pt x="15" y="38"/>
                  </a:lnTo>
                  <a:lnTo>
                    <a:pt x="11" y="44"/>
                  </a:lnTo>
                  <a:lnTo>
                    <a:pt x="6" y="51"/>
                  </a:lnTo>
                  <a:lnTo>
                    <a:pt x="4" y="59"/>
                  </a:lnTo>
                  <a:lnTo>
                    <a:pt x="1" y="68"/>
                  </a:lnTo>
                  <a:lnTo>
                    <a:pt x="0" y="76"/>
                  </a:lnTo>
                  <a:lnTo>
                    <a:pt x="0" y="85"/>
                  </a:lnTo>
                  <a:lnTo>
                    <a:pt x="0" y="94"/>
                  </a:lnTo>
                  <a:lnTo>
                    <a:pt x="1" y="101"/>
                  </a:lnTo>
                  <a:lnTo>
                    <a:pt x="4" y="110"/>
                  </a:lnTo>
                  <a:lnTo>
                    <a:pt x="6" y="118"/>
                  </a:lnTo>
                  <a:lnTo>
                    <a:pt x="11" y="126"/>
                  </a:lnTo>
                  <a:lnTo>
                    <a:pt x="15" y="132"/>
                  </a:lnTo>
                  <a:lnTo>
                    <a:pt x="20" y="139"/>
                  </a:lnTo>
                  <a:lnTo>
                    <a:pt x="26" y="145"/>
                  </a:lnTo>
                  <a:lnTo>
                    <a:pt x="32" y="150"/>
                  </a:lnTo>
                  <a:lnTo>
                    <a:pt x="38" y="156"/>
                  </a:lnTo>
                  <a:lnTo>
                    <a:pt x="44" y="159"/>
                  </a:lnTo>
                  <a:lnTo>
                    <a:pt x="52" y="164"/>
                  </a:lnTo>
                  <a:lnTo>
                    <a:pt x="61" y="167"/>
                  </a:lnTo>
                  <a:lnTo>
                    <a:pt x="68" y="168"/>
                  </a:lnTo>
                  <a:lnTo>
                    <a:pt x="77" y="170"/>
                  </a:lnTo>
                  <a:lnTo>
                    <a:pt x="85" y="170"/>
                  </a:lnTo>
                  <a:lnTo>
                    <a:pt x="94" y="170"/>
                  </a:lnTo>
                  <a:lnTo>
                    <a:pt x="103" y="168"/>
                  </a:lnTo>
                  <a:lnTo>
                    <a:pt x="111" y="167"/>
                  </a:lnTo>
                  <a:lnTo>
                    <a:pt x="118" y="164"/>
                  </a:lnTo>
                  <a:lnTo>
                    <a:pt x="126" y="159"/>
                  </a:lnTo>
                  <a:lnTo>
                    <a:pt x="134" y="156"/>
                  </a:lnTo>
                  <a:lnTo>
                    <a:pt x="140" y="150"/>
                  </a:lnTo>
                  <a:lnTo>
                    <a:pt x="146" y="145"/>
                  </a:lnTo>
                  <a:lnTo>
                    <a:pt x="152" y="139"/>
                  </a:lnTo>
                  <a:lnTo>
                    <a:pt x="156" y="132"/>
                  </a:lnTo>
                  <a:lnTo>
                    <a:pt x="161" y="126"/>
                  </a:lnTo>
                  <a:lnTo>
                    <a:pt x="164" y="118"/>
                  </a:lnTo>
                  <a:lnTo>
                    <a:pt x="167" y="110"/>
                  </a:lnTo>
                  <a:lnTo>
                    <a:pt x="169" y="101"/>
                  </a:lnTo>
                  <a:lnTo>
                    <a:pt x="170" y="94"/>
                  </a:lnTo>
                  <a:lnTo>
                    <a:pt x="172" y="85"/>
                  </a:lnTo>
                  <a:lnTo>
                    <a:pt x="170" y="76"/>
                  </a:lnTo>
                  <a:lnTo>
                    <a:pt x="169" y="68"/>
                  </a:lnTo>
                  <a:lnTo>
                    <a:pt x="167" y="59"/>
                  </a:lnTo>
                  <a:lnTo>
                    <a:pt x="164" y="51"/>
                  </a:lnTo>
                  <a:lnTo>
                    <a:pt x="161" y="44"/>
                  </a:lnTo>
                  <a:lnTo>
                    <a:pt x="156" y="38"/>
                  </a:lnTo>
                  <a:lnTo>
                    <a:pt x="152" y="30"/>
                  </a:lnTo>
                  <a:lnTo>
                    <a:pt x="146" y="24"/>
                  </a:lnTo>
                  <a:lnTo>
                    <a:pt x="140" y="19"/>
                  </a:lnTo>
                  <a:lnTo>
                    <a:pt x="134" y="13"/>
                  </a:lnTo>
                  <a:lnTo>
                    <a:pt x="126" y="10"/>
                  </a:lnTo>
                  <a:lnTo>
                    <a:pt x="118" y="6"/>
                  </a:lnTo>
                  <a:lnTo>
                    <a:pt x="111" y="3"/>
                  </a:lnTo>
                  <a:lnTo>
                    <a:pt x="103" y="1"/>
                  </a:lnTo>
                  <a:lnTo>
                    <a:pt x="94" y="0"/>
                  </a:lnTo>
                  <a:lnTo>
                    <a:pt x="85" y="0"/>
                  </a:lnTo>
                  <a:close/>
                </a:path>
              </a:pathLst>
            </a:custGeom>
            <a:solidFill>
              <a:srgbClr val="00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5761" name="Freeform 49">
              <a:extLst>
                <a:ext uri="{FF2B5EF4-FFF2-40B4-BE49-F238E27FC236}">
                  <a16:creationId xmlns:a16="http://schemas.microsoft.com/office/drawing/2014/main" id="{230BB72C-5E75-F1DB-3125-9CA6E4A01B40}"/>
                </a:ext>
              </a:extLst>
            </p:cNvPr>
            <p:cNvSpPr>
              <a:spLocks/>
            </p:cNvSpPr>
            <p:nvPr/>
          </p:nvSpPr>
          <p:spPr bwMode="auto">
            <a:xfrm>
              <a:off x="984" y="804"/>
              <a:ext cx="172" cy="170"/>
            </a:xfrm>
            <a:custGeom>
              <a:avLst/>
              <a:gdLst>
                <a:gd name="T0" fmla="*/ 77 w 172"/>
                <a:gd name="T1" fmla="*/ 0 h 170"/>
                <a:gd name="T2" fmla="*/ 61 w 172"/>
                <a:gd name="T3" fmla="*/ 3 h 170"/>
                <a:gd name="T4" fmla="*/ 44 w 172"/>
                <a:gd name="T5" fmla="*/ 10 h 170"/>
                <a:gd name="T6" fmla="*/ 32 w 172"/>
                <a:gd name="T7" fmla="*/ 19 h 170"/>
                <a:gd name="T8" fmla="*/ 20 w 172"/>
                <a:gd name="T9" fmla="*/ 30 h 170"/>
                <a:gd name="T10" fmla="*/ 11 w 172"/>
                <a:gd name="T11" fmla="*/ 44 h 170"/>
                <a:gd name="T12" fmla="*/ 4 w 172"/>
                <a:gd name="T13" fmla="*/ 59 h 170"/>
                <a:gd name="T14" fmla="*/ 0 w 172"/>
                <a:gd name="T15" fmla="*/ 76 h 170"/>
                <a:gd name="T16" fmla="*/ 0 w 172"/>
                <a:gd name="T17" fmla="*/ 94 h 170"/>
                <a:gd name="T18" fmla="*/ 4 w 172"/>
                <a:gd name="T19" fmla="*/ 110 h 170"/>
                <a:gd name="T20" fmla="*/ 11 w 172"/>
                <a:gd name="T21" fmla="*/ 126 h 170"/>
                <a:gd name="T22" fmla="*/ 20 w 172"/>
                <a:gd name="T23" fmla="*/ 139 h 170"/>
                <a:gd name="T24" fmla="*/ 32 w 172"/>
                <a:gd name="T25" fmla="*/ 150 h 170"/>
                <a:gd name="T26" fmla="*/ 44 w 172"/>
                <a:gd name="T27" fmla="*/ 159 h 170"/>
                <a:gd name="T28" fmla="*/ 61 w 172"/>
                <a:gd name="T29" fmla="*/ 167 h 170"/>
                <a:gd name="T30" fmla="*/ 77 w 172"/>
                <a:gd name="T31" fmla="*/ 170 h 170"/>
                <a:gd name="T32" fmla="*/ 94 w 172"/>
                <a:gd name="T33" fmla="*/ 170 h 170"/>
                <a:gd name="T34" fmla="*/ 111 w 172"/>
                <a:gd name="T35" fmla="*/ 167 h 170"/>
                <a:gd name="T36" fmla="*/ 126 w 172"/>
                <a:gd name="T37" fmla="*/ 159 h 170"/>
                <a:gd name="T38" fmla="*/ 140 w 172"/>
                <a:gd name="T39" fmla="*/ 150 h 170"/>
                <a:gd name="T40" fmla="*/ 152 w 172"/>
                <a:gd name="T41" fmla="*/ 139 h 170"/>
                <a:gd name="T42" fmla="*/ 161 w 172"/>
                <a:gd name="T43" fmla="*/ 126 h 170"/>
                <a:gd name="T44" fmla="*/ 167 w 172"/>
                <a:gd name="T45" fmla="*/ 110 h 170"/>
                <a:gd name="T46" fmla="*/ 170 w 172"/>
                <a:gd name="T47" fmla="*/ 94 h 170"/>
                <a:gd name="T48" fmla="*/ 170 w 172"/>
                <a:gd name="T49" fmla="*/ 76 h 170"/>
                <a:gd name="T50" fmla="*/ 167 w 172"/>
                <a:gd name="T51" fmla="*/ 59 h 170"/>
                <a:gd name="T52" fmla="*/ 161 w 172"/>
                <a:gd name="T53" fmla="*/ 44 h 170"/>
                <a:gd name="T54" fmla="*/ 152 w 172"/>
                <a:gd name="T55" fmla="*/ 30 h 170"/>
                <a:gd name="T56" fmla="*/ 140 w 172"/>
                <a:gd name="T57" fmla="*/ 19 h 170"/>
                <a:gd name="T58" fmla="*/ 126 w 172"/>
                <a:gd name="T59" fmla="*/ 10 h 170"/>
                <a:gd name="T60" fmla="*/ 111 w 172"/>
                <a:gd name="T61" fmla="*/ 3 h 170"/>
                <a:gd name="T62" fmla="*/ 94 w 172"/>
                <a:gd name="T63"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2" h="170">
                  <a:moveTo>
                    <a:pt x="85" y="0"/>
                  </a:moveTo>
                  <a:lnTo>
                    <a:pt x="77" y="0"/>
                  </a:lnTo>
                  <a:lnTo>
                    <a:pt x="68" y="1"/>
                  </a:lnTo>
                  <a:lnTo>
                    <a:pt x="61" y="3"/>
                  </a:lnTo>
                  <a:lnTo>
                    <a:pt x="52" y="6"/>
                  </a:lnTo>
                  <a:lnTo>
                    <a:pt x="44" y="10"/>
                  </a:lnTo>
                  <a:lnTo>
                    <a:pt x="38" y="13"/>
                  </a:lnTo>
                  <a:lnTo>
                    <a:pt x="32" y="19"/>
                  </a:lnTo>
                  <a:lnTo>
                    <a:pt x="26" y="24"/>
                  </a:lnTo>
                  <a:lnTo>
                    <a:pt x="20" y="30"/>
                  </a:lnTo>
                  <a:lnTo>
                    <a:pt x="15" y="38"/>
                  </a:lnTo>
                  <a:lnTo>
                    <a:pt x="11" y="44"/>
                  </a:lnTo>
                  <a:lnTo>
                    <a:pt x="6" y="51"/>
                  </a:lnTo>
                  <a:lnTo>
                    <a:pt x="4" y="59"/>
                  </a:lnTo>
                  <a:lnTo>
                    <a:pt x="1" y="68"/>
                  </a:lnTo>
                  <a:lnTo>
                    <a:pt x="0" y="76"/>
                  </a:lnTo>
                  <a:lnTo>
                    <a:pt x="0" y="85"/>
                  </a:lnTo>
                  <a:lnTo>
                    <a:pt x="0" y="94"/>
                  </a:lnTo>
                  <a:lnTo>
                    <a:pt x="1" y="101"/>
                  </a:lnTo>
                  <a:lnTo>
                    <a:pt x="4" y="110"/>
                  </a:lnTo>
                  <a:lnTo>
                    <a:pt x="6" y="118"/>
                  </a:lnTo>
                  <a:lnTo>
                    <a:pt x="11" y="126"/>
                  </a:lnTo>
                  <a:lnTo>
                    <a:pt x="15" y="132"/>
                  </a:lnTo>
                  <a:lnTo>
                    <a:pt x="20" y="139"/>
                  </a:lnTo>
                  <a:lnTo>
                    <a:pt x="26" y="145"/>
                  </a:lnTo>
                  <a:lnTo>
                    <a:pt x="32" y="150"/>
                  </a:lnTo>
                  <a:lnTo>
                    <a:pt x="38" y="156"/>
                  </a:lnTo>
                  <a:lnTo>
                    <a:pt x="44" y="159"/>
                  </a:lnTo>
                  <a:lnTo>
                    <a:pt x="52" y="164"/>
                  </a:lnTo>
                  <a:lnTo>
                    <a:pt x="61" y="167"/>
                  </a:lnTo>
                  <a:lnTo>
                    <a:pt x="68" y="168"/>
                  </a:lnTo>
                  <a:lnTo>
                    <a:pt x="77" y="170"/>
                  </a:lnTo>
                  <a:lnTo>
                    <a:pt x="85" y="170"/>
                  </a:lnTo>
                  <a:lnTo>
                    <a:pt x="94" y="170"/>
                  </a:lnTo>
                  <a:lnTo>
                    <a:pt x="103" y="168"/>
                  </a:lnTo>
                  <a:lnTo>
                    <a:pt x="111" y="167"/>
                  </a:lnTo>
                  <a:lnTo>
                    <a:pt x="118" y="164"/>
                  </a:lnTo>
                  <a:lnTo>
                    <a:pt x="126" y="159"/>
                  </a:lnTo>
                  <a:lnTo>
                    <a:pt x="134" y="156"/>
                  </a:lnTo>
                  <a:lnTo>
                    <a:pt x="140" y="150"/>
                  </a:lnTo>
                  <a:lnTo>
                    <a:pt x="146" y="145"/>
                  </a:lnTo>
                  <a:lnTo>
                    <a:pt x="152" y="139"/>
                  </a:lnTo>
                  <a:lnTo>
                    <a:pt x="156" y="132"/>
                  </a:lnTo>
                  <a:lnTo>
                    <a:pt x="161" y="126"/>
                  </a:lnTo>
                  <a:lnTo>
                    <a:pt x="164" y="118"/>
                  </a:lnTo>
                  <a:lnTo>
                    <a:pt x="167" y="110"/>
                  </a:lnTo>
                  <a:lnTo>
                    <a:pt x="169" y="101"/>
                  </a:lnTo>
                  <a:lnTo>
                    <a:pt x="170" y="94"/>
                  </a:lnTo>
                  <a:lnTo>
                    <a:pt x="172" y="85"/>
                  </a:lnTo>
                  <a:lnTo>
                    <a:pt x="170" y="76"/>
                  </a:lnTo>
                  <a:lnTo>
                    <a:pt x="169" y="68"/>
                  </a:lnTo>
                  <a:lnTo>
                    <a:pt x="167" y="59"/>
                  </a:lnTo>
                  <a:lnTo>
                    <a:pt x="164" y="51"/>
                  </a:lnTo>
                  <a:lnTo>
                    <a:pt x="161" y="44"/>
                  </a:lnTo>
                  <a:lnTo>
                    <a:pt x="156" y="38"/>
                  </a:lnTo>
                  <a:lnTo>
                    <a:pt x="152" y="30"/>
                  </a:lnTo>
                  <a:lnTo>
                    <a:pt x="146" y="24"/>
                  </a:lnTo>
                  <a:lnTo>
                    <a:pt x="140" y="19"/>
                  </a:lnTo>
                  <a:lnTo>
                    <a:pt x="134" y="13"/>
                  </a:lnTo>
                  <a:lnTo>
                    <a:pt x="126" y="10"/>
                  </a:lnTo>
                  <a:lnTo>
                    <a:pt x="118" y="6"/>
                  </a:lnTo>
                  <a:lnTo>
                    <a:pt x="111" y="3"/>
                  </a:lnTo>
                  <a:lnTo>
                    <a:pt x="103" y="1"/>
                  </a:lnTo>
                  <a:lnTo>
                    <a:pt x="94" y="0"/>
                  </a:lnTo>
                  <a:lnTo>
                    <a:pt x="85"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5762" name="Rectangle 50">
              <a:extLst>
                <a:ext uri="{FF2B5EF4-FFF2-40B4-BE49-F238E27FC236}">
                  <a16:creationId xmlns:a16="http://schemas.microsoft.com/office/drawing/2014/main" id="{5800E406-B7F2-78CD-8551-85CCFB09CCA5}"/>
                </a:ext>
              </a:extLst>
            </p:cNvPr>
            <p:cNvSpPr>
              <a:spLocks noChangeArrowheads="1"/>
            </p:cNvSpPr>
            <p:nvPr/>
          </p:nvSpPr>
          <p:spPr bwMode="auto">
            <a:xfrm>
              <a:off x="1031" y="824"/>
              <a:ext cx="89"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t>B</a:t>
              </a:r>
              <a:endParaRPr lang="en-US" altLang="en-US"/>
            </a:p>
          </p:txBody>
        </p:sp>
        <p:sp>
          <p:nvSpPr>
            <p:cNvPr id="115763" name="Freeform 51">
              <a:extLst>
                <a:ext uri="{FF2B5EF4-FFF2-40B4-BE49-F238E27FC236}">
                  <a16:creationId xmlns:a16="http://schemas.microsoft.com/office/drawing/2014/main" id="{42122968-A464-E650-AF11-3B838CAD12B0}"/>
                </a:ext>
              </a:extLst>
            </p:cNvPr>
            <p:cNvSpPr>
              <a:spLocks/>
            </p:cNvSpPr>
            <p:nvPr/>
          </p:nvSpPr>
          <p:spPr bwMode="auto">
            <a:xfrm>
              <a:off x="1308" y="2065"/>
              <a:ext cx="170" cy="172"/>
            </a:xfrm>
            <a:custGeom>
              <a:avLst/>
              <a:gdLst>
                <a:gd name="T0" fmla="*/ 76 w 170"/>
                <a:gd name="T1" fmla="*/ 0 h 172"/>
                <a:gd name="T2" fmla="*/ 59 w 170"/>
                <a:gd name="T3" fmla="*/ 5 h 172"/>
                <a:gd name="T4" fmla="*/ 44 w 170"/>
                <a:gd name="T5" fmla="*/ 11 h 172"/>
                <a:gd name="T6" fmla="*/ 30 w 170"/>
                <a:gd name="T7" fmla="*/ 20 h 172"/>
                <a:gd name="T8" fmla="*/ 18 w 170"/>
                <a:gd name="T9" fmla="*/ 32 h 172"/>
                <a:gd name="T10" fmla="*/ 9 w 170"/>
                <a:gd name="T11" fmla="*/ 44 h 172"/>
                <a:gd name="T12" fmla="*/ 3 w 170"/>
                <a:gd name="T13" fmla="*/ 61 h 172"/>
                <a:gd name="T14" fmla="*/ 0 w 170"/>
                <a:gd name="T15" fmla="*/ 78 h 172"/>
                <a:gd name="T16" fmla="*/ 0 w 170"/>
                <a:gd name="T17" fmla="*/ 94 h 172"/>
                <a:gd name="T18" fmla="*/ 3 w 170"/>
                <a:gd name="T19" fmla="*/ 111 h 172"/>
                <a:gd name="T20" fmla="*/ 9 w 170"/>
                <a:gd name="T21" fmla="*/ 126 h 172"/>
                <a:gd name="T22" fmla="*/ 18 w 170"/>
                <a:gd name="T23" fmla="*/ 140 h 172"/>
                <a:gd name="T24" fmla="*/ 30 w 170"/>
                <a:gd name="T25" fmla="*/ 152 h 172"/>
                <a:gd name="T26" fmla="*/ 44 w 170"/>
                <a:gd name="T27" fmla="*/ 161 h 172"/>
                <a:gd name="T28" fmla="*/ 59 w 170"/>
                <a:gd name="T29" fmla="*/ 167 h 172"/>
                <a:gd name="T30" fmla="*/ 76 w 170"/>
                <a:gd name="T31" fmla="*/ 170 h 172"/>
                <a:gd name="T32" fmla="*/ 94 w 170"/>
                <a:gd name="T33" fmla="*/ 170 h 172"/>
                <a:gd name="T34" fmla="*/ 111 w 170"/>
                <a:gd name="T35" fmla="*/ 167 h 172"/>
                <a:gd name="T36" fmla="*/ 126 w 170"/>
                <a:gd name="T37" fmla="*/ 161 h 172"/>
                <a:gd name="T38" fmla="*/ 140 w 170"/>
                <a:gd name="T39" fmla="*/ 152 h 172"/>
                <a:gd name="T40" fmla="*/ 150 w 170"/>
                <a:gd name="T41" fmla="*/ 140 h 172"/>
                <a:gd name="T42" fmla="*/ 159 w 170"/>
                <a:gd name="T43" fmla="*/ 126 h 172"/>
                <a:gd name="T44" fmla="*/ 165 w 170"/>
                <a:gd name="T45" fmla="*/ 111 h 172"/>
                <a:gd name="T46" fmla="*/ 170 w 170"/>
                <a:gd name="T47" fmla="*/ 94 h 172"/>
                <a:gd name="T48" fmla="*/ 170 w 170"/>
                <a:gd name="T49" fmla="*/ 78 h 172"/>
                <a:gd name="T50" fmla="*/ 165 w 170"/>
                <a:gd name="T51" fmla="*/ 61 h 172"/>
                <a:gd name="T52" fmla="*/ 159 w 170"/>
                <a:gd name="T53" fmla="*/ 44 h 172"/>
                <a:gd name="T54" fmla="*/ 150 w 170"/>
                <a:gd name="T55" fmla="*/ 32 h 172"/>
                <a:gd name="T56" fmla="*/ 140 w 170"/>
                <a:gd name="T57" fmla="*/ 20 h 172"/>
                <a:gd name="T58" fmla="*/ 126 w 170"/>
                <a:gd name="T59" fmla="*/ 11 h 172"/>
                <a:gd name="T60" fmla="*/ 111 w 170"/>
                <a:gd name="T61" fmla="*/ 5 h 172"/>
                <a:gd name="T62" fmla="*/ 94 w 170"/>
                <a:gd name="T63" fmla="*/ 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 h="172">
                  <a:moveTo>
                    <a:pt x="85" y="0"/>
                  </a:moveTo>
                  <a:lnTo>
                    <a:pt x="76" y="0"/>
                  </a:lnTo>
                  <a:lnTo>
                    <a:pt x="67" y="2"/>
                  </a:lnTo>
                  <a:lnTo>
                    <a:pt x="59" y="5"/>
                  </a:lnTo>
                  <a:lnTo>
                    <a:pt x="51" y="6"/>
                  </a:lnTo>
                  <a:lnTo>
                    <a:pt x="44" y="11"/>
                  </a:lnTo>
                  <a:lnTo>
                    <a:pt x="36" y="15"/>
                  </a:lnTo>
                  <a:lnTo>
                    <a:pt x="30" y="20"/>
                  </a:lnTo>
                  <a:lnTo>
                    <a:pt x="24" y="26"/>
                  </a:lnTo>
                  <a:lnTo>
                    <a:pt x="18" y="32"/>
                  </a:lnTo>
                  <a:lnTo>
                    <a:pt x="13" y="38"/>
                  </a:lnTo>
                  <a:lnTo>
                    <a:pt x="9" y="44"/>
                  </a:lnTo>
                  <a:lnTo>
                    <a:pt x="6" y="52"/>
                  </a:lnTo>
                  <a:lnTo>
                    <a:pt x="3" y="61"/>
                  </a:lnTo>
                  <a:lnTo>
                    <a:pt x="1" y="69"/>
                  </a:lnTo>
                  <a:lnTo>
                    <a:pt x="0" y="78"/>
                  </a:lnTo>
                  <a:lnTo>
                    <a:pt x="0" y="85"/>
                  </a:lnTo>
                  <a:lnTo>
                    <a:pt x="0" y="94"/>
                  </a:lnTo>
                  <a:lnTo>
                    <a:pt x="1" y="103"/>
                  </a:lnTo>
                  <a:lnTo>
                    <a:pt x="3" y="111"/>
                  </a:lnTo>
                  <a:lnTo>
                    <a:pt x="6" y="119"/>
                  </a:lnTo>
                  <a:lnTo>
                    <a:pt x="9" y="126"/>
                  </a:lnTo>
                  <a:lnTo>
                    <a:pt x="13" y="134"/>
                  </a:lnTo>
                  <a:lnTo>
                    <a:pt x="18" y="140"/>
                  </a:lnTo>
                  <a:lnTo>
                    <a:pt x="24" y="146"/>
                  </a:lnTo>
                  <a:lnTo>
                    <a:pt x="30" y="152"/>
                  </a:lnTo>
                  <a:lnTo>
                    <a:pt x="36" y="157"/>
                  </a:lnTo>
                  <a:lnTo>
                    <a:pt x="44" y="161"/>
                  </a:lnTo>
                  <a:lnTo>
                    <a:pt x="51" y="164"/>
                  </a:lnTo>
                  <a:lnTo>
                    <a:pt x="59" y="167"/>
                  </a:lnTo>
                  <a:lnTo>
                    <a:pt x="67" y="169"/>
                  </a:lnTo>
                  <a:lnTo>
                    <a:pt x="76" y="170"/>
                  </a:lnTo>
                  <a:lnTo>
                    <a:pt x="85" y="172"/>
                  </a:lnTo>
                  <a:lnTo>
                    <a:pt x="94" y="170"/>
                  </a:lnTo>
                  <a:lnTo>
                    <a:pt x="102" y="169"/>
                  </a:lnTo>
                  <a:lnTo>
                    <a:pt x="111" y="167"/>
                  </a:lnTo>
                  <a:lnTo>
                    <a:pt x="118" y="164"/>
                  </a:lnTo>
                  <a:lnTo>
                    <a:pt x="126" y="161"/>
                  </a:lnTo>
                  <a:lnTo>
                    <a:pt x="132" y="157"/>
                  </a:lnTo>
                  <a:lnTo>
                    <a:pt x="140" y="152"/>
                  </a:lnTo>
                  <a:lnTo>
                    <a:pt x="146" y="146"/>
                  </a:lnTo>
                  <a:lnTo>
                    <a:pt x="150" y="140"/>
                  </a:lnTo>
                  <a:lnTo>
                    <a:pt x="155" y="134"/>
                  </a:lnTo>
                  <a:lnTo>
                    <a:pt x="159" y="126"/>
                  </a:lnTo>
                  <a:lnTo>
                    <a:pt x="164" y="119"/>
                  </a:lnTo>
                  <a:lnTo>
                    <a:pt x="165" y="111"/>
                  </a:lnTo>
                  <a:lnTo>
                    <a:pt x="168" y="103"/>
                  </a:lnTo>
                  <a:lnTo>
                    <a:pt x="170" y="94"/>
                  </a:lnTo>
                  <a:lnTo>
                    <a:pt x="170" y="85"/>
                  </a:lnTo>
                  <a:lnTo>
                    <a:pt x="170" y="78"/>
                  </a:lnTo>
                  <a:lnTo>
                    <a:pt x="168" y="69"/>
                  </a:lnTo>
                  <a:lnTo>
                    <a:pt x="165" y="61"/>
                  </a:lnTo>
                  <a:lnTo>
                    <a:pt x="164" y="52"/>
                  </a:lnTo>
                  <a:lnTo>
                    <a:pt x="159" y="44"/>
                  </a:lnTo>
                  <a:lnTo>
                    <a:pt x="155" y="38"/>
                  </a:lnTo>
                  <a:lnTo>
                    <a:pt x="150" y="32"/>
                  </a:lnTo>
                  <a:lnTo>
                    <a:pt x="146" y="26"/>
                  </a:lnTo>
                  <a:lnTo>
                    <a:pt x="140" y="20"/>
                  </a:lnTo>
                  <a:lnTo>
                    <a:pt x="132" y="15"/>
                  </a:lnTo>
                  <a:lnTo>
                    <a:pt x="126" y="11"/>
                  </a:lnTo>
                  <a:lnTo>
                    <a:pt x="118" y="6"/>
                  </a:lnTo>
                  <a:lnTo>
                    <a:pt x="111" y="5"/>
                  </a:lnTo>
                  <a:lnTo>
                    <a:pt x="102" y="2"/>
                  </a:lnTo>
                  <a:lnTo>
                    <a:pt x="94" y="0"/>
                  </a:lnTo>
                  <a:lnTo>
                    <a:pt x="85" y="0"/>
                  </a:lnTo>
                  <a:close/>
                </a:path>
              </a:pathLst>
            </a:custGeom>
            <a:solidFill>
              <a:srgbClr val="00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5764" name="Freeform 52">
              <a:extLst>
                <a:ext uri="{FF2B5EF4-FFF2-40B4-BE49-F238E27FC236}">
                  <a16:creationId xmlns:a16="http://schemas.microsoft.com/office/drawing/2014/main" id="{8712FE52-7AFF-EBB0-4DF1-1B6402836D5F}"/>
                </a:ext>
              </a:extLst>
            </p:cNvPr>
            <p:cNvSpPr>
              <a:spLocks/>
            </p:cNvSpPr>
            <p:nvPr/>
          </p:nvSpPr>
          <p:spPr bwMode="auto">
            <a:xfrm>
              <a:off x="1308" y="2065"/>
              <a:ext cx="170" cy="172"/>
            </a:xfrm>
            <a:custGeom>
              <a:avLst/>
              <a:gdLst>
                <a:gd name="T0" fmla="*/ 76 w 170"/>
                <a:gd name="T1" fmla="*/ 0 h 172"/>
                <a:gd name="T2" fmla="*/ 59 w 170"/>
                <a:gd name="T3" fmla="*/ 5 h 172"/>
                <a:gd name="T4" fmla="*/ 44 w 170"/>
                <a:gd name="T5" fmla="*/ 11 h 172"/>
                <a:gd name="T6" fmla="*/ 30 w 170"/>
                <a:gd name="T7" fmla="*/ 20 h 172"/>
                <a:gd name="T8" fmla="*/ 18 w 170"/>
                <a:gd name="T9" fmla="*/ 32 h 172"/>
                <a:gd name="T10" fmla="*/ 9 w 170"/>
                <a:gd name="T11" fmla="*/ 44 h 172"/>
                <a:gd name="T12" fmla="*/ 3 w 170"/>
                <a:gd name="T13" fmla="*/ 61 h 172"/>
                <a:gd name="T14" fmla="*/ 0 w 170"/>
                <a:gd name="T15" fmla="*/ 78 h 172"/>
                <a:gd name="T16" fmla="*/ 0 w 170"/>
                <a:gd name="T17" fmla="*/ 94 h 172"/>
                <a:gd name="T18" fmla="*/ 3 w 170"/>
                <a:gd name="T19" fmla="*/ 111 h 172"/>
                <a:gd name="T20" fmla="*/ 9 w 170"/>
                <a:gd name="T21" fmla="*/ 126 h 172"/>
                <a:gd name="T22" fmla="*/ 18 w 170"/>
                <a:gd name="T23" fmla="*/ 140 h 172"/>
                <a:gd name="T24" fmla="*/ 30 w 170"/>
                <a:gd name="T25" fmla="*/ 152 h 172"/>
                <a:gd name="T26" fmla="*/ 44 w 170"/>
                <a:gd name="T27" fmla="*/ 161 h 172"/>
                <a:gd name="T28" fmla="*/ 59 w 170"/>
                <a:gd name="T29" fmla="*/ 167 h 172"/>
                <a:gd name="T30" fmla="*/ 76 w 170"/>
                <a:gd name="T31" fmla="*/ 170 h 172"/>
                <a:gd name="T32" fmla="*/ 94 w 170"/>
                <a:gd name="T33" fmla="*/ 170 h 172"/>
                <a:gd name="T34" fmla="*/ 111 w 170"/>
                <a:gd name="T35" fmla="*/ 167 h 172"/>
                <a:gd name="T36" fmla="*/ 126 w 170"/>
                <a:gd name="T37" fmla="*/ 161 h 172"/>
                <a:gd name="T38" fmla="*/ 140 w 170"/>
                <a:gd name="T39" fmla="*/ 152 h 172"/>
                <a:gd name="T40" fmla="*/ 150 w 170"/>
                <a:gd name="T41" fmla="*/ 140 h 172"/>
                <a:gd name="T42" fmla="*/ 159 w 170"/>
                <a:gd name="T43" fmla="*/ 126 h 172"/>
                <a:gd name="T44" fmla="*/ 165 w 170"/>
                <a:gd name="T45" fmla="*/ 111 h 172"/>
                <a:gd name="T46" fmla="*/ 170 w 170"/>
                <a:gd name="T47" fmla="*/ 94 h 172"/>
                <a:gd name="T48" fmla="*/ 170 w 170"/>
                <a:gd name="T49" fmla="*/ 78 h 172"/>
                <a:gd name="T50" fmla="*/ 165 w 170"/>
                <a:gd name="T51" fmla="*/ 61 h 172"/>
                <a:gd name="T52" fmla="*/ 159 w 170"/>
                <a:gd name="T53" fmla="*/ 44 h 172"/>
                <a:gd name="T54" fmla="*/ 150 w 170"/>
                <a:gd name="T55" fmla="*/ 32 h 172"/>
                <a:gd name="T56" fmla="*/ 140 w 170"/>
                <a:gd name="T57" fmla="*/ 20 h 172"/>
                <a:gd name="T58" fmla="*/ 126 w 170"/>
                <a:gd name="T59" fmla="*/ 11 h 172"/>
                <a:gd name="T60" fmla="*/ 111 w 170"/>
                <a:gd name="T61" fmla="*/ 5 h 172"/>
                <a:gd name="T62" fmla="*/ 94 w 170"/>
                <a:gd name="T63" fmla="*/ 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 h="172">
                  <a:moveTo>
                    <a:pt x="85" y="0"/>
                  </a:moveTo>
                  <a:lnTo>
                    <a:pt x="76" y="0"/>
                  </a:lnTo>
                  <a:lnTo>
                    <a:pt x="67" y="2"/>
                  </a:lnTo>
                  <a:lnTo>
                    <a:pt x="59" y="5"/>
                  </a:lnTo>
                  <a:lnTo>
                    <a:pt x="51" y="6"/>
                  </a:lnTo>
                  <a:lnTo>
                    <a:pt x="44" y="11"/>
                  </a:lnTo>
                  <a:lnTo>
                    <a:pt x="36" y="15"/>
                  </a:lnTo>
                  <a:lnTo>
                    <a:pt x="30" y="20"/>
                  </a:lnTo>
                  <a:lnTo>
                    <a:pt x="24" y="26"/>
                  </a:lnTo>
                  <a:lnTo>
                    <a:pt x="18" y="32"/>
                  </a:lnTo>
                  <a:lnTo>
                    <a:pt x="13" y="38"/>
                  </a:lnTo>
                  <a:lnTo>
                    <a:pt x="9" y="44"/>
                  </a:lnTo>
                  <a:lnTo>
                    <a:pt x="6" y="52"/>
                  </a:lnTo>
                  <a:lnTo>
                    <a:pt x="3" y="61"/>
                  </a:lnTo>
                  <a:lnTo>
                    <a:pt x="1" y="69"/>
                  </a:lnTo>
                  <a:lnTo>
                    <a:pt x="0" y="78"/>
                  </a:lnTo>
                  <a:lnTo>
                    <a:pt x="0" y="85"/>
                  </a:lnTo>
                  <a:lnTo>
                    <a:pt x="0" y="94"/>
                  </a:lnTo>
                  <a:lnTo>
                    <a:pt x="1" y="103"/>
                  </a:lnTo>
                  <a:lnTo>
                    <a:pt x="3" y="111"/>
                  </a:lnTo>
                  <a:lnTo>
                    <a:pt x="6" y="119"/>
                  </a:lnTo>
                  <a:lnTo>
                    <a:pt x="9" y="126"/>
                  </a:lnTo>
                  <a:lnTo>
                    <a:pt x="13" y="134"/>
                  </a:lnTo>
                  <a:lnTo>
                    <a:pt x="18" y="140"/>
                  </a:lnTo>
                  <a:lnTo>
                    <a:pt x="24" y="146"/>
                  </a:lnTo>
                  <a:lnTo>
                    <a:pt x="30" y="152"/>
                  </a:lnTo>
                  <a:lnTo>
                    <a:pt x="36" y="157"/>
                  </a:lnTo>
                  <a:lnTo>
                    <a:pt x="44" y="161"/>
                  </a:lnTo>
                  <a:lnTo>
                    <a:pt x="51" y="164"/>
                  </a:lnTo>
                  <a:lnTo>
                    <a:pt x="59" y="167"/>
                  </a:lnTo>
                  <a:lnTo>
                    <a:pt x="67" y="169"/>
                  </a:lnTo>
                  <a:lnTo>
                    <a:pt x="76" y="170"/>
                  </a:lnTo>
                  <a:lnTo>
                    <a:pt x="85" y="172"/>
                  </a:lnTo>
                  <a:lnTo>
                    <a:pt x="94" y="170"/>
                  </a:lnTo>
                  <a:lnTo>
                    <a:pt x="102" y="169"/>
                  </a:lnTo>
                  <a:lnTo>
                    <a:pt x="111" y="167"/>
                  </a:lnTo>
                  <a:lnTo>
                    <a:pt x="118" y="164"/>
                  </a:lnTo>
                  <a:lnTo>
                    <a:pt x="126" y="161"/>
                  </a:lnTo>
                  <a:lnTo>
                    <a:pt x="132" y="157"/>
                  </a:lnTo>
                  <a:lnTo>
                    <a:pt x="140" y="152"/>
                  </a:lnTo>
                  <a:lnTo>
                    <a:pt x="146" y="146"/>
                  </a:lnTo>
                  <a:lnTo>
                    <a:pt x="150" y="140"/>
                  </a:lnTo>
                  <a:lnTo>
                    <a:pt x="155" y="134"/>
                  </a:lnTo>
                  <a:lnTo>
                    <a:pt x="159" y="126"/>
                  </a:lnTo>
                  <a:lnTo>
                    <a:pt x="164" y="119"/>
                  </a:lnTo>
                  <a:lnTo>
                    <a:pt x="165" y="111"/>
                  </a:lnTo>
                  <a:lnTo>
                    <a:pt x="168" y="103"/>
                  </a:lnTo>
                  <a:lnTo>
                    <a:pt x="170" y="94"/>
                  </a:lnTo>
                  <a:lnTo>
                    <a:pt x="170" y="85"/>
                  </a:lnTo>
                  <a:lnTo>
                    <a:pt x="170" y="78"/>
                  </a:lnTo>
                  <a:lnTo>
                    <a:pt x="168" y="69"/>
                  </a:lnTo>
                  <a:lnTo>
                    <a:pt x="165" y="61"/>
                  </a:lnTo>
                  <a:lnTo>
                    <a:pt x="164" y="52"/>
                  </a:lnTo>
                  <a:lnTo>
                    <a:pt x="159" y="44"/>
                  </a:lnTo>
                  <a:lnTo>
                    <a:pt x="155" y="38"/>
                  </a:lnTo>
                  <a:lnTo>
                    <a:pt x="150" y="32"/>
                  </a:lnTo>
                  <a:lnTo>
                    <a:pt x="146" y="26"/>
                  </a:lnTo>
                  <a:lnTo>
                    <a:pt x="140" y="20"/>
                  </a:lnTo>
                  <a:lnTo>
                    <a:pt x="132" y="15"/>
                  </a:lnTo>
                  <a:lnTo>
                    <a:pt x="126" y="11"/>
                  </a:lnTo>
                  <a:lnTo>
                    <a:pt x="118" y="6"/>
                  </a:lnTo>
                  <a:lnTo>
                    <a:pt x="111" y="5"/>
                  </a:lnTo>
                  <a:lnTo>
                    <a:pt x="102" y="2"/>
                  </a:lnTo>
                  <a:lnTo>
                    <a:pt x="94" y="0"/>
                  </a:lnTo>
                  <a:lnTo>
                    <a:pt x="85"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5765" name="Rectangle 53">
              <a:extLst>
                <a:ext uri="{FF2B5EF4-FFF2-40B4-BE49-F238E27FC236}">
                  <a16:creationId xmlns:a16="http://schemas.microsoft.com/office/drawing/2014/main" id="{5424FE60-2E40-FC44-463C-192345BBCAE8}"/>
                </a:ext>
              </a:extLst>
            </p:cNvPr>
            <p:cNvSpPr>
              <a:spLocks noChangeArrowheads="1"/>
            </p:cNvSpPr>
            <p:nvPr/>
          </p:nvSpPr>
          <p:spPr bwMode="auto">
            <a:xfrm>
              <a:off x="1358" y="2085"/>
              <a:ext cx="84"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t>P</a:t>
              </a:r>
              <a:endParaRPr lang="en-US" altLang="en-US"/>
            </a:p>
          </p:txBody>
        </p:sp>
        <p:sp>
          <p:nvSpPr>
            <p:cNvPr id="115766" name="Rectangle 54">
              <a:extLst>
                <a:ext uri="{FF2B5EF4-FFF2-40B4-BE49-F238E27FC236}">
                  <a16:creationId xmlns:a16="http://schemas.microsoft.com/office/drawing/2014/main" id="{13804F3F-D30A-AE0C-B256-B18D0201A899}"/>
                </a:ext>
              </a:extLst>
            </p:cNvPr>
            <p:cNvSpPr>
              <a:spLocks noChangeArrowheads="1"/>
            </p:cNvSpPr>
            <p:nvPr/>
          </p:nvSpPr>
          <p:spPr bwMode="auto">
            <a:xfrm>
              <a:off x="3224" y="1498"/>
              <a:ext cx="8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t>4</a:t>
              </a:r>
              <a:endParaRPr lang="en-US" altLang="en-US"/>
            </a:p>
          </p:txBody>
        </p:sp>
        <p:sp>
          <p:nvSpPr>
            <p:cNvPr id="115767" name="Rectangle 55">
              <a:extLst>
                <a:ext uri="{FF2B5EF4-FFF2-40B4-BE49-F238E27FC236}">
                  <a16:creationId xmlns:a16="http://schemas.microsoft.com/office/drawing/2014/main" id="{AF2159E1-6607-0EB3-1E50-F49966F0A9DA}"/>
                </a:ext>
              </a:extLst>
            </p:cNvPr>
            <p:cNvSpPr>
              <a:spLocks noChangeArrowheads="1"/>
            </p:cNvSpPr>
            <p:nvPr/>
          </p:nvSpPr>
          <p:spPr bwMode="auto">
            <a:xfrm>
              <a:off x="1814" y="717"/>
              <a:ext cx="8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t>0</a:t>
              </a:r>
              <a:endParaRPr lang="en-US" altLang="en-US"/>
            </a:p>
          </p:txBody>
        </p:sp>
        <p:sp>
          <p:nvSpPr>
            <p:cNvPr id="115768" name="Rectangle 56">
              <a:extLst>
                <a:ext uri="{FF2B5EF4-FFF2-40B4-BE49-F238E27FC236}">
                  <a16:creationId xmlns:a16="http://schemas.microsoft.com/office/drawing/2014/main" id="{ACB5F959-A199-CC01-C7D6-7FDB5AFD2365}"/>
                </a:ext>
              </a:extLst>
            </p:cNvPr>
            <p:cNvSpPr>
              <a:spLocks noChangeArrowheads="1"/>
            </p:cNvSpPr>
            <p:nvPr/>
          </p:nvSpPr>
          <p:spPr bwMode="auto">
            <a:xfrm>
              <a:off x="1773" y="1384"/>
              <a:ext cx="165"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t>10</a:t>
              </a:r>
              <a:endParaRPr lang="en-US" altLang="en-US"/>
            </a:p>
          </p:txBody>
        </p:sp>
        <p:sp>
          <p:nvSpPr>
            <p:cNvPr id="115769" name="Rectangle 57">
              <a:extLst>
                <a:ext uri="{FF2B5EF4-FFF2-40B4-BE49-F238E27FC236}">
                  <a16:creationId xmlns:a16="http://schemas.microsoft.com/office/drawing/2014/main" id="{C8A5AEBE-45E8-7BDB-30C8-04180580D7E5}"/>
                </a:ext>
              </a:extLst>
            </p:cNvPr>
            <p:cNvSpPr>
              <a:spLocks noChangeArrowheads="1"/>
            </p:cNvSpPr>
            <p:nvPr/>
          </p:nvSpPr>
          <p:spPr bwMode="auto">
            <a:xfrm>
              <a:off x="1299" y="1518"/>
              <a:ext cx="8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t>7</a:t>
              </a:r>
              <a:endParaRPr lang="en-US" altLang="en-US"/>
            </a:p>
          </p:txBody>
        </p:sp>
        <p:sp>
          <p:nvSpPr>
            <p:cNvPr id="115770" name="Rectangle 58">
              <a:extLst>
                <a:ext uri="{FF2B5EF4-FFF2-40B4-BE49-F238E27FC236}">
                  <a16:creationId xmlns:a16="http://schemas.microsoft.com/office/drawing/2014/main" id="{940BE22C-F255-D615-6BC9-0F8B74905759}"/>
                </a:ext>
              </a:extLst>
            </p:cNvPr>
            <p:cNvSpPr>
              <a:spLocks noChangeArrowheads="1"/>
            </p:cNvSpPr>
            <p:nvPr/>
          </p:nvSpPr>
          <p:spPr bwMode="auto">
            <a:xfrm>
              <a:off x="1042" y="1395"/>
              <a:ext cx="8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t>0</a:t>
              </a:r>
              <a:endParaRPr lang="en-US" altLang="en-US"/>
            </a:p>
          </p:txBody>
        </p:sp>
        <p:sp>
          <p:nvSpPr>
            <p:cNvPr id="115771" name="Rectangle 59">
              <a:extLst>
                <a:ext uri="{FF2B5EF4-FFF2-40B4-BE49-F238E27FC236}">
                  <a16:creationId xmlns:a16="http://schemas.microsoft.com/office/drawing/2014/main" id="{45DC68E6-185E-80A5-9185-BADDDFB939C6}"/>
                </a:ext>
              </a:extLst>
            </p:cNvPr>
            <p:cNvSpPr>
              <a:spLocks noChangeArrowheads="1"/>
            </p:cNvSpPr>
            <p:nvPr/>
          </p:nvSpPr>
          <p:spPr bwMode="auto">
            <a:xfrm>
              <a:off x="1983" y="1147"/>
              <a:ext cx="82"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t>0</a:t>
              </a:r>
              <a:endParaRPr lang="en-US" altLang="en-US"/>
            </a:p>
          </p:txBody>
        </p:sp>
        <p:sp>
          <p:nvSpPr>
            <p:cNvPr id="115772" name="Rectangle 60">
              <a:extLst>
                <a:ext uri="{FF2B5EF4-FFF2-40B4-BE49-F238E27FC236}">
                  <a16:creationId xmlns:a16="http://schemas.microsoft.com/office/drawing/2014/main" id="{59BC38D5-EB16-6C21-F4C2-1CD6FD9A42AD}"/>
                </a:ext>
              </a:extLst>
            </p:cNvPr>
            <p:cNvSpPr>
              <a:spLocks noChangeArrowheads="1"/>
            </p:cNvSpPr>
            <p:nvPr/>
          </p:nvSpPr>
          <p:spPr bwMode="auto">
            <a:xfrm>
              <a:off x="1913" y="926"/>
              <a:ext cx="165"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t>12</a:t>
              </a:r>
              <a:endParaRPr lang="en-US" altLang="en-US"/>
            </a:p>
          </p:txBody>
        </p:sp>
      </p:grpSp>
      <p:sp>
        <p:nvSpPr>
          <p:cNvPr id="115773" name="Freeform 61">
            <a:extLst>
              <a:ext uri="{FF2B5EF4-FFF2-40B4-BE49-F238E27FC236}">
                <a16:creationId xmlns:a16="http://schemas.microsoft.com/office/drawing/2014/main" id="{D92DB7B6-B167-1577-9159-4E6A2B069DC0}"/>
              </a:ext>
            </a:extLst>
          </p:cNvPr>
          <p:cNvSpPr>
            <a:spLocks noEditPoints="1"/>
          </p:cNvSpPr>
          <p:nvPr/>
        </p:nvSpPr>
        <p:spPr bwMode="auto">
          <a:xfrm>
            <a:off x="8550275" y="4319589"/>
            <a:ext cx="1473200" cy="534987"/>
          </a:xfrm>
          <a:custGeom>
            <a:avLst/>
            <a:gdLst>
              <a:gd name="T0" fmla="*/ 921 w 928"/>
              <a:gd name="T1" fmla="*/ 337 h 337"/>
              <a:gd name="T2" fmla="*/ 60 w 928"/>
              <a:gd name="T3" fmla="*/ 35 h 337"/>
              <a:gd name="T4" fmla="*/ 58 w 928"/>
              <a:gd name="T5" fmla="*/ 35 h 337"/>
              <a:gd name="T6" fmla="*/ 56 w 928"/>
              <a:gd name="T7" fmla="*/ 33 h 337"/>
              <a:gd name="T8" fmla="*/ 56 w 928"/>
              <a:gd name="T9" fmla="*/ 32 h 337"/>
              <a:gd name="T10" fmla="*/ 56 w 928"/>
              <a:gd name="T11" fmla="*/ 29 h 337"/>
              <a:gd name="T12" fmla="*/ 56 w 928"/>
              <a:gd name="T13" fmla="*/ 27 h 337"/>
              <a:gd name="T14" fmla="*/ 58 w 928"/>
              <a:gd name="T15" fmla="*/ 27 h 337"/>
              <a:gd name="T16" fmla="*/ 60 w 928"/>
              <a:gd name="T17" fmla="*/ 26 h 337"/>
              <a:gd name="T18" fmla="*/ 63 w 928"/>
              <a:gd name="T19" fmla="*/ 27 h 337"/>
              <a:gd name="T20" fmla="*/ 924 w 928"/>
              <a:gd name="T21" fmla="*/ 328 h 337"/>
              <a:gd name="T22" fmla="*/ 926 w 928"/>
              <a:gd name="T23" fmla="*/ 329 h 337"/>
              <a:gd name="T24" fmla="*/ 926 w 928"/>
              <a:gd name="T25" fmla="*/ 331 h 337"/>
              <a:gd name="T26" fmla="*/ 928 w 928"/>
              <a:gd name="T27" fmla="*/ 332 h 337"/>
              <a:gd name="T28" fmla="*/ 928 w 928"/>
              <a:gd name="T29" fmla="*/ 334 h 337"/>
              <a:gd name="T30" fmla="*/ 926 w 928"/>
              <a:gd name="T31" fmla="*/ 335 h 337"/>
              <a:gd name="T32" fmla="*/ 924 w 928"/>
              <a:gd name="T33" fmla="*/ 337 h 337"/>
              <a:gd name="T34" fmla="*/ 923 w 928"/>
              <a:gd name="T35" fmla="*/ 337 h 337"/>
              <a:gd name="T36" fmla="*/ 921 w 928"/>
              <a:gd name="T37" fmla="*/ 337 h 337"/>
              <a:gd name="T38" fmla="*/ 921 w 928"/>
              <a:gd name="T39" fmla="*/ 337 h 337"/>
              <a:gd name="T40" fmla="*/ 60 w 928"/>
              <a:gd name="T41" fmla="*/ 71 h 337"/>
              <a:gd name="T42" fmla="*/ 0 w 928"/>
              <a:gd name="T43" fmla="*/ 10 h 337"/>
              <a:gd name="T44" fmla="*/ 85 w 928"/>
              <a:gd name="T45" fmla="*/ 0 h 337"/>
              <a:gd name="T46" fmla="*/ 60 w 928"/>
              <a:gd name="T47" fmla="*/ 71 h 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28" h="337">
                <a:moveTo>
                  <a:pt x="921" y="337"/>
                </a:moveTo>
                <a:lnTo>
                  <a:pt x="60" y="35"/>
                </a:lnTo>
                <a:lnTo>
                  <a:pt x="58" y="35"/>
                </a:lnTo>
                <a:lnTo>
                  <a:pt x="56" y="33"/>
                </a:lnTo>
                <a:lnTo>
                  <a:pt x="56" y="32"/>
                </a:lnTo>
                <a:lnTo>
                  <a:pt x="56" y="29"/>
                </a:lnTo>
                <a:lnTo>
                  <a:pt x="56" y="27"/>
                </a:lnTo>
                <a:lnTo>
                  <a:pt x="58" y="27"/>
                </a:lnTo>
                <a:lnTo>
                  <a:pt x="60" y="26"/>
                </a:lnTo>
                <a:lnTo>
                  <a:pt x="63" y="27"/>
                </a:lnTo>
                <a:lnTo>
                  <a:pt x="924" y="328"/>
                </a:lnTo>
                <a:lnTo>
                  <a:pt x="926" y="329"/>
                </a:lnTo>
                <a:lnTo>
                  <a:pt x="926" y="331"/>
                </a:lnTo>
                <a:lnTo>
                  <a:pt x="928" y="332"/>
                </a:lnTo>
                <a:lnTo>
                  <a:pt x="928" y="334"/>
                </a:lnTo>
                <a:lnTo>
                  <a:pt x="926" y="335"/>
                </a:lnTo>
                <a:lnTo>
                  <a:pt x="924" y="337"/>
                </a:lnTo>
                <a:lnTo>
                  <a:pt x="923" y="337"/>
                </a:lnTo>
                <a:lnTo>
                  <a:pt x="921" y="337"/>
                </a:lnTo>
                <a:lnTo>
                  <a:pt x="921" y="337"/>
                </a:lnTo>
                <a:close/>
                <a:moveTo>
                  <a:pt x="60" y="71"/>
                </a:moveTo>
                <a:lnTo>
                  <a:pt x="0" y="10"/>
                </a:lnTo>
                <a:lnTo>
                  <a:pt x="85" y="0"/>
                </a:lnTo>
                <a:lnTo>
                  <a:pt x="60" y="71"/>
                </a:lnTo>
                <a:close/>
              </a:path>
            </a:pathLst>
          </a:custGeom>
          <a:solidFill>
            <a:srgbClr val="000000"/>
          </a:solidFill>
          <a:ln w="3175">
            <a:solidFill>
              <a:srgbClr val="000000"/>
            </a:solidFill>
            <a:prstDash val="solid"/>
            <a:round/>
            <a:headEnd/>
            <a:tailEnd/>
          </a:ln>
        </p:spPr>
        <p:txBody>
          <a:bodyPr/>
          <a:lstStyle/>
          <a:p>
            <a:endParaRPr lang="en-IN"/>
          </a:p>
        </p:txBody>
      </p:sp>
      <p:sp>
        <p:nvSpPr>
          <p:cNvPr id="115774" name="Freeform 62">
            <a:extLst>
              <a:ext uri="{FF2B5EF4-FFF2-40B4-BE49-F238E27FC236}">
                <a16:creationId xmlns:a16="http://schemas.microsoft.com/office/drawing/2014/main" id="{A6B50CC7-7969-7AAA-FC7C-DE352F8DF952}"/>
              </a:ext>
            </a:extLst>
          </p:cNvPr>
          <p:cNvSpPr>
            <a:spLocks noEditPoints="1"/>
          </p:cNvSpPr>
          <p:nvPr/>
        </p:nvSpPr>
        <p:spPr bwMode="auto">
          <a:xfrm>
            <a:off x="8912226" y="4930775"/>
            <a:ext cx="1139825" cy="806450"/>
          </a:xfrm>
          <a:custGeom>
            <a:avLst/>
            <a:gdLst>
              <a:gd name="T0" fmla="*/ 716 w 718"/>
              <a:gd name="T1" fmla="*/ 8 h 508"/>
              <a:gd name="T2" fmla="*/ 55 w 718"/>
              <a:gd name="T3" fmla="*/ 474 h 508"/>
              <a:gd name="T4" fmla="*/ 53 w 718"/>
              <a:gd name="T5" fmla="*/ 476 h 508"/>
              <a:gd name="T6" fmla="*/ 52 w 718"/>
              <a:gd name="T7" fmla="*/ 476 h 508"/>
              <a:gd name="T8" fmla="*/ 50 w 718"/>
              <a:gd name="T9" fmla="*/ 474 h 508"/>
              <a:gd name="T10" fmla="*/ 49 w 718"/>
              <a:gd name="T11" fmla="*/ 474 h 508"/>
              <a:gd name="T12" fmla="*/ 47 w 718"/>
              <a:gd name="T13" fmla="*/ 471 h 508"/>
              <a:gd name="T14" fmla="*/ 47 w 718"/>
              <a:gd name="T15" fmla="*/ 470 h 508"/>
              <a:gd name="T16" fmla="*/ 49 w 718"/>
              <a:gd name="T17" fmla="*/ 468 h 508"/>
              <a:gd name="T18" fmla="*/ 50 w 718"/>
              <a:gd name="T19" fmla="*/ 467 h 508"/>
              <a:gd name="T20" fmla="*/ 710 w 718"/>
              <a:gd name="T21" fmla="*/ 0 h 508"/>
              <a:gd name="T22" fmla="*/ 712 w 718"/>
              <a:gd name="T23" fmla="*/ 0 h 508"/>
              <a:gd name="T24" fmla="*/ 715 w 718"/>
              <a:gd name="T25" fmla="*/ 0 h 508"/>
              <a:gd name="T26" fmla="*/ 716 w 718"/>
              <a:gd name="T27" fmla="*/ 0 h 508"/>
              <a:gd name="T28" fmla="*/ 718 w 718"/>
              <a:gd name="T29" fmla="*/ 2 h 508"/>
              <a:gd name="T30" fmla="*/ 718 w 718"/>
              <a:gd name="T31" fmla="*/ 4 h 508"/>
              <a:gd name="T32" fmla="*/ 718 w 718"/>
              <a:gd name="T33" fmla="*/ 5 h 508"/>
              <a:gd name="T34" fmla="*/ 718 w 718"/>
              <a:gd name="T35" fmla="*/ 7 h 508"/>
              <a:gd name="T36" fmla="*/ 716 w 718"/>
              <a:gd name="T37" fmla="*/ 8 h 508"/>
              <a:gd name="T38" fmla="*/ 716 w 718"/>
              <a:gd name="T39" fmla="*/ 8 h 508"/>
              <a:gd name="T40" fmla="*/ 85 w 718"/>
              <a:gd name="T41" fmla="*/ 495 h 508"/>
              <a:gd name="T42" fmla="*/ 0 w 718"/>
              <a:gd name="T43" fmla="*/ 508 h 508"/>
              <a:gd name="T44" fmla="*/ 41 w 718"/>
              <a:gd name="T45" fmla="*/ 433 h 508"/>
              <a:gd name="T46" fmla="*/ 85 w 718"/>
              <a:gd name="T47" fmla="*/ 495 h 5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18" h="508">
                <a:moveTo>
                  <a:pt x="716" y="8"/>
                </a:moveTo>
                <a:lnTo>
                  <a:pt x="55" y="474"/>
                </a:lnTo>
                <a:lnTo>
                  <a:pt x="53" y="476"/>
                </a:lnTo>
                <a:lnTo>
                  <a:pt x="52" y="476"/>
                </a:lnTo>
                <a:lnTo>
                  <a:pt x="50" y="474"/>
                </a:lnTo>
                <a:lnTo>
                  <a:pt x="49" y="474"/>
                </a:lnTo>
                <a:lnTo>
                  <a:pt x="47" y="471"/>
                </a:lnTo>
                <a:lnTo>
                  <a:pt x="47" y="470"/>
                </a:lnTo>
                <a:lnTo>
                  <a:pt x="49" y="468"/>
                </a:lnTo>
                <a:lnTo>
                  <a:pt x="50" y="467"/>
                </a:lnTo>
                <a:lnTo>
                  <a:pt x="710" y="0"/>
                </a:lnTo>
                <a:lnTo>
                  <a:pt x="712" y="0"/>
                </a:lnTo>
                <a:lnTo>
                  <a:pt x="715" y="0"/>
                </a:lnTo>
                <a:lnTo>
                  <a:pt x="716" y="0"/>
                </a:lnTo>
                <a:lnTo>
                  <a:pt x="718" y="2"/>
                </a:lnTo>
                <a:lnTo>
                  <a:pt x="718" y="4"/>
                </a:lnTo>
                <a:lnTo>
                  <a:pt x="718" y="5"/>
                </a:lnTo>
                <a:lnTo>
                  <a:pt x="718" y="7"/>
                </a:lnTo>
                <a:lnTo>
                  <a:pt x="716" y="8"/>
                </a:lnTo>
                <a:lnTo>
                  <a:pt x="716" y="8"/>
                </a:lnTo>
                <a:close/>
                <a:moveTo>
                  <a:pt x="85" y="495"/>
                </a:moveTo>
                <a:lnTo>
                  <a:pt x="0" y="508"/>
                </a:lnTo>
                <a:lnTo>
                  <a:pt x="41" y="433"/>
                </a:lnTo>
                <a:lnTo>
                  <a:pt x="85" y="495"/>
                </a:lnTo>
                <a:close/>
              </a:path>
            </a:pathLst>
          </a:custGeom>
          <a:solidFill>
            <a:srgbClr val="000000"/>
          </a:solidFill>
          <a:ln w="3175">
            <a:solidFill>
              <a:srgbClr val="000000"/>
            </a:solidFill>
            <a:prstDash val="solid"/>
            <a:round/>
            <a:headEnd/>
            <a:tailEnd/>
          </a:ln>
        </p:spPr>
        <p:txBody>
          <a:bodyPr/>
          <a:lstStyle/>
          <a:p>
            <a:endParaRPr lang="en-IN"/>
          </a:p>
        </p:txBody>
      </p:sp>
      <p:sp>
        <p:nvSpPr>
          <p:cNvPr id="115775" name="Freeform 63">
            <a:extLst>
              <a:ext uri="{FF2B5EF4-FFF2-40B4-BE49-F238E27FC236}">
                <a16:creationId xmlns:a16="http://schemas.microsoft.com/office/drawing/2014/main" id="{38FA88C2-2632-6B07-3B17-16CEE57DF00E}"/>
              </a:ext>
            </a:extLst>
          </p:cNvPr>
          <p:cNvSpPr>
            <a:spLocks noEditPoints="1"/>
          </p:cNvSpPr>
          <p:nvPr/>
        </p:nvSpPr>
        <p:spPr bwMode="auto">
          <a:xfrm>
            <a:off x="8418514" y="4365625"/>
            <a:ext cx="382587" cy="1392238"/>
          </a:xfrm>
          <a:custGeom>
            <a:avLst/>
            <a:gdLst>
              <a:gd name="T0" fmla="*/ 231 w 241"/>
              <a:gd name="T1" fmla="*/ 874 h 877"/>
              <a:gd name="T2" fmla="*/ 28 w 241"/>
              <a:gd name="T3" fmla="*/ 62 h 877"/>
              <a:gd name="T4" fmla="*/ 28 w 241"/>
              <a:gd name="T5" fmla="*/ 60 h 877"/>
              <a:gd name="T6" fmla="*/ 28 w 241"/>
              <a:gd name="T7" fmla="*/ 59 h 877"/>
              <a:gd name="T8" fmla="*/ 30 w 241"/>
              <a:gd name="T9" fmla="*/ 57 h 877"/>
              <a:gd name="T10" fmla="*/ 32 w 241"/>
              <a:gd name="T11" fmla="*/ 57 h 877"/>
              <a:gd name="T12" fmla="*/ 33 w 241"/>
              <a:gd name="T13" fmla="*/ 56 h 877"/>
              <a:gd name="T14" fmla="*/ 35 w 241"/>
              <a:gd name="T15" fmla="*/ 57 h 877"/>
              <a:gd name="T16" fmla="*/ 36 w 241"/>
              <a:gd name="T17" fmla="*/ 59 h 877"/>
              <a:gd name="T18" fmla="*/ 38 w 241"/>
              <a:gd name="T19" fmla="*/ 60 h 877"/>
              <a:gd name="T20" fmla="*/ 241 w 241"/>
              <a:gd name="T21" fmla="*/ 871 h 877"/>
              <a:gd name="T22" fmla="*/ 240 w 241"/>
              <a:gd name="T23" fmla="*/ 874 h 877"/>
              <a:gd name="T24" fmla="*/ 240 w 241"/>
              <a:gd name="T25" fmla="*/ 876 h 877"/>
              <a:gd name="T26" fmla="*/ 238 w 241"/>
              <a:gd name="T27" fmla="*/ 877 h 877"/>
              <a:gd name="T28" fmla="*/ 237 w 241"/>
              <a:gd name="T29" fmla="*/ 877 h 877"/>
              <a:gd name="T30" fmla="*/ 235 w 241"/>
              <a:gd name="T31" fmla="*/ 877 h 877"/>
              <a:gd name="T32" fmla="*/ 234 w 241"/>
              <a:gd name="T33" fmla="*/ 877 h 877"/>
              <a:gd name="T34" fmla="*/ 232 w 241"/>
              <a:gd name="T35" fmla="*/ 876 h 877"/>
              <a:gd name="T36" fmla="*/ 231 w 241"/>
              <a:gd name="T37" fmla="*/ 874 h 877"/>
              <a:gd name="T38" fmla="*/ 231 w 241"/>
              <a:gd name="T39" fmla="*/ 874 h 877"/>
              <a:gd name="T40" fmla="*/ 0 w 241"/>
              <a:gd name="T41" fmla="*/ 83 h 877"/>
              <a:gd name="T42" fmla="*/ 18 w 241"/>
              <a:gd name="T43" fmla="*/ 0 h 877"/>
              <a:gd name="T44" fmla="*/ 73 w 241"/>
              <a:gd name="T45" fmla="*/ 65 h 877"/>
              <a:gd name="T46" fmla="*/ 0 w 241"/>
              <a:gd name="T47" fmla="*/ 83 h 8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41" h="877">
                <a:moveTo>
                  <a:pt x="231" y="874"/>
                </a:moveTo>
                <a:lnTo>
                  <a:pt x="28" y="62"/>
                </a:lnTo>
                <a:lnTo>
                  <a:pt x="28" y="60"/>
                </a:lnTo>
                <a:lnTo>
                  <a:pt x="28" y="59"/>
                </a:lnTo>
                <a:lnTo>
                  <a:pt x="30" y="57"/>
                </a:lnTo>
                <a:lnTo>
                  <a:pt x="32" y="57"/>
                </a:lnTo>
                <a:lnTo>
                  <a:pt x="33" y="56"/>
                </a:lnTo>
                <a:lnTo>
                  <a:pt x="35" y="57"/>
                </a:lnTo>
                <a:lnTo>
                  <a:pt x="36" y="59"/>
                </a:lnTo>
                <a:lnTo>
                  <a:pt x="38" y="60"/>
                </a:lnTo>
                <a:lnTo>
                  <a:pt x="241" y="871"/>
                </a:lnTo>
                <a:lnTo>
                  <a:pt x="240" y="874"/>
                </a:lnTo>
                <a:lnTo>
                  <a:pt x="240" y="876"/>
                </a:lnTo>
                <a:lnTo>
                  <a:pt x="238" y="877"/>
                </a:lnTo>
                <a:lnTo>
                  <a:pt x="237" y="877"/>
                </a:lnTo>
                <a:lnTo>
                  <a:pt x="235" y="877"/>
                </a:lnTo>
                <a:lnTo>
                  <a:pt x="234" y="877"/>
                </a:lnTo>
                <a:lnTo>
                  <a:pt x="232" y="876"/>
                </a:lnTo>
                <a:lnTo>
                  <a:pt x="231" y="874"/>
                </a:lnTo>
                <a:lnTo>
                  <a:pt x="231" y="874"/>
                </a:lnTo>
                <a:close/>
                <a:moveTo>
                  <a:pt x="0" y="83"/>
                </a:moveTo>
                <a:lnTo>
                  <a:pt x="18" y="0"/>
                </a:lnTo>
                <a:lnTo>
                  <a:pt x="73" y="65"/>
                </a:lnTo>
                <a:lnTo>
                  <a:pt x="0" y="83"/>
                </a:lnTo>
                <a:close/>
              </a:path>
            </a:pathLst>
          </a:custGeom>
          <a:solidFill>
            <a:srgbClr val="000000"/>
          </a:solidFill>
          <a:ln w="3175">
            <a:solidFill>
              <a:srgbClr val="000000"/>
            </a:solidFill>
            <a:prstDash val="solid"/>
            <a:round/>
            <a:headEnd/>
            <a:tailEnd/>
          </a:ln>
        </p:spPr>
        <p:txBody>
          <a:bodyPr/>
          <a:lstStyle/>
          <a:p>
            <a:endParaRPr lang="en-IN"/>
          </a:p>
        </p:txBody>
      </p:sp>
      <p:sp>
        <p:nvSpPr>
          <p:cNvPr id="115776" name="Freeform 64">
            <a:extLst>
              <a:ext uri="{FF2B5EF4-FFF2-40B4-BE49-F238E27FC236}">
                <a16:creationId xmlns:a16="http://schemas.microsoft.com/office/drawing/2014/main" id="{6BA31353-D7D8-3759-A097-3372385BDB69}"/>
              </a:ext>
            </a:extLst>
          </p:cNvPr>
          <p:cNvSpPr>
            <a:spLocks noEditPoints="1"/>
          </p:cNvSpPr>
          <p:nvPr/>
        </p:nvSpPr>
        <p:spPr bwMode="auto">
          <a:xfrm>
            <a:off x="8543926" y="4371976"/>
            <a:ext cx="354013" cy="1319213"/>
          </a:xfrm>
          <a:custGeom>
            <a:avLst/>
            <a:gdLst>
              <a:gd name="T0" fmla="*/ 10 w 223"/>
              <a:gd name="T1" fmla="*/ 5 h 831"/>
              <a:gd name="T2" fmla="*/ 194 w 223"/>
              <a:gd name="T3" fmla="*/ 768 h 831"/>
              <a:gd name="T4" fmla="*/ 194 w 223"/>
              <a:gd name="T5" fmla="*/ 770 h 831"/>
              <a:gd name="T6" fmla="*/ 194 w 223"/>
              <a:gd name="T7" fmla="*/ 771 h 831"/>
              <a:gd name="T8" fmla="*/ 193 w 223"/>
              <a:gd name="T9" fmla="*/ 773 h 831"/>
              <a:gd name="T10" fmla="*/ 191 w 223"/>
              <a:gd name="T11" fmla="*/ 775 h 831"/>
              <a:gd name="T12" fmla="*/ 188 w 223"/>
              <a:gd name="T13" fmla="*/ 775 h 831"/>
              <a:gd name="T14" fmla="*/ 187 w 223"/>
              <a:gd name="T15" fmla="*/ 773 h 831"/>
              <a:gd name="T16" fmla="*/ 185 w 223"/>
              <a:gd name="T17" fmla="*/ 771 h 831"/>
              <a:gd name="T18" fmla="*/ 185 w 223"/>
              <a:gd name="T19" fmla="*/ 770 h 831"/>
              <a:gd name="T20" fmla="*/ 0 w 223"/>
              <a:gd name="T21" fmla="*/ 6 h 831"/>
              <a:gd name="T22" fmla="*/ 0 w 223"/>
              <a:gd name="T23" fmla="*/ 5 h 831"/>
              <a:gd name="T24" fmla="*/ 1 w 223"/>
              <a:gd name="T25" fmla="*/ 3 h 831"/>
              <a:gd name="T26" fmla="*/ 3 w 223"/>
              <a:gd name="T27" fmla="*/ 2 h 831"/>
              <a:gd name="T28" fmla="*/ 4 w 223"/>
              <a:gd name="T29" fmla="*/ 0 h 831"/>
              <a:gd name="T30" fmla="*/ 6 w 223"/>
              <a:gd name="T31" fmla="*/ 0 h 831"/>
              <a:gd name="T32" fmla="*/ 7 w 223"/>
              <a:gd name="T33" fmla="*/ 2 h 831"/>
              <a:gd name="T34" fmla="*/ 9 w 223"/>
              <a:gd name="T35" fmla="*/ 3 h 831"/>
              <a:gd name="T36" fmla="*/ 10 w 223"/>
              <a:gd name="T37" fmla="*/ 5 h 831"/>
              <a:gd name="T38" fmla="*/ 10 w 223"/>
              <a:gd name="T39" fmla="*/ 5 h 831"/>
              <a:gd name="T40" fmla="*/ 223 w 223"/>
              <a:gd name="T41" fmla="*/ 749 h 831"/>
              <a:gd name="T42" fmla="*/ 205 w 223"/>
              <a:gd name="T43" fmla="*/ 831 h 831"/>
              <a:gd name="T44" fmla="*/ 150 w 223"/>
              <a:gd name="T45" fmla="*/ 767 h 831"/>
              <a:gd name="T46" fmla="*/ 223 w 223"/>
              <a:gd name="T47" fmla="*/ 749 h 8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23" h="831">
                <a:moveTo>
                  <a:pt x="10" y="5"/>
                </a:moveTo>
                <a:lnTo>
                  <a:pt x="194" y="768"/>
                </a:lnTo>
                <a:lnTo>
                  <a:pt x="194" y="770"/>
                </a:lnTo>
                <a:lnTo>
                  <a:pt x="194" y="771"/>
                </a:lnTo>
                <a:lnTo>
                  <a:pt x="193" y="773"/>
                </a:lnTo>
                <a:lnTo>
                  <a:pt x="191" y="775"/>
                </a:lnTo>
                <a:lnTo>
                  <a:pt x="188" y="775"/>
                </a:lnTo>
                <a:lnTo>
                  <a:pt x="187" y="773"/>
                </a:lnTo>
                <a:lnTo>
                  <a:pt x="185" y="771"/>
                </a:lnTo>
                <a:lnTo>
                  <a:pt x="185" y="770"/>
                </a:lnTo>
                <a:lnTo>
                  <a:pt x="0" y="6"/>
                </a:lnTo>
                <a:lnTo>
                  <a:pt x="0" y="5"/>
                </a:lnTo>
                <a:lnTo>
                  <a:pt x="1" y="3"/>
                </a:lnTo>
                <a:lnTo>
                  <a:pt x="3" y="2"/>
                </a:lnTo>
                <a:lnTo>
                  <a:pt x="4" y="0"/>
                </a:lnTo>
                <a:lnTo>
                  <a:pt x="6" y="0"/>
                </a:lnTo>
                <a:lnTo>
                  <a:pt x="7" y="2"/>
                </a:lnTo>
                <a:lnTo>
                  <a:pt x="9" y="3"/>
                </a:lnTo>
                <a:lnTo>
                  <a:pt x="10" y="5"/>
                </a:lnTo>
                <a:lnTo>
                  <a:pt x="10" y="5"/>
                </a:lnTo>
                <a:close/>
                <a:moveTo>
                  <a:pt x="223" y="749"/>
                </a:moveTo>
                <a:lnTo>
                  <a:pt x="205" y="831"/>
                </a:lnTo>
                <a:lnTo>
                  <a:pt x="150" y="767"/>
                </a:lnTo>
                <a:lnTo>
                  <a:pt x="223" y="749"/>
                </a:lnTo>
                <a:close/>
              </a:path>
            </a:pathLst>
          </a:custGeom>
          <a:solidFill>
            <a:srgbClr val="000000"/>
          </a:solidFill>
          <a:ln w="3175">
            <a:solidFill>
              <a:srgbClr val="000000"/>
            </a:solidFill>
            <a:prstDash val="solid"/>
            <a:round/>
            <a:headEnd/>
            <a:tailEnd/>
          </a:ln>
        </p:spPr>
        <p:txBody>
          <a:bodyPr/>
          <a:lstStyle/>
          <a:p>
            <a:endParaRPr lang="en-IN"/>
          </a:p>
        </p:txBody>
      </p:sp>
      <p:sp>
        <p:nvSpPr>
          <p:cNvPr id="115777" name="Freeform 65">
            <a:extLst>
              <a:ext uri="{FF2B5EF4-FFF2-40B4-BE49-F238E27FC236}">
                <a16:creationId xmlns:a16="http://schemas.microsoft.com/office/drawing/2014/main" id="{F6E1C032-22BC-04D7-325E-3F81FD24EDF9}"/>
              </a:ext>
            </a:extLst>
          </p:cNvPr>
          <p:cNvSpPr>
            <a:spLocks noEditPoints="1"/>
          </p:cNvSpPr>
          <p:nvPr/>
        </p:nvSpPr>
        <p:spPr bwMode="auto">
          <a:xfrm>
            <a:off x="6215063" y="4311650"/>
            <a:ext cx="2163762" cy="209550"/>
          </a:xfrm>
          <a:custGeom>
            <a:avLst/>
            <a:gdLst>
              <a:gd name="T0" fmla="*/ 1359 w 1363"/>
              <a:gd name="T1" fmla="*/ 11 h 132"/>
              <a:gd name="T2" fmla="*/ 64 w 1363"/>
              <a:gd name="T3" fmla="*/ 100 h 132"/>
              <a:gd name="T4" fmla="*/ 60 w 1363"/>
              <a:gd name="T5" fmla="*/ 100 h 132"/>
              <a:gd name="T6" fmla="*/ 59 w 1363"/>
              <a:gd name="T7" fmla="*/ 99 h 132"/>
              <a:gd name="T8" fmla="*/ 57 w 1363"/>
              <a:gd name="T9" fmla="*/ 97 h 132"/>
              <a:gd name="T10" fmla="*/ 57 w 1363"/>
              <a:gd name="T11" fmla="*/ 96 h 132"/>
              <a:gd name="T12" fmla="*/ 57 w 1363"/>
              <a:gd name="T13" fmla="*/ 94 h 132"/>
              <a:gd name="T14" fmla="*/ 59 w 1363"/>
              <a:gd name="T15" fmla="*/ 93 h 132"/>
              <a:gd name="T16" fmla="*/ 60 w 1363"/>
              <a:gd name="T17" fmla="*/ 91 h 132"/>
              <a:gd name="T18" fmla="*/ 62 w 1363"/>
              <a:gd name="T19" fmla="*/ 91 h 132"/>
              <a:gd name="T20" fmla="*/ 1357 w 1363"/>
              <a:gd name="T21" fmla="*/ 0 h 132"/>
              <a:gd name="T22" fmla="*/ 1359 w 1363"/>
              <a:gd name="T23" fmla="*/ 0 h 132"/>
              <a:gd name="T24" fmla="*/ 1360 w 1363"/>
              <a:gd name="T25" fmla="*/ 2 h 132"/>
              <a:gd name="T26" fmla="*/ 1362 w 1363"/>
              <a:gd name="T27" fmla="*/ 3 h 132"/>
              <a:gd name="T28" fmla="*/ 1363 w 1363"/>
              <a:gd name="T29" fmla="*/ 5 h 132"/>
              <a:gd name="T30" fmla="*/ 1362 w 1363"/>
              <a:gd name="T31" fmla="*/ 6 h 132"/>
              <a:gd name="T32" fmla="*/ 1362 w 1363"/>
              <a:gd name="T33" fmla="*/ 8 h 132"/>
              <a:gd name="T34" fmla="*/ 1360 w 1363"/>
              <a:gd name="T35" fmla="*/ 9 h 132"/>
              <a:gd name="T36" fmla="*/ 1359 w 1363"/>
              <a:gd name="T37" fmla="*/ 11 h 132"/>
              <a:gd name="T38" fmla="*/ 1359 w 1363"/>
              <a:gd name="T39" fmla="*/ 11 h 132"/>
              <a:gd name="T40" fmla="*/ 77 w 1363"/>
              <a:gd name="T41" fmla="*/ 132 h 132"/>
              <a:gd name="T42" fmla="*/ 0 w 1363"/>
              <a:gd name="T43" fmla="*/ 100 h 132"/>
              <a:gd name="T44" fmla="*/ 73 w 1363"/>
              <a:gd name="T45" fmla="*/ 58 h 132"/>
              <a:gd name="T46" fmla="*/ 77 w 1363"/>
              <a:gd name="T47"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63" h="132">
                <a:moveTo>
                  <a:pt x="1359" y="11"/>
                </a:moveTo>
                <a:lnTo>
                  <a:pt x="64" y="100"/>
                </a:lnTo>
                <a:lnTo>
                  <a:pt x="60" y="100"/>
                </a:lnTo>
                <a:lnTo>
                  <a:pt x="59" y="99"/>
                </a:lnTo>
                <a:lnTo>
                  <a:pt x="57" y="97"/>
                </a:lnTo>
                <a:lnTo>
                  <a:pt x="57" y="96"/>
                </a:lnTo>
                <a:lnTo>
                  <a:pt x="57" y="94"/>
                </a:lnTo>
                <a:lnTo>
                  <a:pt x="59" y="93"/>
                </a:lnTo>
                <a:lnTo>
                  <a:pt x="60" y="91"/>
                </a:lnTo>
                <a:lnTo>
                  <a:pt x="62" y="91"/>
                </a:lnTo>
                <a:lnTo>
                  <a:pt x="1357" y="0"/>
                </a:lnTo>
                <a:lnTo>
                  <a:pt x="1359" y="0"/>
                </a:lnTo>
                <a:lnTo>
                  <a:pt x="1360" y="2"/>
                </a:lnTo>
                <a:lnTo>
                  <a:pt x="1362" y="3"/>
                </a:lnTo>
                <a:lnTo>
                  <a:pt x="1363" y="5"/>
                </a:lnTo>
                <a:lnTo>
                  <a:pt x="1362" y="6"/>
                </a:lnTo>
                <a:lnTo>
                  <a:pt x="1362" y="8"/>
                </a:lnTo>
                <a:lnTo>
                  <a:pt x="1360" y="9"/>
                </a:lnTo>
                <a:lnTo>
                  <a:pt x="1359" y="11"/>
                </a:lnTo>
                <a:lnTo>
                  <a:pt x="1359" y="11"/>
                </a:lnTo>
                <a:close/>
                <a:moveTo>
                  <a:pt x="77" y="132"/>
                </a:moveTo>
                <a:lnTo>
                  <a:pt x="0" y="100"/>
                </a:lnTo>
                <a:lnTo>
                  <a:pt x="73" y="58"/>
                </a:lnTo>
                <a:lnTo>
                  <a:pt x="77" y="132"/>
                </a:lnTo>
                <a:close/>
              </a:path>
            </a:pathLst>
          </a:custGeom>
          <a:solidFill>
            <a:srgbClr val="000000"/>
          </a:solidFill>
          <a:ln w="3175">
            <a:solidFill>
              <a:srgbClr val="000000"/>
            </a:solidFill>
            <a:prstDash val="solid"/>
            <a:round/>
            <a:headEnd/>
            <a:tailEnd/>
          </a:ln>
        </p:spPr>
        <p:txBody>
          <a:bodyPr/>
          <a:lstStyle/>
          <a:p>
            <a:endParaRPr lang="en-IN"/>
          </a:p>
        </p:txBody>
      </p:sp>
      <p:sp>
        <p:nvSpPr>
          <p:cNvPr id="115778" name="Freeform 66">
            <a:extLst>
              <a:ext uri="{FF2B5EF4-FFF2-40B4-BE49-F238E27FC236}">
                <a16:creationId xmlns:a16="http://schemas.microsoft.com/office/drawing/2014/main" id="{6EAA9D86-8055-E1BB-7663-32BDE504A7C0}"/>
              </a:ext>
            </a:extLst>
          </p:cNvPr>
          <p:cNvSpPr>
            <a:spLocks noEditPoints="1"/>
          </p:cNvSpPr>
          <p:nvPr/>
        </p:nvSpPr>
        <p:spPr bwMode="auto">
          <a:xfrm>
            <a:off x="6161088" y="4492626"/>
            <a:ext cx="2601912" cy="1319213"/>
          </a:xfrm>
          <a:custGeom>
            <a:avLst/>
            <a:gdLst>
              <a:gd name="T0" fmla="*/ 6 w 1639"/>
              <a:gd name="T1" fmla="*/ 2 h 831"/>
              <a:gd name="T2" fmla="*/ 1584 w 1639"/>
              <a:gd name="T3" fmla="*/ 799 h 831"/>
              <a:gd name="T4" fmla="*/ 1586 w 1639"/>
              <a:gd name="T5" fmla="*/ 799 h 831"/>
              <a:gd name="T6" fmla="*/ 1587 w 1639"/>
              <a:gd name="T7" fmla="*/ 800 h 831"/>
              <a:gd name="T8" fmla="*/ 1587 w 1639"/>
              <a:gd name="T9" fmla="*/ 803 h 831"/>
              <a:gd name="T10" fmla="*/ 1587 w 1639"/>
              <a:gd name="T11" fmla="*/ 805 h 831"/>
              <a:gd name="T12" fmla="*/ 1586 w 1639"/>
              <a:gd name="T13" fmla="*/ 806 h 831"/>
              <a:gd name="T14" fmla="*/ 1584 w 1639"/>
              <a:gd name="T15" fmla="*/ 806 h 831"/>
              <a:gd name="T16" fmla="*/ 1581 w 1639"/>
              <a:gd name="T17" fmla="*/ 806 h 831"/>
              <a:gd name="T18" fmla="*/ 1580 w 1639"/>
              <a:gd name="T19" fmla="*/ 806 h 831"/>
              <a:gd name="T20" fmla="*/ 3 w 1639"/>
              <a:gd name="T21" fmla="*/ 9 h 831"/>
              <a:gd name="T22" fmla="*/ 2 w 1639"/>
              <a:gd name="T23" fmla="*/ 9 h 831"/>
              <a:gd name="T24" fmla="*/ 0 w 1639"/>
              <a:gd name="T25" fmla="*/ 6 h 831"/>
              <a:gd name="T26" fmla="*/ 0 w 1639"/>
              <a:gd name="T27" fmla="*/ 5 h 831"/>
              <a:gd name="T28" fmla="*/ 0 w 1639"/>
              <a:gd name="T29" fmla="*/ 3 h 831"/>
              <a:gd name="T30" fmla="*/ 2 w 1639"/>
              <a:gd name="T31" fmla="*/ 2 h 831"/>
              <a:gd name="T32" fmla="*/ 3 w 1639"/>
              <a:gd name="T33" fmla="*/ 0 h 831"/>
              <a:gd name="T34" fmla="*/ 5 w 1639"/>
              <a:gd name="T35" fmla="*/ 0 h 831"/>
              <a:gd name="T36" fmla="*/ 6 w 1639"/>
              <a:gd name="T37" fmla="*/ 2 h 831"/>
              <a:gd name="T38" fmla="*/ 6 w 1639"/>
              <a:gd name="T39" fmla="*/ 2 h 831"/>
              <a:gd name="T40" fmla="*/ 1589 w 1639"/>
              <a:gd name="T41" fmla="*/ 762 h 831"/>
              <a:gd name="T42" fmla="*/ 1639 w 1639"/>
              <a:gd name="T43" fmla="*/ 831 h 831"/>
              <a:gd name="T44" fmla="*/ 1554 w 1639"/>
              <a:gd name="T45" fmla="*/ 831 h 831"/>
              <a:gd name="T46" fmla="*/ 1589 w 1639"/>
              <a:gd name="T47" fmla="*/ 762 h 8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39" h="831">
                <a:moveTo>
                  <a:pt x="6" y="2"/>
                </a:moveTo>
                <a:lnTo>
                  <a:pt x="1584" y="799"/>
                </a:lnTo>
                <a:lnTo>
                  <a:pt x="1586" y="799"/>
                </a:lnTo>
                <a:lnTo>
                  <a:pt x="1587" y="800"/>
                </a:lnTo>
                <a:lnTo>
                  <a:pt x="1587" y="803"/>
                </a:lnTo>
                <a:lnTo>
                  <a:pt x="1587" y="805"/>
                </a:lnTo>
                <a:lnTo>
                  <a:pt x="1586" y="806"/>
                </a:lnTo>
                <a:lnTo>
                  <a:pt x="1584" y="806"/>
                </a:lnTo>
                <a:lnTo>
                  <a:pt x="1581" y="806"/>
                </a:lnTo>
                <a:lnTo>
                  <a:pt x="1580" y="806"/>
                </a:lnTo>
                <a:lnTo>
                  <a:pt x="3" y="9"/>
                </a:lnTo>
                <a:lnTo>
                  <a:pt x="2" y="9"/>
                </a:lnTo>
                <a:lnTo>
                  <a:pt x="0" y="6"/>
                </a:lnTo>
                <a:lnTo>
                  <a:pt x="0" y="5"/>
                </a:lnTo>
                <a:lnTo>
                  <a:pt x="0" y="3"/>
                </a:lnTo>
                <a:lnTo>
                  <a:pt x="2" y="2"/>
                </a:lnTo>
                <a:lnTo>
                  <a:pt x="3" y="0"/>
                </a:lnTo>
                <a:lnTo>
                  <a:pt x="5" y="0"/>
                </a:lnTo>
                <a:lnTo>
                  <a:pt x="6" y="2"/>
                </a:lnTo>
                <a:lnTo>
                  <a:pt x="6" y="2"/>
                </a:lnTo>
                <a:close/>
                <a:moveTo>
                  <a:pt x="1589" y="762"/>
                </a:moveTo>
                <a:lnTo>
                  <a:pt x="1639" y="831"/>
                </a:lnTo>
                <a:lnTo>
                  <a:pt x="1554" y="831"/>
                </a:lnTo>
                <a:lnTo>
                  <a:pt x="1589" y="762"/>
                </a:lnTo>
                <a:close/>
              </a:path>
            </a:pathLst>
          </a:custGeom>
          <a:solidFill>
            <a:srgbClr val="000000"/>
          </a:solidFill>
          <a:ln w="3175">
            <a:solidFill>
              <a:srgbClr val="000000"/>
            </a:solidFill>
            <a:prstDash val="solid"/>
            <a:round/>
            <a:headEnd/>
            <a:tailEnd/>
          </a:ln>
        </p:spPr>
        <p:txBody>
          <a:bodyPr/>
          <a:lstStyle/>
          <a:p>
            <a:endParaRPr lang="en-IN"/>
          </a:p>
        </p:txBody>
      </p:sp>
      <p:sp>
        <p:nvSpPr>
          <p:cNvPr id="115779" name="Freeform 67">
            <a:extLst>
              <a:ext uri="{FF2B5EF4-FFF2-40B4-BE49-F238E27FC236}">
                <a16:creationId xmlns:a16="http://schemas.microsoft.com/office/drawing/2014/main" id="{884664FB-4386-A5A5-EB55-28BAB650569E}"/>
              </a:ext>
            </a:extLst>
          </p:cNvPr>
          <p:cNvSpPr>
            <a:spLocks noEditPoints="1"/>
          </p:cNvSpPr>
          <p:nvPr/>
        </p:nvSpPr>
        <p:spPr bwMode="auto">
          <a:xfrm>
            <a:off x="6697663" y="5864226"/>
            <a:ext cx="2057400" cy="492125"/>
          </a:xfrm>
          <a:custGeom>
            <a:avLst/>
            <a:gdLst>
              <a:gd name="T0" fmla="*/ 1292 w 1296"/>
              <a:gd name="T1" fmla="*/ 9 h 310"/>
              <a:gd name="T2" fmla="*/ 62 w 1296"/>
              <a:gd name="T3" fmla="*/ 281 h 310"/>
              <a:gd name="T4" fmla="*/ 61 w 1296"/>
              <a:gd name="T5" fmla="*/ 281 h 310"/>
              <a:gd name="T6" fmla="*/ 59 w 1296"/>
              <a:gd name="T7" fmla="*/ 279 h 310"/>
              <a:gd name="T8" fmla="*/ 57 w 1296"/>
              <a:gd name="T9" fmla="*/ 278 h 310"/>
              <a:gd name="T10" fmla="*/ 56 w 1296"/>
              <a:gd name="T11" fmla="*/ 276 h 310"/>
              <a:gd name="T12" fmla="*/ 56 w 1296"/>
              <a:gd name="T13" fmla="*/ 275 h 310"/>
              <a:gd name="T14" fmla="*/ 57 w 1296"/>
              <a:gd name="T15" fmla="*/ 273 h 310"/>
              <a:gd name="T16" fmla="*/ 59 w 1296"/>
              <a:gd name="T17" fmla="*/ 272 h 310"/>
              <a:gd name="T18" fmla="*/ 61 w 1296"/>
              <a:gd name="T19" fmla="*/ 272 h 310"/>
              <a:gd name="T20" fmla="*/ 1290 w 1296"/>
              <a:gd name="T21" fmla="*/ 0 h 310"/>
              <a:gd name="T22" fmla="*/ 1292 w 1296"/>
              <a:gd name="T23" fmla="*/ 0 h 310"/>
              <a:gd name="T24" fmla="*/ 1293 w 1296"/>
              <a:gd name="T25" fmla="*/ 2 h 310"/>
              <a:gd name="T26" fmla="*/ 1295 w 1296"/>
              <a:gd name="T27" fmla="*/ 2 h 310"/>
              <a:gd name="T28" fmla="*/ 1296 w 1296"/>
              <a:gd name="T29" fmla="*/ 5 h 310"/>
              <a:gd name="T30" fmla="*/ 1296 w 1296"/>
              <a:gd name="T31" fmla="*/ 6 h 310"/>
              <a:gd name="T32" fmla="*/ 1295 w 1296"/>
              <a:gd name="T33" fmla="*/ 8 h 310"/>
              <a:gd name="T34" fmla="*/ 1293 w 1296"/>
              <a:gd name="T35" fmla="*/ 9 h 310"/>
              <a:gd name="T36" fmla="*/ 1292 w 1296"/>
              <a:gd name="T37" fmla="*/ 9 h 310"/>
              <a:gd name="T38" fmla="*/ 1292 w 1296"/>
              <a:gd name="T39" fmla="*/ 9 h 310"/>
              <a:gd name="T40" fmla="*/ 82 w 1296"/>
              <a:gd name="T41" fmla="*/ 310 h 310"/>
              <a:gd name="T42" fmla="*/ 0 w 1296"/>
              <a:gd name="T43" fmla="*/ 290 h 310"/>
              <a:gd name="T44" fmla="*/ 65 w 1296"/>
              <a:gd name="T45" fmla="*/ 237 h 310"/>
              <a:gd name="T46" fmla="*/ 82 w 1296"/>
              <a:gd name="T47" fmla="*/ 310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96" h="310">
                <a:moveTo>
                  <a:pt x="1292" y="9"/>
                </a:moveTo>
                <a:lnTo>
                  <a:pt x="62" y="281"/>
                </a:lnTo>
                <a:lnTo>
                  <a:pt x="61" y="281"/>
                </a:lnTo>
                <a:lnTo>
                  <a:pt x="59" y="279"/>
                </a:lnTo>
                <a:lnTo>
                  <a:pt x="57" y="278"/>
                </a:lnTo>
                <a:lnTo>
                  <a:pt x="56" y="276"/>
                </a:lnTo>
                <a:lnTo>
                  <a:pt x="56" y="275"/>
                </a:lnTo>
                <a:lnTo>
                  <a:pt x="57" y="273"/>
                </a:lnTo>
                <a:lnTo>
                  <a:pt x="59" y="272"/>
                </a:lnTo>
                <a:lnTo>
                  <a:pt x="61" y="272"/>
                </a:lnTo>
                <a:lnTo>
                  <a:pt x="1290" y="0"/>
                </a:lnTo>
                <a:lnTo>
                  <a:pt x="1292" y="0"/>
                </a:lnTo>
                <a:lnTo>
                  <a:pt x="1293" y="2"/>
                </a:lnTo>
                <a:lnTo>
                  <a:pt x="1295" y="2"/>
                </a:lnTo>
                <a:lnTo>
                  <a:pt x="1296" y="5"/>
                </a:lnTo>
                <a:lnTo>
                  <a:pt x="1296" y="6"/>
                </a:lnTo>
                <a:lnTo>
                  <a:pt x="1295" y="8"/>
                </a:lnTo>
                <a:lnTo>
                  <a:pt x="1293" y="9"/>
                </a:lnTo>
                <a:lnTo>
                  <a:pt x="1292" y="9"/>
                </a:lnTo>
                <a:lnTo>
                  <a:pt x="1292" y="9"/>
                </a:lnTo>
                <a:close/>
                <a:moveTo>
                  <a:pt x="82" y="310"/>
                </a:moveTo>
                <a:lnTo>
                  <a:pt x="0" y="290"/>
                </a:lnTo>
                <a:lnTo>
                  <a:pt x="65" y="237"/>
                </a:lnTo>
                <a:lnTo>
                  <a:pt x="82" y="310"/>
                </a:lnTo>
                <a:close/>
              </a:path>
            </a:pathLst>
          </a:custGeom>
          <a:solidFill>
            <a:srgbClr val="000000"/>
          </a:solidFill>
          <a:ln w="3175">
            <a:solidFill>
              <a:srgbClr val="000000"/>
            </a:solidFill>
            <a:prstDash val="solid"/>
            <a:round/>
            <a:headEnd/>
            <a:tailEnd/>
          </a:ln>
        </p:spPr>
        <p:txBody>
          <a:bodyPr/>
          <a:lstStyle/>
          <a:p>
            <a:endParaRPr lang="en-IN"/>
          </a:p>
        </p:txBody>
      </p:sp>
      <p:sp>
        <p:nvSpPr>
          <p:cNvPr id="115780" name="Freeform 68">
            <a:extLst>
              <a:ext uri="{FF2B5EF4-FFF2-40B4-BE49-F238E27FC236}">
                <a16:creationId xmlns:a16="http://schemas.microsoft.com/office/drawing/2014/main" id="{EDB02898-A4B3-93C9-ED89-49B89103B816}"/>
              </a:ext>
            </a:extLst>
          </p:cNvPr>
          <p:cNvSpPr>
            <a:spLocks noEditPoints="1"/>
          </p:cNvSpPr>
          <p:nvPr/>
        </p:nvSpPr>
        <p:spPr bwMode="auto">
          <a:xfrm>
            <a:off x="4976813" y="5570539"/>
            <a:ext cx="1530350" cy="790575"/>
          </a:xfrm>
          <a:custGeom>
            <a:avLst/>
            <a:gdLst>
              <a:gd name="T0" fmla="*/ 958 w 964"/>
              <a:gd name="T1" fmla="*/ 498 h 498"/>
              <a:gd name="T2" fmla="*/ 55 w 964"/>
              <a:gd name="T3" fmla="*/ 33 h 498"/>
              <a:gd name="T4" fmla="*/ 53 w 964"/>
              <a:gd name="T5" fmla="*/ 32 h 498"/>
              <a:gd name="T6" fmla="*/ 52 w 964"/>
              <a:gd name="T7" fmla="*/ 30 h 498"/>
              <a:gd name="T8" fmla="*/ 52 w 964"/>
              <a:gd name="T9" fmla="*/ 29 h 498"/>
              <a:gd name="T10" fmla="*/ 52 w 964"/>
              <a:gd name="T11" fmla="*/ 27 h 498"/>
              <a:gd name="T12" fmla="*/ 53 w 964"/>
              <a:gd name="T13" fmla="*/ 26 h 498"/>
              <a:gd name="T14" fmla="*/ 55 w 964"/>
              <a:gd name="T15" fmla="*/ 24 h 498"/>
              <a:gd name="T16" fmla="*/ 56 w 964"/>
              <a:gd name="T17" fmla="*/ 24 h 498"/>
              <a:gd name="T18" fmla="*/ 59 w 964"/>
              <a:gd name="T19" fmla="*/ 24 h 498"/>
              <a:gd name="T20" fmla="*/ 962 w 964"/>
              <a:gd name="T21" fmla="*/ 489 h 498"/>
              <a:gd name="T22" fmla="*/ 964 w 964"/>
              <a:gd name="T23" fmla="*/ 490 h 498"/>
              <a:gd name="T24" fmla="*/ 964 w 964"/>
              <a:gd name="T25" fmla="*/ 492 h 498"/>
              <a:gd name="T26" fmla="*/ 964 w 964"/>
              <a:gd name="T27" fmla="*/ 493 h 498"/>
              <a:gd name="T28" fmla="*/ 964 w 964"/>
              <a:gd name="T29" fmla="*/ 496 h 498"/>
              <a:gd name="T30" fmla="*/ 962 w 964"/>
              <a:gd name="T31" fmla="*/ 496 h 498"/>
              <a:gd name="T32" fmla="*/ 961 w 964"/>
              <a:gd name="T33" fmla="*/ 498 h 498"/>
              <a:gd name="T34" fmla="*/ 959 w 964"/>
              <a:gd name="T35" fmla="*/ 498 h 498"/>
              <a:gd name="T36" fmla="*/ 958 w 964"/>
              <a:gd name="T37" fmla="*/ 498 h 498"/>
              <a:gd name="T38" fmla="*/ 958 w 964"/>
              <a:gd name="T39" fmla="*/ 498 h 498"/>
              <a:gd name="T40" fmla="*/ 50 w 964"/>
              <a:gd name="T41" fmla="*/ 68 h 498"/>
              <a:gd name="T42" fmla="*/ 0 w 964"/>
              <a:gd name="T43" fmla="*/ 0 h 498"/>
              <a:gd name="T44" fmla="*/ 85 w 964"/>
              <a:gd name="T45" fmla="*/ 1 h 498"/>
              <a:gd name="T46" fmla="*/ 50 w 964"/>
              <a:gd name="T47" fmla="*/ 68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64" h="498">
                <a:moveTo>
                  <a:pt x="958" y="498"/>
                </a:moveTo>
                <a:lnTo>
                  <a:pt x="55" y="33"/>
                </a:lnTo>
                <a:lnTo>
                  <a:pt x="53" y="32"/>
                </a:lnTo>
                <a:lnTo>
                  <a:pt x="52" y="30"/>
                </a:lnTo>
                <a:lnTo>
                  <a:pt x="52" y="29"/>
                </a:lnTo>
                <a:lnTo>
                  <a:pt x="52" y="27"/>
                </a:lnTo>
                <a:lnTo>
                  <a:pt x="53" y="26"/>
                </a:lnTo>
                <a:lnTo>
                  <a:pt x="55" y="24"/>
                </a:lnTo>
                <a:lnTo>
                  <a:pt x="56" y="24"/>
                </a:lnTo>
                <a:lnTo>
                  <a:pt x="59" y="24"/>
                </a:lnTo>
                <a:lnTo>
                  <a:pt x="962" y="489"/>
                </a:lnTo>
                <a:lnTo>
                  <a:pt x="964" y="490"/>
                </a:lnTo>
                <a:lnTo>
                  <a:pt x="964" y="492"/>
                </a:lnTo>
                <a:lnTo>
                  <a:pt x="964" y="493"/>
                </a:lnTo>
                <a:lnTo>
                  <a:pt x="964" y="496"/>
                </a:lnTo>
                <a:lnTo>
                  <a:pt x="962" y="496"/>
                </a:lnTo>
                <a:lnTo>
                  <a:pt x="961" y="498"/>
                </a:lnTo>
                <a:lnTo>
                  <a:pt x="959" y="498"/>
                </a:lnTo>
                <a:lnTo>
                  <a:pt x="958" y="498"/>
                </a:lnTo>
                <a:lnTo>
                  <a:pt x="958" y="498"/>
                </a:lnTo>
                <a:close/>
                <a:moveTo>
                  <a:pt x="50" y="68"/>
                </a:moveTo>
                <a:lnTo>
                  <a:pt x="0" y="0"/>
                </a:lnTo>
                <a:lnTo>
                  <a:pt x="85" y="1"/>
                </a:lnTo>
                <a:lnTo>
                  <a:pt x="50" y="68"/>
                </a:lnTo>
                <a:close/>
              </a:path>
            </a:pathLst>
          </a:custGeom>
          <a:solidFill>
            <a:srgbClr val="000000"/>
          </a:solidFill>
          <a:ln w="3175">
            <a:solidFill>
              <a:srgbClr val="000000"/>
            </a:solidFill>
            <a:prstDash val="solid"/>
            <a:round/>
            <a:headEnd/>
            <a:tailEnd/>
          </a:ln>
        </p:spPr>
        <p:txBody>
          <a:bodyPr/>
          <a:lstStyle/>
          <a:p>
            <a:endParaRPr lang="en-IN"/>
          </a:p>
        </p:txBody>
      </p:sp>
      <p:sp>
        <p:nvSpPr>
          <p:cNvPr id="115781" name="Freeform 69">
            <a:extLst>
              <a:ext uri="{FF2B5EF4-FFF2-40B4-BE49-F238E27FC236}">
                <a16:creationId xmlns:a16="http://schemas.microsoft.com/office/drawing/2014/main" id="{F8642FF3-F64B-1507-919D-AC62FBFE681F}"/>
              </a:ext>
            </a:extLst>
          </p:cNvPr>
          <p:cNvSpPr>
            <a:spLocks noEditPoints="1"/>
          </p:cNvSpPr>
          <p:nvPr/>
        </p:nvSpPr>
        <p:spPr bwMode="auto">
          <a:xfrm>
            <a:off x="4976814" y="4524375"/>
            <a:ext cx="1031875" cy="939800"/>
          </a:xfrm>
          <a:custGeom>
            <a:avLst/>
            <a:gdLst>
              <a:gd name="T0" fmla="*/ 649 w 650"/>
              <a:gd name="T1" fmla="*/ 7 h 592"/>
              <a:gd name="T2" fmla="*/ 50 w 650"/>
              <a:gd name="T3" fmla="*/ 554 h 592"/>
              <a:gd name="T4" fmla="*/ 48 w 650"/>
              <a:gd name="T5" fmla="*/ 554 h 592"/>
              <a:gd name="T6" fmla="*/ 47 w 650"/>
              <a:gd name="T7" fmla="*/ 554 h 592"/>
              <a:gd name="T8" fmla="*/ 45 w 650"/>
              <a:gd name="T9" fmla="*/ 554 h 592"/>
              <a:gd name="T10" fmla="*/ 44 w 650"/>
              <a:gd name="T11" fmla="*/ 553 h 592"/>
              <a:gd name="T12" fmla="*/ 42 w 650"/>
              <a:gd name="T13" fmla="*/ 551 h 592"/>
              <a:gd name="T14" fmla="*/ 42 w 650"/>
              <a:gd name="T15" fmla="*/ 549 h 592"/>
              <a:gd name="T16" fmla="*/ 42 w 650"/>
              <a:gd name="T17" fmla="*/ 548 h 592"/>
              <a:gd name="T18" fmla="*/ 44 w 650"/>
              <a:gd name="T19" fmla="*/ 546 h 592"/>
              <a:gd name="T20" fmla="*/ 643 w 650"/>
              <a:gd name="T21" fmla="*/ 1 h 592"/>
              <a:gd name="T22" fmla="*/ 644 w 650"/>
              <a:gd name="T23" fmla="*/ 0 h 592"/>
              <a:gd name="T24" fmla="*/ 646 w 650"/>
              <a:gd name="T25" fmla="*/ 0 h 592"/>
              <a:gd name="T26" fmla="*/ 647 w 650"/>
              <a:gd name="T27" fmla="*/ 0 h 592"/>
              <a:gd name="T28" fmla="*/ 649 w 650"/>
              <a:gd name="T29" fmla="*/ 1 h 592"/>
              <a:gd name="T30" fmla="*/ 650 w 650"/>
              <a:gd name="T31" fmla="*/ 3 h 592"/>
              <a:gd name="T32" fmla="*/ 650 w 650"/>
              <a:gd name="T33" fmla="*/ 4 h 592"/>
              <a:gd name="T34" fmla="*/ 650 w 650"/>
              <a:gd name="T35" fmla="*/ 6 h 592"/>
              <a:gd name="T36" fmla="*/ 649 w 650"/>
              <a:gd name="T37" fmla="*/ 7 h 592"/>
              <a:gd name="T38" fmla="*/ 649 w 650"/>
              <a:gd name="T39" fmla="*/ 7 h 592"/>
              <a:gd name="T40" fmla="*/ 82 w 650"/>
              <a:gd name="T41" fmla="*/ 569 h 592"/>
              <a:gd name="T42" fmla="*/ 0 w 650"/>
              <a:gd name="T43" fmla="*/ 592 h 592"/>
              <a:gd name="T44" fmla="*/ 30 w 650"/>
              <a:gd name="T45" fmla="*/ 513 h 592"/>
              <a:gd name="T46" fmla="*/ 82 w 650"/>
              <a:gd name="T47" fmla="*/ 569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50" h="592">
                <a:moveTo>
                  <a:pt x="649" y="7"/>
                </a:moveTo>
                <a:lnTo>
                  <a:pt x="50" y="554"/>
                </a:lnTo>
                <a:lnTo>
                  <a:pt x="48" y="554"/>
                </a:lnTo>
                <a:lnTo>
                  <a:pt x="47" y="554"/>
                </a:lnTo>
                <a:lnTo>
                  <a:pt x="45" y="554"/>
                </a:lnTo>
                <a:lnTo>
                  <a:pt x="44" y="553"/>
                </a:lnTo>
                <a:lnTo>
                  <a:pt x="42" y="551"/>
                </a:lnTo>
                <a:lnTo>
                  <a:pt x="42" y="549"/>
                </a:lnTo>
                <a:lnTo>
                  <a:pt x="42" y="548"/>
                </a:lnTo>
                <a:lnTo>
                  <a:pt x="44" y="546"/>
                </a:lnTo>
                <a:lnTo>
                  <a:pt x="643" y="1"/>
                </a:lnTo>
                <a:lnTo>
                  <a:pt x="644" y="0"/>
                </a:lnTo>
                <a:lnTo>
                  <a:pt x="646" y="0"/>
                </a:lnTo>
                <a:lnTo>
                  <a:pt x="647" y="0"/>
                </a:lnTo>
                <a:lnTo>
                  <a:pt x="649" y="1"/>
                </a:lnTo>
                <a:lnTo>
                  <a:pt x="650" y="3"/>
                </a:lnTo>
                <a:lnTo>
                  <a:pt x="650" y="4"/>
                </a:lnTo>
                <a:lnTo>
                  <a:pt x="650" y="6"/>
                </a:lnTo>
                <a:lnTo>
                  <a:pt x="649" y="7"/>
                </a:lnTo>
                <a:lnTo>
                  <a:pt x="649" y="7"/>
                </a:lnTo>
                <a:close/>
                <a:moveTo>
                  <a:pt x="82" y="569"/>
                </a:moveTo>
                <a:lnTo>
                  <a:pt x="0" y="592"/>
                </a:lnTo>
                <a:lnTo>
                  <a:pt x="30" y="513"/>
                </a:lnTo>
                <a:lnTo>
                  <a:pt x="82" y="569"/>
                </a:lnTo>
                <a:close/>
              </a:path>
            </a:pathLst>
          </a:custGeom>
          <a:solidFill>
            <a:srgbClr val="000000"/>
          </a:solidFill>
          <a:ln w="3175">
            <a:solidFill>
              <a:srgbClr val="000000"/>
            </a:solidFill>
            <a:prstDash val="solid"/>
            <a:round/>
            <a:headEnd/>
            <a:tailEnd/>
          </a:ln>
        </p:spPr>
        <p:txBody>
          <a:bodyPr/>
          <a:lstStyle/>
          <a:p>
            <a:endParaRPr lang="en-IN"/>
          </a:p>
        </p:txBody>
      </p:sp>
      <p:sp>
        <p:nvSpPr>
          <p:cNvPr id="115782" name="Freeform 70">
            <a:extLst>
              <a:ext uri="{FF2B5EF4-FFF2-40B4-BE49-F238E27FC236}">
                <a16:creationId xmlns:a16="http://schemas.microsoft.com/office/drawing/2014/main" id="{6045A237-7305-C0F1-11FF-8182EF99D38C}"/>
              </a:ext>
            </a:extLst>
          </p:cNvPr>
          <p:cNvSpPr>
            <a:spLocks noEditPoints="1"/>
          </p:cNvSpPr>
          <p:nvPr/>
        </p:nvSpPr>
        <p:spPr bwMode="auto">
          <a:xfrm>
            <a:off x="6069013" y="4560888"/>
            <a:ext cx="544512" cy="1725612"/>
          </a:xfrm>
          <a:custGeom>
            <a:avLst/>
            <a:gdLst>
              <a:gd name="T0" fmla="*/ 333 w 343"/>
              <a:gd name="T1" fmla="*/ 1084 h 1087"/>
              <a:gd name="T2" fmla="*/ 29 w 343"/>
              <a:gd name="T3" fmla="*/ 62 h 1087"/>
              <a:gd name="T4" fmla="*/ 28 w 343"/>
              <a:gd name="T5" fmla="*/ 60 h 1087"/>
              <a:gd name="T6" fmla="*/ 29 w 343"/>
              <a:gd name="T7" fmla="*/ 59 h 1087"/>
              <a:gd name="T8" fmla="*/ 31 w 343"/>
              <a:gd name="T9" fmla="*/ 57 h 1087"/>
              <a:gd name="T10" fmla="*/ 32 w 343"/>
              <a:gd name="T11" fmla="*/ 56 h 1087"/>
              <a:gd name="T12" fmla="*/ 34 w 343"/>
              <a:gd name="T13" fmla="*/ 56 h 1087"/>
              <a:gd name="T14" fmla="*/ 35 w 343"/>
              <a:gd name="T15" fmla="*/ 57 h 1087"/>
              <a:gd name="T16" fmla="*/ 37 w 343"/>
              <a:gd name="T17" fmla="*/ 57 h 1087"/>
              <a:gd name="T18" fmla="*/ 38 w 343"/>
              <a:gd name="T19" fmla="*/ 59 h 1087"/>
              <a:gd name="T20" fmla="*/ 343 w 343"/>
              <a:gd name="T21" fmla="*/ 1081 h 1087"/>
              <a:gd name="T22" fmla="*/ 343 w 343"/>
              <a:gd name="T23" fmla="*/ 1082 h 1087"/>
              <a:gd name="T24" fmla="*/ 343 w 343"/>
              <a:gd name="T25" fmla="*/ 1084 h 1087"/>
              <a:gd name="T26" fmla="*/ 341 w 343"/>
              <a:gd name="T27" fmla="*/ 1085 h 1087"/>
              <a:gd name="T28" fmla="*/ 339 w 343"/>
              <a:gd name="T29" fmla="*/ 1087 h 1087"/>
              <a:gd name="T30" fmla="*/ 338 w 343"/>
              <a:gd name="T31" fmla="*/ 1087 h 1087"/>
              <a:gd name="T32" fmla="*/ 336 w 343"/>
              <a:gd name="T33" fmla="*/ 1087 h 1087"/>
              <a:gd name="T34" fmla="*/ 335 w 343"/>
              <a:gd name="T35" fmla="*/ 1085 h 1087"/>
              <a:gd name="T36" fmla="*/ 333 w 343"/>
              <a:gd name="T37" fmla="*/ 1084 h 1087"/>
              <a:gd name="T38" fmla="*/ 333 w 343"/>
              <a:gd name="T39" fmla="*/ 1084 h 1087"/>
              <a:gd name="T40" fmla="*/ 0 w 343"/>
              <a:gd name="T41" fmla="*/ 83 h 1087"/>
              <a:gd name="T42" fmla="*/ 16 w 343"/>
              <a:gd name="T43" fmla="*/ 0 h 1087"/>
              <a:gd name="T44" fmla="*/ 73 w 343"/>
              <a:gd name="T45" fmla="*/ 62 h 1087"/>
              <a:gd name="T46" fmla="*/ 0 w 343"/>
              <a:gd name="T47" fmla="*/ 83 h 10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3" h="1087">
                <a:moveTo>
                  <a:pt x="333" y="1084"/>
                </a:moveTo>
                <a:lnTo>
                  <a:pt x="29" y="62"/>
                </a:lnTo>
                <a:lnTo>
                  <a:pt x="28" y="60"/>
                </a:lnTo>
                <a:lnTo>
                  <a:pt x="29" y="59"/>
                </a:lnTo>
                <a:lnTo>
                  <a:pt x="31" y="57"/>
                </a:lnTo>
                <a:lnTo>
                  <a:pt x="32" y="56"/>
                </a:lnTo>
                <a:lnTo>
                  <a:pt x="34" y="56"/>
                </a:lnTo>
                <a:lnTo>
                  <a:pt x="35" y="57"/>
                </a:lnTo>
                <a:lnTo>
                  <a:pt x="37" y="57"/>
                </a:lnTo>
                <a:lnTo>
                  <a:pt x="38" y="59"/>
                </a:lnTo>
                <a:lnTo>
                  <a:pt x="343" y="1081"/>
                </a:lnTo>
                <a:lnTo>
                  <a:pt x="343" y="1082"/>
                </a:lnTo>
                <a:lnTo>
                  <a:pt x="343" y="1084"/>
                </a:lnTo>
                <a:lnTo>
                  <a:pt x="341" y="1085"/>
                </a:lnTo>
                <a:lnTo>
                  <a:pt x="339" y="1087"/>
                </a:lnTo>
                <a:lnTo>
                  <a:pt x="338" y="1087"/>
                </a:lnTo>
                <a:lnTo>
                  <a:pt x="336" y="1087"/>
                </a:lnTo>
                <a:lnTo>
                  <a:pt x="335" y="1085"/>
                </a:lnTo>
                <a:lnTo>
                  <a:pt x="333" y="1084"/>
                </a:lnTo>
                <a:lnTo>
                  <a:pt x="333" y="1084"/>
                </a:lnTo>
                <a:close/>
                <a:moveTo>
                  <a:pt x="0" y="83"/>
                </a:moveTo>
                <a:lnTo>
                  <a:pt x="16" y="0"/>
                </a:lnTo>
                <a:lnTo>
                  <a:pt x="73" y="62"/>
                </a:lnTo>
                <a:lnTo>
                  <a:pt x="0" y="83"/>
                </a:lnTo>
                <a:close/>
              </a:path>
            </a:pathLst>
          </a:custGeom>
          <a:solidFill>
            <a:srgbClr val="000000"/>
          </a:solidFill>
          <a:ln w="3175">
            <a:solidFill>
              <a:srgbClr val="000000"/>
            </a:solidFill>
            <a:prstDash val="solid"/>
            <a:round/>
            <a:headEnd/>
            <a:tailEnd/>
          </a:ln>
        </p:spPr>
        <p:txBody>
          <a:bodyPr/>
          <a:lstStyle/>
          <a:p>
            <a:endParaRPr lang="en-IN"/>
          </a:p>
        </p:txBody>
      </p:sp>
      <p:sp>
        <p:nvSpPr>
          <p:cNvPr id="115783" name="Rectangle 71">
            <a:extLst>
              <a:ext uri="{FF2B5EF4-FFF2-40B4-BE49-F238E27FC236}">
                <a16:creationId xmlns:a16="http://schemas.microsoft.com/office/drawing/2014/main" id="{5501DE30-C28F-7088-CB75-315E801B63CE}"/>
              </a:ext>
            </a:extLst>
          </p:cNvPr>
          <p:cNvSpPr>
            <a:spLocks noChangeArrowheads="1"/>
          </p:cNvSpPr>
          <p:nvPr/>
        </p:nvSpPr>
        <p:spPr bwMode="auto">
          <a:xfrm>
            <a:off x="9156700" y="4289426"/>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t>0</a:t>
            </a:r>
            <a:endParaRPr lang="en-US" altLang="en-US"/>
          </a:p>
        </p:txBody>
      </p:sp>
      <p:sp>
        <p:nvSpPr>
          <p:cNvPr id="115784" name="Rectangle 72">
            <a:extLst>
              <a:ext uri="{FF2B5EF4-FFF2-40B4-BE49-F238E27FC236}">
                <a16:creationId xmlns:a16="http://schemas.microsoft.com/office/drawing/2014/main" id="{7AB581A6-521D-37A1-A5D6-CE078A2B069C}"/>
              </a:ext>
            </a:extLst>
          </p:cNvPr>
          <p:cNvSpPr>
            <a:spLocks noChangeArrowheads="1"/>
          </p:cNvSpPr>
          <p:nvPr/>
        </p:nvSpPr>
        <p:spPr bwMode="auto">
          <a:xfrm>
            <a:off x="8764588" y="4840289"/>
            <a:ext cx="20839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t>18</a:t>
            </a:r>
            <a:endParaRPr lang="en-US" altLang="en-US"/>
          </a:p>
        </p:txBody>
      </p:sp>
      <p:sp>
        <p:nvSpPr>
          <p:cNvPr id="115785" name="Rectangle 73">
            <a:extLst>
              <a:ext uri="{FF2B5EF4-FFF2-40B4-BE49-F238E27FC236}">
                <a16:creationId xmlns:a16="http://schemas.microsoft.com/office/drawing/2014/main" id="{D2CAF537-615C-1548-5277-907B00C3B1BA}"/>
              </a:ext>
            </a:extLst>
          </p:cNvPr>
          <p:cNvSpPr>
            <a:spLocks noChangeArrowheads="1"/>
          </p:cNvSpPr>
          <p:nvPr/>
        </p:nvSpPr>
        <p:spPr bwMode="auto">
          <a:xfrm>
            <a:off x="8418513" y="4878389"/>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t>2</a:t>
            </a:r>
            <a:endParaRPr lang="en-US" altLang="en-US"/>
          </a:p>
        </p:txBody>
      </p:sp>
      <p:sp>
        <p:nvSpPr>
          <p:cNvPr id="115786" name="Rectangle 74">
            <a:extLst>
              <a:ext uri="{FF2B5EF4-FFF2-40B4-BE49-F238E27FC236}">
                <a16:creationId xmlns:a16="http://schemas.microsoft.com/office/drawing/2014/main" id="{DB5CC4C7-5922-9AF7-2459-CF3BCD0385F0}"/>
              </a:ext>
            </a:extLst>
          </p:cNvPr>
          <p:cNvSpPr>
            <a:spLocks noChangeArrowheads="1"/>
          </p:cNvSpPr>
          <p:nvPr/>
        </p:nvSpPr>
        <p:spPr bwMode="auto">
          <a:xfrm>
            <a:off x="7194550" y="5211764"/>
            <a:ext cx="20839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t>10</a:t>
            </a:r>
            <a:endParaRPr lang="en-US" altLang="en-US"/>
          </a:p>
        </p:txBody>
      </p:sp>
      <p:sp>
        <p:nvSpPr>
          <p:cNvPr id="115787" name="Rectangle 75">
            <a:extLst>
              <a:ext uri="{FF2B5EF4-FFF2-40B4-BE49-F238E27FC236}">
                <a16:creationId xmlns:a16="http://schemas.microsoft.com/office/drawing/2014/main" id="{2978BE8A-CAF7-CE8D-21DA-A46ABC7AD8CA}"/>
              </a:ext>
            </a:extLst>
          </p:cNvPr>
          <p:cNvSpPr>
            <a:spLocks noChangeArrowheads="1"/>
          </p:cNvSpPr>
          <p:nvPr/>
        </p:nvSpPr>
        <p:spPr bwMode="auto">
          <a:xfrm>
            <a:off x="7754938" y="6129339"/>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solidFill>
                  <a:srgbClr val="FF0000"/>
                </a:solidFill>
              </a:rPr>
              <a:t>0</a:t>
            </a:r>
            <a:endParaRPr lang="en-US" altLang="en-US">
              <a:solidFill>
                <a:srgbClr val="FF0000"/>
              </a:solidFill>
            </a:endParaRPr>
          </a:p>
        </p:txBody>
      </p:sp>
      <p:sp>
        <p:nvSpPr>
          <p:cNvPr id="115789" name="Rectangle 77">
            <a:extLst>
              <a:ext uri="{FF2B5EF4-FFF2-40B4-BE49-F238E27FC236}">
                <a16:creationId xmlns:a16="http://schemas.microsoft.com/office/drawing/2014/main" id="{058C0E7A-78DE-4922-DC94-83FDF4140EA3}"/>
              </a:ext>
            </a:extLst>
          </p:cNvPr>
          <p:cNvSpPr>
            <a:spLocks noChangeArrowheads="1"/>
          </p:cNvSpPr>
          <p:nvPr/>
        </p:nvSpPr>
        <p:spPr bwMode="auto">
          <a:xfrm>
            <a:off x="5310188" y="4729164"/>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FF0000"/>
                </a:solidFill>
              </a:rPr>
              <a:t>1</a:t>
            </a:r>
            <a:endParaRPr lang="en-US" altLang="en-US">
              <a:solidFill>
                <a:srgbClr val="FF0000"/>
              </a:solidFill>
            </a:endParaRPr>
          </a:p>
        </p:txBody>
      </p:sp>
      <p:sp>
        <p:nvSpPr>
          <p:cNvPr id="115790" name="Rectangle 78">
            <a:extLst>
              <a:ext uri="{FF2B5EF4-FFF2-40B4-BE49-F238E27FC236}">
                <a16:creationId xmlns:a16="http://schemas.microsoft.com/office/drawing/2014/main" id="{9DDE5084-71BF-D9FE-3C9A-43688F58FDC4}"/>
              </a:ext>
            </a:extLst>
          </p:cNvPr>
          <p:cNvSpPr>
            <a:spLocks noChangeArrowheads="1"/>
          </p:cNvSpPr>
          <p:nvPr/>
        </p:nvSpPr>
        <p:spPr bwMode="auto">
          <a:xfrm>
            <a:off x="5597525" y="6051551"/>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t>0</a:t>
            </a:r>
            <a:endParaRPr lang="en-US" altLang="en-US"/>
          </a:p>
        </p:txBody>
      </p:sp>
      <p:sp>
        <p:nvSpPr>
          <p:cNvPr id="115791" name="Freeform 79">
            <a:extLst>
              <a:ext uri="{FF2B5EF4-FFF2-40B4-BE49-F238E27FC236}">
                <a16:creationId xmlns:a16="http://schemas.microsoft.com/office/drawing/2014/main" id="{B4FEEC9D-736C-EB4F-20DF-6FBDE4C9C956}"/>
              </a:ext>
            </a:extLst>
          </p:cNvPr>
          <p:cNvSpPr>
            <a:spLocks noEditPoints="1"/>
          </p:cNvSpPr>
          <p:nvPr/>
        </p:nvSpPr>
        <p:spPr bwMode="auto">
          <a:xfrm>
            <a:off x="5103814" y="4651375"/>
            <a:ext cx="898525" cy="865188"/>
          </a:xfrm>
          <a:custGeom>
            <a:avLst/>
            <a:gdLst>
              <a:gd name="T0" fmla="*/ 2 w 566"/>
              <a:gd name="T1" fmla="*/ 538 h 545"/>
              <a:gd name="T2" fmla="*/ 517 w 566"/>
              <a:gd name="T3" fmla="*/ 41 h 545"/>
              <a:gd name="T4" fmla="*/ 519 w 566"/>
              <a:gd name="T5" fmla="*/ 40 h 545"/>
              <a:gd name="T6" fmla="*/ 520 w 566"/>
              <a:gd name="T7" fmla="*/ 40 h 545"/>
              <a:gd name="T8" fmla="*/ 522 w 566"/>
              <a:gd name="T9" fmla="*/ 40 h 545"/>
              <a:gd name="T10" fmla="*/ 523 w 566"/>
              <a:gd name="T11" fmla="*/ 41 h 545"/>
              <a:gd name="T12" fmla="*/ 525 w 566"/>
              <a:gd name="T13" fmla="*/ 43 h 545"/>
              <a:gd name="T14" fmla="*/ 525 w 566"/>
              <a:gd name="T15" fmla="*/ 44 h 545"/>
              <a:gd name="T16" fmla="*/ 525 w 566"/>
              <a:gd name="T17" fmla="*/ 46 h 545"/>
              <a:gd name="T18" fmla="*/ 523 w 566"/>
              <a:gd name="T19" fmla="*/ 47 h 545"/>
              <a:gd name="T20" fmla="*/ 10 w 566"/>
              <a:gd name="T21" fmla="*/ 544 h 545"/>
              <a:gd name="T22" fmla="*/ 6 w 566"/>
              <a:gd name="T23" fmla="*/ 545 h 545"/>
              <a:gd name="T24" fmla="*/ 5 w 566"/>
              <a:gd name="T25" fmla="*/ 545 h 545"/>
              <a:gd name="T26" fmla="*/ 3 w 566"/>
              <a:gd name="T27" fmla="*/ 545 h 545"/>
              <a:gd name="T28" fmla="*/ 2 w 566"/>
              <a:gd name="T29" fmla="*/ 544 h 545"/>
              <a:gd name="T30" fmla="*/ 0 w 566"/>
              <a:gd name="T31" fmla="*/ 542 h 545"/>
              <a:gd name="T32" fmla="*/ 0 w 566"/>
              <a:gd name="T33" fmla="*/ 541 h 545"/>
              <a:gd name="T34" fmla="*/ 0 w 566"/>
              <a:gd name="T35" fmla="*/ 539 h 545"/>
              <a:gd name="T36" fmla="*/ 2 w 566"/>
              <a:gd name="T37" fmla="*/ 538 h 545"/>
              <a:gd name="T38" fmla="*/ 2 w 566"/>
              <a:gd name="T39" fmla="*/ 538 h 545"/>
              <a:gd name="T40" fmla="*/ 485 w 566"/>
              <a:gd name="T41" fmla="*/ 26 h 545"/>
              <a:gd name="T42" fmla="*/ 566 w 566"/>
              <a:gd name="T43" fmla="*/ 0 h 545"/>
              <a:gd name="T44" fmla="*/ 539 w 566"/>
              <a:gd name="T45" fmla="*/ 81 h 545"/>
              <a:gd name="T46" fmla="*/ 485 w 566"/>
              <a:gd name="T47" fmla="*/ 26 h 5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66" h="545">
                <a:moveTo>
                  <a:pt x="2" y="538"/>
                </a:moveTo>
                <a:lnTo>
                  <a:pt x="517" y="41"/>
                </a:lnTo>
                <a:lnTo>
                  <a:pt x="519" y="40"/>
                </a:lnTo>
                <a:lnTo>
                  <a:pt x="520" y="40"/>
                </a:lnTo>
                <a:lnTo>
                  <a:pt x="522" y="40"/>
                </a:lnTo>
                <a:lnTo>
                  <a:pt x="523" y="41"/>
                </a:lnTo>
                <a:lnTo>
                  <a:pt x="525" y="43"/>
                </a:lnTo>
                <a:lnTo>
                  <a:pt x="525" y="44"/>
                </a:lnTo>
                <a:lnTo>
                  <a:pt x="525" y="46"/>
                </a:lnTo>
                <a:lnTo>
                  <a:pt x="523" y="47"/>
                </a:lnTo>
                <a:lnTo>
                  <a:pt x="10" y="544"/>
                </a:lnTo>
                <a:lnTo>
                  <a:pt x="6" y="545"/>
                </a:lnTo>
                <a:lnTo>
                  <a:pt x="5" y="545"/>
                </a:lnTo>
                <a:lnTo>
                  <a:pt x="3" y="545"/>
                </a:lnTo>
                <a:lnTo>
                  <a:pt x="2" y="544"/>
                </a:lnTo>
                <a:lnTo>
                  <a:pt x="0" y="542"/>
                </a:lnTo>
                <a:lnTo>
                  <a:pt x="0" y="541"/>
                </a:lnTo>
                <a:lnTo>
                  <a:pt x="0" y="539"/>
                </a:lnTo>
                <a:lnTo>
                  <a:pt x="2" y="538"/>
                </a:lnTo>
                <a:lnTo>
                  <a:pt x="2" y="538"/>
                </a:lnTo>
                <a:close/>
                <a:moveTo>
                  <a:pt x="485" y="26"/>
                </a:moveTo>
                <a:lnTo>
                  <a:pt x="566" y="0"/>
                </a:lnTo>
                <a:lnTo>
                  <a:pt x="539" y="81"/>
                </a:lnTo>
                <a:lnTo>
                  <a:pt x="485" y="26"/>
                </a:lnTo>
                <a:close/>
              </a:path>
            </a:pathLst>
          </a:custGeom>
          <a:solidFill>
            <a:srgbClr val="000000"/>
          </a:solidFill>
          <a:ln w="3175">
            <a:solidFill>
              <a:srgbClr val="000000"/>
            </a:solidFill>
            <a:prstDash val="solid"/>
            <a:round/>
            <a:headEnd/>
            <a:tailEnd/>
          </a:ln>
        </p:spPr>
        <p:txBody>
          <a:bodyPr/>
          <a:lstStyle/>
          <a:p>
            <a:endParaRPr lang="en-IN"/>
          </a:p>
        </p:txBody>
      </p:sp>
      <p:sp>
        <p:nvSpPr>
          <p:cNvPr id="115792" name="Freeform 80">
            <a:extLst>
              <a:ext uri="{FF2B5EF4-FFF2-40B4-BE49-F238E27FC236}">
                <a16:creationId xmlns:a16="http://schemas.microsoft.com/office/drawing/2014/main" id="{97415F2B-1533-5F99-4D28-F0ADBD2697A2}"/>
              </a:ext>
            </a:extLst>
          </p:cNvPr>
          <p:cNvSpPr>
            <a:spLocks noEditPoints="1"/>
          </p:cNvSpPr>
          <p:nvPr/>
        </p:nvSpPr>
        <p:spPr bwMode="auto">
          <a:xfrm>
            <a:off x="5164138" y="5530851"/>
            <a:ext cx="1306512" cy="701675"/>
          </a:xfrm>
          <a:custGeom>
            <a:avLst/>
            <a:gdLst>
              <a:gd name="T0" fmla="*/ 8 w 823"/>
              <a:gd name="T1" fmla="*/ 2 h 442"/>
              <a:gd name="T2" fmla="*/ 770 w 823"/>
              <a:gd name="T3" fmla="*/ 409 h 442"/>
              <a:gd name="T4" fmla="*/ 771 w 823"/>
              <a:gd name="T5" fmla="*/ 409 h 442"/>
              <a:gd name="T6" fmla="*/ 771 w 823"/>
              <a:gd name="T7" fmla="*/ 412 h 442"/>
              <a:gd name="T8" fmla="*/ 771 w 823"/>
              <a:gd name="T9" fmla="*/ 413 h 442"/>
              <a:gd name="T10" fmla="*/ 771 w 823"/>
              <a:gd name="T11" fmla="*/ 415 h 442"/>
              <a:gd name="T12" fmla="*/ 770 w 823"/>
              <a:gd name="T13" fmla="*/ 416 h 442"/>
              <a:gd name="T14" fmla="*/ 768 w 823"/>
              <a:gd name="T15" fmla="*/ 416 h 442"/>
              <a:gd name="T16" fmla="*/ 767 w 823"/>
              <a:gd name="T17" fmla="*/ 418 h 442"/>
              <a:gd name="T18" fmla="*/ 765 w 823"/>
              <a:gd name="T19" fmla="*/ 416 h 442"/>
              <a:gd name="T20" fmla="*/ 3 w 823"/>
              <a:gd name="T21" fmla="*/ 10 h 442"/>
              <a:gd name="T22" fmla="*/ 2 w 823"/>
              <a:gd name="T23" fmla="*/ 10 h 442"/>
              <a:gd name="T24" fmla="*/ 0 w 823"/>
              <a:gd name="T25" fmla="*/ 8 h 442"/>
              <a:gd name="T26" fmla="*/ 0 w 823"/>
              <a:gd name="T27" fmla="*/ 5 h 442"/>
              <a:gd name="T28" fmla="*/ 2 w 823"/>
              <a:gd name="T29" fmla="*/ 4 h 442"/>
              <a:gd name="T30" fmla="*/ 2 w 823"/>
              <a:gd name="T31" fmla="*/ 2 h 442"/>
              <a:gd name="T32" fmla="*/ 3 w 823"/>
              <a:gd name="T33" fmla="*/ 2 h 442"/>
              <a:gd name="T34" fmla="*/ 6 w 823"/>
              <a:gd name="T35" fmla="*/ 0 h 442"/>
              <a:gd name="T36" fmla="*/ 8 w 823"/>
              <a:gd name="T37" fmla="*/ 2 h 442"/>
              <a:gd name="T38" fmla="*/ 8 w 823"/>
              <a:gd name="T39" fmla="*/ 2 h 442"/>
              <a:gd name="T40" fmla="*/ 774 w 823"/>
              <a:gd name="T41" fmla="*/ 372 h 442"/>
              <a:gd name="T42" fmla="*/ 823 w 823"/>
              <a:gd name="T43" fmla="*/ 442 h 442"/>
              <a:gd name="T44" fmla="*/ 738 w 823"/>
              <a:gd name="T45" fmla="*/ 441 h 442"/>
              <a:gd name="T46" fmla="*/ 774 w 823"/>
              <a:gd name="T47" fmla="*/ 372 h 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23" h="442">
                <a:moveTo>
                  <a:pt x="8" y="2"/>
                </a:moveTo>
                <a:lnTo>
                  <a:pt x="770" y="409"/>
                </a:lnTo>
                <a:lnTo>
                  <a:pt x="771" y="409"/>
                </a:lnTo>
                <a:lnTo>
                  <a:pt x="771" y="412"/>
                </a:lnTo>
                <a:lnTo>
                  <a:pt x="771" y="413"/>
                </a:lnTo>
                <a:lnTo>
                  <a:pt x="771" y="415"/>
                </a:lnTo>
                <a:lnTo>
                  <a:pt x="770" y="416"/>
                </a:lnTo>
                <a:lnTo>
                  <a:pt x="768" y="416"/>
                </a:lnTo>
                <a:lnTo>
                  <a:pt x="767" y="418"/>
                </a:lnTo>
                <a:lnTo>
                  <a:pt x="765" y="416"/>
                </a:lnTo>
                <a:lnTo>
                  <a:pt x="3" y="10"/>
                </a:lnTo>
                <a:lnTo>
                  <a:pt x="2" y="10"/>
                </a:lnTo>
                <a:lnTo>
                  <a:pt x="0" y="8"/>
                </a:lnTo>
                <a:lnTo>
                  <a:pt x="0" y="5"/>
                </a:lnTo>
                <a:lnTo>
                  <a:pt x="2" y="4"/>
                </a:lnTo>
                <a:lnTo>
                  <a:pt x="2" y="2"/>
                </a:lnTo>
                <a:lnTo>
                  <a:pt x="3" y="2"/>
                </a:lnTo>
                <a:lnTo>
                  <a:pt x="6" y="0"/>
                </a:lnTo>
                <a:lnTo>
                  <a:pt x="8" y="2"/>
                </a:lnTo>
                <a:lnTo>
                  <a:pt x="8" y="2"/>
                </a:lnTo>
                <a:close/>
                <a:moveTo>
                  <a:pt x="774" y="372"/>
                </a:moveTo>
                <a:lnTo>
                  <a:pt x="823" y="442"/>
                </a:lnTo>
                <a:lnTo>
                  <a:pt x="738" y="441"/>
                </a:lnTo>
                <a:lnTo>
                  <a:pt x="774" y="372"/>
                </a:lnTo>
                <a:close/>
              </a:path>
            </a:pathLst>
          </a:custGeom>
          <a:solidFill>
            <a:srgbClr val="000000"/>
          </a:solidFill>
          <a:ln w="3175">
            <a:solidFill>
              <a:srgbClr val="000000"/>
            </a:solidFill>
            <a:prstDash val="solid"/>
            <a:round/>
            <a:headEnd/>
            <a:tailEnd/>
          </a:ln>
        </p:spPr>
        <p:txBody>
          <a:bodyPr/>
          <a:lstStyle/>
          <a:p>
            <a:endParaRPr lang="en-IN"/>
          </a:p>
        </p:txBody>
      </p:sp>
      <p:sp>
        <p:nvSpPr>
          <p:cNvPr id="115793" name="Freeform 81">
            <a:extLst>
              <a:ext uri="{FF2B5EF4-FFF2-40B4-BE49-F238E27FC236}">
                <a16:creationId xmlns:a16="http://schemas.microsoft.com/office/drawing/2014/main" id="{BC47A988-4851-3A61-1067-BCC5D75AA125}"/>
              </a:ext>
            </a:extLst>
          </p:cNvPr>
          <p:cNvSpPr>
            <a:spLocks noEditPoints="1"/>
          </p:cNvSpPr>
          <p:nvPr/>
        </p:nvSpPr>
        <p:spPr bwMode="auto">
          <a:xfrm>
            <a:off x="6040438" y="4765675"/>
            <a:ext cx="436562" cy="1346200"/>
          </a:xfrm>
          <a:custGeom>
            <a:avLst/>
            <a:gdLst>
              <a:gd name="T0" fmla="*/ 9 w 275"/>
              <a:gd name="T1" fmla="*/ 3 h 848"/>
              <a:gd name="T2" fmla="*/ 248 w 275"/>
              <a:gd name="T3" fmla="*/ 786 h 848"/>
              <a:gd name="T4" fmla="*/ 248 w 275"/>
              <a:gd name="T5" fmla="*/ 788 h 848"/>
              <a:gd name="T6" fmla="*/ 246 w 275"/>
              <a:gd name="T7" fmla="*/ 791 h 848"/>
              <a:gd name="T8" fmla="*/ 245 w 275"/>
              <a:gd name="T9" fmla="*/ 792 h 848"/>
              <a:gd name="T10" fmla="*/ 243 w 275"/>
              <a:gd name="T11" fmla="*/ 792 h 848"/>
              <a:gd name="T12" fmla="*/ 242 w 275"/>
              <a:gd name="T13" fmla="*/ 792 h 848"/>
              <a:gd name="T14" fmla="*/ 240 w 275"/>
              <a:gd name="T15" fmla="*/ 792 h 848"/>
              <a:gd name="T16" fmla="*/ 239 w 275"/>
              <a:gd name="T17" fmla="*/ 791 h 848"/>
              <a:gd name="T18" fmla="*/ 239 w 275"/>
              <a:gd name="T19" fmla="*/ 789 h 848"/>
              <a:gd name="T20" fmla="*/ 0 w 275"/>
              <a:gd name="T21" fmla="*/ 6 h 848"/>
              <a:gd name="T22" fmla="*/ 0 w 275"/>
              <a:gd name="T23" fmla="*/ 4 h 848"/>
              <a:gd name="T24" fmla="*/ 0 w 275"/>
              <a:gd name="T25" fmla="*/ 1 h 848"/>
              <a:gd name="T26" fmla="*/ 2 w 275"/>
              <a:gd name="T27" fmla="*/ 0 h 848"/>
              <a:gd name="T28" fmla="*/ 3 w 275"/>
              <a:gd name="T29" fmla="*/ 0 h 848"/>
              <a:gd name="T30" fmla="*/ 5 w 275"/>
              <a:gd name="T31" fmla="*/ 0 h 848"/>
              <a:gd name="T32" fmla="*/ 6 w 275"/>
              <a:gd name="T33" fmla="*/ 0 h 848"/>
              <a:gd name="T34" fmla="*/ 8 w 275"/>
              <a:gd name="T35" fmla="*/ 1 h 848"/>
              <a:gd name="T36" fmla="*/ 9 w 275"/>
              <a:gd name="T37" fmla="*/ 3 h 848"/>
              <a:gd name="T38" fmla="*/ 9 w 275"/>
              <a:gd name="T39" fmla="*/ 3 h 848"/>
              <a:gd name="T40" fmla="*/ 275 w 275"/>
              <a:gd name="T41" fmla="*/ 765 h 848"/>
              <a:gd name="T42" fmla="*/ 262 w 275"/>
              <a:gd name="T43" fmla="*/ 848 h 848"/>
              <a:gd name="T44" fmla="*/ 202 w 275"/>
              <a:gd name="T45" fmla="*/ 788 h 848"/>
              <a:gd name="T46" fmla="*/ 275 w 275"/>
              <a:gd name="T47" fmla="*/ 765 h 8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75" h="848">
                <a:moveTo>
                  <a:pt x="9" y="3"/>
                </a:moveTo>
                <a:lnTo>
                  <a:pt x="248" y="786"/>
                </a:lnTo>
                <a:lnTo>
                  <a:pt x="248" y="788"/>
                </a:lnTo>
                <a:lnTo>
                  <a:pt x="246" y="791"/>
                </a:lnTo>
                <a:lnTo>
                  <a:pt x="245" y="792"/>
                </a:lnTo>
                <a:lnTo>
                  <a:pt x="243" y="792"/>
                </a:lnTo>
                <a:lnTo>
                  <a:pt x="242" y="792"/>
                </a:lnTo>
                <a:lnTo>
                  <a:pt x="240" y="792"/>
                </a:lnTo>
                <a:lnTo>
                  <a:pt x="239" y="791"/>
                </a:lnTo>
                <a:lnTo>
                  <a:pt x="239" y="789"/>
                </a:lnTo>
                <a:lnTo>
                  <a:pt x="0" y="6"/>
                </a:lnTo>
                <a:lnTo>
                  <a:pt x="0" y="4"/>
                </a:lnTo>
                <a:lnTo>
                  <a:pt x="0" y="1"/>
                </a:lnTo>
                <a:lnTo>
                  <a:pt x="2" y="0"/>
                </a:lnTo>
                <a:lnTo>
                  <a:pt x="3" y="0"/>
                </a:lnTo>
                <a:lnTo>
                  <a:pt x="5" y="0"/>
                </a:lnTo>
                <a:lnTo>
                  <a:pt x="6" y="0"/>
                </a:lnTo>
                <a:lnTo>
                  <a:pt x="8" y="1"/>
                </a:lnTo>
                <a:lnTo>
                  <a:pt x="9" y="3"/>
                </a:lnTo>
                <a:lnTo>
                  <a:pt x="9" y="3"/>
                </a:lnTo>
                <a:close/>
                <a:moveTo>
                  <a:pt x="275" y="765"/>
                </a:moveTo>
                <a:lnTo>
                  <a:pt x="262" y="848"/>
                </a:lnTo>
                <a:lnTo>
                  <a:pt x="202" y="788"/>
                </a:lnTo>
                <a:lnTo>
                  <a:pt x="275" y="765"/>
                </a:lnTo>
                <a:close/>
              </a:path>
            </a:pathLst>
          </a:custGeom>
          <a:solidFill>
            <a:srgbClr val="000000"/>
          </a:solidFill>
          <a:ln w="3175">
            <a:solidFill>
              <a:srgbClr val="000000"/>
            </a:solidFill>
            <a:prstDash val="solid"/>
            <a:round/>
            <a:headEnd/>
            <a:tailEnd/>
          </a:ln>
        </p:spPr>
        <p:txBody>
          <a:bodyPr/>
          <a:lstStyle/>
          <a:p>
            <a:endParaRPr lang="en-IN"/>
          </a:p>
        </p:txBody>
      </p:sp>
      <p:sp>
        <p:nvSpPr>
          <p:cNvPr id="115794" name="Freeform 82">
            <a:extLst>
              <a:ext uri="{FF2B5EF4-FFF2-40B4-BE49-F238E27FC236}">
                <a16:creationId xmlns:a16="http://schemas.microsoft.com/office/drawing/2014/main" id="{47E86220-3C6E-4928-8F56-8EE31860AD13}"/>
              </a:ext>
            </a:extLst>
          </p:cNvPr>
          <p:cNvSpPr>
            <a:spLocks noEditPoints="1"/>
          </p:cNvSpPr>
          <p:nvPr/>
        </p:nvSpPr>
        <p:spPr bwMode="auto">
          <a:xfrm>
            <a:off x="6824664" y="5807076"/>
            <a:ext cx="1697037" cy="390525"/>
          </a:xfrm>
          <a:custGeom>
            <a:avLst/>
            <a:gdLst>
              <a:gd name="T0" fmla="*/ 3 w 1069"/>
              <a:gd name="T1" fmla="*/ 235 h 246"/>
              <a:gd name="T2" fmla="*/ 1007 w 1069"/>
              <a:gd name="T3" fmla="*/ 30 h 246"/>
              <a:gd name="T4" fmla="*/ 1008 w 1069"/>
              <a:gd name="T5" fmla="*/ 30 h 246"/>
              <a:gd name="T6" fmla="*/ 1010 w 1069"/>
              <a:gd name="T7" fmla="*/ 30 h 246"/>
              <a:gd name="T8" fmla="*/ 1011 w 1069"/>
              <a:gd name="T9" fmla="*/ 31 h 246"/>
              <a:gd name="T10" fmla="*/ 1011 w 1069"/>
              <a:gd name="T11" fmla="*/ 33 h 246"/>
              <a:gd name="T12" fmla="*/ 1011 w 1069"/>
              <a:gd name="T13" fmla="*/ 36 h 246"/>
              <a:gd name="T14" fmla="*/ 1011 w 1069"/>
              <a:gd name="T15" fmla="*/ 38 h 246"/>
              <a:gd name="T16" fmla="*/ 1010 w 1069"/>
              <a:gd name="T17" fmla="*/ 39 h 246"/>
              <a:gd name="T18" fmla="*/ 1008 w 1069"/>
              <a:gd name="T19" fmla="*/ 39 h 246"/>
              <a:gd name="T20" fmla="*/ 6 w 1069"/>
              <a:gd name="T21" fmla="*/ 246 h 246"/>
              <a:gd name="T22" fmla="*/ 3 w 1069"/>
              <a:gd name="T23" fmla="*/ 244 h 246"/>
              <a:gd name="T24" fmla="*/ 2 w 1069"/>
              <a:gd name="T25" fmla="*/ 244 h 246"/>
              <a:gd name="T26" fmla="*/ 0 w 1069"/>
              <a:gd name="T27" fmla="*/ 242 h 246"/>
              <a:gd name="T28" fmla="*/ 0 w 1069"/>
              <a:gd name="T29" fmla="*/ 241 h 246"/>
              <a:gd name="T30" fmla="*/ 0 w 1069"/>
              <a:gd name="T31" fmla="*/ 239 h 246"/>
              <a:gd name="T32" fmla="*/ 0 w 1069"/>
              <a:gd name="T33" fmla="*/ 238 h 246"/>
              <a:gd name="T34" fmla="*/ 2 w 1069"/>
              <a:gd name="T35" fmla="*/ 236 h 246"/>
              <a:gd name="T36" fmla="*/ 3 w 1069"/>
              <a:gd name="T37" fmla="*/ 235 h 246"/>
              <a:gd name="T38" fmla="*/ 3 w 1069"/>
              <a:gd name="T39" fmla="*/ 235 h 246"/>
              <a:gd name="T40" fmla="*/ 987 w 1069"/>
              <a:gd name="T41" fmla="*/ 0 h 246"/>
              <a:gd name="T42" fmla="*/ 1069 w 1069"/>
              <a:gd name="T43" fmla="*/ 22 h 246"/>
              <a:gd name="T44" fmla="*/ 1002 w 1069"/>
              <a:gd name="T45" fmla="*/ 74 h 246"/>
              <a:gd name="T46" fmla="*/ 987 w 1069"/>
              <a:gd name="T47" fmla="*/ 0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69" h="246">
                <a:moveTo>
                  <a:pt x="3" y="235"/>
                </a:moveTo>
                <a:lnTo>
                  <a:pt x="1007" y="30"/>
                </a:lnTo>
                <a:lnTo>
                  <a:pt x="1008" y="30"/>
                </a:lnTo>
                <a:lnTo>
                  <a:pt x="1010" y="30"/>
                </a:lnTo>
                <a:lnTo>
                  <a:pt x="1011" y="31"/>
                </a:lnTo>
                <a:lnTo>
                  <a:pt x="1011" y="33"/>
                </a:lnTo>
                <a:lnTo>
                  <a:pt x="1011" y="36"/>
                </a:lnTo>
                <a:lnTo>
                  <a:pt x="1011" y="38"/>
                </a:lnTo>
                <a:lnTo>
                  <a:pt x="1010" y="39"/>
                </a:lnTo>
                <a:lnTo>
                  <a:pt x="1008" y="39"/>
                </a:lnTo>
                <a:lnTo>
                  <a:pt x="6" y="246"/>
                </a:lnTo>
                <a:lnTo>
                  <a:pt x="3" y="244"/>
                </a:lnTo>
                <a:lnTo>
                  <a:pt x="2" y="244"/>
                </a:lnTo>
                <a:lnTo>
                  <a:pt x="0" y="242"/>
                </a:lnTo>
                <a:lnTo>
                  <a:pt x="0" y="241"/>
                </a:lnTo>
                <a:lnTo>
                  <a:pt x="0" y="239"/>
                </a:lnTo>
                <a:lnTo>
                  <a:pt x="0" y="238"/>
                </a:lnTo>
                <a:lnTo>
                  <a:pt x="2" y="236"/>
                </a:lnTo>
                <a:lnTo>
                  <a:pt x="3" y="235"/>
                </a:lnTo>
                <a:lnTo>
                  <a:pt x="3" y="235"/>
                </a:lnTo>
                <a:close/>
                <a:moveTo>
                  <a:pt x="987" y="0"/>
                </a:moveTo>
                <a:lnTo>
                  <a:pt x="1069" y="22"/>
                </a:lnTo>
                <a:lnTo>
                  <a:pt x="1002" y="74"/>
                </a:lnTo>
                <a:lnTo>
                  <a:pt x="987" y="0"/>
                </a:lnTo>
                <a:close/>
              </a:path>
            </a:pathLst>
          </a:custGeom>
          <a:solidFill>
            <a:srgbClr val="000000"/>
          </a:solidFill>
          <a:ln w="3175">
            <a:solidFill>
              <a:srgbClr val="000000"/>
            </a:solidFill>
            <a:prstDash val="solid"/>
            <a:round/>
            <a:headEnd/>
            <a:tailEnd/>
          </a:ln>
        </p:spPr>
        <p:txBody>
          <a:bodyPr/>
          <a:lstStyle/>
          <a:p>
            <a:endParaRPr lang="en-IN"/>
          </a:p>
        </p:txBody>
      </p:sp>
      <p:sp>
        <p:nvSpPr>
          <p:cNvPr id="115795" name="Freeform 83">
            <a:extLst>
              <a:ext uri="{FF2B5EF4-FFF2-40B4-BE49-F238E27FC236}">
                <a16:creationId xmlns:a16="http://schemas.microsoft.com/office/drawing/2014/main" id="{70405C7D-7338-D149-E105-D0674380DBD0}"/>
              </a:ext>
            </a:extLst>
          </p:cNvPr>
          <p:cNvSpPr>
            <a:spLocks noEditPoints="1"/>
          </p:cNvSpPr>
          <p:nvPr/>
        </p:nvSpPr>
        <p:spPr bwMode="auto">
          <a:xfrm>
            <a:off x="6516688" y="4576763"/>
            <a:ext cx="2087562" cy="1060450"/>
          </a:xfrm>
          <a:custGeom>
            <a:avLst/>
            <a:gdLst>
              <a:gd name="T0" fmla="*/ 1309 w 1315"/>
              <a:gd name="T1" fmla="*/ 668 h 668"/>
              <a:gd name="T2" fmla="*/ 53 w 1315"/>
              <a:gd name="T3" fmla="*/ 32 h 668"/>
              <a:gd name="T4" fmla="*/ 51 w 1315"/>
              <a:gd name="T5" fmla="*/ 32 h 668"/>
              <a:gd name="T6" fmla="*/ 51 w 1315"/>
              <a:gd name="T7" fmla="*/ 29 h 668"/>
              <a:gd name="T8" fmla="*/ 51 w 1315"/>
              <a:gd name="T9" fmla="*/ 28 h 668"/>
              <a:gd name="T10" fmla="*/ 51 w 1315"/>
              <a:gd name="T11" fmla="*/ 26 h 668"/>
              <a:gd name="T12" fmla="*/ 53 w 1315"/>
              <a:gd name="T13" fmla="*/ 25 h 668"/>
              <a:gd name="T14" fmla="*/ 54 w 1315"/>
              <a:gd name="T15" fmla="*/ 25 h 668"/>
              <a:gd name="T16" fmla="*/ 56 w 1315"/>
              <a:gd name="T17" fmla="*/ 23 h 668"/>
              <a:gd name="T18" fmla="*/ 57 w 1315"/>
              <a:gd name="T19" fmla="*/ 25 h 668"/>
              <a:gd name="T20" fmla="*/ 1313 w 1315"/>
              <a:gd name="T21" fmla="*/ 659 h 668"/>
              <a:gd name="T22" fmla="*/ 1313 w 1315"/>
              <a:gd name="T23" fmla="*/ 661 h 668"/>
              <a:gd name="T24" fmla="*/ 1315 w 1315"/>
              <a:gd name="T25" fmla="*/ 662 h 668"/>
              <a:gd name="T26" fmla="*/ 1315 w 1315"/>
              <a:gd name="T27" fmla="*/ 664 h 668"/>
              <a:gd name="T28" fmla="*/ 1315 w 1315"/>
              <a:gd name="T29" fmla="*/ 667 h 668"/>
              <a:gd name="T30" fmla="*/ 1313 w 1315"/>
              <a:gd name="T31" fmla="*/ 667 h 668"/>
              <a:gd name="T32" fmla="*/ 1312 w 1315"/>
              <a:gd name="T33" fmla="*/ 668 h 668"/>
              <a:gd name="T34" fmla="*/ 1310 w 1315"/>
              <a:gd name="T35" fmla="*/ 668 h 668"/>
              <a:gd name="T36" fmla="*/ 1309 w 1315"/>
              <a:gd name="T37" fmla="*/ 668 h 668"/>
              <a:gd name="T38" fmla="*/ 1309 w 1315"/>
              <a:gd name="T39" fmla="*/ 668 h 668"/>
              <a:gd name="T40" fmla="*/ 50 w 1315"/>
              <a:gd name="T41" fmla="*/ 69 h 668"/>
              <a:gd name="T42" fmla="*/ 0 w 1315"/>
              <a:gd name="T43" fmla="*/ 0 h 668"/>
              <a:gd name="T44" fmla="*/ 85 w 1315"/>
              <a:gd name="T45" fmla="*/ 0 h 668"/>
              <a:gd name="T46" fmla="*/ 50 w 1315"/>
              <a:gd name="T47" fmla="*/ 69 h 6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15" h="668">
                <a:moveTo>
                  <a:pt x="1309" y="668"/>
                </a:moveTo>
                <a:lnTo>
                  <a:pt x="53" y="32"/>
                </a:lnTo>
                <a:lnTo>
                  <a:pt x="51" y="32"/>
                </a:lnTo>
                <a:lnTo>
                  <a:pt x="51" y="29"/>
                </a:lnTo>
                <a:lnTo>
                  <a:pt x="51" y="28"/>
                </a:lnTo>
                <a:lnTo>
                  <a:pt x="51" y="26"/>
                </a:lnTo>
                <a:lnTo>
                  <a:pt x="53" y="25"/>
                </a:lnTo>
                <a:lnTo>
                  <a:pt x="54" y="25"/>
                </a:lnTo>
                <a:lnTo>
                  <a:pt x="56" y="23"/>
                </a:lnTo>
                <a:lnTo>
                  <a:pt x="57" y="25"/>
                </a:lnTo>
                <a:lnTo>
                  <a:pt x="1313" y="659"/>
                </a:lnTo>
                <a:lnTo>
                  <a:pt x="1313" y="661"/>
                </a:lnTo>
                <a:lnTo>
                  <a:pt x="1315" y="662"/>
                </a:lnTo>
                <a:lnTo>
                  <a:pt x="1315" y="664"/>
                </a:lnTo>
                <a:lnTo>
                  <a:pt x="1315" y="667"/>
                </a:lnTo>
                <a:lnTo>
                  <a:pt x="1313" y="667"/>
                </a:lnTo>
                <a:lnTo>
                  <a:pt x="1312" y="668"/>
                </a:lnTo>
                <a:lnTo>
                  <a:pt x="1310" y="668"/>
                </a:lnTo>
                <a:lnTo>
                  <a:pt x="1309" y="668"/>
                </a:lnTo>
                <a:lnTo>
                  <a:pt x="1309" y="668"/>
                </a:lnTo>
                <a:close/>
                <a:moveTo>
                  <a:pt x="50" y="69"/>
                </a:moveTo>
                <a:lnTo>
                  <a:pt x="0" y="0"/>
                </a:lnTo>
                <a:lnTo>
                  <a:pt x="85" y="0"/>
                </a:lnTo>
                <a:lnTo>
                  <a:pt x="50" y="69"/>
                </a:lnTo>
                <a:close/>
              </a:path>
            </a:pathLst>
          </a:custGeom>
          <a:solidFill>
            <a:srgbClr val="000000"/>
          </a:solidFill>
          <a:ln w="3175">
            <a:solidFill>
              <a:srgbClr val="000000"/>
            </a:solidFill>
            <a:prstDash val="solid"/>
            <a:round/>
            <a:headEnd/>
            <a:tailEnd/>
          </a:ln>
        </p:spPr>
        <p:txBody>
          <a:bodyPr/>
          <a:lstStyle/>
          <a:p>
            <a:endParaRPr lang="en-IN"/>
          </a:p>
        </p:txBody>
      </p:sp>
      <p:sp>
        <p:nvSpPr>
          <p:cNvPr id="115796" name="Freeform 84">
            <a:extLst>
              <a:ext uri="{FF2B5EF4-FFF2-40B4-BE49-F238E27FC236}">
                <a16:creationId xmlns:a16="http://schemas.microsoft.com/office/drawing/2014/main" id="{39078E26-8532-6B1A-0A66-96329CEDB821}"/>
              </a:ext>
            </a:extLst>
          </p:cNvPr>
          <p:cNvSpPr>
            <a:spLocks noEditPoints="1"/>
          </p:cNvSpPr>
          <p:nvPr/>
        </p:nvSpPr>
        <p:spPr bwMode="auto">
          <a:xfrm>
            <a:off x="6704014" y="4389439"/>
            <a:ext cx="1544637" cy="180975"/>
          </a:xfrm>
          <a:custGeom>
            <a:avLst/>
            <a:gdLst>
              <a:gd name="T0" fmla="*/ 5 w 973"/>
              <a:gd name="T1" fmla="*/ 103 h 114"/>
              <a:gd name="T2" fmla="*/ 911 w 973"/>
              <a:gd name="T3" fmla="*/ 33 h 114"/>
              <a:gd name="T4" fmla="*/ 912 w 973"/>
              <a:gd name="T5" fmla="*/ 33 h 114"/>
              <a:gd name="T6" fmla="*/ 914 w 973"/>
              <a:gd name="T7" fmla="*/ 33 h 114"/>
              <a:gd name="T8" fmla="*/ 915 w 973"/>
              <a:gd name="T9" fmla="*/ 35 h 114"/>
              <a:gd name="T10" fmla="*/ 915 w 973"/>
              <a:gd name="T11" fmla="*/ 38 h 114"/>
              <a:gd name="T12" fmla="*/ 915 w 973"/>
              <a:gd name="T13" fmla="*/ 39 h 114"/>
              <a:gd name="T14" fmla="*/ 914 w 973"/>
              <a:gd name="T15" fmla="*/ 41 h 114"/>
              <a:gd name="T16" fmla="*/ 912 w 973"/>
              <a:gd name="T17" fmla="*/ 41 h 114"/>
              <a:gd name="T18" fmla="*/ 911 w 973"/>
              <a:gd name="T19" fmla="*/ 42 h 114"/>
              <a:gd name="T20" fmla="*/ 5 w 973"/>
              <a:gd name="T21" fmla="*/ 114 h 114"/>
              <a:gd name="T22" fmla="*/ 3 w 973"/>
              <a:gd name="T23" fmla="*/ 112 h 114"/>
              <a:gd name="T24" fmla="*/ 2 w 973"/>
              <a:gd name="T25" fmla="*/ 112 h 114"/>
              <a:gd name="T26" fmla="*/ 0 w 973"/>
              <a:gd name="T27" fmla="*/ 111 h 114"/>
              <a:gd name="T28" fmla="*/ 0 w 973"/>
              <a:gd name="T29" fmla="*/ 109 h 114"/>
              <a:gd name="T30" fmla="*/ 0 w 973"/>
              <a:gd name="T31" fmla="*/ 106 h 114"/>
              <a:gd name="T32" fmla="*/ 0 w 973"/>
              <a:gd name="T33" fmla="*/ 105 h 114"/>
              <a:gd name="T34" fmla="*/ 2 w 973"/>
              <a:gd name="T35" fmla="*/ 105 h 114"/>
              <a:gd name="T36" fmla="*/ 5 w 973"/>
              <a:gd name="T37" fmla="*/ 103 h 114"/>
              <a:gd name="T38" fmla="*/ 5 w 973"/>
              <a:gd name="T39" fmla="*/ 103 h 114"/>
              <a:gd name="T40" fmla="*/ 896 w 973"/>
              <a:gd name="T41" fmla="*/ 0 h 114"/>
              <a:gd name="T42" fmla="*/ 973 w 973"/>
              <a:gd name="T43" fmla="*/ 32 h 114"/>
              <a:gd name="T44" fmla="*/ 902 w 973"/>
              <a:gd name="T45" fmla="*/ 76 h 114"/>
              <a:gd name="T46" fmla="*/ 896 w 973"/>
              <a:gd name="T47"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73" h="114">
                <a:moveTo>
                  <a:pt x="5" y="103"/>
                </a:moveTo>
                <a:lnTo>
                  <a:pt x="911" y="33"/>
                </a:lnTo>
                <a:lnTo>
                  <a:pt x="912" y="33"/>
                </a:lnTo>
                <a:lnTo>
                  <a:pt x="914" y="33"/>
                </a:lnTo>
                <a:lnTo>
                  <a:pt x="915" y="35"/>
                </a:lnTo>
                <a:lnTo>
                  <a:pt x="915" y="38"/>
                </a:lnTo>
                <a:lnTo>
                  <a:pt x="915" y="39"/>
                </a:lnTo>
                <a:lnTo>
                  <a:pt x="914" y="41"/>
                </a:lnTo>
                <a:lnTo>
                  <a:pt x="912" y="41"/>
                </a:lnTo>
                <a:lnTo>
                  <a:pt x="911" y="42"/>
                </a:lnTo>
                <a:lnTo>
                  <a:pt x="5" y="114"/>
                </a:lnTo>
                <a:lnTo>
                  <a:pt x="3" y="112"/>
                </a:lnTo>
                <a:lnTo>
                  <a:pt x="2" y="112"/>
                </a:lnTo>
                <a:lnTo>
                  <a:pt x="0" y="111"/>
                </a:lnTo>
                <a:lnTo>
                  <a:pt x="0" y="109"/>
                </a:lnTo>
                <a:lnTo>
                  <a:pt x="0" y="106"/>
                </a:lnTo>
                <a:lnTo>
                  <a:pt x="0" y="105"/>
                </a:lnTo>
                <a:lnTo>
                  <a:pt x="2" y="105"/>
                </a:lnTo>
                <a:lnTo>
                  <a:pt x="5" y="103"/>
                </a:lnTo>
                <a:lnTo>
                  <a:pt x="5" y="103"/>
                </a:lnTo>
                <a:close/>
                <a:moveTo>
                  <a:pt x="896" y="0"/>
                </a:moveTo>
                <a:lnTo>
                  <a:pt x="973" y="32"/>
                </a:lnTo>
                <a:lnTo>
                  <a:pt x="902" y="76"/>
                </a:lnTo>
                <a:lnTo>
                  <a:pt x="896" y="0"/>
                </a:lnTo>
                <a:close/>
              </a:path>
            </a:pathLst>
          </a:custGeom>
          <a:solidFill>
            <a:srgbClr val="000000"/>
          </a:solidFill>
          <a:ln w="3175">
            <a:solidFill>
              <a:srgbClr val="000000"/>
            </a:solidFill>
            <a:prstDash val="solid"/>
            <a:round/>
            <a:headEnd/>
            <a:tailEnd/>
          </a:ln>
        </p:spPr>
        <p:txBody>
          <a:bodyPr/>
          <a:lstStyle/>
          <a:p>
            <a:endParaRPr lang="en-IN"/>
          </a:p>
        </p:txBody>
      </p:sp>
      <p:sp>
        <p:nvSpPr>
          <p:cNvPr id="115797" name="Freeform 85">
            <a:extLst>
              <a:ext uri="{FF2B5EF4-FFF2-40B4-BE49-F238E27FC236}">
                <a16:creationId xmlns:a16="http://schemas.microsoft.com/office/drawing/2014/main" id="{367ABFB1-EEA6-6EF4-2466-359F6823BA95}"/>
              </a:ext>
            </a:extLst>
          </p:cNvPr>
          <p:cNvSpPr>
            <a:spLocks noEditPoints="1"/>
          </p:cNvSpPr>
          <p:nvPr/>
        </p:nvSpPr>
        <p:spPr bwMode="auto">
          <a:xfrm>
            <a:off x="8680451" y="4478338"/>
            <a:ext cx="1243013" cy="419100"/>
          </a:xfrm>
          <a:custGeom>
            <a:avLst/>
            <a:gdLst>
              <a:gd name="T0" fmla="*/ 6 w 783"/>
              <a:gd name="T1" fmla="*/ 0 h 264"/>
              <a:gd name="T2" fmla="*/ 724 w 783"/>
              <a:gd name="T3" fmla="*/ 228 h 264"/>
              <a:gd name="T4" fmla="*/ 725 w 783"/>
              <a:gd name="T5" fmla="*/ 229 h 264"/>
              <a:gd name="T6" fmla="*/ 727 w 783"/>
              <a:gd name="T7" fmla="*/ 231 h 264"/>
              <a:gd name="T8" fmla="*/ 728 w 783"/>
              <a:gd name="T9" fmla="*/ 232 h 264"/>
              <a:gd name="T10" fmla="*/ 728 w 783"/>
              <a:gd name="T11" fmla="*/ 234 h 264"/>
              <a:gd name="T12" fmla="*/ 727 w 783"/>
              <a:gd name="T13" fmla="*/ 235 h 264"/>
              <a:gd name="T14" fmla="*/ 725 w 783"/>
              <a:gd name="T15" fmla="*/ 237 h 264"/>
              <a:gd name="T16" fmla="*/ 724 w 783"/>
              <a:gd name="T17" fmla="*/ 237 h 264"/>
              <a:gd name="T18" fmla="*/ 722 w 783"/>
              <a:gd name="T19" fmla="*/ 237 h 264"/>
              <a:gd name="T20" fmla="*/ 3 w 783"/>
              <a:gd name="T21" fmla="*/ 9 h 264"/>
              <a:gd name="T22" fmla="*/ 2 w 783"/>
              <a:gd name="T23" fmla="*/ 8 h 264"/>
              <a:gd name="T24" fmla="*/ 0 w 783"/>
              <a:gd name="T25" fmla="*/ 8 h 264"/>
              <a:gd name="T26" fmla="*/ 0 w 783"/>
              <a:gd name="T27" fmla="*/ 5 h 264"/>
              <a:gd name="T28" fmla="*/ 0 w 783"/>
              <a:gd name="T29" fmla="*/ 3 h 264"/>
              <a:gd name="T30" fmla="*/ 0 w 783"/>
              <a:gd name="T31" fmla="*/ 2 h 264"/>
              <a:gd name="T32" fmla="*/ 2 w 783"/>
              <a:gd name="T33" fmla="*/ 0 h 264"/>
              <a:gd name="T34" fmla="*/ 3 w 783"/>
              <a:gd name="T35" fmla="*/ 0 h 264"/>
              <a:gd name="T36" fmla="*/ 6 w 783"/>
              <a:gd name="T37" fmla="*/ 0 h 264"/>
              <a:gd name="T38" fmla="*/ 6 w 783"/>
              <a:gd name="T39" fmla="*/ 0 h 264"/>
              <a:gd name="T40" fmla="*/ 722 w 783"/>
              <a:gd name="T41" fmla="*/ 193 h 264"/>
              <a:gd name="T42" fmla="*/ 783 w 783"/>
              <a:gd name="T43" fmla="*/ 252 h 264"/>
              <a:gd name="T44" fmla="*/ 700 w 783"/>
              <a:gd name="T45" fmla="*/ 264 h 264"/>
              <a:gd name="T46" fmla="*/ 722 w 783"/>
              <a:gd name="T47" fmla="*/ 193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83" h="264">
                <a:moveTo>
                  <a:pt x="6" y="0"/>
                </a:moveTo>
                <a:lnTo>
                  <a:pt x="724" y="228"/>
                </a:lnTo>
                <a:lnTo>
                  <a:pt x="725" y="229"/>
                </a:lnTo>
                <a:lnTo>
                  <a:pt x="727" y="231"/>
                </a:lnTo>
                <a:lnTo>
                  <a:pt x="728" y="232"/>
                </a:lnTo>
                <a:lnTo>
                  <a:pt x="728" y="234"/>
                </a:lnTo>
                <a:lnTo>
                  <a:pt x="727" y="235"/>
                </a:lnTo>
                <a:lnTo>
                  <a:pt x="725" y="237"/>
                </a:lnTo>
                <a:lnTo>
                  <a:pt x="724" y="237"/>
                </a:lnTo>
                <a:lnTo>
                  <a:pt x="722" y="237"/>
                </a:lnTo>
                <a:lnTo>
                  <a:pt x="3" y="9"/>
                </a:lnTo>
                <a:lnTo>
                  <a:pt x="2" y="8"/>
                </a:lnTo>
                <a:lnTo>
                  <a:pt x="0" y="8"/>
                </a:lnTo>
                <a:lnTo>
                  <a:pt x="0" y="5"/>
                </a:lnTo>
                <a:lnTo>
                  <a:pt x="0" y="3"/>
                </a:lnTo>
                <a:lnTo>
                  <a:pt x="0" y="2"/>
                </a:lnTo>
                <a:lnTo>
                  <a:pt x="2" y="0"/>
                </a:lnTo>
                <a:lnTo>
                  <a:pt x="3" y="0"/>
                </a:lnTo>
                <a:lnTo>
                  <a:pt x="6" y="0"/>
                </a:lnTo>
                <a:lnTo>
                  <a:pt x="6" y="0"/>
                </a:lnTo>
                <a:close/>
                <a:moveTo>
                  <a:pt x="722" y="193"/>
                </a:moveTo>
                <a:lnTo>
                  <a:pt x="783" y="252"/>
                </a:lnTo>
                <a:lnTo>
                  <a:pt x="700" y="264"/>
                </a:lnTo>
                <a:lnTo>
                  <a:pt x="722" y="193"/>
                </a:lnTo>
                <a:close/>
              </a:path>
            </a:pathLst>
          </a:custGeom>
          <a:solidFill>
            <a:srgbClr val="000000"/>
          </a:solidFill>
          <a:ln w="3175">
            <a:solidFill>
              <a:srgbClr val="000000"/>
            </a:solidFill>
            <a:prstDash val="solid"/>
            <a:round/>
            <a:headEnd/>
            <a:tailEnd/>
          </a:ln>
        </p:spPr>
        <p:txBody>
          <a:bodyPr/>
          <a:lstStyle/>
          <a:p>
            <a:endParaRPr lang="en-IN"/>
          </a:p>
        </p:txBody>
      </p:sp>
      <p:sp>
        <p:nvSpPr>
          <p:cNvPr id="115798" name="Freeform 86">
            <a:extLst>
              <a:ext uri="{FF2B5EF4-FFF2-40B4-BE49-F238E27FC236}">
                <a16:creationId xmlns:a16="http://schemas.microsoft.com/office/drawing/2014/main" id="{7DCF85B3-21FA-BE33-5268-B99582084C8D}"/>
              </a:ext>
            </a:extLst>
          </p:cNvPr>
          <p:cNvSpPr>
            <a:spLocks noEditPoints="1"/>
          </p:cNvSpPr>
          <p:nvPr/>
        </p:nvSpPr>
        <p:spPr bwMode="auto">
          <a:xfrm>
            <a:off x="9042400" y="4967289"/>
            <a:ext cx="820738" cy="566737"/>
          </a:xfrm>
          <a:custGeom>
            <a:avLst/>
            <a:gdLst>
              <a:gd name="T0" fmla="*/ 2 w 517"/>
              <a:gd name="T1" fmla="*/ 348 h 357"/>
              <a:gd name="T2" fmla="*/ 462 w 517"/>
              <a:gd name="T3" fmla="*/ 32 h 357"/>
              <a:gd name="T4" fmla="*/ 464 w 517"/>
              <a:gd name="T5" fmla="*/ 32 h 357"/>
              <a:gd name="T6" fmla="*/ 466 w 517"/>
              <a:gd name="T7" fmla="*/ 32 h 357"/>
              <a:gd name="T8" fmla="*/ 467 w 517"/>
              <a:gd name="T9" fmla="*/ 32 h 357"/>
              <a:gd name="T10" fmla="*/ 469 w 517"/>
              <a:gd name="T11" fmla="*/ 34 h 357"/>
              <a:gd name="T12" fmla="*/ 470 w 517"/>
              <a:gd name="T13" fmla="*/ 35 h 357"/>
              <a:gd name="T14" fmla="*/ 470 w 517"/>
              <a:gd name="T15" fmla="*/ 37 h 357"/>
              <a:gd name="T16" fmla="*/ 469 w 517"/>
              <a:gd name="T17" fmla="*/ 38 h 357"/>
              <a:gd name="T18" fmla="*/ 469 w 517"/>
              <a:gd name="T19" fmla="*/ 40 h 357"/>
              <a:gd name="T20" fmla="*/ 8 w 517"/>
              <a:gd name="T21" fmla="*/ 355 h 357"/>
              <a:gd name="T22" fmla="*/ 5 w 517"/>
              <a:gd name="T23" fmla="*/ 357 h 357"/>
              <a:gd name="T24" fmla="*/ 3 w 517"/>
              <a:gd name="T25" fmla="*/ 355 h 357"/>
              <a:gd name="T26" fmla="*/ 2 w 517"/>
              <a:gd name="T27" fmla="*/ 355 h 357"/>
              <a:gd name="T28" fmla="*/ 0 w 517"/>
              <a:gd name="T29" fmla="*/ 354 h 357"/>
              <a:gd name="T30" fmla="*/ 0 w 517"/>
              <a:gd name="T31" fmla="*/ 352 h 357"/>
              <a:gd name="T32" fmla="*/ 0 w 517"/>
              <a:gd name="T33" fmla="*/ 351 h 357"/>
              <a:gd name="T34" fmla="*/ 0 w 517"/>
              <a:gd name="T35" fmla="*/ 349 h 357"/>
              <a:gd name="T36" fmla="*/ 2 w 517"/>
              <a:gd name="T37" fmla="*/ 348 h 357"/>
              <a:gd name="T38" fmla="*/ 2 w 517"/>
              <a:gd name="T39" fmla="*/ 348 h 357"/>
              <a:gd name="T40" fmla="*/ 434 w 517"/>
              <a:gd name="T41" fmla="*/ 12 h 357"/>
              <a:gd name="T42" fmla="*/ 517 w 517"/>
              <a:gd name="T43" fmla="*/ 0 h 357"/>
              <a:gd name="T44" fmla="*/ 476 w 517"/>
              <a:gd name="T45" fmla="*/ 75 h 357"/>
              <a:gd name="T46" fmla="*/ 434 w 517"/>
              <a:gd name="T47" fmla="*/ 12 h 3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17" h="357">
                <a:moveTo>
                  <a:pt x="2" y="348"/>
                </a:moveTo>
                <a:lnTo>
                  <a:pt x="462" y="32"/>
                </a:lnTo>
                <a:lnTo>
                  <a:pt x="464" y="32"/>
                </a:lnTo>
                <a:lnTo>
                  <a:pt x="466" y="32"/>
                </a:lnTo>
                <a:lnTo>
                  <a:pt x="467" y="32"/>
                </a:lnTo>
                <a:lnTo>
                  <a:pt x="469" y="34"/>
                </a:lnTo>
                <a:lnTo>
                  <a:pt x="470" y="35"/>
                </a:lnTo>
                <a:lnTo>
                  <a:pt x="470" y="37"/>
                </a:lnTo>
                <a:lnTo>
                  <a:pt x="469" y="38"/>
                </a:lnTo>
                <a:lnTo>
                  <a:pt x="469" y="40"/>
                </a:lnTo>
                <a:lnTo>
                  <a:pt x="8" y="355"/>
                </a:lnTo>
                <a:lnTo>
                  <a:pt x="5" y="357"/>
                </a:lnTo>
                <a:lnTo>
                  <a:pt x="3" y="355"/>
                </a:lnTo>
                <a:lnTo>
                  <a:pt x="2" y="355"/>
                </a:lnTo>
                <a:lnTo>
                  <a:pt x="0" y="354"/>
                </a:lnTo>
                <a:lnTo>
                  <a:pt x="0" y="352"/>
                </a:lnTo>
                <a:lnTo>
                  <a:pt x="0" y="351"/>
                </a:lnTo>
                <a:lnTo>
                  <a:pt x="0" y="349"/>
                </a:lnTo>
                <a:lnTo>
                  <a:pt x="2" y="348"/>
                </a:lnTo>
                <a:lnTo>
                  <a:pt x="2" y="348"/>
                </a:lnTo>
                <a:close/>
                <a:moveTo>
                  <a:pt x="434" y="12"/>
                </a:moveTo>
                <a:lnTo>
                  <a:pt x="517" y="0"/>
                </a:lnTo>
                <a:lnTo>
                  <a:pt x="476" y="75"/>
                </a:lnTo>
                <a:lnTo>
                  <a:pt x="434" y="12"/>
                </a:lnTo>
                <a:close/>
              </a:path>
            </a:pathLst>
          </a:custGeom>
          <a:solidFill>
            <a:srgbClr val="000000"/>
          </a:solidFill>
          <a:ln w="3175">
            <a:solidFill>
              <a:srgbClr val="000000"/>
            </a:solidFill>
            <a:prstDash val="solid"/>
            <a:round/>
            <a:headEnd/>
            <a:tailEnd/>
          </a:ln>
        </p:spPr>
        <p:txBody>
          <a:bodyPr/>
          <a:lstStyle/>
          <a:p>
            <a:endParaRPr lang="en-IN"/>
          </a:p>
        </p:txBody>
      </p:sp>
      <p:sp>
        <p:nvSpPr>
          <p:cNvPr id="115799" name="Rectangle 87">
            <a:extLst>
              <a:ext uri="{FF2B5EF4-FFF2-40B4-BE49-F238E27FC236}">
                <a16:creationId xmlns:a16="http://schemas.microsoft.com/office/drawing/2014/main" id="{DFC53BB1-5C1A-2B32-E255-0480A6CAEC8E}"/>
              </a:ext>
            </a:extLst>
          </p:cNvPr>
          <p:cNvSpPr>
            <a:spLocks noChangeArrowheads="1"/>
          </p:cNvSpPr>
          <p:nvPr/>
        </p:nvSpPr>
        <p:spPr bwMode="auto">
          <a:xfrm>
            <a:off x="5581650" y="5048251"/>
            <a:ext cx="20839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FF33CC"/>
                </a:solidFill>
              </a:rPr>
              <a:t>16</a:t>
            </a:r>
            <a:endParaRPr lang="en-US" altLang="en-US">
              <a:solidFill>
                <a:srgbClr val="FF33CC"/>
              </a:solidFill>
            </a:endParaRPr>
          </a:p>
        </p:txBody>
      </p:sp>
      <p:sp>
        <p:nvSpPr>
          <p:cNvPr id="115800" name="Rectangle 88">
            <a:extLst>
              <a:ext uri="{FF2B5EF4-FFF2-40B4-BE49-F238E27FC236}">
                <a16:creationId xmlns:a16="http://schemas.microsoft.com/office/drawing/2014/main" id="{75212D6D-8B6A-7841-438D-6546BF604464}"/>
              </a:ext>
            </a:extLst>
          </p:cNvPr>
          <p:cNvSpPr>
            <a:spLocks noChangeArrowheads="1"/>
          </p:cNvSpPr>
          <p:nvPr/>
        </p:nvSpPr>
        <p:spPr bwMode="auto">
          <a:xfrm>
            <a:off x="5746750" y="5646739"/>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t>6</a:t>
            </a:r>
            <a:endParaRPr lang="en-US" altLang="en-US"/>
          </a:p>
        </p:txBody>
      </p:sp>
      <p:sp>
        <p:nvSpPr>
          <p:cNvPr id="115802" name="Rectangle 90">
            <a:extLst>
              <a:ext uri="{FF2B5EF4-FFF2-40B4-BE49-F238E27FC236}">
                <a16:creationId xmlns:a16="http://schemas.microsoft.com/office/drawing/2014/main" id="{EDEAFAAA-D85D-D07B-9DDC-FBBBB8338418}"/>
              </a:ext>
            </a:extLst>
          </p:cNvPr>
          <p:cNvSpPr>
            <a:spLocks noChangeArrowheads="1"/>
          </p:cNvSpPr>
          <p:nvPr/>
        </p:nvSpPr>
        <p:spPr bwMode="auto">
          <a:xfrm>
            <a:off x="7527925" y="4835526"/>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t>0</a:t>
            </a:r>
            <a:endParaRPr lang="en-US" altLang="en-US"/>
          </a:p>
        </p:txBody>
      </p:sp>
      <p:sp>
        <p:nvSpPr>
          <p:cNvPr id="115803" name="Rectangle 91">
            <a:extLst>
              <a:ext uri="{FF2B5EF4-FFF2-40B4-BE49-F238E27FC236}">
                <a16:creationId xmlns:a16="http://schemas.microsoft.com/office/drawing/2014/main" id="{4009C1C7-82C4-82BD-CA45-6730D3AAA882}"/>
              </a:ext>
            </a:extLst>
          </p:cNvPr>
          <p:cNvSpPr>
            <a:spLocks noChangeArrowheads="1"/>
          </p:cNvSpPr>
          <p:nvPr/>
        </p:nvSpPr>
        <p:spPr bwMode="auto">
          <a:xfrm>
            <a:off x="9158288" y="4656139"/>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t>8</a:t>
            </a:r>
            <a:endParaRPr lang="en-US" altLang="en-US"/>
          </a:p>
        </p:txBody>
      </p:sp>
      <p:sp>
        <p:nvSpPr>
          <p:cNvPr id="115804" name="Rectangle 92">
            <a:extLst>
              <a:ext uri="{FF2B5EF4-FFF2-40B4-BE49-F238E27FC236}">
                <a16:creationId xmlns:a16="http://schemas.microsoft.com/office/drawing/2014/main" id="{C9ED1C72-4B77-450F-C53A-388788C77009}"/>
              </a:ext>
            </a:extLst>
          </p:cNvPr>
          <p:cNvSpPr>
            <a:spLocks noChangeArrowheads="1"/>
          </p:cNvSpPr>
          <p:nvPr/>
        </p:nvSpPr>
        <p:spPr bwMode="auto">
          <a:xfrm>
            <a:off x="9163050" y="5100639"/>
            <a:ext cx="20839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FF33CC"/>
                </a:solidFill>
              </a:rPr>
              <a:t>14</a:t>
            </a:r>
            <a:endParaRPr lang="en-US" altLang="en-US">
              <a:solidFill>
                <a:srgbClr val="FF33CC"/>
              </a:solidFill>
            </a:endParaRPr>
          </a:p>
        </p:txBody>
      </p:sp>
      <p:sp>
        <p:nvSpPr>
          <p:cNvPr id="115805" name="Rectangle 93">
            <a:extLst>
              <a:ext uri="{FF2B5EF4-FFF2-40B4-BE49-F238E27FC236}">
                <a16:creationId xmlns:a16="http://schemas.microsoft.com/office/drawing/2014/main" id="{ECE40F9C-7584-57BF-E6DD-52B0705C0BFA}"/>
              </a:ext>
            </a:extLst>
          </p:cNvPr>
          <p:cNvSpPr>
            <a:spLocks noChangeArrowheads="1"/>
          </p:cNvSpPr>
          <p:nvPr/>
        </p:nvSpPr>
        <p:spPr bwMode="auto">
          <a:xfrm>
            <a:off x="7539038" y="5746751"/>
            <a:ext cx="20839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solidFill>
                  <a:srgbClr val="FF33CC"/>
                </a:solidFill>
              </a:rPr>
              <a:t>10</a:t>
            </a:r>
            <a:endParaRPr lang="en-US" altLang="en-US">
              <a:solidFill>
                <a:srgbClr val="FF33CC"/>
              </a:solidFill>
            </a:endParaRPr>
          </a:p>
        </p:txBody>
      </p:sp>
      <p:sp>
        <p:nvSpPr>
          <p:cNvPr id="115806" name="Freeform 94">
            <a:extLst>
              <a:ext uri="{FF2B5EF4-FFF2-40B4-BE49-F238E27FC236}">
                <a16:creationId xmlns:a16="http://schemas.microsoft.com/office/drawing/2014/main" id="{5CB2CFC5-4A38-B213-D1FB-0DB936734073}"/>
              </a:ext>
            </a:extLst>
          </p:cNvPr>
          <p:cNvSpPr>
            <a:spLocks/>
          </p:cNvSpPr>
          <p:nvPr/>
        </p:nvSpPr>
        <p:spPr bwMode="auto">
          <a:xfrm>
            <a:off x="10015539" y="4741863"/>
            <a:ext cx="269875" cy="271462"/>
          </a:xfrm>
          <a:custGeom>
            <a:avLst/>
            <a:gdLst>
              <a:gd name="T0" fmla="*/ 76 w 170"/>
              <a:gd name="T1" fmla="*/ 1 h 171"/>
              <a:gd name="T2" fmla="*/ 59 w 170"/>
              <a:gd name="T3" fmla="*/ 4 h 171"/>
              <a:gd name="T4" fmla="*/ 44 w 170"/>
              <a:gd name="T5" fmla="*/ 10 h 171"/>
              <a:gd name="T6" fmla="*/ 30 w 170"/>
              <a:gd name="T7" fmla="*/ 19 h 171"/>
              <a:gd name="T8" fmla="*/ 18 w 170"/>
              <a:gd name="T9" fmla="*/ 31 h 171"/>
              <a:gd name="T10" fmla="*/ 9 w 170"/>
              <a:gd name="T11" fmla="*/ 45 h 171"/>
              <a:gd name="T12" fmla="*/ 3 w 170"/>
              <a:gd name="T13" fmla="*/ 60 h 171"/>
              <a:gd name="T14" fmla="*/ 0 w 170"/>
              <a:gd name="T15" fmla="*/ 77 h 171"/>
              <a:gd name="T16" fmla="*/ 0 w 170"/>
              <a:gd name="T17" fmla="*/ 94 h 171"/>
              <a:gd name="T18" fmla="*/ 3 w 170"/>
              <a:gd name="T19" fmla="*/ 110 h 171"/>
              <a:gd name="T20" fmla="*/ 9 w 170"/>
              <a:gd name="T21" fmla="*/ 126 h 171"/>
              <a:gd name="T22" fmla="*/ 18 w 170"/>
              <a:gd name="T23" fmla="*/ 139 h 171"/>
              <a:gd name="T24" fmla="*/ 30 w 170"/>
              <a:gd name="T25" fmla="*/ 151 h 171"/>
              <a:gd name="T26" fmla="*/ 44 w 170"/>
              <a:gd name="T27" fmla="*/ 160 h 171"/>
              <a:gd name="T28" fmla="*/ 59 w 170"/>
              <a:gd name="T29" fmla="*/ 167 h 171"/>
              <a:gd name="T30" fmla="*/ 76 w 170"/>
              <a:gd name="T31" fmla="*/ 170 h 171"/>
              <a:gd name="T32" fmla="*/ 94 w 170"/>
              <a:gd name="T33" fmla="*/ 170 h 171"/>
              <a:gd name="T34" fmla="*/ 111 w 170"/>
              <a:gd name="T35" fmla="*/ 167 h 171"/>
              <a:gd name="T36" fmla="*/ 126 w 170"/>
              <a:gd name="T37" fmla="*/ 160 h 171"/>
              <a:gd name="T38" fmla="*/ 140 w 170"/>
              <a:gd name="T39" fmla="*/ 151 h 171"/>
              <a:gd name="T40" fmla="*/ 150 w 170"/>
              <a:gd name="T41" fmla="*/ 139 h 171"/>
              <a:gd name="T42" fmla="*/ 160 w 170"/>
              <a:gd name="T43" fmla="*/ 126 h 171"/>
              <a:gd name="T44" fmla="*/ 167 w 170"/>
              <a:gd name="T45" fmla="*/ 110 h 171"/>
              <a:gd name="T46" fmla="*/ 170 w 170"/>
              <a:gd name="T47" fmla="*/ 94 h 171"/>
              <a:gd name="T48" fmla="*/ 170 w 170"/>
              <a:gd name="T49" fmla="*/ 77 h 171"/>
              <a:gd name="T50" fmla="*/ 167 w 170"/>
              <a:gd name="T51" fmla="*/ 60 h 171"/>
              <a:gd name="T52" fmla="*/ 160 w 170"/>
              <a:gd name="T53" fmla="*/ 45 h 171"/>
              <a:gd name="T54" fmla="*/ 150 w 170"/>
              <a:gd name="T55" fmla="*/ 31 h 171"/>
              <a:gd name="T56" fmla="*/ 140 w 170"/>
              <a:gd name="T57" fmla="*/ 19 h 171"/>
              <a:gd name="T58" fmla="*/ 126 w 170"/>
              <a:gd name="T59" fmla="*/ 10 h 171"/>
              <a:gd name="T60" fmla="*/ 111 w 170"/>
              <a:gd name="T61" fmla="*/ 4 h 171"/>
              <a:gd name="T62" fmla="*/ 94 w 170"/>
              <a:gd name="T63" fmla="*/ 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 h="171">
                <a:moveTo>
                  <a:pt x="85" y="0"/>
                </a:moveTo>
                <a:lnTo>
                  <a:pt x="76" y="1"/>
                </a:lnTo>
                <a:lnTo>
                  <a:pt x="67" y="1"/>
                </a:lnTo>
                <a:lnTo>
                  <a:pt x="59" y="4"/>
                </a:lnTo>
                <a:lnTo>
                  <a:pt x="52" y="7"/>
                </a:lnTo>
                <a:lnTo>
                  <a:pt x="44" y="10"/>
                </a:lnTo>
                <a:lnTo>
                  <a:pt x="36" y="15"/>
                </a:lnTo>
                <a:lnTo>
                  <a:pt x="30" y="19"/>
                </a:lnTo>
                <a:lnTo>
                  <a:pt x="24" y="25"/>
                </a:lnTo>
                <a:lnTo>
                  <a:pt x="18" y="31"/>
                </a:lnTo>
                <a:lnTo>
                  <a:pt x="14" y="37"/>
                </a:lnTo>
                <a:lnTo>
                  <a:pt x="9" y="45"/>
                </a:lnTo>
                <a:lnTo>
                  <a:pt x="6" y="53"/>
                </a:lnTo>
                <a:lnTo>
                  <a:pt x="3" y="60"/>
                </a:lnTo>
                <a:lnTo>
                  <a:pt x="1" y="68"/>
                </a:lnTo>
                <a:lnTo>
                  <a:pt x="0" y="77"/>
                </a:lnTo>
                <a:lnTo>
                  <a:pt x="0" y="86"/>
                </a:lnTo>
                <a:lnTo>
                  <a:pt x="0" y="94"/>
                </a:lnTo>
                <a:lnTo>
                  <a:pt x="1" y="103"/>
                </a:lnTo>
                <a:lnTo>
                  <a:pt x="3" y="110"/>
                </a:lnTo>
                <a:lnTo>
                  <a:pt x="6" y="118"/>
                </a:lnTo>
                <a:lnTo>
                  <a:pt x="9" y="126"/>
                </a:lnTo>
                <a:lnTo>
                  <a:pt x="14" y="133"/>
                </a:lnTo>
                <a:lnTo>
                  <a:pt x="18" y="139"/>
                </a:lnTo>
                <a:lnTo>
                  <a:pt x="24" y="145"/>
                </a:lnTo>
                <a:lnTo>
                  <a:pt x="30" y="151"/>
                </a:lnTo>
                <a:lnTo>
                  <a:pt x="36" y="156"/>
                </a:lnTo>
                <a:lnTo>
                  <a:pt x="44" y="160"/>
                </a:lnTo>
                <a:lnTo>
                  <a:pt x="52" y="163"/>
                </a:lnTo>
                <a:lnTo>
                  <a:pt x="59" y="167"/>
                </a:lnTo>
                <a:lnTo>
                  <a:pt x="67" y="170"/>
                </a:lnTo>
                <a:lnTo>
                  <a:pt x="76" y="170"/>
                </a:lnTo>
                <a:lnTo>
                  <a:pt x="85" y="171"/>
                </a:lnTo>
                <a:lnTo>
                  <a:pt x="94" y="170"/>
                </a:lnTo>
                <a:lnTo>
                  <a:pt x="102" y="170"/>
                </a:lnTo>
                <a:lnTo>
                  <a:pt x="111" y="167"/>
                </a:lnTo>
                <a:lnTo>
                  <a:pt x="119" y="163"/>
                </a:lnTo>
                <a:lnTo>
                  <a:pt x="126" y="160"/>
                </a:lnTo>
                <a:lnTo>
                  <a:pt x="132" y="156"/>
                </a:lnTo>
                <a:lnTo>
                  <a:pt x="140" y="151"/>
                </a:lnTo>
                <a:lnTo>
                  <a:pt x="146" y="145"/>
                </a:lnTo>
                <a:lnTo>
                  <a:pt x="150" y="139"/>
                </a:lnTo>
                <a:lnTo>
                  <a:pt x="155" y="133"/>
                </a:lnTo>
                <a:lnTo>
                  <a:pt x="160" y="126"/>
                </a:lnTo>
                <a:lnTo>
                  <a:pt x="164" y="118"/>
                </a:lnTo>
                <a:lnTo>
                  <a:pt x="167" y="110"/>
                </a:lnTo>
                <a:lnTo>
                  <a:pt x="169" y="103"/>
                </a:lnTo>
                <a:lnTo>
                  <a:pt x="170" y="94"/>
                </a:lnTo>
                <a:lnTo>
                  <a:pt x="170" y="86"/>
                </a:lnTo>
                <a:lnTo>
                  <a:pt x="170" y="77"/>
                </a:lnTo>
                <a:lnTo>
                  <a:pt x="169" y="68"/>
                </a:lnTo>
                <a:lnTo>
                  <a:pt x="167" y="60"/>
                </a:lnTo>
                <a:lnTo>
                  <a:pt x="164" y="53"/>
                </a:lnTo>
                <a:lnTo>
                  <a:pt x="160" y="45"/>
                </a:lnTo>
                <a:lnTo>
                  <a:pt x="155" y="37"/>
                </a:lnTo>
                <a:lnTo>
                  <a:pt x="150" y="31"/>
                </a:lnTo>
                <a:lnTo>
                  <a:pt x="146" y="25"/>
                </a:lnTo>
                <a:lnTo>
                  <a:pt x="140" y="19"/>
                </a:lnTo>
                <a:lnTo>
                  <a:pt x="132" y="15"/>
                </a:lnTo>
                <a:lnTo>
                  <a:pt x="126" y="10"/>
                </a:lnTo>
                <a:lnTo>
                  <a:pt x="119" y="7"/>
                </a:lnTo>
                <a:lnTo>
                  <a:pt x="111" y="4"/>
                </a:lnTo>
                <a:lnTo>
                  <a:pt x="102" y="1"/>
                </a:lnTo>
                <a:lnTo>
                  <a:pt x="94" y="1"/>
                </a:lnTo>
                <a:lnTo>
                  <a:pt x="85" y="0"/>
                </a:lnTo>
                <a:close/>
              </a:path>
            </a:pathLst>
          </a:custGeom>
          <a:solidFill>
            <a:srgbClr val="00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5807" name="Freeform 95">
            <a:extLst>
              <a:ext uri="{FF2B5EF4-FFF2-40B4-BE49-F238E27FC236}">
                <a16:creationId xmlns:a16="http://schemas.microsoft.com/office/drawing/2014/main" id="{09F478DE-42E0-5530-DC88-79AB7D7978AF}"/>
              </a:ext>
            </a:extLst>
          </p:cNvPr>
          <p:cNvSpPr>
            <a:spLocks/>
          </p:cNvSpPr>
          <p:nvPr/>
        </p:nvSpPr>
        <p:spPr bwMode="auto">
          <a:xfrm>
            <a:off x="10015539" y="4741863"/>
            <a:ext cx="269875" cy="271462"/>
          </a:xfrm>
          <a:custGeom>
            <a:avLst/>
            <a:gdLst>
              <a:gd name="T0" fmla="*/ 76 w 170"/>
              <a:gd name="T1" fmla="*/ 1 h 171"/>
              <a:gd name="T2" fmla="*/ 59 w 170"/>
              <a:gd name="T3" fmla="*/ 4 h 171"/>
              <a:gd name="T4" fmla="*/ 44 w 170"/>
              <a:gd name="T5" fmla="*/ 10 h 171"/>
              <a:gd name="T6" fmla="*/ 30 w 170"/>
              <a:gd name="T7" fmla="*/ 19 h 171"/>
              <a:gd name="T8" fmla="*/ 18 w 170"/>
              <a:gd name="T9" fmla="*/ 31 h 171"/>
              <a:gd name="T10" fmla="*/ 9 w 170"/>
              <a:gd name="T11" fmla="*/ 45 h 171"/>
              <a:gd name="T12" fmla="*/ 3 w 170"/>
              <a:gd name="T13" fmla="*/ 60 h 171"/>
              <a:gd name="T14" fmla="*/ 0 w 170"/>
              <a:gd name="T15" fmla="*/ 77 h 171"/>
              <a:gd name="T16" fmla="*/ 0 w 170"/>
              <a:gd name="T17" fmla="*/ 94 h 171"/>
              <a:gd name="T18" fmla="*/ 3 w 170"/>
              <a:gd name="T19" fmla="*/ 110 h 171"/>
              <a:gd name="T20" fmla="*/ 9 w 170"/>
              <a:gd name="T21" fmla="*/ 126 h 171"/>
              <a:gd name="T22" fmla="*/ 18 w 170"/>
              <a:gd name="T23" fmla="*/ 139 h 171"/>
              <a:gd name="T24" fmla="*/ 30 w 170"/>
              <a:gd name="T25" fmla="*/ 151 h 171"/>
              <a:gd name="T26" fmla="*/ 44 w 170"/>
              <a:gd name="T27" fmla="*/ 160 h 171"/>
              <a:gd name="T28" fmla="*/ 59 w 170"/>
              <a:gd name="T29" fmla="*/ 167 h 171"/>
              <a:gd name="T30" fmla="*/ 76 w 170"/>
              <a:gd name="T31" fmla="*/ 170 h 171"/>
              <a:gd name="T32" fmla="*/ 94 w 170"/>
              <a:gd name="T33" fmla="*/ 170 h 171"/>
              <a:gd name="T34" fmla="*/ 111 w 170"/>
              <a:gd name="T35" fmla="*/ 167 h 171"/>
              <a:gd name="T36" fmla="*/ 126 w 170"/>
              <a:gd name="T37" fmla="*/ 160 h 171"/>
              <a:gd name="T38" fmla="*/ 140 w 170"/>
              <a:gd name="T39" fmla="*/ 151 h 171"/>
              <a:gd name="T40" fmla="*/ 150 w 170"/>
              <a:gd name="T41" fmla="*/ 139 h 171"/>
              <a:gd name="T42" fmla="*/ 160 w 170"/>
              <a:gd name="T43" fmla="*/ 126 h 171"/>
              <a:gd name="T44" fmla="*/ 167 w 170"/>
              <a:gd name="T45" fmla="*/ 110 h 171"/>
              <a:gd name="T46" fmla="*/ 170 w 170"/>
              <a:gd name="T47" fmla="*/ 94 h 171"/>
              <a:gd name="T48" fmla="*/ 170 w 170"/>
              <a:gd name="T49" fmla="*/ 77 h 171"/>
              <a:gd name="T50" fmla="*/ 167 w 170"/>
              <a:gd name="T51" fmla="*/ 60 h 171"/>
              <a:gd name="T52" fmla="*/ 160 w 170"/>
              <a:gd name="T53" fmla="*/ 45 h 171"/>
              <a:gd name="T54" fmla="*/ 150 w 170"/>
              <a:gd name="T55" fmla="*/ 31 h 171"/>
              <a:gd name="T56" fmla="*/ 140 w 170"/>
              <a:gd name="T57" fmla="*/ 19 h 171"/>
              <a:gd name="T58" fmla="*/ 126 w 170"/>
              <a:gd name="T59" fmla="*/ 10 h 171"/>
              <a:gd name="T60" fmla="*/ 111 w 170"/>
              <a:gd name="T61" fmla="*/ 4 h 171"/>
              <a:gd name="T62" fmla="*/ 94 w 170"/>
              <a:gd name="T63" fmla="*/ 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 h="171">
                <a:moveTo>
                  <a:pt x="85" y="0"/>
                </a:moveTo>
                <a:lnTo>
                  <a:pt x="76" y="1"/>
                </a:lnTo>
                <a:lnTo>
                  <a:pt x="67" y="1"/>
                </a:lnTo>
                <a:lnTo>
                  <a:pt x="59" y="4"/>
                </a:lnTo>
                <a:lnTo>
                  <a:pt x="52" y="7"/>
                </a:lnTo>
                <a:lnTo>
                  <a:pt x="44" y="10"/>
                </a:lnTo>
                <a:lnTo>
                  <a:pt x="36" y="15"/>
                </a:lnTo>
                <a:lnTo>
                  <a:pt x="30" y="19"/>
                </a:lnTo>
                <a:lnTo>
                  <a:pt x="24" y="25"/>
                </a:lnTo>
                <a:lnTo>
                  <a:pt x="18" y="31"/>
                </a:lnTo>
                <a:lnTo>
                  <a:pt x="14" y="37"/>
                </a:lnTo>
                <a:lnTo>
                  <a:pt x="9" y="45"/>
                </a:lnTo>
                <a:lnTo>
                  <a:pt x="6" y="53"/>
                </a:lnTo>
                <a:lnTo>
                  <a:pt x="3" y="60"/>
                </a:lnTo>
                <a:lnTo>
                  <a:pt x="1" y="68"/>
                </a:lnTo>
                <a:lnTo>
                  <a:pt x="0" y="77"/>
                </a:lnTo>
                <a:lnTo>
                  <a:pt x="0" y="86"/>
                </a:lnTo>
                <a:lnTo>
                  <a:pt x="0" y="94"/>
                </a:lnTo>
                <a:lnTo>
                  <a:pt x="1" y="103"/>
                </a:lnTo>
                <a:lnTo>
                  <a:pt x="3" y="110"/>
                </a:lnTo>
                <a:lnTo>
                  <a:pt x="6" y="118"/>
                </a:lnTo>
                <a:lnTo>
                  <a:pt x="9" y="126"/>
                </a:lnTo>
                <a:lnTo>
                  <a:pt x="14" y="133"/>
                </a:lnTo>
                <a:lnTo>
                  <a:pt x="18" y="139"/>
                </a:lnTo>
                <a:lnTo>
                  <a:pt x="24" y="145"/>
                </a:lnTo>
                <a:lnTo>
                  <a:pt x="30" y="151"/>
                </a:lnTo>
                <a:lnTo>
                  <a:pt x="36" y="156"/>
                </a:lnTo>
                <a:lnTo>
                  <a:pt x="44" y="160"/>
                </a:lnTo>
                <a:lnTo>
                  <a:pt x="52" y="163"/>
                </a:lnTo>
                <a:lnTo>
                  <a:pt x="59" y="167"/>
                </a:lnTo>
                <a:lnTo>
                  <a:pt x="67" y="170"/>
                </a:lnTo>
                <a:lnTo>
                  <a:pt x="76" y="170"/>
                </a:lnTo>
                <a:lnTo>
                  <a:pt x="85" y="171"/>
                </a:lnTo>
                <a:lnTo>
                  <a:pt x="94" y="170"/>
                </a:lnTo>
                <a:lnTo>
                  <a:pt x="102" y="170"/>
                </a:lnTo>
                <a:lnTo>
                  <a:pt x="111" y="167"/>
                </a:lnTo>
                <a:lnTo>
                  <a:pt x="119" y="163"/>
                </a:lnTo>
                <a:lnTo>
                  <a:pt x="126" y="160"/>
                </a:lnTo>
                <a:lnTo>
                  <a:pt x="132" y="156"/>
                </a:lnTo>
                <a:lnTo>
                  <a:pt x="140" y="151"/>
                </a:lnTo>
                <a:lnTo>
                  <a:pt x="146" y="145"/>
                </a:lnTo>
                <a:lnTo>
                  <a:pt x="150" y="139"/>
                </a:lnTo>
                <a:lnTo>
                  <a:pt x="155" y="133"/>
                </a:lnTo>
                <a:lnTo>
                  <a:pt x="160" y="126"/>
                </a:lnTo>
                <a:lnTo>
                  <a:pt x="164" y="118"/>
                </a:lnTo>
                <a:lnTo>
                  <a:pt x="167" y="110"/>
                </a:lnTo>
                <a:lnTo>
                  <a:pt x="169" y="103"/>
                </a:lnTo>
                <a:lnTo>
                  <a:pt x="170" y="94"/>
                </a:lnTo>
                <a:lnTo>
                  <a:pt x="170" y="86"/>
                </a:lnTo>
                <a:lnTo>
                  <a:pt x="170" y="77"/>
                </a:lnTo>
                <a:lnTo>
                  <a:pt x="169" y="68"/>
                </a:lnTo>
                <a:lnTo>
                  <a:pt x="167" y="60"/>
                </a:lnTo>
                <a:lnTo>
                  <a:pt x="164" y="53"/>
                </a:lnTo>
                <a:lnTo>
                  <a:pt x="160" y="45"/>
                </a:lnTo>
                <a:lnTo>
                  <a:pt x="155" y="37"/>
                </a:lnTo>
                <a:lnTo>
                  <a:pt x="150" y="31"/>
                </a:lnTo>
                <a:lnTo>
                  <a:pt x="146" y="25"/>
                </a:lnTo>
                <a:lnTo>
                  <a:pt x="140" y="19"/>
                </a:lnTo>
                <a:lnTo>
                  <a:pt x="132" y="15"/>
                </a:lnTo>
                <a:lnTo>
                  <a:pt x="126" y="10"/>
                </a:lnTo>
                <a:lnTo>
                  <a:pt x="119" y="7"/>
                </a:lnTo>
                <a:lnTo>
                  <a:pt x="111" y="4"/>
                </a:lnTo>
                <a:lnTo>
                  <a:pt x="102" y="1"/>
                </a:lnTo>
                <a:lnTo>
                  <a:pt x="94" y="1"/>
                </a:lnTo>
                <a:lnTo>
                  <a:pt x="85"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5808" name="Rectangle 96">
            <a:extLst>
              <a:ext uri="{FF2B5EF4-FFF2-40B4-BE49-F238E27FC236}">
                <a16:creationId xmlns:a16="http://schemas.microsoft.com/office/drawing/2014/main" id="{6C1918D1-08E4-74F0-43D6-E79E4CBCF8E9}"/>
              </a:ext>
            </a:extLst>
          </p:cNvPr>
          <p:cNvSpPr>
            <a:spLocks noChangeArrowheads="1"/>
          </p:cNvSpPr>
          <p:nvPr/>
        </p:nvSpPr>
        <p:spPr bwMode="auto">
          <a:xfrm>
            <a:off x="10079038" y="4773614"/>
            <a:ext cx="12663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rPr>
              <a:t>D</a:t>
            </a:r>
            <a:endParaRPr lang="en-US" altLang="en-US"/>
          </a:p>
        </p:txBody>
      </p:sp>
      <p:sp>
        <p:nvSpPr>
          <p:cNvPr id="115809" name="Freeform 97">
            <a:extLst>
              <a:ext uri="{FF2B5EF4-FFF2-40B4-BE49-F238E27FC236}">
                <a16:creationId xmlns:a16="http://schemas.microsoft.com/office/drawing/2014/main" id="{CC6AD9BF-F111-04FB-9FEB-BF9820000173}"/>
              </a:ext>
            </a:extLst>
          </p:cNvPr>
          <p:cNvSpPr>
            <a:spLocks/>
          </p:cNvSpPr>
          <p:nvPr/>
        </p:nvSpPr>
        <p:spPr bwMode="auto">
          <a:xfrm>
            <a:off x="8355013" y="4078288"/>
            <a:ext cx="273050" cy="273050"/>
          </a:xfrm>
          <a:custGeom>
            <a:avLst/>
            <a:gdLst>
              <a:gd name="T0" fmla="*/ 78 w 172"/>
              <a:gd name="T1" fmla="*/ 2 h 172"/>
              <a:gd name="T2" fmla="*/ 61 w 172"/>
              <a:gd name="T3" fmla="*/ 5 h 172"/>
              <a:gd name="T4" fmla="*/ 44 w 172"/>
              <a:gd name="T5" fmla="*/ 11 h 172"/>
              <a:gd name="T6" fmla="*/ 32 w 172"/>
              <a:gd name="T7" fmla="*/ 20 h 172"/>
              <a:gd name="T8" fmla="*/ 20 w 172"/>
              <a:gd name="T9" fmla="*/ 32 h 172"/>
              <a:gd name="T10" fmla="*/ 11 w 172"/>
              <a:gd name="T11" fmla="*/ 46 h 172"/>
              <a:gd name="T12" fmla="*/ 5 w 172"/>
              <a:gd name="T13" fmla="*/ 61 h 172"/>
              <a:gd name="T14" fmla="*/ 0 w 172"/>
              <a:gd name="T15" fmla="*/ 77 h 172"/>
              <a:gd name="T16" fmla="*/ 0 w 172"/>
              <a:gd name="T17" fmla="*/ 94 h 172"/>
              <a:gd name="T18" fmla="*/ 5 w 172"/>
              <a:gd name="T19" fmla="*/ 111 h 172"/>
              <a:gd name="T20" fmla="*/ 11 w 172"/>
              <a:gd name="T21" fmla="*/ 126 h 172"/>
              <a:gd name="T22" fmla="*/ 20 w 172"/>
              <a:gd name="T23" fmla="*/ 140 h 172"/>
              <a:gd name="T24" fmla="*/ 32 w 172"/>
              <a:gd name="T25" fmla="*/ 152 h 172"/>
              <a:gd name="T26" fmla="*/ 44 w 172"/>
              <a:gd name="T27" fmla="*/ 161 h 172"/>
              <a:gd name="T28" fmla="*/ 61 w 172"/>
              <a:gd name="T29" fmla="*/ 167 h 172"/>
              <a:gd name="T30" fmla="*/ 78 w 172"/>
              <a:gd name="T31" fmla="*/ 170 h 172"/>
              <a:gd name="T32" fmla="*/ 94 w 172"/>
              <a:gd name="T33" fmla="*/ 170 h 172"/>
              <a:gd name="T34" fmla="*/ 111 w 172"/>
              <a:gd name="T35" fmla="*/ 167 h 172"/>
              <a:gd name="T36" fmla="*/ 126 w 172"/>
              <a:gd name="T37" fmla="*/ 161 h 172"/>
              <a:gd name="T38" fmla="*/ 140 w 172"/>
              <a:gd name="T39" fmla="*/ 152 h 172"/>
              <a:gd name="T40" fmla="*/ 152 w 172"/>
              <a:gd name="T41" fmla="*/ 140 h 172"/>
              <a:gd name="T42" fmla="*/ 161 w 172"/>
              <a:gd name="T43" fmla="*/ 126 h 172"/>
              <a:gd name="T44" fmla="*/ 167 w 172"/>
              <a:gd name="T45" fmla="*/ 111 h 172"/>
              <a:gd name="T46" fmla="*/ 170 w 172"/>
              <a:gd name="T47" fmla="*/ 94 h 172"/>
              <a:gd name="T48" fmla="*/ 170 w 172"/>
              <a:gd name="T49" fmla="*/ 77 h 172"/>
              <a:gd name="T50" fmla="*/ 167 w 172"/>
              <a:gd name="T51" fmla="*/ 61 h 172"/>
              <a:gd name="T52" fmla="*/ 161 w 172"/>
              <a:gd name="T53" fmla="*/ 46 h 172"/>
              <a:gd name="T54" fmla="*/ 152 w 172"/>
              <a:gd name="T55" fmla="*/ 32 h 172"/>
              <a:gd name="T56" fmla="*/ 140 w 172"/>
              <a:gd name="T57" fmla="*/ 20 h 172"/>
              <a:gd name="T58" fmla="*/ 126 w 172"/>
              <a:gd name="T59" fmla="*/ 11 h 172"/>
              <a:gd name="T60" fmla="*/ 111 w 172"/>
              <a:gd name="T61" fmla="*/ 5 h 172"/>
              <a:gd name="T62" fmla="*/ 94 w 172"/>
              <a:gd name="T63" fmla="*/ 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2" h="172">
                <a:moveTo>
                  <a:pt x="85" y="0"/>
                </a:moveTo>
                <a:lnTo>
                  <a:pt x="78" y="2"/>
                </a:lnTo>
                <a:lnTo>
                  <a:pt x="68" y="2"/>
                </a:lnTo>
                <a:lnTo>
                  <a:pt x="61" y="5"/>
                </a:lnTo>
                <a:lnTo>
                  <a:pt x="52" y="8"/>
                </a:lnTo>
                <a:lnTo>
                  <a:pt x="44" y="11"/>
                </a:lnTo>
                <a:lnTo>
                  <a:pt x="38" y="15"/>
                </a:lnTo>
                <a:lnTo>
                  <a:pt x="32" y="20"/>
                </a:lnTo>
                <a:lnTo>
                  <a:pt x="26" y="26"/>
                </a:lnTo>
                <a:lnTo>
                  <a:pt x="20" y="32"/>
                </a:lnTo>
                <a:lnTo>
                  <a:pt x="15" y="38"/>
                </a:lnTo>
                <a:lnTo>
                  <a:pt x="11" y="46"/>
                </a:lnTo>
                <a:lnTo>
                  <a:pt x="6" y="53"/>
                </a:lnTo>
                <a:lnTo>
                  <a:pt x="5" y="61"/>
                </a:lnTo>
                <a:lnTo>
                  <a:pt x="2" y="68"/>
                </a:lnTo>
                <a:lnTo>
                  <a:pt x="0" y="77"/>
                </a:lnTo>
                <a:lnTo>
                  <a:pt x="0" y="87"/>
                </a:lnTo>
                <a:lnTo>
                  <a:pt x="0" y="94"/>
                </a:lnTo>
                <a:lnTo>
                  <a:pt x="2" y="103"/>
                </a:lnTo>
                <a:lnTo>
                  <a:pt x="5" y="111"/>
                </a:lnTo>
                <a:lnTo>
                  <a:pt x="6" y="118"/>
                </a:lnTo>
                <a:lnTo>
                  <a:pt x="11" y="126"/>
                </a:lnTo>
                <a:lnTo>
                  <a:pt x="15" y="134"/>
                </a:lnTo>
                <a:lnTo>
                  <a:pt x="20" y="140"/>
                </a:lnTo>
                <a:lnTo>
                  <a:pt x="26" y="146"/>
                </a:lnTo>
                <a:lnTo>
                  <a:pt x="32" y="152"/>
                </a:lnTo>
                <a:lnTo>
                  <a:pt x="38" y="156"/>
                </a:lnTo>
                <a:lnTo>
                  <a:pt x="44" y="161"/>
                </a:lnTo>
                <a:lnTo>
                  <a:pt x="52" y="164"/>
                </a:lnTo>
                <a:lnTo>
                  <a:pt x="61" y="167"/>
                </a:lnTo>
                <a:lnTo>
                  <a:pt x="68" y="170"/>
                </a:lnTo>
                <a:lnTo>
                  <a:pt x="78" y="170"/>
                </a:lnTo>
                <a:lnTo>
                  <a:pt x="85" y="172"/>
                </a:lnTo>
                <a:lnTo>
                  <a:pt x="94" y="170"/>
                </a:lnTo>
                <a:lnTo>
                  <a:pt x="103" y="170"/>
                </a:lnTo>
                <a:lnTo>
                  <a:pt x="111" y="167"/>
                </a:lnTo>
                <a:lnTo>
                  <a:pt x="119" y="164"/>
                </a:lnTo>
                <a:lnTo>
                  <a:pt x="126" y="161"/>
                </a:lnTo>
                <a:lnTo>
                  <a:pt x="134" y="156"/>
                </a:lnTo>
                <a:lnTo>
                  <a:pt x="140" y="152"/>
                </a:lnTo>
                <a:lnTo>
                  <a:pt x="146" y="146"/>
                </a:lnTo>
                <a:lnTo>
                  <a:pt x="152" y="140"/>
                </a:lnTo>
                <a:lnTo>
                  <a:pt x="157" y="134"/>
                </a:lnTo>
                <a:lnTo>
                  <a:pt x="161" y="126"/>
                </a:lnTo>
                <a:lnTo>
                  <a:pt x="164" y="118"/>
                </a:lnTo>
                <a:lnTo>
                  <a:pt x="167" y="111"/>
                </a:lnTo>
                <a:lnTo>
                  <a:pt x="169" y="103"/>
                </a:lnTo>
                <a:lnTo>
                  <a:pt x="170" y="94"/>
                </a:lnTo>
                <a:lnTo>
                  <a:pt x="172" y="87"/>
                </a:lnTo>
                <a:lnTo>
                  <a:pt x="170" y="77"/>
                </a:lnTo>
                <a:lnTo>
                  <a:pt x="169" y="68"/>
                </a:lnTo>
                <a:lnTo>
                  <a:pt x="167" y="61"/>
                </a:lnTo>
                <a:lnTo>
                  <a:pt x="164" y="53"/>
                </a:lnTo>
                <a:lnTo>
                  <a:pt x="161" y="46"/>
                </a:lnTo>
                <a:lnTo>
                  <a:pt x="157" y="38"/>
                </a:lnTo>
                <a:lnTo>
                  <a:pt x="152" y="32"/>
                </a:lnTo>
                <a:lnTo>
                  <a:pt x="146" y="26"/>
                </a:lnTo>
                <a:lnTo>
                  <a:pt x="140" y="20"/>
                </a:lnTo>
                <a:lnTo>
                  <a:pt x="134" y="15"/>
                </a:lnTo>
                <a:lnTo>
                  <a:pt x="126" y="11"/>
                </a:lnTo>
                <a:lnTo>
                  <a:pt x="119" y="8"/>
                </a:lnTo>
                <a:lnTo>
                  <a:pt x="111" y="5"/>
                </a:lnTo>
                <a:lnTo>
                  <a:pt x="103" y="2"/>
                </a:lnTo>
                <a:lnTo>
                  <a:pt x="94" y="2"/>
                </a:lnTo>
                <a:lnTo>
                  <a:pt x="85" y="0"/>
                </a:lnTo>
                <a:close/>
              </a:path>
            </a:pathLst>
          </a:custGeom>
          <a:solidFill>
            <a:srgbClr val="00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5810" name="Freeform 98">
            <a:extLst>
              <a:ext uri="{FF2B5EF4-FFF2-40B4-BE49-F238E27FC236}">
                <a16:creationId xmlns:a16="http://schemas.microsoft.com/office/drawing/2014/main" id="{D427518D-1A03-44BF-BC7F-FE91D4F3C862}"/>
              </a:ext>
            </a:extLst>
          </p:cNvPr>
          <p:cNvSpPr>
            <a:spLocks/>
          </p:cNvSpPr>
          <p:nvPr/>
        </p:nvSpPr>
        <p:spPr bwMode="auto">
          <a:xfrm>
            <a:off x="8355013" y="4078288"/>
            <a:ext cx="273050" cy="273050"/>
          </a:xfrm>
          <a:custGeom>
            <a:avLst/>
            <a:gdLst>
              <a:gd name="T0" fmla="*/ 78 w 172"/>
              <a:gd name="T1" fmla="*/ 2 h 172"/>
              <a:gd name="T2" fmla="*/ 61 w 172"/>
              <a:gd name="T3" fmla="*/ 5 h 172"/>
              <a:gd name="T4" fmla="*/ 44 w 172"/>
              <a:gd name="T5" fmla="*/ 11 h 172"/>
              <a:gd name="T6" fmla="*/ 32 w 172"/>
              <a:gd name="T7" fmla="*/ 20 h 172"/>
              <a:gd name="T8" fmla="*/ 20 w 172"/>
              <a:gd name="T9" fmla="*/ 32 h 172"/>
              <a:gd name="T10" fmla="*/ 11 w 172"/>
              <a:gd name="T11" fmla="*/ 46 h 172"/>
              <a:gd name="T12" fmla="*/ 5 w 172"/>
              <a:gd name="T13" fmla="*/ 61 h 172"/>
              <a:gd name="T14" fmla="*/ 0 w 172"/>
              <a:gd name="T15" fmla="*/ 77 h 172"/>
              <a:gd name="T16" fmla="*/ 0 w 172"/>
              <a:gd name="T17" fmla="*/ 94 h 172"/>
              <a:gd name="T18" fmla="*/ 5 w 172"/>
              <a:gd name="T19" fmla="*/ 111 h 172"/>
              <a:gd name="T20" fmla="*/ 11 w 172"/>
              <a:gd name="T21" fmla="*/ 126 h 172"/>
              <a:gd name="T22" fmla="*/ 20 w 172"/>
              <a:gd name="T23" fmla="*/ 140 h 172"/>
              <a:gd name="T24" fmla="*/ 32 w 172"/>
              <a:gd name="T25" fmla="*/ 152 h 172"/>
              <a:gd name="T26" fmla="*/ 44 w 172"/>
              <a:gd name="T27" fmla="*/ 161 h 172"/>
              <a:gd name="T28" fmla="*/ 61 w 172"/>
              <a:gd name="T29" fmla="*/ 167 h 172"/>
              <a:gd name="T30" fmla="*/ 78 w 172"/>
              <a:gd name="T31" fmla="*/ 170 h 172"/>
              <a:gd name="T32" fmla="*/ 94 w 172"/>
              <a:gd name="T33" fmla="*/ 170 h 172"/>
              <a:gd name="T34" fmla="*/ 111 w 172"/>
              <a:gd name="T35" fmla="*/ 167 h 172"/>
              <a:gd name="T36" fmla="*/ 126 w 172"/>
              <a:gd name="T37" fmla="*/ 161 h 172"/>
              <a:gd name="T38" fmla="*/ 140 w 172"/>
              <a:gd name="T39" fmla="*/ 152 h 172"/>
              <a:gd name="T40" fmla="*/ 152 w 172"/>
              <a:gd name="T41" fmla="*/ 140 h 172"/>
              <a:gd name="T42" fmla="*/ 161 w 172"/>
              <a:gd name="T43" fmla="*/ 126 h 172"/>
              <a:gd name="T44" fmla="*/ 167 w 172"/>
              <a:gd name="T45" fmla="*/ 111 h 172"/>
              <a:gd name="T46" fmla="*/ 170 w 172"/>
              <a:gd name="T47" fmla="*/ 94 h 172"/>
              <a:gd name="T48" fmla="*/ 170 w 172"/>
              <a:gd name="T49" fmla="*/ 77 h 172"/>
              <a:gd name="T50" fmla="*/ 167 w 172"/>
              <a:gd name="T51" fmla="*/ 61 h 172"/>
              <a:gd name="T52" fmla="*/ 161 w 172"/>
              <a:gd name="T53" fmla="*/ 46 h 172"/>
              <a:gd name="T54" fmla="*/ 152 w 172"/>
              <a:gd name="T55" fmla="*/ 32 h 172"/>
              <a:gd name="T56" fmla="*/ 140 w 172"/>
              <a:gd name="T57" fmla="*/ 20 h 172"/>
              <a:gd name="T58" fmla="*/ 126 w 172"/>
              <a:gd name="T59" fmla="*/ 11 h 172"/>
              <a:gd name="T60" fmla="*/ 111 w 172"/>
              <a:gd name="T61" fmla="*/ 5 h 172"/>
              <a:gd name="T62" fmla="*/ 94 w 172"/>
              <a:gd name="T63" fmla="*/ 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2" h="172">
                <a:moveTo>
                  <a:pt x="85" y="0"/>
                </a:moveTo>
                <a:lnTo>
                  <a:pt x="78" y="2"/>
                </a:lnTo>
                <a:lnTo>
                  <a:pt x="68" y="2"/>
                </a:lnTo>
                <a:lnTo>
                  <a:pt x="61" y="5"/>
                </a:lnTo>
                <a:lnTo>
                  <a:pt x="52" y="8"/>
                </a:lnTo>
                <a:lnTo>
                  <a:pt x="44" y="11"/>
                </a:lnTo>
                <a:lnTo>
                  <a:pt x="38" y="15"/>
                </a:lnTo>
                <a:lnTo>
                  <a:pt x="32" y="20"/>
                </a:lnTo>
                <a:lnTo>
                  <a:pt x="26" y="26"/>
                </a:lnTo>
                <a:lnTo>
                  <a:pt x="20" y="32"/>
                </a:lnTo>
                <a:lnTo>
                  <a:pt x="15" y="38"/>
                </a:lnTo>
                <a:lnTo>
                  <a:pt x="11" y="46"/>
                </a:lnTo>
                <a:lnTo>
                  <a:pt x="6" y="53"/>
                </a:lnTo>
                <a:lnTo>
                  <a:pt x="5" y="61"/>
                </a:lnTo>
                <a:lnTo>
                  <a:pt x="2" y="68"/>
                </a:lnTo>
                <a:lnTo>
                  <a:pt x="0" y="77"/>
                </a:lnTo>
                <a:lnTo>
                  <a:pt x="0" y="87"/>
                </a:lnTo>
                <a:lnTo>
                  <a:pt x="0" y="94"/>
                </a:lnTo>
                <a:lnTo>
                  <a:pt x="2" y="103"/>
                </a:lnTo>
                <a:lnTo>
                  <a:pt x="5" y="111"/>
                </a:lnTo>
                <a:lnTo>
                  <a:pt x="6" y="118"/>
                </a:lnTo>
                <a:lnTo>
                  <a:pt x="11" y="126"/>
                </a:lnTo>
                <a:lnTo>
                  <a:pt x="15" y="134"/>
                </a:lnTo>
                <a:lnTo>
                  <a:pt x="20" y="140"/>
                </a:lnTo>
                <a:lnTo>
                  <a:pt x="26" y="146"/>
                </a:lnTo>
                <a:lnTo>
                  <a:pt x="32" y="152"/>
                </a:lnTo>
                <a:lnTo>
                  <a:pt x="38" y="156"/>
                </a:lnTo>
                <a:lnTo>
                  <a:pt x="44" y="161"/>
                </a:lnTo>
                <a:lnTo>
                  <a:pt x="52" y="164"/>
                </a:lnTo>
                <a:lnTo>
                  <a:pt x="61" y="167"/>
                </a:lnTo>
                <a:lnTo>
                  <a:pt x="68" y="170"/>
                </a:lnTo>
                <a:lnTo>
                  <a:pt x="78" y="170"/>
                </a:lnTo>
                <a:lnTo>
                  <a:pt x="85" y="172"/>
                </a:lnTo>
                <a:lnTo>
                  <a:pt x="94" y="170"/>
                </a:lnTo>
                <a:lnTo>
                  <a:pt x="103" y="170"/>
                </a:lnTo>
                <a:lnTo>
                  <a:pt x="111" y="167"/>
                </a:lnTo>
                <a:lnTo>
                  <a:pt x="119" y="164"/>
                </a:lnTo>
                <a:lnTo>
                  <a:pt x="126" y="161"/>
                </a:lnTo>
                <a:lnTo>
                  <a:pt x="134" y="156"/>
                </a:lnTo>
                <a:lnTo>
                  <a:pt x="140" y="152"/>
                </a:lnTo>
                <a:lnTo>
                  <a:pt x="146" y="146"/>
                </a:lnTo>
                <a:lnTo>
                  <a:pt x="152" y="140"/>
                </a:lnTo>
                <a:lnTo>
                  <a:pt x="157" y="134"/>
                </a:lnTo>
                <a:lnTo>
                  <a:pt x="161" y="126"/>
                </a:lnTo>
                <a:lnTo>
                  <a:pt x="164" y="118"/>
                </a:lnTo>
                <a:lnTo>
                  <a:pt x="167" y="111"/>
                </a:lnTo>
                <a:lnTo>
                  <a:pt x="169" y="103"/>
                </a:lnTo>
                <a:lnTo>
                  <a:pt x="170" y="94"/>
                </a:lnTo>
                <a:lnTo>
                  <a:pt x="172" y="87"/>
                </a:lnTo>
                <a:lnTo>
                  <a:pt x="170" y="77"/>
                </a:lnTo>
                <a:lnTo>
                  <a:pt x="169" y="68"/>
                </a:lnTo>
                <a:lnTo>
                  <a:pt x="167" y="61"/>
                </a:lnTo>
                <a:lnTo>
                  <a:pt x="164" y="53"/>
                </a:lnTo>
                <a:lnTo>
                  <a:pt x="161" y="46"/>
                </a:lnTo>
                <a:lnTo>
                  <a:pt x="157" y="38"/>
                </a:lnTo>
                <a:lnTo>
                  <a:pt x="152" y="32"/>
                </a:lnTo>
                <a:lnTo>
                  <a:pt x="146" y="26"/>
                </a:lnTo>
                <a:lnTo>
                  <a:pt x="140" y="20"/>
                </a:lnTo>
                <a:lnTo>
                  <a:pt x="134" y="15"/>
                </a:lnTo>
                <a:lnTo>
                  <a:pt x="126" y="11"/>
                </a:lnTo>
                <a:lnTo>
                  <a:pt x="119" y="8"/>
                </a:lnTo>
                <a:lnTo>
                  <a:pt x="111" y="5"/>
                </a:lnTo>
                <a:lnTo>
                  <a:pt x="103" y="2"/>
                </a:lnTo>
                <a:lnTo>
                  <a:pt x="94" y="2"/>
                </a:lnTo>
                <a:lnTo>
                  <a:pt x="85"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5811" name="Rectangle 99">
            <a:extLst>
              <a:ext uri="{FF2B5EF4-FFF2-40B4-BE49-F238E27FC236}">
                <a16:creationId xmlns:a16="http://schemas.microsoft.com/office/drawing/2014/main" id="{5F41A071-EF60-5B1E-6548-561D885EE7FB}"/>
              </a:ext>
            </a:extLst>
          </p:cNvPr>
          <p:cNvSpPr>
            <a:spLocks noChangeArrowheads="1"/>
          </p:cNvSpPr>
          <p:nvPr/>
        </p:nvSpPr>
        <p:spPr bwMode="auto">
          <a:xfrm>
            <a:off x="8402639" y="4110039"/>
            <a:ext cx="1809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t>M</a:t>
            </a:r>
            <a:endParaRPr lang="en-US" altLang="en-US"/>
          </a:p>
        </p:txBody>
      </p:sp>
      <p:sp>
        <p:nvSpPr>
          <p:cNvPr id="115812" name="Freeform 100">
            <a:extLst>
              <a:ext uri="{FF2B5EF4-FFF2-40B4-BE49-F238E27FC236}">
                <a16:creationId xmlns:a16="http://schemas.microsoft.com/office/drawing/2014/main" id="{D00925DF-DCE9-ABBC-2FFB-B95D299169EF}"/>
              </a:ext>
            </a:extLst>
          </p:cNvPr>
          <p:cNvSpPr>
            <a:spLocks/>
          </p:cNvSpPr>
          <p:nvPr/>
        </p:nvSpPr>
        <p:spPr bwMode="auto">
          <a:xfrm>
            <a:off x="8748714" y="5737226"/>
            <a:ext cx="269875" cy="269875"/>
          </a:xfrm>
          <a:custGeom>
            <a:avLst/>
            <a:gdLst>
              <a:gd name="T0" fmla="*/ 76 w 170"/>
              <a:gd name="T1" fmla="*/ 0 h 170"/>
              <a:gd name="T2" fmla="*/ 59 w 170"/>
              <a:gd name="T3" fmla="*/ 3 h 170"/>
              <a:gd name="T4" fmla="*/ 44 w 170"/>
              <a:gd name="T5" fmla="*/ 10 h 170"/>
              <a:gd name="T6" fmla="*/ 30 w 170"/>
              <a:gd name="T7" fmla="*/ 19 h 170"/>
              <a:gd name="T8" fmla="*/ 18 w 170"/>
              <a:gd name="T9" fmla="*/ 30 h 170"/>
              <a:gd name="T10" fmla="*/ 9 w 170"/>
              <a:gd name="T11" fmla="*/ 44 h 170"/>
              <a:gd name="T12" fmla="*/ 3 w 170"/>
              <a:gd name="T13" fmla="*/ 59 h 170"/>
              <a:gd name="T14" fmla="*/ 0 w 170"/>
              <a:gd name="T15" fmla="*/ 75 h 170"/>
              <a:gd name="T16" fmla="*/ 0 w 170"/>
              <a:gd name="T17" fmla="*/ 94 h 170"/>
              <a:gd name="T18" fmla="*/ 3 w 170"/>
              <a:gd name="T19" fmla="*/ 110 h 170"/>
              <a:gd name="T20" fmla="*/ 9 w 170"/>
              <a:gd name="T21" fmla="*/ 126 h 170"/>
              <a:gd name="T22" fmla="*/ 18 w 170"/>
              <a:gd name="T23" fmla="*/ 139 h 170"/>
              <a:gd name="T24" fmla="*/ 30 w 170"/>
              <a:gd name="T25" fmla="*/ 150 h 170"/>
              <a:gd name="T26" fmla="*/ 44 w 170"/>
              <a:gd name="T27" fmla="*/ 160 h 170"/>
              <a:gd name="T28" fmla="*/ 59 w 170"/>
              <a:gd name="T29" fmla="*/ 167 h 170"/>
              <a:gd name="T30" fmla="*/ 76 w 170"/>
              <a:gd name="T31" fmla="*/ 170 h 170"/>
              <a:gd name="T32" fmla="*/ 94 w 170"/>
              <a:gd name="T33" fmla="*/ 170 h 170"/>
              <a:gd name="T34" fmla="*/ 111 w 170"/>
              <a:gd name="T35" fmla="*/ 167 h 170"/>
              <a:gd name="T36" fmla="*/ 126 w 170"/>
              <a:gd name="T37" fmla="*/ 160 h 170"/>
              <a:gd name="T38" fmla="*/ 140 w 170"/>
              <a:gd name="T39" fmla="*/ 150 h 170"/>
              <a:gd name="T40" fmla="*/ 150 w 170"/>
              <a:gd name="T41" fmla="*/ 139 h 170"/>
              <a:gd name="T42" fmla="*/ 159 w 170"/>
              <a:gd name="T43" fmla="*/ 126 h 170"/>
              <a:gd name="T44" fmla="*/ 167 w 170"/>
              <a:gd name="T45" fmla="*/ 110 h 170"/>
              <a:gd name="T46" fmla="*/ 170 w 170"/>
              <a:gd name="T47" fmla="*/ 94 h 170"/>
              <a:gd name="T48" fmla="*/ 170 w 170"/>
              <a:gd name="T49" fmla="*/ 75 h 170"/>
              <a:gd name="T50" fmla="*/ 167 w 170"/>
              <a:gd name="T51" fmla="*/ 59 h 170"/>
              <a:gd name="T52" fmla="*/ 159 w 170"/>
              <a:gd name="T53" fmla="*/ 44 h 170"/>
              <a:gd name="T54" fmla="*/ 150 w 170"/>
              <a:gd name="T55" fmla="*/ 30 h 170"/>
              <a:gd name="T56" fmla="*/ 140 w 170"/>
              <a:gd name="T57" fmla="*/ 19 h 170"/>
              <a:gd name="T58" fmla="*/ 126 w 170"/>
              <a:gd name="T59" fmla="*/ 10 h 170"/>
              <a:gd name="T60" fmla="*/ 111 w 170"/>
              <a:gd name="T61" fmla="*/ 3 h 170"/>
              <a:gd name="T62" fmla="*/ 94 w 170"/>
              <a:gd name="T63"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 h="170">
                <a:moveTo>
                  <a:pt x="85" y="0"/>
                </a:moveTo>
                <a:lnTo>
                  <a:pt x="76" y="0"/>
                </a:lnTo>
                <a:lnTo>
                  <a:pt x="67" y="1"/>
                </a:lnTo>
                <a:lnTo>
                  <a:pt x="59" y="3"/>
                </a:lnTo>
                <a:lnTo>
                  <a:pt x="52" y="6"/>
                </a:lnTo>
                <a:lnTo>
                  <a:pt x="44" y="10"/>
                </a:lnTo>
                <a:lnTo>
                  <a:pt x="36" y="13"/>
                </a:lnTo>
                <a:lnTo>
                  <a:pt x="30" y="19"/>
                </a:lnTo>
                <a:lnTo>
                  <a:pt x="24" y="24"/>
                </a:lnTo>
                <a:lnTo>
                  <a:pt x="18" y="30"/>
                </a:lnTo>
                <a:lnTo>
                  <a:pt x="14" y="37"/>
                </a:lnTo>
                <a:lnTo>
                  <a:pt x="9" y="44"/>
                </a:lnTo>
                <a:lnTo>
                  <a:pt x="6" y="51"/>
                </a:lnTo>
                <a:lnTo>
                  <a:pt x="3" y="59"/>
                </a:lnTo>
                <a:lnTo>
                  <a:pt x="1" y="68"/>
                </a:lnTo>
                <a:lnTo>
                  <a:pt x="0" y="75"/>
                </a:lnTo>
                <a:lnTo>
                  <a:pt x="0" y="85"/>
                </a:lnTo>
                <a:lnTo>
                  <a:pt x="0" y="94"/>
                </a:lnTo>
                <a:lnTo>
                  <a:pt x="1" y="101"/>
                </a:lnTo>
                <a:lnTo>
                  <a:pt x="3" y="110"/>
                </a:lnTo>
                <a:lnTo>
                  <a:pt x="6" y="118"/>
                </a:lnTo>
                <a:lnTo>
                  <a:pt x="9" y="126"/>
                </a:lnTo>
                <a:lnTo>
                  <a:pt x="14" y="133"/>
                </a:lnTo>
                <a:lnTo>
                  <a:pt x="18" y="139"/>
                </a:lnTo>
                <a:lnTo>
                  <a:pt x="24" y="145"/>
                </a:lnTo>
                <a:lnTo>
                  <a:pt x="30" y="150"/>
                </a:lnTo>
                <a:lnTo>
                  <a:pt x="36" y="156"/>
                </a:lnTo>
                <a:lnTo>
                  <a:pt x="44" y="160"/>
                </a:lnTo>
                <a:lnTo>
                  <a:pt x="52" y="163"/>
                </a:lnTo>
                <a:lnTo>
                  <a:pt x="59" y="167"/>
                </a:lnTo>
                <a:lnTo>
                  <a:pt x="67" y="168"/>
                </a:lnTo>
                <a:lnTo>
                  <a:pt x="76" y="170"/>
                </a:lnTo>
                <a:lnTo>
                  <a:pt x="85" y="170"/>
                </a:lnTo>
                <a:lnTo>
                  <a:pt x="94" y="170"/>
                </a:lnTo>
                <a:lnTo>
                  <a:pt x="102" y="168"/>
                </a:lnTo>
                <a:lnTo>
                  <a:pt x="111" y="167"/>
                </a:lnTo>
                <a:lnTo>
                  <a:pt x="118" y="163"/>
                </a:lnTo>
                <a:lnTo>
                  <a:pt x="126" y="160"/>
                </a:lnTo>
                <a:lnTo>
                  <a:pt x="132" y="156"/>
                </a:lnTo>
                <a:lnTo>
                  <a:pt x="140" y="150"/>
                </a:lnTo>
                <a:lnTo>
                  <a:pt x="146" y="145"/>
                </a:lnTo>
                <a:lnTo>
                  <a:pt x="150" y="139"/>
                </a:lnTo>
                <a:lnTo>
                  <a:pt x="155" y="133"/>
                </a:lnTo>
                <a:lnTo>
                  <a:pt x="159" y="126"/>
                </a:lnTo>
                <a:lnTo>
                  <a:pt x="164" y="118"/>
                </a:lnTo>
                <a:lnTo>
                  <a:pt x="167" y="110"/>
                </a:lnTo>
                <a:lnTo>
                  <a:pt x="169" y="101"/>
                </a:lnTo>
                <a:lnTo>
                  <a:pt x="170" y="94"/>
                </a:lnTo>
                <a:lnTo>
                  <a:pt x="170" y="85"/>
                </a:lnTo>
                <a:lnTo>
                  <a:pt x="170" y="75"/>
                </a:lnTo>
                <a:lnTo>
                  <a:pt x="169" y="68"/>
                </a:lnTo>
                <a:lnTo>
                  <a:pt x="167" y="59"/>
                </a:lnTo>
                <a:lnTo>
                  <a:pt x="164" y="51"/>
                </a:lnTo>
                <a:lnTo>
                  <a:pt x="159" y="44"/>
                </a:lnTo>
                <a:lnTo>
                  <a:pt x="155" y="37"/>
                </a:lnTo>
                <a:lnTo>
                  <a:pt x="150" y="30"/>
                </a:lnTo>
                <a:lnTo>
                  <a:pt x="146" y="24"/>
                </a:lnTo>
                <a:lnTo>
                  <a:pt x="140" y="19"/>
                </a:lnTo>
                <a:lnTo>
                  <a:pt x="132" y="13"/>
                </a:lnTo>
                <a:lnTo>
                  <a:pt x="126" y="10"/>
                </a:lnTo>
                <a:lnTo>
                  <a:pt x="118" y="6"/>
                </a:lnTo>
                <a:lnTo>
                  <a:pt x="111" y="3"/>
                </a:lnTo>
                <a:lnTo>
                  <a:pt x="102" y="1"/>
                </a:lnTo>
                <a:lnTo>
                  <a:pt x="94" y="0"/>
                </a:lnTo>
                <a:lnTo>
                  <a:pt x="85" y="0"/>
                </a:lnTo>
                <a:close/>
              </a:path>
            </a:pathLst>
          </a:custGeom>
          <a:solidFill>
            <a:srgbClr val="00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5813" name="Freeform 101">
            <a:extLst>
              <a:ext uri="{FF2B5EF4-FFF2-40B4-BE49-F238E27FC236}">
                <a16:creationId xmlns:a16="http://schemas.microsoft.com/office/drawing/2014/main" id="{78810EB0-0DEE-4B43-5640-D75DBB271763}"/>
              </a:ext>
            </a:extLst>
          </p:cNvPr>
          <p:cNvSpPr>
            <a:spLocks/>
          </p:cNvSpPr>
          <p:nvPr/>
        </p:nvSpPr>
        <p:spPr bwMode="auto">
          <a:xfrm>
            <a:off x="8748714" y="5737226"/>
            <a:ext cx="269875" cy="269875"/>
          </a:xfrm>
          <a:custGeom>
            <a:avLst/>
            <a:gdLst>
              <a:gd name="T0" fmla="*/ 76 w 170"/>
              <a:gd name="T1" fmla="*/ 0 h 170"/>
              <a:gd name="T2" fmla="*/ 59 w 170"/>
              <a:gd name="T3" fmla="*/ 3 h 170"/>
              <a:gd name="T4" fmla="*/ 44 w 170"/>
              <a:gd name="T5" fmla="*/ 10 h 170"/>
              <a:gd name="T6" fmla="*/ 30 w 170"/>
              <a:gd name="T7" fmla="*/ 19 h 170"/>
              <a:gd name="T8" fmla="*/ 18 w 170"/>
              <a:gd name="T9" fmla="*/ 30 h 170"/>
              <a:gd name="T10" fmla="*/ 9 w 170"/>
              <a:gd name="T11" fmla="*/ 44 h 170"/>
              <a:gd name="T12" fmla="*/ 3 w 170"/>
              <a:gd name="T13" fmla="*/ 59 h 170"/>
              <a:gd name="T14" fmla="*/ 0 w 170"/>
              <a:gd name="T15" fmla="*/ 75 h 170"/>
              <a:gd name="T16" fmla="*/ 0 w 170"/>
              <a:gd name="T17" fmla="*/ 94 h 170"/>
              <a:gd name="T18" fmla="*/ 3 w 170"/>
              <a:gd name="T19" fmla="*/ 110 h 170"/>
              <a:gd name="T20" fmla="*/ 9 w 170"/>
              <a:gd name="T21" fmla="*/ 126 h 170"/>
              <a:gd name="T22" fmla="*/ 18 w 170"/>
              <a:gd name="T23" fmla="*/ 139 h 170"/>
              <a:gd name="T24" fmla="*/ 30 w 170"/>
              <a:gd name="T25" fmla="*/ 150 h 170"/>
              <a:gd name="T26" fmla="*/ 44 w 170"/>
              <a:gd name="T27" fmla="*/ 160 h 170"/>
              <a:gd name="T28" fmla="*/ 59 w 170"/>
              <a:gd name="T29" fmla="*/ 167 h 170"/>
              <a:gd name="T30" fmla="*/ 76 w 170"/>
              <a:gd name="T31" fmla="*/ 170 h 170"/>
              <a:gd name="T32" fmla="*/ 94 w 170"/>
              <a:gd name="T33" fmla="*/ 170 h 170"/>
              <a:gd name="T34" fmla="*/ 111 w 170"/>
              <a:gd name="T35" fmla="*/ 167 h 170"/>
              <a:gd name="T36" fmla="*/ 126 w 170"/>
              <a:gd name="T37" fmla="*/ 160 h 170"/>
              <a:gd name="T38" fmla="*/ 140 w 170"/>
              <a:gd name="T39" fmla="*/ 150 h 170"/>
              <a:gd name="T40" fmla="*/ 150 w 170"/>
              <a:gd name="T41" fmla="*/ 139 h 170"/>
              <a:gd name="T42" fmla="*/ 159 w 170"/>
              <a:gd name="T43" fmla="*/ 126 h 170"/>
              <a:gd name="T44" fmla="*/ 167 w 170"/>
              <a:gd name="T45" fmla="*/ 110 h 170"/>
              <a:gd name="T46" fmla="*/ 170 w 170"/>
              <a:gd name="T47" fmla="*/ 94 h 170"/>
              <a:gd name="T48" fmla="*/ 170 w 170"/>
              <a:gd name="T49" fmla="*/ 75 h 170"/>
              <a:gd name="T50" fmla="*/ 167 w 170"/>
              <a:gd name="T51" fmla="*/ 59 h 170"/>
              <a:gd name="T52" fmla="*/ 159 w 170"/>
              <a:gd name="T53" fmla="*/ 44 h 170"/>
              <a:gd name="T54" fmla="*/ 150 w 170"/>
              <a:gd name="T55" fmla="*/ 30 h 170"/>
              <a:gd name="T56" fmla="*/ 140 w 170"/>
              <a:gd name="T57" fmla="*/ 19 h 170"/>
              <a:gd name="T58" fmla="*/ 126 w 170"/>
              <a:gd name="T59" fmla="*/ 10 h 170"/>
              <a:gd name="T60" fmla="*/ 111 w 170"/>
              <a:gd name="T61" fmla="*/ 3 h 170"/>
              <a:gd name="T62" fmla="*/ 94 w 170"/>
              <a:gd name="T63"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 h="170">
                <a:moveTo>
                  <a:pt x="85" y="0"/>
                </a:moveTo>
                <a:lnTo>
                  <a:pt x="76" y="0"/>
                </a:lnTo>
                <a:lnTo>
                  <a:pt x="67" y="1"/>
                </a:lnTo>
                <a:lnTo>
                  <a:pt x="59" y="3"/>
                </a:lnTo>
                <a:lnTo>
                  <a:pt x="52" y="6"/>
                </a:lnTo>
                <a:lnTo>
                  <a:pt x="44" y="10"/>
                </a:lnTo>
                <a:lnTo>
                  <a:pt x="36" y="13"/>
                </a:lnTo>
                <a:lnTo>
                  <a:pt x="30" y="19"/>
                </a:lnTo>
                <a:lnTo>
                  <a:pt x="24" y="24"/>
                </a:lnTo>
                <a:lnTo>
                  <a:pt x="18" y="30"/>
                </a:lnTo>
                <a:lnTo>
                  <a:pt x="14" y="37"/>
                </a:lnTo>
                <a:lnTo>
                  <a:pt x="9" y="44"/>
                </a:lnTo>
                <a:lnTo>
                  <a:pt x="6" y="51"/>
                </a:lnTo>
                <a:lnTo>
                  <a:pt x="3" y="59"/>
                </a:lnTo>
                <a:lnTo>
                  <a:pt x="1" y="68"/>
                </a:lnTo>
                <a:lnTo>
                  <a:pt x="0" y="75"/>
                </a:lnTo>
                <a:lnTo>
                  <a:pt x="0" y="85"/>
                </a:lnTo>
                <a:lnTo>
                  <a:pt x="0" y="94"/>
                </a:lnTo>
                <a:lnTo>
                  <a:pt x="1" y="101"/>
                </a:lnTo>
                <a:lnTo>
                  <a:pt x="3" y="110"/>
                </a:lnTo>
                <a:lnTo>
                  <a:pt x="6" y="118"/>
                </a:lnTo>
                <a:lnTo>
                  <a:pt x="9" y="126"/>
                </a:lnTo>
                <a:lnTo>
                  <a:pt x="14" y="133"/>
                </a:lnTo>
                <a:lnTo>
                  <a:pt x="18" y="139"/>
                </a:lnTo>
                <a:lnTo>
                  <a:pt x="24" y="145"/>
                </a:lnTo>
                <a:lnTo>
                  <a:pt x="30" y="150"/>
                </a:lnTo>
                <a:lnTo>
                  <a:pt x="36" y="156"/>
                </a:lnTo>
                <a:lnTo>
                  <a:pt x="44" y="160"/>
                </a:lnTo>
                <a:lnTo>
                  <a:pt x="52" y="163"/>
                </a:lnTo>
                <a:lnTo>
                  <a:pt x="59" y="167"/>
                </a:lnTo>
                <a:lnTo>
                  <a:pt x="67" y="168"/>
                </a:lnTo>
                <a:lnTo>
                  <a:pt x="76" y="170"/>
                </a:lnTo>
                <a:lnTo>
                  <a:pt x="85" y="170"/>
                </a:lnTo>
                <a:lnTo>
                  <a:pt x="94" y="170"/>
                </a:lnTo>
                <a:lnTo>
                  <a:pt x="102" y="168"/>
                </a:lnTo>
                <a:lnTo>
                  <a:pt x="111" y="167"/>
                </a:lnTo>
                <a:lnTo>
                  <a:pt x="118" y="163"/>
                </a:lnTo>
                <a:lnTo>
                  <a:pt x="126" y="160"/>
                </a:lnTo>
                <a:lnTo>
                  <a:pt x="132" y="156"/>
                </a:lnTo>
                <a:lnTo>
                  <a:pt x="140" y="150"/>
                </a:lnTo>
                <a:lnTo>
                  <a:pt x="146" y="145"/>
                </a:lnTo>
                <a:lnTo>
                  <a:pt x="150" y="139"/>
                </a:lnTo>
                <a:lnTo>
                  <a:pt x="155" y="133"/>
                </a:lnTo>
                <a:lnTo>
                  <a:pt x="159" y="126"/>
                </a:lnTo>
                <a:lnTo>
                  <a:pt x="164" y="118"/>
                </a:lnTo>
                <a:lnTo>
                  <a:pt x="167" y="110"/>
                </a:lnTo>
                <a:lnTo>
                  <a:pt x="169" y="101"/>
                </a:lnTo>
                <a:lnTo>
                  <a:pt x="170" y="94"/>
                </a:lnTo>
                <a:lnTo>
                  <a:pt x="170" y="85"/>
                </a:lnTo>
                <a:lnTo>
                  <a:pt x="170" y="75"/>
                </a:lnTo>
                <a:lnTo>
                  <a:pt x="169" y="68"/>
                </a:lnTo>
                <a:lnTo>
                  <a:pt x="167" y="59"/>
                </a:lnTo>
                <a:lnTo>
                  <a:pt x="164" y="51"/>
                </a:lnTo>
                <a:lnTo>
                  <a:pt x="159" y="44"/>
                </a:lnTo>
                <a:lnTo>
                  <a:pt x="155" y="37"/>
                </a:lnTo>
                <a:lnTo>
                  <a:pt x="150" y="30"/>
                </a:lnTo>
                <a:lnTo>
                  <a:pt x="146" y="24"/>
                </a:lnTo>
                <a:lnTo>
                  <a:pt x="140" y="19"/>
                </a:lnTo>
                <a:lnTo>
                  <a:pt x="132" y="13"/>
                </a:lnTo>
                <a:lnTo>
                  <a:pt x="126" y="10"/>
                </a:lnTo>
                <a:lnTo>
                  <a:pt x="118" y="6"/>
                </a:lnTo>
                <a:lnTo>
                  <a:pt x="111" y="3"/>
                </a:lnTo>
                <a:lnTo>
                  <a:pt x="102" y="1"/>
                </a:lnTo>
                <a:lnTo>
                  <a:pt x="94" y="0"/>
                </a:lnTo>
                <a:lnTo>
                  <a:pt x="85"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5814" name="Rectangle 102">
            <a:extLst>
              <a:ext uri="{FF2B5EF4-FFF2-40B4-BE49-F238E27FC236}">
                <a16:creationId xmlns:a16="http://schemas.microsoft.com/office/drawing/2014/main" id="{71F3989D-BDCC-13CE-E100-AE2311E1CA79}"/>
              </a:ext>
            </a:extLst>
          </p:cNvPr>
          <p:cNvSpPr>
            <a:spLocks noChangeArrowheads="1"/>
          </p:cNvSpPr>
          <p:nvPr/>
        </p:nvSpPr>
        <p:spPr bwMode="auto">
          <a:xfrm>
            <a:off x="8810625" y="5768976"/>
            <a:ext cx="10740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t>K</a:t>
            </a:r>
            <a:endParaRPr lang="en-US" altLang="en-US"/>
          </a:p>
        </p:txBody>
      </p:sp>
      <p:sp>
        <p:nvSpPr>
          <p:cNvPr id="115815" name="Freeform 103">
            <a:extLst>
              <a:ext uri="{FF2B5EF4-FFF2-40B4-BE49-F238E27FC236}">
                <a16:creationId xmlns:a16="http://schemas.microsoft.com/office/drawing/2014/main" id="{8CDB8A5D-8641-5DF2-CB64-8E1E350FF7E5}"/>
              </a:ext>
            </a:extLst>
          </p:cNvPr>
          <p:cNvSpPr>
            <a:spLocks/>
          </p:cNvSpPr>
          <p:nvPr/>
        </p:nvSpPr>
        <p:spPr bwMode="auto">
          <a:xfrm>
            <a:off x="4706939" y="5403850"/>
            <a:ext cx="269875" cy="273050"/>
          </a:xfrm>
          <a:custGeom>
            <a:avLst/>
            <a:gdLst>
              <a:gd name="T0" fmla="*/ 76 w 170"/>
              <a:gd name="T1" fmla="*/ 2 h 172"/>
              <a:gd name="T2" fmla="*/ 59 w 170"/>
              <a:gd name="T3" fmla="*/ 5 h 172"/>
              <a:gd name="T4" fmla="*/ 44 w 170"/>
              <a:gd name="T5" fmla="*/ 11 h 172"/>
              <a:gd name="T6" fmla="*/ 30 w 170"/>
              <a:gd name="T7" fmla="*/ 20 h 172"/>
              <a:gd name="T8" fmla="*/ 18 w 170"/>
              <a:gd name="T9" fmla="*/ 32 h 172"/>
              <a:gd name="T10" fmla="*/ 9 w 170"/>
              <a:gd name="T11" fmla="*/ 46 h 172"/>
              <a:gd name="T12" fmla="*/ 3 w 170"/>
              <a:gd name="T13" fmla="*/ 61 h 172"/>
              <a:gd name="T14" fmla="*/ 0 w 170"/>
              <a:gd name="T15" fmla="*/ 77 h 172"/>
              <a:gd name="T16" fmla="*/ 0 w 170"/>
              <a:gd name="T17" fmla="*/ 94 h 172"/>
              <a:gd name="T18" fmla="*/ 3 w 170"/>
              <a:gd name="T19" fmla="*/ 111 h 172"/>
              <a:gd name="T20" fmla="*/ 9 w 170"/>
              <a:gd name="T21" fmla="*/ 126 h 172"/>
              <a:gd name="T22" fmla="*/ 18 w 170"/>
              <a:gd name="T23" fmla="*/ 140 h 172"/>
              <a:gd name="T24" fmla="*/ 30 w 170"/>
              <a:gd name="T25" fmla="*/ 152 h 172"/>
              <a:gd name="T26" fmla="*/ 44 w 170"/>
              <a:gd name="T27" fmla="*/ 161 h 172"/>
              <a:gd name="T28" fmla="*/ 59 w 170"/>
              <a:gd name="T29" fmla="*/ 167 h 172"/>
              <a:gd name="T30" fmla="*/ 76 w 170"/>
              <a:gd name="T31" fmla="*/ 170 h 172"/>
              <a:gd name="T32" fmla="*/ 94 w 170"/>
              <a:gd name="T33" fmla="*/ 170 h 172"/>
              <a:gd name="T34" fmla="*/ 111 w 170"/>
              <a:gd name="T35" fmla="*/ 167 h 172"/>
              <a:gd name="T36" fmla="*/ 126 w 170"/>
              <a:gd name="T37" fmla="*/ 161 h 172"/>
              <a:gd name="T38" fmla="*/ 139 w 170"/>
              <a:gd name="T39" fmla="*/ 152 h 172"/>
              <a:gd name="T40" fmla="*/ 150 w 170"/>
              <a:gd name="T41" fmla="*/ 140 h 172"/>
              <a:gd name="T42" fmla="*/ 159 w 170"/>
              <a:gd name="T43" fmla="*/ 126 h 172"/>
              <a:gd name="T44" fmla="*/ 165 w 170"/>
              <a:gd name="T45" fmla="*/ 111 h 172"/>
              <a:gd name="T46" fmla="*/ 170 w 170"/>
              <a:gd name="T47" fmla="*/ 94 h 172"/>
              <a:gd name="T48" fmla="*/ 170 w 170"/>
              <a:gd name="T49" fmla="*/ 77 h 172"/>
              <a:gd name="T50" fmla="*/ 165 w 170"/>
              <a:gd name="T51" fmla="*/ 61 h 172"/>
              <a:gd name="T52" fmla="*/ 159 w 170"/>
              <a:gd name="T53" fmla="*/ 46 h 172"/>
              <a:gd name="T54" fmla="*/ 150 w 170"/>
              <a:gd name="T55" fmla="*/ 32 h 172"/>
              <a:gd name="T56" fmla="*/ 139 w 170"/>
              <a:gd name="T57" fmla="*/ 20 h 172"/>
              <a:gd name="T58" fmla="*/ 126 w 170"/>
              <a:gd name="T59" fmla="*/ 11 h 172"/>
              <a:gd name="T60" fmla="*/ 111 w 170"/>
              <a:gd name="T61" fmla="*/ 5 h 172"/>
              <a:gd name="T62" fmla="*/ 94 w 170"/>
              <a:gd name="T63" fmla="*/ 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 h="172">
                <a:moveTo>
                  <a:pt x="85" y="0"/>
                </a:moveTo>
                <a:lnTo>
                  <a:pt x="76" y="2"/>
                </a:lnTo>
                <a:lnTo>
                  <a:pt x="66" y="2"/>
                </a:lnTo>
                <a:lnTo>
                  <a:pt x="59" y="5"/>
                </a:lnTo>
                <a:lnTo>
                  <a:pt x="51" y="8"/>
                </a:lnTo>
                <a:lnTo>
                  <a:pt x="44" y="11"/>
                </a:lnTo>
                <a:lnTo>
                  <a:pt x="36" y="15"/>
                </a:lnTo>
                <a:lnTo>
                  <a:pt x="30" y="20"/>
                </a:lnTo>
                <a:lnTo>
                  <a:pt x="24" y="26"/>
                </a:lnTo>
                <a:lnTo>
                  <a:pt x="18" y="32"/>
                </a:lnTo>
                <a:lnTo>
                  <a:pt x="13" y="38"/>
                </a:lnTo>
                <a:lnTo>
                  <a:pt x="9" y="46"/>
                </a:lnTo>
                <a:lnTo>
                  <a:pt x="6" y="53"/>
                </a:lnTo>
                <a:lnTo>
                  <a:pt x="3" y="61"/>
                </a:lnTo>
                <a:lnTo>
                  <a:pt x="1" y="68"/>
                </a:lnTo>
                <a:lnTo>
                  <a:pt x="0" y="77"/>
                </a:lnTo>
                <a:lnTo>
                  <a:pt x="0" y="87"/>
                </a:lnTo>
                <a:lnTo>
                  <a:pt x="0" y="94"/>
                </a:lnTo>
                <a:lnTo>
                  <a:pt x="1" y="103"/>
                </a:lnTo>
                <a:lnTo>
                  <a:pt x="3" y="111"/>
                </a:lnTo>
                <a:lnTo>
                  <a:pt x="6" y="118"/>
                </a:lnTo>
                <a:lnTo>
                  <a:pt x="9" y="126"/>
                </a:lnTo>
                <a:lnTo>
                  <a:pt x="13" y="134"/>
                </a:lnTo>
                <a:lnTo>
                  <a:pt x="18" y="140"/>
                </a:lnTo>
                <a:lnTo>
                  <a:pt x="24" y="146"/>
                </a:lnTo>
                <a:lnTo>
                  <a:pt x="30" y="152"/>
                </a:lnTo>
                <a:lnTo>
                  <a:pt x="36" y="156"/>
                </a:lnTo>
                <a:lnTo>
                  <a:pt x="44" y="161"/>
                </a:lnTo>
                <a:lnTo>
                  <a:pt x="51" y="164"/>
                </a:lnTo>
                <a:lnTo>
                  <a:pt x="59" y="167"/>
                </a:lnTo>
                <a:lnTo>
                  <a:pt x="66" y="170"/>
                </a:lnTo>
                <a:lnTo>
                  <a:pt x="76" y="170"/>
                </a:lnTo>
                <a:lnTo>
                  <a:pt x="85" y="172"/>
                </a:lnTo>
                <a:lnTo>
                  <a:pt x="94" y="170"/>
                </a:lnTo>
                <a:lnTo>
                  <a:pt x="101" y="170"/>
                </a:lnTo>
                <a:lnTo>
                  <a:pt x="111" y="167"/>
                </a:lnTo>
                <a:lnTo>
                  <a:pt x="118" y="164"/>
                </a:lnTo>
                <a:lnTo>
                  <a:pt x="126" y="161"/>
                </a:lnTo>
                <a:lnTo>
                  <a:pt x="132" y="156"/>
                </a:lnTo>
                <a:lnTo>
                  <a:pt x="139" y="152"/>
                </a:lnTo>
                <a:lnTo>
                  <a:pt x="145" y="146"/>
                </a:lnTo>
                <a:lnTo>
                  <a:pt x="150" y="140"/>
                </a:lnTo>
                <a:lnTo>
                  <a:pt x="155" y="134"/>
                </a:lnTo>
                <a:lnTo>
                  <a:pt x="159" y="126"/>
                </a:lnTo>
                <a:lnTo>
                  <a:pt x="164" y="118"/>
                </a:lnTo>
                <a:lnTo>
                  <a:pt x="165" y="111"/>
                </a:lnTo>
                <a:lnTo>
                  <a:pt x="168" y="103"/>
                </a:lnTo>
                <a:lnTo>
                  <a:pt x="170" y="94"/>
                </a:lnTo>
                <a:lnTo>
                  <a:pt x="170" y="87"/>
                </a:lnTo>
                <a:lnTo>
                  <a:pt x="170" y="77"/>
                </a:lnTo>
                <a:lnTo>
                  <a:pt x="168" y="68"/>
                </a:lnTo>
                <a:lnTo>
                  <a:pt x="165" y="61"/>
                </a:lnTo>
                <a:lnTo>
                  <a:pt x="164" y="53"/>
                </a:lnTo>
                <a:lnTo>
                  <a:pt x="159" y="46"/>
                </a:lnTo>
                <a:lnTo>
                  <a:pt x="155" y="38"/>
                </a:lnTo>
                <a:lnTo>
                  <a:pt x="150" y="32"/>
                </a:lnTo>
                <a:lnTo>
                  <a:pt x="145" y="26"/>
                </a:lnTo>
                <a:lnTo>
                  <a:pt x="139" y="20"/>
                </a:lnTo>
                <a:lnTo>
                  <a:pt x="132" y="15"/>
                </a:lnTo>
                <a:lnTo>
                  <a:pt x="126" y="11"/>
                </a:lnTo>
                <a:lnTo>
                  <a:pt x="118" y="8"/>
                </a:lnTo>
                <a:lnTo>
                  <a:pt x="111" y="5"/>
                </a:lnTo>
                <a:lnTo>
                  <a:pt x="101" y="2"/>
                </a:lnTo>
                <a:lnTo>
                  <a:pt x="94" y="2"/>
                </a:lnTo>
                <a:lnTo>
                  <a:pt x="85" y="0"/>
                </a:lnTo>
                <a:close/>
              </a:path>
            </a:pathLst>
          </a:custGeom>
          <a:solidFill>
            <a:srgbClr val="00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5816" name="Freeform 104">
            <a:extLst>
              <a:ext uri="{FF2B5EF4-FFF2-40B4-BE49-F238E27FC236}">
                <a16:creationId xmlns:a16="http://schemas.microsoft.com/office/drawing/2014/main" id="{3289C34E-6EB0-0B86-A361-F0375C2B4F77}"/>
              </a:ext>
            </a:extLst>
          </p:cNvPr>
          <p:cNvSpPr>
            <a:spLocks/>
          </p:cNvSpPr>
          <p:nvPr/>
        </p:nvSpPr>
        <p:spPr bwMode="auto">
          <a:xfrm>
            <a:off x="4706939" y="5403850"/>
            <a:ext cx="269875" cy="273050"/>
          </a:xfrm>
          <a:custGeom>
            <a:avLst/>
            <a:gdLst>
              <a:gd name="T0" fmla="*/ 76 w 170"/>
              <a:gd name="T1" fmla="*/ 2 h 172"/>
              <a:gd name="T2" fmla="*/ 59 w 170"/>
              <a:gd name="T3" fmla="*/ 5 h 172"/>
              <a:gd name="T4" fmla="*/ 44 w 170"/>
              <a:gd name="T5" fmla="*/ 11 h 172"/>
              <a:gd name="T6" fmla="*/ 30 w 170"/>
              <a:gd name="T7" fmla="*/ 20 h 172"/>
              <a:gd name="T8" fmla="*/ 18 w 170"/>
              <a:gd name="T9" fmla="*/ 32 h 172"/>
              <a:gd name="T10" fmla="*/ 9 w 170"/>
              <a:gd name="T11" fmla="*/ 46 h 172"/>
              <a:gd name="T12" fmla="*/ 3 w 170"/>
              <a:gd name="T13" fmla="*/ 61 h 172"/>
              <a:gd name="T14" fmla="*/ 0 w 170"/>
              <a:gd name="T15" fmla="*/ 77 h 172"/>
              <a:gd name="T16" fmla="*/ 0 w 170"/>
              <a:gd name="T17" fmla="*/ 94 h 172"/>
              <a:gd name="T18" fmla="*/ 3 w 170"/>
              <a:gd name="T19" fmla="*/ 111 h 172"/>
              <a:gd name="T20" fmla="*/ 9 w 170"/>
              <a:gd name="T21" fmla="*/ 126 h 172"/>
              <a:gd name="T22" fmla="*/ 18 w 170"/>
              <a:gd name="T23" fmla="*/ 140 h 172"/>
              <a:gd name="T24" fmla="*/ 30 w 170"/>
              <a:gd name="T25" fmla="*/ 152 h 172"/>
              <a:gd name="T26" fmla="*/ 44 w 170"/>
              <a:gd name="T27" fmla="*/ 161 h 172"/>
              <a:gd name="T28" fmla="*/ 59 w 170"/>
              <a:gd name="T29" fmla="*/ 167 h 172"/>
              <a:gd name="T30" fmla="*/ 76 w 170"/>
              <a:gd name="T31" fmla="*/ 170 h 172"/>
              <a:gd name="T32" fmla="*/ 94 w 170"/>
              <a:gd name="T33" fmla="*/ 170 h 172"/>
              <a:gd name="T34" fmla="*/ 111 w 170"/>
              <a:gd name="T35" fmla="*/ 167 h 172"/>
              <a:gd name="T36" fmla="*/ 126 w 170"/>
              <a:gd name="T37" fmla="*/ 161 h 172"/>
              <a:gd name="T38" fmla="*/ 139 w 170"/>
              <a:gd name="T39" fmla="*/ 152 h 172"/>
              <a:gd name="T40" fmla="*/ 150 w 170"/>
              <a:gd name="T41" fmla="*/ 140 h 172"/>
              <a:gd name="T42" fmla="*/ 159 w 170"/>
              <a:gd name="T43" fmla="*/ 126 h 172"/>
              <a:gd name="T44" fmla="*/ 165 w 170"/>
              <a:gd name="T45" fmla="*/ 111 h 172"/>
              <a:gd name="T46" fmla="*/ 170 w 170"/>
              <a:gd name="T47" fmla="*/ 94 h 172"/>
              <a:gd name="T48" fmla="*/ 170 w 170"/>
              <a:gd name="T49" fmla="*/ 77 h 172"/>
              <a:gd name="T50" fmla="*/ 165 w 170"/>
              <a:gd name="T51" fmla="*/ 61 h 172"/>
              <a:gd name="T52" fmla="*/ 159 w 170"/>
              <a:gd name="T53" fmla="*/ 46 h 172"/>
              <a:gd name="T54" fmla="*/ 150 w 170"/>
              <a:gd name="T55" fmla="*/ 32 h 172"/>
              <a:gd name="T56" fmla="*/ 139 w 170"/>
              <a:gd name="T57" fmla="*/ 20 h 172"/>
              <a:gd name="T58" fmla="*/ 126 w 170"/>
              <a:gd name="T59" fmla="*/ 11 h 172"/>
              <a:gd name="T60" fmla="*/ 111 w 170"/>
              <a:gd name="T61" fmla="*/ 5 h 172"/>
              <a:gd name="T62" fmla="*/ 94 w 170"/>
              <a:gd name="T63" fmla="*/ 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 h="172">
                <a:moveTo>
                  <a:pt x="85" y="0"/>
                </a:moveTo>
                <a:lnTo>
                  <a:pt x="76" y="2"/>
                </a:lnTo>
                <a:lnTo>
                  <a:pt x="66" y="2"/>
                </a:lnTo>
                <a:lnTo>
                  <a:pt x="59" y="5"/>
                </a:lnTo>
                <a:lnTo>
                  <a:pt x="51" y="8"/>
                </a:lnTo>
                <a:lnTo>
                  <a:pt x="44" y="11"/>
                </a:lnTo>
                <a:lnTo>
                  <a:pt x="36" y="15"/>
                </a:lnTo>
                <a:lnTo>
                  <a:pt x="30" y="20"/>
                </a:lnTo>
                <a:lnTo>
                  <a:pt x="24" y="26"/>
                </a:lnTo>
                <a:lnTo>
                  <a:pt x="18" y="32"/>
                </a:lnTo>
                <a:lnTo>
                  <a:pt x="13" y="38"/>
                </a:lnTo>
                <a:lnTo>
                  <a:pt x="9" y="46"/>
                </a:lnTo>
                <a:lnTo>
                  <a:pt x="6" y="53"/>
                </a:lnTo>
                <a:lnTo>
                  <a:pt x="3" y="61"/>
                </a:lnTo>
                <a:lnTo>
                  <a:pt x="1" y="68"/>
                </a:lnTo>
                <a:lnTo>
                  <a:pt x="0" y="77"/>
                </a:lnTo>
                <a:lnTo>
                  <a:pt x="0" y="87"/>
                </a:lnTo>
                <a:lnTo>
                  <a:pt x="0" y="94"/>
                </a:lnTo>
                <a:lnTo>
                  <a:pt x="1" y="103"/>
                </a:lnTo>
                <a:lnTo>
                  <a:pt x="3" y="111"/>
                </a:lnTo>
                <a:lnTo>
                  <a:pt x="6" y="118"/>
                </a:lnTo>
                <a:lnTo>
                  <a:pt x="9" y="126"/>
                </a:lnTo>
                <a:lnTo>
                  <a:pt x="13" y="134"/>
                </a:lnTo>
                <a:lnTo>
                  <a:pt x="18" y="140"/>
                </a:lnTo>
                <a:lnTo>
                  <a:pt x="24" y="146"/>
                </a:lnTo>
                <a:lnTo>
                  <a:pt x="30" y="152"/>
                </a:lnTo>
                <a:lnTo>
                  <a:pt x="36" y="156"/>
                </a:lnTo>
                <a:lnTo>
                  <a:pt x="44" y="161"/>
                </a:lnTo>
                <a:lnTo>
                  <a:pt x="51" y="164"/>
                </a:lnTo>
                <a:lnTo>
                  <a:pt x="59" y="167"/>
                </a:lnTo>
                <a:lnTo>
                  <a:pt x="66" y="170"/>
                </a:lnTo>
                <a:lnTo>
                  <a:pt x="76" y="170"/>
                </a:lnTo>
                <a:lnTo>
                  <a:pt x="85" y="172"/>
                </a:lnTo>
                <a:lnTo>
                  <a:pt x="94" y="170"/>
                </a:lnTo>
                <a:lnTo>
                  <a:pt x="101" y="170"/>
                </a:lnTo>
                <a:lnTo>
                  <a:pt x="111" y="167"/>
                </a:lnTo>
                <a:lnTo>
                  <a:pt x="118" y="164"/>
                </a:lnTo>
                <a:lnTo>
                  <a:pt x="126" y="161"/>
                </a:lnTo>
                <a:lnTo>
                  <a:pt x="132" y="156"/>
                </a:lnTo>
                <a:lnTo>
                  <a:pt x="139" y="152"/>
                </a:lnTo>
                <a:lnTo>
                  <a:pt x="145" y="146"/>
                </a:lnTo>
                <a:lnTo>
                  <a:pt x="150" y="140"/>
                </a:lnTo>
                <a:lnTo>
                  <a:pt x="155" y="134"/>
                </a:lnTo>
                <a:lnTo>
                  <a:pt x="159" y="126"/>
                </a:lnTo>
                <a:lnTo>
                  <a:pt x="164" y="118"/>
                </a:lnTo>
                <a:lnTo>
                  <a:pt x="165" y="111"/>
                </a:lnTo>
                <a:lnTo>
                  <a:pt x="168" y="103"/>
                </a:lnTo>
                <a:lnTo>
                  <a:pt x="170" y="94"/>
                </a:lnTo>
                <a:lnTo>
                  <a:pt x="170" y="87"/>
                </a:lnTo>
                <a:lnTo>
                  <a:pt x="170" y="77"/>
                </a:lnTo>
                <a:lnTo>
                  <a:pt x="168" y="68"/>
                </a:lnTo>
                <a:lnTo>
                  <a:pt x="165" y="61"/>
                </a:lnTo>
                <a:lnTo>
                  <a:pt x="164" y="53"/>
                </a:lnTo>
                <a:lnTo>
                  <a:pt x="159" y="46"/>
                </a:lnTo>
                <a:lnTo>
                  <a:pt x="155" y="38"/>
                </a:lnTo>
                <a:lnTo>
                  <a:pt x="150" y="32"/>
                </a:lnTo>
                <a:lnTo>
                  <a:pt x="145" y="26"/>
                </a:lnTo>
                <a:lnTo>
                  <a:pt x="139" y="20"/>
                </a:lnTo>
                <a:lnTo>
                  <a:pt x="132" y="15"/>
                </a:lnTo>
                <a:lnTo>
                  <a:pt x="126" y="11"/>
                </a:lnTo>
                <a:lnTo>
                  <a:pt x="118" y="8"/>
                </a:lnTo>
                <a:lnTo>
                  <a:pt x="111" y="5"/>
                </a:lnTo>
                <a:lnTo>
                  <a:pt x="101" y="2"/>
                </a:lnTo>
                <a:lnTo>
                  <a:pt x="94" y="2"/>
                </a:lnTo>
                <a:lnTo>
                  <a:pt x="85"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5817" name="Rectangle 105">
            <a:extLst>
              <a:ext uri="{FF2B5EF4-FFF2-40B4-BE49-F238E27FC236}">
                <a16:creationId xmlns:a16="http://schemas.microsoft.com/office/drawing/2014/main" id="{D84E6673-DE2B-F385-F3C3-28B38BB15B8F}"/>
              </a:ext>
            </a:extLst>
          </p:cNvPr>
          <p:cNvSpPr>
            <a:spLocks noChangeArrowheads="1"/>
          </p:cNvSpPr>
          <p:nvPr/>
        </p:nvSpPr>
        <p:spPr bwMode="auto">
          <a:xfrm>
            <a:off x="4786313" y="5435601"/>
            <a:ext cx="9457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t>S</a:t>
            </a:r>
            <a:endParaRPr lang="en-US" altLang="en-US"/>
          </a:p>
        </p:txBody>
      </p:sp>
      <p:sp>
        <p:nvSpPr>
          <p:cNvPr id="115818" name="Freeform 106">
            <a:extLst>
              <a:ext uri="{FF2B5EF4-FFF2-40B4-BE49-F238E27FC236}">
                <a16:creationId xmlns:a16="http://schemas.microsoft.com/office/drawing/2014/main" id="{E11503FA-1699-B26D-3AE9-CC4A54C5A753}"/>
              </a:ext>
            </a:extLst>
          </p:cNvPr>
          <p:cNvSpPr>
            <a:spLocks/>
          </p:cNvSpPr>
          <p:nvPr/>
        </p:nvSpPr>
        <p:spPr bwMode="auto">
          <a:xfrm>
            <a:off x="5942013" y="4291014"/>
            <a:ext cx="273050" cy="269875"/>
          </a:xfrm>
          <a:custGeom>
            <a:avLst/>
            <a:gdLst>
              <a:gd name="T0" fmla="*/ 77 w 172"/>
              <a:gd name="T1" fmla="*/ 0 h 170"/>
              <a:gd name="T2" fmla="*/ 61 w 172"/>
              <a:gd name="T3" fmla="*/ 3 h 170"/>
              <a:gd name="T4" fmla="*/ 44 w 172"/>
              <a:gd name="T5" fmla="*/ 10 h 170"/>
              <a:gd name="T6" fmla="*/ 32 w 172"/>
              <a:gd name="T7" fmla="*/ 19 h 170"/>
              <a:gd name="T8" fmla="*/ 20 w 172"/>
              <a:gd name="T9" fmla="*/ 30 h 170"/>
              <a:gd name="T10" fmla="*/ 11 w 172"/>
              <a:gd name="T11" fmla="*/ 44 h 170"/>
              <a:gd name="T12" fmla="*/ 4 w 172"/>
              <a:gd name="T13" fmla="*/ 59 h 170"/>
              <a:gd name="T14" fmla="*/ 0 w 172"/>
              <a:gd name="T15" fmla="*/ 76 h 170"/>
              <a:gd name="T16" fmla="*/ 0 w 172"/>
              <a:gd name="T17" fmla="*/ 94 h 170"/>
              <a:gd name="T18" fmla="*/ 4 w 172"/>
              <a:gd name="T19" fmla="*/ 110 h 170"/>
              <a:gd name="T20" fmla="*/ 11 w 172"/>
              <a:gd name="T21" fmla="*/ 126 h 170"/>
              <a:gd name="T22" fmla="*/ 20 w 172"/>
              <a:gd name="T23" fmla="*/ 139 h 170"/>
              <a:gd name="T24" fmla="*/ 32 w 172"/>
              <a:gd name="T25" fmla="*/ 150 h 170"/>
              <a:gd name="T26" fmla="*/ 44 w 172"/>
              <a:gd name="T27" fmla="*/ 159 h 170"/>
              <a:gd name="T28" fmla="*/ 61 w 172"/>
              <a:gd name="T29" fmla="*/ 167 h 170"/>
              <a:gd name="T30" fmla="*/ 77 w 172"/>
              <a:gd name="T31" fmla="*/ 170 h 170"/>
              <a:gd name="T32" fmla="*/ 94 w 172"/>
              <a:gd name="T33" fmla="*/ 170 h 170"/>
              <a:gd name="T34" fmla="*/ 111 w 172"/>
              <a:gd name="T35" fmla="*/ 167 h 170"/>
              <a:gd name="T36" fmla="*/ 126 w 172"/>
              <a:gd name="T37" fmla="*/ 159 h 170"/>
              <a:gd name="T38" fmla="*/ 140 w 172"/>
              <a:gd name="T39" fmla="*/ 150 h 170"/>
              <a:gd name="T40" fmla="*/ 152 w 172"/>
              <a:gd name="T41" fmla="*/ 139 h 170"/>
              <a:gd name="T42" fmla="*/ 161 w 172"/>
              <a:gd name="T43" fmla="*/ 126 h 170"/>
              <a:gd name="T44" fmla="*/ 167 w 172"/>
              <a:gd name="T45" fmla="*/ 110 h 170"/>
              <a:gd name="T46" fmla="*/ 170 w 172"/>
              <a:gd name="T47" fmla="*/ 94 h 170"/>
              <a:gd name="T48" fmla="*/ 170 w 172"/>
              <a:gd name="T49" fmla="*/ 76 h 170"/>
              <a:gd name="T50" fmla="*/ 167 w 172"/>
              <a:gd name="T51" fmla="*/ 59 h 170"/>
              <a:gd name="T52" fmla="*/ 161 w 172"/>
              <a:gd name="T53" fmla="*/ 44 h 170"/>
              <a:gd name="T54" fmla="*/ 152 w 172"/>
              <a:gd name="T55" fmla="*/ 30 h 170"/>
              <a:gd name="T56" fmla="*/ 140 w 172"/>
              <a:gd name="T57" fmla="*/ 19 h 170"/>
              <a:gd name="T58" fmla="*/ 126 w 172"/>
              <a:gd name="T59" fmla="*/ 10 h 170"/>
              <a:gd name="T60" fmla="*/ 111 w 172"/>
              <a:gd name="T61" fmla="*/ 3 h 170"/>
              <a:gd name="T62" fmla="*/ 94 w 172"/>
              <a:gd name="T63"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2" h="170">
                <a:moveTo>
                  <a:pt x="85" y="0"/>
                </a:moveTo>
                <a:lnTo>
                  <a:pt x="77" y="0"/>
                </a:lnTo>
                <a:lnTo>
                  <a:pt x="68" y="1"/>
                </a:lnTo>
                <a:lnTo>
                  <a:pt x="61" y="3"/>
                </a:lnTo>
                <a:lnTo>
                  <a:pt x="52" y="6"/>
                </a:lnTo>
                <a:lnTo>
                  <a:pt x="44" y="10"/>
                </a:lnTo>
                <a:lnTo>
                  <a:pt x="38" y="13"/>
                </a:lnTo>
                <a:lnTo>
                  <a:pt x="32" y="19"/>
                </a:lnTo>
                <a:lnTo>
                  <a:pt x="26" y="24"/>
                </a:lnTo>
                <a:lnTo>
                  <a:pt x="20" y="30"/>
                </a:lnTo>
                <a:lnTo>
                  <a:pt x="15" y="38"/>
                </a:lnTo>
                <a:lnTo>
                  <a:pt x="11" y="44"/>
                </a:lnTo>
                <a:lnTo>
                  <a:pt x="6" y="51"/>
                </a:lnTo>
                <a:lnTo>
                  <a:pt x="4" y="59"/>
                </a:lnTo>
                <a:lnTo>
                  <a:pt x="1" y="68"/>
                </a:lnTo>
                <a:lnTo>
                  <a:pt x="0" y="76"/>
                </a:lnTo>
                <a:lnTo>
                  <a:pt x="0" y="85"/>
                </a:lnTo>
                <a:lnTo>
                  <a:pt x="0" y="94"/>
                </a:lnTo>
                <a:lnTo>
                  <a:pt x="1" y="101"/>
                </a:lnTo>
                <a:lnTo>
                  <a:pt x="4" y="110"/>
                </a:lnTo>
                <a:lnTo>
                  <a:pt x="6" y="118"/>
                </a:lnTo>
                <a:lnTo>
                  <a:pt x="11" y="126"/>
                </a:lnTo>
                <a:lnTo>
                  <a:pt x="15" y="132"/>
                </a:lnTo>
                <a:lnTo>
                  <a:pt x="20" y="139"/>
                </a:lnTo>
                <a:lnTo>
                  <a:pt x="26" y="145"/>
                </a:lnTo>
                <a:lnTo>
                  <a:pt x="32" y="150"/>
                </a:lnTo>
                <a:lnTo>
                  <a:pt x="38" y="156"/>
                </a:lnTo>
                <a:lnTo>
                  <a:pt x="44" y="159"/>
                </a:lnTo>
                <a:lnTo>
                  <a:pt x="52" y="164"/>
                </a:lnTo>
                <a:lnTo>
                  <a:pt x="61" y="167"/>
                </a:lnTo>
                <a:lnTo>
                  <a:pt x="68" y="168"/>
                </a:lnTo>
                <a:lnTo>
                  <a:pt x="77" y="170"/>
                </a:lnTo>
                <a:lnTo>
                  <a:pt x="85" y="170"/>
                </a:lnTo>
                <a:lnTo>
                  <a:pt x="94" y="170"/>
                </a:lnTo>
                <a:lnTo>
                  <a:pt x="103" y="168"/>
                </a:lnTo>
                <a:lnTo>
                  <a:pt x="111" y="167"/>
                </a:lnTo>
                <a:lnTo>
                  <a:pt x="118" y="164"/>
                </a:lnTo>
                <a:lnTo>
                  <a:pt x="126" y="159"/>
                </a:lnTo>
                <a:lnTo>
                  <a:pt x="134" y="156"/>
                </a:lnTo>
                <a:lnTo>
                  <a:pt x="140" y="150"/>
                </a:lnTo>
                <a:lnTo>
                  <a:pt x="146" y="145"/>
                </a:lnTo>
                <a:lnTo>
                  <a:pt x="152" y="139"/>
                </a:lnTo>
                <a:lnTo>
                  <a:pt x="156" y="132"/>
                </a:lnTo>
                <a:lnTo>
                  <a:pt x="161" y="126"/>
                </a:lnTo>
                <a:lnTo>
                  <a:pt x="164" y="118"/>
                </a:lnTo>
                <a:lnTo>
                  <a:pt x="167" y="110"/>
                </a:lnTo>
                <a:lnTo>
                  <a:pt x="169" y="101"/>
                </a:lnTo>
                <a:lnTo>
                  <a:pt x="170" y="94"/>
                </a:lnTo>
                <a:lnTo>
                  <a:pt x="172" y="85"/>
                </a:lnTo>
                <a:lnTo>
                  <a:pt x="170" y="76"/>
                </a:lnTo>
                <a:lnTo>
                  <a:pt x="169" y="68"/>
                </a:lnTo>
                <a:lnTo>
                  <a:pt x="167" y="59"/>
                </a:lnTo>
                <a:lnTo>
                  <a:pt x="164" y="51"/>
                </a:lnTo>
                <a:lnTo>
                  <a:pt x="161" y="44"/>
                </a:lnTo>
                <a:lnTo>
                  <a:pt x="156" y="38"/>
                </a:lnTo>
                <a:lnTo>
                  <a:pt x="152" y="30"/>
                </a:lnTo>
                <a:lnTo>
                  <a:pt x="146" y="24"/>
                </a:lnTo>
                <a:lnTo>
                  <a:pt x="140" y="19"/>
                </a:lnTo>
                <a:lnTo>
                  <a:pt x="134" y="13"/>
                </a:lnTo>
                <a:lnTo>
                  <a:pt x="126" y="10"/>
                </a:lnTo>
                <a:lnTo>
                  <a:pt x="118" y="6"/>
                </a:lnTo>
                <a:lnTo>
                  <a:pt x="111" y="3"/>
                </a:lnTo>
                <a:lnTo>
                  <a:pt x="103" y="1"/>
                </a:lnTo>
                <a:lnTo>
                  <a:pt x="94" y="0"/>
                </a:lnTo>
                <a:lnTo>
                  <a:pt x="85" y="0"/>
                </a:lnTo>
                <a:close/>
              </a:path>
            </a:pathLst>
          </a:custGeom>
          <a:solidFill>
            <a:srgbClr val="00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5819" name="Freeform 107">
            <a:extLst>
              <a:ext uri="{FF2B5EF4-FFF2-40B4-BE49-F238E27FC236}">
                <a16:creationId xmlns:a16="http://schemas.microsoft.com/office/drawing/2014/main" id="{7A7DDF8F-FB12-52C7-B95B-0FC4E4DF0A25}"/>
              </a:ext>
            </a:extLst>
          </p:cNvPr>
          <p:cNvSpPr>
            <a:spLocks/>
          </p:cNvSpPr>
          <p:nvPr/>
        </p:nvSpPr>
        <p:spPr bwMode="auto">
          <a:xfrm>
            <a:off x="5942013" y="4291014"/>
            <a:ext cx="273050" cy="269875"/>
          </a:xfrm>
          <a:custGeom>
            <a:avLst/>
            <a:gdLst>
              <a:gd name="T0" fmla="*/ 77 w 172"/>
              <a:gd name="T1" fmla="*/ 0 h 170"/>
              <a:gd name="T2" fmla="*/ 61 w 172"/>
              <a:gd name="T3" fmla="*/ 3 h 170"/>
              <a:gd name="T4" fmla="*/ 44 w 172"/>
              <a:gd name="T5" fmla="*/ 10 h 170"/>
              <a:gd name="T6" fmla="*/ 32 w 172"/>
              <a:gd name="T7" fmla="*/ 19 h 170"/>
              <a:gd name="T8" fmla="*/ 20 w 172"/>
              <a:gd name="T9" fmla="*/ 30 h 170"/>
              <a:gd name="T10" fmla="*/ 11 w 172"/>
              <a:gd name="T11" fmla="*/ 44 h 170"/>
              <a:gd name="T12" fmla="*/ 4 w 172"/>
              <a:gd name="T13" fmla="*/ 59 h 170"/>
              <a:gd name="T14" fmla="*/ 0 w 172"/>
              <a:gd name="T15" fmla="*/ 76 h 170"/>
              <a:gd name="T16" fmla="*/ 0 w 172"/>
              <a:gd name="T17" fmla="*/ 94 h 170"/>
              <a:gd name="T18" fmla="*/ 4 w 172"/>
              <a:gd name="T19" fmla="*/ 110 h 170"/>
              <a:gd name="T20" fmla="*/ 11 w 172"/>
              <a:gd name="T21" fmla="*/ 126 h 170"/>
              <a:gd name="T22" fmla="*/ 20 w 172"/>
              <a:gd name="T23" fmla="*/ 139 h 170"/>
              <a:gd name="T24" fmla="*/ 32 w 172"/>
              <a:gd name="T25" fmla="*/ 150 h 170"/>
              <a:gd name="T26" fmla="*/ 44 w 172"/>
              <a:gd name="T27" fmla="*/ 159 h 170"/>
              <a:gd name="T28" fmla="*/ 61 w 172"/>
              <a:gd name="T29" fmla="*/ 167 h 170"/>
              <a:gd name="T30" fmla="*/ 77 w 172"/>
              <a:gd name="T31" fmla="*/ 170 h 170"/>
              <a:gd name="T32" fmla="*/ 94 w 172"/>
              <a:gd name="T33" fmla="*/ 170 h 170"/>
              <a:gd name="T34" fmla="*/ 111 w 172"/>
              <a:gd name="T35" fmla="*/ 167 h 170"/>
              <a:gd name="T36" fmla="*/ 126 w 172"/>
              <a:gd name="T37" fmla="*/ 159 h 170"/>
              <a:gd name="T38" fmla="*/ 140 w 172"/>
              <a:gd name="T39" fmla="*/ 150 h 170"/>
              <a:gd name="T40" fmla="*/ 152 w 172"/>
              <a:gd name="T41" fmla="*/ 139 h 170"/>
              <a:gd name="T42" fmla="*/ 161 w 172"/>
              <a:gd name="T43" fmla="*/ 126 h 170"/>
              <a:gd name="T44" fmla="*/ 167 w 172"/>
              <a:gd name="T45" fmla="*/ 110 h 170"/>
              <a:gd name="T46" fmla="*/ 170 w 172"/>
              <a:gd name="T47" fmla="*/ 94 h 170"/>
              <a:gd name="T48" fmla="*/ 170 w 172"/>
              <a:gd name="T49" fmla="*/ 76 h 170"/>
              <a:gd name="T50" fmla="*/ 167 w 172"/>
              <a:gd name="T51" fmla="*/ 59 h 170"/>
              <a:gd name="T52" fmla="*/ 161 w 172"/>
              <a:gd name="T53" fmla="*/ 44 h 170"/>
              <a:gd name="T54" fmla="*/ 152 w 172"/>
              <a:gd name="T55" fmla="*/ 30 h 170"/>
              <a:gd name="T56" fmla="*/ 140 w 172"/>
              <a:gd name="T57" fmla="*/ 19 h 170"/>
              <a:gd name="T58" fmla="*/ 126 w 172"/>
              <a:gd name="T59" fmla="*/ 10 h 170"/>
              <a:gd name="T60" fmla="*/ 111 w 172"/>
              <a:gd name="T61" fmla="*/ 3 h 170"/>
              <a:gd name="T62" fmla="*/ 94 w 172"/>
              <a:gd name="T63"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2" h="170">
                <a:moveTo>
                  <a:pt x="85" y="0"/>
                </a:moveTo>
                <a:lnTo>
                  <a:pt x="77" y="0"/>
                </a:lnTo>
                <a:lnTo>
                  <a:pt x="68" y="1"/>
                </a:lnTo>
                <a:lnTo>
                  <a:pt x="61" y="3"/>
                </a:lnTo>
                <a:lnTo>
                  <a:pt x="52" y="6"/>
                </a:lnTo>
                <a:lnTo>
                  <a:pt x="44" y="10"/>
                </a:lnTo>
                <a:lnTo>
                  <a:pt x="38" y="13"/>
                </a:lnTo>
                <a:lnTo>
                  <a:pt x="32" y="19"/>
                </a:lnTo>
                <a:lnTo>
                  <a:pt x="26" y="24"/>
                </a:lnTo>
                <a:lnTo>
                  <a:pt x="20" y="30"/>
                </a:lnTo>
                <a:lnTo>
                  <a:pt x="15" y="38"/>
                </a:lnTo>
                <a:lnTo>
                  <a:pt x="11" y="44"/>
                </a:lnTo>
                <a:lnTo>
                  <a:pt x="6" y="51"/>
                </a:lnTo>
                <a:lnTo>
                  <a:pt x="4" y="59"/>
                </a:lnTo>
                <a:lnTo>
                  <a:pt x="1" y="68"/>
                </a:lnTo>
                <a:lnTo>
                  <a:pt x="0" y="76"/>
                </a:lnTo>
                <a:lnTo>
                  <a:pt x="0" y="85"/>
                </a:lnTo>
                <a:lnTo>
                  <a:pt x="0" y="94"/>
                </a:lnTo>
                <a:lnTo>
                  <a:pt x="1" y="101"/>
                </a:lnTo>
                <a:lnTo>
                  <a:pt x="4" y="110"/>
                </a:lnTo>
                <a:lnTo>
                  <a:pt x="6" y="118"/>
                </a:lnTo>
                <a:lnTo>
                  <a:pt x="11" y="126"/>
                </a:lnTo>
                <a:lnTo>
                  <a:pt x="15" y="132"/>
                </a:lnTo>
                <a:lnTo>
                  <a:pt x="20" y="139"/>
                </a:lnTo>
                <a:lnTo>
                  <a:pt x="26" y="145"/>
                </a:lnTo>
                <a:lnTo>
                  <a:pt x="32" y="150"/>
                </a:lnTo>
                <a:lnTo>
                  <a:pt x="38" y="156"/>
                </a:lnTo>
                <a:lnTo>
                  <a:pt x="44" y="159"/>
                </a:lnTo>
                <a:lnTo>
                  <a:pt x="52" y="164"/>
                </a:lnTo>
                <a:lnTo>
                  <a:pt x="61" y="167"/>
                </a:lnTo>
                <a:lnTo>
                  <a:pt x="68" y="168"/>
                </a:lnTo>
                <a:lnTo>
                  <a:pt x="77" y="170"/>
                </a:lnTo>
                <a:lnTo>
                  <a:pt x="85" y="170"/>
                </a:lnTo>
                <a:lnTo>
                  <a:pt x="94" y="170"/>
                </a:lnTo>
                <a:lnTo>
                  <a:pt x="103" y="168"/>
                </a:lnTo>
                <a:lnTo>
                  <a:pt x="111" y="167"/>
                </a:lnTo>
                <a:lnTo>
                  <a:pt x="118" y="164"/>
                </a:lnTo>
                <a:lnTo>
                  <a:pt x="126" y="159"/>
                </a:lnTo>
                <a:lnTo>
                  <a:pt x="134" y="156"/>
                </a:lnTo>
                <a:lnTo>
                  <a:pt x="140" y="150"/>
                </a:lnTo>
                <a:lnTo>
                  <a:pt x="146" y="145"/>
                </a:lnTo>
                <a:lnTo>
                  <a:pt x="152" y="139"/>
                </a:lnTo>
                <a:lnTo>
                  <a:pt x="156" y="132"/>
                </a:lnTo>
                <a:lnTo>
                  <a:pt x="161" y="126"/>
                </a:lnTo>
                <a:lnTo>
                  <a:pt x="164" y="118"/>
                </a:lnTo>
                <a:lnTo>
                  <a:pt x="167" y="110"/>
                </a:lnTo>
                <a:lnTo>
                  <a:pt x="169" y="101"/>
                </a:lnTo>
                <a:lnTo>
                  <a:pt x="170" y="94"/>
                </a:lnTo>
                <a:lnTo>
                  <a:pt x="172" y="85"/>
                </a:lnTo>
                <a:lnTo>
                  <a:pt x="170" y="76"/>
                </a:lnTo>
                <a:lnTo>
                  <a:pt x="169" y="68"/>
                </a:lnTo>
                <a:lnTo>
                  <a:pt x="167" y="59"/>
                </a:lnTo>
                <a:lnTo>
                  <a:pt x="164" y="51"/>
                </a:lnTo>
                <a:lnTo>
                  <a:pt x="161" y="44"/>
                </a:lnTo>
                <a:lnTo>
                  <a:pt x="156" y="38"/>
                </a:lnTo>
                <a:lnTo>
                  <a:pt x="152" y="30"/>
                </a:lnTo>
                <a:lnTo>
                  <a:pt x="146" y="24"/>
                </a:lnTo>
                <a:lnTo>
                  <a:pt x="140" y="19"/>
                </a:lnTo>
                <a:lnTo>
                  <a:pt x="134" y="13"/>
                </a:lnTo>
                <a:lnTo>
                  <a:pt x="126" y="10"/>
                </a:lnTo>
                <a:lnTo>
                  <a:pt x="118" y="6"/>
                </a:lnTo>
                <a:lnTo>
                  <a:pt x="111" y="3"/>
                </a:lnTo>
                <a:lnTo>
                  <a:pt x="103" y="1"/>
                </a:lnTo>
                <a:lnTo>
                  <a:pt x="94" y="0"/>
                </a:lnTo>
                <a:lnTo>
                  <a:pt x="85"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5820" name="Rectangle 108">
            <a:extLst>
              <a:ext uri="{FF2B5EF4-FFF2-40B4-BE49-F238E27FC236}">
                <a16:creationId xmlns:a16="http://schemas.microsoft.com/office/drawing/2014/main" id="{57BF304E-1A87-F616-B647-761CC06D5F08}"/>
              </a:ext>
            </a:extLst>
          </p:cNvPr>
          <p:cNvSpPr>
            <a:spLocks noChangeArrowheads="1"/>
          </p:cNvSpPr>
          <p:nvPr/>
        </p:nvSpPr>
        <p:spPr bwMode="auto">
          <a:xfrm>
            <a:off x="6015038" y="4322764"/>
            <a:ext cx="11221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t>B</a:t>
            </a:r>
            <a:endParaRPr lang="en-US" altLang="en-US"/>
          </a:p>
        </p:txBody>
      </p:sp>
      <p:sp>
        <p:nvSpPr>
          <p:cNvPr id="115821" name="Freeform 109">
            <a:extLst>
              <a:ext uri="{FF2B5EF4-FFF2-40B4-BE49-F238E27FC236}">
                <a16:creationId xmlns:a16="http://schemas.microsoft.com/office/drawing/2014/main" id="{BD9FF572-4C53-C17A-8F83-EB286419AC57}"/>
              </a:ext>
            </a:extLst>
          </p:cNvPr>
          <p:cNvSpPr>
            <a:spLocks/>
          </p:cNvSpPr>
          <p:nvPr/>
        </p:nvSpPr>
        <p:spPr bwMode="auto">
          <a:xfrm>
            <a:off x="6456364" y="6292850"/>
            <a:ext cx="269875" cy="273050"/>
          </a:xfrm>
          <a:custGeom>
            <a:avLst/>
            <a:gdLst>
              <a:gd name="T0" fmla="*/ 76 w 170"/>
              <a:gd name="T1" fmla="*/ 0 h 172"/>
              <a:gd name="T2" fmla="*/ 59 w 170"/>
              <a:gd name="T3" fmla="*/ 5 h 172"/>
              <a:gd name="T4" fmla="*/ 44 w 170"/>
              <a:gd name="T5" fmla="*/ 11 h 172"/>
              <a:gd name="T6" fmla="*/ 30 w 170"/>
              <a:gd name="T7" fmla="*/ 20 h 172"/>
              <a:gd name="T8" fmla="*/ 18 w 170"/>
              <a:gd name="T9" fmla="*/ 32 h 172"/>
              <a:gd name="T10" fmla="*/ 9 w 170"/>
              <a:gd name="T11" fmla="*/ 44 h 172"/>
              <a:gd name="T12" fmla="*/ 3 w 170"/>
              <a:gd name="T13" fmla="*/ 61 h 172"/>
              <a:gd name="T14" fmla="*/ 0 w 170"/>
              <a:gd name="T15" fmla="*/ 78 h 172"/>
              <a:gd name="T16" fmla="*/ 0 w 170"/>
              <a:gd name="T17" fmla="*/ 94 h 172"/>
              <a:gd name="T18" fmla="*/ 3 w 170"/>
              <a:gd name="T19" fmla="*/ 111 h 172"/>
              <a:gd name="T20" fmla="*/ 9 w 170"/>
              <a:gd name="T21" fmla="*/ 126 h 172"/>
              <a:gd name="T22" fmla="*/ 18 w 170"/>
              <a:gd name="T23" fmla="*/ 140 h 172"/>
              <a:gd name="T24" fmla="*/ 30 w 170"/>
              <a:gd name="T25" fmla="*/ 152 h 172"/>
              <a:gd name="T26" fmla="*/ 44 w 170"/>
              <a:gd name="T27" fmla="*/ 161 h 172"/>
              <a:gd name="T28" fmla="*/ 59 w 170"/>
              <a:gd name="T29" fmla="*/ 167 h 172"/>
              <a:gd name="T30" fmla="*/ 76 w 170"/>
              <a:gd name="T31" fmla="*/ 170 h 172"/>
              <a:gd name="T32" fmla="*/ 94 w 170"/>
              <a:gd name="T33" fmla="*/ 170 h 172"/>
              <a:gd name="T34" fmla="*/ 111 w 170"/>
              <a:gd name="T35" fmla="*/ 167 h 172"/>
              <a:gd name="T36" fmla="*/ 126 w 170"/>
              <a:gd name="T37" fmla="*/ 161 h 172"/>
              <a:gd name="T38" fmla="*/ 140 w 170"/>
              <a:gd name="T39" fmla="*/ 152 h 172"/>
              <a:gd name="T40" fmla="*/ 150 w 170"/>
              <a:gd name="T41" fmla="*/ 140 h 172"/>
              <a:gd name="T42" fmla="*/ 159 w 170"/>
              <a:gd name="T43" fmla="*/ 126 h 172"/>
              <a:gd name="T44" fmla="*/ 165 w 170"/>
              <a:gd name="T45" fmla="*/ 111 h 172"/>
              <a:gd name="T46" fmla="*/ 170 w 170"/>
              <a:gd name="T47" fmla="*/ 94 h 172"/>
              <a:gd name="T48" fmla="*/ 170 w 170"/>
              <a:gd name="T49" fmla="*/ 78 h 172"/>
              <a:gd name="T50" fmla="*/ 165 w 170"/>
              <a:gd name="T51" fmla="*/ 61 h 172"/>
              <a:gd name="T52" fmla="*/ 159 w 170"/>
              <a:gd name="T53" fmla="*/ 44 h 172"/>
              <a:gd name="T54" fmla="*/ 150 w 170"/>
              <a:gd name="T55" fmla="*/ 32 h 172"/>
              <a:gd name="T56" fmla="*/ 140 w 170"/>
              <a:gd name="T57" fmla="*/ 20 h 172"/>
              <a:gd name="T58" fmla="*/ 126 w 170"/>
              <a:gd name="T59" fmla="*/ 11 h 172"/>
              <a:gd name="T60" fmla="*/ 111 w 170"/>
              <a:gd name="T61" fmla="*/ 5 h 172"/>
              <a:gd name="T62" fmla="*/ 94 w 170"/>
              <a:gd name="T63" fmla="*/ 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 h="172">
                <a:moveTo>
                  <a:pt x="85" y="0"/>
                </a:moveTo>
                <a:lnTo>
                  <a:pt x="76" y="0"/>
                </a:lnTo>
                <a:lnTo>
                  <a:pt x="67" y="2"/>
                </a:lnTo>
                <a:lnTo>
                  <a:pt x="59" y="5"/>
                </a:lnTo>
                <a:lnTo>
                  <a:pt x="51" y="6"/>
                </a:lnTo>
                <a:lnTo>
                  <a:pt x="44" y="11"/>
                </a:lnTo>
                <a:lnTo>
                  <a:pt x="36" y="15"/>
                </a:lnTo>
                <a:lnTo>
                  <a:pt x="30" y="20"/>
                </a:lnTo>
                <a:lnTo>
                  <a:pt x="24" y="26"/>
                </a:lnTo>
                <a:lnTo>
                  <a:pt x="18" y="32"/>
                </a:lnTo>
                <a:lnTo>
                  <a:pt x="13" y="38"/>
                </a:lnTo>
                <a:lnTo>
                  <a:pt x="9" y="44"/>
                </a:lnTo>
                <a:lnTo>
                  <a:pt x="6" y="52"/>
                </a:lnTo>
                <a:lnTo>
                  <a:pt x="3" y="61"/>
                </a:lnTo>
                <a:lnTo>
                  <a:pt x="1" y="69"/>
                </a:lnTo>
                <a:lnTo>
                  <a:pt x="0" y="78"/>
                </a:lnTo>
                <a:lnTo>
                  <a:pt x="0" y="85"/>
                </a:lnTo>
                <a:lnTo>
                  <a:pt x="0" y="94"/>
                </a:lnTo>
                <a:lnTo>
                  <a:pt x="1" y="103"/>
                </a:lnTo>
                <a:lnTo>
                  <a:pt x="3" y="111"/>
                </a:lnTo>
                <a:lnTo>
                  <a:pt x="6" y="119"/>
                </a:lnTo>
                <a:lnTo>
                  <a:pt x="9" y="126"/>
                </a:lnTo>
                <a:lnTo>
                  <a:pt x="13" y="134"/>
                </a:lnTo>
                <a:lnTo>
                  <a:pt x="18" y="140"/>
                </a:lnTo>
                <a:lnTo>
                  <a:pt x="24" y="146"/>
                </a:lnTo>
                <a:lnTo>
                  <a:pt x="30" y="152"/>
                </a:lnTo>
                <a:lnTo>
                  <a:pt x="36" y="157"/>
                </a:lnTo>
                <a:lnTo>
                  <a:pt x="44" y="161"/>
                </a:lnTo>
                <a:lnTo>
                  <a:pt x="51" y="164"/>
                </a:lnTo>
                <a:lnTo>
                  <a:pt x="59" y="167"/>
                </a:lnTo>
                <a:lnTo>
                  <a:pt x="67" y="169"/>
                </a:lnTo>
                <a:lnTo>
                  <a:pt x="76" y="170"/>
                </a:lnTo>
                <a:lnTo>
                  <a:pt x="85" y="172"/>
                </a:lnTo>
                <a:lnTo>
                  <a:pt x="94" y="170"/>
                </a:lnTo>
                <a:lnTo>
                  <a:pt x="102" y="169"/>
                </a:lnTo>
                <a:lnTo>
                  <a:pt x="111" y="167"/>
                </a:lnTo>
                <a:lnTo>
                  <a:pt x="118" y="164"/>
                </a:lnTo>
                <a:lnTo>
                  <a:pt x="126" y="161"/>
                </a:lnTo>
                <a:lnTo>
                  <a:pt x="132" y="157"/>
                </a:lnTo>
                <a:lnTo>
                  <a:pt x="140" y="152"/>
                </a:lnTo>
                <a:lnTo>
                  <a:pt x="146" y="146"/>
                </a:lnTo>
                <a:lnTo>
                  <a:pt x="150" y="140"/>
                </a:lnTo>
                <a:lnTo>
                  <a:pt x="155" y="134"/>
                </a:lnTo>
                <a:lnTo>
                  <a:pt x="159" y="126"/>
                </a:lnTo>
                <a:lnTo>
                  <a:pt x="164" y="119"/>
                </a:lnTo>
                <a:lnTo>
                  <a:pt x="165" y="111"/>
                </a:lnTo>
                <a:lnTo>
                  <a:pt x="168" y="103"/>
                </a:lnTo>
                <a:lnTo>
                  <a:pt x="170" y="94"/>
                </a:lnTo>
                <a:lnTo>
                  <a:pt x="170" y="85"/>
                </a:lnTo>
                <a:lnTo>
                  <a:pt x="170" y="78"/>
                </a:lnTo>
                <a:lnTo>
                  <a:pt x="168" y="69"/>
                </a:lnTo>
                <a:lnTo>
                  <a:pt x="165" y="61"/>
                </a:lnTo>
                <a:lnTo>
                  <a:pt x="164" y="52"/>
                </a:lnTo>
                <a:lnTo>
                  <a:pt x="159" y="44"/>
                </a:lnTo>
                <a:lnTo>
                  <a:pt x="155" y="38"/>
                </a:lnTo>
                <a:lnTo>
                  <a:pt x="150" y="32"/>
                </a:lnTo>
                <a:lnTo>
                  <a:pt x="146" y="26"/>
                </a:lnTo>
                <a:lnTo>
                  <a:pt x="140" y="20"/>
                </a:lnTo>
                <a:lnTo>
                  <a:pt x="132" y="15"/>
                </a:lnTo>
                <a:lnTo>
                  <a:pt x="126" y="11"/>
                </a:lnTo>
                <a:lnTo>
                  <a:pt x="118" y="6"/>
                </a:lnTo>
                <a:lnTo>
                  <a:pt x="111" y="5"/>
                </a:lnTo>
                <a:lnTo>
                  <a:pt x="102" y="2"/>
                </a:lnTo>
                <a:lnTo>
                  <a:pt x="94" y="0"/>
                </a:lnTo>
                <a:lnTo>
                  <a:pt x="85" y="0"/>
                </a:lnTo>
                <a:close/>
              </a:path>
            </a:pathLst>
          </a:custGeom>
          <a:solidFill>
            <a:srgbClr val="00CC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15822" name="Freeform 110">
            <a:extLst>
              <a:ext uri="{FF2B5EF4-FFF2-40B4-BE49-F238E27FC236}">
                <a16:creationId xmlns:a16="http://schemas.microsoft.com/office/drawing/2014/main" id="{7B62AC32-36C9-C48D-7ECA-D3DF579F8D7B}"/>
              </a:ext>
            </a:extLst>
          </p:cNvPr>
          <p:cNvSpPr>
            <a:spLocks/>
          </p:cNvSpPr>
          <p:nvPr/>
        </p:nvSpPr>
        <p:spPr bwMode="auto">
          <a:xfrm>
            <a:off x="6456364" y="6292850"/>
            <a:ext cx="269875" cy="273050"/>
          </a:xfrm>
          <a:custGeom>
            <a:avLst/>
            <a:gdLst>
              <a:gd name="T0" fmla="*/ 76 w 170"/>
              <a:gd name="T1" fmla="*/ 0 h 172"/>
              <a:gd name="T2" fmla="*/ 59 w 170"/>
              <a:gd name="T3" fmla="*/ 5 h 172"/>
              <a:gd name="T4" fmla="*/ 44 w 170"/>
              <a:gd name="T5" fmla="*/ 11 h 172"/>
              <a:gd name="T6" fmla="*/ 30 w 170"/>
              <a:gd name="T7" fmla="*/ 20 h 172"/>
              <a:gd name="T8" fmla="*/ 18 w 170"/>
              <a:gd name="T9" fmla="*/ 32 h 172"/>
              <a:gd name="T10" fmla="*/ 9 w 170"/>
              <a:gd name="T11" fmla="*/ 44 h 172"/>
              <a:gd name="T12" fmla="*/ 3 w 170"/>
              <a:gd name="T13" fmla="*/ 61 h 172"/>
              <a:gd name="T14" fmla="*/ 0 w 170"/>
              <a:gd name="T15" fmla="*/ 78 h 172"/>
              <a:gd name="T16" fmla="*/ 0 w 170"/>
              <a:gd name="T17" fmla="*/ 94 h 172"/>
              <a:gd name="T18" fmla="*/ 3 w 170"/>
              <a:gd name="T19" fmla="*/ 111 h 172"/>
              <a:gd name="T20" fmla="*/ 9 w 170"/>
              <a:gd name="T21" fmla="*/ 126 h 172"/>
              <a:gd name="T22" fmla="*/ 18 w 170"/>
              <a:gd name="T23" fmla="*/ 140 h 172"/>
              <a:gd name="T24" fmla="*/ 30 w 170"/>
              <a:gd name="T25" fmla="*/ 152 h 172"/>
              <a:gd name="T26" fmla="*/ 44 w 170"/>
              <a:gd name="T27" fmla="*/ 161 h 172"/>
              <a:gd name="T28" fmla="*/ 59 w 170"/>
              <a:gd name="T29" fmla="*/ 167 h 172"/>
              <a:gd name="T30" fmla="*/ 76 w 170"/>
              <a:gd name="T31" fmla="*/ 170 h 172"/>
              <a:gd name="T32" fmla="*/ 94 w 170"/>
              <a:gd name="T33" fmla="*/ 170 h 172"/>
              <a:gd name="T34" fmla="*/ 111 w 170"/>
              <a:gd name="T35" fmla="*/ 167 h 172"/>
              <a:gd name="T36" fmla="*/ 126 w 170"/>
              <a:gd name="T37" fmla="*/ 161 h 172"/>
              <a:gd name="T38" fmla="*/ 140 w 170"/>
              <a:gd name="T39" fmla="*/ 152 h 172"/>
              <a:gd name="T40" fmla="*/ 150 w 170"/>
              <a:gd name="T41" fmla="*/ 140 h 172"/>
              <a:gd name="T42" fmla="*/ 159 w 170"/>
              <a:gd name="T43" fmla="*/ 126 h 172"/>
              <a:gd name="T44" fmla="*/ 165 w 170"/>
              <a:gd name="T45" fmla="*/ 111 h 172"/>
              <a:gd name="T46" fmla="*/ 170 w 170"/>
              <a:gd name="T47" fmla="*/ 94 h 172"/>
              <a:gd name="T48" fmla="*/ 170 w 170"/>
              <a:gd name="T49" fmla="*/ 78 h 172"/>
              <a:gd name="T50" fmla="*/ 165 w 170"/>
              <a:gd name="T51" fmla="*/ 61 h 172"/>
              <a:gd name="T52" fmla="*/ 159 w 170"/>
              <a:gd name="T53" fmla="*/ 44 h 172"/>
              <a:gd name="T54" fmla="*/ 150 w 170"/>
              <a:gd name="T55" fmla="*/ 32 h 172"/>
              <a:gd name="T56" fmla="*/ 140 w 170"/>
              <a:gd name="T57" fmla="*/ 20 h 172"/>
              <a:gd name="T58" fmla="*/ 126 w 170"/>
              <a:gd name="T59" fmla="*/ 11 h 172"/>
              <a:gd name="T60" fmla="*/ 111 w 170"/>
              <a:gd name="T61" fmla="*/ 5 h 172"/>
              <a:gd name="T62" fmla="*/ 94 w 170"/>
              <a:gd name="T63" fmla="*/ 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0" h="172">
                <a:moveTo>
                  <a:pt x="85" y="0"/>
                </a:moveTo>
                <a:lnTo>
                  <a:pt x="76" y="0"/>
                </a:lnTo>
                <a:lnTo>
                  <a:pt x="67" y="2"/>
                </a:lnTo>
                <a:lnTo>
                  <a:pt x="59" y="5"/>
                </a:lnTo>
                <a:lnTo>
                  <a:pt x="51" y="6"/>
                </a:lnTo>
                <a:lnTo>
                  <a:pt x="44" y="11"/>
                </a:lnTo>
                <a:lnTo>
                  <a:pt x="36" y="15"/>
                </a:lnTo>
                <a:lnTo>
                  <a:pt x="30" y="20"/>
                </a:lnTo>
                <a:lnTo>
                  <a:pt x="24" y="26"/>
                </a:lnTo>
                <a:lnTo>
                  <a:pt x="18" y="32"/>
                </a:lnTo>
                <a:lnTo>
                  <a:pt x="13" y="38"/>
                </a:lnTo>
                <a:lnTo>
                  <a:pt x="9" y="44"/>
                </a:lnTo>
                <a:lnTo>
                  <a:pt x="6" y="52"/>
                </a:lnTo>
                <a:lnTo>
                  <a:pt x="3" y="61"/>
                </a:lnTo>
                <a:lnTo>
                  <a:pt x="1" y="69"/>
                </a:lnTo>
                <a:lnTo>
                  <a:pt x="0" y="78"/>
                </a:lnTo>
                <a:lnTo>
                  <a:pt x="0" y="85"/>
                </a:lnTo>
                <a:lnTo>
                  <a:pt x="0" y="94"/>
                </a:lnTo>
                <a:lnTo>
                  <a:pt x="1" y="103"/>
                </a:lnTo>
                <a:lnTo>
                  <a:pt x="3" y="111"/>
                </a:lnTo>
                <a:lnTo>
                  <a:pt x="6" y="119"/>
                </a:lnTo>
                <a:lnTo>
                  <a:pt x="9" y="126"/>
                </a:lnTo>
                <a:lnTo>
                  <a:pt x="13" y="134"/>
                </a:lnTo>
                <a:lnTo>
                  <a:pt x="18" y="140"/>
                </a:lnTo>
                <a:lnTo>
                  <a:pt x="24" y="146"/>
                </a:lnTo>
                <a:lnTo>
                  <a:pt x="30" y="152"/>
                </a:lnTo>
                <a:lnTo>
                  <a:pt x="36" y="157"/>
                </a:lnTo>
                <a:lnTo>
                  <a:pt x="44" y="161"/>
                </a:lnTo>
                <a:lnTo>
                  <a:pt x="51" y="164"/>
                </a:lnTo>
                <a:lnTo>
                  <a:pt x="59" y="167"/>
                </a:lnTo>
                <a:lnTo>
                  <a:pt x="67" y="169"/>
                </a:lnTo>
                <a:lnTo>
                  <a:pt x="76" y="170"/>
                </a:lnTo>
                <a:lnTo>
                  <a:pt x="85" y="172"/>
                </a:lnTo>
                <a:lnTo>
                  <a:pt x="94" y="170"/>
                </a:lnTo>
                <a:lnTo>
                  <a:pt x="102" y="169"/>
                </a:lnTo>
                <a:lnTo>
                  <a:pt x="111" y="167"/>
                </a:lnTo>
                <a:lnTo>
                  <a:pt x="118" y="164"/>
                </a:lnTo>
                <a:lnTo>
                  <a:pt x="126" y="161"/>
                </a:lnTo>
                <a:lnTo>
                  <a:pt x="132" y="157"/>
                </a:lnTo>
                <a:lnTo>
                  <a:pt x="140" y="152"/>
                </a:lnTo>
                <a:lnTo>
                  <a:pt x="146" y="146"/>
                </a:lnTo>
                <a:lnTo>
                  <a:pt x="150" y="140"/>
                </a:lnTo>
                <a:lnTo>
                  <a:pt x="155" y="134"/>
                </a:lnTo>
                <a:lnTo>
                  <a:pt x="159" y="126"/>
                </a:lnTo>
                <a:lnTo>
                  <a:pt x="164" y="119"/>
                </a:lnTo>
                <a:lnTo>
                  <a:pt x="165" y="111"/>
                </a:lnTo>
                <a:lnTo>
                  <a:pt x="168" y="103"/>
                </a:lnTo>
                <a:lnTo>
                  <a:pt x="170" y="94"/>
                </a:lnTo>
                <a:lnTo>
                  <a:pt x="170" y="85"/>
                </a:lnTo>
                <a:lnTo>
                  <a:pt x="170" y="78"/>
                </a:lnTo>
                <a:lnTo>
                  <a:pt x="168" y="69"/>
                </a:lnTo>
                <a:lnTo>
                  <a:pt x="165" y="61"/>
                </a:lnTo>
                <a:lnTo>
                  <a:pt x="164" y="52"/>
                </a:lnTo>
                <a:lnTo>
                  <a:pt x="159" y="44"/>
                </a:lnTo>
                <a:lnTo>
                  <a:pt x="155" y="38"/>
                </a:lnTo>
                <a:lnTo>
                  <a:pt x="150" y="32"/>
                </a:lnTo>
                <a:lnTo>
                  <a:pt x="146" y="26"/>
                </a:lnTo>
                <a:lnTo>
                  <a:pt x="140" y="20"/>
                </a:lnTo>
                <a:lnTo>
                  <a:pt x="132" y="15"/>
                </a:lnTo>
                <a:lnTo>
                  <a:pt x="126" y="11"/>
                </a:lnTo>
                <a:lnTo>
                  <a:pt x="118" y="6"/>
                </a:lnTo>
                <a:lnTo>
                  <a:pt x="111" y="5"/>
                </a:lnTo>
                <a:lnTo>
                  <a:pt x="102" y="2"/>
                </a:lnTo>
                <a:lnTo>
                  <a:pt x="94" y="0"/>
                </a:lnTo>
                <a:lnTo>
                  <a:pt x="85"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15823" name="Rectangle 111">
            <a:extLst>
              <a:ext uri="{FF2B5EF4-FFF2-40B4-BE49-F238E27FC236}">
                <a16:creationId xmlns:a16="http://schemas.microsoft.com/office/drawing/2014/main" id="{693E77CC-63C3-6346-75B3-751F9EA517AF}"/>
              </a:ext>
            </a:extLst>
          </p:cNvPr>
          <p:cNvSpPr>
            <a:spLocks noChangeArrowheads="1"/>
          </p:cNvSpPr>
          <p:nvPr/>
        </p:nvSpPr>
        <p:spPr bwMode="auto">
          <a:xfrm>
            <a:off x="6535738" y="6324601"/>
            <a:ext cx="10579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t>P</a:t>
            </a:r>
            <a:endParaRPr lang="en-US" altLang="en-US"/>
          </a:p>
        </p:txBody>
      </p:sp>
      <p:sp>
        <p:nvSpPr>
          <p:cNvPr id="115824" name="Rectangle 112">
            <a:extLst>
              <a:ext uri="{FF2B5EF4-FFF2-40B4-BE49-F238E27FC236}">
                <a16:creationId xmlns:a16="http://schemas.microsoft.com/office/drawing/2014/main" id="{C2D9958A-B534-7928-BC4F-DC055490FA16}"/>
              </a:ext>
            </a:extLst>
          </p:cNvPr>
          <p:cNvSpPr>
            <a:spLocks noChangeArrowheads="1"/>
          </p:cNvSpPr>
          <p:nvPr/>
        </p:nvSpPr>
        <p:spPr bwMode="auto">
          <a:xfrm>
            <a:off x="9498013" y="5392739"/>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FF0000"/>
                </a:solidFill>
              </a:rPr>
              <a:t>0</a:t>
            </a:r>
            <a:endParaRPr lang="en-US" altLang="en-US">
              <a:solidFill>
                <a:srgbClr val="FF0000"/>
              </a:solidFill>
            </a:endParaRPr>
          </a:p>
        </p:txBody>
      </p:sp>
      <p:sp>
        <p:nvSpPr>
          <p:cNvPr id="115825" name="Rectangle 113">
            <a:extLst>
              <a:ext uri="{FF2B5EF4-FFF2-40B4-BE49-F238E27FC236}">
                <a16:creationId xmlns:a16="http://schemas.microsoft.com/office/drawing/2014/main" id="{B92769FD-76C6-91CC-340C-C645EE0C22C2}"/>
              </a:ext>
            </a:extLst>
          </p:cNvPr>
          <p:cNvSpPr>
            <a:spLocks noChangeArrowheads="1"/>
          </p:cNvSpPr>
          <p:nvPr/>
        </p:nvSpPr>
        <p:spPr bwMode="auto">
          <a:xfrm>
            <a:off x="7259638" y="4152901"/>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t>0</a:t>
            </a:r>
            <a:endParaRPr lang="en-US" altLang="en-US"/>
          </a:p>
        </p:txBody>
      </p:sp>
      <p:sp>
        <p:nvSpPr>
          <p:cNvPr id="115826" name="Rectangle 114">
            <a:extLst>
              <a:ext uri="{FF2B5EF4-FFF2-40B4-BE49-F238E27FC236}">
                <a16:creationId xmlns:a16="http://schemas.microsoft.com/office/drawing/2014/main" id="{36EC4B43-73F5-6436-4D1D-0B580AFFAA5D}"/>
              </a:ext>
            </a:extLst>
          </p:cNvPr>
          <p:cNvSpPr>
            <a:spLocks noChangeArrowheads="1"/>
          </p:cNvSpPr>
          <p:nvPr/>
        </p:nvSpPr>
        <p:spPr bwMode="auto">
          <a:xfrm>
            <a:off x="7194550" y="5211764"/>
            <a:ext cx="20839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t>10</a:t>
            </a:r>
            <a:endParaRPr lang="en-US" altLang="en-US"/>
          </a:p>
        </p:txBody>
      </p:sp>
      <p:sp>
        <p:nvSpPr>
          <p:cNvPr id="115827" name="Rectangle 115">
            <a:extLst>
              <a:ext uri="{FF2B5EF4-FFF2-40B4-BE49-F238E27FC236}">
                <a16:creationId xmlns:a16="http://schemas.microsoft.com/office/drawing/2014/main" id="{393395E4-98D2-479C-6817-4820BE7312E8}"/>
              </a:ext>
            </a:extLst>
          </p:cNvPr>
          <p:cNvSpPr>
            <a:spLocks noChangeArrowheads="1"/>
          </p:cNvSpPr>
          <p:nvPr/>
        </p:nvSpPr>
        <p:spPr bwMode="auto">
          <a:xfrm>
            <a:off x="6392863" y="5235576"/>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FF0000"/>
                </a:solidFill>
              </a:rPr>
              <a:t>3</a:t>
            </a:r>
            <a:endParaRPr lang="en-US" altLang="en-US">
              <a:solidFill>
                <a:srgbClr val="FF0000"/>
              </a:solidFill>
            </a:endParaRPr>
          </a:p>
        </p:txBody>
      </p:sp>
      <p:sp>
        <p:nvSpPr>
          <p:cNvPr id="115828" name="Rectangle 116">
            <a:extLst>
              <a:ext uri="{FF2B5EF4-FFF2-40B4-BE49-F238E27FC236}">
                <a16:creationId xmlns:a16="http://schemas.microsoft.com/office/drawing/2014/main" id="{D71B049C-7FC5-2B30-A35C-45040DBF6C30}"/>
              </a:ext>
            </a:extLst>
          </p:cNvPr>
          <p:cNvSpPr>
            <a:spLocks noChangeArrowheads="1"/>
          </p:cNvSpPr>
          <p:nvPr/>
        </p:nvSpPr>
        <p:spPr bwMode="auto">
          <a:xfrm>
            <a:off x="6073775" y="5289551"/>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FF33CC"/>
                </a:solidFill>
              </a:rPr>
              <a:t>4</a:t>
            </a:r>
            <a:endParaRPr lang="en-US" altLang="en-US">
              <a:solidFill>
                <a:srgbClr val="FF33CC"/>
              </a:solidFill>
            </a:endParaRPr>
          </a:p>
        </p:txBody>
      </p:sp>
      <p:sp>
        <p:nvSpPr>
          <p:cNvPr id="115829" name="Rectangle 117">
            <a:extLst>
              <a:ext uri="{FF2B5EF4-FFF2-40B4-BE49-F238E27FC236}">
                <a16:creationId xmlns:a16="http://schemas.microsoft.com/office/drawing/2014/main" id="{14486F64-980F-EAEC-B769-057069E101F6}"/>
              </a:ext>
            </a:extLst>
          </p:cNvPr>
          <p:cNvSpPr>
            <a:spLocks noChangeArrowheads="1"/>
          </p:cNvSpPr>
          <p:nvPr/>
        </p:nvSpPr>
        <p:spPr bwMode="auto">
          <a:xfrm>
            <a:off x="7527925" y="4835526"/>
            <a:ext cx="10419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t>0</a:t>
            </a:r>
            <a:endParaRPr lang="en-US" altLang="en-US"/>
          </a:p>
        </p:txBody>
      </p:sp>
      <p:sp>
        <p:nvSpPr>
          <p:cNvPr id="115830" name="Rectangle 118">
            <a:extLst>
              <a:ext uri="{FF2B5EF4-FFF2-40B4-BE49-F238E27FC236}">
                <a16:creationId xmlns:a16="http://schemas.microsoft.com/office/drawing/2014/main" id="{8D8EF51A-A341-78E9-98B0-B81F305DB4EA}"/>
              </a:ext>
            </a:extLst>
          </p:cNvPr>
          <p:cNvSpPr>
            <a:spLocks noChangeArrowheads="1"/>
          </p:cNvSpPr>
          <p:nvPr/>
        </p:nvSpPr>
        <p:spPr bwMode="auto">
          <a:xfrm>
            <a:off x="7416800" y="4484689"/>
            <a:ext cx="20839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t>12</a:t>
            </a:r>
            <a:endParaRPr lang="en-US" altLang="en-US"/>
          </a:p>
        </p:txBody>
      </p:sp>
      <p:sp>
        <p:nvSpPr>
          <p:cNvPr id="115832" name="Text Box 120">
            <a:extLst>
              <a:ext uri="{FF2B5EF4-FFF2-40B4-BE49-F238E27FC236}">
                <a16:creationId xmlns:a16="http://schemas.microsoft.com/office/drawing/2014/main" id="{37D33B81-CEA4-A268-B442-216C29898672}"/>
              </a:ext>
            </a:extLst>
          </p:cNvPr>
          <p:cNvSpPr txBox="1">
            <a:spLocks noChangeArrowheads="1"/>
          </p:cNvSpPr>
          <p:nvPr/>
        </p:nvSpPr>
        <p:spPr bwMode="auto">
          <a:xfrm>
            <a:off x="6611938" y="1041401"/>
            <a:ext cx="3369192" cy="646331"/>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Augmentation path: &lt;D, K, P, B, S&gt;</a:t>
            </a:r>
          </a:p>
          <a:p>
            <a:r>
              <a:rPr lang="en-US" altLang="en-US"/>
              <a:t>Max flow: 4</a:t>
            </a:r>
          </a:p>
        </p:txBody>
      </p:sp>
      <p:sp>
        <p:nvSpPr>
          <p:cNvPr id="115833" name="AutoShape 121">
            <a:extLst>
              <a:ext uri="{FF2B5EF4-FFF2-40B4-BE49-F238E27FC236}">
                <a16:creationId xmlns:a16="http://schemas.microsoft.com/office/drawing/2014/main" id="{11595F90-5D2A-77D9-D947-CF74FF93F601}"/>
              </a:ext>
            </a:extLst>
          </p:cNvPr>
          <p:cNvSpPr>
            <a:spLocks noChangeArrowheads="1"/>
          </p:cNvSpPr>
          <p:nvPr/>
        </p:nvSpPr>
        <p:spPr bwMode="auto">
          <a:xfrm flipV="1">
            <a:off x="7356476" y="2135188"/>
            <a:ext cx="1135063" cy="844550"/>
          </a:xfrm>
          <a:custGeom>
            <a:avLst/>
            <a:gdLst>
              <a:gd name="G0" fmla="+- 7200 0 0"/>
              <a:gd name="G1" fmla="+- 18488 0 0"/>
              <a:gd name="G2" fmla="+- 6699 0 0"/>
              <a:gd name="G3" fmla="*/ 7200 1 2"/>
              <a:gd name="G4" fmla="+- G3 10800 0"/>
              <a:gd name="G5" fmla="+- 21600 7200 18488"/>
              <a:gd name="G6" fmla="+- 18488 6699 0"/>
              <a:gd name="G7" fmla="*/ G6 1 2"/>
              <a:gd name="G8" fmla="*/ 18488 2 1"/>
              <a:gd name="G9" fmla="+- G8 0 21600"/>
              <a:gd name="G10" fmla="*/ 21600 G0 G1"/>
              <a:gd name="G11" fmla="*/ 21600 G4 G1"/>
              <a:gd name="G12" fmla="*/ 21600 G5 G1"/>
              <a:gd name="G13" fmla="*/ 21600 G7 G1"/>
              <a:gd name="G14" fmla="*/ 18488 1 2"/>
              <a:gd name="G15" fmla="+- G5 0 G4"/>
              <a:gd name="G16" fmla="+- G0 0 G4"/>
              <a:gd name="G17" fmla="*/ G2 G15 G16"/>
              <a:gd name="T0" fmla="*/ 14400 w 21600"/>
              <a:gd name="T1" fmla="*/ 0 h 21600"/>
              <a:gd name="T2" fmla="*/ 7200 w 21600"/>
              <a:gd name="T3" fmla="*/ 6699 h 21600"/>
              <a:gd name="T4" fmla="*/ 0 w 21600"/>
              <a:gd name="T5" fmla="*/ 16824 h 21600"/>
              <a:gd name="T6" fmla="*/ 9244 w 21600"/>
              <a:gd name="T7" fmla="*/ 21600 h 21600"/>
              <a:gd name="T8" fmla="*/ 18488 w 21600"/>
              <a:gd name="T9" fmla="*/ 14714 h 21600"/>
              <a:gd name="T10" fmla="*/ 21600 w 21600"/>
              <a:gd name="T11" fmla="*/ 6699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4400" y="0"/>
                </a:moveTo>
                <a:lnTo>
                  <a:pt x="7200" y="6699"/>
                </a:lnTo>
                <a:lnTo>
                  <a:pt x="10312" y="6699"/>
                </a:lnTo>
                <a:lnTo>
                  <a:pt x="10312" y="12048"/>
                </a:lnTo>
                <a:lnTo>
                  <a:pt x="0" y="12048"/>
                </a:lnTo>
                <a:lnTo>
                  <a:pt x="0" y="21600"/>
                </a:lnTo>
                <a:lnTo>
                  <a:pt x="18488" y="21600"/>
                </a:lnTo>
                <a:lnTo>
                  <a:pt x="18488" y="6699"/>
                </a:lnTo>
                <a:lnTo>
                  <a:pt x="21600" y="6699"/>
                </a:lnTo>
                <a:close/>
              </a:path>
            </a:pathLst>
          </a:cu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5834" name="Text Box 122">
            <a:extLst>
              <a:ext uri="{FF2B5EF4-FFF2-40B4-BE49-F238E27FC236}">
                <a16:creationId xmlns:a16="http://schemas.microsoft.com/office/drawing/2014/main" id="{A01AB0D8-4E32-0A6E-2AC8-CEB461634CBB}"/>
              </a:ext>
            </a:extLst>
          </p:cNvPr>
          <p:cNvSpPr txBox="1">
            <a:spLocks noChangeArrowheads="1"/>
          </p:cNvSpPr>
          <p:nvPr/>
        </p:nvSpPr>
        <p:spPr bwMode="auto">
          <a:xfrm>
            <a:off x="7296151" y="3021014"/>
            <a:ext cx="2948371" cy="646331"/>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Current total flow: 6+2+10+4 </a:t>
            </a:r>
          </a:p>
          <a:p>
            <a:r>
              <a:rPr lang="en-US" altLang="en-US"/>
              <a:t>Residual network</a:t>
            </a:r>
          </a:p>
        </p:txBody>
      </p:sp>
      <p:sp>
        <p:nvSpPr>
          <p:cNvPr id="115835" name="AutoShape 123">
            <a:extLst>
              <a:ext uri="{FF2B5EF4-FFF2-40B4-BE49-F238E27FC236}">
                <a16:creationId xmlns:a16="http://schemas.microsoft.com/office/drawing/2014/main" id="{30EFA14A-DCD6-8429-C4BD-8C1D2FF28DA7}"/>
              </a:ext>
            </a:extLst>
          </p:cNvPr>
          <p:cNvSpPr>
            <a:spLocks noChangeArrowheads="1"/>
          </p:cNvSpPr>
          <p:nvPr/>
        </p:nvSpPr>
        <p:spPr bwMode="auto">
          <a:xfrm flipH="1">
            <a:off x="3910014" y="4989514"/>
            <a:ext cx="307975" cy="1093787"/>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5836" name="Rectangle 124">
            <a:extLst>
              <a:ext uri="{FF2B5EF4-FFF2-40B4-BE49-F238E27FC236}">
                <a16:creationId xmlns:a16="http://schemas.microsoft.com/office/drawing/2014/main" id="{43F1CB62-5FE8-0A5F-7A55-E710C2428A8E}"/>
              </a:ext>
            </a:extLst>
          </p:cNvPr>
          <p:cNvSpPr>
            <a:spLocks noChangeArrowheads="1"/>
          </p:cNvSpPr>
          <p:nvPr/>
        </p:nvSpPr>
        <p:spPr bwMode="auto">
          <a:xfrm>
            <a:off x="1681164" y="4841876"/>
            <a:ext cx="209589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No more</a:t>
            </a:r>
          </a:p>
          <a:p>
            <a:r>
              <a:rPr lang="en-US" altLang="en-US"/>
              <a:t>Augmentation paths</a:t>
            </a:r>
          </a:p>
          <a:p>
            <a:endParaRPr lang="en-US" altLang="en-US"/>
          </a:p>
          <a:p>
            <a:r>
              <a:rPr lang="en-US" altLang="en-US">
                <a:sym typeface="Wingdings" panose="05000000000000000000" pitchFamily="2" charset="2"/>
              </a:rPr>
              <a:t> DONE</a:t>
            </a:r>
            <a:endParaRPr lang="en-US"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9426" name="Rectangle 2">
            <a:extLst>
              <a:ext uri="{FF2B5EF4-FFF2-40B4-BE49-F238E27FC236}">
                <a16:creationId xmlns:a16="http://schemas.microsoft.com/office/drawing/2014/main" id="{DBD81760-8C1D-4B80-856D-45D8AFDA3006}"/>
              </a:ext>
            </a:extLst>
          </p:cNvPr>
          <p:cNvSpPr>
            <a:spLocks noGrp="1" noChangeArrowheads="1"/>
          </p:cNvSpPr>
          <p:nvPr>
            <p:ph type="title"/>
          </p:nvPr>
        </p:nvSpPr>
        <p:spPr>
          <a:xfrm>
            <a:off x="2959100" y="274638"/>
            <a:ext cx="7499350" cy="1143000"/>
          </a:xfrm>
        </p:spPr>
        <p:txBody>
          <a:bodyPr>
            <a:normAutofit/>
          </a:bodyPr>
          <a:lstStyle/>
          <a:p>
            <a:pPr>
              <a:defRPr/>
            </a:pPr>
            <a:r>
              <a:rPr lang="en-US" altLang="zh-CN" sz="2800" dirty="0">
                <a:latin typeface="Times New Roman" panose="02020603050405020304" pitchFamily="18" charset="0"/>
                <a:ea typeface="宋体" pitchFamily="2" charset="-122"/>
                <a:cs typeface="Times New Roman" panose="02020603050405020304" pitchFamily="18" charset="0"/>
              </a:rPr>
              <a:t>Cuts of Flow Networks</a:t>
            </a:r>
          </a:p>
        </p:txBody>
      </p:sp>
      <p:graphicFrame>
        <p:nvGraphicFramePr>
          <p:cNvPr id="1026" name="Object 2">
            <a:extLst>
              <a:ext uri="{FF2B5EF4-FFF2-40B4-BE49-F238E27FC236}">
                <a16:creationId xmlns:a16="http://schemas.microsoft.com/office/drawing/2014/main" id="{54961A4F-C8AD-4D67-B013-D9511C947CD9}"/>
              </a:ext>
            </a:extLst>
          </p:cNvPr>
          <p:cNvGraphicFramePr>
            <a:graphicFrameLocks noChangeAspect="1"/>
          </p:cNvGraphicFramePr>
          <p:nvPr/>
        </p:nvGraphicFramePr>
        <p:xfrm>
          <a:off x="3208339" y="2767013"/>
          <a:ext cx="5407025" cy="2857500"/>
        </p:xfrm>
        <a:graphic>
          <a:graphicData uri="http://schemas.openxmlformats.org/presentationml/2006/ole">
            <mc:AlternateContent xmlns:mc="http://schemas.openxmlformats.org/markup-compatibility/2006">
              <mc:Choice xmlns:v="urn:schemas-microsoft-com:vml" Requires="v">
                <p:oleObj name="Picture Publisher Image" r:id="rId2" imgW="3514680" imgH="1857240" progId="PictPub.Image.8">
                  <p:embed/>
                </p:oleObj>
              </mc:Choice>
              <mc:Fallback>
                <p:oleObj name="Picture Publisher Image" r:id="rId2" imgW="3514680" imgH="1857240" progId="PictPub.Image.8">
                  <p:embed/>
                  <p:pic>
                    <p:nvPicPr>
                      <p:cNvPr id="1026" name="Object 2">
                        <a:extLst>
                          <a:ext uri="{FF2B5EF4-FFF2-40B4-BE49-F238E27FC236}">
                            <a16:creationId xmlns:a16="http://schemas.microsoft.com/office/drawing/2014/main" id="{54961A4F-C8AD-4D67-B013-D9511C947C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8339" y="2767013"/>
                        <a:ext cx="5407025" cy="285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7" name="Object 3">
            <a:extLst>
              <a:ext uri="{FF2B5EF4-FFF2-40B4-BE49-F238E27FC236}">
                <a16:creationId xmlns:a16="http://schemas.microsoft.com/office/drawing/2014/main" id="{CE6AA1E7-97DF-41F9-8BC5-158109FFFE1B}"/>
              </a:ext>
            </a:extLst>
          </p:cNvPr>
          <p:cNvGraphicFramePr>
            <a:graphicFrameLocks noChangeAspect="1"/>
          </p:cNvGraphicFramePr>
          <p:nvPr>
            <p:extLst>
              <p:ext uri="{D42A27DB-BD31-4B8C-83A1-F6EECF244321}">
                <p14:modId xmlns:p14="http://schemas.microsoft.com/office/powerpoint/2010/main" val="456652985"/>
              </p:ext>
            </p:extLst>
          </p:nvPr>
        </p:nvGraphicFramePr>
        <p:xfrm>
          <a:off x="2139950" y="1492802"/>
          <a:ext cx="7335838" cy="687388"/>
        </p:xfrm>
        <a:graphic>
          <a:graphicData uri="http://schemas.openxmlformats.org/presentationml/2006/ole">
            <mc:AlternateContent xmlns:mc="http://schemas.openxmlformats.org/markup-compatibility/2006">
              <mc:Choice xmlns:v="urn:schemas-microsoft-com:vml" Requires="v">
                <p:oleObj name="Equation" r:id="rId4" imgW="4635360" imgH="406080" progId="Equation.DSMT4">
                  <p:embed/>
                </p:oleObj>
              </mc:Choice>
              <mc:Fallback>
                <p:oleObj name="Equation" r:id="rId4" imgW="4635360" imgH="406080" progId="Equation.DSMT4">
                  <p:embed/>
                  <p:pic>
                    <p:nvPicPr>
                      <p:cNvPr id="1027" name="Object 3">
                        <a:extLst>
                          <a:ext uri="{FF2B5EF4-FFF2-40B4-BE49-F238E27FC236}">
                            <a16:creationId xmlns:a16="http://schemas.microsoft.com/office/drawing/2014/main" id="{CE6AA1E7-97DF-41F9-8BC5-158109FFFE1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9950" y="1492802"/>
                        <a:ext cx="7335838" cy="687388"/>
                      </a:xfrm>
                      <a:prstGeom prst="rect">
                        <a:avLst/>
                      </a:prstGeom>
                      <a:noFill/>
                      <a:ln>
                        <a:noFill/>
                      </a:ln>
                      <a:effectLst/>
                    </p:spPr>
                  </p:pic>
                </p:oleObj>
              </mc:Fallback>
            </mc:AlternateContent>
          </a:graphicData>
        </a:graphic>
      </p:graphicFrame>
      <p:sp>
        <p:nvSpPr>
          <p:cNvPr id="1029" name="Line 7">
            <a:extLst>
              <a:ext uri="{FF2B5EF4-FFF2-40B4-BE49-F238E27FC236}">
                <a16:creationId xmlns:a16="http://schemas.microsoft.com/office/drawing/2014/main" id="{2C6E5E6C-C6D3-4A24-8E07-9FDBD6CCE718}"/>
              </a:ext>
            </a:extLst>
          </p:cNvPr>
          <p:cNvSpPr>
            <a:spLocks noChangeShapeType="1"/>
          </p:cNvSpPr>
          <p:nvPr/>
        </p:nvSpPr>
        <p:spPr bwMode="auto">
          <a:xfrm>
            <a:off x="5905500" y="2636839"/>
            <a:ext cx="0" cy="3138487"/>
          </a:xfrm>
          <a:prstGeom prst="line">
            <a:avLst/>
          </a:prstGeom>
          <a:noFill/>
          <a:ln w="2857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IN"/>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0450" name="Rectangle 2">
            <a:extLst>
              <a:ext uri="{FF2B5EF4-FFF2-40B4-BE49-F238E27FC236}">
                <a16:creationId xmlns:a16="http://schemas.microsoft.com/office/drawing/2014/main" id="{5BC54DB6-1420-4F85-B697-11EAA008CA0D}"/>
              </a:ext>
            </a:extLst>
          </p:cNvPr>
          <p:cNvSpPr>
            <a:spLocks noGrp="1" noChangeArrowheads="1"/>
          </p:cNvSpPr>
          <p:nvPr>
            <p:ph type="title"/>
          </p:nvPr>
        </p:nvSpPr>
        <p:spPr/>
        <p:txBody>
          <a:bodyPr>
            <a:normAutofit/>
          </a:bodyPr>
          <a:lstStyle/>
          <a:p>
            <a:pPr>
              <a:defRPr/>
            </a:pPr>
            <a:r>
              <a:rPr lang="en-US" altLang="zh-CN" sz="2800" dirty="0">
                <a:latin typeface="Times New Roman" panose="02020603050405020304" pitchFamily="18" charset="0"/>
                <a:ea typeface="宋体" pitchFamily="2" charset="-122"/>
                <a:cs typeface="Times New Roman" panose="02020603050405020304" pitchFamily="18" charset="0"/>
              </a:rPr>
              <a:t>The Net Flow through a Cut (S,T)</a:t>
            </a:r>
          </a:p>
        </p:txBody>
      </p:sp>
      <p:sp>
        <p:nvSpPr>
          <p:cNvPr id="2053" name="Rectangle 3">
            <a:extLst>
              <a:ext uri="{FF2B5EF4-FFF2-40B4-BE49-F238E27FC236}">
                <a16:creationId xmlns:a16="http://schemas.microsoft.com/office/drawing/2014/main" id="{F0CED45C-CF76-411F-BEDE-4A29895B6980}"/>
              </a:ext>
            </a:extLst>
          </p:cNvPr>
          <p:cNvSpPr>
            <a:spLocks noGrp="1" noChangeArrowheads="1"/>
          </p:cNvSpPr>
          <p:nvPr>
            <p:ph type="body" idx="1"/>
          </p:nvPr>
        </p:nvSpPr>
        <p:spPr>
          <a:xfrm>
            <a:off x="1933575" y="5422900"/>
            <a:ext cx="7772400" cy="889000"/>
          </a:xfrm>
          <a:noFill/>
        </p:spPr>
        <p:txBody>
          <a:bodyPr/>
          <a:lstStyle/>
          <a:p>
            <a:r>
              <a:rPr lang="en-US" altLang="zh-CN">
                <a:ea typeface="SimSun" panose="02010600030101010101" pitchFamily="2" charset="-122"/>
              </a:rPr>
              <a:t>f(S,T) = 12 – 4 + 11 = 19</a:t>
            </a:r>
          </a:p>
        </p:txBody>
      </p:sp>
      <p:sp>
        <p:nvSpPr>
          <p:cNvPr id="2054" name="Rectangle 4">
            <a:extLst>
              <a:ext uri="{FF2B5EF4-FFF2-40B4-BE49-F238E27FC236}">
                <a16:creationId xmlns:a16="http://schemas.microsoft.com/office/drawing/2014/main" id="{9E4A7DC2-88FD-489A-BF95-C73547541556}"/>
              </a:ext>
            </a:extLst>
          </p:cNvPr>
          <p:cNvSpPr>
            <a:spLocks noChangeArrowheads="1"/>
          </p:cNvSpPr>
          <p:nvPr/>
        </p:nvSpPr>
        <p:spPr bwMode="auto">
          <a:xfrm>
            <a:off x="3060700" y="1600200"/>
            <a:ext cx="3670300" cy="965200"/>
          </a:xfrm>
          <a:prstGeom prst="rect">
            <a:avLst/>
          </a:prstGeom>
          <a:solidFill>
            <a:srgbClr val="FFFF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aphicFrame>
        <p:nvGraphicFramePr>
          <p:cNvPr id="2050" name="Object 2">
            <a:extLst>
              <a:ext uri="{FF2B5EF4-FFF2-40B4-BE49-F238E27FC236}">
                <a16:creationId xmlns:a16="http://schemas.microsoft.com/office/drawing/2014/main" id="{806FF7A3-AE6E-4A40-8A56-E60E4523168F}"/>
              </a:ext>
            </a:extLst>
          </p:cNvPr>
          <p:cNvGraphicFramePr>
            <a:graphicFrameLocks noChangeAspect="1"/>
          </p:cNvGraphicFramePr>
          <p:nvPr/>
        </p:nvGraphicFramePr>
        <p:xfrm>
          <a:off x="3441700" y="1765301"/>
          <a:ext cx="3073400" cy="811213"/>
        </p:xfrm>
        <a:graphic>
          <a:graphicData uri="http://schemas.openxmlformats.org/presentationml/2006/ole">
            <mc:AlternateContent xmlns:mc="http://schemas.openxmlformats.org/markup-compatibility/2006">
              <mc:Choice xmlns:v="urn:schemas-microsoft-com:vml" Requires="v">
                <p:oleObj name="Equation" r:id="rId2" imgW="1346040" imgH="355320" progId="Equation.3">
                  <p:embed/>
                </p:oleObj>
              </mc:Choice>
              <mc:Fallback>
                <p:oleObj name="Equation" r:id="rId2" imgW="1346040" imgH="355320" progId="Equation.3">
                  <p:embed/>
                  <p:pic>
                    <p:nvPicPr>
                      <p:cNvPr id="2050" name="Object 2">
                        <a:extLst>
                          <a:ext uri="{FF2B5EF4-FFF2-40B4-BE49-F238E27FC236}">
                            <a16:creationId xmlns:a16="http://schemas.microsoft.com/office/drawing/2014/main" id="{806FF7A3-AE6E-4A40-8A56-E60E452316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1700" y="1765301"/>
                        <a:ext cx="3073400" cy="811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1" name="Object 3">
            <a:extLst>
              <a:ext uri="{FF2B5EF4-FFF2-40B4-BE49-F238E27FC236}">
                <a16:creationId xmlns:a16="http://schemas.microsoft.com/office/drawing/2014/main" id="{D082F336-524E-45E6-BF9C-BE87FC4F226F}"/>
              </a:ext>
            </a:extLst>
          </p:cNvPr>
          <p:cNvGraphicFramePr>
            <a:graphicFrameLocks noChangeAspect="1"/>
          </p:cNvGraphicFramePr>
          <p:nvPr/>
        </p:nvGraphicFramePr>
        <p:xfrm>
          <a:off x="3608389" y="2749551"/>
          <a:ext cx="4606925" cy="2435225"/>
        </p:xfrm>
        <a:graphic>
          <a:graphicData uri="http://schemas.openxmlformats.org/presentationml/2006/ole">
            <mc:AlternateContent xmlns:mc="http://schemas.openxmlformats.org/markup-compatibility/2006">
              <mc:Choice xmlns:v="urn:schemas-microsoft-com:vml" Requires="v">
                <p:oleObj name="Picture Publisher Image" r:id="rId4" imgW="3514680" imgH="1857240" progId="PictPub.Image.8">
                  <p:embed/>
                </p:oleObj>
              </mc:Choice>
              <mc:Fallback>
                <p:oleObj name="Picture Publisher Image" r:id="rId4" imgW="3514680" imgH="1857240" progId="PictPub.Image.8">
                  <p:embed/>
                  <p:pic>
                    <p:nvPicPr>
                      <p:cNvPr id="2051" name="Object 3">
                        <a:extLst>
                          <a:ext uri="{FF2B5EF4-FFF2-40B4-BE49-F238E27FC236}">
                            <a16:creationId xmlns:a16="http://schemas.microsoft.com/office/drawing/2014/main" id="{D082F336-524E-45E6-BF9C-BE87FC4F226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08389" y="2749551"/>
                        <a:ext cx="4606925" cy="2435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55" name="Line 7">
            <a:extLst>
              <a:ext uri="{FF2B5EF4-FFF2-40B4-BE49-F238E27FC236}">
                <a16:creationId xmlns:a16="http://schemas.microsoft.com/office/drawing/2014/main" id="{67A1CB7D-9CD7-4B24-9A4A-1FA6EDB96E0C}"/>
              </a:ext>
            </a:extLst>
          </p:cNvPr>
          <p:cNvSpPr>
            <a:spLocks noChangeShapeType="1"/>
          </p:cNvSpPr>
          <p:nvPr/>
        </p:nvSpPr>
        <p:spPr bwMode="auto">
          <a:xfrm>
            <a:off x="5905500" y="2636839"/>
            <a:ext cx="0" cy="3138487"/>
          </a:xfrm>
          <a:prstGeom prst="line">
            <a:avLst/>
          </a:prstGeom>
          <a:noFill/>
          <a:ln w="2857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I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474" name="Rectangle 2">
            <a:extLst>
              <a:ext uri="{FF2B5EF4-FFF2-40B4-BE49-F238E27FC236}">
                <a16:creationId xmlns:a16="http://schemas.microsoft.com/office/drawing/2014/main" id="{25B510DB-32A0-4895-9470-1203532C220A}"/>
              </a:ext>
            </a:extLst>
          </p:cNvPr>
          <p:cNvSpPr>
            <a:spLocks noGrp="1" noChangeArrowheads="1"/>
          </p:cNvSpPr>
          <p:nvPr>
            <p:ph type="title"/>
          </p:nvPr>
        </p:nvSpPr>
        <p:spPr/>
        <p:txBody>
          <a:bodyPr>
            <a:normAutofit/>
          </a:bodyPr>
          <a:lstStyle/>
          <a:p>
            <a:pPr>
              <a:defRPr/>
            </a:pPr>
            <a:r>
              <a:rPr lang="en-US" altLang="zh-CN" sz="2400" dirty="0">
                <a:latin typeface="Times New Roman" panose="02020603050405020304" pitchFamily="18" charset="0"/>
                <a:ea typeface="宋体" pitchFamily="2" charset="-122"/>
                <a:cs typeface="Times New Roman" panose="02020603050405020304" pitchFamily="18" charset="0"/>
              </a:rPr>
              <a:t>The Capacity of a Cut (S,T)</a:t>
            </a:r>
          </a:p>
        </p:txBody>
      </p:sp>
      <p:sp>
        <p:nvSpPr>
          <p:cNvPr id="3077" name="Rectangle 3">
            <a:extLst>
              <a:ext uri="{FF2B5EF4-FFF2-40B4-BE49-F238E27FC236}">
                <a16:creationId xmlns:a16="http://schemas.microsoft.com/office/drawing/2014/main" id="{894E287C-52E6-457B-B56C-DAC8B15F9E7A}"/>
              </a:ext>
            </a:extLst>
          </p:cNvPr>
          <p:cNvSpPr>
            <a:spLocks noGrp="1" noChangeArrowheads="1"/>
          </p:cNvSpPr>
          <p:nvPr>
            <p:ph type="body" idx="1"/>
          </p:nvPr>
        </p:nvSpPr>
        <p:spPr>
          <a:xfrm>
            <a:off x="2209800" y="5651500"/>
            <a:ext cx="7772400" cy="596900"/>
          </a:xfrm>
          <a:noFill/>
        </p:spPr>
        <p:txBody>
          <a:bodyPr/>
          <a:lstStyle/>
          <a:p>
            <a:r>
              <a:rPr lang="en-US" altLang="zh-CN">
                <a:ea typeface="SimSun" panose="02010600030101010101" pitchFamily="2" charset="-122"/>
              </a:rPr>
              <a:t>c(S,T)= 12+ 0 + 14 = 26</a:t>
            </a:r>
          </a:p>
        </p:txBody>
      </p:sp>
      <p:sp>
        <p:nvSpPr>
          <p:cNvPr id="3078" name="Rectangle 4">
            <a:extLst>
              <a:ext uri="{FF2B5EF4-FFF2-40B4-BE49-F238E27FC236}">
                <a16:creationId xmlns:a16="http://schemas.microsoft.com/office/drawing/2014/main" id="{8AEC920C-80CF-4F9B-8D29-9740FBCBE661}"/>
              </a:ext>
            </a:extLst>
          </p:cNvPr>
          <p:cNvSpPr>
            <a:spLocks noChangeArrowheads="1"/>
          </p:cNvSpPr>
          <p:nvPr/>
        </p:nvSpPr>
        <p:spPr bwMode="auto">
          <a:xfrm>
            <a:off x="3060700" y="1600200"/>
            <a:ext cx="3670300" cy="965200"/>
          </a:xfrm>
          <a:prstGeom prst="rect">
            <a:avLst/>
          </a:prstGeom>
          <a:solidFill>
            <a:srgbClr val="FFFF00"/>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aphicFrame>
        <p:nvGraphicFramePr>
          <p:cNvPr id="3074" name="Object 2">
            <a:extLst>
              <a:ext uri="{FF2B5EF4-FFF2-40B4-BE49-F238E27FC236}">
                <a16:creationId xmlns:a16="http://schemas.microsoft.com/office/drawing/2014/main" id="{C5F4DA38-EC77-447B-B60C-521575D24A30}"/>
              </a:ext>
            </a:extLst>
          </p:cNvPr>
          <p:cNvGraphicFramePr>
            <a:graphicFrameLocks noChangeAspect="1"/>
          </p:cNvGraphicFramePr>
          <p:nvPr/>
        </p:nvGraphicFramePr>
        <p:xfrm>
          <a:off x="3529014" y="1765301"/>
          <a:ext cx="2898775" cy="811213"/>
        </p:xfrm>
        <a:graphic>
          <a:graphicData uri="http://schemas.openxmlformats.org/presentationml/2006/ole">
            <mc:AlternateContent xmlns:mc="http://schemas.openxmlformats.org/markup-compatibility/2006">
              <mc:Choice xmlns:v="urn:schemas-microsoft-com:vml" Requires="v">
                <p:oleObj name="Equation" r:id="rId2" imgW="1269720" imgH="355320" progId="Equation.3">
                  <p:embed/>
                </p:oleObj>
              </mc:Choice>
              <mc:Fallback>
                <p:oleObj name="Equation" r:id="rId2" imgW="1269720" imgH="355320" progId="Equation.3">
                  <p:embed/>
                  <p:pic>
                    <p:nvPicPr>
                      <p:cNvPr id="3074" name="Object 2">
                        <a:extLst>
                          <a:ext uri="{FF2B5EF4-FFF2-40B4-BE49-F238E27FC236}">
                            <a16:creationId xmlns:a16="http://schemas.microsoft.com/office/drawing/2014/main" id="{C5F4DA38-EC77-447B-B60C-521575D24A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9014" y="1765301"/>
                        <a:ext cx="2898775" cy="811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5" name="Object 3">
            <a:extLst>
              <a:ext uri="{FF2B5EF4-FFF2-40B4-BE49-F238E27FC236}">
                <a16:creationId xmlns:a16="http://schemas.microsoft.com/office/drawing/2014/main" id="{532BDF07-7336-46CD-984F-14175065B447}"/>
              </a:ext>
            </a:extLst>
          </p:cNvPr>
          <p:cNvGraphicFramePr>
            <a:graphicFrameLocks noChangeAspect="1"/>
          </p:cNvGraphicFramePr>
          <p:nvPr/>
        </p:nvGraphicFramePr>
        <p:xfrm>
          <a:off x="3600451" y="2930526"/>
          <a:ext cx="4606925" cy="2435225"/>
        </p:xfrm>
        <a:graphic>
          <a:graphicData uri="http://schemas.openxmlformats.org/presentationml/2006/ole">
            <mc:AlternateContent xmlns:mc="http://schemas.openxmlformats.org/markup-compatibility/2006">
              <mc:Choice xmlns:v="urn:schemas-microsoft-com:vml" Requires="v">
                <p:oleObj name="Picture Publisher Image" r:id="rId4" imgW="3514680" imgH="1857240" progId="PictPub.Image.8">
                  <p:embed/>
                </p:oleObj>
              </mc:Choice>
              <mc:Fallback>
                <p:oleObj name="Picture Publisher Image" r:id="rId4" imgW="3514680" imgH="1857240" progId="PictPub.Image.8">
                  <p:embed/>
                  <p:pic>
                    <p:nvPicPr>
                      <p:cNvPr id="3075" name="Object 3">
                        <a:extLst>
                          <a:ext uri="{FF2B5EF4-FFF2-40B4-BE49-F238E27FC236}">
                            <a16:creationId xmlns:a16="http://schemas.microsoft.com/office/drawing/2014/main" id="{532BDF07-7336-46CD-984F-14175065B44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00451" y="2930526"/>
                        <a:ext cx="4606925" cy="2435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9" name="Line 7">
            <a:extLst>
              <a:ext uri="{FF2B5EF4-FFF2-40B4-BE49-F238E27FC236}">
                <a16:creationId xmlns:a16="http://schemas.microsoft.com/office/drawing/2014/main" id="{FD6274AB-D30E-4DCE-B1BC-570A34B53FBE}"/>
              </a:ext>
            </a:extLst>
          </p:cNvPr>
          <p:cNvSpPr>
            <a:spLocks noChangeShapeType="1"/>
          </p:cNvSpPr>
          <p:nvPr/>
        </p:nvSpPr>
        <p:spPr bwMode="auto">
          <a:xfrm>
            <a:off x="5905500" y="2636839"/>
            <a:ext cx="0" cy="3138487"/>
          </a:xfrm>
          <a:prstGeom prst="line">
            <a:avLst/>
          </a:prstGeom>
          <a:noFill/>
          <a:ln w="2857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IN"/>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8402" name="Rectangle 2">
            <a:extLst>
              <a:ext uri="{FF2B5EF4-FFF2-40B4-BE49-F238E27FC236}">
                <a16:creationId xmlns:a16="http://schemas.microsoft.com/office/drawing/2014/main" id="{7630F9F9-8D96-4D33-AFF4-A7FA74B2FD28}"/>
              </a:ext>
            </a:extLst>
          </p:cNvPr>
          <p:cNvSpPr>
            <a:spLocks noGrp="1" noChangeArrowheads="1"/>
          </p:cNvSpPr>
          <p:nvPr>
            <p:ph type="title"/>
          </p:nvPr>
        </p:nvSpPr>
        <p:spPr/>
        <p:txBody>
          <a:bodyPr>
            <a:normAutofit/>
          </a:bodyPr>
          <a:lstStyle/>
          <a:p>
            <a:pPr>
              <a:defRPr/>
            </a:pPr>
            <a:r>
              <a:rPr lang="en-US" altLang="zh-CN" sz="2400" dirty="0">
                <a:latin typeface="Times New Roman" panose="02020603050405020304" pitchFamily="18" charset="0"/>
                <a:ea typeface="宋体" pitchFamily="2" charset="-122"/>
                <a:cs typeface="Times New Roman" panose="02020603050405020304" pitchFamily="18" charset="0"/>
              </a:rPr>
              <a:t>Augmenting Paths – example</a:t>
            </a:r>
          </a:p>
        </p:txBody>
      </p:sp>
      <p:sp>
        <p:nvSpPr>
          <p:cNvPr id="4100" name="Rectangle 3">
            <a:extLst>
              <a:ext uri="{FF2B5EF4-FFF2-40B4-BE49-F238E27FC236}">
                <a16:creationId xmlns:a16="http://schemas.microsoft.com/office/drawing/2014/main" id="{2711A4AB-6E80-42FC-ADBB-6F3A5D556D70}"/>
              </a:ext>
            </a:extLst>
          </p:cNvPr>
          <p:cNvSpPr>
            <a:spLocks noGrp="1" noChangeArrowheads="1"/>
          </p:cNvSpPr>
          <p:nvPr>
            <p:ph type="body" idx="1"/>
          </p:nvPr>
        </p:nvSpPr>
        <p:spPr>
          <a:xfrm>
            <a:off x="1844676" y="1798638"/>
            <a:ext cx="8462963" cy="558800"/>
          </a:xfrm>
          <a:noFill/>
        </p:spPr>
        <p:txBody>
          <a:bodyPr/>
          <a:lstStyle/>
          <a:p>
            <a:r>
              <a:rPr lang="en-US" altLang="zh-CN" sz="2000" b="1">
                <a:solidFill>
                  <a:srgbClr val="FF0000"/>
                </a:solidFill>
                <a:latin typeface="Comic Sans MS" panose="030F0702030302020204" pitchFamily="66" charset="0"/>
                <a:ea typeface="SimSun" panose="02010600030101010101" pitchFamily="2" charset="-122"/>
              </a:rPr>
              <a:t>The maximum possible flow through the cut = 12 + 7 + 4 = 23</a:t>
            </a:r>
          </a:p>
        </p:txBody>
      </p:sp>
      <p:sp>
        <p:nvSpPr>
          <p:cNvPr id="4101" name="Text Box 4">
            <a:extLst>
              <a:ext uri="{FF2B5EF4-FFF2-40B4-BE49-F238E27FC236}">
                <a16:creationId xmlns:a16="http://schemas.microsoft.com/office/drawing/2014/main" id="{1BAF2D3E-1592-4607-A7BE-F9719CF34164}"/>
              </a:ext>
            </a:extLst>
          </p:cNvPr>
          <p:cNvSpPr txBox="1">
            <a:spLocks noChangeArrowheads="1"/>
          </p:cNvSpPr>
          <p:nvPr/>
        </p:nvSpPr>
        <p:spPr bwMode="auto">
          <a:xfrm>
            <a:off x="2324100" y="5537200"/>
            <a:ext cx="7099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endParaRPr lang="zh-CN" altLang="en-US" sz="2400">
              <a:latin typeface="Comic Sans MS" panose="030F0702030302020204" pitchFamily="66" charset="0"/>
              <a:ea typeface="SimSun" panose="02010600030101010101" pitchFamily="2" charset="-122"/>
            </a:endParaRPr>
          </a:p>
        </p:txBody>
      </p:sp>
      <p:graphicFrame>
        <p:nvGraphicFramePr>
          <p:cNvPr id="4098" name="Object 2">
            <a:extLst>
              <a:ext uri="{FF2B5EF4-FFF2-40B4-BE49-F238E27FC236}">
                <a16:creationId xmlns:a16="http://schemas.microsoft.com/office/drawing/2014/main" id="{F27DD96F-38C3-4653-8F59-E4409C639E15}"/>
              </a:ext>
            </a:extLst>
          </p:cNvPr>
          <p:cNvGraphicFramePr>
            <a:graphicFrameLocks noChangeAspect="1"/>
          </p:cNvGraphicFramePr>
          <p:nvPr/>
        </p:nvGraphicFramePr>
        <p:xfrm>
          <a:off x="2571750" y="2501901"/>
          <a:ext cx="5994400" cy="2665413"/>
        </p:xfrm>
        <a:graphic>
          <a:graphicData uri="http://schemas.openxmlformats.org/presentationml/2006/ole">
            <mc:AlternateContent xmlns:mc="http://schemas.openxmlformats.org/markup-compatibility/2006">
              <mc:Choice xmlns:v="urn:schemas-microsoft-com:vml" Requires="v">
                <p:oleObj name="Picture Publisher Image" r:id="rId2" imgW="3772080" imgH="1676520" progId="PictPub.Image.8">
                  <p:embed/>
                </p:oleObj>
              </mc:Choice>
              <mc:Fallback>
                <p:oleObj name="Picture Publisher Image" r:id="rId2" imgW="3772080" imgH="1676520" progId="PictPub.Image.8">
                  <p:embed/>
                  <p:pic>
                    <p:nvPicPr>
                      <p:cNvPr id="4098" name="Object 2">
                        <a:extLst>
                          <a:ext uri="{FF2B5EF4-FFF2-40B4-BE49-F238E27FC236}">
                            <a16:creationId xmlns:a16="http://schemas.microsoft.com/office/drawing/2014/main" id="{F27DD96F-38C3-4653-8F59-E4409C639E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1750" y="2501901"/>
                        <a:ext cx="5994400" cy="2665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02" name="Line 6">
            <a:extLst>
              <a:ext uri="{FF2B5EF4-FFF2-40B4-BE49-F238E27FC236}">
                <a16:creationId xmlns:a16="http://schemas.microsoft.com/office/drawing/2014/main" id="{89D4EFCB-03E8-4D4D-8894-AB23DC34734F}"/>
              </a:ext>
            </a:extLst>
          </p:cNvPr>
          <p:cNvSpPr>
            <a:spLocks noChangeShapeType="1"/>
          </p:cNvSpPr>
          <p:nvPr/>
        </p:nvSpPr>
        <p:spPr bwMode="auto">
          <a:xfrm>
            <a:off x="4902200" y="2476500"/>
            <a:ext cx="3225800" cy="28194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998407" name="Text Box 7">
            <a:extLst>
              <a:ext uri="{FF2B5EF4-FFF2-40B4-BE49-F238E27FC236}">
                <a16:creationId xmlns:a16="http://schemas.microsoft.com/office/drawing/2014/main" id="{40BC35B9-E993-44B1-8432-130AF0597C20}"/>
              </a:ext>
            </a:extLst>
          </p:cNvPr>
          <p:cNvSpPr txBox="1">
            <a:spLocks noChangeArrowheads="1"/>
          </p:cNvSpPr>
          <p:nvPr/>
        </p:nvSpPr>
        <p:spPr bwMode="auto">
          <a:xfrm>
            <a:off x="1981200" y="5422901"/>
            <a:ext cx="84328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sz="2400">
                <a:latin typeface="Comic Sans MS" panose="030F0702030302020204" pitchFamily="66" charset="0"/>
                <a:ea typeface="SimSun" panose="02010600030101010101" pitchFamily="2" charset="-122"/>
              </a:rPr>
              <a:t>The network has a capacity of at most 23. </a:t>
            </a:r>
          </a:p>
          <a:p>
            <a:pPr eaLnBrk="1" hangingPunct="1">
              <a:spcBef>
                <a:spcPct val="50000"/>
              </a:spcBef>
            </a:pPr>
            <a:r>
              <a:rPr lang="en-US" altLang="zh-CN" sz="2400">
                <a:latin typeface="Comic Sans MS" panose="030F0702030302020204" pitchFamily="66" charset="0"/>
                <a:ea typeface="SimSun" panose="02010600030101010101" pitchFamily="2" charset="-122"/>
              </a:rPr>
              <a:t>This is called a </a:t>
            </a:r>
            <a:r>
              <a:rPr lang="en-US" altLang="zh-CN" sz="2400">
                <a:solidFill>
                  <a:srgbClr val="FF0000"/>
                </a:solidFill>
                <a:latin typeface="Comic Sans MS" panose="030F0702030302020204" pitchFamily="66" charset="0"/>
                <a:ea typeface="SimSun" panose="02010600030101010101" pitchFamily="2" charset="-122"/>
              </a:rPr>
              <a:t>minimum cut</a:t>
            </a:r>
            <a:r>
              <a:rPr lang="en-US" altLang="zh-CN" sz="2400">
                <a:latin typeface="Comic Sans MS" panose="030F0702030302020204" pitchFamily="66" charset="0"/>
                <a:ea typeface="SimSun" panose="02010600030101010101" pitchFamily="2" charset="-122"/>
              </a:rPr>
              <a:t>.</a:t>
            </a:r>
          </a:p>
        </p:txBody>
      </p:sp>
      <p:sp>
        <p:nvSpPr>
          <p:cNvPr id="4104" name="Text Box 8">
            <a:extLst>
              <a:ext uri="{FF2B5EF4-FFF2-40B4-BE49-F238E27FC236}">
                <a16:creationId xmlns:a16="http://schemas.microsoft.com/office/drawing/2014/main" id="{D0CECD6C-C387-4388-8ECB-43E1E379D40C}"/>
              </a:ext>
            </a:extLst>
          </p:cNvPr>
          <p:cNvSpPr txBox="1">
            <a:spLocks noChangeArrowheads="1"/>
          </p:cNvSpPr>
          <p:nvPr/>
        </p:nvSpPr>
        <p:spPr bwMode="auto">
          <a:xfrm>
            <a:off x="8624888" y="3349625"/>
            <a:ext cx="20431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zh-CN" sz="2400">
                <a:solidFill>
                  <a:srgbClr val="FF0000"/>
                </a:solidFill>
                <a:latin typeface="Comic Sans MS" panose="030F0702030302020204" pitchFamily="66" charset="0"/>
                <a:ea typeface="SimSun" panose="02010600030101010101" pitchFamily="2" charset="-122"/>
              </a:rPr>
              <a:t>Flow(2)</a:t>
            </a:r>
          </a:p>
        </p:txBody>
      </p:sp>
      <p:sp>
        <p:nvSpPr>
          <p:cNvPr id="4105" name="Text Box 9">
            <a:extLst>
              <a:ext uri="{FF2B5EF4-FFF2-40B4-BE49-F238E27FC236}">
                <a16:creationId xmlns:a16="http://schemas.microsoft.com/office/drawing/2014/main" id="{A7A31215-5C19-4613-AA1D-77D251C51228}"/>
              </a:ext>
            </a:extLst>
          </p:cNvPr>
          <p:cNvSpPr txBox="1">
            <a:spLocks noChangeArrowheads="1"/>
          </p:cNvSpPr>
          <p:nvPr/>
        </p:nvSpPr>
        <p:spPr bwMode="auto">
          <a:xfrm>
            <a:off x="8229600" y="5053013"/>
            <a:ext cx="642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400">
                <a:solidFill>
                  <a:srgbClr val="FF0000"/>
                </a:solidFill>
                <a:latin typeface="Comic Sans MS" panose="030F0702030302020204" pitchFamily="66" charset="0"/>
                <a:ea typeface="SimSun" panose="02010600030101010101" pitchFamily="2" charset="-122"/>
              </a:rPr>
              <a:t>cut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98407"/>
                                        </p:tgtEl>
                                        <p:attrNameLst>
                                          <p:attrName>style.visibility</p:attrName>
                                        </p:attrNameLst>
                                      </p:cBhvr>
                                      <p:to>
                                        <p:strVal val="visible"/>
                                      </p:to>
                                    </p:set>
                                    <p:anim calcmode="lin" valueType="num">
                                      <p:cBhvr additive="base">
                                        <p:cTn id="7" dur="500" fill="hold"/>
                                        <p:tgtEl>
                                          <p:spTgt spid="998407"/>
                                        </p:tgtEl>
                                        <p:attrNameLst>
                                          <p:attrName>ppt_x</p:attrName>
                                        </p:attrNameLst>
                                      </p:cBhvr>
                                      <p:tavLst>
                                        <p:tav tm="0">
                                          <p:val>
                                            <p:strVal val="0-#ppt_w/2"/>
                                          </p:val>
                                        </p:tav>
                                        <p:tav tm="100000">
                                          <p:val>
                                            <p:strVal val="#ppt_x"/>
                                          </p:val>
                                        </p:tav>
                                      </p:tavLst>
                                    </p:anim>
                                    <p:anim calcmode="lin" valueType="num">
                                      <p:cBhvr additive="base">
                                        <p:cTn id="8" dur="500" fill="hold"/>
                                        <p:tgtEl>
                                          <p:spTgt spid="99840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8407"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2498" name="Rectangle 2">
            <a:extLst>
              <a:ext uri="{FF2B5EF4-FFF2-40B4-BE49-F238E27FC236}">
                <a16:creationId xmlns:a16="http://schemas.microsoft.com/office/drawing/2014/main" id="{7630FAA7-4C0B-4E43-84A2-1079FDC49207}"/>
              </a:ext>
            </a:extLst>
          </p:cNvPr>
          <p:cNvSpPr>
            <a:spLocks noGrp="1" noChangeArrowheads="1"/>
          </p:cNvSpPr>
          <p:nvPr>
            <p:ph type="title"/>
          </p:nvPr>
        </p:nvSpPr>
        <p:spPr/>
        <p:txBody>
          <a:bodyPr>
            <a:normAutofit/>
          </a:bodyPr>
          <a:lstStyle/>
          <a:p>
            <a:pPr>
              <a:defRPr/>
            </a:pPr>
            <a:r>
              <a:rPr lang="en-US" altLang="zh-CN" sz="2800" dirty="0">
                <a:latin typeface="Times New Roman" panose="02020603050405020304" pitchFamily="18" charset="0"/>
                <a:ea typeface="宋体" pitchFamily="2" charset="-122"/>
                <a:cs typeface="Times New Roman" panose="02020603050405020304" pitchFamily="18" charset="0"/>
              </a:rPr>
              <a:t>Net Flow of a Network</a:t>
            </a:r>
          </a:p>
        </p:txBody>
      </p:sp>
      <p:sp>
        <p:nvSpPr>
          <p:cNvPr id="5124" name="Rectangle 3">
            <a:extLst>
              <a:ext uri="{FF2B5EF4-FFF2-40B4-BE49-F238E27FC236}">
                <a16:creationId xmlns:a16="http://schemas.microsoft.com/office/drawing/2014/main" id="{2619F270-6684-4DB9-BCAA-4E12748BCEFF}"/>
              </a:ext>
            </a:extLst>
          </p:cNvPr>
          <p:cNvSpPr>
            <a:spLocks noGrp="1" noChangeArrowheads="1"/>
          </p:cNvSpPr>
          <p:nvPr>
            <p:ph type="body" idx="1"/>
          </p:nvPr>
        </p:nvSpPr>
        <p:spPr>
          <a:xfrm>
            <a:off x="2209800" y="1462088"/>
            <a:ext cx="7772400" cy="4114800"/>
          </a:xfrm>
          <a:noFill/>
        </p:spPr>
        <p:txBody>
          <a:bodyPr>
            <a:normAutofit/>
          </a:bodyPr>
          <a:lstStyle/>
          <a:p>
            <a:r>
              <a:rPr lang="en-US" altLang="zh-CN" sz="2000" dirty="0">
                <a:latin typeface="Times New Roman" panose="02020603050405020304" pitchFamily="18" charset="0"/>
                <a:ea typeface="SimSun" panose="02010600030101010101" pitchFamily="2" charset="-122"/>
                <a:cs typeface="Times New Roman" panose="02020603050405020304" pitchFamily="18" charset="0"/>
              </a:rPr>
              <a:t>The net flow across any cut is the same and equal to the flow of the network |f|.</a:t>
            </a:r>
          </a:p>
        </p:txBody>
      </p:sp>
      <p:graphicFrame>
        <p:nvGraphicFramePr>
          <p:cNvPr id="5122" name="Object 2">
            <a:extLst>
              <a:ext uri="{FF2B5EF4-FFF2-40B4-BE49-F238E27FC236}">
                <a16:creationId xmlns:a16="http://schemas.microsoft.com/office/drawing/2014/main" id="{FA87534B-D408-4E7C-8F2D-32FD386F0887}"/>
              </a:ext>
            </a:extLst>
          </p:cNvPr>
          <p:cNvGraphicFramePr>
            <a:graphicFrameLocks noChangeAspect="1"/>
          </p:cNvGraphicFramePr>
          <p:nvPr/>
        </p:nvGraphicFramePr>
        <p:xfrm>
          <a:off x="2482850" y="2794001"/>
          <a:ext cx="6953250" cy="3090863"/>
        </p:xfrm>
        <a:graphic>
          <a:graphicData uri="http://schemas.openxmlformats.org/presentationml/2006/ole">
            <mc:AlternateContent xmlns:mc="http://schemas.openxmlformats.org/markup-compatibility/2006">
              <mc:Choice xmlns:v="urn:schemas-microsoft-com:vml" Requires="v">
                <p:oleObj name="Picture Publisher Image" r:id="rId2" imgW="3772080" imgH="1676520" progId="PictPub.Image.8">
                  <p:embed/>
                </p:oleObj>
              </mc:Choice>
              <mc:Fallback>
                <p:oleObj name="Picture Publisher Image" r:id="rId2" imgW="3772080" imgH="1676520" progId="PictPub.Image.8">
                  <p:embed/>
                  <p:pic>
                    <p:nvPicPr>
                      <p:cNvPr id="5122" name="Object 2">
                        <a:extLst>
                          <a:ext uri="{FF2B5EF4-FFF2-40B4-BE49-F238E27FC236}">
                            <a16:creationId xmlns:a16="http://schemas.microsoft.com/office/drawing/2014/main" id="{FA87534B-D408-4E7C-8F2D-32FD386F08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2850" y="2794001"/>
                        <a:ext cx="6953250" cy="3090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02501" name="Line 5">
            <a:extLst>
              <a:ext uri="{FF2B5EF4-FFF2-40B4-BE49-F238E27FC236}">
                <a16:creationId xmlns:a16="http://schemas.microsoft.com/office/drawing/2014/main" id="{6009B3F5-4209-4885-A791-26A1B3AA8562}"/>
              </a:ext>
            </a:extLst>
          </p:cNvPr>
          <p:cNvSpPr>
            <a:spLocks noChangeShapeType="1"/>
          </p:cNvSpPr>
          <p:nvPr/>
        </p:nvSpPr>
        <p:spPr bwMode="auto">
          <a:xfrm>
            <a:off x="3378200" y="2717800"/>
            <a:ext cx="1244600" cy="3530600"/>
          </a:xfrm>
          <a:prstGeom prst="line">
            <a:avLst/>
          </a:prstGeom>
          <a:noFill/>
          <a:ln w="44450">
            <a:solidFill>
              <a:srgbClr val="FF0000"/>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002502" name="Line 6">
            <a:extLst>
              <a:ext uri="{FF2B5EF4-FFF2-40B4-BE49-F238E27FC236}">
                <a16:creationId xmlns:a16="http://schemas.microsoft.com/office/drawing/2014/main" id="{7021D150-1F4B-4E32-A66A-B8F6B9B2F08C}"/>
              </a:ext>
            </a:extLst>
          </p:cNvPr>
          <p:cNvSpPr>
            <a:spLocks noChangeShapeType="1"/>
          </p:cNvSpPr>
          <p:nvPr/>
        </p:nvSpPr>
        <p:spPr bwMode="auto">
          <a:xfrm>
            <a:off x="3733800" y="2794000"/>
            <a:ext cx="2451100" cy="3441700"/>
          </a:xfrm>
          <a:prstGeom prst="line">
            <a:avLst/>
          </a:prstGeom>
          <a:noFill/>
          <a:ln w="44450">
            <a:solidFill>
              <a:srgbClr val="FF0000"/>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
        <p:nvSpPr>
          <p:cNvPr id="1002503" name="Line 7">
            <a:extLst>
              <a:ext uri="{FF2B5EF4-FFF2-40B4-BE49-F238E27FC236}">
                <a16:creationId xmlns:a16="http://schemas.microsoft.com/office/drawing/2014/main" id="{44F2DD84-6A01-4A39-A17C-5D1BE7A3F3C3}"/>
              </a:ext>
            </a:extLst>
          </p:cNvPr>
          <p:cNvSpPr>
            <a:spLocks noChangeShapeType="1"/>
          </p:cNvSpPr>
          <p:nvPr/>
        </p:nvSpPr>
        <p:spPr bwMode="auto">
          <a:xfrm>
            <a:off x="5829300" y="2730500"/>
            <a:ext cx="1943100" cy="3479800"/>
          </a:xfrm>
          <a:prstGeom prst="line">
            <a:avLst/>
          </a:prstGeom>
          <a:noFill/>
          <a:ln w="44450">
            <a:solidFill>
              <a:srgbClr val="FF0000"/>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00250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00250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0025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22" name="Rectangle 2">
            <a:extLst>
              <a:ext uri="{FF2B5EF4-FFF2-40B4-BE49-F238E27FC236}">
                <a16:creationId xmlns:a16="http://schemas.microsoft.com/office/drawing/2014/main" id="{B7E90B87-158C-4951-B3EE-D604236218D2}"/>
              </a:ext>
            </a:extLst>
          </p:cNvPr>
          <p:cNvSpPr>
            <a:spLocks noGrp="1" noChangeArrowheads="1"/>
          </p:cNvSpPr>
          <p:nvPr>
            <p:ph type="title"/>
          </p:nvPr>
        </p:nvSpPr>
        <p:spPr/>
        <p:txBody>
          <a:bodyPr>
            <a:normAutofit/>
          </a:bodyPr>
          <a:lstStyle/>
          <a:p>
            <a:pPr>
              <a:defRPr/>
            </a:pPr>
            <a:r>
              <a:rPr lang="en-US" altLang="zh-CN" sz="2800" dirty="0">
                <a:latin typeface="Times New Roman" panose="02020603050405020304" pitchFamily="18" charset="0"/>
                <a:ea typeface="宋体" pitchFamily="2" charset="-122"/>
                <a:cs typeface="Times New Roman" panose="02020603050405020304" pitchFamily="18" charset="0"/>
              </a:rPr>
              <a:t>Bounding the Network Flow</a:t>
            </a:r>
          </a:p>
        </p:txBody>
      </p:sp>
      <p:sp>
        <p:nvSpPr>
          <p:cNvPr id="1003523" name="Rectangle 3">
            <a:extLst>
              <a:ext uri="{FF2B5EF4-FFF2-40B4-BE49-F238E27FC236}">
                <a16:creationId xmlns:a16="http://schemas.microsoft.com/office/drawing/2014/main" id="{7A051C09-309E-4E8E-A23E-9FAD9EB160CA}"/>
              </a:ext>
            </a:extLst>
          </p:cNvPr>
          <p:cNvSpPr>
            <a:spLocks noGrp="1" noChangeArrowheads="1"/>
          </p:cNvSpPr>
          <p:nvPr>
            <p:ph type="body" idx="1"/>
          </p:nvPr>
        </p:nvSpPr>
        <p:spPr>
          <a:xfrm>
            <a:off x="2209800" y="1295400"/>
            <a:ext cx="7772400" cy="1371600"/>
          </a:xfrm>
        </p:spPr>
        <p:txBody>
          <a:bodyPr>
            <a:normAutofit/>
          </a:bodyPr>
          <a:lstStyle/>
          <a:p>
            <a:pPr>
              <a:defRPr/>
            </a:pPr>
            <a:r>
              <a:rPr lang="en-US" altLang="zh-CN" sz="2000" dirty="0">
                <a:latin typeface="Times New Roman" panose="02020603050405020304" pitchFamily="18" charset="0"/>
                <a:ea typeface="宋体" pitchFamily="2" charset="-122"/>
                <a:cs typeface="Times New Roman" panose="02020603050405020304" pitchFamily="18" charset="0"/>
              </a:rPr>
              <a:t>The value of any flow f in a flow network G is bounded from above by the capacity of any cut of G. </a:t>
            </a:r>
          </a:p>
        </p:txBody>
      </p:sp>
      <p:graphicFrame>
        <p:nvGraphicFramePr>
          <p:cNvPr id="6146" name="Object 2">
            <a:extLst>
              <a:ext uri="{FF2B5EF4-FFF2-40B4-BE49-F238E27FC236}">
                <a16:creationId xmlns:a16="http://schemas.microsoft.com/office/drawing/2014/main" id="{2BA3D67D-8B57-4106-8C67-1FF4523B3A26}"/>
              </a:ext>
            </a:extLst>
          </p:cNvPr>
          <p:cNvGraphicFramePr>
            <a:graphicFrameLocks noChangeAspect="1"/>
          </p:cNvGraphicFramePr>
          <p:nvPr/>
        </p:nvGraphicFramePr>
        <p:xfrm>
          <a:off x="2482850" y="2794001"/>
          <a:ext cx="6953250" cy="3090863"/>
        </p:xfrm>
        <a:graphic>
          <a:graphicData uri="http://schemas.openxmlformats.org/presentationml/2006/ole">
            <mc:AlternateContent xmlns:mc="http://schemas.openxmlformats.org/markup-compatibility/2006">
              <mc:Choice xmlns:v="urn:schemas-microsoft-com:vml" Requires="v">
                <p:oleObj name="Picture Publisher Image" r:id="rId2" imgW="3772080" imgH="1676520" progId="PictPub.Image.8">
                  <p:embed/>
                </p:oleObj>
              </mc:Choice>
              <mc:Fallback>
                <p:oleObj name="Picture Publisher Image" r:id="rId2" imgW="3772080" imgH="1676520" progId="PictPub.Image.8">
                  <p:embed/>
                  <p:pic>
                    <p:nvPicPr>
                      <p:cNvPr id="6146" name="Object 2">
                        <a:extLst>
                          <a:ext uri="{FF2B5EF4-FFF2-40B4-BE49-F238E27FC236}">
                            <a16:creationId xmlns:a16="http://schemas.microsoft.com/office/drawing/2014/main" id="{2BA3D67D-8B57-4106-8C67-1FF4523B3A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2850" y="2794001"/>
                        <a:ext cx="6953250" cy="3090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49" name="Line 5">
            <a:extLst>
              <a:ext uri="{FF2B5EF4-FFF2-40B4-BE49-F238E27FC236}">
                <a16:creationId xmlns:a16="http://schemas.microsoft.com/office/drawing/2014/main" id="{D6798C76-84E0-494D-A5CD-EBEB48EC6A54}"/>
              </a:ext>
            </a:extLst>
          </p:cNvPr>
          <p:cNvSpPr>
            <a:spLocks noChangeShapeType="1"/>
          </p:cNvSpPr>
          <p:nvPr/>
        </p:nvSpPr>
        <p:spPr bwMode="auto">
          <a:xfrm>
            <a:off x="5829300" y="2730500"/>
            <a:ext cx="1943100" cy="3479800"/>
          </a:xfrm>
          <a:prstGeom prst="line">
            <a:avLst/>
          </a:prstGeom>
          <a:noFill/>
          <a:ln w="44450">
            <a:solidFill>
              <a:srgbClr val="FF0000"/>
            </a:solidFill>
            <a:prstDash val="dash"/>
            <a:round/>
            <a:headEnd/>
            <a:tailEnd/>
          </a:ln>
          <a:extLst>
            <a:ext uri="{909E8E84-426E-40DD-AFC4-6F175D3DCCD1}">
              <a14:hiddenFill xmlns:a14="http://schemas.microsoft.com/office/drawing/2010/main">
                <a:noFill/>
              </a14:hiddenFill>
            </a:ext>
          </a:extLst>
        </p:spPr>
        <p:txBody>
          <a:bodyPr wrap="none"/>
          <a:lstStyle/>
          <a:p>
            <a:endParaRPr lang="en-IN"/>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04546" name="Rectangle 2">
            <a:extLst>
              <a:ext uri="{FF2B5EF4-FFF2-40B4-BE49-F238E27FC236}">
                <a16:creationId xmlns:a16="http://schemas.microsoft.com/office/drawing/2014/main" id="{76D4DD2F-FAB7-4E37-97FB-4041F9183F72}"/>
              </a:ext>
            </a:extLst>
          </p:cNvPr>
          <p:cNvSpPr>
            <a:spLocks noGrp="1" noChangeArrowheads="1"/>
          </p:cNvSpPr>
          <p:nvPr>
            <p:ph type="title"/>
          </p:nvPr>
        </p:nvSpPr>
        <p:spPr/>
        <p:txBody>
          <a:bodyPr>
            <a:normAutofit/>
          </a:bodyPr>
          <a:lstStyle/>
          <a:p>
            <a:pPr>
              <a:defRPr/>
            </a:pPr>
            <a:r>
              <a:rPr lang="en-US" altLang="zh-CN" sz="2800" dirty="0">
                <a:latin typeface="Times New Roman" panose="02020603050405020304" pitchFamily="18" charset="0"/>
                <a:ea typeface="宋体" pitchFamily="2" charset="-122"/>
                <a:cs typeface="Times New Roman" panose="02020603050405020304" pitchFamily="18" charset="0"/>
              </a:rPr>
              <a:t>Max-Flow Min-Cut Theorem</a:t>
            </a:r>
          </a:p>
        </p:txBody>
      </p:sp>
      <p:sp>
        <p:nvSpPr>
          <p:cNvPr id="1004547" name="Rectangle 3">
            <a:extLst>
              <a:ext uri="{FF2B5EF4-FFF2-40B4-BE49-F238E27FC236}">
                <a16:creationId xmlns:a16="http://schemas.microsoft.com/office/drawing/2014/main" id="{503C17CD-486D-4CC4-8BC1-F8A42B69F8D6}"/>
              </a:ext>
            </a:extLst>
          </p:cNvPr>
          <p:cNvSpPr>
            <a:spLocks noGrp="1" noChangeArrowheads="1"/>
          </p:cNvSpPr>
          <p:nvPr>
            <p:ph type="body" idx="1"/>
          </p:nvPr>
        </p:nvSpPr>
        <p:spPr>
          <a:xfrm>
            <a:off x="1951038" y="1981200"/>
            <a:ext cx="8031162" cy="4114800"/>
          </a:xfrm>
          <a:noFill/>
        </p:spPr>
        <p:txBody>
          <a:bodyPr>
            <a:normAutofit/>
          </a:bodyPr>
          <a:lstStyle/>
          <a:p>
            <a:pPr marL="381000" indent="-381000"/>
            <a:r>
              <a:rPr lang="en-US" altLang="zh-CN" sz="2000" dirty="0">
                <a:latin typeface="Times New Roman" panose="02020603050405020304" pitchFamily="18" charset="0"/>
                <a:ea typeface="SimSun" panose="02010600030101010101" pitchFamily="2" charset="-122"/>
                <a:cs typeface="Times New Roman" panose="02020603050405020304" pitchFamily="18" charset="0"/>
              </a:rPr>
              <a:t>If f is a flow in a flow network G=(V,E), with source s and sink t, then the following conditions are equivalent:</a:t>
            </a:r>
          </a:p>
          <a:p>
            <a:pPr marL="800100" lvl="1" indent="-342900">
              <a:buFont typeface="Wingdings" panose="05000000000000000000" pitchFamily="2" charset="2"/>
              <a:buAutoNum type="arabicPeriod"/>
            </a:pPr>
            <a:r>
              <a:rPr lang="en-US" altLang="zh-CN" sz="2000" i="1" dirty="0">
                <a:latin typeface="Times New Roman" panose="02020603050405020304" pitchFamily="18" charset="0"/>
                <a:ea typeface="SimSun" panose="02010600030101010101" pitchFamily="2" charset="-122"/>
                <a:cs typeface="Times New Roman" panose="02020603050405020304" pitchFamily="18" charset="0"/>
              </a:rPr>
              <a:t>f</a:t>
            </a:r>
            <a:r>
              <a:rPr lang="en-US" altLang="zh-CN" sz="2000" dirty="0">
                <a:latin typeface="Times New Roman" panose="02020603050405020304" pitchFamily="18" charset="0"/>
                <a:ea typeface="SimSun" panose="02010600030101010101" pitchFamily="2" charset="-122"/>
                <a:cs typeface="Times New Roman" panose="02020603050405020304" pitchFamily="18" charset="0"/>
              </a:rPr>
              <a:t> is a maximum flow in </a:t>
            </a:r>
            <a:r>
              <a:rPr lang="en-US" altLang="zh-CN" sz="2000" i="1" dirty="0">
                <a:latin typeface="Times New Roman" panose="02020603050405020304" pitchFamily="18" charset="0"/>
                <a:ea typeface="SimSun" panose="02010600030101010101" pitchFamily="2" charset="-122"/>
                <a:cs typeface="Times New Roman" panose="02020603050405020304" pitchFamily="18" charset="0"/>
              </a:rPr>
              <a:t>G</a:t>
            </a:r>
            <a:r>
              <a:rPr lang="en-US" altLang="zh-CN" sz="2000" dirty="0">
                <a:latin typeface="Times New Roman" panose="02020603050405020304" pitchFamily="18" charset="0"/>
                <a:ea typeface="SimSun" panose="02010600030101010101" pitchFamily="2" charset="-122"/>
                <a:cs typeface="Times New Roman" panose="02020603050405020304" pitchFamily="18" charset="0"/>
              </a:rPr>
              <a:t>.</a:t>
            </a:r>
          </a:p>
          <a:p>
            <a:pPr marL="800100" lvl="1" indent="-342900">
              <a:buFont typeface="Wingdings" panose="05000000000000000000" pitchFamily="2" charset="2"/>
              <a:buAutoNum type="arabicPeriod"/>
            </a:pPr>
            <a:r>
              <a:rPr lang="en-US" altLang="zh-CN" sz="2000" dirty="0">
                <a:latin typeface="Times New Roman" panose="02020603050405020304" pitchFamily="18" charset="0"/>
                <a:ea typeface="SimSun" panose="02010600030101010101" pitchFamily="2" charset="-122"/>
                <a:cs typeface="Times New Roman" panose="02020603050405020304" pitchFamily="18" charset="0"/>
              </a:rPr>
              <a:t>The residual network </a:t>
            </a:r>
            <a:r>
              <a:rPr lang="en-US" altLang="zh-CN" sz="2000" i="1" dirty="0">
                <a:latin typeface="Times New Roman" panose="02020603050405020304" pitchFamily="18" charset="0"/>
                <a:ea typeface="SimSun" panose="02010600030101010101" pitchFamily="2" charset="-122"/>
                <a:cs typeface="Times New Roman" panose="02020603050405020304" pitchFamily="18" charset="0"/>
              </a:rPr>
              <a:t>G</a:t>
            </a:r>
            <a:r>
              <a:rPr lang="en-US" altLang="zh-CN" sz="2000" i="1" baseline="-25000" dirty="0">
                <a:latin typeface="Times New Roman" panose="02020603050405020304" pitchFamily="18" charset="0"/>
                <a:ea typeface="SimSun" panose="02010600030101010101" pitchFamily="2" charset="-122"/>
                <a:cs typeface="Times New Roman" panose="02020603050405020304" pitchFamily="18" charset="0"/>
              </a:rPr>
              <a:t>f</a:t>
            </a:r>
            <a:r>
              <a:rPr lang="en-US" altLang="zh-CN" sz="2000" dirty="0">
                <a:latin typeface="Times New Roman" panose="02020603050405020304" pitchFamily="18" charset="0"/>
                <a:ea typeface="SimSun" panose="02010600030101010101" pitchFamily="2" charset="-122"/>
                <a:cs typeface="Times New Roman" panose="02020603050405020304" pitchFamily="18" charset="0"/>
              </a:rPr>
              <a:t> contains no augmented paths.  </a:t>
            </a:r>
          </a:p>
          <a:p>
            <a:pPr marL="800100" lvl="1" indent="-342900">
              <a:buFont typeface="Wingdings" panose="05000000000000000000" pitchFamily="2" charset="2"/>
              <a:buAutoNum type="arabicPeriod"/>
            </a:pPr>
            <a:r>
              <a:rPr lang="en-US" altLang="zh-CN" sz="2000" i="1" dirty="0">
                <a:latin typeface="Times New Roman" panose="02020603050405020304" pitchFamily="18" charset="0"/>
                <a:ea typeface="SimSun" panose="02010600030101010101" pitchFamily="2" charset="-122"/>
                <a:cs typeface="Times New Roman" panose="02020603050405020304" pitchFamily="18" charset="0"/>
              </a:rPr>
              <a:t>|f| = f(S,T)</a:t>
            </a:r>
            <a:r>
              <a:rPr lang="en-US" altLang="zh-CN" sz="2000" dirty="0">
                <a:latin typeface="Times New Roman" panose="02020603050405020304" pitchFamily="18" charset="0"/>
                <a:ea typeface="SimSun" panose="02010600030101010101" pitchFamily="2" charset="-122"/>
                <a:cs typeface="Times New Roman" panose="02020603050405020304" pitchFamily="18" charset="0"/>
              </a:rPr>
              <a:t> for some cut </a:t>
            </a:r>
            <a:r>
              <a:rPr lang="en-US" altLang="zh-CN" sz="2000" i="1" dirty="0">
                <a:latin typeface="Times New Roman" panose="02020603050405020304" pitchFamily="18" charset="0"/>
                <a:ea typeface="SimSun" panose="02010600030101010101" pitchFamily="2" charset="-122"/>
                <a:cs typeface="Times New Roman" panose="02020603050405020304" pitchFamily="18" charset="0"/>
              </a:rPr>
              <a:t>(S,T)</a:t>
            </a:r>
            <a:r>
              <a:rPr lang="en-US" altLang="zh-CN" sz="2000" dirty="0">
                <a:latin typeface="Times New Roman" panose="02020603050405020304" pitchFamily="18" charset="0"/>
                <a:ea typeface="SimSun" panose="02010600030101010101" pitchFamily="2" charset="-122"/>
                <a:cs typeface="Times New Roman" panose="02020603050405020304" pitchFamily="18" charset="0"/>
              </a:rPr>
              <a:t> (a min-cut).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0454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00454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00454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00454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547" grpId="0" build="p" bldLvl="2"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14">
            <a:extLst>
              <a:ext uri="{FF2B5EF4-FFF2-40B4-BE49-F238E27FC236}">
                <a16:creationId xmlns:a16="http://schemas.microsoft.com/office/drawing/2014/main" id="{23D09407-53BC-485E-B4CE-BC5E4FC4B2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16">
            <a:extLst>
              <a:ext uri="{FF2B5EF4-FFF2-40B4-BE49-F238E27FC236}">
                <a16:creationId xmlns:a16="http://schemas.microsoft.com/office/drawing/2014/main" id="{921DB988-49FC-4608-B0A2-E2F3A40190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664B553-F1F3-4FD8-99F1-5CCF27599298}"/>
              </a:ext>
            </a:extLst>
          </p:cNvPr>
          <p:cNvSpPr txBox="1"/>
          <p:nvPr/>
        </p:nvSpPr>
        <p:spPr>
          <a:xfrm>
            <a:off x="775470" y="3901807"/>
            <a:ext cx="10640754" cy="775845"/>
          </a:xfrm>
          <a:prstGeom prst="rect">
            <a:avLst/>
          </a:prstGeom>
        </p:spPr>
        <p:txBody>
          <a:bodyPr vert="horz" lIns="91440" tIns="45720" rIns="91440" bIns="45720" rtlCol="0" anchor="b">
            <a:noAutofit/>
          </a:bodyPr>
          <a:lstStyle/>
          <a:p>
            <a:pPr algn="ctr">
              <a:lnSpc>
                <a:spcPct val="90000"/>
              </a:lnSpc>
              <a:spcBef>
                <a:spcPct val="0"/>
              </a:spcBef>
              <a:spcAft>
                <a:spcPts val="600"/>
              </a:spcAft>
            </a:pPr>
            <a:r>
              <a:rPr lang="en-US" sz="6600" kern="1200" dirty="0">
                <a:solidFill>
                  <a:schemeClr val="tx2"/>
                </a:solidFill>
                <a:latin typeface="+mj-lt"/>
                <a:ea typeface="+mj-ea"/>
                <a:cs typeface="+mj-cs"/>
              </a:rPr>
              <a:t>Thank You</a:t>
            </a:r>
          </a:p>
        </p:txBody>
      </p:sp>
      <p:grpSp>
        <p:nvGrpSpPr>
          <p:cNvPr id="19" name="Group 18">
            <a:extLst>
              <a:ext uri="{FF2B5EF4-FFF2-40B4-BE49-F238E27FC236}">
                <a16:creationId xmlns:a16="http://schemas.microsoft.com/office/drawing/2014/main" id="{E9B930FD-8671-4C4C-ADCF-73AC1D0CD41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676747" y="0"/>
            <a:ext cx="2514948" cy="2174333"/>
            <a:chOff x="-305" y="-4155"/>
            <a:chExt cx="2514948" cy="2174333"/>
          </a:xfrm>
        </p:grpSpPr>
        <p:sp>
          <p:nvSpPr>
            <p:cNvPr id="20" name="Freeform: Shape 19">
              <a:extLst>
                <a:ext uri="{FF2B5EF4-FFF2-40B4-BE49-F238E27FC236}">
                  <a16:creationId xmlns:a16="http://schemas.microsoft.com/office/drawing/2014/main" id="{C35B12C1-569C-4E37-AA33-7EF215F201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F23E2660-7810-46F6-8752-187127C830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C991DC45-0378-45B3-B325-FB8F98545E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3" name="Freeform: Shape 22">
              <a:extLst>
                <a:ext uri="{FF2B5EF4-FFF2-40B4-BE49-F238E27FC236}">
                  <a16:creationId xmlns:a16="http://schemas.microsoft.com/office/drawing/2014/main" id="{E228F5BA-5150-4554-B7EA-93F371F3B1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7" name="Graphic 6" descr="Smiling Face with No Fill">
            <a:extLst>
              <a:ext uri="{FF2B5EF4-FFF2-40B4-BE49-F238E27FC236}">
                <a16:creationId xmlns:a16="http://schemas.microsoft.com/office/drawing/2014/main" id="{589619DA-444D-4F21-A4E9-4FCBF460773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646990" y="320231"/>
            <a:ext cx="2836567" cy="2836567"/>
          </a:xfrm>
          <a:prstGeom prst="rect">
            <a:avLst/>
          </a:prstGeom>
        </p:spPr>
      </p:pic>
      <p:grpSp>
        <p:nvGrpSpPr>
          <p:cNvPr id="25" name="Group 24">
            <a:extLst>
              <a:ext uri="{FF2B5EF4-FFF2-40B4-BE49-F238E27FC236}">
                <a16:creationId xmlns:a16="http://schemas.microsoft.com/office/drawing/2014/main" id="{383C2651-AE0C-4AE4-8725-E2F9414FE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305" y="4322879"/>
            <a:ext cx="3378428" cy="2535121"/>
            <a:chOff x="-305" y="-1"/>
            <a:chExt cx="3832880" cy="2876136"/>
          </a:xfrm>
        </p:grpSpPr>
        <p:sp>
          <p:nvSpPr>
            <p:cNvPr id="26" name="Freeform: Shape 25">
              <a:extLst>
                <a:ext uri="{FF2B5EF4-FFF2-40B4-BE49-F238E27FC236}">
                  <a16:creationId xmlns:a16="http://schemas.microsoft.com/office/drawing/2014/main" id="{CCE13265-B5D2-47B4-A199-E05F390D5B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693EBD03-D832-462C-9304-7273698ED4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Freeform: Shape 27">
              <a:extLst>
                <a:ext uri="{FF2B5EF4-FFF2-40B4-BE49-F238E27FC236}">
                  <a16:creationId xmlns:a16="http://schemas.microsoft.com/office/drawing/2014/main" id="{0D53D3E2-805E-40D2-964F-352BF6D476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Freeform: Shape 28">
              <a:extLst>
                <a:ext uri="{FF2B5EF4-FFF2-40B4-BE49-F238E27FC236}">
                  <a16:creationId xmlns:a16="http://schemas.microsoft.com/office/drawing/2014/main" id="{B7A9A916-A926-43E6-800F-432ABC3F24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845055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12875</TotalTime>
  <Words>1952</Words>
  <Application>Microsoft Office PowerPoint</Application>
  <PresentationFormat>Widescreen</PresentationFormat>
  <Paragraphs>567</Paragraphs>
  <Slides>33</Slides>
  <Notes>1</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1_Custom Design</vt:lpstr>
      <vt:lpstr>PowerPoint Presentation</vt:lpstr>
      <vt:lpstr>PowerPoint Presentation</vt:lpstr>
      <vt:lpstr>PowerPoint Presentation</vt:lpstr>
      <vt:lpstr>PowerPoint Presentation</vt:lpstr>
      <vt:lpstr>Types of Networks</vt:lpstr>
      <vt:lpstr>Maximum Flow Problem</vt:lpstr>
      <vt:lpstr>Network Flow</vt:lpstr>
      <vt:lpstr>Network Flow</vt:lpstr>
      <vt:lpstr>Network Flow</vt:lpstr>
      <vt:lpstr>Network Flow</vt:lpstr>
      <vt:lpstr>PowerPoint Presentation</vt:lpstr>
      <vt:lpstr>Network Flow</vt:lpstr>
      <vt:lpstr>Network Flow</vt:lpstr>
      <vt:lpstr>Ford-Fulkerson Algorithm</vt:lpstr>
      <vt:lpstr>Ford-Fulkerson Algorithm</vt:lpstr>
      <vt:lpstr>Ford-Fulkerson Algorithm</vt:lpstr>
      <vt:lpstr>Ford-Fulkerson Algorithm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Cuts of Flow Networks</vt:lpstr>
      <vt:lpstr>The Net Flow through a Cut (S,T)</vt:lpstr>
      <vt:lpstr>The Capacity of a Cut (S,T)</vt:lpstr>
      <vt:lpstr>Augmenting Paths – example</vt:lpstr>
      <vt:lpstr>Net Flow of a Network</vt:lpstr>
      <vt:lpstr>Bounding the Network Flow</vt:lpstr>
      <vt:lpstr>Max-Flow Min-Cut Theorem</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neeraj</dc:creator>
  <cp:lastModifiedBy>Hardeo Thakur</cp:lastModifiedBy>
  <cp:revision>7</cp:revision>
  <dcterms:created xsi:type="dcterms:W3CDTF">2021-11-05T13:18:52Z</dcterms:created>
  <dcterms:modified xsi:type="dcterms:W3CDTF">2025-04-08T17:30:09Z</dcterms:modified>
</cp:coreProperties>
</file>