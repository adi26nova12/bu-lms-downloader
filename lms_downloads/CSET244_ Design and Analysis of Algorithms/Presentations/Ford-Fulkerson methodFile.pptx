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5F0178-E511-4257-91FE-94C12B95A96C}" v="15" dt="2026-03-02T09:06:41.2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ha Kumari" userId="eccc9318-4e2b-4937-84a2-e023a301df6f" providerId="ADAL" clId="{09FC2004-FE6B-4367-ADC0-CDD08C263330}"/>
    <pc:docChg chg="modSld">
      <pc:chgData name="Neha Kumari" userId="eccc9318-4e2b-4937-84a2-e023a301df6f" providerId="ADAL" clId="{09FC2004-FE6B-4367-ADC0-CDD08C263330}" dt="2026-03-02T09:06:41.269" v="15" actId="20577"/>
      <pc:docMkLst>
        <pc:docMk/>
      </pc:docMkLst>
      <pc:sldChg chg="modSp mod">
        <pc:chgData name="Neha Kumari" userId="eccc9318-4e2b-4937-84a2-e023a301df6f" providerId="ADAL" clId="{09FC2004-FE6B-4367-ADC0-CDD08C263330}" dt="2026-03-02T09:06:41.269" v="15" actId="20577"/>
        <pc:sldMkLst>
          <pc:docMk/>
          <pc:sldMk cId="3151442734" sldId="268"/>
        </pc:sldMkLst>
        <pc:spChg chg="mod">
          <ac:chgData name="Neha Kumari" userId="eccc9318-4e2b-4937-84a2-e023a301df6f" providerId="ADAL" clId="{09FC2004-FE6B-4367-ADC0-CDD08C263330}" dt="2026-03-02T09:06:41.269" v="15" actId="20577"/>
          <ac:spMkLst>
            <pc:docMk/>
            <pc:sldMk cId="3151442734" sldId="268"/>
            <ac:spMk id="3" creationId="{EDA65F3A-1689-25D4-0243-42F9A5F29CA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64D5F-AFE7-8A37-2F24-FD38E23474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359DD2-AD6F-D443-B72A-2ACEE21121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EB1D44-703F-D641-4C57-551790409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BDF82-B305-483D-9041-11E8719F65BD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238EDF-453A-FC87-959A-8F8D9610D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35DF4D-5776-5CB7-2780-563AE422F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93255-13E6-4DC4-AEDF-F14712A73D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9139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72908-9CE6-059A-7F8E-B8341030D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3C05E-3778-4B0D-C148-46226BBC5C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DB776C-9649-8733-F5B0-BEA328481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BDF82-B305-483D-9041-11E8719F65BD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54E603-79D7-F577-FA4E-8798B296F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CC092D-F04E-1A67-9BA5-23C4CD18D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93255-13E6-4DC4-AEDF-F14712A73D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1250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61D34-4433-FD39-5082-75ED39013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32DF67-2CD4-7662-0EBF-E265D833D7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55CBD0-9905-24C6-16EF-EF205F2FD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BDF82-B305-483D-9041-11E8719F65BD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C1C3D1-2782-FD82-4CB7-2D86F732E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E1C593-264B-9FBB-999B-297FA7438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93255-13E6-4DC4-AEDF-F14712A73D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9159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8E0C7-BE8D-E2F6-E005-95B9F5A42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A3705-A2BC-0E84-1BAE-6F9AF3161A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795AB0-1CD0-AC78-1786-DD40E39213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76F905-C9AC-C091-A2C9-166791BE3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BDF82-B305-483D-9041-11E8719F65BD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5A9567-C9DD-0829-3B91-E9AB08BBE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5CD348-66D8-AA1E-8D9D-436AFCF18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93255-13E6-4DC4-AEDF-F14712A73D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2340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E7A9A-5508-AFE3-D9FE-FD0B68CA6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29085-2F09-BB8E-A18E-F6AED6FB38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3126F3-6724-0270-1B11-635B55C130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8C89F5-1E69-0738-56DE-CD4F52AC43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55C160-2FDE-1451-A976-08B1396A88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AEAE65-121F-8AA9-A32C-6FA8F3A20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BDF82-B305-483D-9041-11E8719F65BD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C68CA4-8482-5DAE-1F64-8EAE04085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D5AFC-0260-C5D7-9B77-19A86A4D1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93255-13E6-4DC4-AEDF-F14712A73D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5132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6989C-014C-CE0D-E2D3-22E4BC305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C62FC4-12BA-18B9-88DF-0683A0281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BDF82-B305-483D-9041-11E8719F65BD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B0D8DB-C2BB-4638-5C1F-CA06DE8BC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337017-C40E-0FD9-A4B2-6EFB6D383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93255-13E6-4DC4-AEDF-F14712A73D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9922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33A127-1066-960B-5F2C-9B4D972C9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BDF82-B305-483D-9041-11E8719F65BD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4A6F8B-BE68-9449-7B25-1AA143EAC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35E1CE-0D90-55DC-2B76-C3A4F3CBA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93255-13E6-4DC4-AEDF-F14712A73D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2320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70545-B09A-0F59-7BDF-F06C2CE5B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CBCE3-96E6-AB66-2D44-D04138914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FCC44F-0274-8DE4-980E-A99C6CE2F0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9286FD-F7A5-0871-6BE0-D1FC10195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BDF82-B305-483D-9041-11E8719F65BD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3FD028-C2C9-99EC-4996-EE3965C64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A84213-7341-3B40-46D8-557BB5685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93255-13E6-4DC4-AEDF-F14712A73D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349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832FD-6A1E-336B-C0B8-511C0F0CA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88BE71-E3C0-C510-9C36-C2C94CF889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297CDC-9F66-CF5D-ADDF-806B57FCB1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74D8C5-11B5-A990-46AE-0E9331ABA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BDF82-B305-483D-9041-11E8719F65BD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7EE9FB-D868-30FD-8E8A-8244054C1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3CC5FB-F931-A2DB-E241-457432125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93255-13E6-4DC4-AEDF-F14712A73D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9138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16C72-157C-A297-8498-546BF09C4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DD22A5-0811-B64F-2C05-13D87E88EA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844D76-7532-BD12-F2B6-E086395DC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BDF82-B305-483D-9041-11E8719F65BD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F1FF47-ED8D-AA58-AE30-85037697F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3BD3EC-AFD0-DE85-0B93-A04EC0230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93255-13E6-4DC4-AEDF-F14712A73D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7120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C22F24-AA3C-ED01-2B6E-58008A4828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1136FF-9F2A-9422-583C-36CDE4302D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54932D-BA7A-2DA3-030D-156B448B6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BDF82-B305-483D-9041-11E8719F65BD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AD436F-E57C-E241-A62E-B76D38DF5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E74AF-BFEC-5B8F-8C28-C47EB288E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93255-13E6-4DC4-AEDF-F14712A73D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8733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720234-2DDB-3DE2-1567-D9B803ADE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9031D7-068E-3D65-9F57-2820C9B1E9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6B9636-D2A8-86DC-A08D-F7B8CA689B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1BDF82-B305-483D-9041-11E8719F65BD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9CC564-D2A9-4473-E24B-808F06DF8F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C76A1A-7B72-D52D-6E0C-DF8DD2F6C4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693255-13E6-4DC4-AEDF-F14712A73D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1725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3E932-9C16-3301-022A-EA5590554A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Ford Fulkerson Algorithm for maximum flow </a:t>
            </a:r>
          </a:p>
        </p:txBody>
      </p:sp>
    </p:spTree>
    <p:extLst>
      <p:ext uri="{BB962C8B-B14F-4D97-AF65-F5344CB8AC3E}">
        <p14:creationId xmlns:p14="http://schemas.microsoft.com/office/powerpoint/2010/main" val="3674088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8C9FC-5995-1FFF-50D9-90DD1532E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Max Flow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F73478C-03CF-C56D-AC18-69117AAC02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18416"/>
            <a:ext cx="10515600" cy="3024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316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A3F22A1-D3B3-AF4B-1259-B21D48C49E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3036" y="764921"/>
            <a:ext cx="11225928" cy="4657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652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6EADF10-404B-93E6-7EF7-622556A1681F}"/>
              </a:ext>
            </a:extLst>
          </p:cNvPr>
          <p:cNvSpPr/>
          <p:nvPr/>
        </p:nvSpPr>
        <p:spPr>
          <a:xfrm>
            <a:off x="1426464" y="804672"/>
            <a:ext cx="9189720" cy="42702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Max-Flow Min-Cut Theorem says:</a:t>
            </a:r>
          </a:p>
          <a:p>
            <a:r>
              <a:rPr lang="en-US" dirty="0"/>
              <a:t>In any flow network, the </a:t>
            </a:r>
            <a:r>
              <a:rPr lang="en-US" b="1" dirty="0"/>
              <a:t>maximum possible flow</a:t>
            </a:r>
            <a:r>
              <a:rPr lang="en-US" dirty="0"/>
              <a:t> from source </a:t>
            </a:r>
            <a:r>
              <a:rPr lang="en-US" b="1" dirty="0"/>
              <a:t>s</a:t>
            </a:r>
            <a:r>
              <a:rPr lang="en-US" dirty="0"/>
              <a:t> to sink </a:t>
            </a:r>
            <a:r>
              <a:rPr lang="en-US" b="1" dirty="0"/>
              <a:t>t</a:t>
            </a:r>
            <a:r>
              <a:rPr lang="en-US" dirty="0"/>
              <a:t> is </a:t>
            </a:r>
            <a:r>
              <a:rPr lang="en-US" b="1" dirty="0"/>
              <a:t>exactly equal</a:t>
            </a:r>
            <a:r>
              <a:rPr lang="en-US" dirty="0"/>
              <a:t> to the </a:t>
            </a:r>
            <a:r>
              <a:rPr lang="en-US" b="1" dirty="0"/>
              <a:t>minimum capacity</a:t>
            </a:r>
            <a:r>
              <a:rPr lang="en-US" dirty="0"/>
              <a:t> of an </a:t>
            </a:r>
            <a:r>
              <a:rPr lang="en-US" b="1" dirty="0"/>
              <a:t>s–t cut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So two things are secretly the same number:</a:t>
            </a:r>
          </a:p>
          <a:p>
            <a:r>
              <a:rPr lang="en-US" b="1" dirty="0"/>
              <a:t>Max flow</a:t>
            </a:r>
            <a:r>
              <a:rPr lang="en-US" dirty="0"/>
              <a:t> = most water you can push from </a:t>
            </a:r>
            <a:r>
              <a:rPr lang="en-US" b="1" dirty="0"/>
              <a:t>s → t</a:t>
            </a:r>
            <a:endParaRPr lang="en-US" dirty="0"/>
          </a:p>
          <a:p>
            <a:r>
              <a:rPr lang="en-US" b="1" dirty="0"/>
              <a:t>Min cut</a:t>
            </a:r>
            <a:r>
              <a:rPr lang="en-US" dirty="0"/>
              <a:t> = cheapest “set of edges to cut” so </a:t>
            </a:r>
            <a:r>
              <a:rPr lang="en-US" b="1" dirty="0"/>
              <a:t>s</a:t>
            </a:r>
            <a:r>
              <a:rPr lang="en-US" dirty="0"/>
              <a:t> can’t reach </a:t>
            </a:r>
            <a:r>
              <a:rPr lang="en-US" b="1" dirty="0"/>
              <a:t>t</a:t>
            </a:r>
            <a:r>
              <a:rPr lang="en-US" dirty="0"/>
              <a:t> anymore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5404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A4ABFB-FEF2-86A8-FB48-F9E43C0DBF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466344"/>
                <a:ext cx="10515600" cy="571061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IN" b="1" dirty="0"/>
                  <a:t>   Flow network</a:t>
                </a:r>
              </a:p>
              <a:p>
                <a:r>
                  <a:rPr lang="en-IN" dirty="0"/>
                  <a:t>A directed graph with:</a:t>
                </a:r>
              </a:p>
              <a:p>
                <a:r>
                  <a:rPr lang="en-IN" dirty="0"/>
                  <a:t>source </a:t>
                </a:r>
                <a:r>
                  <a:rPr lang="en-IN" b="1" dirty="0"/>
                  <a:t>s</a:t>
                </a:r>
                <a:r>
                  <a:rPr lang="en-IN" dirty="0"/>
                  <a:t>, sink </a:t>
                </a:r>
                <a:r>
                  <a:rPr lang="en-IN" b="1" dirty="0"/>
                  <a:t>t</a:t>
                </a:r>
                <a:endParaRPr lang="en-IN" dirty="0"/>
              </a:p>
              <a:p>
                <a:r>
                  <a:rPr lang="en-IN" dirty="0"/>
                  <a:t>each edge has </a:t>
                </a:r>
                <a:r>
                  <a:rPr lang="en-IN" b="1" dirty="0"/>
                  <a:t>capacity</a:t>
                </a:r>
                <a:r>
                  <a:rPr lang="en-IN" dirty="0"/>
                  <a:t> </a:t>
                </a:r>
                <a14:m>
                  <m:oMath xmlns:m="http://schemas.openxmlformats.org/officeDocument/2006/math">
                    <m:r>
                      <a:rPr lang="en-IN" i="1"/>
                      <m:t>𝑐</m:t>
                    </m:r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𝑢</m:t>
                        </m:r>
                      </m:e>
                      <m:e>
                        <m:r>
                          <a:rPr lang="ar-AE" i="1"/>
                          <m:t>𝑣</m:t>
                        </m:r>
                      </m:e>
                    </m:d>
                  </m:oMath>
                </a14:m>
                <a:r>
                  <a:rPr lang="en-IN" dirty="0"/>
                  <a:t> </a:t>
                </a:r>
                <a:r>
                  <a:rPr lang="ar-AE" dirty="0"/>
                  <a:t>(</a:t>
                </a:r>
                <a:r>
                  <a:rPr lang="en-IN" dirty="0"/>
                  <a:t>max it can carry)</a:t>
                </a:r>
              </a:p>
              <a:p>
                <a:r>
                  <a:rPr lang="en-IN" b="1" dirty="0"/>
                  <a:t>Flow </a:t>
                </a:r>
                <a14:m>
                  <m:oMath xmlns:m="http://schemas.openxmlformats.org/officeDocument/2006/math">
                    <m:r>
                      <a:rPr lang="en-IN" i="1"/>
                      <m:t>𝑓</m:t>
                    </m:r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𝑢</m:t>
                        </m:r>
                      </m:e>
                      <m:e>
                        <m:r>
                          <a:rPr lang="ar-AE" i="1"/>
                          <m:t>𝑣</m:t>
                        </m:r>
                      </m:e>
                    </m:d>
                  </m:oMath>
                </a14:m>
                <a:r>
                  <a:rPr lang="en-IN" b="1" dirty="0"/>
                  <a:t>must satisfy</a:t>
                </a:r>
              </a:p>
              <a:p>
                <a:r>
                  <a:rPr lang="en-IN" b="1" dirty="0"/>
                  <a:t>Capacity constraint:</a:t>
                </a:r>
                <a:r>
                  <a:rPr lang="en-IN" dirty="0"/>
                  <a:t> </a:t>
                </a:r>
                <a14:m>
                  <m:oMath xmlns:m="http://schemas.openxmlformats.org/officeDocument/2006/math">
                    <m:r>
                      <a:rPr lang="en-IN"/>
                      <m:t>0</m:t>
                    </m:r>
                    <m:r>
                      <a:rPr lang="en-IN"/>
                      <m:t>≤</m:t>
                    </m:r>
                    <m:r>
                      <a:rPr lang="en-IN" i="1"/>
                      <m:t>𝑓</m:t>
                    </m:r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𝑢</m:t>
                        </m:r>
                      </m:e>
                      <m:e>
                        <m:r>
                          <a:rPr lang="ar-AE" i="1"/>
                          <m:t>𝑣</m:t>
                        </m:r>
                      </m:e>
                    </m:d>
                    <m:r>
                      <a:rPr lang="ar-AE"/>
                      <m:t>≤</m:t>
                    </m:r>
                    <m:r>
                      <a:rPr lang="ar-AE" i="1"/>
                      <m:t>𝑐</m:t>
                    </m:r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r>
                          <a:rPr lang="ar-AE" i="1"/>
                          <m:t>𝑢</m:t>
                        </m:r>
                      </m:e>
                      <m:e>
                        <m:r>
                          <a:rPr lang="ar-AE" i="1"/>
                          <m:t>𝑣</m:t>
                        </m:r>
                      </m:e>
                    </m:d>
                  </m:oMath>
                </a14:m>
                <a:endParaRPr lang="ar-AE" dirty="0"/>
              </a:p>
              <a:p>
                <a:r>
                  <a:rPr lang="en-IN" b="1" dirty="0"/>
                  <a:t>Flow conservation:</a:t>
                </a:r>
                <a:r>
                  <a:rPr lang="en-IN" dirty="0"/>
                  <a:t> for every node except s and t</a:t>
                </a:r>
                <a:br>
                  <a:rPr lang="en-IN" dirty="0"/>
                </a:br>
                <a:r>
                  <a:rPr lang="en-IN" dirty="0"/>
                  <a:t>inflow = outflow</a:t>
                </a:r>
              </a:p>
              <a:p>
                <a:r>
                  <a:rPr lang="en-IN" b="1" dirty="0"/>
                  <a:t>Value of a flow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A4ABFB-FEF2-86A8-FB48-F9E43C0DBF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66344"/>
                <a:ext cx="10515600" cy="5710619"/>
              </a:xfrm>
              <a:blipFill>
                <a:blip r:embed="rId2"/>
                <a:stretch>
                  <a:fillRect l="-1043" t="-19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5850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C1A0B-F550-C03D-94D8-81AB1556C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Ford –Fulkerson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9A7C2D-6924-D22E-2F50-C81335861A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7320"/>
            <a:ext cx="10515600" cy="4759643"/>
          </a:xfrm>
        </p:spPr>
        <p:txBody>
          <a:bodyPr>
            <a:normAutofit fontScale="92500" lnSpcReduction="10000"/>
          </a:bodyPr>
          <a:lstStyle/>
          <a:p>
            <a:pPr fontAlgn="base"/>
            <a:r>
              <a:rPr lang="en-US" dirty="0"/>
              <a:t>The Ford-Fulkerson algorithm is a widely used algorithm to solve the maximum flow problem in a flow network. </a:t>
            </a:r>
          </a:p>
          <a:p>
            <a:pPr fontAlgn="base"/>
            <a:r>
              <a:rPr lang="en-US" dirty="0"/>
              <a:t>The maximum flow problem involves determining the maximum amount of flow that can be sent from a source vertex to a sink vertex in a directed weighted graph, subject to capacity constraints on the edges.</a:t>
            </a:r>
          </a:p>
          <a:p>
            <a:pPr fontAlgn="base"/>
            <a:r>
              <a:rPr lang="en-US" dirty="0"/>
              <a:t>The algorithm works by iteratively finding an augmenting path, which is a path from the source to the sink in the residual graph.</a:t>
            </a:r>
          </a:p>
          <a:p>
            <a:pPr fontAlgn="base"/>
            <a:r>
              <a:rPr lang="en-US" dirty="0"/>
              <a:t> Residual graph obtained by subtracting the current flow from the capacity of each edge. </a:t>
            </a:r>
          </a:p>
          <a:p>
            <a:pPr fontAlgn="base"/>
            <a:r>
              <a:rPr lang="en-US" dirty="0"/>
              <a:t>The algorithm then increases the flow along this path by the maximum possible amount, which is the minimum capacity of the edges along the path.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3994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F4F9E0-843E-29EB-9D42-31FCFE9965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7472"/>
            <a:ext cx="10515600" cy="5829491"/>
          </a:xfrm>
        </p:spPr>
        <p:txBody>
          <a:bodyPr/>
          <a:lstStyle/>
          <a:p>
            <a:r>
              <a:rPr lang="en-IN" dirty="0"/>
              <a:t>The algorithm works on residual graph </a:t>
            </a:r>
          </a:p>
          <a:p>
            <a:r>
              <a:rPr lang="en-IN" dirty="0"/>
              <a:t> Residual graph changes after every augmenting path.</a:t>
            </a:r>
          </a:p>
          <a:p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459115-1728-60FC-FBF4-22BED43968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922" y="2124068"/>
            <a:ext cx="9676302" cy="3417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6469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4C70B-3146-EDAC-8E50-E8ADFC73F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Solving this problem step by step using the algorithm.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EA862A-F7B7-0DCE-24D9-DD250F852A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IN" b="1" dirty="0"/>
                  <a:t>Capacities </a:t>
                </a:r>
                <a:endParaRPr lang="en-IN" dirty="0"/>
              </a:p>
              <a:p>
                <a14:m>
                  <m:oMath xmlns:m="http://schemas.openxmlformats.org/officeDocument/2006/math">
                    <m:r>
                      <a:rPr lang="en-IN" smtClean="0">
                        <a:solidFill>
                          <a:srgbClr val="FF0000"/>
                        </a:solidFill>
                      </a:rPr>
                      <m:t>0</m:t>
                    </m:r>
                    <m:r>
                      <a:rPr lang="en-IN" smtClean="0">
                        <a:solidFill>
                          <a:srgbClr val="FF0000"/>
                        </a:solidFill>
                      </a:rPr>
                      <m:t>→</m:t>
                    </m:r>
                    <m:r>
                      <a:rPr lang="en-IN" smtClean="0">
                        <a:solidFill>
                          <a:srgbClr val="FF0000"/>
                        </a:solidFill>
                      </a:rPr>
                      <m:t>1</m:t>
                    </m:r>
                    <m:r>
                      <a:rPr lang="en-IN" smtClean="0">
                        <a:solidFill>
                          <a:srgbClr val="FF0000"/>
                        </a:solidFill>
                      </a:rPr>
                      <m:t>:</m:t>
                    </m:r>
                    <m:r>
                      <a:rPr lang="en-IN" smtClean="0">
                        <a:solidFill>
                          <a:srgbClr val="FF0000"/>
                        </a:solidFill>
                      </a:rPr>
                      <m:t>16</m:t>
                    </m:r>
                  </m:oMath>
                </a14:m>
                <a:r>
                  <a:rPr lang="en-IN" dirty="0">
                    <a:solidFill>
                      <a:srgbClr val="FF0000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IN">
                        <a:solidFill>
                          <a:srgbClr val="FF0000"/>
                        </a:solidFill>
                      </a:rPr>
                      <m:t>0</m:t>
                    </m:r>
                    <m:r>
                      <a:rPr lang="en-IN">
                        <a:solidFill>
                          <a:srgbClr val="FF0000"/>
                        </a:solidFill>
                      </a:rPr>
                      <m:t>→</m:t>
                    </m:r>
                    <m:r>
                      <a:rPr lang="en-IN">
                        <a:solidFill>
                          <a:srgbClr val="FF0000"/>
                        </a:solidFill>
                      </a:rPr>
                      <m:t>2</m:t>
                    </m:r>
                    <m:r>
                      <a:rPr lang="en-IN">
                        <a:solidFill>
                          <a:srgbClr val="FF0000"/>
                        </a:solidFill>
                      </a:rPr>
                      <m:t>:</m:t>
                    </m:r>
                    <m:r>
                      <a:rPr lang="en-IN">
                        <a:solidFill>
                          <a:srgbClr val="FF0000"/>
                        </a:solidFill>
                      </a:rPr>
                      <m:t>13</m:t>
                    </m:r>
                  </m:oMath>
                </a14:m>
                <a:endParaRPr lang="en-IN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IN">
                        <a:solidFill>
                          <a:srgbClr val="FF0000"/>
                        </a:solidFill>
                      </a:rPr>
                      <m:t>1</m:t>
                    </m:r>
                    <m:r>
                      <a:rPr lang="en-IN">
                        <a:solidFill>
                          <a:srgbClr val="FF0000"/>
                        </a:solidFill>
                      </a:rPr>
                      <m:t>→</m:t>
                    </m:r>
                    <m:r>
                      <a:rPr lang="en-IN">
                        <a:solidFill>
                          <a:srgbClr val="FF0000"/>
                        </a:solidFill>
                      </a:rPr>
                      <m:t>2</m:t>
                    </m:r>
                    <m:r>
                      <a:rPr lang="en-IN">
                        <a:solidFill>
                          <a:srgbClr val="FF0000"/>
                        </a:solidFill>
                      </a:rPr>
                      <m:t>:</m:t>
                    </m:r>
                    <m:r>
                      <a:rPr lang="en-IN">
                        <a:solidFill>
                          <a:srgbClr val="FF0000"/>
                        </a:solidFill>
                      </a:rPr>
                      <m:t>10</m:t>
                    </m:r>
                  </m:oMath>
                </a14:m>
                <a:r>
                  <a:rPr lang="en-IN" dirty="0">
                    <a:solidFill>
                      <a:srgbClr val="FF0000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IN">
                        <a:solidFill>
                          <a:srgbClr val="FF0000"/>
                        </a:solidFill>
                      </a:rPr>
                      <m:t>2</m:t>
                    </m:r>
                    <m:r>
                      <a:rPr lang="en-IN">
                        <a:solidFill>
                          <a:srgbClr val="FF0000"/>
                        </a:solidFill>
                      </a:rPr>
                      <m:t>→</m:t>
                    </m:r>
                    <m:r>
                      <a:rPr lang="en-IN">
                        <a:solidFill>
                          <a:srgbClr val="FF0000"/>
                        </a:solidFill>
                      </a:rPr>
                      <m:t>1</m:t>
                    </m:r>
                    <m:r>
                      <a:rPr lang="en-IN">
                        <a:solidFill>
                          <a:srgbClr val="FF0000"/>
                        </a:solidFill>
                      </a:rPr>
                      <m:t>:</m:t>
                    </m:r>
                    <m:r>
                      <a:rPr lang="en-IN">
                        <a:solidFill>
                          <a:srgbClr val="FF0000"/>
                        </a:solidFill>
                      </a:rPr>
                      <m:t>4</m:t>
                    </m:r>
                  </m:oMath>
                </a14:m>
                <a:endParaRPr lang="en-IN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IN">
                        <a:solidFill>
                          <a:srgbClr val="FF0000"/>
                        </a:solidFill>
                      </a:rPr>
                      <m:t>1</m:t>
                    </m:r>
                    <m:r>
                      <a:rPr lang="en-IN">
                        <a:solidFill>
                          <a:srgbClr val="FF0000"/>
                        </a:solidFill>
                      </a:rPr>
                      <m:t>→</m:t>
                    </m:r>
                    <m:r>
                      <a:rPr lang="en-IN">
                        <a:solidFill>
                          <a:srgbClr val="FF0000"/>
                        </a:solidFill>
                      </a:rPr>
                      <m:t>3</m:t>
                    </m:r>
                    <m:r>
                      <a:rPr lang="en-IN">
                        <a:solidFill>
                          <a:srgbClr val="FF0000"/>
                        </a:solidFill>
                      </a:rPr>
                      <m:t>:</m:t>
                    </m:r>
                    <m:r>
                      <a:rPr lang="en-IN">
                        <a:solidFill>
                          <a:srgbClr val="FF0000"/>
                        </a:solidFill>
                      </a:rPr>
                      <m:t>12</m:t>
                    </m:r>
                  </m:oMath>
                </a14:m>
                <a:r>
                  <a:rPr lang="en-IN" dirty="0">
                    <a:solidFill>
                      <a:srgbClr val="FF0000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IN">
                        <a:solidFill>
                          <a:srgbClr val="FF0000"/>
                        </a:solidFill>
                      </a:rPr>
                      <m:t>3</m:t>
                    </m:r>
                    <m:r>
                      <a:rPr lang="en-IN">
                        <a:solidFill>
                          <a:srgbClr val="FF0000"/>
                        </a:solidFill>
                      </a:rPr>
                      <m:t>→</m:t>
                    </m:r>
                    <m:r>
                      <a:rPr lang="en-IN">
                        <a:solidFill>
                          <a:srgbClr val="FF0000"/>
                        </a:solidFill>
                      </a:rPr>
                      <m:t>2</m:t>
                    </m:r>
                    <m:r>
                      <a:rPr lang="en-IN">
                        <a:solidFill>
                          <a:srgbClr val="FF0000"/>
                        </a:solidFill>
                      </a:rPr>
                      <m:t>:</m:t>
                    </m:r>
                    <m:r>
                      <a:rPr lang="en-IN">
                        <a:solidFill>
                          <a:srgbClr val="FF0000"/>
                        </a:solidFill>
                      </a:rPr>
                      <m:t>9</m:t>
                    </m:r>
                  </m:oMath>
                </a14:m>
                <a:endParaRPr lang="en-IN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IN">
                        <a:solidFill>
                          <a:srgbClr val="FF0000"/>
                        </a:solidFill>
                      </a:rPr>
                      <m:t>2</m:t>
                    </m:r>
                    <m:r>
                      <a:rPr lang="en-IN">
                        <a:solidFill>
                          <a:srgbClr val="FF0000"/>
                        </a:solidFill>
                      </a:rPr>
                      <m:t>→</m:t>
                    </m:r>
                    <m:r>
                      <a:rPr lang="en-IN">
                        <a:solidFill>
                          <a:srgbClr val="FF0000"/>
                        </a:solidFill>
                      </a:rPr>
                      <m:t>4</m:t>
                    </m:r>
                    <m:r>
                      <a:rPr lang="en-IN">
                        <a:solidFill>
                          <a:srgbClr val="FF0000"/>
                        </a:solidFill>
                      </a:rPr>
                      <m:t>:</m:t>
                    </m:r>
                    <m:r>
                      <a:rPr lang="en-IN">
                        <a:solidFill>
                          <a:srgbClr val="FF0000"/>
                        </a:solidFill>
                      </a:rPr>
                      <m:t>14</m:t>
                    </m:r>
                  </m:oMath>
                </a14:m>
                <a:r>
                  <a:rPr lang="en-IN" dirty="0">
                    <a:solidFill>
                      <a:srgbClr val="FF0000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IN">
                        <a:solidFill>
                          <a:srgbClr val="FF0000"/>
                        </a:solidFill>
                      </a:rPr>
                      <m:t>4</m:t>
                    </m:r>
                    <m:r>
                      <a:rPr lang="en-IN">
                        <a:solidFill>
                          <a:srgbClr val="FF0000"/>
                        </a:solidFill>
                      </a:rPr>
                      <m:t>→</m:t>
                    </m:r>
                    <m:r>
                      <a:rPr lang="en-IN">
                        <a:solidFill>
                          <a:srgbClr val="FF0000"/>
                        </a:solidFill>
                      </a:rPr>
                      <m:t>3</m:t>
                    </m:r>
                    <m:r>
                      <a:rPr lang="en-IN">
                        <a:solidFill>
                          <a:srgbClr val="FF0000"/>
                        </a:solidFill>
                      </a:rPr>
                      <m:t>:</m:t>
                    </m:r>
                    <m:r>
                      <a:rPr lang="en-IN">
                        <a:solidFill>
                          <a:srgbClr val="FF0000"/>
                        </a:solidFill>
                      </a:rPr>
                      <m:t>7</m:t>
                    </m:r>
                  </m:oMath>
                </a14:m>
                <a:endParaRPr lang="en-IN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IN">
                        <a:solidFill>
                          <a:srgbClr val="FF0000"/>
                        </a:solidFill>
                      </a:rPr>
                      <m:t>3</m:t>
                    </m:r>
                    <m:r>
                      <a:rPr lang="en-IN">
                        <a:solidFill>
                          <a:srgbClr val="FF0000"/>
                        </a:solidFill>
                      </a:rPr>
                      <m:t>→</m:t>
                    </m:r>
                    <m:r>
                      <a:rPr lang="en-IN">
                        <a:solidFill>
                          <a:srgbClr val="FF0000"/>
                        </a:solidFill>
                      </a:rPr>
                      <m:t>5</m:t>
                    </m:r>
                    <m:r>
                      <a:rPr lang="en-IN">
                        <a:solidFill>
                          <a:srgbClr val="FF0000"/>
                        </a:solidFill>
                      </a:rPr>
                      <m:t>:</m:t>
                    </m:r>
                    <m:r>
                      <a:rPr lang="en-IN">
                        <a:solidFill>
                          <a:srgbClr val="FF0000"/>
                        </a:solidFill>
                      </a:rPr>
                      <m:t>20</m:t>
                    </m:r>
                  </m:oMath>
                </a14:m>
                <a:r>
                  <a:rPr lang="en-IN" dirty="0">
                    <a:solidFill>
                      <a:srgbClr val="FF0000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IN">
                        <a:solidFill>
                          <a:srgbClr val="FF0000"/>
                        </a:solidFill>
                      </a:rPr>
                      <m:t>4</m:t>
                    </m:r>
                    <m:r>
                      <a:rPr lang="en-IN">
                        <a:solidFill>
                          <a:srgbClr val="FF0000"/>
                        </a:solidFill>
                      </a:rPr>
                      <m:t>→</m:t>
                    </m:r>
                    <m:r>
                      <a:rPr lang="en-IN">
                        <a:solidFill>
                          <a:srgbClr val="FF0000"/>
                        </a:solidFill>
                      </a:rPr>
                      <m:t>5</m:t>
                    </m:r>
                    <m:r>
                      <a:rPr lang="en-IN">
                        <a:solidFill>
                          <a:srgbClr val="FF0000"/>
                        </a:solidFill>
                      </a:rPr>
                      <m:t>:</m:t>
                    </m:r>
                    <m:r>
                      <a:rPr lang="en-IN">
                        <a:solidFill>
                          <a:srgbClr val="FF0000"/>
                        </a:solidFill>
                      </a:rPr>
                      <m:t>4</m:t>
                    </m:r>
                  </m:oMath>
                </a14:m>
                <a:endParaRPr lang="en-IN" dirty="0">
                  <a:solidFill>
                    <a:srgbClr val="FF0000"/>
                  </a:solidFill>
                </a:endParaRPr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EA862A-F7B7-0DCE-24D9-DD250F852A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19292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C81570-B447-ACB1-ECB5-840C9F1B50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731520"/>
                <a:ext cx="10515600" cy="5445443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IN" dirty="0"/>
                  <a:t>Step 1 Augmenting path 1 (Augmenting path can be chosen from DFS or BFS).</a:t>
                </a:r>
              </a:p>
              <a:p>
                <a:pPr marL="0" indent="0">
                  <a:buNone/>
                </a:pPr>
                <a:r>
                  <a:rPr lang="en-IN" b="1" dirty="0">
                    <a:solidFill>
                      <a:srgbClr val="FF0000"/>
                    </a:solidFill>
                  </a:rPr>
                  <a:t>Step 1</a:t>
                </a:r>
                <a:r>
                  <a:rPr lang="en-IN" b="1" dirty="0"/>
                  <a:t>: Augmenting path </a:t>
                </a:r>
                <a14:m>
                  <m:oMath xmlns:m="http://schemas.openxmlformats.org/officeDocument/2006/math">
                    <m:r>
                      <a:rPr lang="en-IN"/>
                      <m:t>0</m:t>
                    </m:r>
                    <m:r>
                      <a:rPr lang="en-IN"/>
                      <m:t>→</m:t>
                    </m:r>
                    <m:r>
                      <a:rPr lang="en-IN"/>
                      <m:t>1</m:t>
                    </m:r>
                    <m:r>
                      <a:rPr lang="en-IN"/>
                      <m:t>→</m:t>
                    </m:r>
                    <m:r>
                      <a:rPr lang="en-IN"/>
                      <m:t>3</m:t>
                    </m:r>
                    <m:r>
                      <a:rPr lang="en-IN"/>
                      <m:t>→</m:t>
                    </m:r>
                    <m:r>
                      <a:rPr lang="en-IN"/>
                      <m:t>5</m:t>
                    </m:r>
                  </m:oMath>
                </a14:m>
                <a:endParaRPr lang="en-IN" b="1" dirty="0"/>
              </a:p>
              <a:p>
                <a:r>
                  <a:rPr lang="en-IN" dirty="0"/>
                  <a:t>Residuals initially are the same as capacities.</a:t>
                </a:r>
              </a:p>
              <a:p>
                <a:r>
                  <a:rPr lang="en-IN" dirty="0"/>
                  <a:t>Bottleneck:</a:t>
                </a:r>
              </a:p>
              <a:p>
                <a:r>
                  <a:rPr lang="en-IN" b="0" dirty="0"/>
                  <a:t> min(16,12,20) = 12</a:t>
                </a:r>
                <a:endParaRPr lang="ar-AE" b="0" dirty="0"/>
              </a:p>
              <a:p>
                <a:r>
                  <a:rPr lang="en-IN" dirty="0"/>
                  <a:t>Send </a:t>
                </a:r>
                <a:r>
                  <a:rPr lang="en-IN" b="1" dirty="0"/>
                  <a:t>12</a:t>
                </a:r>
                <a:r>
                  <a:rPr lang="en-IN" dirty="0"/>
                  <a:t>.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14:m>
                  <m:oMath xmlns:m="http://schemas.openxmlformats.org/officeDocument/2006/math">
                    <m:r>
                      <a:rPr lang="en-IN" i="1"/>
                      <m:t>𝑓</m:t>
                    </m:r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r>
                          <a:rPr lang="ar-AE"/>
                          <m:t>0</m:t>
                        </m:r>
                      </m:e>
                      <m:e>
                        <m:r>
                          <a:rPr lang="ar-AE"/>
                          <m:t>1</m:t>
                        </m:r>
                      </m:e>
                    </m:d>
                    <m:r>
                      <a:rPr lang="ar-AE"/>
                      <m:t>=</m:t>
                    </m:r>
                    <m:r>
                      <a:rPr lang="ar-AE"/>
                      <m:t>12</m:t>
                    </m:r>
                  </m:oMath>
                </a14:m>
                <a:endParaRPr lang="ar-AE" dirty="0"/>
              </a:p>
              <a:p>
                <a14:m>
                  <m:oMath xmlns:m="http://schemas.openxmlformats.org/officeDocument/2006/math">
                    <m:r>
                      <a:rPr lang="ar-AE" i="1"/>
                      <m:t>𝑓</m:t>
                    </m:r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r>
                          <a:rPr lang="ar-AE"/>
                          <m:t>1</m:t>
                        </m:r>
                      </m:e>
                      <m:e>
                        <m:r>
                          <a:rPr lang="ar-AE"/>
                          <m:t>3</m:t>
                        </m:r>
                      </m:e>
                    </m:d>
                    <m:r>
                      <a:rPr lang="ar-AE"/>
                      <m:t>=</m:t>
                    </m:r>
                    <m:r>
                      <a:rPr lang="ar-AE"/>
                      <m:t>12</m:t>
                    </m:r>
                  </m:oMath>
                </a14:m>
                <a:r>
                  <a:rPr lang="ar-AE" dirty="0"/>
                  <a:t>(</a:t>
                </a:r>
                <a:r>
                  <a:rPr lang="en-IN" dirty="0"/>
                  <a:t> </a:t>
                </a:r>
                <a:r>
                  <a:rPr lang="en-IN" b="1" dirty="0"/>
                  <a:t>edge 1→3 is saturated</a:t>
                </a:r>
                <a:r>
                  <a:rPr lang="en-IN" dirty="0"/>
                  <a:t>)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𝑓</m:t>
                    </m:r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r>
                          <a:rPr lang="ar-AE"/>
                          <m:t>3</m:t>
                        </m:r>
                      </m:e>
                      <m:e>
                        <m:r>
                          <a:rPr lang="ar-AE"/>
                          <m:t>5</m:t>
                        </m:r>
                      </m:e>
                    </m:d>
                    <m:r>
                      <a:rPr lang="ar-AE"/>
                      <m:t>=</m:t>
                    </m:r>
                    <m:r>
                      <a:rPr lang="ar-AE"/>
                      <m:t>12</m:t>
                    </m:r>
                  </m:oMath>
                </a14:m>
                <a:endParaRPr lang="ar-AE" dirty="0"/>
              </a:p>
              <a:p>
                <a:r>
                  <a:rPr lang="en-IN" dirty="0"/>
                  <a:t>Total flow = </a:t>
                </a:r>
                <a:r>
                  <a:rPr lang="en-IN" b="1" dirty="0"/>
                  <a:t>12</a:t>
                </a: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C81570-B447-ACB1-ECB5-840C9F1B50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731520"/>
                <a:ext cx="10515600" cy="5445443"/>
              </a:xfrm>
              <a:blipFill>
                <a:blip r:embed="rId2"/>
                <a:stretch>
                  <a:fillRect l="-1043" t="-224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89284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AFB593-BF99-AA6A-2656-B863907925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310896"/>
                <a:ext cx="10515600" cy="5866067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IN" b="1" dirty="0"/>
                  <a:t> Step 2: Augmenting path </a:t>
                </a:r>
                <a14:m>
                  <m:oMath xmlns:m="http://schemas.openxmlformats.org/officeDocument/2006/math">
                    <m:r>
                      <a:rPr lang="en-IN"/>
                      <m:t>0</m:t>
                    </m:r>
                    <m:r>
                      <a:rPr lang="en-IN"/>
                      <m:t>→</m:t>
                    </m:r>
                    <m:r>
                      <a:rPr lang="en-IN"/>
                      <m:t>2</m:t>
                    </m:r>
                    <m:r>
                      <a:rPr lang="en-IN"/>
                      <m:t>→</m:t>
                    </m:r>
                    <m:r>
                      <a:rPr lang="en-IN"/>
                      <m:t>4</m:t>
                    </m:r>
                    <m:r>
                      <a:rPr lang="en-IN"/>
                      <m:t>→</m:t>
                    </m:r>
                    <m:r>
                      <a:rPr lang="en-IN"/>
                      <m:t>5</m:t>
                    </m:r>
                  </m:oMath>
                </a14:m>
                <a:endParaRPr lang="en-IN" b="1" dirty="0"/>
              </a:p>
              <a:p>
                <a:r>
                  <a:rPr lang="en-IN" dirty="0"/>
                  <a:t>Available residuals on this path:</a:t>
                </a:r>
              </a:p>
              <a:p>
                <a14:m>
                  <m:oMath xmlns:m="http://schemas.openxmlformats.org/officeDocument/2006/math">
                    <m:r>
                      <a:rPr lang="en-IN"/>
                      <m:t>0</m:t>
                    </m:r>
                    <m:r>
                      <a:rPr lang="en-IN"/>
                      <m:t>→</m:t>
                    </m:r>
                    <m:r>
                      <a:rPr lang="en-IN"/>
                      <m:t>2</m:t>
                    </m:r>
                    <m:r>
                      <a:rPr lang="en-IN"/>
                      <m:t>:</m:t>
                    </m:r>
                    <m:r>
                      <a:rPr lang="en-IN"/>
                      <m:t>13</m:t>
                    </m:r>
                  </m:oMath>
                </a14:m>
                <a:endParaRPr lang="en-IN" dirty="0"/>
              </a:p>
              <a:p>
                <a14:m>
                  <m:oMath xmlns:m="http://schemas.openxmlformats.org/officeDocument/2006/math">
                    <m:r>
                      <a:rPr lang="en-IN"/>
                      <m:t>2</m:t>
                    </m:r>
                    <m:r>
                      <a:rPr lang="en-IN"/>
                      <m:t>→</m:t>
                    </m:r>
                    <m:r>
                      <a:rPr lang="en-IN"/>
                      <m:t>4</m:t>
                    </m:r>
                    <m:r>
                      <a:rPr lang="en-IN"/>
                      <m:t>:</m:t>
                    </m:r>
                    <m:r>
                      <a:rPr lang="en-IN"/>
                      <m:t>14</m:t>
                    </m:r>
                  </m:oMath>
                </a14:m>
                <a:endParaRPr lang="en-IN" dirty="0"/>
              </a:p>
              <a:p>
                <a14:m>
                  <m:oMath xmlns:m="http://schemas.openxmlformats.org/officeDocument/2006/math">
                    <m:r>
                      <a:rPr lang="en-IN"/>
                      <m:t>4</m:t>
                    </m:r>
                    <m:r>
                      <a:rPr lang="en-IN"/>
                      <m:t>→</m:t>
                    </m:r>
                    <m:r>
                      <a:rPr lang="en-IN"/>
                      <m:t>5</m:t>
                    </m:r>
                    <m:r>
                      <a:rPr lang="en-IN"/>
                      <m:t>:</m:t>
                    </m:r>
                    <m:r>
                      <a:rPr lang="en-IN"/>
                      <m:t>4</m:t>
                    </m:r>
                  </m:oMath>
                </a14:m>
                <a:endParaRPr lang="en-IN" dirty="0"/>
              </a:p>
              <a:p>
                <a:r>
                  <a:rPr lang="en-IN" dirty="0"/>
                  <a:t>Bottleneck: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/>
                      <m:t>min</m:t>
                    </m:r>
                    <m:r>
                      <a:rPr lang="en-IN"/>
                      <m:t>⁡</m:t>
                    </m:r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r>
                          <a:rPr lang="ar-AE"/>
                          <m:t>13</m:t>
                        </m:r>
                      </m:e>
                      <m:e>
                        <m:r>
                          <m:rPr>
                            <m:nor/>
                          </m:rPr>
                          <a:rPr lang="ar-AE" i="1"/>
                          <m:t> </m:t>
                        </m:r>
                      </m:e>
                      <m:e>
                        <m:r>
                          <a:rPr lang="ar-AE"/>
                          <m:t>14</m:t>
                        </m:r>
                        <m:r>
                          <m:rPr>
                            <m:nor/>
                          </m:rPr>
                          <a:rPr lang="ar-AE" i="1"/>
                          <m:t> </m:t>
                        </m:r>
                        <m:r>
                          <a:rPr lang="ar-AE"/>
                          <m:t>4</m:t>
                        </m:r>
                      </m:e>
                    </m:d>
                    <m:r>
                      <a:rPr lang="ar-AE"/>
                      <m:t>=</m:t>
                    </m:r>
                    <m:r>
                      <a:rPr lang="ar-AE"/>
                      <m:t>4</m:t>
                    </m:r>
                  </m:oMath>
                </a14:m>
                <a:endParaRPr lang="ar-AE" b="0" dirty="0"/>
              </a:p>
              <a:p>
                <a:r>
                  <a:rPr lang="en-IN" dirty="0"/>
                  <a:t>Send </a:t>
                </a:r>
                <a:r>
                  <a:rPr lang="en-IN" b="1" dirty="0"/>
                  <a:t>4</a:t>
                </a:r>
                <a:r>
                  <a:rPr lang="en-IN" dirty="0"/>
                  <a:t>.</a:t>
                </a:r>
              </a:p>
              <a:p>
                <a:r>
                  <a:rPr lang="en-IN" dirty="0"/>
                  <a:t>Now: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𝑓</m:t>
                    </m:r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r>
                          <a:rPr lang="ar-AE"/>
                          <m:t>0</m:t>
                        </m:r>
                      </m:e>
                      <m:e>
                        <m:r>
                          <a:rPr lang="ar-AE"/>
                          <m:t>2</m:t>
                        </m:r>
                      </m:e>
                    </m:d>
                    <m:r>
                      <a:rPr lang="ar-AE"/>
                      <m:t>=</m:t>
                    </m:r>
                    <m:r>
                      <a:rPr lang="ar-AE"/>
                      <m:t>4</m:t>
                    </m:r>
                  </m:oMath>
                </a14:m>
                <a:endParaRPr lang="ar-AE" dirty="0"/>
              </a:p>
              <a:p>
                <a14:m>
                  <m:oMath xmlns:m="http://schemas.openxmlformats.org/officeDocument/2006/math">
                    <m:r>
                      <a:rPr lang="ar-AE" i="1"/>
                      <m:t>𝑓</m:t>
                    </m:r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r>
                          <a:rPr lang="ar-AE"/>
                          <m:t>2</m:t>
                        </m:r>
                      </m:e>
                      <m:e>
                        <m:r>
                          <a:rPr lang="ar-AE"/>
                          <m:t>4</m:t>
                        </m:r>
                      </m:e>
                    </m:d>
                    <m:r>
                      <a:rPr lang="ar-AE"/>
                      <m:t>=</m:t>
                    </m:r>
                    <m:r>
                      <a:rPr lang="ar-AE"/>
                      <m:t>4</m:t>
                    </m:r>
                  </m:oMath>
                </a14:m>
                <a:endParaRPr lang="ar-AE" dirty="0"/>
              </a:p>
              <a:p>
                <a14:m>
                  <m:oMath xmlns:m="http://schemas.openxmlformats.org/officeDocument/2006/math">
                    <m:r>
                      <a:rPr lang="ar-AE" i="1"/>
                      <m:t>𝑓</m:t>
                    </m:r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r>
                          <a:rPr lang="ar-AE"/>
                          <m:t>4</m:t>
                        </m:r>
                      </m:e>
                      <m:e>
                        <m:r>
                          <a:rPr lang="ar-AE"/>
                          <m:t>5</m:t>
                        </m:r>
                      </m:e>
                    </m:d>
                    <m:r>
                      <a:rPr lang="ar-AE"/>
                      <m:t>=</m:t>
                    </m:r>
                    <m:r>
                      <a:rPr lang="ar-AE"/>
                      <m:t>4</m:t>
                    </m:r>
                  </m:oMath>
                </a14:m>
                <a:r>
                  <a:rPr lang="ar-AE" dirty="0"/>
                  <a:t>(</a:t>
                </a:r>
                <a:endParaRPr lang="en-IN" dirty="0"/>
              </a:p>
              <a:p>
                <a:r>
                  <a:rPr lang="en-IN" b="1" dirty="0"/>
                  <a:t>edge 4→5 is saturated</a:t>
                </a:r>
                <a:r>
                  <a:rPr lang="en-IN" dirty="0"/>
                  <a:t>)</a:t>
                </a:r>
              </a:p>
              <a:p>
                <a:r>
                  <a:rPr lang="en-IN" dirty="0"/>
                  <a:t>Total flow = </a:t>
                </a:r>
                <a:r>
                  <a:rPr lang="en-IN" b="1" dirty="0"/>
                  <a:t>12+4 = 16</a:t>
                </a:r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AFB593-BF99-AA6A-2656-B863907925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10896"/>
                <a:ext cx="10515600" cy="5866067"/>
              </a:xfrm>
              <a:blipFill>
                <a:blip r:embed="rId2"/>
                <a:stretch>
                  <a:fillRect l="-812" t="-2287" b="-104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24524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DB6271-1274-5916-1F7F-8A1B7B620C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92608"/>
                <a:ext cx="10515600" cy="5884355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IN" b="1" dirty="0"/>
                  <a:t>   Step 3: Augmenting path </a:t>
                </a:r>
                <a14:m>
                  <m:oMath xmlns:m="http://schemas.openxmlformats.org/officeDocument/2006/math">
                    <m:r>
                      <a:rPr lang="en-IN"/>
                      <m:t>0</m:t>
                    </m:r>
                    <m:r>
                      <a:rPr lang="en-IN"/>
                      <m:t>→</m:t>
                    </m:r>
                    <m:r>
                      <a:rPr lang="en-IN"/>
                      <m:t>2</m:t>
                    </m:r>
                    <m:r>
                      <a:rPr lang="en-IN"/>
                      <m:t>→</m:t>
                    </m:r>
                    <m:r>
                      <a:rPr lang="en-IN"/>
                      <m:t>4</m:t>
                    </m:r>
                    <m:r>
                      <a:rPr lang="en-IN"/>
                      <m:t>→</m:t>
                    </m:r>
                    <m:r>
                      <a:rPr lang="en-IN"/>
                      <m:t>3</m:t>
                    </m:r>
                    <m:r>
                      <a:rPr lang="en-IN"/>
                      <m:t>→</m:t>
                    </m:r>
                    <m:r>
                      <a:rPr lang="en-IN"/>
                      <m:t>5</m:t>
                    </m:r>
                  </m:oMath>
                </a14:m>
                <a:endParaRPr lang="en-IN" b="1" dirty="0"/>
              </a:p>
              <a:p>
                <a:r>
                  <a:rPr lang="en-IN" dirty="0"/>
                  <a:t>Check residuals now:</a:t>
                </a:r>
              </a:p>
              <a:p>
                <a14:m>
                  <m:oMath xmlns:m="http://schemas.openxmlformats.org/officeDocument/2006/math">
                    <m:r>
                      <a:rPr lang="en-IN"/>
                      <m:t>0</m:t>
                    </m:r>
                    <m:r>
                      <a:rPr lang="en-IN"/>
                      <m:t>→</m:t>
                    </m:r>
                    <m:r>
                      <a:rPr lang="en-IN"/>
                      <m:t>2</m:t>
                    </m:r>
                  </m:oMath>
                </a14:m>
                <a:r>
                  <a:rPr lang="en-IN" dirty="0"/>
                  <a:t>: </a:t>
                </a:r>
                <a14:m>
                  <m:oMath xmlns:m="http://schemas.openxmlformats.org/officeDocument/2006/math">
                    <m:r>
                      <a:rPr lang="en-IN"/>
                      <m:t>13</m:t>
                    </m:r>
                    <m:r>
                      <a:rPr lang="en-IN"/>
                      <m:t>−</m:t>
                    </m:r>
                    <m:r>
                      <a:rPr lang="en-IN"/>
                      <m:t>4</m:t>
                    </m:r>
                    <m:r>
                      <a:rPr lang="en-IN"/>
                      <m:t>=</m:t>
                    </m:r>
                    <m:r>
                      <a:rPr lang="en-IN"/>
                      <m:t>9</m:t>
                    </m:r>
                  </m:oMath>
                </a14:m>
                <a:endParaRPr lang="en-IN" dirty="0"/>
              </a:p>
              <a:p>
                <a14:m>
                  <m:oMath xmlns:m="http://schemas.openxmlformats.org/officeDocument/2006/math">
                    <m:r>
                      <a:rPr lang="en-IN"/>
                      <m:t>2</m:t>
                    </m:r>
                    <m:r>
                      <a:rPr lang="en-IN"/>
                      <m:t>→</m:t>
                    </m:r>
                    <m:r>
                      <a:rPr lang="en-IN"/>
                      <m:t>4</m:t>
                    </m:r>
                  </m:oMath>
                </a14:m>
                <a:r>
                  <a:rPr lang="en-IN" dirty="0"/>
                  <a:t>: </a:t>
                </a:r>
                <a14:m>
                  <m:oMath xmlns:m="http://schemas.openxmlformats.org/officeDocument/2006/math">
                    <m:r>
                      <a:rPr lang="en-IN"/>
                      <m:t>14</m:t>
                    </m:r>
                    <m:r>
                      <a:rPr lang="en-IN"/>
                      <m:t>−</m:t>
                    </m:r>
                    <m:r>
                      <a:rPr lang="en-IN"/>
                      <m:t>4</m:t>
                    </m:r>
                    <m:r>
                      <a:rPr lang="en-IN"/>
                      <m:t>=</m:t>
                    </m:r>
                    <m:r>
                      <a:rPr lang="en-IN"/>
                      <m:t>10</m:t>
                    </m:r>
                  </m:oMath>
                </a14:m>
                <a:endParaRPr lang="en-IN" dirty="0"/>
              </a:p>
              <a:p>
                <a14:m>
                  <m:oMath xmlns:m="http://schemas.openxmlformats.org/officeDocument/2006/math">
                    <m:r>
                      <a:rPr lang="en-IN"/>
                      <m:t>4</m:t>
                    </m:r>
                    <m:r>
                      <a:rPr lang="en-IN"/>
                      <m:t>→</m:t>
                    </m:r>
                    <m:r>
                      <a:rPr lang="en-IN"/>
                      <m:t>3</m:t>
                    </m:r>
                  </m:oMath>
                </a14:m>
                <a:r>
                  <a:rPr lang="en-IN" dirty="0"/>
                  <a:t>: </a:t>
                </a:r>
                <a14:m>
                  <m:oMath xmlns:m="http://schemas.openxmlformats.org/officeDocument/2006/math">
                    <m:r>
                      <a:rPr lang="en-IN"/>
                      <m:t>7</m:t>
                    </m:r>
                  </m:oMath>
                </a14:m>
                <a:r>
                  <a:rPr lang="en-IN" dirty="0"/>
                  <a:t>(unused so far)</a:t>
                </a:r>
              </a:p>
              <a:p>
                <a14:m>
                  <m:oMath xmlns:m="http://schemas.openxmlformats.org/officeDocument/2006/math">
                    <m:r>
                      <a:rPr lang="en-IN"/>
                      <m:t>3</m:t>
                    </m:r>
                    <m:r>
                      <a:rPr lang="en-IN"/>
                      <m:t>→</m:t>
                    </m:r>
                    <m:r>
                      <a:rPr lang="en-IN"/>
                      <m:t>5</m:t>
                    </m:r>
                  </m:oMath>
                </a14:m>
                <a:r>
                  <a:rPr lang="en-IN" dirty="0"/>
                  <a:t>: </a:t>
                </a:r>
                <a14:m>
                  <m:oMath xmlns:m="http://schemas.openxmlformats.org/officeDocument/2006/math">
                    <m:r>
                      <a:rPr lang="en-IN"/>
                      <m:t>20</m:t>
                    </m:r>
                    <m:r>
                      <a:rPr lang="en-IN"/>
                      <m:t>−</m:t>
                    </m:r>
                    <m:r>
                      <a:rPr lang="en-IN"/>
                      <m:t>12</m:t>
                    </m:r>
                    <m:r>
                      <a:rPr lang="en-IN"/>
                      <m:t>=</m:t>
                    </m:r>
                    <m:r>
                      <a:rPr lang="en-IN"/>
                      <m:t>8</m:t>
                    </m:r>
                  </m:oMath>
                </a14:m>
                <a:endParaRPr lang="en-IN" dirty="0"/>
              </a:p>
              <a:p>
                <a:r>
                  <a:rPr lang="en-IN" dirty="0"/>
                  <a:t>Bottleneck: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/>
                      <m:t>min</m:t>
                    </m:r>
                    <m:r>
                      <a:rPr lang="en-IN"/>
                      <m:t>⁡</m:t>
                    </m:r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r>
                          <a:rPr lang="ar-AE"/>
                          <m:t>9</m:t>
                        </m:r>
                      </m:e>
                      <m:e>
                        <m:r>
                          <m:rPr>
                            <m:nor/>
                          </m:rPr>
                          <a:rPr lang="ar-AE" i="1"/>
                          <m:t> </m:t>
                        </m:r>
                      </m:e>
                      <m:e>
                        <m:r>
                          <a:rPr lang="ar-AE"/>
                          <m:t>10</m:t>
                        </m:r>
                      </m:e>
                      <m:e>
                        <m:r>
                          <m:rPr>
                            <m:nor/>
                          </m:rPr>
                          <a:rPr lang="ar-AE" i="1"/>
                          <m:t> </m:t>
                        </m:r>
                        <m:r>
                          <a:rPr lang="ar-AE"/>
                          <m:t>7</m:t>
                        </m:r>
                        <m:r>
                          <m:rPr>
                            <m:nor/>
                          </m:rPr>
                          <a:rPr lang="ar-AE" i="1"/>
                          <m:t> </m:t>
                        </m:r>
                        <m:r>
                          <a:rPr lang="ar-AE"/>
                          <m:t>8</m:t>
                        </m:r>
                      </m:e>
                    </m:d>
                    <m:r>
                      <a:rPr lang="ar-AE"/>
                      <m:t>=</m:t>
                    </m:r>
                    <m:r>
                      <a:rPr lang="ar-AE"/>
                      <m:t>7</m:t>
                    </m:r>
                  </m:oMath>
                </a14:m>
                <a:endParaRPr lang="ar-AE" b="0" dirty="0"/>
              </a:p>
              <a:p>
                <a:r>
                  <a:rPr lang="en-IN" dirty="0"/>
                  <a:t>Send </a:t>
                </a:r>
                <a:r>
                  <a:rPr lang="en-IN" b="1" dirty="0"/>
                  <a:t>7</a:t>
                </a:r>
                <a:r>
                  <a:rPr lang="en-IN" dirty="0"/>
                  <a:t>.</a:t>
                </a:r>
              </a:p>
              <a:p>
                <a:r>
                  <a:rPr lang="en-IN" dirty="0"/>
                  <a:t>Now: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𝑓</m:t>
                    </m:r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r>
                          <a:rPr lang="ar-AE"/>
                          <m:t>0</m:t>
                        </m:r>
                      </m:e>
                      <m:e>
                        <m:r>
                          <a:rPr lang="ar-AE"/>
                          <m:t>2</m:t>
                        </m:r>
                      </m:e>
                    </m:d>
                    <m:r>
                      <a:rPr lang="ar-AE"/>
                      <m:t>=</m:t>
                    </m:r>
                    <m:r>
                      <a:rPr lang="ar-AE"/>
                      <m:t>4</m:t>
                    </m:r>
                    <m:r>
                      <a:rPr lang="ar-AE"/>
                      <m:t>+</m:t>
                    </m:r>
                    <m:r>
                      <a:rPr lang="ar-AE"/>
                      <m:t>7</m:t>
                    </m:r>
                    <m:r>
                      <a:rPr lang="ar-AE"/>
                      <m:t>=</m:t>
                    </m:r>
                    <m:r>
                      <a:rPr lang="ar-AE"/>
                      <m:t>11</m:t>
                    </m:r>
                  </m:oMath>
                </a14:m>
                <a:endParaRPr lang="ar-AE" dirty="0"/>
              </a:p>
              <a:p>
                <a14:m>
                  <m:oMath xmlns:m="http://schemas.openxmlformats.org/officeDocument/2006/math">
                    <m:r>
                      <a:rPr lang="ar-AE" i="1"/>
                      <m:t>𝑓</m:t>
                    </m:r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r>
                          <a:rPr lang="ar-AE"/>
                          <m:t>2</m:t>
                        </m:r>
                      </m:e>
                      <m:e>
                        <m:r>
                          <a:rPr lang="ar-AE"/>
                          <m:t>4</m:t>
                        </m:r>
                      </m:e>
                    </m:d>
                    <m:r>
                      <a:rPr lang="ar-AE"/>
                      <m:t>=</m:t>
                    </m:r>
                    <m:r>
                      <a:rPr lang="ar-AE"/>
                      <m:t>4</m:t>
                    </m:r>
                    <m:r>
                      <a:rPr lang="ar-AE"/>
                      <m:t>+</m:t>
                    </m:r>
                    <m:r>
                      <a:rPr lang="ar-AE"/>
                      <m:t>7</m:t>
                    </m:r>
                    <m:r>
                      <a:rPr lang="ar-AE"/>
                      <m:t>=</m:t>
                    </m:r>
                    <m:r>
                      <a:rPr lang="ar-AE"/>
                      <m:t>11</m:t>
                    </m:r>
                  </m:oMath>
                </a14:m>
                <a:endParaRPr lang="ar-AE" dirty="0"/>
              </a:p>
              <a:p>
                <a14:m>
                  <m:oMath xmlns:m="http://schemas.openxmlformats.org/officeDocument/2006/math">
                    <m:r>
                      <a:rPr lang="ar-AE" i="1"/>
                      <m:t>𝑓</m:t>
                    </m:r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r>
                          <a:rPr lang="ar-AE"/>
                          <m:t>4</m:t>
                        </m:r>
                      </m:e>
                      <m:e>
                        <m:r>
                          <a:rPr lang="ar-AE"/>
                          <m:t>3</m:t>
                        </m:r>
                      </m:e>
                    </m:d>
                    <m:r>
                      <a:rPr lang="ar-AE"/>
                      <m:t>=</m:t>
                    </m:r>
                    <m:r>
                      <a:rPr lang="ar-AE"/>
                      <m:t>7</m:t>
                    </m:r>
                  </m:oMath>
                </a14:m>
                <a:r>
                  <a:rPr lang="ar-AE" dirty="0"/>
                  <a:t>(</a:t>
                </a:r>
                <a:r>
                  <a:rPr lang="en-IN" b="1" dirty="0"/>
                  <a:t>edge 4→3 is saturated</a:t>
                </a:r>
                <a:r>
                  <a:rPr lang="en-IN" dirty="0"/>
                  <a:t>)</a:t>
                </a:r>
              </a:p>
              <a:p>
                <a14:m>
                  <m:oMath xmlns:m="http://schemas.openxmlformats.org/officeDocument/2006/math">
                    <m:r>
                      <a:rPr lang="en-IN" i="1"/>
                      <m:t>𝑓</m:t>
                    </m:r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r>
                          <a:rPr lang="ar-AE"/>
                          <m:t>3</m:t>
                        </m:r>
                      </m:e>
                      <m:e>
                        <m:r>
                          <a:rPr lang="ar-AE"/>
                          <m:t>5</m:t>
                        </m:r>
                      </m:e>
                    </m:d>
                    <m:r>
                      <a:rPr lang="ar-AE"/>
                      <m:t>=</m:t>
                    </m:r>
                    <m:r>
                      <a:rPr lang="ar-AE"/>
                      <m:t>12</m:t>
                    </m:r>
                    <m:r>
                      <a:rPr lang="ar-AE"/>
                      <m:t>+</m:t>
                    </m:r>
                    <m:r>
                      <a:rPr lang="ar-AE"/>
                      <m:t>7</m:t>
                    </m:r>
                    <m:r>
                      <a:rPr lang="ar-AE"/>
                      <m:t>=</m:t>
                    </m:r>
                    <m:r>
                      <a:rPr lang="ar-AE"/>
                      <m:t>19</m:t>
                    </m:r>
                  </m:oMath>
                </a14:m>
                <a:endParaRPr lang="ar-AE" dirty="0"/>
              </a:p>
              <a:p>
                <a:r>
                  <a:rPr lang="en-IN" dirty="0"/>
                  <a:t>Total flow = </a:t>
                </a:r>
                <a:r>
                  <a:rPr lang="en-IN" b="1" dirty="0"/>
                  <a:t>16+7 = 23</a:t>
                </a:r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DB6271-1274-5916-1F7F-8A1B7B620C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92608"/>
                <a:ext cx="10515600" cy="5884355"/>
              </a:xfrm>
              <a:blipFill>
                <a:blip r:embed="rId2"/>
                <a:stretch>
                  <a:fillRect l="-696" t="-207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18662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3F765B-6039-9ADD-3C3A-2D5A4FA69D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585216"/>
                <a:ext cx="10515600" cy="5591747"/>
              </a:xfrm>
            </p:spPr>
            <p:txBody>
              <a:bodyPr/>
              <a:lstStyle/>
              <a:p>
                <a:r>
                  <a:rPr lang="en-IN" b="1" dirty="0"/>
                  <a:t>After Step 3, check residual graph reachability (this is the test)</a:t>
                </a:r>
              </a:p>
              <a:p>
                <a:r>
                  <a:rPr lang="en-IN" dirty="0"/>
                  <a:t>We only care about edges that still have </a:t>
                </a:r>
                <a:r>
                  <a:rPr lang="en-IN" b="1" dirty="0"/>
                  <a:t>residual &gt; 0</a:t>
                </a:r>
                <a:r>
                  <a:rPr lang="en-IN" dirty="0"/>
                  <a:t>.</a:t>
                </a:r>
              </a:p>
              <a:p>
                <a:r>
                  <a:rPr lang="en-IN" b="1" dirty="0"/>
                  <a:t>Residuals of the important “exit-to-sink” edges</a:t>
                </a:r>
              </a:p>
              <a:p>
                <a14:m>
                  <m:oMath xmlns:m="http://schemas.openxmlformats.org/officeDocument/2006/math">
                    <m:r>
                      <a:rPr lang="en-IN"/>
                      <m:t>1</m:t>
                    </m:r>
                    <m:r>
                      <a:rPr lang="en-IN"/>
                      <m:t>→</m:t>
                    </m:r>
                    <m:r>
                      <a:rPr lang="en-IN"/>
                      <m:t>3</m:t>
                    </m:r>
                  </m:oMath>
                </a14:m>
                <a:r>
                  <a:rPr lang="en-IN" dirty="0"/>
                  <a:t>had capacity 12 and we already sent 12 in step 1</a:t>
                </a:r>
                <a:br>
                  <a:rPr lang="en-IN" dirty="0"/>
                </a:br>
                <a14:m>
                  <m:oMath xmlns:m="http://schemas.openxmlformats.org/officeDocument/2006/math">
                    <m:r>
                      <a:rPr lang="en-IN"/>
                      <m:t>⇒</m:t>
                    </m:r>
                    <m:r>
                      <a:rPr lang="en-IN" i="1"/>
                      <m:t>𝑟</m:t>
                    </m:r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r>
                          <a:rPr lang="ar-AE"/>
                          <m:t>1</m:t>
                        </m:r>
                      </m:e>
                      <m:e>
                        <m:r>
                          <a:rPr lang="ar-AE"/>
                          <m:t>3</m:t>
                        </m:r>
                      </m:e>
                    </m:d>
                    <m:r>
                      <a:rPr lang="ar-AE"/>
                      <m:t>=</m:t>
                    </m:r>
                    <m:r>
                      <a:rPr lang="ar-AE"/>
                      <m:t>12</m:t>
                    </m:r>
                    <m:r>
                      <a:rPr lang="ar-AE"/>
                      <m:t>−</m:t>
                    </m:r>
                    <m:r>
                      <a:rPr lang="ar-AE"/>
                      <m:t>12</m:t>
                    </m:r>
                    <m:r>
                      <a:rPr lang="ar-AE"/>
                      <m:t>=</m:t>
                    </m:r>
                    <m:r>
                      <a:rPr lang="ar-AE"/>
                      <m:t>0</m:t>
                    </m:r>
                  </m:oMath>
                </a14:m>
                <a:r>
                  <a:rPr lang="en-IN" b="1" dirty="0"/>
                  <a:t>  ,   blocked</a:t>
                </a:r>
                <a:endParaRPr lang="en-IN" dirty="0"/>
              </a:p>
              <a:p>
                <a14:m>
                  <m:oMath xmlns:m="http://schemas.openxmlformats.org/officeDocument/2006/math">
                    <m:r>
                      <a:rPr lang="en-IN"/>
                      <m:t>4</m:t>
                    </m:r>
                    <m:r>
                      <a:rPr lang="en-IN"/>
                      <m:t>→</m:t>
                    </m:r>
                    <m:r>
                      <a:rPr lang="en-IN"/>
                      <m:t>3</m:t>
                    </m:r>
                  </m:oMath>
                </a14:m>
                <a:r>
                  <a:rPr lang="en-IN" dirty="0"/>
                  <a:t>had capacity 7 and we sent 7 in step 3</a:t>
                </a:r>
                <a:br>
                  <a:rPr lang="en-IN" dirty="0"/>
                </a:br>
                <a14:m>
                  <m:oMath xmlns:m="http://schemas.openxmlformats.org/officeDocument/2006/math">
                    <m:r>
                      <a:rPr lang="en-IN"/>
                      <m:t>⇒</m:t>
                    </m:r>
                    <m:r>
                      <a:rPr lang="en-IN" i="1"/>
                      <m:t>𝑟</m:t>
                    </m:r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r>
                          <a:rPr lang="ar-AE"/>
                          <m:t>4</m:t>
                        </m:r>
                      </m:e>
                      <m:e>
                        <m:r>
                          <a:rPr lang="ar-AE"/>
                          <m:t>3</m:t>
                        </m:r>
                      </m:e>
                    </m:d>
                    <m:r>
                      <a:rPr lang="ar-AE"/>
                      <m:t>=</m:t>
                    </m:r>
                    <m:r>
                      <a:rPr lang="ar-AE"/>
                      <m:t>7</m:t>
                    </m:r>
                    <m:r>
                      <a:rPr lang="ar-AE"/>
                      <m:t>−</m:t>
                    </m:r>
                    <m:r>
                      <a:rPr lang="ar-AE"/>
                      <m:t>7</m:t>
                    </m:r>
                    <m:r>
                      <a:rPr lang="ar-AE"/>
                      <m:t>=</m:t>
                    </m:r>
                    <m:r>
                      <a:rPr lang="ar-AE"/>
                      <m:t>0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,  </m:t>
                    </m:r>
                  </m:oMath>
                </a14:m>
                <a:r>
                  <a:rPr lang="en-IN" b="1" dirty="0"/>
                  <a:t>blocked</a:t>
                </a:r>
                <a:endParaRPr lang="en-IN" dirty="0"/>
              </a:p>
              <a:p>
                <a14:m>
                  <m:oMath xmlns:m="http://schemas.openxmlformats.org/officeDocument/2006/math">
                    <m:r>
                      <a:rPr lang="en-IN"/>
                      <m:t>4</m:t>
                    </m:r>
                    <m:r>
                      <a:rPr lang="en-IN"/>
                      <m:t>→</m:t>
                    </m:r>
                    <m:r>
                      <a:rPr lang="en-IN"/>
                      <m:t>5</m:t>
                    </m:r>
                  </m:oMath>
                </a14:m>
                <a:r>
                  <a:rPr lang="en-IN" dirty="0"/>
                  <a:t>had capacity 4 and we sent 4 in step 2</a:t>
                </a:r>
                <a:br>
                  <a:rPr lang="en-IN" dirty="0"/>
                </a:br>
                <a14:m>
                  <m:oMath xmlns:m="http://schemas.openxmlformats.org/officeDocument/2006/math">
                    <m:r>
                      <a:rPr lang="en-IN"/>
                      <m:t>⇒</m:t>
                    </m:r>
                    <m:r>
                      <a:rPr lang="en-IN" i="1"/>
                      <m:t>𝑟</m:t>
                    </m:r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r>
                          <a:rPr lang="ar-AE"/>
                          <m:t>4</m:t>
                        </m:r>
                      </m:e>
                      <m:e>
                        <m:r>
                          <a:rPr lang="ar-AE"/>
                          <m:t>5</m:t>
                        </m:r>
                      </m:e>
                    </m:d>
                    <m:r>
                      <a:rPr lang="ar-AE"/>
                      <m:t>=</m:t>
                    </m:r>
                    <m:r>
                      <a:rPr lang="ar-AE"/>
                      <m:t>4</m:t>
                    </m:r>
                    <m:r>
                      <a:rPr lang="ar-AE"/>
                      <m:t>−</m:t>
                    </m:r>
                    <m:r>
                      <a:rPr lang="ar-AE"/>
                      <m:t>4</m:t>
                    </m:r>
                    <m:r>
                      <a:rPr lang="ar-AE"/>
                      <m:t>=</m:t>
                    </m:r>
                    <m:r>
                      <a:rPr lang="ar-AE"/>
                      <m:t>0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,  </m:t>
                    </m:r>
                  </m:oMath>
                </a14:m>
                <a:r>
                  <a:rPr lang="en-IN" b="1" dirty="0"/>
                  <a:t>blocked</a:t>
                </a:r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3F765B-6039-9ADD-3C3A-2D5A4FA69D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585216"/>
                <a:ext cx="10515600" cy="5591747"/>
              </a:xfrm>
              <a:blipFill>
                <a:blip r:embed="rId2"/>
                <a:stretch>
                  <a:fillRect l="-1043" t="-1854" r="-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36611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A65F3A-1689-25D4-0243-42F9A5F29C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502920"/>
                <a:ext cx="10515600" cy="567404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IN" b="1" dirty="0"/>
                  <a:t>  Now do the reachability from source 0</a:t>
                </a:r>
              </a:p>
              <a:p>
                <a:r>
                  <a:rPr lang="en-IN" dirty="0"/>
                  <a:t>Start from </a:t>
                </a:r>
                <a:r>
                  <a:rPr lang="en-IN" b="1" dirty="0"/>
                  <a:t>0</a:t>
                </a:r>
                <a:r>
                  <a:rPr lang="en-IN" dirty="0"/>
                  <a:t> in the residual graph:</a:t>
                </a:r>
              </a:p>
              <a:p>
                <a:r>
                  <a:rPr lang="en-IN" dirty="0"/>
                  <a:t>From </a:t>
                </a:r>
                <a:r>
                  <a:rPr lang="en-IN" b="1" dirty="0"/>
                  <a:t>0</a:t>
                </a:r>
                <a:r>
                  <a:rPr lang="en-IN" dirty="0"/>
                  <a:t>, you can still go to:</a:t>
                </a:r>
              </a:p>
              <a:p>
                <a:pPr lvl="1"/>
                <a:r>
                  <a:rPr lang="en-IN" b="1" dirty="0"/>
                  <a:t>1</a:t>
                </a:r>
                <a:r>
                  <a:rPr lang="en-IN" dirty="0"/>
                  <a:t> (since </a:t>
                </a:r>
                <a14:m>
                  <m:oMath xmlns:m="http://schemas.openxmlformats.org/officeDocument/2006/math">
                    <m:r>
                      <a:rPr lang="en-IN" i="1"/>
                      <m:t>𝑟</m:t>
                    </m:r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r>
                          <a:rPr lang="ar-AE"/>
                          <m:t>0</m:t>
                        </m:r>
                      </m:e>
                      <m:e>
                        <m:r>
                          <a:rPr lang="ar-AE"/>
                          <m:t>1</m:t>
                        </m:r>
                      </m:e>
                    </m:d>
                    <m:r>
                      <a:rPr lang="ar-AE"/>
                      <m:t>=</m:t>
                    </m:r>
                    <m:r>
                      <a:rPr lang="ar-AE"/>
                      <m:t>16</m:t>
                    </m:r>
                    <m:r>
                      <a:rPr lang="ar-AE"/>
                      <m:t>−</m:t>
                    </m:r>
                    <m:r>
                      <a:rPr lang="ar-AE"/>
                      <m:t>12</m:t>
                    </m:r>
                    <m:r>
                      <a:rPr lang="ar-AE"/>
                      <m:t>=</m:t>
                    </m:r>
                    <m:r>
                      <a:rPr lang="ar-AE"/>
                      <m:t>4</m:t>
                    </m:r>
                    <m:r>
                      <a:rPr lang="ar-AE"/>
                      <m:t>&gt;</m:t>
                    </m:r>
                    <m:r>
                      <a:rPr lang="ar-AE"/>
                      <m:t>0</m:t>
                    </m:r>
                  </m:oMath>
                </a14:m>
                <a:endParaRPr lang="en-IN" dirty="0"/>
              </a:p>
              <a:p>
                <a:pPr lvl="1"/>
                <a:r>
                  <a:rPr lang="en-IN" dirty="0"/>
                  <a:t>2</a:t>
                </a:r>
                <a:r>
                  <a:rPr lang="ar-AE" dirty="0"/>
                  <a:t>(</a:t>
                </a:r>
                <a:r>
                  <a:rPr lang="en-IN" dirty="0"/>
                  <a:t>since </a:t>
                </a:r>
                <a14:m>
                  <m:oMath xmlns:m="http://schemas.openxmlformats.org/officeDocument/2006/math">
                    <m:r>
                      <a:rPr lang="en-IN" i="1"/>
                      <m:t>𝑟</m:t>
                    </m:r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r>
                          <a:rPr lang="ar-AE"/>
                          <m:t>0</m:t>
                        </m:r>
                      </m:e>
                      <m:e>
                        <m:r>
                          <a:rPr lang="ar-AE"/>
                          <m:t>2</m:t>
                        </m:r>
                      </m:e>
                    </m:d>
                    <m:r>
                      <a:rPr lang="ar-AE"/>
                      <m:t>=</m:t>
                    </m:r>
                    <m:r>
                      <a:rPr lang="ar-AE"/>
                      <m:t>13</m:t>
                    </m:r>
                    <m:r>
                      <a:rPr lang="ar-AE"/>
                      <m:t>−</m:t>
                    </m:r>
                    <m:r>
                      <a:rPr lang="ar-AE"/>
                      <m:t>11</m:t>
                    </m:r>
                    <m:r>
                      <a:rPr lang="ar-AE"/>
                      <m:t>=</m:t>
                    </m:r>
                    <m:r>
                      <a:rPr lang="ar-AE"/>
                      <m:t>2</m:t>
                    </m:r>
                    <m:r>
                      <a:rPr lang="ar-AE"/>
                      <m:t>&gt;</m:t>
                    </m:r>
                    <m:r>
                      <a:rPr lang="ar-AE"/>
                      <m:t>0</m:t>
                    </m:r>
                  </m:oMath>
                </a14:m>
                <a:endParaRPr lang="ar-AE" dirty="0"/>
              </a:p>
              <a:p>
                <a:r>
                  <a:rPr lang="en-IN" dirty="0"/>
                  <a:t>From </a:t>
                </a:r>
                <a:r>
                  <a:rPr lang="en-IN" b="1" dirty="0"/>
                  <a:t>1</a:t>
                </a:r>
                <a:r>
                  <a:rPr lang="en-IN" dirty="0"/>
                  <a:t>, you can go to </a:t>
                </a:r>
                <a:r>
                  <a:rPr lang="en-IN" b="1" dirty="0"/>
                  <a:t>2</a:t>
                </a:r>
                <a:r>
                  <a:rPr lang="en-IN" dirty="0"/>
                  <a:t> (since </a:t>
                </a:r>
                <a14:m>
                  <m:oMath xmlns:m="http://schemas.openxmlformats.org/officeDocument/2006/math">
                    <m:r>
                      <a:rPr lang="en-IN" i="1"/>
                      <m:t>𝑟</m:t>
                    </m:r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r>
                          <a:rPr lang="ar-AE"/>
                          <m:t>1</m:t>
                        </m:r>
                      </m:e>
                      <m:e>
                        <m:r>
                          <a:rPr lang="ar-AE"/>
                          <m:t>2</m:t>
                        </m:r>
                      </m:e>
                    </m:d>
                    <m:r>
                      <a:rPr lang="ar-AE"/>
                      <m:t>=</m:t>
                    </m:r>
                    <m:r>
                      <a:rPr lang="ar-AE"/>
                      <m:t>10</m:t>
                    </m:r>
                    <m:r>
                      <a:rPr lang="ar-AE"/>
                      <m:t>&gt;</m:t>
                    </m:r>
                    <m:r>
                      <a:rPr lang="ar-AE"/>
                      <m:t>0</m:t>
                    </m:r>
                  </m:oMath>
                </a14:m>
                <a:r>
                  <a:rPr lang="ar-AE" dirty="0"/>
                  <a:t>), </a:t>
                </a:r>
                <a:r>
                  <a:rPr lang="en-IN" dirty="0"/>
                  <a:t>but </a:t>
                </a:r>
                <a:r>
                  <a:rPr lang="en-IN" b="1" dirty="0"/>
                  <a:t>not</a:t>
                </a:r>
                <a:r>
                  <a:rPr lang="en-IN" dirty="0"/>
                  <a:t> to 3 (because </a:t>
                </a:r>
                <a14:m>
                  <m:oMath xmlns:m="http://schemas.openxmlformats.org/officeDocument/2006/math">
                    <m:r>
                      <a:rPr lang="en-IN" i="1"/>
                      <m:t>𝑟</m:t>
                    </m:r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r>
                          <a:rPr lang="ar-AE"/>
                          <m:t>1</m:t>
                        </m:r>
                      </m:e>
                      <m:e>
                        <m:r>
                          <a:rPr lang="ar-AE"/>
                          <m:t>3</m:t>
                        </m:r>
                      </m:e>
                    </m:d>
                    <m:r>
                      <a:rPr lang="ar-AE"/>
                      <m:t>=</m:t>
                    </m:r>
                    <m:r>
                      <a:rPr lang="ar-AE"/>
                      <m:t>0</m:t>
                    </m:r>
                  </m:oMath>
                </a14:m>
                <a:r>
                  <a:rPr lang="ar-AE" dirty="0"/>
                  <a:t>).</a:t>
                </a:r>
              </a:p>
              <a:p>
                <a:r>
                  <a:rPr lang="en-IN" dirty="0"/>
                  <a:t>From </a:t>
                </a:r>
                <a:r>
                  <a:rPr lang="en-IN" b="1" dirty="0"/>
                  <a:t>2</a:t>
                </a:r>
                <a:r>
                  <a:rPr lang="en-IN" dirty="0"/>
                  <a:t>, you can go to </a:t>
                </a:r>
                <a:r>
                  <a:rPr lang="en-IN" b="1" dirty="0"/>
                  <a:t>4</a:t>
                </a:r>
                <a:r>
                  <a:rPr lang="en-IN" dirty="0"/>
                  <a:t> (since </a:t>
                </a:r>
                <a14:m>
                  <m:oMath xmlns:m="http://schemas.openxmlformats.org/officeDocument/2006/math">
                    <m:r>
                      <a:rPr lang="en-IN" i="1"/>
                      <m:t>𝑟</m:t>
                    </m:r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r>
                          <a:rPr lang="ar-AE"/>
                          <m:t>2</m:t>
                        </m:r>
                      </m:e>
                      <m:e>
                        <m:r>
                          <a:rPr lang="ar-AE"/>
                          <m:t>4</m:t>
                        </m:r>
                      </m:e>
                    </m:d>
                    <m:r>
                      <a:rPr lang="ar-AE"/>
                      <m:t>=</m:t>
                    </m:r>
                    <m:r>
                      <a:rPr lang="ar-AE"/>
                      <m:t>14</m:t>
                    </m:r>
                    <m:r>
                      <a:rPr lang="ar-AE"/>
                      <m:t>−</m:t>
                    </m:r>
                    <m:r>
                      <a:rPr lang="ar-AE"/>
                      <m:t>11</m:t>
                    </m:r>
                    <m:r>
                      <a:rPr lang="ar-AE"/>
                      <m:t>=</m:t>
                    </m:r>
                    <m:r>
                      <a:rPr lang="ar-AE"/>
                      <m:t>3</m:t>
                    </m:r>
                    <m:r>
                      <a:rPr lang="ar-AE"/>
                      <m:t>&gt;</m:t>
                    </m:r>
                    <m:r>
                      <a:rPr lang="ar-AE"/>
                      <m:t>0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IN" dirty="0"/>
                  <a:t>)</a:t>
                </a:r>
                <a:endParaRPr lang="ar-AE" dirty="0"/>
              </a:p>
              <a:p>
                <a:r>
                  <a:rPr lang="en-IN" dirty="0"/>
                  <a:t>From </a:t>
                </a:r>
                <a:r>
                  <a:rPr lang="en-IN" b="1" dirty="0"/>
                  <a:t>4</a:t>
                </a:r>
                <a:r>
                  <a:rPr lang="en-IN" dirty="0"/>
                  <a:t>, you </a:t>
                </a:r>
                <a:r>
                  <a:rPr lang="en-IN" b="1" dirty="0"/>
                  <a:t>cannot</a:t>
                </a:r>
                <a:r>
                  <a:rPr lang="en-IN" dirty="0"/>
                  <a:t> go to:</a:t>
                </a:r>
              </a:p>
              <a:p>
                <a:pPr lvl="1"/>
                <a:r>
                  <a:rPr lang="en-IN" b="1" dirty="0"/>
                  <a:t>3</a:t>
                </a:r>
                <a:r>
                  <a:rPr lang="en-IN" dirty="0"/>
                  <a:t> (blocked: </a:t>
                </a:r>
                <a14:m>
                  <m:oMath xmlns:m="http://schemas.openxmlformats.org/officeDocument/2006/math">
                    <m:r>
                      <a:rPr lang="en-IN" i="1"/>
                      <m:t>𝑟</m:t>
                    </m:r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r>
                          <a:rPr lang="ar-AE"/>
                          <m:t>4</m:t>
                        </m:r>
                      </m:e>
                      <m:e>
                        <m:r>
                          <a:rPr lang="ar-AE"/>
                          <m:t>3</m:t>
                        </m:r>
                      </m:e>
                    </m:d>
                    <m:r>
                      <a:rPr lang="ar-AE"/>
                      <m:t>=</m:t>
                    </m:r>
                    <m:r>
                      <a:rPr lang="ar-AE"/>
                      <m:t>0</m:t>
                    </m:r>
                  </m:oMath>
                </a14:m>
                <a:r>
                  <a:rPr lang="ar-AE" dirty="0"/>
                  <a:t>)</a:t>
                </a:r>
              </a:p>
              <a:p>
                <a:pPr lvl="1"/>
                <a:r>
                  <a:rPr lang="ar-AE" b="1" dirty="0"/>
                  <a:t>5</a:t>
                </a:r>
                <a:r>
                  <a:rPr lang="ar-AE" dirty="0"/>
                  <a:t> (</a:t>
                </a:r>
                <a:r>
                  <a:rPr lang="en-IN" dirty="0"/>
                  <a:t>blocked: </a:t>
                </a:r>
                <a14:m>
                  <m:oMath xmlns:m="http://schemas.openxmlformats.org/officeDocument/2006/math">
                    <m:r>
                      <a:rPr lang="en-IN" i="1"/>
                      <m:t>𝑟</m:t>
                    </m:r>
                    <m:d>
                      <m:dPr>
                        <m:sepChr m:val=","/>
                        <m:ctrlPr>
                          <a:rPr lang="ar-AE" i="1"/>
                        </m:ctrlPr>
                      </m:dPr>
                      <m:e>
                        <m:r>
                          <a:rPr lang="ar-AE"/>
                          <m:t>4</m:t>
                        </m:r>
                      </m:e>
                      <m:e>
                        <m:r>
                          <a:rPr lang="ar-AE"/>
                          <m:t>5</m:t>
                        </m:r>
                      </m:e>
                    </m:d>
                    <m:r>
                      <a:rPr lang="ar-AE"/>
                      <m:t>=</m:t>
                    </m:r>
                    <m:r>
                      <a:rPr lang="ar-AE"/>
                      <m:t>0</m:t>
                    </m:r>
                  </m:oMath>
                </a14:m>
                <a:r>
                  <a:rPr lang="ar-AE" dirty="0"/>
                  <a:t>)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A65F3A-1689-25D4-0243-42F9A5F29C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502920"/>
                <a:ext cx="10515600" cy="5674043"/>
              </a:xfrm>
              <a:blipFill>
                <a:blip r:embed="rId2"/>
                <a:stretch>
                  <a:fillRect l="-1043" t="-193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14427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770</Words>
  <Application>Microsoft Office PowerPoint</Application>
  <PresentationFormat>Widescreen</PresentationFormat>
  <Paragraphs>87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Cambria Math</vt:lpstr>
      <vt:lpstr>Office Theme</vt:lpstr>
      <vt:lpstr>Ford Fulkerson Algorithm for maximum flow </vt:lpstr>
      <vt:lpstr>Max Flow </vt:lpstr>
      <vt:lpstr>PowerPoint Presentation</vt:lpstr>
      <vt:lpstr>PowerPoint Presentation</vt:lpstr>
      <vt:lpstr>PowerPoint Presentation</vt:lpstr>
      <vt:lpstr>Ford –Fulkerson Algorithm</vt:lpstr>
      <vt:lpstr>PowerPoint Presentation</vt:lpstr>
      <vt:lpstr>Solving this problem step by step using the algorithm.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Neha Kumari</dc:creator>
  <cp:lastModifiedBy>Neha Kumari</cp:lastModifiedBy>
  <cp:revision>1</cp:revision>
  <dcterms:created xsi:type="dcterms:W3CDTF">2026-03-02T07:32:18Z</dcterms:created>
  <dcterms:modified xsi:type="dcterms:W3CDTF">2026-03-02T09:06:50Z</dcterms:modified>
</cp:coreProperties>
</file>