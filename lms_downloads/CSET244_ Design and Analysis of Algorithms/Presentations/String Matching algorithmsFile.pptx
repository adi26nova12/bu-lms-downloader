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02" r:id="rId2"/>
    <p:sldId id="604" r:id="rId3"/>
    <p:sldId id="603" r:id="rId4"/>
    <p:sldId id="662" r:id="rId5"/>
    <p:sldId id="605" r:id="rId6"/>
    <p:sldId id="606" r:id="rId7"/>
    <p:sldId id="607" r:id="rId8"/>
    <p:sldId id="608" r:id="rId9"/>
    <p:sldId id="609" r:id="rId10"/>
    <p:sldId id="610" r:id="rId11"/>
    <p:sldId id="611" r:id="rId12"/>
    <p:sldId id="612" r:id="rId13"/>
    <p:sldId id="613" r:id="rId14"/>
    <p:sldId id="614" r:id="rId15"/>
    <p:sldId id="663" r:id="rId16"/>
    <p:sldId id="615" r:id="rId17"/>
    <p:sldId id="616" r:id="rId18"/>
    <p:sldId id="617" r:id="rId19"/>
    <p:sldId id="618" r:id="rId20"/>
    <p:sldId id="619" r:id="rId21"/>
    <p:sldId id="620" r:id="rId22"/>
    <p:sldId id="621" r:id="rId23"/>
    <p:sldId id="622" r:id="rId24"/>
    <p:sldId id="624" r:id="rId25"/>
    <p:sldId id="633" r:id="rId26"/>
    <p:sldId id="625" r:id="rId27"/>
    <p:sldId id="626" r:id="rId28"/>
    <p:sldId id="627" r:id="rId29"/>
    <p:sldId id="628" r:id="rId30"/>
    <p:sldId id="629" r:id="rId31"/>
    <p:sldId id="630" r:id="rId32"/>
    <p:sldId id="631" r:id="rId33"/>
    <p:sldId id="632" r:id="rId34"/>
    <p:sldId id="634" r:id="rId35"/>
    <p:sldId id="635" r:id="rId36"/>
    <p:sldId id="636" r:id="rId37"/>
    <p:sldId id="637" r:id="rId38"/>
    <p:sldId id="638" r:id="rId39"/>
    <p:sldId id="639" r:id="rId40"/>
    <p:sldId id="640" r:id="rId41"/>
    <p:sldId id="641" r:id="rId42"/>
    <p:sldId id="642" r:id="rId43"/>
    <p:sldId id="643" r:id="rId44"/>
    <p:sldId id="644" r:id="rId45"/>
    <p:sldId id="645" r:id="rId46"/>
    <p:sldId id="646" r:id="rId47"/>
    <p:sldId id="647" r:id="rId48"/>
    <p:sldId id="648" r:id="rId49"/>
    <p:sldId id="649" r:id="rId50"/>
    <p:sldId id="650" r:id="rId51"/>
    <p:sldId id="651" r:id="rId52"/>
    <p:sldId id="652" r:id="rId53"/>
    <p:sldId id="653" r:id="rId54"/>
    <p:sldId id="654" r:id="rId55"/>
    <p:sldId id="655" r:id="rId56"/>
    <p:sldId id="656" r:id="rId57"/>
    <p:sldId id="657" r:id="rId58"/>
    <p:sldId id="658" r:id="rId59"/>
    <p:sldId id="659" r:id="rId60"/>
    <p:sldId id="660" r:id="rId61"/>
    <p:sldId id="274" r:id="rId62"/>
    <p:sldId id="276" r:id="rId63"/>
    <p:sldId id="273" r:id="rId64"/>
    <p:sldId id="256" r:id="rId65"/>
    <p:sldId id="257" r:id="rId66"/>
    <p:sldId id="258" r:id="rId67"/>
    <p:sldId id="259" r:id="rId68"/>
    <p:sldId id="260" r:id="rId69"/>
    <p:sldId id="270" r:id="rId70"/>
    <p:sldId id="271" r:id="rId71"/>
    <p:sldId id="261" r:id="rId72"/>
    <p:sldId id="262" r:id="rId73"/>
    <p:sldId id="263" r:id="rId74"/>
    <p:sldId id="264" r:id="rId75"/>
    <p:sldId id="265" r:id="rId76"/>
    <p:sldId id="266" r:id="rId77"/>
    <p:sldId id="267" r:id="rId78"/>
    <p:sldId id="275" r:id="rId79"/>
    <p:sldId id="268" r:id="rId80"/>
    <p:sldId id="269" r:id="rId81"/>
    <p:sldId id="272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0D8E-A3C7-1B76-FFDD-704028B28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69C09-C91F-1935-CDFD-51094D3BA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76023-56CB-0861-023C-7381B473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B6671-D51F-0BA5-4802-ED8D180A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64D4E-BD4D-9E8A-4E9B-F4800E46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41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51A7-F6F8-D0F1-DD9A-059B76BB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4A7D-437B-6491-76E5-C78F1D402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EFB81-B206-C11B-8BFB-CB2CFD1C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D763F-B090-DA0B-E8A2-EBFF8646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4C45-3C0A-BB32-D747-176BF2EA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30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11E0-B2BC-EF81-B7E6-21AE5C40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E4D36-91AD-BE44-88B4-92DF9B6AB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390D1-C3B6-7967-EB44-BA61526F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88618-71D4-9743-437D-657CFF436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C7389-050B-9BA9-8C66-F2478751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3704-BF39-5804-B738-E43CF022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2272-CEBC-8F65-359D-134069994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A9150-EEC9-CBAD-5092-E8AAD3FD3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3BE4C-9A3D-8894-6492-42E7575E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577C9-56C7-C02D-F930-977A7A26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BBECA-7C28-710F-DD41-025C868B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46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B39D-1153-119C-F42C-048E1FC0C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4BC72-0458-D4F7-432D-D52DCB9D0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AC885-36A1-34D6-5C92-3D61610B8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10ABA-CF97-95B3-3D8D-E62C8747C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CB979-145A-ECA2-551C-BC5DBFC23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E011A-F482-6CD9-2A0C-C6770A5B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A9CA4-7394-EA3A-D540-0E554177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C7686-0E70-142C-36E5-F4DF198A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98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C1CA-58B0-EB26-C0E0-A349D6FC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A7EFF-D387-FD54-33E0-3B01E1D7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1DEDD-4EF4-38E1-309E-3B5414D4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257F2-16B1-64B0-3FD0-024D1C36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73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0A284-9A74-50D7-987C-1E76C602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0680B-C39E-BD8E-4835-36D968F7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3F763-E251-5F2E-3DE3-386CC5BC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59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B80D-2B68-C352-42F7-EB3A9CB2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AEA0-21D3-0E64-F9C8-43F23903F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2EC37-BAF5-9EDB-90BD-6E39DB99A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30F81-E715-9460-AE19-74880634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BA8ED-B15C-0A16-5D24-1B74358C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E47FF-5B4E-34FB-8DA2-2AD0B929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8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DE40-3BE4-7EF7-A17D-2BABA1326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36E11-12B8-967A-BF7F-EC71ABBA4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0760C-6D9C-610D-4597-DCC3EC180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5C734-B043-DF3E-6E26-FF8F4E59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0DB41-9443-3EEE-DD84-C707E7A48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3A9E8-F1E2-6AED-454A-3C9A3B48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9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78EB-510E-30C7-0147-47B2E895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25CD3-7759-944E-BBBB-88E2C8A24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3CA38-5C12-C9EF-9C7E-0313A27A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92216-6ABA-2A54-B047-626CAF20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A9FEF-6CE0-FF43-9179-D1DBB85A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3E85B-1B48-218D-83BB-99C344220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4DC37-1448-F229-8135-148C67289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7E655-2987-CB0B-7469-4104EF83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5E3C8-F1ED-5881-15FC-E1D13A95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11327-1F32-7240-88DC-85FBB038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3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88CA1-FADE-4550-6715-E5ABB3E6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7E07F-35DE-B117-B559-724855CBA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C789D-C77C-EEA0-4DD2-977FD496C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85E62-D041-48A9-989B-E851B02FF3A2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BD55D-B24B-4F1C-6CAB-38C543990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C3EC7-6278-AB5C-776C-78B1E2462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E5E13-3DA6-4C0A-A257-C52470ED1D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74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E19E1C-2969-6239-8C5A-8CB89BB5F291}"/>
              </a:ext>
            </a:extLst>
          </p:cNvPr>
          <p:cNvSpPr txBox="1"/>
          <p:nvPr/>
        </p:nvSpPr>
        <p:spPr>
          <a:xfrm>
            <a:off x="1967753" y="2644170"/>
            <a:ext cx="82564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Lecture -31</a:t>
            </a:r>
            <a:endParaRPr lang="en-IN" sz="9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12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latin typeface="Arial Black" panose="020B0A04020102020204" pitchFamily="34" charset="0"/>
              </a:rPr>
              <a:t>String Matching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1ADDFB-2957-EE34-8BB5-49D7CD4EF6FF}"/>
              </a:ext>
            </a:extLst>
          </p:cNvPr>
          <p:cNvSpPr txBox="1"/>
          <p:nvPr/>
        </p:nvSpPr>
        <p:spPr>
          <a:xfrm>
            <a:off x="225083" y="1364566"/>
            <a:ext cx="6147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Given</a:t>
            </a:r>
            <a:r>
              <a:rPr lang="en-IN" sz="3200" i="1" dirty="0"/>
              <a:t>:</a:t>
            </a:r>
            <a:r>
              <a:rPr lang="en-IN" sz="3200" dirty="0"/>
              <a:t> A </a:t>
            </a:r>
            <a:r>
              <a:rPr lang="en-IN" sz="3200" b="1" dirty="0">
                <a:solidFill>
                  <a:srgbClr val="00B050"/>
                </a:solidFill>
              </a:rPr>
              <a:t>text T</a:t>
            </a:r>
            <a:r>
              <a:rPr lang="en-IN" sz="3200" dirty="0"/>
              <a:t> and a </a:t>
            </a:r>
            <a:r>
              <a:rPr lang="en-IN" sz="3200" b="1" dirty="0">
                <a:solidFill>
                  <a:srgbClr val="7030A0"/>
                </a:solidFill>
              </a:rPr>
              <a:t>pattern 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8CC99-FBB7-3A1D-796E-E727C6F67767}"/>
              </a:ext>
            </a:extLst>
          </p:cNvPr>
          <p:cNvSpPr txBox="1"/>
          <p:nvPr/>
        </p:nvSpPr>
        <p:spPr>
          <a:xfrm>
            <a:off x="225082" y="2813745"/>
            <a:ext cx="11966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Goal</a:t>
            </a:r>
            <a:r>
              <a:rPr lang="en-IN" sz="3200" i="1" dirty="0"/>
              <a:t>:</a:t>
            </a:r>
            <a:r>
              <a:rPr lang="en-IN" sz="3200" dirty="0"/>
              <a:t> 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source-serif-pro"/>
              </a:rPr>
              <a:t>Finding all or one  occurrences of a 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source-serif-pro"/>
              </a:rPr>
              <a:t>pattern P</a:t>
            </a:r>
            <a:r>
              <a:rPr lang="en-US" sz="3200" b="1" i="0" dirty="0">
                <a:solidFill>
                  <a:srgbClr val="00B050"/>
                </a:solidFill>
                <a:effectLst/>
                <a:latin typeface="source-serif-pro"/>
              </a:rPr>
              <a:t> in given </a:t>
            </a:r>
            <a:r>
              <a:rPr lang="en-US" sz="3200" b="1" i="0" dirty="0">
                <a:solidFill>
                  <a:srgbClr val="002060"/>
                </a:solidFill>
                <a:effectLst/>
                <a:latin typeface="source-serif-pro"/>
              </a:rPr>
              <a:t>text T</a:t>
            </a:r>
            <a:endParaRPr lang="en-IN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33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latin typeface="Arial Black" panose="020B0A04020102020204" pitchFamily="34" charset="0"/>
              </a:rPr>
              <a:t>String Matching Algorithm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8B6E69C-01DE-20DD-BDBE-C09FCEA5D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799871"/>
              </p:ext>
            </p:extLst>
          </p:nvPr>
        </p:nvGraphicFramePr>
        <p:xfrm>
          <a:off x="1567766" y="1634066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366966"/>
              </p:ext>
            </p:extLst>
          </p:nvPr>
        </p:nvGraphicFramePr>
        <p:xfrm>
          <a:off x="1567766" y="3058160"/>
          <a:ext cx="230084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949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766949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766949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64381" y="2975743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03C1D7-570D-BA65-211D-F1C79D477222}"/>
              </a:ext>
            </a:extLst>
          </p:cNvPr>
          <p:cNvSpPr txBox="1"/>
          <p:nvPr/>
        </p:nvSpPr>
        <p:spPr>
          <a:xfrm>
            <a:off x="984738" y="4234375"/>
            <a:ext cx="10635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Pattern P is present at </a:t>
            </a:r>
            <a:r>
              <a:rPr lang="en-IN" sz="5400" b="1" dirty="0">
                <a:solidFill>
                  <a:srgbClr val="FF0000"/>
                </a:solidFill>
              </a:rPr>
              <a:t>index 8</a:t>
            </a:r>
            <a:r>
              <a:rPr lang="en-IN" sz="3600" b="1" dirty="0"/>
              <a:t> in Text T</a:t>
            </a:r>
          </a:p>
        </p:txBody>
      </p:sp>
    </p:spTree>
    <p:extLst>
      <p:ext uri="{BB962C8B-B14F-4D97-AF65-F5344CB8AC3E}">
        <p14:creationId xmlns:p14="http://schemas.microsoft.com/office/powerpoint/2010/main" val="370486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latin typeface="Arial Black" panose="020B0A04020102020204" pitchFamily="34" charset="0"/>
              </a:rPr>
              <a:t>String Matching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1ADDFB-2957-EE34-8BB5-49D7CD4EF6FF}"/>
              </a:ext>
            </a:extLst>
          </p:cNvPr>
          <p:cNvSpPr txBox="1"/>
          <p:nvPr/>
        </p:nvSpPr>
        <p:spPr>
          <a:xfrm>
            <a:off x="225083" y="1364566"/>
            <a:ext cx="6147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String Matching Algorithm</a:t>
            </a:r>
            <a:endParaRPr lang="en-IN" sz="3200" b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8CC99-FBB7-3A1D-796E-E727C6F67767}"/>
              </a:ext>
            </a:extLst>
          </p:cNvPr>
          <p:cNvSpPr txBox="1"/>
          <p:nvPr/>
        </p:nvSpPr>
        <p:spPr>
          <a:xfrm>
            <a:off x="1069144" y="2743406"/>
            <a:ext cx="11966917" cy="192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B050"/>
                </a:solidFill>
                <a:effectLst/>
                <a:latin typeface="source-serif-pro"/>
              </a:rPr>
              <a:t>Naïve Algorithm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50"/>
                </a:solidFill>
                <a:latin typeface="source-serif-pro"/>
              </a:rPr>
              <a:t>KMP algorithm</a:t>
            </a:r>
            <a:endParaRPr lang="en-IN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7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pic>
        <p:nvPicPr>
          <p:cNvPr id="1028" name="Picture 4" descr="6-1 String Matching Learning Outcomes Students are able to: Explain naïve,  Rabin-Karp, Knuth-Morris- Pratt algorithms Analyse the complexity of these  algorithms. - ppt download">
            <a:extLst>
              <a:ext uri="{FF2B5EF4-FFF2-40B4-BE49-F238E27FC236}">
                <a16:creationId xmlns:a16="http://schemas.microsoft.com/office/drawing/2014/main" id="{51F0119E-21E8-61A2-869A-207E5FBC5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3" t="16615" r="14051" b="10770"/>
          <a:stretch/>
        </p:blipFill>
        <p:spPr bwMode="auto">
          <a:xfrm>
            <a:off x="309488" y="1149901"/>
            <a:ext cx="8398571" cy="558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35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51832"/>
              </p:ext>
            </p:extLst>
          </p:nvPr>
        </p:nvGraphicFramePr>
        <p:xfrm>
          <a:off x="1567766" y="2763982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929373"/>
              </p:ext>
            </p:extLst>
          </p:nvPr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F3B907-D9C6-2F54-3EB9-06CE241005BC}"/>
              </a:ext>
            </a:extLst>
          </p:cNvPr>
          <p:cNvCxnSpPr/>
          <p:nvPr/>
        </p:nvCxnSpPr>
        <p:spPr>
          <a:xfrm>
            <a:off x="1885070" y="2356019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7C9C44-2A26-59FC-B2CE-32E0842133F2}"/>
              </a:ext>
            </a:extLst>
          </p:cNvPr>
          <p:cNvCxnSpPr/>
          <p:nvPr/>
        </p:nvCxnSpPr>
        <p:spPr>
          <a:xfrm>
            <a:off x="2431365" y="2356019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2817446" y="2400252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90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527571"/>
              </p:ext>
            </p:extLst>
          </p:nvPr>
        </p:nvGraphicFramePr>
        <p:xfrm>
          <a:off x="2130474" y="2735808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2299285" y="2397469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7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410062"/>
              </p:ext>
            </p:extLst>
          </p:nvPr>
        </p:nvGraphicFramePr>
        <p:xfrm>
          <a:off x="2665046" y="2741374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2833857" y="2403035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13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31633"/>
              </p:ext>
            </p:extLst>
          </p:nvPr>
        </p:nvGraphicFramePr>
        <p:xfrm>
          <a:off x="3269957" y="2713692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F3B907-D9C6-2F54-3EB9-06CE241005BC}"/>
              </a:ext>
            </a:extLst>
          </p:cNvPr>
          <p:cNvCxnSpPr/>
          <p:nvPr/>
        </p:nvCxnSpPr>
        <p:spPr>
          <a:xfrm>
            <a:off x="3488787" y="2346763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3970215" y="2386411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33733"/>
              </p:ext>
            </p:extLst>
          </p:nvPr>
        </p:nvGraphicFramePr>
        <p:xfrm>
          <a:off x="3903003" y="2741374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F3B907-D9C6-2F54-3EB9-06CE241005BC}"/>
              </a:ext>
            </a:extLst>
          </p:cNvPr>
          <p:cNvCxnSpPr/>
          <p:nvPr/>
        </p:nvCxnSpPr>
        <p:spPr>
          <a:xfrm>
            <a:off x="4121833" y="2374445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4603261" y="2414093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73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336020"/>
              </p:ext>
            </p:extLst>
          </p:nvPr>
        </p:nvGraphicFramePr>
        <p:xfrm>
          <a:off x="4465711" y="2741374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F3B907-D9C6-2F54-3EB9-06CE241005BC}"/>
              </a:ext>
            </a:extLst>
          </p:cNvPr>
          <p:cNvCxnSpPr/>
          <p:nvPr/>
        </p:nvCxnSpPr>
        <p:spPr>
          <a:xfrm>
            <a:off x="4684541" y="2374445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5165969" y="2414093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507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83882"/>
              </p:ext>
            </p:extLst>
          </p:nvPr>
        </p:nvGraphicFramePr>
        <p:xfrm>
          <a:off x="4993246" y="2741374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5165969" y="2414093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27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757650"/>
              </p:ext>
            </p:extLst>
          </p:nvPr>
        </p:nvGraphicFramePr>
        <p:xfrm>
          <a:off x="5541886" y="2683355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BE58FB03-0607-2A8F-D9A4-EE11112FAABC}"/>
              </a:ext>
            </a:extLst>
          </p:cNvPr>
          <p:cNvSpPr/>
          <p:nvPr/>
        </p:nvSpPr>
        <p:spPr>
          <a:xfrm>
            <a:off x="5714609" y="2356074"/>
            <a:ext cx="337625" cy="422031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102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2855F-66C6-6CC9-1624-1DD7D6CB3248}"/>
              </a:ext>
            </a:extLst>
          </p:cNvPr>
          <p:cNvSpPr txBox="1"/>
          <p:nvPr/>
        </p:nvSpPr>
        <p:spPr>
          <a:xfrm>
            <a:off x="844061" y="1619032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T: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045BB1E-6853-E140-EF64-01599F982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272002"/>
              </p:ext>
            </p:extLst>
          </p:nvPr>
        </p:nvGraphicFramePr>
        <p:xfrm>
          <a:off x="6096000" y="2844171"/>
          <a:ext cx="1738143" cy="96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27549467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306119529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6114725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02965"/>
                  </a:ext>
                </a:extLst>
              </a:tr>
              <a:tr h="48197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95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E5151A-4DE0-4744-D040-6C8E2F5E8A03}"/>
              </a:ext>
            </a:extLst>
          </p:cNvPr>
          <p:cNvSpPr txBox="1"/>
          <p:nvPr/>
        </p:nvSpPr>
        <p:spPr>
          <a:xfrm>
            <a:off x="844061" y="2741374"/>
            <a:ext cx="90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P:</a:t>
            </a:r>
          </a:p>
        </p:txBody>
      </p:sp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93DDE5FA-CACB-91F1-F607-E00ADB2B58D9}"/>
              </a:ext>
            </a:extLst>
          </p:cNvPr>
          <p:cNvGraphicFramePr>
            <a:graphicFrameLocks noGrp="1"/>
          </p:cNvGraphicFramePr>
          <p:nvPr/>
        </p:nvGraphicFramePr>
        <p:xfrm>
          <a:off x="1567766" y="1341678"/>
          <a:ext cx="8589105" cy="1139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07">
                  <a:extLst>
                    <a:ext uri="{9D8B030D-6E8A-4147-A177-3AD203B41FA5}">
                      <a16:colId xmlns:a16="http://schemas.microsoft.com/office/drawing/2014/main" val="357633053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0826986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5899170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1767407363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402752232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679593350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782096228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1112699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84718758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800714481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7982354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071362422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3386310644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392390509"/>
                    </a:ext>
                  </a:extLst>
                </a:gridCol>
                <a:gridCol w="572607">
                  <a:extLst>
                    <a:ext uri="{9D8B030D-6E8A-4147-A177-3AD203B41FA5}">
                      <a16:colId xmlns:a16="http://schemas.microsoft.com/office/drawing/2014/main" val="2793277104"/>
                    </a:ext>
                  </a:extLst>
                </a:gridCol>
              </a:tblGrid>
              <a:tr h="5697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01058"/>
                  </a:ext>
                </a:extLst>
              </a:tr>
              <a:tr h="569741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C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B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88049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F3B907-D9C6-2F54-3EB9-06CE241005BC}"/>
              </a:ext>
            </a:extLst>
          </p:cNvPr>
          <p:cNvCxnSpPr/>
          <p:nvPr/>
        </p:nvCxnSpPr>
        <p:spPr>
          <a:xfrm>
            <a:off x="6965071" y="2382327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7C9C44-2A26-59FC-B2CE-32E0842133F2}"/>
              </a:ext>
            </a:extLst>
          </p:cNvPr>
          <p:cNvCxnSpPr/>
          <p:nvPr/>
        </p:nvCxnSpPr>
        <p:spPr>
          <a:xfrm>
            <a:off x="6426590" y="2382328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AE17F2-0E3D-06C4-9436-12E396DE5892}"/>
              </a:ext>
            </a:extLst>
          </p:cNvPr>
          <p:cNvCxnSpPr/>
          <p:nvPr/>
        </p:nvCxnSpPr>
        <p:spPr>
          <a:xfrm>
            <a:off x="7553569" y="2382327"/>
            <a:ext cx="0" cy="534573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7666008-347F-9189-CAD5-D3FED698489E}"/>
              </a:ext>
            </a:extLst>
          </p:cNvPr>
          <p:cNvSpPr txBox="1"/>
          <p:nvPr/>
        </p:nvSpPr>
        <p:spPr>
          <a:xfrm>
            <a:off x="2096085" y="5120639"/>
            <a:ext cx="5922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There is a match after </a:t>
            </a:r>
            <a:r>
              <a:rPr lang="en-IN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IN" sz="3200" b="1" dirty="0"/>
              <a:t> shifts </a:t>
            </a:r>
          </a:p>
        </p:txBody>
      </p:sp>
    </p:spTree>
    <p:extLst>
      <p:ext uri="{BB962C8B-B14F-4D97-AF65-F5344CB8AC3E}">
        <p14:creationId xmlns:p14="http://schemas.microsoft.com/office/powerpoint/2010/main" val="1980422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pic>
        <p:nvPicPr>
          <p:cNvPr id="1028" name="Picture 4" descr="6-1 String Matching Learning Outcomes Students are able to: Explain naïve,  Rabin-Karp, Knuth-Morris- Pratt algorithms Analyse the complexity of these  algorithms. - ppt download">
            <a:extLst>
              <a:ext uri="{FF2B5EF4-FFF2-40B4-BE49-F238E27FC236}">
                <a16:creationId xmlns:a16="http://schemas.microsoft.com/office/drawing/2014/main" id="{51F0119E-21E8-61A2-869A-207E5FBC5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3" t="16615" r="14051" b="10770"/>
          <a:stretch/>
        </p:blipFill>
        <p:spPr bwMode="auto">
          <a:xfrm>
            <a:off x="309488" y="1149901"/>
            <a:ext cx="8398571" cy="558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867E76-3C29-CB25-3B0D-CDDC78F304A5}"/>
              </a:ext>
            </a:extLst>
          </p:cNvPr>
          <p:cNvSpPr txBox="1"/>
          <p:nvPr/>
        </p:nvSpPr>
        <p:spPr>
          <a:xfrm>
            <a:off x="4508773" y="4949260"/>
            <a:ext cx="2715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O(n-m+1)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F389E-7EE7-8F3F-19E7-3E85BB69F5E8}"/>
              </a:ext>
            </a:extLst>
          </p:cNvPr>
          <p:cNvSpPr txBox="1"/>
          <p:nvPr/>
        </p:nvSpPr>
        <p:spPr>
          <a:xfrm>
            <a:off x="6940139" y="5520676"/>
            <a:ext cx="2715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O(m)</a:t>
            </a:r>
          </a:p>
        </p:txBody>
      </p:sp>
    </p:spTree>
    <p:extLst>
      <p:ext uri="{BB962C8B-B14F-4D97-AF65-F5344CB8AC3E}">
        <p14:creationId xmlns:p14="http://schemas.microsoft.com/office/powerpoint/2010/main" val="1756171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Naïve String Matching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666008-347F-9189-CAD5-D3FED698489E}"/>
              </a:ext>
            </a:extLst>
          </p:cNvPr>
          <p:cNvSpPr txBox="1"/>
          <p:nvPr/>
        </p:nvSpPr>
        <p:spPr>
          <a:xfrm>
            <a:off x="829993" y="2659559"/>
            <a:ext cx="91299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 </a:t>
            </a:r>
            <a:r>
              <a:rPr lang="en-IN" sz="3200" b="1" dirty="0"/>
              <a:t>= O((n – m + 1) *m)       </a:t>
            </a:r>
          </a:p>
          <a:p>
            <a:r>
              <a:rPr lang="en-IN" sz="3200" b="1" dirty="0"/>
              <a:t>                                        =</a:t>
            </a:r>
            <a:r>
              <a:rPr lang="en-IN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</a:t>
            </a:r>
            <a:r>
              <a:rPr lang="en-IN" sz="40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mn</a:t>
            </a:r>
            <a:r>
              <a:rPr lang="en-IN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829993" y="4841354"/>
            <a:ext cx="9129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Space Complexity </a:t>
            </a:r>
            <a:r>
              <a:rPr lang="en-IN" sz="3200" b="1" dirty="0"/>
              <a:t>= </a:t>
            </a:r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O(m + n)</a:t>
            </a:r>
          </a:p>
          <a:p>
            <a:r>
              <a:rPr lang="en-IN" sz="3200" b="1" dirty="0"/>
              <a:t>    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5948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String Matching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295420" y="1619853"/>
            <a:ext cx="9129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KMP : Knuth , </a:t>
            </a:r>
            <a:r>
              <a:rPr lang="en-IN" sz="4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Moriss</a:t>
            </a:r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Pratt (</a:t>
            </a:r>
            <a:r>
              <a:rPr lang="en-IN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1971</a:t>
            </a:r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IN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3200" b="1" dirty="0"/>
              <a:t>    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77510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String Matching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103934" y="1069836"/>
            <a:ext cx="1640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Basics:</a:t>
            </a:r>
            <a:r>
              <a:rPr lang="en-IN" sz="3200" b="1" dirty="0"/>
              <a:t>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C194E-9508-015A-C834-2AA076D7C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22" y="1703144"/>
            <a:ext cx="9353843" cy="10772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source-serif-pro"/>
              </a:rPr>
              <a:t>Prefix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: All the characters in a string, with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source-serif-pro"/>
              </a:rPr>
              <a:t>0 or more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,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           cut off at the end. 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F3E79-5C87-7583-2E6B-973FBB45F900}"/>
              </a:ext>
            </a:extLst>
          </p:cNvPr>
          <p:cNvSpPr txBox="1"/>
          <p:nvPr/>
        </p:nvSpPr>
        <p:spPr>
          <a:xfrm>
            <a:off x="530913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5FBC-0FB9-0EE8-A44F-477418098440}"/>
              </a:ext>
            </a:extLst>
          </p:cNvPr>
          <p:cNvSpPr txBox="1"/>
          <p:nvPr/>
        </p:nvSpPr>
        <p:spPr>
          <a:xfrm>
            <a:off x="981079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5AAFF-FFCB-BE35-1618-ACA8F82A93E4}"/>
              </a:ext>
            </a:extLst>
          </p:cNvPr>
          <p:cNvSpPr txBox="1"/>
          <p:nvPr/>
        </p:nvSpPr>
        <p:spPr>
          <a:xfrm>
            <a:off x="1417177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E55D9-80D0-FEF2-94E4-C43DAFB068E4}"/>
              </a:ext>
            </a:extLst>
          </p:cNvPr>
          <p:cNvSpPr txBox="1"/>
          <p:nvPr/>
        </p:nvSpPr>
        <p:spPr>
          <a:xfrm>
            <a:off x="1768869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CEB66-BA81-774D-D9E1-E6945FC7960A}"/>
              </a:ext>
            </a:extLst>
          </p:cNvPr>
          <p:cNvSpPr txBox="1"/>
          <p:nvPr/>
        </p:nvSpPr>
        <p:spPr>
          <a:xfrm>
            <a:off x="530913" y="371936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3E8A3-10DB-269B-D310-C101F3E880F6}"/>
              </a:ext>
            </a:extLst>
          </p:cNvPr>
          <p:cNvSpPr txBox="1"/>
          <p:nvPr/>
        </p:nvSpPr>
        <p:spPr>
          <a:xfrm>
            <a:off x="981079" y="371936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567E5-808B-6F7C-D52D-1612E61130DF}"/>
              </a:ext>
            </a:extLst>
          </p:cNvPr>
          <p:cNvSpPr txBox="1"/>
          <p:nvPr/>
        </p:nvSpPr>
        <p:spPr>
          <a:xfrm>
            <a:off x="1417177" y="371936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67F21-19BF-7CF3-804F-7A00F1B2653D}"/>
              </a:ext>
            </a:extLst>
          </p:cNvPr>
          <p:cNvSpPr txBox="1"/>
          <p:nvPr/>
        </p:nvSpPr>
        <p:spPr>
          <a:xfrm>
            <a:off x="1768869" y="371936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870831-2D7E-8CF5-5D27-8587795EDD7A}"/>
              </a:ext>
            </a:extLst>
          </p:cNvPr>
          <p:cNvSpPr txBox="1"/>
          <p:nvPr/>
        </p:nvSpPr>
        <p:spPr>
          <a:xfrm>
            <a:off x="2896372" y="358374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35645-D5EA-3F03-5D0E-F1E0F1F2C576}"/>
              </a:ext>
            </a:extLst>
          </p:cNvPr>
          <p:cNvSpPr txBox="1"/>
          <p:nvPr/>
        </p:nvSpPr>
        <p:spPr>
          <a:xfrm>
            <a:off x="3346538" y="358374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F9673A-EB0A-BE63-1166-930D5D98E157}"/>
              </a:ext>
            </a:extLst>
          </p:cNvPr>
          <p:cNvSpPr txBox="1"/>
          <p:nvPr/>
        </p:nvSpPr>
        <p:spPr>
          <a:xfrm>
            <a:off x="3782636" y="358374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81D823-23C1-B49F-A8CA-6D7010160C1B}"/>
              </a:ext>
            </a:extLst>
          </p:cNvPr>
          <p:cNvSpPr txBox="1"/>
          <p:nvPr/>
        </p:nvSpPr>
        <p:spPr>
          <a:xfrm>
            <a:off x="4134328" y="3583745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570E16-3182-63E5-B620-2EE6C554B2CD}"/>
              </a:ext>
            </a:extLst>
          </p:cNvPr>
          <p:cNvSpPr txBox="1"/>
          <p:nvPr/>
        </p:nvSpPr>
        <p:spPr>
          <a:xfrm>
            <a:off x="5204518" y="356462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034C54-FBAF-71D2-60C6-2015DBB1F684}"/>
              </a:ext>
            </a:extLst>
          </p:cNvPr>
          <p:cNvSpPr txBox="1"/>
          <p:nvPr/>
        </p:nvSpPr>
        <p:spPr>
          <a:xfrm>
            <a:off x="5654684" y="356462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A3EDF0-D72F-2217-EFD7-41B23C70970C}"/>
              </a:ext>
            </a:extLst>
          </p:cNvPr>
          <p:cNvSpPr txBox="1"/>
          <p:nvPr/>
        </p:nvSpPr>
        <p:spPr>
          <a:xfrm>
            <a:off x="6090782" y="356462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60129-16DF-9168-F402-0F3C08EACBD4}"/>
              </a:ext>
            </a:extLst>
          </p:cNvPr>
          <p:cNvSpPr txBox="1"/>
          <p:nvPr/>
        </p:nvSpPr>
        <p:spPr>
          <a:xfrm>
            <a:off x="6442474" y="356462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CB95C-A9BF-B705-A912-140215290FD9}"/>
              </a:ext>
            </a:extLst>
          </p:cNvPr>
          <p:cNvSpPr txBox="1"/>
          <p:nvPr/>
        </p:nvSpPr>
        <p:spPr>
          <a:xfrm>
            <a:off x="7364209" y="3589076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0E763D-603C-A9F9-C052-4795390A8D6D}"/>
              </a:ext>
            </a:extLst>
          </p:cNvPr>
          <p:cNvSpPr txBox="1"/>
          <p:nvPr/>
        </p:nvSpPr>
        <p:spPr>
          <a:xfrm>
            <a:off x="7814375" y="3589076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D396A5-7BF1-0158-81F8-31A3F6844707}"/>
              </a:ext>
            </a:extLst>
          </p:cNvPr>
          <p:cNvSpPr txBox="1"/>
          <p:nvPr/>
        </p:nvSpPr>
        <p:spPr>
          <a:xfrm>
            <a:off x="8250473" y="3589076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C4FEB2-7E49-B4AF-F622-AB59AF2DA18F}"/>
              </a:ext>
            </a:extLst>
          </p:cNvPr>
          <p:cNvSpPr txBox="1"/>
          <p:nvPr/>
        </p:nvSpPr>
        <p:spPr>
          <a:xfrm>
            <a:off x="8602165" y="3589076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66B14B1A-DE85-CD71-D6EB-20FFC907D22B}"/>
              </a:ext>
            </a:extLst>
          </p:cNvPr>
          <p:cNvSpPr/>
          <p:nvPr/>
        </p:nvSpPr>
        <p:spPr>
          <a:xfrm>
            <a:off x="8702181" y="3434331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389E3769-02F6-F7FE-37E3-7E94E44BE6AD}"/>
              </a:ext>
            </a:extLst>
          </p:cNvPr>
          <p:cNvSpPr/>
          <p:nvPr/>
        </p:nvSpPr>
        <p:spPr>
          <a:xfrm>
            <a:off x="6516986" y="338741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B12FEA42-1372-667D-AE0A-DB93CC8640EA}"/>
              </a:ext>
            </a:extLst>
          </p:cNvPr>
          <p:cNvSpPr/>
          <p:nvPr/>
        </p:nvSpPr>
        <p:spPr>
          <a:xfrm>
            <a:off x="6149396" y="338741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8F068496-0083-188A-3191-8DFE98D43604}"/>
              </a:ext>
            </a:extLst>
          </p:cNvPr>
          <p:cNvSpPr/>
          <p:nvPr/>
        </p:nvSpPr>
        <p:spPr>
          <a:xfrm>
            <a:off x="4248412" y="3406541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19E073F8-44B4-C59D-F673-635B169B2000}"/>
              </a:ext>
            </a:extLst>
          </p:cNvPr>
          <p:cNvSpPr/>
          <p:nvPr/>
        </p:nvSpPr>
        <p:spPr>
          <a:xfrm>
            <a:off x="3868327" y="3406541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D8DA27BE-2566-777B-32F6-68E10A7E2B00}"/>
              </a:ext>
            </a:extLst>
          </p:cNvPr>
          <p:cNvSpPr/>
          <p:nvPr/>
        </p:nvSpPr>
        <p:spPr>
          <a:xfrm>
            <a:off x="3405152" y="3406541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CE85F8B2-D6F3-7901-768A-4ADD90FBD39A}"/>
              </a:ext>
            </a:extLst>
          </p:cNvPr>
          <p:cNvSpPr/>
          <p:nvPr/>
        </p:nvSpPr>
        <p:spPr>
          <a:xfrm>
            <a:off x="1895991" y="3542161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8DCB17C3-7E27-9D60-0054-10827BDE70B6}"/>
              </a:ext>
            </a:extLst>
          </p:cNvPr>
          <p:cNvSpPr/>
          <p:nvPr/>
        </p:nvSpPr>
        <p:spPr>
          <a:xfrm>
            <a:off x="1515651" y="3542161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93CCE915-3DF8-B282-475E-936723C14CBE}"/>
              </a:ext>
            </a:extLst>
          </p:cNvPr>
          <p:cNvSpPr/>
          <p:nvPr/>
        </p:nvSpPr>
        <p:spPr>
          <a:xfrm>
            <a:off x="1052319" y="3554069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C5CE64A1-F161-57E4-6F4E-BF188E7D5965}"/>
              </a:ext>
            </a:extLst>
          </p:cNvPr>
          <p:cNvSpPr/>
          <p:nvPr/>
        </p:nvSpPr>
        <p:spPr>
          <a:xfrm>
            <a:off x="641913" y="3564902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15C97BEF-8A36-D952-D5C1-FFF769D199A1}"/>
              </a:ext>
            </a:extLst>
          </p:cNvPr>
          <p:cNvSpPr/>
          <p:nvPr/>
        </p:nvSpPr>
        <p:spPr>
          <a:xfrm rot="5400000">
            <a:off x="7849450" y="3813283"/>
            <a:ext cx="351692" cy="1153737"/>
          </a:xfrm>
          <a:prstGeom prst="rightBrace">
            <a:avLst>
              <a:gd name="adj1" fmla="val 52333"/>
              <a:gd name="adj2" fmla="val 48575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AA6EE27F-E983-C78C-316D-618C2B598268}"/>
              </a:ext>
            </a:extLst>
          </p:cNvPr>
          <p:cNvSpPr/>
          <p:nvPr/>
        </p:nvSpPr>
        <p:spPr>
          <a:xfrm rot="5400000">
            <a:off x="5454362" y="4042139"/>
            <a:ext cx="351692" cy="647113"/>
          </a:xfrm>
          <a:prstGeom prst="rightBrace">
            <a:avLst>
              <a:gd name="adj1" fmla="val 52333"/>
              <a:gd name="adj2" fmla="val 48575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A8C0A8A1-3C8A-5418-AFD1-9028B6F200FE}"/>
              </a:ext>
            </a:extLst>
          </p:cNvPr>
          <p:cNvSpPr/>
          <p:nvPr/>
        </p:nvSpPr>
        <p:spPr>
          <a:xfrm rot="5400000">
            <a:off x="2947152" y="4171975"/>
            <a:ext cx="351692" cy="425691"/>
          </a:xfrm>
          <a:prstGeom prst="rightBrace">
            <a:avLst>
              <a:gd name="adj1" fmla="val 52333"/>
              <a:gd name="adj2" fmla="val 48575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14D054-A0AB-F088-7BD4-E6B1A5A17948}"/>
              </a:ext>
            </a:extLst>
          </p:cNvPr>
          <p:cNvSpPr txBox="1"/>
          <p:nvPr/>
        </p:nvSpPr>
        <p:spPr>
          <a:xfrm>
            <a:off x="7636184" y="4621920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Prefix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0EFF50-7790-27C2-E2DD-26235DC3A6BD}"/>
              </a:ext>
            </a:extLst>
          </p:cNvPr>
          <p:cNvSpPr txBox="1"/>
          <p:nvPr/>
        </p:nvSpPr>
        <p:spPr>
          <a:xfrm>
            <a:off x="5306651" y="4617772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4219BE-D73B-80CF-7028-5C7923AD3BB2}"/>
                  </a:ext>
                </a:extLst>
              </p:cNvPr>
              <p:cNvSpPr txBox="1"/>
              <p:nvPr/>
            </p:nvSpPr>
            <p:spPr>
              <a:xfrm>
                <a:off x="530913" y="4617772"/>
                <a:ext cx="1518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Prefix = </a:t>
                </a:r>
                <a14:m>
                  <m:oMath xmlns:m="http://schemas.openxmlformats.org/officeDocument/2006/math">
                    <m:r>
                      <a:rPr lang="en-IN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endParaRPr lang="en-I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4219BE-D73B-80CF-7028-5C7923AD3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13" y="4617772"/>
                <a:ext cx="1518797" cy="369332"/>
              </a:xfrm>
              <a:prstGeom prst="rect">
                <a:avLst/>
              </a:prstGeom>
              <a:blipFill>
                <a:blip r:embed="rId2"/>
                <a:stretch>
                  <a:fillRect l="-3614" t="-11667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1D6CE2C5-EA57-57F9-243B-B554F4AE6A72}"/>
              </a:ext>
            </a:extLst>
          </p:cNvPr>
          <p:cNvSpPr txBox="1"/>
          <p:nvPr/>
        </p:nvSpPr>
        <p:spPr>
          <a:xfrm>
            <a:off x="9902394" y="3571013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12C1F-06FF-3C94-E6B6-6D2D1CD4AD4F}"/>
              </a:ext>
            </a:extLst>
          </p:cNvPr>
          <p:cNvSpPr txBox="1"/>
          <p:nvPr/>
        </p:nvSpPr>
        <p:spPr>
          <a:xfrm>
            <a:off x="10352560" y="3571013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516D85-DB1F-B988-278A-9ABC0625E441}"/>
              </a:ext>
            </a:extLst>
          </p:cNvPr>
          <p:cNvSpPr txBox="1"/>
          <p:nvPr/>
        </p:nvSpPr>
        <p:spPr>
          <a:xfrm>
            <a:off x="10788658" y="3571013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E98E9F-1626-A029-A8F1-43AF01384B40}"/>
              </a:ext>
            </a:extLst>
          </p:cNvPr>
          <p:cNvSpPr txBox="1"/>
          <p:nvPr/>
        </p:nvSpPr>
        <p:spPr>
          <a:xfrm>
            <a:off x="11140350" y="3571013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C8707535-A9B7-F507-CB9B-BDA384DBBD3D}"/>
              </a:ext>
            </a:extLst>
          </p:cNvPr>
          <p:cNvSpPr/>
          <p:nvPr/>
        </p:nvSpPr>
        <p:spPr>
          <a:xfrm rot="5400000">
            <a:off x="10570165" y="3612691"/>
            <a:ext cx="351692" cy="1518798"/>
          </a:xfrm>
          <a:prstGeom prst="rightBrace">
            <a:avLst>
              <a:gd name="adj1" fmla="val 52333"/>
              <a:gd name="adj2" fmla="val 48575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D77C69-AC24-D5A4-E8A0-9F4B401A71C9}"/>
              </a:ext>
            </a:extLst>
          </p:cNvPr>
          <p:cNvSpPr txBox="1"/>
          <p:nvPr/>
        </p:nvSpPr>
        <p:spPr>
          <a:xfrm>
            <a:off x="10465616" y="4567543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Prefix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D08DD9-3780-17B6-4C07-8A3510284A42}"/>
              </a:ext>
            </a:extLst>
          </p:cNvPr>
          <p:cNvSpPr txBox="1"/>
          <p:nvPr/>
        </p:nvSpPr>
        <p:spPr>
          <a:xfrm>
            <a:off x="2798411" y="4623127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Prefix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1D4AF594-0B00-F153-AE54-AAF514F17B9D}"/>
              </a:ext>
            </a:extLst>
          </p:cNvPr>
          <p:cNvSpPr/>
          <p:nvPr/>
        </p:nvSpPr>
        <p:spPr>
          <a:xfrm rot="5400000">
            <a:off x="5715532" y="2178444"/>
            <a:ext cx="476466" cy="6132514"/>
          </a:xfrm>
          <a:prstGeom prst="rightBrace">
            <a:avLst>
              <a:gd name="adj1" fmla="val 37858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7276D4-D567-5641-00CD-85C723396A69}"/>
              </a:ext>
            </a:extLst>
          </p:cNvPr>
          <p:cNvSpPr txBox="1"/>
          <p:nvPr/>
        </p:nvSpPr>
        <p:spPr>
          <a:xfrm>
            <a:off x="4362784" y="5429410"/>
            <a:ext cx="4821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 Prefix </a:t>
            </a:r>
          </a:p>
        </p:txBody>
      </p:sp>
    </p:spTree>
    <p:extLst>
      <p:ext uri="{BB962C8B-B14F-4D97-AF65-F5344CB8AC3E}">
        <p14:creationId xmlns:p14="http://schemas.microsoft.com/office/powerpoint/2010/main" val="32311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7" grpId="0" animBg="1"/>
      <p:bldP spid="48" grpId="0"/>
      <p:bldP spid="49" grpId="0"/>
      <p:bldP spid="50" grpId="0" animBg="1"/>
      <p:bldP spid="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String Matching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33743" y="1042563"/>
            <a:ext cx="162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Basics:</a:t>
            </a:r>
            <a:r>
              <a:rPr lang="en-IN" sz="3200" b="1" dirty="0"/>
              <a:t>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C194E-9508-015A-C834-2AA076D7C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6" y="1617909"/>
            <a:ext cx="9427196" cy="107721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source-serif-pro"/>
              </a:rPr>
              <a:t>Suffix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: All the characters in a string, with </a:t>
            </a:r>
            <a:r>
              <a:rPr lang="en-US" altLang="en-US" sz="3200" b="1" dirty="0">
                <a:solidFill>
                  <a:srgbClr val="002060"/>
                </a:solidFill>
                <a:latin typeface="source-serif-pro"/>
              </a:rPr>
              <a:t>0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ource-serif-pro"/>
              </a:rPr>
              <a:t> or more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,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          cut off at the Beginning. 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F3E79-5C87-7583-2E6B-973FBB45F900}"/>
              </a:ext>
            </a:extLst>
          </p:cNvPr>
          <p:cNvSpPr txBox="1"/>
          <p:nvPr/>
        </p:nvSpPr>
        <p:spPr>
          <a:xfrm>
            <a:off x="530913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5FBC-0FB9-0EE8-A44F-477418098440}"/>
              </a:ext>
            </a:extLst>
          </p:cNvPr>
          <p:cNvSpPr txBox="1"/>
          <p:nvPr/>
        </p:nvSpPr>
        <p:spPr>
          <a:xfrm>
            <a:off x="981079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5AAFF-FFCB-BE35-1618-ACA8F82A93E4}"/>
              </a:ext>
            </a:extLst>
          </p:cNvPr>
          <p:cNvSpPr txBox="1"/>
          <p:nvPr/>
        </p:nvSpPr>
        <p:spPr>
          <a:xfrm>
            <a:off x="1417177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E55D9-80D0-FEF2-94E4-C43DAFB068E4}"/>
              </a:ext>
            </a:extLst>
          </p:cNvPr>
          <p:cNvSpPr txBox="1"/>
          <p:nvPr/>
        </p:nvSpPr>
        <p:spPr>
          <a:xfrm>
            <a:off x="1768869" y="291583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CEB66-BA81-774D-D9E1-E6945FC7960A}"/>
              </a:ext>
            </a:extLst>
          </p:cNvPr>
          <p:cNvSpPr txBox="1"/>
          <p:nvPr/>
        </p:nvSpPr>
        <p:spPr>
          <a:xfrm>
            <a:off x="3177874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3E8A3-10DB-269B-D310-C101F3E880F6}"/>
              </a:ext>
            </a:extLst>
          </p:cNvPr>
          <p:cNvSpPr txBox="1"/>
          <p:nvPr/>
        </p:nvSpPr>
        <p:spPr>
          <a:xfrm>
            <a:off x="3628040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567E5-808B-6F7C-D52D-1612E61130DF}"/>
              </a:ext>
            </a:extLst>
          </p:cNvPr>
          <p:cNvSpPr txBox="1"/>
          <p:nvPr/>
        </p:nvSpPr>
        <p:spPr>
          <a:xfrm>
            <a:off x="4064138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67F21-19BF-7CF3-804F-7A00F1B2653D}"/>
              </a:ext>
            </a:extLst>
          </p:cNvPr>
          <p:cNvSpPr txBox="1"/>
          <p:nvPr/>
        </p:nvSpPr>
        <p:spPr>
          <a:xfrm>
            <a:off x="4415830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870831-2D7E-8CF5-5D27-8587795EDD7A}"/>
              </a:ext>
            </a:extLst>
          </p:cNvPr>
          <p:cNvSpPr txBox="1"/>
          <p:nvPr/>
        </p:nvSpPr>
        <p:spPr>
          <a:xfrm>
            <a:off x="5330300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35645-D5EA-3F03-5D0E-F1E0F1F2C576}"/>
              </a:ext>
            </a:extLst>
          </p:cNvPr>
          <p:cNvSpPr txBox="1"/>
          <p:nvPr/>
        </p:nvSpPr>
        <p:spPr>
          <a:xfrm>
            <a:off x="5780466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F9673A-EB0A-BE63-1166-930D5D98E157}"/>
              </a:ext>
            </a:extLst>
          </p:cNvPr>
          <p:cNvSpPr txBox="1"/>
          <p:nvPr/>
        </p:nvSpPr>
        <p:spPr>
          <a:xfrm>
            <a:off x="6216564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81D823-23C1-B49F-A8CA-6D7010160C1B}"/>
              </a:ext>
            </a:extLst>
          </p:cNvPr>
          <p:cNvSpPr txBox="1"/>
          <p:nvPr/>
        </p:nvSpPr>
        <p:spPr>
          <a:xfrm>
            <a:off x="6568256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570E16-3182-63E5-B620-2EE6C554B2CD}"/>
              </a:ext>
            </a:extLst>
          </p:cNvPr>
          <p:cNvSpPr txBox="1"/>
          <p:nvPr/>
        </p:nvSpPr>
        <p:spPr>
          <a:xfrm>
            <a:off x="7848417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034C54-FBAF-71D2-60C6-2015DBB1F684}"/>
              </a:ext>
            </a:extLst>
          </p:cNvPr>
          <p:cNvSpPr txBox="1"/>
          <p:nvPr/>
        </p:nvSpPr>
        <p:spPr>
          <a:xfrm>
            <a:off x="8298583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A3EDF0-D72F-2217-EFD7-41B23C70970C}"/>
              </a:ext>
            </a:extLst>
          </p:cNvPr>
          <p:cNvSpPr txBox="1"/>
          <p:nvPr/>
        </p:nvSpPr>
        <p:spPr>
          <a:xfrm>
            <a:off x="8734681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60129-16DF-9168-F402-0F3C08EACBD4}"/>
              </a:ext>
            </a:extLst>
          </p:cNvPr>
          <p:cNvSpPr txBox="1"/>
          <p:nvPr/>
        </p:nvSpPr>
        <p:spPr>
          <a:xfrm>
            <a:off x="9086373" y="3609440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CB95C-A9BF-B705-A912-140215290FD9}"/>
              </a:ext>
            </a:extLst>
          </p:cNvPr>
          <p:cNvSpPr txBox="1"/>
          <p:nvPr/>
        </p:nvSpPr>
        <p:spPr>
          <a:xfrm>
            <a:off x="10018791" y="3586981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0E763D-603C-A9F9-C052-4795390A8D6D}"/>
              </a:ext>
            </a:extLst>
          </p:cNvPr>
          <p:cNvSpPr txBox="1"/>
          <p:nvPr/>
        </p:nvSpPr>
        <p:spPr>
          <a:xfrm>
            <a:off x="10468957" y="3586981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D396A5-7BF1-0158-81F8-31A3F6844707}"/>
              </a:ext>
            </a:extLst>
          </p:cNvPr>
          <p:cNvSpPr txBox="1"/>
          <p:nvPr/>
        </p:nvSpPr>
        <p:spPr>
          <a:xfrm>
            <a:off x="10905055" y="3586981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C4FEB2-7E49-B4AF-F622-AB59AF2DA18F}"/>
              </a:ext>
            </a:extLst>
          </p:cNvPr>
          <p:cNvSpPr txBox="1"/>
          <p:nvPr/>
        </p:nvSpPr>
        <p:spPr>
          <a:xfrm>
            <a:off x="11256747" y="3586981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66B14B1A-DE85-CD71-D6EB-20FFC907D22B}"/>
              </a:ext>
            </a:extLst>
          </p:cNvPr>
          <p:cNvSpPr/>
          <p:nvPr/>
        </p:nvSpPr>
        <p:spPr>
          <a:xfrm>
            <a:off x="11356763" y="343223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389E3769-02F6-F7FE-37E3-7E94E44BE6AD}"/>
              </a:ext>
            </a:extLst>
          </p:cNvPr>
          <p:cNvSpPr/>
          <p:nvPr/>
        </p:nvSpPr>
        <p:spPr>
          <a:xfrm>
            <a:off x="8387934" y="3432235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B12FEA42-1372-667D-AE0A-DB93CC8640EA}"/>
              </a:ext>
            </a:extLst>
          </p:cNvPr>
          <p:cNvSpPr/>
          <p:nvPr/>
        </p:nvSpPr>
        <p:spPr>
          <a:xfrm>
            <a:off x="8793295" y="343223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19E073F8-44B4-C59D-F673-635B169B2000}"/>
              </a:ext>
            </a:extLst>
          </p:cNvPr>
          <p:cNvSpPr/>
          <p:nvPr/>
        </p:nvSpPr>
        <p:spPr>
          <a:xfrm>
            <a:off x="5881783" y="343223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D8DA27BE-2566-777B-32F6-68E10A7E2B00}"/>
              </a:ext>
            </a:extLst>
          </p:cNvPr>
          <p:cNvSpPr/>
          <p:nvPr/>
        </p:nvSpPr>
        <p:spPr>
          <a:xfrm>
            <a:off x="5418608" y="343223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C5CE64A1-F161-57E4-6F4E-BF188E7D5965}"/>
              </a:ext>
            </a:extLst>
          </p:cNvPr>
          <p:cNvSpPr/>
          <p:nvPr/>
        </p:nvSpPr>
        <p:spPr>
          <a:xfrm>
            <a:off x="3288874" y="3545861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15C97BEF-8A36-D952-D5C1-FFF769D199A1}"/>
              </a:ext>
            </a:extLst>
          </p:cNvPr>
          <p:cNvSpPr/>
          <p:nvPr/>
        </p:nvSpPr>
        <p:spPr>
          <a:xfrm rot="5400000">
            <a:off x="9121496" y="4199547"/>
            <a:ext cx="351692" cy="421939"/>
          </a:xfrm>
          <a:prstGeom prst="rightBrace">
            <a:avLst>
              <a:gd name="adj1" fmla="val 52333"/>
              <a:gd name="adj2" fmla="val 48575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AA6EE27F-E983-C78C-316D-618C2B598268}"/>
              </a:ext>
            </a:extLst>
          </p:cNvPr>
          <p:cNvSpPr/>
          <p:nvPr/>
        </p:nvSpPr>
        <p:spPr>
          <a:xfrm rot="5400000">
            <a:off x="6462748" y="4098958"/>
            <a:ext cx="351692" cy="647113"/>
          </a:xfrm>
          <a:prstGeom prst="rightBrace">
            <a:avLst>
              <a:gd name="adj1" fmla="val 52333"/>
              <a:gd name="adj2" fmla="val 48575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A8C0A8A1-3C8A-5418-AFD1-9028B6F200FE}"/>
              </a:ext>
            </a:extLst>
          </p:cNvPr>
          <p:cNvSpPr/>
          <p:nvPr/>
        </p:nvSpPr>
        <p:spPr>
          <a:xfrm rot="5400000">
            <a:off x="4018274" y="4096810"/>
            <a:ext cx="330590" cy="830281"/>
          </a:xfrm>
          <a:prstGeom prst="rightBrace">
            <a:avLst>
              <a:gd name="adj1" fmla="val 52333"/>
              <a:gd name="adj2" fmla="val 50269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14D054-A0AB-F088-7BD4-E6B1A5A17948}"/>
              </a:ext>
            </a:extLst>
          </p:cNvPr>
          <p:cNvSpPr txBox="1"/>
          <p:nvPr/>
        </p:nvSpPr>
        <p:spPr>
          <a:xfrm>
            <a:off x="9022039" y="4561245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Suffix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0EFF50-7790-27C2-E2DD-26235DC3A6BD}"/>
              </a:ext>
            </a:extLst>
          </p:cNvPr>
          <p:cNvSpPr txBox="1"/>
          <p:nvPr/>
        </p:nvSpPr>
        <p:spPr>
          <a:xfrm>
            <a:off x="6343429" y="4686784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4219BE-D73B-80CF-7028-5C7923AD3BB2}"/>
              </a:ext>
            </a:extLst>
          </p:cNvPr>
          <p:cNvSpPr txBox="1"/>
          <p:nvPr/>
        </p:nvSpPr>
        <p:spPr>
          <a:xfrm>
            <a:off x="3806972" y="4733168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Suffix</a:t>
            </a:r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33A2D3BD-CC60-39ED-FD33-92F0554271F6}"/>
              </a:ext>
            </a:extLst>
          </p:cNvPr>
          <p:cNvSpPr/>
          <p:nvPr/>
        </p:nvSpPr>
        <p:spPr>
          <a:xfrm>
            <a:off x="7923300" y="3429000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Multiplication Sign 42">
            <a:extLst>
              <a:ext uri="{FF2B5EF4-FFF2-40B4-BE49-F238E27FC236}">
                <a16:creationId xmlns:a16="http://schemas.microsoft.com/office/drawing/2014/main" id="{3A6BC55C-6E74-8E25-3E35-D15473426595}"/>
              </a:ext>
            </a:extLst>
          </p:cNvPr>
          <p:cNvSpPr/>
          <p:nvPr/>
        </p:nvSpPr>
        <p:spPr>
          <a:xfrm>
            <a:off x="10511802" y="343223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2FB49C84-2824-E8D4-6806-B890F1F9F8EF}"/>
              </a:ext>
            </a:extLst>
          </p:cNvPr>
          <p:cNvSpPr/>
          <p:nvPr/>
        </p:nvSpPr>
        <p:spPr>
          <a:xfrm>
            <a:off x="10060158" y="343223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Multiplication Sign 44">
            <a:extLst>
              <a:ext uri="{FF2B5EF4-FFF2-40B4-BE49-F238E27FC236}">
                <a16:creationId xmlns:a16="http://schemas.microsoft.com/office/drawing/2014/main" id="{3BE4A26A-95CA-270F-799B-31F7AE782DFB}"/>
              </a:ext>
            </a:extLst>
          </p:cNvPr>
          <p:cNvSpPr/>
          <p:nvPr/>
        </p:nvSpPr>
        <p:spPr>
          <a:xfrm>
            <a:off x="10971412" y="3432236"/>
            <a:ext cx="228744" cy="309489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4F1926-4C82-3687-8755-527022726CB4}"/>
                  </a:ext>
                </a:extLst>
              </p:cNvPr>
              <p:cNvSpPr txBox="1"/>
              <p:nvPr/>
            </p:nvSpPr>
            <p:spPr>
              <a:xfrm>
                <a:off x="10174530" y="4619825"/>
                <a:ext cx="1518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Suffix =</a:t>
                </a:r>
                <a14:m>
                  <m:oMath xmlns:m="http://schemas.openxmlformats.org/officeDocument/2006/math">
                    <m:r>
                      <a:rPr lang="en-IN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endParaRPr lang="en-I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4F1926-4C82-3687-8755-527022726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530" y="4619825"/>
                <a:ext cx="1518797" cy="369332"/>
              </a:xfrm>
              <a:prstGeom prst="rect">
                <a:avLst/>
              </a:prstGeom>
              <a:blipFill>
                <a:blip r:embed="rId2"/>
                <a:stretch>
                  <a:fillRect l="-3614" t="-10000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CF8E5079-9672-E016-6AB4-5ADF10ECCCAB}"/>
              </a:ext>
            </a:extLst>
          </p:cNvPr>
          <p:cNvSpPr txBox="1"/>
          <p:nvPr/>
        </p:nvSpPr>
        <p:spPr>
          <a:xfrm>
            <a:off x="530913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75F2C9-3095-4C78-69C9-F4EEABCC37C7}"/>
              </a:ext>
            </a:extLst>
          </p:cNvPr>
          <p:cNvSpPr txBox="1"/>
          <p:nvPr/>
        </p:nvSpPr>
        <p:spPr>
          <a:xfrm>
            <a:off x="981079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DB1391-CFEA-8680-0E78-5E946C796D60}"/>
              </a:ext>
            </a:extLst>
          </p:cNvPr>
          <p:cNvSpPr txBox="1"/>
          <p:nvPr/>
        </p:nvSpPr>
        <p:spPr>
          <a:xfrm>
            <a:off x="1417177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E6942E-6D72-E957-5C6D-B4515954840D}"/>
              </a:ext>
            </a:extLst>
          </p:cNvPr>
          <p:cNvSpPr txBox="1"/>
          <p:nvPr/>
        </p:nvSpPr>
        <p:spPr>
          <a:xfrm>
            <a:off x="1768869" y="3700324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2B543AFB-37D1-6477-9222-190541849321}"/>
              </a:ext>
            </a:extLst>
          </p:cNvPr>
          <p:cNvSpPr/>
          <p:nvPr/>
        </p:nvSpPr>
        <p:spPr>
          <a:xfrm rot="5400000">
            <a:off x="1209426" y="3718574"/>
            <a:ext cx="279437" cy="1405912"/>
          </a:xfrm>
          <a:prstGeom prst="rightBrace">
            <a:avLst>
              <a:gd name="adj1" fmla="val 52333"/>
              <a:gd name="adj2" fmla="val 50269"/>
            </a:avLst>
          </a:prstGeom>
          <a:solidFill>
            <a:srgbClr val="00B05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BACEB3-D4E9-BEAB-C8B2-D40F9C046CBE}"/>
              </a:ext>
            </a:extLst>
          </p:cNvPr>
          <p:cNvSpPr txBox="1"/>
          <p:nvPr/>
        </p:nvSpPr>
        <p:spPr>
          <a:xfrm>
            <a:off x="1160011" y="4733168"/>
            <a:ext cx="151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Suffix</a:t>
            </a: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620130DF-8D27-645E-9C5D-AEDCCF491FF8}"/>
              </a:ext>
            </a:extLst>
          </p:cNvPr>
          <p:cNvSpPr/>
          <p:nvPr/>
        </p:nvSpPr>
        <p:spPr>
          <a:xfrm rot="5400000">
            <a:off x="6216676" y="2298684"/>
            <a:ext cx="476466" cy="6332071"/>
          </a:xfrm>
          <a:prstGeom prst="rightBrace">
            <a:avLst>
              <a:gd name="adj1" fmla="val 37858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EDF6F1-AD9C-52D8-E568-D5372A7764E5}"/>
              </a:ext>
            </a:extLst>
          </p:cNvPr>
          <p:cNvSpPr txBox="1"/>
          <p:nvPr/>
        </p:nvSpPr>
        <p:spPr>
          <a:xfrm>
            <a:off x="3744798" y="5647962"/>
            <a:ext cx="4821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 Suffix </a:t>
            </a:r>
          </a:p>
        </p:txBody>
      </p:sp>
    </p:spTree>
    <p:extLst>
      <p:ext uri="{BB962C8B-B14F-4D97-AF65-F5344CB8AC3E}">
        <p14:creationId xmlns:p14="http://schemas.microsoft.com/office/powerpoint/2010/main" val="94222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8" grpId="0"/>
      <p:bldP spid="9" grpId="0"/>
      <p:bldP spid="10" grpId="0"/>
      <p:bldP spid="11" grpId="0"/>
      <p:bldP spid="12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6" grpId="0" animBg="1"/>
      <p:bldP spid="27" grpId="0" animBg="1"/>
      <p:bldP spid="28" grpId="0" animBg="1"/>
      <p:bldP spid="30" grpId="0" animBg="1"/>
      <p:bldP spid="31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2" grpId="0" animBg="1"/>
      <p:bldP spid="53" grpId="0"/>
      <p:bldP spid="54" grpId="0" animBg="1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String Matching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33743" y="1042563"/>
            <a:ext cx="162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Basics:</a:t>
            </a:r>
            <a:r>
              <a:rPr lang="en-IN" sz="3200" b="1" dirty="0"/>
              <a:t>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C194E-9508-015A-C834-2AA076D7C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6" y="1864130"/>
            <a:ext cx="6075894" cy="5847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source-serif-pro"/>
              </a:rPr>
              <a:t>Proper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ource-serif-pro"/>
              </a:rPr>
              <a:t>Prefix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source-serif-pro"/>
              </a:rPr>
              <a:t> which is also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ource-serif-pro"/>
              </a:rPr>
              <a:t>suffix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source-serif-pro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F3E79-5C87-7583-2E6B-973FBB45F900}"/>
              </a:ext>
            </a:extLst>
          </p:cNvPr>
          <p:cNvSpPr txBox="1"/>
          <p:nvPr/>
        </p:nvSpPr>
        <p:spPr>
          <a:xfrm>
            <a:off x="4118174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5FBC-0FB9-0EE8-A44F-477418098440}"/>
              </a:ext>
            </a:extLst>
          </p:cNvPr>
          <p:cNvSpPr txBox="1"/>
          <p:nvPr/>
        </p:nvSpPr>
        <p:spPr>
          <a:xfrm>
            <a:off x="4568340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5AAFF-FFCB-BE35-1618-ACA8F82A93E4}"/>
              </a:ext>
            </a:extLst>
          </p:cNvPr>
          <p:cNvSpPr txBox="1"/>
          <p:nvPr/>
        </p:nvSpPr>
        <p:spPr>
          <a:xfrm>
            <a:off x="5004438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E55D9-80D0-FEF2-94E4-C43DAFB068E4}"/>
              </a:ext>
            </a:extLst>
          </p:cNvPr>
          <p:cNvSpPr txBox="1"/>
          <p:nvPr/>
        </p:nvSpPr>
        <p:spPr>
          <a:xfrm>
            <a:off x="5356130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6D33D2-514D-7E63-71CE-B6E95CE323B3}"/>
              </a:ext>
            </a:extLst>
          </p:cNvPr>
          <p:cNvSpPr txBox="1"/>
          <p:nvPr/>
        </p:nvSpPr>
        <p:spPr>
          <a:xfrm>
            <a:off x="5760432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1A640C-2814-4499-588D-36F0483552EE}"/>
              </a:ext>
            </a:extLst>
          </p:cNvPr>
          <p:cNvSpPr txBox="1"/>
          <p:nvPr/>
        </p:nvSpPr>
        <p:spPr>
          <a:xfrm>
            <a:off x="6210598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B8AB1D0B-C3F6-4818-3377-3A735D4D0D8B}"/>
              </a:ext>
            </a:extLst>
          </p:cNvPr>
          <p:cNvSpPr/>
          <p:nvPr/>
        </p:nvSpPr>
        <p:spPr>
          <a:xfrm rot="5400000">
            <a:off x="4327503" y="3610555"/>
            <a:ext cx="344656" cy="763315"/>
          </a:xfrm>
          <a:prstGeom prst="rightBrace">
            <a:avLst>
              <a:gd name="adj1" fmla="val 16228"/>
              <a:gd name="adj2" fmla="val 50608"/>
            </a:avLst>
          </a:prstGeom>
          <a:solidFill>
            <a:schemeClr val="bg1">
              <a:lumMod val="75000"/>
            </a:schemeClr>
          </a:solidFill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12625F10-F561-08B8-78DC-19FFE9E67BC2}"/>
              </a:ext>
            </a:extLst>
          </p:cNvPr>
          <p:cNvSpPr/>
          <p:nvPr/>
        </p:nvSpPr>
        <p:spPr>
          <a:xfrm rot="5400000">
            <a:off x="6001557" y="3565338"/>
            <a:ext cx="344656" cy="763315"/>
          </a:xfrm>
          <a:prstGeom prst="rightBrace">
            <a:avLst>
              <a:gd name="adj1" fmla="val 16228"/>
              <a:gd name="adj2" fmla="val 50608"/>
            </a:avLst>
          </a:prstGeom>
          <a:solidFill>
            <a:schemeClr val="bg1">
              <a:lumMod val="75000"/>
            </a:schemeClr>
          </a:solidFill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152A0C-192A-7D98-A7D5-E4D6AFDD66B2}"/>
              </a:ext>
            </a:extLst>
          </p:cNvPr>
          <p:cNvSpPr txBox="1"/>
          <p:nvPr/>
        </p:nvSpPr>
        <p:spPr>
          <a:xfrm>
            <a:off x="4093809" y="4164540"/>
            <a:ext cx="928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Prefix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4EE9B6-5131-0890-576D-88B1474E9234}"/>
              </a:ext>
            </a:extLst>
          </p:cNvPr>
          <p:cNvSpPr txBox="1"/>
          <p:nvPr/>
        </p:nvSpPr>
        <p:spPr>
          <a:xfrm>
            <a:off x="5788566" y="4164540"/>
            <a:ext cx="928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Suffix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C61911-3527-E50C-ADCD-0D90E72ACD7A}"/>
              </a:ext>
            </a:extLst>
          </p:cNvPr>
          <p:cNvSpPr txBox="1"/>
          <p:nvPr/>
        </p:nvSpPr>
        <p:spPr>
          <a:xfrm>
            <a:off x="5190976" y="4122840"/>
            <a:ext cx="407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43134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51" grpId="0"/>
      <p:bldP spid="56" grpId="0"/>
      <p:bldP spid="2" grpId="0" animBg="1"/>
      <p:bldP spid="57" grpId="0" animBg="1"/>
      <p:bldP spid="29" grpId="0"/>
      <p:bldP spid="58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String Matching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33743" y="1042563"/>
            <a:ext cx="162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Basics:</a:t>
            </a:r>
            <a:r>
              <a:rPr lang="en-IN" sz="3200" b="1" dirty="0"/>
              <a:t>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C194E-9508-015A-C834-2AA076D7C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6" y="1864130"/>
            <a:ext cx="6075894" cy="5847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source-serif-pro"/>
              </a:rPr>
              <a:t>Proper Prefix which is also a suffix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F3E79-5C87-7583-2E6B-973FBB45F900}"/>
              </a:ext>
            </a:extLst>
          </p:cNvPr>
          <p:cNvSpPr txBox="1"/>
          <p:nvPr/>
        </p:nvSpPr>
        <p:spPr>
          <a:xfrm>
            <a:off x="4118174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5FBC-0FB9-0EE8-A44F-477418098440}"/>
              </a:ext>
            </a:extLst>
          </p:cNvPr>
          <p:cNvSpPr txBox="1"/>
          <p:nvPr/>
        </p:nvSpPr>
        <p:spPr>
          <a:xfrm>
            <a:off x="4568340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5AAFF-FFCB-BE35-1618-ACA8F82A93E4}"/>
              </a:ext>
            </a:extLst>
          </p:cNvPr>
          <p:cNvSpPr txBox="1"/>
          <p:nvPr/>
        </p:nvSpPr>
        <p:spPr>
          <a:xfrm>
            <a:off x="6717034" y="3172436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E55D9-80D0-FEF2-94E4-C43DAFB068E4}"/>
              </a:ext>
            </a:extLst>
          </p:cNvPr>
          <p:cNvSpPr txBox="1"/>
          <p:nvPr/>
        </p:nvSpPr>
        <p:spPr>
          <a:xfrm>
            <a:off x="5356130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6D33D2-514D-7E63-71CE-B6E95CE323B3}"/>
              </a:ext>
            </a:extLst>
          </p:cNvPr>
          <p:cNvSpPr txBox="1"/>
          <p:nvPr/>
        </p:nvSpPr>
        <p:spPr>
          <a:xfrm>
            <a:off x="5760432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1A640C-2814-4499-588D-36F0483552EE}"/>
              </a:ext>
            </a:extLst>
          </p:cNvPr>
          <p:cNvSpPr txBox="1"/>
          <p:nvPr/>
        </p:nvSpPr>
        <p:spPr>
          <a:xfrm>
            <a:off x="6210598" y="3173552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B8AB1D0B-C3F6-4818-3377-3A735D4D0D8B}"/>
              </a:ext>
            </a:extLst>
          </p:cNvPr>
          <p:cNvSpPr/>
          <p:nvPr/>
        </p:nvSpPr>
        <p:spPr>
          <a:xfrm rot="5400000">
            <a:off x="4596618" y="3425863"/>
            <a:ext cx="344656" cy="1072802"/>
          </a:xfrm>
          <a:prstGeom prst="rightBrace">
            <a:avLst>
              <a:gd name="adj1" fmla="val 16228"/>
              <a:gd name="adj2" fmla="val 50608"/>
            </a:avLst>
          </a:prstGeom>
          <a:solidFill>
            <a:schemeClr val="bg1">
              <a:lumMod val="75000"/>
            </a:schemeClr>
          </a:solidFill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12625F10-F561-08B8-78DC-19FFE9E67BC2}"/>
              </a:ext>
            </a:extLst>
          </p:cNvPr>
          <p:cNvSpPr/>
          <p:nvPr/>
        </p:nvSpPr>
        <p:spPr>
          <a:xfrm rot="5400000">
            <a:off x="6224299" y="3342597"/>
            <a:ext cx="344656" cy="1208799"/>
          </a:xfrm>
          <a:prstGeom prst="rightBrace">
            <a:avLst>
              <a:gd name="adj1" fmla="val 16228"/>
              <a:gd name="adj2" fmla="val 50608"/>
            </a:avLst>
          </a:prstGeom>
          <a:solidFill>
            <a:schemeClr val="bg1">
              <a:lumMod val="75000"/>
            </a:schemeClr>
          </a:solidFill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152A0C-192A-7D98-A7D5-E4D6AFDD66B2}"/>
              </a:ext>
            </a:extLst>
          </p:cNvPr>
          <p:cNvSpPr txBox="1"/>
          <p:nvPr/>
        </p:nvSpPr>
        <p:spPr>
          <a:xfrm>
            <a:off x="4275661" y="4164540"/>
            <a:ext cx="928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Prefix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4EE9B6-5131-0890-576D-88B1474E9234}"/>
              </a:ext>
            </a:extLst>
          </p:cNvPr>
          <p:cNvSpPr txBox="1"/>
          <p:nvPr/>
        </p:nvSpPr>
        <p:spPr>
          <a:xfrm>
            <a:off x="5788566" y="4164540"/>
            <a:ext cx="928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Suffix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C61911-3527-E50C-ADCD-0D90E72ACD7A}"/>
              </a:ext>
            </a:extLst>
          </p:cNvPr>
          <p:cNvSpPr txBox="1"/>
          <p:nvPr/>
        </p:nvSpPr>
        <p:spPr>
          <a:xfrm>
            <a:off x="5190976" y="4122840"/>
            <a:ext cx="407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4DD36-7C7E-C2D1-8F63-83BFCB97446F}"/>
              </a:ext>
            </a:extLst>
          </p:cNvPr>
          <p:cNvSpPr txBox="1"/>
          <p:nvPr/>
        </p:nvSpPr>
        <p:spPr>
          <a:xfrm>
            <a:off x="5004437" y="3155356"/>
            <a:ext cx="53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50405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51" grpId="0"/>
      <p:bldP spid="56" grpId="0"/>
      <p:bldP spid="2" grpId="0" animBg="1"/>
      <p:bldP spid="57" grpId="0" animBg="1"/>
      <p:bldP spid="29" grpId="0"/>
      <p:bldP spid="58" grpId="0"/>
      <p:bldP spid="32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String Matching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33743" y="1042563"/>
            <a:ext cx="162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Basics:</a:t>
            </a:r>
            <a:r>
              <a:rPr lang="en-IN" sz="3200" b="1" dirty="0"/>
              <a:t>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C194E-9508-015A-C834-2AA076D7C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6" y="1864130"/>
            <a:ext cx="4941161" cy="5847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source-serif-pro"/>
              </a:rPr>
              <a:t>Prefix which is also a suffix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F3E79-5C87-7583-2E6B-973FBB45F900}"/>
              </a:ext>
            </a:extLst>
          </p:cNvPr>
          <p:cNvSpPr txBox="1"/>
          <p:nvPr/>
        </p:nvSpPr>
        <p:spPr>
          <a:xfrm>
            <a:off x="4118173" y="3173552"/>
            <a:ext cx="1171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5FBC-0FB9-0EE8-A44F-477418098440}"/>
              </a:ext>
            </a:extLst>
          </p:cNvPr>
          <p:cNvSpPr txBox="1"/>
          <p:nvPr/>
        </p:nvSpPr>
        <p:spPr>
          <a:xfrm>
            <a:off x="4568339" y="3173552"/>
            <a:ext cx="1171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E55D9-80D0-FEF2-94E4-C43DAFB068E4}"/>
              </a:ext>
            </a:extLst>
          </p:cNvPr>
          <p:cNvSpPr txBox="1"/>
          <p:nvPr/>
        </p:nvSpPr>
        <p:spPr>
          <a:xfrm>
            <a:off x="5356129" y="3173552"/>
            <a:ext cx="1171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4DD36-7C7E-C2D1-8F63-83BFCB97446F}"/>
              </a:ext>
            </a:extLst>
          </p:cNvPr>
          <p:cNvSpPr txBox="1"/>
          <p:nvPr/>
        </p:nvSpPr>
        <p:spPr>
          <a:xfrm>
            <a:off x="5004436" y="3155356"/>
            <a:ext cx="1171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3A6D0-432B-35CD-11D6-B2953ED704FB}"/>
              </a:ext>
            </a:extLst>
          </p:cNvPr>
          <p:cNvSpPr txBox="1"/>
          <p:nvPr/>
        </p:nvSpPr>
        <p:spPr>
          <a:xfrm>
            <a:off x="2011680" y="4965895"/>
            <a:ext cx="8004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There is </a:t>
            </a:r>
            <a:r>
              <a:rPr lang="en-IN" sz="5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en-IN" sz="3600" b="1" dirty="0"/>
              <a:t> prefix which is also a suffix </a:t>
            </a:r>
          </a:p>
        </p:txBody>
      </p:sp>
    </p:spTree>
    <p:extLst>
      <p:ext uri="{BB962C8B-B14F-4D97-AF65-F5344CB8AC3E}">
        <p14:creationId xmlns:p14="http://schemas.microsoft.com/office/powerpoint/2010/main" val="11367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String Matching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9CE67-7050-46E1-DE22-9A879BC13FA8}"/>
              </a:ext>
            </a:extLst>
          </p:cNvPr>
          <p:cNvSpPr txBox="1"/>
          <p:nvPr/>
        </p:nvSpPr>
        <p:spPr>
          <a:xfrm>
            <a:off x="118149" y="1239511"/>
            <a:ext cx="162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Steps:</a:t>
            </a:r>
            <a:r>
              <a:rPr lang="en-IN" sz="3200" b="1" dirty="0"/>
              <a:t>                                    </a:t>
            </a:r>
            <a:endParaRPr lang="en-IN" sz="32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47650-AAB5-A42F-9C83-BCB318EC3361}"/>
              </a:ext>
            </a:extLst>
          </p:cNvPr>
          <p:cNvSpPr txBox="1"/>
          <p:nvPr/>
        </p:nvSpPr>
        <p:spPr>
          <a:xfrm>
            <a:off x="225082" y="2474893"/>
            <a:ext cx="12192000" cy="1317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i="1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Build a </a:t>
            </a:r>
            <a:r>
              <a:rPr lang="en-US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LPS</a:t>
            </a:r>
            <a:r>
              <a:rPr lang="en-US" sz="2800" b="0" i="1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(</a:t>
            </a:r>
            <a:r>
              <a:rPr lang="en-US" sz="2800" b="0" i="1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Longest </a:t>
            </a:r>
            <a:r>
              <a:rPr lang="en-US" sz="2800" b="1" i="1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Proper Prefix </a:t>
            </a:r>
            <a:r>
              <a:rPr lang="en-US" sz="2800" b="0" i="1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which is also a Suffix</a:t>
            </a:r>
            <a:r>
              <a:rPr lang="en-US" sz="2800" b="0" i="1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) Table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IN" sz="2800" b="1" i="1" dirty="0">
                <a:solidFill>
                  <a:srgbClr val="242424"/>
                </a:solidFill>
                <a:latin typeface="Comic Sans MS" panose="030F0702030302020204" pitchFamily="66" charset="0"/>
              </a:rPr>
              <a:t>P</a:t>
            </a:r>
            <a:r>
              <a:rPr lang="en-IN" sz="2800" b="1" i="1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erform string matching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43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45621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176787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DFF7EA-19DA-55A6-732B-F03D60AC5E82}"/>
              </a:ext>
            </a:extLst>
          </p:cNvPr>
          <p:cNvSpPr txBox="1"/>
          <p:nvPr/>
        </p:nvSpPr>
        <p:spPr>
          <a:xfrm>
            <a:off x="6914623" y="4359945"/>
            <a:ext cx="4731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Stores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Length of Longest proper Prefix which is also a suffix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Pattern</a:t>
            </a:r>
          </a:p>
        </p:txBody>
      </p:sp>
    </p:spTree>
    <p:extLst>
      <p:ext uri="{BB962C8B-B14F-4D97-AF65-F5344CB8AC3E}">
        <p14:creationId xmlns:p14="http://schemas.microsoft.com/office/powerpoint/2010/main" val="458030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/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/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68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22337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29471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38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76306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692394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52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172831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506385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22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627948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0010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60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929834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039801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7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820873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/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98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271895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105127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08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434069"/>
              </p:ext>
            </p:extLst>
          </p:nvPr>
        </p:nvGraphicFramePr>
        <p:xfrm>
          <a:off x="856134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753501"/>
              </p:ext>
            </p:extLst>
          </p:nvPr>
        </p:nvGraphicFramePr>
        <p:xfrm>
          <a:off x="6734086" y="2683092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58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020743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F84C92-1B08-E32B-85B0-E458791F9755}"/>
              </a:ext>
            </a:extLst>
          </p:cNvPr>
          <p:cNvSpPr txBox="1"/>
          <p:nvPr/>
        </p:nvSpPr>
        <p:spPr>
          <a:xfrm>
            <a:off x="2883994" y="1115949"/>
            <a:ext cx="4668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Another Example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674274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9745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485745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38175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11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236775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054951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32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53687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/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498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776345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452665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77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2301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76201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0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598776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/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2868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401779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947056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37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289836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/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9556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458526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403463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0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606229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/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749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542363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594344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08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952978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/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519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22622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05767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25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01870"/>
              </p:ext>
            </p:extLst>
          </p:nvPr>
        </p:nvGraphicFramePr>
        <p:xfrm>
          <a:off x="256346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85587" y="2159872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52522" y="2159872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43C5FA8C-B152-9936-7D48-FFAD2744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610924"/>
              </p:ext>
            </p:extLst>
          </p:nvPr>
        </p:nvGraphicFramePr>
        <p:xfrm>
          <a:off x="6473655" y="2693963"/>
          <a:ext cx="4911624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736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601191042"/>
                    </a:ext>
                  </a:extLst>
                </a:gridCol>
                <a:gridCol w="545736">
                  <a:extLst>
                    <a:ext uri="{9D8B030D-6E8A-4147-A177-3AD203B41FA5}">
                      <a16:colId xmlns:a16="http://schemas.microsoft.com/office/drawing/2014/main" val="305234037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31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KMP Pattern Matching Algorithm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C261CB-5DB3-84D4-886A-07984E51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264377"/>
              </p:ext>
            </p:extLst>
          </p:nvPr>
        </p:nvGraphicFramePr>
        <p:xfrm>
          <a:off x="827998" y="1443181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BF02D-426D-A411-C2EC-DD0266C5547C}"/>
              </a:ext>
            </a:extLst>
          </p:cNvPr>
          <p:cNvSpPr txBox="1"/>
          <p:nvPr/>
        </p:nvSpPr>
        <p:spPr>
          <a:xfrm>
            <a:off x="1871519" y="1402676"/>
            <a:ext cx="1716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Pattern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14991BE-03E4-7C4C-06EC-064FFAC8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596717"/>
              </p:ext>
            </p:extLst>
          </p:nvPr>
        </p:nvGraphicFramePr>
        <p:xfrm>
          <a:off x="7057644" y="1443181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DA6192-4B83-6AF1-5758-D3EDEC674D40}"/>
              </a:ext>
            </a:extLst>
          </p:cNvPr>
          <p:cNvSpPr txBox="1"/>
          <p:nvPr/>
        </p:nvSpPr>
        <p:spPr>
          <a:xfrm>
            <a:off x="7566589" y="1402676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702FE1-52F0-3CD3-6A37-83E10A8E9B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818"/>
          <a:stretch/>
        </p:blipFill>
        <p:spPr>
          <a:xfrm>
            <a:off x="827998" y="4249137"/>
            <a:ext cx="10730325" cy="8433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65694F-4EFE-BFA2-0768-D4AABFCF8DB4}"/>
              </a:ext>
            </a:extLst>
          </p:cNvPr>
          <p:cNvSpPr txBox="1"/>
          <p:nvPr/>
        </p:nvSpPr>
        <p:spPr>
          <a:xfrm>
            <a:off x="799033" y="3664362"/>
            <a:ext cx="248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00390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2CAED4-10F3-03C3-8FC2-4D123D513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3" y="3626795"/>
            <a:ext cx="10578904" cy="137693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706667"/>
              </p:ext>
            </p:extLst>
          </p:nvPr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527886"/>
              </p:ext>
            </p:extLst>
          </p:nvPr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740F43-F745-17F0-B5E6-9272A8B8E11C}"/>
              </a:ext>
            </a:extLst>
          </p:cNvPr>
          <p:cNvSpPr txBox="1"/>
          <p:nvPr/>
        </p:nvSpPr>
        <p:spPr>
          <a:xfrm>
            <a:off x="2208628" y="5486400"/>
            <a:ext cx="7498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No of Shift  = </a:t>
            </a:r>
            <a:r>
              <a:rPr lang="en-IN" sz="3200" b="1" dirty="0">
                <a:solidFill>
                  <a:srgbClr val="00B050"/>
                </a:solidFill>
              </a:rPr>
              <a:t>length(ABC) - 0   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                      = 3 – 0  = 3 </a:t>
            </a:r>
          </a:p>
        </p:txBody>
      </p:sp>
    </p:spTree>
    <p:extLst>
      <p:ext uri="{BB962C8B-B14F-4D97-AF65-F5344CB8AC3E}">
        <p14:creationId xmlns:p14="http://schemas.microsoft.com/office/powerpoint/2010/main" val="252409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07273"/>
              </p:ext>
            </p:extLst>
          </p:nvPr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FF06E3A-D5DF-68D0-12EE-2C510E3B0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1" y="3232536"/>
            <a:ext cx="11172460" cy="151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470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454105"/>
              </p:ext>
            </p:extLst>
          </p:nvPr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740F43-F745-17F0-B5E6-9272A8B8E11C}"/>
              </a:ext>
            </a:extLst>
          </p:cNvPr>
          <p:cNvSpPr txBox="1"/>
          <p:nvPr/>
        </p:nvSpPr>
        <p:spPr>
          <a:xfrm>
            <a:off x="2208628" y="5486400"/>
            <a:ext cx="7498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No of Shift  = </a:t>
            </a:r>
            <a:r>
              <a:rPr lang="en-IN" sz="3200" b="1" dirty="0">
                <a:solidFill>
                  <a:srgbClr val="00B050"/>
                </a:solidFill>
              </a:rPr>
              <a:t>length(ABCDAB) - 2   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                      = 6 – 2  = 4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06E3A-D5DF-68D0-12EE-2C510E3B0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1" y="3232536"/>
            <a:ext cx="11172460" cy="151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4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46249"/>
              </p:ext>
            </p:extLst>
          </p:nvPr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87BF05-9C49-7F87-E865-7140227B1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3" y="3267235"/>
            <a:ext cx="11325784" cy="14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625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740F43-F745-17F0-B5E6-9272A8B8E11C}"/>
              </a:ext>
            </a:extLst>
          </p:cNvPr>
          <p:cNvSpPr txBox="1"/>
          <p:nvPr/>
        </p:nvSpPr>
        <p:spPr>
          <a:xfrm>
            <a:off x="2208628" y="5486400"/>
            <a:ext cx="7498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No of Shift  = </a:t>
            </a:r>
            <a:r>
              <a:rPr lang="en-IN" sz="3200" b="1" dirty="0">
                <a:solidFill>
                  <a:srgbClr val="00B050"/>
                </a:solidFill>
              </a:rPr>
              <a:t>length(AB) - 0  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                      = 2 – 0  = 2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7BF05-9C49-7F87-E865-7140227B1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3" y="3267235"/>
            <a:ext cx="11325784" cy="14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9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750201"/>
              </p:ext>
            </p:extLst>
          </p:nvPr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5FE9304-7C13-4FB1-6580-1B9627828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06" y="3245898"/>
            <a:ext cx="11154294" cy="146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519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740F43-F745-17F0-B5E6-9272A8B8E11C}"/>
              </a:ext>
            </a:extLst>
          </p:cNvPr>
          <p:cNvSpPr txBox="1"/>
          <p:nvPr/>
        </p:nvSpPr>
        <p:spPr>
          <a:xfrm>
            <a:off x="2208628" y="5486400"/>
            <a:ext cx="7498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No of Shift  = </a:t>
            </a:r>
            <a:r>
              <a:rPr lang="en-IN" sz="3200" b="1" dirty="0">
                <a:solidFill>
                  <a:srgbClr val="00B050"/>
                </a:solidFill>
              </a:rPr>
              <a:t>length(ABCDAB) - 2  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                      = 6 – 2  =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FE9304-7C13-4FB1-6580-1B9627828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06" y="3245898"/>
            <a:ext cx="11154294" cy="146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5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FA50D-66D6-0068-8BC0-08F0B275A445}"/>
              </a:ext>
            </a:extLst>
          </p:cNvPr>
          <p:cNvSpPr txBox="1"/>
          <p:nvPr/>
        </p:nvSpPr>
        <p:spPr>
          <a:xfrm>
            <a:off x="647113" y="2498250"/>
            <a:ext cx="275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LPS Table 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5823FB76-A1C6-BBBA-446A-8FC1A7B1D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574625"/>
              </p:ext>
            </p:extLst>
          </p:nvPr>
        </p:nvGraphicFramePr>
        <p:xfrm>
          <a:off x="2935810" y="1529654"/>
          <a:ext cx="4911620" cy="149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43148"/>
                  </a:ext>
                </a:extLst>
              </a:tr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3D4306B3-F60D-7AC2-2B10-6AC9E82078B5}"/>
              </a:ext>
            </a:extLst>
          </p:cNvPr>
          <p:cNvGraphicFramePr>
            <a:graphicFrameLocks noGrp="1"/>
          </p:cNvGraphicFramePr>
          <p:nvPr/>
        </p:nvGraphicFramePr>
        <p:xfrm>
          <a:off x="2935810" y="1529654"/>
          <a:ext cx="4911620" cy="722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660">
                  <a:extLst>
                    <a:ext uri="{9D8B030D-6E8A-4147-A177-3AD203B41FA5}">
                      <a16:colId xmlns:a16="http://schemas.microsoft.com/office/drawing/2014/main" val="3214951107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41203135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70841387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1424365204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3221200678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541896075"/>
                    </a:ext>
                  </a:extLst>
                </a:gridCol>
                <a:gridCol w="701660">
                  <a:extLst>
                    <a:ext uri="{9D8B030D-6E8A-4147-A177-3AD203B41FA5}">
                      <a16:colId xmlns:a16="http://schemas.microsoft.com/office/drawing/2014/main" val="2350376305"/>
                    </a:ext>
                  </a:extLst>
                </a:gridCol>
              </a:tblGrid>
              <a:tr h="722831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3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93359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A813AF1-1A7B-EA43-FA2F-7A6F9FC6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3" y="3411640"/>
            <a:ext cx="10972801" cy="1507445"/>
          </a:xfrm>
          <a:prstGeom prst="rect">
            <a:avLst/>
          </a:prstGeom>
        </p:spPr>
      </p:pic>
      <p:sp>
        <p:nvSpPr>
          <p:cNvPr id="6" name="Star: 8 Points 5">
            <a:extLst>
              <a:ext uri="{FF2B5EF4-FFF2-40B4-BE49-F238E27FC236}">
                <a16:creationId xmlns:a16="http://schemas.microsoft.com/office/drawing/2014/main" id="{96C04EFA-724E-A714-2D45-CF25CBEA81A9}"/>
              </a:ext>
            </a:extLst>
          </p:cNvPr>
          <p:cNvSpPr/>
          <p:nvPr/>
        </p:nvSpPr>
        <p:spPr>
          <a:xfrm rot="20033282">
            <a:off x="7666894" y="4923216"/>
            <a:ext cx="2293033" cy="1737360"/>
          </a:xfrm>
          <a:prstGeom prst="star8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 Found</a:t>
            </a:r>
          </a:p>
        </p:txBody>
      </p:sp>
    </p:spTree>
    <p:extLst>
      <p:ext uri="{BB962C8B-B14F-4D97-AF65-F5344CB8AC3E}">
        <p14:creationId xmlns:p14="http://schemas.microsoft.com/office/powerpoint/2010/main" val="425606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754544-F73F-0B85-F633-13EFA93FDDBC}"/>
              </a:ext>
            </a:extLst>
          </p:cNvPr>
          <p:cNvSpPr txBox="1"/>
          <p:nvPr/>
        </p:nvSpPr>
        <p:spPr>
          <a:xfrm>
            <a:off x="1420837" y="2082018"/>
            <a:ext cx="883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 </a:t>
            </a:r>
            <a:r>
              <a:rPr lang="en-IN" sz="4400" dirty="0"/>
              <a:t>= O( </a:t>
            </a:r>
            <a:r>
              <a:rPr lang="en-IN" sz="4400" b="1" dirty="0">
                <a:solidFill>
                  <a:srgbClr val="00B050"/>
                </a:solidFill>
              </a:rPr>
              <a:t>|P| + |T|</a:t>
            </a:r>
            <a:r>
              <a:rPr lang="en-IN" sz="4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3AE21-BB74-9BC0-94BD-B4A41F1C4650}"/>
              </a:ext>
            </a:extLst>
          </p:cNvPr>
          <p:cNvSpPr txBox="1"/>
          <p:nvPr/>
        </p:nvSpPr>
        <p:spPr>
          <a:xfrm>
            <a:off x="1420836" y="3793994"/>
            <a:ext cx="883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Space Complexity </a:t>
            </a:r>
            <a:r>
              <a:rPr lang="en-IN" sz="4400" dirty="0"/>
              <a:t>= O( </a:t>
            </a:r>
            <a:r>
              <a:rPr lang="en-IN" sz="4400" b="1" dirty="0">
                <a:solidFill>
                  <a:srgbClr val="7030A0"/>
                </a:solidFill>
              </a:rPr>
              <a:t>|P| + |T|</a:t>
            </a:r>
            <a:r>
              <a:rPr lang="en-IN" sz="4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12828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pic>
        <p:nvPicPr>
          <p:cNvPr id="3074" name="Picture 2" descr="How to explain KMP algorithm in very simple terms - Quora">
            <a:extLst>
              <a:ext uri="{FF2B5EF4-FFF2-40B4-BE49-F238E27FC236}">
                <a16:creationId xmlns:a16="http://schemas.microsoft.com/office/drawing/2014/main" id="{35E929EF-8469-7ABE-14F6-A6FF5D70E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1" y="1139483"/>
            <a:ext cx="6981371" cy="573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8457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BD1E4D-977E-CB8D-4963-18B1EA713784}"/>
              </a:ext>
            </a:extLst>
          </p:cNvPr>
          <p:cNvSpPr/>
          <p:nvPr/>
        </p:nvSpPr>
        <p:spPr>
          <a:xfrm>
            <a:off x="0" y="0"/>
            <a:ext cx="12192000" cy="11394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>
                <a:latin typeface="Arial Black" panose="020B0A04020102020204" pitchFamily="34" charset="0"/>
              </a:rPr>
              <a:t>KMP Pattern Matching Algorithm 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pic>
        <p:nvPicPr>
          <p:cNvPr id="5122" name="Picture 2" descr="Java: KMP matcher algorithm - Stack Overflow">
            <a:extLst>
              <a:ext uri="{FF2B5EF4-FFF2-40B4-BE49-F238E27FC236}">
                <a16:creationId xmlns:a16="http://schemas.microsoft.com/office/drawing/2014/main" id="{7B45C286-6AC7-BD38-7D05-5A3A5ACB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9483"/>
            <a:ext cx="8495032" cy="5718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3196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934818" y="2822713"/>
            <a:ext cx="10508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Lecture:</a:t>
            </a:r>
            <a:r>
              <a:rPr lang="en-IN" sz="9600" dirty="0">
                <a:solidFill>
                  <a:srgbClr val="00B050"/>
                </a:solidFill>
                <a:latin typeface="Arial Black" panose="020B0A04020102020204" pitchFamily="34" charset="0"/>
              </a:rPr>
              <a:t>32</a:t>
            </a:r>
            <a:endParaRPr lang="en-IN" sz="60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341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934818" y="2822713"/>
            <a:ext cx="10508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NP Completeness</a:t>
            </a:r>
          </a:p>
        </p:txBody>
      </p:sp>
    </p:spTree>
    <p:extLst>
      <p:ext uri="{BB962C8B-B14F-4D97-AF65-F5344CB8AC3E}">
        <p14:creationId xmlns:p14="http://schemas.microsoft.com/office/powerpoint/2010/main" val="6469334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CCD44-199D-4123-7A50-18484D41A0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16" t="3874" r="14500" b="11776"/>
          <a:stretch/>
        </p:blipFill>
        <p:spPr>
          <a:xfrm>
            <a:off x="801858" y="73871"/>
            <a:ext cx="10283484" cy="67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439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E51BDD-889F-8D43-3533-EA0BCDA24E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93" t="-24" r="16115" b="8492"/>
          <a:stretch/>
        </p:blipFill>
        <p:spPr>
          <a:xfrm>
            <a:off x="1603717" y="0"/>
            <a:ext cx="9397107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F8FDAE-7FCD-0933-4EAD-444738668CB9}"/>
              </a:ext>
            </a:extLst>
          </p:cNvPr>
          <p:cNvSpPr/>
          <p:nvPr/>
        </p:nvSpPr>
        <p:spPr>
          <a:xfrm>
            <a:off x="2025748" y="3291840"/>
            <a:ext cx="5669280" cy="81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1689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9F7FEA-8D5B-ADF2-F541-B79F41A8C0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78" t="-24" r="15538" b="8903"/>
          <a:stretch/>
        </p:blipFill>
        <p:spPr>
          <a:xfrm>
            <a:off x="1076320" y="0"/>
            <a:ext cx="9221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442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180CF2-508D-BBB7-ED2D-3587EA10B5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69" t="-24" r="16346" b="19370"/>
          <a:stretch/>
        </p:blipFill>
        <p:spPr>
          <a:xfrm>
            <a:off x="900333" y="0"/>
            <a:ext cx="10795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162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4FA152-45DC-8450-9E0C-49A2AF47A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14" t="2028" r="22116" b="23474"/>
          <a:stretch/>
        </p:blipFill>
        <p:spPr>
          <a:xfrm>
            <a:off x="367425" y="-2845"/>
            <a:ext cx="10281817" cy="686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796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9C68F-F911-F8EA-D540-4FC2B322BA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77" t="2028" r="16692" b="35259"/>
          <a:stretch/>
        </p:blipFill>
        <p:spPr>
          <a:xfrm>
            <a:off x="706066" y="0"/>
            <a:ext cx="10798997" cy="629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373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649AA-1655-21E2-BAA7-0FFC671FE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85" t="2233" r="17384" b="11982"/>
          <a:stretch/>
        </p:blipFill>
        <p:spPr>
          <a:xfrm>
            <a:off x="1350498" y="-5783"/>
            <a:ext cx="9425354" cy="686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778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EFACB-32F5-F9DA-9D63-5B8343F7D644}"/>
              </a:ext>
            </a:extLst>
          </p:cNvPr>
          <p:cNvSpPr txBox="1"/>
          <p:nvPr/>
        </p:nvSpPr>
        <p:spPr>
          <a:xfrm>
            <a:off x="649357" y="1228397"/>
            <a:ext cx="113703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One of the deepest questions in computer science is called </a:t>
            </a:r>
            <a:r>
              <a:rPr lang="en-US" sz="4000" b="0" i="0" u="none" strike="noStrike" dirty="0">
                <a:solidFill>
                  <a:srgbClr val="185F7D"/>
                </a:solidFill>
                <a:effectLst/>
                <a:latin typeface="TiemposTextWeb-Regular"/>
              </a:rPr>
              <a:t>P vs NP</a:t>
            </a: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, and answering the question would earn you a million dollar prize. </a:t>
            </a:r>
          </a:p>
          <a:p>
            <a:pPr algn="just"/>
            <a:endParaRPr lang="en-US" sz="4000" dirty="0">
              <a:solidFill>
                <a:srgbClr val="111516"/>
              </a:solidFill>
              <a:latin typeface="TiemposTextWeb-Regular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P vs NP is one of the </a:t>
            </a:r>
            <a:r>
              <a:rPr lang="en-US" sz="4000" b="0" i="0" u="none" strike="noStrike" dirty="0">
                <a:solidFill>
                  <a:srgbClr val="185F7D"/>
                </a:solidFill>
                <a:effectLst/>
                <a:latin typeface="TiemposTextWeb-Regular"/>
              </a:rPr>
              <a:t>Clay Mathematics Institute Millennium Prize Problems</a:t>
            </a: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, seven problems judged to be among the most important open questions in mathematics.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81B2D-CE62-3123-6A70-D27D6232D306}"/>
              </a:ext>
            </a:extLst>
          </p:cNvPr>
          <p:cNvSpPr txBox="1"/>
          <p:nvPr/>
        </p:nvSpPr>
        <p:spPr>
          <a:xfrm>
            <a:off x="3949148" y="225987"/>
            <a:ext cx="396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P=NP ?</a:t>
            </a:r>
          </a:p>
        </p:txBody>
      </p:sp>
    </p:spTree>
    <p:extLst>
      <p:ext uri="{BB962C8B-B14F-4D97-AF65-F5344CB8AC3E}">
        <p14:creationId xmlns:p14="http://schemas.microsoft.com/office/powerpoint/2010/main" val="38720088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14FEC-417F-207D-6258-CB718ED2B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38" t="-24" r="15423" b="23885"/>
          <a:stretch/>
        </p:blipFill>
        <p:spPr>
          <a:xfrm>
            <a:off x="534572" y="1"/>
            <a:ext cx="10993313" cy="68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028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F29FA-0C73-01EC-0CE1-1156C3655A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54" t="2233" r="16000" b="15061"/>
          <a:stretch/>
        </p:blipFill>
        <p:spPr>
          <a:xfrm>
            <a:off x="737943" y="-2439"/>
            <a:ext cx="10009773" cy="68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098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DDBB3C7-1E94-8D58-7F88-61CFF792C785}"/>
              </a:ext>
            </a:extLst>
          </p:cNvPr>
          <p:cNvGrpSpPr/>
          <p:nvPr/>
        </p:nvGrpSpPr>
        <p:grpSpPr>
          <a:xfrm>
            <a:off x="218658" y="-56271"/>
            <a:ext cx="11711615" cy="6692348"/>
            <a:chOff x="218658" y="-56271"/>
            <a:chExt cx="11711615" cy="66923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9F77BA-EB30-ACA6-5EC6-44E29C95D8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871" t="-24" r="17174" b="31972"/>
            <a:stretch/>
          </p:blipFill>
          <p:spPr>
            <a:xfrm>
              <a:off x="218658" y="-56271"/>
              <a:ext cx="11711615" cy="669234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57E3C4D-2C06-1F20-F1AF-E65C8F12803F}"/>
                </a:ext>
              </a:extLst>
            </p:cNvPr>
            <p:cNvSpPr/>
            <p:nvPr/>
          </p:nvSpPr>
          <p:spPr>
            <a:xfrm>
              <a:off x="675249" y="4346917"/>
              <a:ext cx="6035040" cy="6752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125230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42AE7-A33F-7BDF-2A89-E9E9109131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23" t="-24" r="18769" b="20190"/>
          <a:stretch/>
        </p:blipFill>
        <p:spPr>
          <a:xfrm>
            <a:off x="1463040" y="0"/>
            <a:ext cx="9975766" cy="685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389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B9836-DB0B-7213-284F-4BCF3F4C35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31" t="1412" r="18192" b="23667"/>
          <a:stretch/>
        </p:blipFill>
        <p:spPr>
          <a:xfrm>
            <a:off x="1463796" y="0"/>
            <a:ext cx="9030702" cy="58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305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82A04-A3B4-4CFD-B9EB-B3E5AD2FE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23" t="-24" r="17616" b="29631"/>
          <a:stretch/>
        </p:blipFill>
        <p:spPr>
          <a:xfrm>
            <a:off x="547531" y="-1"/>
            <a:ext cx="11126849" cy="66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080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161C1-CA93-7964-748C-44606205F7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85" t="-24" r="17730" b="32094"/>
          <a:stretch/>
        </p:blipFill>
        <p:spPr>
          <a:xfrm>
            <a:off x="575069" y="0"/>
            <a:ext cx="11830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900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DB365-38C6-79D6-5C99-EBCBAA2D3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77" t="12084" r="15423" b="7261"/>
          <a:stretch/>
        </p:blipFill>
        <p:spPr>
          <a:xfrm>
            <a:off x="1139233" y="182834"/>
            <a:ext cx="10157123" cy="66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059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3B960-1D90-02E6-2923-7EEA00AAEA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23" t="1617" r="17846" b="14650"/>
          <a:stretch/>
        </p:blipFill>
        <p:spPr>
          <a:xfrm>
            <a:off x="526262" y="2549"/>
            <a:ext cx="9644680" cy="685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548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47B8F-4D86-DE31-2B4A-3217E9C42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47" t="-24" r="18769" b="14650"/>
          <a:stretch/>
        </p:blipFill>
        <p:spPr>
          <a:xfrm>
            <a:off x="1582142" y="0"/>
            <a:ext cx="9076300" cy="67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815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, NP, NP-Complete and NP-Hard Problems in Computer Science | Baeldung on  Computer Science">
            <a:extLst>
              <a:ext uri="{FF2B5EF4-FFF2-40B4-BE49-F238E27FC236}">
                <a16:creationId xmlns:a16="http://schemas.microsoft.com/office/drawing/2014/main" id="{AC6E4DCB-F075-F1A4-A762-AE38C6132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0"/>
            <a:ext cx="8969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00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17359</TotalTime>
  <Words>2059</Words>
  <Application>Microsoft Office PowerPoint</Application>
  <PresentationFormat>Widescreen</PresentationFormat>
  <Paragraphs>1551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2" baseType="lpstr">
      <vt:lpstr>Aharoni</vt:lpstr>
      <vt:lpstr>Arial</vt:lpstr>
      <vt:lpstr>Arial Black</vt:lpstr>
      <vt:lpstr>Calibri</vt:lpstr>
      <vt:lpstr>Calibri Light</vt:lpstr>
      <vt:lpstr>Cambria Math</vt:lpstr>
      <vt:lpstr>Comic Sans MS</vt:lpstr>
      <vt:lpstr>source-serif-pro</vt:lpstr>
      <vt:lpstr>TiemposTextWeb-Regular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Sahu</dc:creator>
  <cp:lastModifiedBy>Dinesh Sahu</cp:lastModifiedBy>
  <cp:revision>10</cp:revision>
  <dcterms:created xsi:type="dcterms:W3CDTF">2023-10-30T06:14:27Z</dcterms:created>
  <dcterms:modified xsi:type="dcterms:W3CDTF">2024-04-23T04:44:32Z</dcterms:modified>
</cp:coreProperties>
</file>