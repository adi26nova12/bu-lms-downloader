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355" r:id="rId3"/>
    <p:sldId id="411" r:id="rId4"/>
    <p:sldId id="415" r:id="rId5"/>
    <p:sldId id="416" r:id="rId6"/>
    <p:sldId id="417" r:id="rId7"/>
    <p:sldId id="412" r:id="rId8"/>
    <p:sldId id="413" r:id="rId9"/>
    <p:sldId id="432" r:id="rId10"/>
    <p:sldId id="414" r:id="rId11"/>
    <p:sldId id="418" r:id="rId12"/>
    <p:sldId id="419" r:id="rId13"/>
    <p:sldId id="420" r:id="rId14"/>
    <p:sldId id="421" r:id="rId15"/>
    <p:sldId id="422" r:id="rId16"/>
    <p:sldId id="423" r:id="rId17"/>
    <p:sldId id="424" r:id="rId18"/>
    <p:sldId id="426" r:id="rId19"/>
    <p:sldId id="425" r:id="rId20"/>
    <p:sldId id="427" r:id="rId21"/>
    <p:sldId id="428" r:id="rId22"/>
    <p:sldId id="429" r:id="rId23"/>
    <p:sldId id="430" r:id="rId24"/>
    <p:sldId id="433" r:id="rId25"/>
    <p:sldId id="256" r:id="rId26"/>
    <p:sldId id="434" r:id="rId27"/>
    <p:sldId id="259" r:id="rId28"/>
    <p:sldId id="260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882" autoAdjust="0"/>
    <p:restoredTop sz="94660"/>
  </p:normalViewPr>
  <p:slideViewPr>
    <p:cSldViewPr snapToGrid="0">
      <p:cViewPr varScale="1">
        <p:scale>
          <a:sx n="82" d="100"/>
          <a:sy n="82" d="100"/>
        </p:scale>
        <p:origin x="44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C9EA11-5531-B874-B87A-045012612E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583119-CFD1-44FF-E111-EF839A10D2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46C7CA-5FE7-BCC9-33D5-F4979AD08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48D04-7CAF-44EE-A9BE-6FAA15D7F358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F339DC-B66C-2891-7381-F5FC8DA604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5AFC08-31E4-44B3-4004-0E51B741C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DE6E9-D4C1-43DF-B120-91FED3D19F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8971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145CCC-A3CA-06B6-A457-E0002EBCF6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6DFE24-5129-3D83-E143-02E8A86638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71B617-EAD3-9091-682D-D720C1F596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48D04-7CAF-44EE-A9BE-6FAA15D7F358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9800D6-DC9B-03B5-8664-A20D1032C6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94DC52-CB26-894A-FBC0-6D1B6F184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DE6E9-D4C1-43DF-B120-91FED3D19F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02884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88D1F7-113A-9EC0-475D-0AF75CFEE0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74473F-7D31-D04C-9A96-A75B025977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39CB6F-5805-A1E4-B03C-DB87A6F72B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48D04-7CAF-44EE-A9BE-6FAA15D7F358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F1007F-697E-237D-2003-474290F9D2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848AED-EC8D-A0A5-C280-F55886240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DE6E9-D4C1-43DF-B120-91FED3D19F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30233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A0D65B-ABF9-808B-075A-652B3FD79A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ADBE72-5461-4551-8C38-7B8B376E07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31AC75-2DDA-A32B-6029-B2473C1974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E45F8D-56AD-AA05-73E9-C44151DB33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48D04-7CAF-44EE-A9BE-6FAA15D7F358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7860DB-9A4C-F6F5-B37A-9257AACA91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47AA6E-7F5C-AD5C-404B-7812525B9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DE6E9-D4C1-43DF-B120-91FED3D19F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48573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D7267E-2A0C-B1FE-A84D-20C75963BE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BB7C8A-B335-E371-4AED-A5EC9CE83D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766E56-914B-B4C2-779E-37007BCB53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84F9850-5E41-8574-17F7-3EFF9ABD81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96C331-5D5E-C919-0341-B2E2A75F97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FCFED44-62F6-8CA3-1F29-E6A66AE281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48D04-7CAF-44EE-A9BE-6FAA15D7F358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099326A-6B3A-0A26-D9AB-826760C7C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DBCB2F3-36A5-A014-CAD7-1F2D23C65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DE6E9-D4C1-43DF-B120-91FED3D19F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92115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A78D56-1253-0284-63F3-F7F277CD94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530E74-917C-CF67-2B8E-4B8DE1E4D2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48D04-7CAF-44EE-A9BE-6FAA15D7F358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FEA990-3AC6-2587-F7F3-7AA9306482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31BD24-6D28-72BB-E0D8-7759050DF5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DE6E9-D4C1-43DF-B120-91FED3D19F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32337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2B27CBF-CFAF-2666-C0D3-576C383B34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48D04-7CAF-44EE-A9BE-6FAA15D7F358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D16004-7E43-237F-30B6-C6E07274A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420FA4-00E3-B251-16C3-09F2DB2C9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DE6E9-D4C1-43DF-B120-91FED3D19F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71046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3E954-FC94-85D2-FE44-8DDC380A7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06E02B-94AB-DA70-4DF0-1ABAF8AFBA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0D8C8E-26E7-F1C8-A2F2-9DAF0E2CAB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BA7BCF-4390-7A4E-C695-694847AD73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48D04-7CAF-44EE-A9BE-6FAA15D7F358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B94BE1-5C54-86A9-DC4B-B43CD870F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2085AA-206F-A9BA-A745-2B508B23C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DE6E9-D4C1-43DF-B120-91FED3D19F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04480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F02FF-CCC0-1526-936F-BA8C16B70E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07F094-C961-1B96-6FF6-C004E310D7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B70DA9-D994-5850-EC2A-3267D100FB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58B9DA-36C6-39D8-EFC2-873582DC6A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48D04-7CAF-44EE-A9BE-6FAA15D7F358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B6E45F-D4BE-740F-7ED1-413FC3A48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0E7F93-84E5-080E-BC5B-B33885B2D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DE6E9-D4C1-43DF-B120-91FED3D19F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09817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67B8BE-9691-6132-2139-F0300F3257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D98706-C86A-B8DE-6EEC-99140918A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C39097-95E0-9B84-F7C0-42E541608E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48D04-7CAF-44EE-A9BE-6FAA15D7F358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FF47D4-9800-72B0-34F0-3A711C5A4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F28C27-0086-A8EF-8591-488FCBB30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DE6E9-D4C1-43DF-B120-91FED3D19F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17362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3F81177-D79E-7C94-1C8F-18E9D28A68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E77E11-794B-2894-9F65-4A4226D18F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B49707-B94E-F932-4E1D-2365D6AD13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48D04-7CAF-44EE-A9BE-6FAA15D7F358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633573-0BF1-3398-52E6-F84ECF137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0632DB-6D47-BC41-75CD-0C78B4C76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DE6E9-D4C1-43DF-B120-91FED3D19F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48990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83E9740-DB30-DAE0-4FDD-444408C71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9ED3E9-66AC-E600-B8C1-4C2944B2B0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EC75D2-E97B-C117-69A5-8887CBC9D2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B48D04-7CAF-44EE-A9BE-6FAA15D7F358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9A37AE-6515-8550-AEB1-73200EB9B4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9B6CAD-F99D-32E3-5FEA-065AA0168D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BDE6E9-D4C1-43DF-B120-91FED3D19F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14086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ACEE779-8CA7-F2FD-CED9-DBE98899BD3C}"/>
              </a:ext>
            </a:extLst>
          </p:cNvPr>
          <p:cNvSpPr txBox="1"/>
          <p:nvPr/>
        </p:nvSpPr>
        <p:spPr>
          <a:xfrm>
            <a:off x="5194852" y="318052"/>
            <a:ext cx="180229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/>
              <a:t>L-08</a:t>
            </a:r>
            <a:endParaRPr lang="en-IN" sz="60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2D745B-2C18-F9C8-0B51-06BFF72B76D7}"/>
              </a:ext>
            </a:extLst>
          </p:cNvPr>
          <p:cNvSpPr txBox="1"/>
          <p:nvPr/>
        </p:nvSpPr>
        <p:spPr>
          <a:xfrm>
            <a:off x="655982" y="1603514"/>
            <a:ext cx="10880035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u="sng" dirty="0">
                <a:solidFill>
                  <a:srgbClr val="FF0000"/>
                </a:solidFill>
              </a:rPr>
              <a:t>AGENDA</a:t>
            </a:r>
            <a:r>
              <a:rPr lang="en-US" sz="3200" b="1" dirty="0">
                <a:solidFill>
                  <a:srgbClr val="FF0000"/>
                </a:solidFill>
              </a:rPr>
              <a:t>:</a:t>
            </a:r>
          </a:p>
          <a:p>
            <a:r>
              <a:rPr lang="en-IN" sz="3200" b="1" dirty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Divide Conquer and Divide Algorithm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IN" sz="32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	</a:t>
            </a:r>
            <a:r>
              <a:rPr lang="en-IN" sz="3200" b="1" dirty="0">
                <a:solidFill>
                  <a:srgbClr val="00B05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Binary Search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IN" sz="3200" b="1" dirty="0">
                <a:solidFill>
                  <a:srgbClr val="00B05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    Median of Two Sorted Arrays</a:t>
            </a:r>
          </a:p>
          <a:p>
            <a:r>
              <a:rPr lang="en-IN" sz="3200" b="1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	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 sz="3200" b="1" dirty="0">
              <a:solidFill>
                <a:srgbClr val="00206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FFE02D6-F6B4-94CA-03EE-7757D387FE10}"/>
              </a:ext>
            </a:extLst>
          </p:cNvPr>
          <p:cNvSpPr txBox="1"/>
          <p:nvPr/>
        </p:nvSpPr>
        <p:spPr>
          <a:xfrm>
            <a:off x="10621107" y="-51280"/>
            <a:ext cx="27994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solidFill>
                  <a:srgbClr val="FF0000"/>
                </a:solidFill>
              </a:rPr>
              <a:t>08 Feb 2024</a:t>
            </a:r>
            <a:endParaRPr lang="en-IN" b="1" u="sng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91510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6CB10C88-4D11-BC05-9904-C42DEF0F61DB}"/>
              </a:ext>
            </a:extLst>
          </p:cNvPr>
          <p:cNvGrpSpPr/>
          <p:nvPr/>
        </p:nvGrpSpPr>
        <p:grpSpPr>
          <a:xfrm>
            <a:off x="0" y="-12867"/>
            <a:ext cx="12192000" cy="809897"/>
            <a:chOff x="-134982" y="849086"/>
            <a:chExt cx="12192000" cy="809897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28902B2C-8867-758B-4DB9-88BD58A6ACAC}"/>
                </a:ext>
              </a:extLst>
            </p:cNvPr>
            <p:cNvSpPr/>
            <p:nvPr/>
          </p:nvSpPr>
          <p:spPr>
            <a:xfrm>
              <a:off x="-134982" y="849086"/>
              <a:ext cx="12192000" cy="80989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9804A985-0B3F-10CF-537C-0DBA63FD18F3}"/>
                </a:ext>
              </a:extLst>
            </p:cNvPr>
            <p:cNvSpPr txBox="1"/>
            <p:nvPr/>
          </p:nvSpPr>
          <p:spPr>
            <a:xfrm>
              <a:off x="-134982" y="900091"/>
              <a:ext cx="1219200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4000" dirty="0">
                  <a:solidFill>
                    <a:schemeClr val="bg1"/>
                  </a:solidFill>
                  <a:latin typeface="Amasis MT Pro Black" panose="02040A04050005020304" pitchFamily="18" charset="0"/>
                </a:rPr>
                <a:t>Binary Search</a:t>
              </a: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D577E5EA-3C04-994A-E6C9-35BB47FD9894}"/>
              </a:ext>
            </a:extLst>
          </p:cNvPr>
          <p:cNvSpPr txBox="1"/>
          <p:nvPr/>
        </p:nvSpPr>
        <p:spPr>
          <a:xfrm>
            <a:off x="980661" y="1364974"/>
            <a:ext cx="1034994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B</a:t>
            </a:r>
            <a:r>
              <a:rPr lang="en-US" sz="3200" b="0" i="0" dirty="0"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inary search or half-interval search algorithm finds the position of a target value within a </a:t>
            </a:r>
            <a:r>
              <a:rPr lang="en-US" sz="3200" b="0" i="0" dirty="0">
                <a:solidFill>
                  <a:srgbClr val="FF0000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sorted array.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endParaRPr lang="en-US" sz="3200" b="0" i="0" dirty="0">
              <a:solidFill>
                <a:srgbClr val="FF0000"/>
              </a:solidFill>
              <a:effectLst/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The binary search algorithm uses </a:t>
            </a:r>
            <a:r>
              <a:rPr lang="en-US" sz="3200" dirty="0">
                <a:solidFill>
                  <a:srgbClr val="92D05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divide-and-conquer approach </a:t>
            </a:r>
            <a:r>
              <a:rPr lang="en-US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and executes in </a:t>
            </a:r>
            <a:r>
              <a:rPr lang="en-US" sz="3200" dirty="0">
                <a:solidFill>
                  <a:srgbClr val="7030A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logarithmic time</a:t>
            </a:r>
            <a:r>
              <a:rPr lang="en-US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.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endParaRPr lang="en-US" sz="32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Requirement: </a:t>
            </a:r>
            <a:r>
              <a:rPr lang="en-US" sz="3200" dirty="0">
                <a:solidFill>
                  <a:srgbClr val="002060"/>
                </a:solidFill>
                <a:highlight>
                  <a:srgbClr val="FFFF00"/>
                </a:highlight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Data must be already sorted</a:t>
            </a:r>
            <a:endParaRPr lang="en-IN" sz="3200" dirty="0">
              <a:solidFill>
                <a:srgbClr val="002060"/>
              </a:solidFill>
              <a:highlight>
                <a:srgbClr val="FFFF00"/>
              </a:highlight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88371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6CB10C88-4D11-BC05-9904-C42DEF0F61DB}"/>
              </a:ext>
            </a:extLst>
          </p:cNvPr>
          <p:cNvGrpSpPr/>
          <p:nvPr/>
        </p:nvGrpSpPr>
        <p:grpSpPr>
          <a:xfrm>
            <a:off x="0" y="-12867"/>
            <a:ext cx="12192000" cy="809897"/>
            <a:chOff x="-134982" y="849086"/>
            <a:chExt cx="12192000" cy="809897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28902B2C-8867-758B-4DB9-88BD58A6ACAC}"/>
                </a:ext>
              </a:extLst>
            </p:cNvPr>
            <p:cNvSpPr/>
            <p:nvPr/>
          </p:nvSpPr>
          <p:spPr>
            <a:xfrm>
              <a:off x="-134982" y="849086"/>
              <a:ext cx="12192000" cy="80989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9804A985-0B3F-10CF-537C-0DBA63FD18F3}"/>
                </a:ext>
              </a:extLst>
            </p:cNvPr>
            <p:cNvSpPr txBox="1"/>
            <p:nvPr/>
          </p:nvSpPr>
          <p:spPr>
            <a:xfrm>
              <a:off x="-134982" y="900091"/>
              <a:ext cx="1219200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4000" dirty="0">
                  <a:solidFill>
                    <a:schemeClr val="bg1"/>
                  </a:solidFill>
                  <a:latin typeface="Amasis MT Pro Black" panose="02040A04050005020304" pitchFamily="18" charset="0"/>
                </a:rPr>
                <a:t>Binary Search(Process)</a:t>
              </a:r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A93A327B-6F93-1B63-6861-EC50093A6E53}"/>
              </a:ext>
            </a:extLst>
          </p:cNvPr>
          <p:cNvSpPr txBox="1"/>
          <p:nvPr/>
        </p:nvSpPr>
        <p:spPr>
          <a:xfrm>
            <a:off x="1020414" y="2120671"/>
            <a:ext cx="42305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Case 1</a:t>
            </a:r>
            <a:r>
              <a:rPr lang="en-IN" sz="28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:  </a:t>
            </a:r>
            <a:r>
              <a:rPr lang="en-IN" sz="2800" dirty="0">
                <a:solidFill>
                  <a:srgbClr val="00B05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Key = A[Mid]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104AC23-60CF-9511-2D8B-A035A372A69F}"/>
              </a:ext>
            </a:extLst>
          </p:cNvPr>
          <p:cNvGrpSpPr/>
          <p:nvPr/>
        </p:nvGrpSpPr>
        <p:grpSpPr>
          <a:xfrm>
            <a:off x="891042" y="3228910"/>
            <a:ext cx="10409915" cy="1177695"/>
            <a:chOff x="768622" y="1617016"/>
            <a:chExt cx="10409915" cy="1177695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96619F65-013D-1C7F-94E2-148242D9EF76}"/>
                </a:ext>
              </a:extLst>
            </p:cNvPr>
            <p:cNvGrpSpPr/>
            <p:nvPr/>
          </p:nvGrpSpPr>
          <p:grpSpPr>
            <a:xfrm>
              <a:off x="1020414" y="1620582"/>
              <a:ext cx="9886121" cy="344556"/>
              <a:chOff x="1020414" y="1626642"/>
              <a:chExt cx="9886121" cy="344556"/>
            </a:xfrm>
          </p:grpSpPr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0AD9A429-9A5C-45DC-6C35-35FE66B37FF0}"/>
                  </a:ext>
                </a:extLst>
              </p:cNvPr>
              <p:cNvSpPr/>
              <p:nvPr/>
            </p:nvSpPr>
            <p:spPr>
              <a:xfrm>
                <a:off x="1020414" y="1626642"/>
                <a:ext cx="9886121" cy="344556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BEEA6639-646C-7430-8510-60C40F403E01}"/>
                  </a:ext>
                </a:extLst>
              </p:cNvPr>
              <p:cNvSpPr/>
              <p:nvPr/>
            </p:nvSpPr>
            <p:spPr>
              <a:xfrm>
                <a:off x="5128587" y="1626642"/>
                <a:ext cx="1520853" cy="344556"/>
              </a:xfrm>
              <a:prstGeom prst="rect">
                <a:avLst/>
              </a:prstGeom>
              <a:solidFill>
                <a:srgbClr val="00206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b="1" dirty="0"/>
                  <a:t>Key=A[Mid]</a:t>
                </a:r>
              </a:p>
            </p:txBody>
          </p:sp>
        </p:grp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C0B4FEB-73FE-DA45-999F-673D7504804B}"/>
                </a:ext>
              </a:extLst>
            </p:cNvPr>
            <p:cNvSpPr/>
            <p:nvPr/>
          </p:nvSpPr>
          <p:spPr>
            <a:xfrm>
              <a:off x="1020414" y="1620543"/>
              <a:ext cx="410137" cy="344556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001C01CE-7749-51C0-CF59-EF733EE9B98D}"/>
                </a:ext>
              </a:extLst>
            </p:cNvPr>
            <p:cNvSpPr/>
            <p:nvPr/>
          </p:nvSpPr>
          <p:spPr>
            <a:xfrm>
              <a:off x="10483137" y="1617016"/>
              <a:ext cx="410137" cy="344556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0" name="Callout: Up Arrow 9">
              <a:extLst>
                <a:ext uri="{FF2B5EF4-FFF2-40B4-BE49-F238E27FC236}">
                  <a16:creationId xmlns:a16="http://schemas.microsoft.com/office/drawing/2014/main" id="{0B032C88-1618-3CC7-375E-25B88D4B9FD2}"/>
                </a:ext>
              </a:extLst>
            </p:cNvPr>
            <p:cNvSpPr/>
            <p:nvPr/>
          </p:nvSpPr>
          <p:spPr>
            <a:xfrm>
              <a:off x="768622" y="2039337"/>
              <a:ext cx="980664" cy="755374"/>
            </a:xfrm>
            <a:prstGeom prst="upArrowCallout">
              <a:avLst>
                <a:gd name="adj1" fmla="val 50000"/>
                <a:gd name="adj2" fmla="val 25000"/>
                <a:gd name="adj3" fmla="val 25000"/>
                <a:gd name="adj4" fmla="val 64977"/>
              </a:avLst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Low</a:t>
              </a:r>
              <a:endParaRPr lang="en-IN" b="1" dirty="0"/>
            </a:p>
          </p:txBody>
        </p:sp>
        <p:sp>
          <p:nvSpPr>
            <p:cNvPr id="35" name="Callout: Up Arrow 34">
              <a:extLst>
                <a:ext uri="{FF2B5EF4-FFF2-40B4-BE49-F238E27FC236}">
                  <a16:creationId xmlns:a16="http://schemas.microsoft.com/office/drawing/2014/main" id="{EA7E19FB-99EB-CDB0-2F71-D7BE98D49593}"/>
                </a:ext>
              </a:extLst>
            </p:cNvPr>
            <p:cNvSpPr/>
            <p:nvPr/>
          </p:nvSpPr>
          <p:spPr>
            <a:xfrm>
              <a:off x="10197873" y="2039337"/>
              <a:ext cx="980664" cy="755374"/>
            </a:xfrm>
            <a:prstGeom prst="upArrowCallout">
              <a:avLst>
                <a:gd name="adj1" fmla="val 50000"/>
                <a:gd name="adj2" fmla="val 25000"/>
                <a:gd name="adj3" fmla="val 25000"/>
                <a:gd name="adj4" fmla="val 64977"/>
              </a:avLst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High</a:t>
              </a:r>
              <a:endParaRPr lang="en-IN" b="1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AD176C6-ECF7-2666-5A36-80BBADEE4FD1}"/>
                  </a:ext>
                </a:extLst>
              </p:cNvPr>
              <p:cNvSpPr txBox="1"/>
              <p:nvPr/>
            </p:nvSpPr>
            <p:spPr>
              <a:xfrm>
                <a:off x="1142834" y="1223956"/>
                <a:ext cx="2314031" cy="61625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𝑴𝒊𝒅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⌊"/>
                          <m:endChr m:val="⌋"/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𝑳𝒐𝒘</m:t>
                              </m:r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𝑯𝒊𝒈𝒉</m:t>
                              </m:r>
                            </m:num>
                            <m:den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IN" b="1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AD176C6-ECF7-2666-5A36-80BBADEE4F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2834" y="1223956"/>
                <a:ext cx="2314031" cy="61625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Star: 7 Points 16">
            <a:extLst>
              <a:ext uri="{FF2B5EF4-FFF2-40B4-BE49-F238E27FC236}">
                <a16:creationId xmlns:a16="http://schemas.microsoft.com/office/drawing/2014/main" id="{08A48705-5771-D81C-6510-557EEC2774A9}"/>
              </a:ext>
            </a:extLst>
          </p:cNvPr>
          <p:cNvSpPr/>
          <p:nvPr/>
        </p:nvSpPr>
        <p:spPr>
          <a:xfrm>
            <a:off x="4409494" y="4055042"/>
            <a:ext cx="3352800" cy="1598505"/>
          </a:xfrm>
          <a:prstGeom prst="star7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Element is found</a:t>
            </a: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35920040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1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6CB10C88-4D11-BC05-9904-C42DEF0F61DB}"/>
              </a:ext>
            </a:extLst>
          </p:cNvPr>
          <p:cNvGrpSpPr/>
          <p:nvPr/>
        </p:nvGrpSpPr>
        <p:grpSpPr>
          <a:xfrm>
            <a:off x="0" y="-12867"/>
            <a:ext cx="12192000" cy="809897"/>
            <a:chOff x="-134982" y="849086"/>
            <a:chExt cx="12192000" cy="809897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28902B2C-8867-758B-4DB9-88BD58A6ACAC}"/>
                </a:ext>
              </a:extLst>
            </p:cNvPr>
            <p:cNvSpPr/>
            <p:nvPr/>
          </p:nvSpPr>
          <p:spPr>
            <a:xfrm>
              <a:off x="-134982" y="849086"/>
              <a:ext cx="12192000" cy="80989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9804A985-0B3F-10CF-537C-0DBA63FD18F3}"/>
                </a:ext>
              </a:extLst>
            </p:cNvPr>
            <p:cNvSpPr txBox="1"/>
            <p:nvPr/>
          </p:nvSpPr>
          <p:spPr>
            <a:xfrm>
              <a:off x="-134982" y="900091"/>
              <a:ext cx="1219200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4000" dirty="0">
                  <a:solidFill>
                    <a:schemeClr val="bg1"/>
                  </a:solidFill>
                  <a:latin typeface="Amasis MT Pro Black" panose="02040A04050005020304" pitchFamily="18" charset="0"/>
                </a:rPr>
                <a:t>Binary Search(Process)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34C6B912-F8DD-F336-2642-87AFF40AB481}"/>
              </a:ext>
            </a:extLst>
          </p:cNvPr>
          <p:cNvGrpSpPr/>
          <p:nvPr/>
        </p:nvGrpSpPr>
        <p:grpSpPr>
          <a:xfrm>
            <a:off x="1020414" y="2948024"/>
            <a:ext cx="9886121" cy="1113701"/>
            <a:chOff x="1020414" y="2948024"/>
            <a:chExt cx="9886121" cy="1113701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363E5EF-2A62-461A-54A7-F7783F87A3F8}"/>
                </a:ext>
              </a:extLst>
            </p:cNvPr>
            <p:cNvSpPr/>
            <p:nvPr/>
          </p:nvSpPr>
          <p:spPr>
            <a:xfrm>
              <a:off x="1020414" y="2974992"/>
              <a:ext cx="9886121" cy="3445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A54F512-96B5-2B9D-6178-239709B3E5D3}"/>
                </a:ext>
              </a:extLst>
            </p:cNvPr>
            <p:cNvSpPr/>
            <p:nvPr/>
          </p:nvSpPr>
          <p:spPr>
            <a:xfrm>
              <a:off x="5128588" y="2974992"/>
              <a:ext cx="940904" cy="344556"/>
            </a:xfrm>
            <a:prstGeom prst="rect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b="1" dirty="0"/>
                <a:t>A[mid]</a:t>
              </a:r>
            </a:p>
          </p:txBody>
        </p:sp>
        <p:sp>
          <p:nvSpPr>
            <p:cNvPr id="8" name="Left Brace 7">
              <a:extLst>
                <a:ext uri="{FF2B5EF4-FFF2-40B4-BE49-F238E27FC236}">
                  <a16:creationId xmlns:a16="http://schemas.microsoft.com/office/drawing/2014/main" id="{64CCC1B1-1107-66E5-6428-0774F2953FEA}"/>
                </a:ext>
              </a:extLst>
            </p:cNvPr>
            <p:cNvSpPr/>
            <p:nvPr/>
          </p:nvSpPr>
          <p:spPr>
            <a:xfrm rot="16200000">
              <a:off x="2809890" y="1743027"/>
              <a:ext cx="529223" cy="4108174"/>
            </a:xfrm>
            <a:prstGeom prst="leftBrace">
              <a:avLst>
                <a:gd name="adj1" fmla="val 8333"/>
                <a:gd name="adj2" fmla="val 49215"/>
              </a:avLst>
            </a:prstGeom>
            <a:solidFill>
              <a:schemeClr val="bg1">
                <a:lumMod val="85000"/>
              </a:schemeClr>
            </a:solidFill>
            <a:ln w="3810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09BA814-83AC-C69E-1A0D-4CBA400E35CF}"/>
                </a:ext>
              </a:extLst>
            </p:cNvPr>
            <p:cNvSpPr txBox="1"/>
            <p:nvPr/>
          </p:nvSpPr>
          <p:spPr>
            <a:xfrm>
              <a:off x="2001075" y="2948024"/>
              <a:ext cx="312751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/>
                <a:t>Key &lt; A[mid]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14B38FF-63A8-A3D3-B02E-77CD37DBD072}"/>
                </a:ext>
              </a:extLst>
            </p:cNvPr>
            <p:cNvSpPr txBox="1"/>
            <p:nvPr/>
          </p:nvSpPr>
          <p:spPr>
            <a:xfrm>
              <a:off x="2769701" y="3459641"/>
              <a:ext cx="1086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b="1" dirty="0">
                  <a:highlight>
                    <a:srgbClr val="FFFF00"/>
                  </a:highlight>
                </a:rPr>
                <a:t>n/2</a:t>
              </a:r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2AC8E678-AB2A-FD2E-877A-115CA2BB29DF}"/>
              </a:ext>
            </a:extLst>
          </p:cNvPr>
          <p:cNvSpPr txBox="1"/>
          <p:nvPr/>
        </p:nvSpPr>
        <p:spPr>
          <a:xfrm>
            <a:off x="901141" y="1148448"/>
            <a:ext cx="46382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Case 2</a:t>
            </a:r>
            <a:r>
              <a:rPr lang="en-IN" sz="28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:  </a:t>
            </a:r>
            <a:r>
              <a:rPr lang="en-IN" sz="2800" dirty="0">
                <a:solidFill>
                  <a:srgbClr val="00B05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Key &lt; A[mid]</a:t>
            </a:r>
          </a:p>
        </p:txBody>
      </p:sp>
      <p:sp>
        <p:nvSpPr>
          <p:cNvPr id="29" name="Star: 5 Points 28">
            <a:extLst>
              <a:ext uri="{FF2B5EF4-FFF2-40B4-BE49-F238E27FC236}">
                <a16:creationId xmlns:a16="http://schemas.microsoft.com/office/drawing/2014/main" id="{8F22541B-1D37-5193-5F9D-3563D66EEC44}"/>
              </a:ext>
            </a:extLst>
          </p:cNvPr>
          <p:cNvSpPr/>
          <p:nvPr/>
        </p:nvSpPr>
        <p:spPr>
          <a:xfrm rot="20898459">
            <a:off x="8326463" y="2061255"/>
            <a:ext cx="2191672" cy="1827471"/>
          </a:xfrm>
          <a:prstGeom prst="star5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Prune Right Half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0B4FEB-73FE-DA45-999F-673D7504804B}"/>
              </a:ext>
            </a:extLst>
          </p:cNvPr>
          <p:cNvSpPr/>
          <p:nvPr/>
        </p:nvSpPr>
        <p:spPr>
          <a:xfrm>
            <a:off x="1020414" y="2974990"/>
            <a:ext cx="410137" cy="344556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01C01CE-7749-51C0-CF59-EF733EE9B98D}"/>
              </a:ext>
            </a:extLst>
          </p:cNvPr>
          <p:cNvSpPr/>
          <p:nvPr/>
        </p:nvSpPr>
        <p:spPr>
          <a:xfrm>
            <a:off x="10496398" y="2968919"/>
            <a:ext cx="410137" cy="344556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94B9E5-B0C2-CB5D-9D80-B5CBAD2327F2}"/>
              </a:ext>
            </a:extLst>
          </p:cNvPr>
          <p:cNvSpPr txBox="1"/>
          <p:nvPr/>
        </p:nvSpPr>
        <p:spPr>
          <a:xfrm>
            <a:off x="1298713" y="5102087"/>
            <a:ext cx="804407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High will be updated as </a:t>
            </a:r>
          </a:p>
          <a:p>
            <a:r>
              <a:rPr lang="en-US" sz="3600" dirty="0">
                <a:solidFill>
                  <a:srgbClr val="7030A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High = Mid -1 </a:t>
            </a:r>
            <a:endParaRPr lang="en-IN" sz="3600" dirty="0">
              <a:solidFill>
                <a:srgbClr val="7030A0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79757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9" grpId="0" animBg="1"/>
      <p:bldP spid="1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6CB10C88-4D11-BC05-9904-C42DEF0F61DB}"/>
              </a:ext>
            </a:extLst>
          </p:cNvPr>
          <p:cNvGrpSpPr/>
          <p:nvPr/>
        </p:nvGrpSpPr>
        <p:grpSpPr>
          <a:xfrm>
            <a:off x="0" y="-12867"/>
            <a:ext cx="12192000" cy="809897"/>
            <a:chOff x="-134982" y="849086"/>
            <a:chExt cx="12192000" cy="809897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28902B2C-8867-758B-4DB9-88BD58A6ACAC}"/>
                </a:ext>
              </a:extLst>
            </p:cNvPr>
            <p:cNvSpPr/>
            <p:nvPr/>
          </p:nvSpPr>
          <p:spPr>
            <a:xfrm>
              <a:off x="-134982" y="849086"/>
              <a:ext cx="12192000" cy="80989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9804A985-0B3F-10CF-537C-0DBA63FD18F3}"/>
                </a:ext>
              </a:extLst>
            </p:cNvPr>
            <p:cNvSpPr txBox="1"/>
            <p:nvPr/>
          </p:nvSpPr>
          <p:spPr>
            <a:xfrm>
              <a:off x="-134982" y="900091"/>
              <a:ext cx="1219200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4000" dirty="0">
                  <a:solidFill>
                    <a:schemeClr val="bg1"/>
                  </a:solidFill>
                  <a:latin typeface="Amasis MT Pro Black" panose="02040A04050005020304" pitchFamily="18" charset="0"/>
                </a:rPr>
                <a:t>Binary Search(Process)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2EA109C5-B526-4504-C280-0090A9709FB5}"/>
              </a:ext>
            </a:extLst>
          </p:cNvPr>
          <p:cNvSpPr txBox="1"/>
          <p:nvPr/>
        </p:nvSpPr>
        <p:spPr>
          <a:xfrm>
            <a:off x="2451734" y="4997201"/>
            <a:ext cx="629461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Low will be updated as </a:t>
            </a:r>
          </a:p>
          <a:p>
            <a:r>
              <a:rPr lang="en-US" sz="3600" b="1" dirty="0">
                <a:solidFill>
                  <a:srgbClr val="7030A0"/>
                </a:solidFill>
              </a:rPr>
              <a:t>Low = Mid + 1</a:t>
            </a:r>
            <a:endParaRPr lang="en-IN" sz="3600" b="1" dirty="0">
              <a:solidFill>
                <a:srgbClr val="7030A0"/>
              </a:solidFill>
            </a:endParaRP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F8993930-49BE-67B7-98AA-73B161B7CA23}"/>
              </a:ext>
            </a:extLst>
          </p:cNvPr>
          <p:cNvGrpSpPr/>
          <p:nvPr/>
        </p:nvGrpSpPr>
        <p:grpSpPr>
          <a:xfrm>
            <a:off x="1020415" y="3048003"/>
            <a:ext cx="9886121" cy="1135766"/>
            <a:chOff x="1020415" y="4903307"/>
            <a:chExt cx="9886121" cy="1135766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8434EEAF-8ACA-C388-752B-7D2B2A27846C}"/>
                </a:ext>
              </a:extLst>
            </p:cNvPr>
            <p:cNvSpPr/>
            <p:nvPr/>
          </p:nvSpPr>
          <p:spPr>
            <a:xfrm>
              <a:off x="1020415" y="4903307"/>
              <a:ext cx="9886121" cy="3445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BA53A6D1-6C46-FBEA-EB1D-7389DB685519}"/>
                </a:ext>
              </a:extLst>
            </p:cNvPr>
            <p:cNvSpPr/>
            <p:nvPr/>
          </p:nvSpPr>
          <p:spPr>
            <a:xfrm>
              <a:off x="5128589" y="4903307"/>
              <a:ext cx="940904" cy="344556"/>
            </a:xfrm>
            <a:prstGeom prst="rect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b="1" dirty="0"/>
                <a:t>A[mid]</a:t>
              </a:r>
            </a:p>
          </p:txBody>
        </p:sp>
        <p:sp>
          <p:nvSpPr>
            <p:cNvPr id="18" name="Left Brace 17">
              <a:extLst>
                <a:ext uri="{FF2B5EF4-FFF2-40B4-BE49-F238E27FC236}">
                  <a16:creationId xmlns:a16="http://schemas.microsoft.com/office/drawing/2014/main" id="{E9FCE52C-E98E-998C-150F-2DD0825A4C64}"/>
                </a:ext>
              </a:extLst>
            </p:cNvPr>
            <p:cNvSpPr/>
            <p:nvPr/>
          </p:nvSpPr>
          <p:spPr>
            <a:xfrm rot="16200000">
              <a:off x="8223403" y="3355941"/>
              <a:ext cx="529223" cy="4837041"/>
            </a:xfrm>
            <a:prstGeom prst="leftBrace">
              <a:avLst>
                <a:gd name="adj1" fmla="val 8333"/>
                <a:gd name="adj2" fmla="val 49215"/>
              </a:avLst>
            </a:prstGeom>
            <a:solidFill>
              <a:schemeClr val="bg1">
                <a:lumMod val="85000"/>
              </a:schemeClr>
            </a:solidFill>
            <a:ln w="3810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2ABB8124-B67E-FAB0-1A6A-2B7BDBD1950A}"/>
                </a:ext>
              </a:extLst>
            </p:cNvPr>
            <p:cNvSpPr txBox="1"/>
            <p:nvPr/>
          </p:nvSpPr>
          <p:spPr>
            <a:xfrm>
              <a:off x="7533857" y="4918017"/>
              <a:ext cx="312751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/>
                <a:t>Key &gt; A[mid]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B2F9D345-DF89-9BFD-A3B9-BDC23BDD3463}"/>
                </a:ext>
              </a:extLst>
            </p:cNvPr>
            <p:cNvSpPr txBox="1"/>
            <p:nvPr/>
          </p:nvSpPr>
          <p:spPr>
            <a:xfrm>
              <a:off x="8010935" y="5398151"/>
              <a:ext cx="1086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b="1" dirty="0">
                  <a:highlight>
                    <a:srgbClr val="FFFF00"/>
                  </a:highlight>
                </a:rPr>
                <a:t>n/2</a:t>
              </a:r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CA361F75-A57D-9CAA-6B3F-E6D5F102DBF6}"/>
              </a:ext>
            </a:extLst>
          </p:cNvPr>
          <p:cNvSpPr txBox="1"/>
          <p:nvPr/>
        </p:nvSpPr>
        <p:spPr>
          <a:xfrm>
            <a:off x="1020415" y="1240805"/>
            <a:ext cx="58972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Case 3</a:t>
            </a:r>
            <a:r>
              <a:rPr lang="en-IN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:  </a:t>
            </a:r>
            <a:r>
              <a:rPr lang="en-IN" sz="3200" dirty="0">
                <a:solidFill>
                  <a:srgbClr val="00B05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Key &gt; A[mid]</a:t>
            </a:r>
          </a:p>
        </p:txBody>
      </p:sp>
      <p:sp>
        <p:nvSpPr>
          <p:cNvPr id="30" name="Star: 5 Points 29">
            <a:extLst>
              <a:ext uri="{FF2B5EF4-FFF2-40B4-BE49-F238E27FC236}">
                <a16:creationId xmlns:a16="http://schemas.microsoft.com/office/drawing/2014/main" id="{712F76D9-2FC4-5AFA-3E4E-D0FA47C471C7}"/>
              </a:ext>
            </a:extLst>
          </p:cNvPr>
          <p:cNvSpPr/>
          <p:nvPr/>
        </p:nvSpPr>
        <p:spPr>
          <a:xfrm rot="20898459">
            <a:off x="2668118" y="2249649"/>
            <a:ext cx="2191672" cy="1827471"/>
          </a:xfrm>
          <a:prstGeom prst="star5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Prune Left Half 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26EBA44-21FF-5CF5-C246-6DC32AEE1CB3}"/>
              </a:ext>
            </a:extLst>
          </p:cNvPr>
          <p:cNvSpPr/>
          <p:nvPr/>
        </p:nvSpPr>
        <p:spPr>
          <a:xfrm>
            <a:off x="1020415" y="3048003"/>
            <a:ext cx="410137" cy="344556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3F85234-D4C3-10DF-CD39-58FE97869B57}"/>
              </a:ext>
            </a:extLst>
          </p:cNvPr>
          <p:cNvSpPr/>
          <p:nvPr/>
        </p:nvSpPr>
        <p:spPr>
          <a:xfrm>
            <a:off x="10496398" y="3042702"/>
            <a:ext cx="410137" cy="344556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052792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8" grpId="0"/>
      <p:bldP spid="3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6CB10C88-4D11-BC05-9904-C42DEF0F61DB}"/>
              </a:ext>
            </a:extLst>
          </p:cNvPr>
          <p:cNvGrpSpPr/>
          <p:nvPr/>
        </p:nvGrpSpPr>
        <p:grpSpPr>
          <a:xfrm>
            <a:off x="0" y="-12867"/>
            <a:ext cx="12192000" cy="809897"/>
            <a:chOff x="-134982" y="849086"/>
            <a:chExt cx="12192000" cy="809897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28902B2C-8867-758B-4DB9-88BD58A6ACAC}"/>
                </a:ext>
              </a:extLst>
            </p:cNvPr>
            <p:cNvSpPr/>
            <p:nvPr/>
          </p:nvSpPr>
          <p:spPr>
            <a:xfrm>
              <a:off x="-134982" y="849086"/>
              <a:ext cx="12192000" cy="80989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9804A985-0B3F-10CF-537C-0DBA63FD18F3}"/>
                </a:ext>
              </a:extLst>
            </p:cNvPr>
            <p:cNvSpPr txBox="1"/>
            <p:nvPr/>
          </p:nvSpPr>
          <p:spPr>
            <a:xfrm>
              <a:off x="-134982" y="900091"/>
              <a:ext cx="1219200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4000" dirty="0">
                  <a:solidFill>
                    <a:schemeClr val="bg1"/>
                  </a:solidFill>
                  <a:latin typeface="Amasis MT Pro Black" panose="02040A04050005020304" pitchFamily="18" charset="0"/>
                </a:rPr>
                <a:t>Binary Search: Recurrence Relation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2EA109C5-B526-4504-C280-0090A9709FB5}"/>
              </a:ext>
            </a:extLst>
          </p:cNvPr>
          <p:cNvSpPr txBox="1"/>
          <p:nvPr/>
        </p:nvSpPr>
        <p:spPr>
          <a:xfrm>
            <a:off x="834885" y="1466683"/>
            <a:ext cx="62946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/>
              <a:t>T(n) = T(n/2) + k; T(1) = 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364E4CD-6FBF-BCBE-A575-1A35E76E1472}"/>
              </a:ext>
            </a:extLst>
          </p:cNvPr>
          <p:cNvSpPr txBox="1"/>
          <p:nvPr/>
        </p:nvSpPr>
        <p:spPr>
          <a:xfrm>
            <a:off x="834884" y="2890391"/>
            <a:ext cx="814847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Applying Master Theorem</a:t>
            </a:r>
          </a:p>
          <a:p>
            <a:r>
              <a:rPr lang="en-US" sz="3200" dirty="0">
                <a:solidFill>
                  <a:srgbClr val="FF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T(n) = O(</a:t>
            </a:r>
            <a:r>
              <a:rPr lang="en-US" sz="3200" dirty="0" err="1">
                <a:solidFill>
                  <a:srgbClr val="FF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logn</a:t>
            </a:r>
            <a:r>
              <a:rPr lang="en-US" sz="3200" dirty="0">
                <a:solidFill>
                  <a:srgbClr val="FF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)</a:t>
            </a:r>
            <a:endParaRPr lang="en-IN" sz="3200" dirty="0">
              <a:solidFill>
                <a:srgbClr val="FF0000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48776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6CB10C88-4D11-BC05-9904-C42DEF0F61DB}"/>
              </a:ext>
            </a:extLst>
          </p:cNvPr>
          <p:cNvGrpSpPr/>
          <p:nvPr/>
        </p:nvGrpSpPr>
        <p:grpSpPr>
          <a:xfrm>
            <a:off x="0" y="-12867"/>
            <a:ext cx="12192000" cy="809897"/>
            <a:chOff x="-134982" y="849086"/>
            <a:chExt cx="12192000" cy="809897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28902B2C-8867-758B-4DB9-88BD58A6ACAC}"/>
                </a:ext>
              </a:extLst>
            </p:cNvPr>
            <p:cNvSpPr/>
            <p:nvPr/>
          </p:nvSpPr>
          <p:spPr>
            <a:xfrm>
              <a:off x="-134982" y="849086"/>
              <a:ext cx="12192000" cy="80989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9804A985-0B3F-10CF-537C-0DBA63FD18F3}"/>
                </a:ext>
              </a:extLst>
            </p:cNvPr>
            <p:cNvSpPr txBox="1"/>
            <p:nvPr/>
          </p:nvSpPr>
          <p:spPr>
            <a:xfrm>
              <a:off x="-134982" y="900091"/>
              <a:ext cx="1219200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4000" dirty="0">
                  <a:solidFill>
                    <a:schemeClr val="bg1"/>
                  </a:solidFill>
                  <a:latin typeface="Amasis MT Pro Black" panose="02040A04050005020304" pitchFamily="18" charset="0"/>
                </a:rPr>
                <a:t>Binary Search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2893750A-ADD3-A656-9F6B-08F9DDB8F17D}"/>
              </a:ext>
            </a:extLst>
          </p:cNvPr>
          <p:cNvGrpSpPr/>
          <p:nvPr/>
        </p:nvGrpSpPr>
        <p:grpSpPr>
          <a:xfrm>
            <a:off x="1214024" y="797030"/>
            <a:ext cx="8075750" cy="1601614"/>
            <a:chOff x="1214024" y="797029"/>
            <a:chExt cx="8075750" cy="1601614"/>
          </a:xfrm>
        </p:grpSpPr>
        <p:pic>
          <p:nvPicPr>
            <p:cNvPr id="2050" name="Picture 2" descr="C programming Binary search algorithm : part-1">
              <a:extLst>
                <a:ext uri="{FF2B5EF4-FFF2-40B4-BE49-F238E27FC236}">
                  <a16:creationId xmlns:a16="http://schemas.microsoft.com/office/drawing/2014/main" id="{BAD0110C-35BF-BAE8-C1A6-1E32A34778A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14024" y="797029"/>
              <a:ext cx="8067675" cy="15144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84814774-717F-FE07-AE70-D570E3B7433F}"/>
                </a:ext>
              </a:extLst>
            </p:cNvPr>
            <p:cNvSpPr/>
            <p:nvPr/>
          </p:nvSpPr>
          <p:spPr>
            <a:xfrm>
              <a:off x="8203096" y="2173357"/>
              <a:ext cx="1086678" cy="22528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D142CB49-7179-7F73-FED9-B1BD27FBC063}"/>
              </a:ext>
            </a:extLst>
          </p:cNvPr>
          <p:cNvGrpSpPr/>
          <p:nvPr/>
        </p:nvGrpSpPr>
        <p:grpSpPr>
          <a:xfrm>
            <a:off x="2325756" y="2286000"/>
            <a:ext cx="7291181" cy="4624156"/>
            <a:chOff x="2325756" y="2286000"/>
            <a:chExt cx="7291181" cy="4624156"/>
          </a:xfrm>
        </p:grpSpPr>
        <p:pic>
          <p:nvPicPr>
            <p:cNvPr id="1026" name="Picture 2" descr="C programming Binary search algorithm : part-2">
              <a:extLst>
                <a:ext uri="{FF2B5EF4-FFF2-40B4-BE49-F238E27FC236}">
                  <a16:creationId xmlns:a16="http://schemas.microsoft.com/office/drawing/2014/main" id="{81DB16C6-CD71-31B2-E8D5-AF754DD4C56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25756" y="2286000"/>
              <a:ext cx="6747842" cy="462415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61EB550-170B-0770-A53A-F3514FC35D8E}"/>
                </a:ext>
              </a:extLst>
            </p:cNvPr>
            <p:cNvSpPr/>
            <p:nvPr/>
          </p:nvSpPr>
          <p:spPr>
            <a:xfrm>
              <a:off x="7059267" y="6508435"/>
              <a:ext cx="2557670" cy="22528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8933425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6CB10C88-4D11-BC05-9904-C42DEF0F61DB}"/>
              </a:ext>
            </a:extLst>
          </p:cNvPr>
          <p:cNvGrpSpPr/>
          <p:nvPr/>
        </p:nvGrpSpPr>
        <p:grpSpPr>
          <a:xfrm>
            <a:off x="0" y="-12867"/>
            <a:ext cx="12192000" cy="809897"/>
            <a:chOff x="-134982" y="849086"/>
            <a:chExt cx="12192000" cy="809897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28902B2C-8867-758B-4DB9-88BD58A6ACAC}"/>
                </a:ext>
              </a:extLst>
            </p:cNvPr>
            <p:cNvSpPr/>
            <p:nvPr/>
          </p:nvSpPr>
          <p:spPr>
            <a:xfrm>
              <a:off x="-134982" y="849086"/>
              <a:ext cx="12192000" cy="80989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9804A985-0B3F-10CF-537C-0DBA63FD18F3}"/>
                </a:ext>
              </a:extLst>
            </p:cNvPr>
            <p:cNvSpPr txBox="1"/>
            <p:nvPr/>
          </p:nvSpPr>
          <p:spPr>
            <a:xfrm>
              <a:off x="-134982" y="900091"/>
              <a:ext cx="1219200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4000" dirty="0">
                  <a:solidFill>
                    <a:schemeClr val="bg1"/>
                  </a:solidFill>
                  <a:latin typeface="Amasis MT Pro Black" panose="02040A04050005020304" pitchFamily="18" charset="0"/>
                </a:rPr>
                <a:t>Binary Search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1C102E3-7509-651D-CF89-885A4375CA84}"/>
              </a:ext>
            </a:extLst>
          </p:cNvPr>
          <p:cNvGrpSpPr/>
          <p:nvPr/>
        </p:nvGrpSpPr>
        <p:grpSpPr>
          <a:xfrm>
            <a:off x="1972089" y="1084608"/>
            <a:ext cx="7505700" cy="5086350"/>
            <a:chOff x="1972089" y="1084608"/>
            <a:chExt cx="7505700" cy="5086350"/>
          </a:xfrm>
        </p:grpSpPr>
        <p:pic>
          <p:nvPicPr>
            <p:cNvPr id="7" name="Picture 2" descr="C programming Binary search algorithm : part-3">
              <a:extLst>
                <a:ext uri="{FF2B5EF4-FFF2-40B4-BE49-F238E27FC236}">
                  <a16:creationId xmlns:a16="http://schemas.microsoft.com/office/drawing/2014/main" id="{72E0A107-85D9-2E6E-B008-362BBD4DB26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72089" y="1084608"/>
              <a:ext cx="7505700" cy="50863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0CB628D-E425-0723-69A8-CF7C4B1AE716}"/>
                </a:ext>
              </a:extLst>
            </p:cNvPr>
            <p:cNvSpPr/>
            <p:nvPr/>
          </p:nvSpPr>
          <p:spPr>
            <a:xfrm>
              <a:off x="8083826" y="5618922"/>
              <a:ext cx="1192696" cy="26504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26067764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6CB10C88-4D11-BC05-9904-C42DEF0F61DB}"/>
              </a:ext>
            </a:extLst>
          </p:cNvPr>
          <p:cNvGrpSpPr/>
          <p:nvPr/>
        </p:nvGrpSpPr>
        <p:grpSpPr>
          <a:xfrm>
            <a:off x="0" y="-12867"/>
            <a:ext cx="12192000" cy="809897"/>
            <a:chOff x="-134982" y="849086"/>
            <a:chExt cx="12192000" cy="809897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28902B2C-8867-758B-4DB9-88BD58A6ACAC}"/>
                </a:ext>
              </a:extLst>
            </p:cNvPr>
            <p:cNvSpPr/>
            <p:nvPr/>
          </p:nvSpPr>
          <p:spPr>
            <a:xfrm>
              <a:off x="-134982" y="849086"/>
              <a:ext cx="12192000" cy="80989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9804A985-0B3F-10CF-537C-0DBA63FD18F3}"/>
                </a:ext>
              </a:extLst>
            </p:cNvPr>
            <p:cNvSpPr txBox="1"/>
            <p:nvPr/>
          </p:nvSpPr>
          <p:spPr>
            <a:xfrm>
              <a:off x="-134982" y="900091"/>
              <a:ext cx="1219200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4000" dirty="0">
                  <a:solidFill>
                    <a:schemeClr val="bg1"/>
                  </a:solidFill>
                  <a:latin typeface="Amasis MT Pro Black" panose="02040A04050005020304" pitchFamily="18" charset="0"/>
                </a:rPr>
                <a:t>Binary Search: Algorithm</a:t>
              </a:r>
            </a:p>
          </p:txBody>
        </p:sp>
      </p:grpSp>
      <p:sp>
        <p:nvSpPr>
          <p:cNvPr id="7" name="Rectangle 1">
            <a:extLst>
              <a:ext uri="{FF2B5EF4-FFF2-40B4-BE49-F238E27FC236}">
                <a16:creationId xmlns:a16="http://schemas.microsoft.com/office/drawing/2014/main" id="{83B98176-6C3B-4D13-1016-C6418DC84A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3697" y="601814"/>
            <a:ext cx="11648303" cy="62403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0" tIns="198375" rIns="0" bIns="198375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Algorithm: Binary Search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rgbClr val="00B050"/>
              </a:solidFill>
              <a:effectLst/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Initialization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badi" panose="020B0604020104020204" pitchFamily="34" charset="0"/>
              </a:rPr>
              <a:t>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badi" panose="020B0604020104020204" pitchFamily="34" charset="0"/>
              </a:rPr>
              <a:t> Set two pointers,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badi" panose="020B0604020104020204" pitchFamily="34" charset="0"/>
              </a:rPr>
              <a:t>low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badi" panose="020B0604020104020204" pitchFamily="34" charset="0"/>
              </a:rPr>
              <a:t> and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badi" panose="020B0604020104020204" pitchFamily="34" charset="0"/>
              </a:rPr>
              <a:t>high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badi" panose="020B0604020104020204" pitchFamily="34" charset="0"/>
              </a:rPr>
              <a:t>, to the beginning and end of the array, respectively.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ptos Black" panose="020B0004020202020204" pitchFamily="34" charset="0"/>
              </a:rPr>
              <a:t>Search Loop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badi" panose="020B0604020104020204" pitchFamily="34" charset="0"/>
              </a:rPr>
              <a:t>: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>
                  <a:lumMod val="95000"/>
                  <a:lumOff val="5000"/>
                </a:schemeClr>
              </a:solidFill>
              <a:effectLst/>
              <a:latin typeface="Abadi" panose="020B0604020104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badi" panose="020B0604020104020204" pitchFamily="34" charset="0"/>
              </a:rPr>
              <a:t>While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badi" panose="020B0604020104020204" pitchFamily="34" charset="0"/>
              </a:rPr>
              <a:t>low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badi" panose="020B0604020104020204" pitchFamily="34" charset="0"/>
              </a:rPr>
              <a:t> is less than or equal to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badi" panose="020B0604020104020204" pitchFamily="34" charset="0"/>
              </a:rPr>
              <a:t>high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badi" panose="020B0604020104020204" pitchFamily="34" charset="0"/>
              </a:rPr>
              <a:t>:</a:t>
            </a:r>
          </a:p>
          <a:p>
            <a:pPr marL="914400" marR="0" lvl="2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badi" panose="020B0604020104020204" pitchFamily="34" charset="0"/>
              </a:rPr>
              <a:t>Calculate the middle index: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badi" panose="020B0604020104020204" pitchFamily="34" charset="0"/>
              </a:rPr>
              <a:t>mid = (low + high) / 2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badi" panose="020B0604020104020204" pitchFamily="34" charset="0"/>
              </a:rPr>
              <a:t>.</a:t>
            </a:r>
          </a:p>
          <a:p>
            <a:pPr marL="914400" marR="0" lvl="2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badi" panose="020B0604020104020204" pitchFamily="34" charset="0"/>
              </a:rPr>
              <a:t>Compare the middle element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badi" panose="020B0604020104020204" pitchFamily="34" charset="0"/>
              </a:rPr>
              <a:t>arr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badi" panose="020B0604020104020204" pitchFamily="34" charset="0"/>
              </a:rPr>
              <a:t>[mid]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badi" panose="020B0604020104020204" pitchFamily="34" charset="0"/>
              </a:rPr>
              <a:t> with the target element </a:t>
            </a:r>
            <a:r>
              <a:rPr lang="en-US" alt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badi" panose="020B0604020104020204" pitchFamily="34" charset="0"/>
              </a:rPr>
              <a:t>Key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badi" panose="020B0604020104020204" pitchFamily="34" charset="0"/>
              </a:rPr>
              <a:t>.</a:t>
            </a:r>
          </a:p>
          <a:p>
            <a:pPr marL="1371600" marR="0" lvl="3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badi" panose="020B0604020104020204" pitchFamily="34" charset="0"/>
              </a:rPr>
              <a:t>If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badi" panose="020B0604020104020204" pitchFamily="34" charset="0"/>
              </a:rPr>
              <a:t>arr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badi" panose="020B0604020104020204" pitchFamily="34" charset="0"/>
              </a:rPr>
              <a:t>[mid]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badi" panose="020B0604020104020204" pitchFamily="34" charset="0"/>
              </a:rPr>
              <a:t> is equal to </a:t>
            </a:r>
            <a:r>
              <a:rPr lang="en-US" alt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badi" panose="020B0604020104020204" pitchFamily="34" charset="0"/>
              </a:rPr>
              <a:t>Key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badi" panose="020B0604020104020204" pitchFamily="34" charset="0"/>
              </a:rPr>
              <a:t>, return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badi" panose="020B0604020104020204" pitchFamily="34" charset="0"/>
              </a:rPr>
              <a:t>mid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badi" panose="020B0604020104020204" pitchFamily="34" charset="0"/>
              </a:rPr>
              <a:t> (element found).</a:t>
            </a:r>
          </a:p>
          <a:p>
            <a:pPr marL="1371600" marR="0" lvl="3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badi" panose="020B0604020104020204" pitchFamily="34" charset="0"/>
              </a:rPr>
              <a:t>If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badi" panose="020B0604020104020204" pitchFamily="34" charset="0"/>
              </a:rPr>
              <a:t>arr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badi" panose="020B0604020104020204" pitchFamily="34" charset="0"/>
              </a:rPr>
              <a:t>[mid]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badi" panose="020B0604020104020204" pitchFamily="34" charset="0"/>
              </a:rPr>
              <a:t> is less than </a:t>
            </a:r>
            <a:r>
              <a:rPr lang="en-US" alt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badi" panose="020B0604020104020204" pitchFamily="34" charset="0"/>
              </a:rPr>
              <a:t>Key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badi" panose="020B0604020104020204" pitchFamily="34" charset="0"/>
              </a:rPr>
              <a:t>, move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badi" panose="020B0604020104020204" pitchFamily="34" charset="0"/>
              </a:rPr>
              <a:t>low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badi" panose="020B0604020104020204" pitchFamily="34" charset="0"/>
              </a:rPr>
              <a:t> to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badi" panose="020B0604020104020204" pitchFamily="34" charset="0"/>
              </a:rPr>
              <a:t>mid + 1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badi" panose="020B0604020104020204" pitchFamily="34" charset="0"/>
              </a:rPr>
              <a:t> (search in the right half).</a:t>
            </a:r>
          </a:p>
          <a:p>
            <a:pPr marL="1371600" marR="0" lvl="3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badi" panose="020B0604020104020204" pitchFamily="34" charset="0"/>
              </a:rPr>
              <a:t>If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badi" panose="020B0604020104020204" pitchFamily="34" charset="0"/>
              </a:rPr>
              <a:t>arr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badi" panose="020B0604020104020204" pitchFamily="34" charset="0"/>
              </a:rPr>
              <a:t>[mid]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badi" panose="020B0604020104020204" pitchFamily="34" charset="0"/>
              </a:rPr>
              <a:t> is greater than </a:t>
            </a:r>
            <a:r>
              <a:rPr lang="en-US" alt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badi" panose="020B0604020104020204" pitchFamily="34" charset="0"/>
              </a:rPr>
              <a:t>Key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badi" panose="020B0604020104020204" pitchFamily="34" charset="0"/>
              </a:rPr>
              <a:t>, move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badi" panose="020B0604020104020204" pitchFamily="34" charset="0"/>
              </a:rPr>
              <a:t>high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badi" panose="020B0604020104020204" pitchFamily="34" charset="0"/>
              </a:rPr>
              <a:t> to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badi" panose="020B0604020104020204" pitchFamily="34" charset="0"/>
              </a:rPr>
              <a:t>mid - 1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badi" panose="020B0604020104020204" pitchFamily="34" charset="0"/>
              </a:rPr>
              <a:t> (search in the left half).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Termination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badi" panose="020B0604020104020204" pitchFamily="34" charset="0"/>
              </a:rPr>
              <a:t>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badi" panose="020B0604020104020204" pitchFamily="34" charset="0"/>
              </a:rPr>
              <a:t> If the loop exits without finding the target element, return a value indicating that the element was not found (e.g., -1).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>
                  <a:lumMod val="95000"/>
                  <a:lumOff val="5000"/>
                </a:schemeClr>
              </a:solidFill>
              <a:effectLst/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76310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6CB10C88-4D11-BC05-9904-C42DEF0F61DB}"/>
              </a:ext>
            </a:extLst>
          </p:cNvPr>
          <p:cNvGrpSpPr/>
          <p:nvPr/>
        </p:nvGrpSpPr>
        <p:grpSpPr>
          <a:xfrm>
            <a:off x="0" y="-12867"/>
            <a:ext cx="12192000" cy="809897"/>
            <a:chOff x="-134982" y="849086"/>
            <a:chExt cx="12192000" cy="809897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28902B2C-8867-758B-4DB9-88BD58A6ACAC}"/>
                </a:ext>
              </a:extLst>
            </p:cNvPr>
            <p:cNvSpPr/>
            <p:nvPr/>
          </p:nvSpPr>
          <p:spPr>
            <a:xfrm>
              <a:off x="-134982" y="849086"/>
              <a:ext cx="12192000" cy="80989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9804A985-0B3F-10CF-537C-0DBA63FD18F3}"/>
                </a:ext>
              </a:extLst>
            </p:cNvPr>
            <p:cNvSpPr txBox="1"/>
            <p:nvPr/>
          </p:nvSpPr>
          <p:spPr>
            <a:xfrm>
              <a:off x="-134982" y="900091"/>
              <a:ext cx="1219200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4000" dirty="0">
                  <a:solidFill>
                    <a:schemeClr val="bg1"/>
                  </a:solidFill>
                  <a:latin typeface="Amasis MT Pro Black" panose="02040A04050005020304" pitchFamily="18" charset="0"/>
                </a:rPr>
                <a:t>Median 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B2BFDCD4-CDB2-B319-070D-2F95BAB48AD9}"/>
              </a:ext>
            </a:extLst>
          </p:cNvPr>
          <p:cNvSpPr txBox="1"/>
          <p:nvPr/>
        </p:nvSpPr>
        <p:spPr>
          <a:xfrm>
            <a:off x="887896" y="1192696"/>
            <a:ext cx="97403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0" i="0" dirty="0">
                <a:solidFill>
                  <a:srgbClr val="00B050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The </a:t>
            </a:r>
            <a:r>
              <a:rPr lang="en-US" sz="3200" b="0" i="0" dirty="0">
                <a:solidFill>
                  <a:srgbClr val="7030A0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median</a:t>
            </a:r>
            <a:r>
              <a:rPr lang="en-US" sz="3200" b="0" i="0" dirty="0">
                <a:solidFill>
                  <a:srgbClr val="00B050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is the </a:t>
            </a:r>
            <a:r>
              <a:rPr lang="en-US" sz="3200" b="0" i="0" dirty="0">
                <a:solidFill>
                  <a:srgbClr val="FF0000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middle value </a:t>
            </a:r>
            <a:r>
              <a:rPr lang="en-US" sz="3200" b="0" i="0" dirty="0">
                <a:solidFill>
                  <a:srgbClr val="00B050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of a dataset</a:t>
            </a:r>
            <a:endParaRPr lang="en-IN" sz="3200" dirty="0">
              <a:solidFill>
                <a:srgbClr val="00B050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pic>
        <p:nvPicPr>
          <p:cNvPr id="3074" name="Picture 2" descr="Graphic illustrating the median is the middle value of the data">
            <a:extLst>
              <a:ext uri="{FF2B5EF4-FFF2-40B4-BE49-F238E27FC236}">
                <a16:creationId xmlns:a16="http://schemas.microsoft.com/office/drawing/2014/main" id="{7F05C534-7ABC-D44A-274E-948DF04F79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1141" y="2081246"/>
            <a:ext cx="7462010" cy="44074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932601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6CB10C88-4D11-BC05-9904-C42DEF0F61DB}"/>
              </a:ext>
            </a:extLst>
          </p:cNvPr>
          <p:cNvGrpSpPr/>
          <p:nvPr/>
        </p:nvGrpSpPr>
        <p:grpSpPr>
          <a:xfrm>
            <a:off x="0" y="-12867"/>
            <a:ext cx="12192000" cy="809897"/>
            <a:chOff x="-134982" y="849086"/>
            <a:chExt cx="12192000" cy="809897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28902B2C-8867-758B-4DB9-88BD58A6ACAC}"/>
                </a:ext>
              </a:extLst>
            </p:cNvPr>
            <p:cNvSpPr/>
            <p:nvPr/>
          </p:nvSpPr>
          <p:spPr>
            <a:xfrm>
              <a:off x="-134982" y="849086"/>
              <a:ext cx="12192000" cy="80989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9804A985-0B3F-10CF-537C-0DBA63FD18F3}"/>
                </a:ext>
              </a:extLst>
            </p:cNvPr>
            <p:cNvSpPr txBox="1"/>
            <p:nvPr/>
          </p:nvSpPr>
          <p:spPr>
            <a:xfrm>
              <a:off x="-134982" y="900091"/>
              <a:ext cx="1219200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4000" dirty="0">
                  <a:solidFill>
                    <a:schemeClr val="bg1"/>
                  </a:solidFill>
                  <a:latin typeface="Amasis MT Pro Black" panose="02040A04050005020304" pitchFamily="18" charset="0"/>
                </a:rPr>
                <a:t>Median</a:t>
              </a:r>
            </a:p>
          </p:txBody>
        </p:sp>
      </p:grpSp>
      <p:pic>
        <p:nvPicPr>
          <p:cNvPr id="4098" name="Picture 2" descr="Graphic showing the median formula for datasets with even and odd numbers of values">
            <a:extLst>
              <a:ext uri="{FF2B5EF4-FFF2-40B4-BE49-F238E27FC236}">
                <a16:creationId xmlns:a16="http://schemas.microsoft.com/office/drawing/2014/main" id="{A77FCA29-4627-90F8-1749-CED59EE5F32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2" t="21835" r="1903" b="50109"/>
          <a:stretch/>
        </p:blipFill>
        <p:spPr bwMode="auto">
          <a:xfrm>
            <a:off x="326914" y="1046920"/>
            <a:ext cx="11538171" cy="22396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>
            <a:extLst>
              <a:ext uri="{FF2B5EF4-FFF2-40B4-BE49-F238E27FC236}">
                <a16:creationId xmlns:a16="http://schemas.microsoft.com/office/drawing/2014/main" id="{0A52661D-5E32-7919-6500-AB36587EE4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2403" y="3571462"/>
            <a:ext cx="6784882" cy="25408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649825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6CB10C88-4D11-BC05-9904-C42DEF0F61DB}"/>
              </a:ext>
            </a:extLst>
          </p:cNvPr>
          <p:cNvGrpSpPr/>
          <p:nvPr/>
        </p:nvGrpSpPr>
        <p:grpSpPr>
          <a:xfrm>
            <a:off x="0" y="-12867"/>
            <a:ext cx="12192000" cy="809897"/>
            <a:chOff x="-134982" y="849086"/>
            <a:chExt cx="12192000" cy="809897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28902B2C-8867-758B-4DB9-88BD58A6ACAC}"/>
                </a:ext>
              </a:extLst>
            </p:cNvPr>
            <p:cNvSpPr/>
            <p:nvPr/>
          </p:nvSpPr>
          <p:spPr>
            <a:xfrm>
              <a:off x="-134982" y="849086"/>
              <a:ext cx="12192000" cy="80989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9804A985-0B3F-10CF-537C-0DBA63FD18F3}"/>
                </a:ext>
              </a:extLst>
            </p:cNvPr>
            <p:cNvSpPr txBox="1"/>
            <p:nvPr/>
          </p:nvSpPr>
          <p:spPr>
            <a:xfrm>
              <a:off x="-134982" y="900091"/>
              <a:ext cx="1219200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4000" dirty="0">
                  <a:solidFill>
                    <a:schemeClr val="bg1"/>
                  </a:solidFill>
                  <a:latin typeface="Amasis MT Pro Black" panose="02040A04050005020304" pitchFamily="18" charset="0"/>
                </a:rPr>
                <a:t>Median</a:t>
              </a:r>
            </a:p>
          </p:txBody>
        </p:sp>
      </p:grpSp>
      <p:pic>
        <p:nvPicPr>
          <p:cNvPr id="4098" name="Picture 2" descr="Graphic showing the median formula for datasets with even and odd numbers of values">
            <a:extLst>
              <a:ext uri="{FF2B5EF4-FFF2-40B4-BE49-F238E27FC236}">
                <a16:creationId xmlns:a16="http://schemas.microsoft.com/office/drawing/2014/main" id="{A77FCA29-4627-90F8-1749-CED59EE5F32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2" t="51717" r="1903" b="18068"/>
          <a:stretch/>
        </p:blipFill>
        <p:spPr bwMode="auto">
          <a:xfrm>
            <a:off x="326914" y="848034"/>
            <a:ext cx="11538171" cy="24118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6" name="Picture 2">
            <a:extLst>
              <a:ext uri="{FF2B5EF4-FFF2-40B4-BE49-F238E27FC236}">
                <a16:creationId xmlns:a16="http://schemas.microsoft.com/office/drawing/2014/main" id="{B72AA690-15AC-74D5-536C-153E19D2BE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7975" y="3598073"/>
            <a:ext cx="5938216" cy="2829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50532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6CB10C88-4D11-BC05-9904-C42DEF0F61DB}"/>
              </a:ext>
            </a:extLst>
          </p:cNvPr>
          <p:cNvGrpSpPr/>
          <p:nvPr/>
        </p:nvGrpSpPr>
        <p:grpSpPr>
          <a:xfrm>
            <a:off x="0" y="-12867"/>
            <a:ext cx="12192000" cy="809897"/>
            <a:chOff x="-134982" y="849086"/>
            <a:chExt cx="12192000" cy="809897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28902B2C-8867-758B-4DB9-88BD58A6ACAC}"/>
                </a:ext>
              </a:extLst>
            </p:cNvPr>
            <p:cNvSpPr/>
            <p:nvPr/>
          </p:nvSpPr>
          <p:spPr>
            <a:xfrm>
              <a:off x="-134982" y="849086"/>
              <a:ext cx="12192000" cy="80989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9804A985-0B3F-10CF-537C-0DBA63FD18F3}"/>
                </a:ext>
              </a:extLst>
            </p:cNvPr>
            <p:cNvSpPr txBox="1"/>
            <p:nvPr/>
          </p:nvSpPr>
          <p:spPr>
            <a:xfrm>
              <a:off x="-134982" y="900091"/>
              <a:ext cx="1219200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4000" dirty="0">
                  <a:solidFill>
                    <a:schemeClr val="bg1"/>
                  </a:solidFill>
                  <a:latin typeface="Amasis MT Pro Black" panose="02040A04050005020304" pitchFamily="18" charset="0"/>
                </a:rPr>
                <a:t>Median of Two Sorted Array</a:t>
              </a:r>
            </a:p>
          </p:txBody>
        </p:sp>
      </p:grpSp>
      <p:sp>
        <p:nvSpPr>
          <p:cNvPr id="8" name="Rectangle 2">
            <a:extLst>
              <a:ext uri="{FF2B5EF4-FFF2-40B4-BE49-F238E27FC236}">
                <a16:creationId xmlns:a16="http://schemas.microsoft.com/office/drawing/2014/main" id="{5BFCC685-8964-D528-CC55-494B9E00D503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291546" y="1668739"/>
            <a:ext cx="11900453" cy="83099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400" b="1" i="0" dirty="0">
                <a:solidFill>
                  <a:srgbClr val="00B050"/>
                </a:solidFill>
                <a:effectLst/>
                <a:latin typeface="Comic Sans MS" panose="030F0702030302020204" pitchFamily="66" charset="0"/>
              </a:rPr>
              <a:t>There are two sorted arrays A and B of size n. Find the median of the two sorted arrays.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rgbClr val="00B050"/>
              </a:solidFill>
              <a:effectLst/>
              <a:latin typeface="Comic Sans MS" panose="030F0702030302020204" pitchFamily="66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B0BA3FE-EEB5-3DE3-8ED1-12FE2111EA9D}"/>
              </a:ext>
            </a:extLst>
          </p:cNvPr>
          <p:cNvSpPr txBox="1"/>
          <p:nvPr/>
        </p:nvSpPr>
        <p:spPr>
          <a:xfrm>
            <a:off x="291547" y="971274"/>
            <a:ext cx="52611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  <a:latin typeface="Aptos Black" panose="020B0604020202020204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Problem Statement:</a:t>
            </a:r>
            <a:endParaRPr lang="en-IN" sz="2800" dirty="0">
              <a:solidFill>
                <a:srgbClr val="FF0000"/>
              </a:solidFill>
              <a:latin typeface="Aptos Black" panose="020B0604020202020204" pitchFamily="34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pic>
        <p:nvPicPr>
          <p:cNvPr id="5124" name="Picture 4">
            <a:extLst>
              <a:ext uri="{FF2B5EF4-FFF2-40B4-BE49-F238E27FC236}">
                <a16:creationId xmlns:a16="http://schemas.microsoft.com/office/drawing/2014/main" id="{0280BFC3-8C3F-5278-E234-2A309D8F06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5741" y="3059425"/>
            <a:ext cx="8353838" cy="3798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CBC38A2-8348-5FE0-8B97-380B085FCC91}"/>
              </a:ext>
            </a:extLst>
          </p:cNvPr>
          <p:cNvSpPr txBox="1"/>
          <p:nvPr/>
        </p:nvSpPr>
        <p:spPr>
          <a:xfrm>
            <a:off x="291546" y="2559042"/>
            <a:ext cx="21070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7030A0"/>
                </a:solidFill>
                <a:latin typeface="Aptos Black" panose="020B0004020202020204" pitchFamily="34" charset="0"/>
              </a:rPr>
              <a:t>Example:</a:t>
            </a:r>
            <a:endParaRPr lang="en-IN" sz="2400" dirty="0">
              <a:solidFill>
                <a:srgbClr val="7030A0"/>
              </a:solidFill>
              <a:latin typeface="Aptos Black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96571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6CB10C88-4D11-BC05-9904-C42DEF0F61DB}"/>
              </a:ext>
            </a:extLst>
          </p:cNvPr>
          <p:cNvGrpSpPr/>
          <p:nvPr/>
        </p:nvGrpSpPr>
        <p:grpSpPr>
          <a:xfrm>
            <a:off x="0" y="-12867"/>
            <a:ext cx="12192000" cy="809897"/>
            <a:chOff x="-134982" y="849086"/>
            <a:chExt cx="12192000" cy="809897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28902B2C-8867-758B-4DB9-88BD58A6ACAC}"/>
                </a:ext>
              </a:extLst>
            </p:cNvPr>
            <p:cNvSpPr/>
            <p:nvPr/>
          </p:nvSpPr>
          <p:spPr>
            <a:xfrm>
              <a:off x="-134982" y="849086"/>
              <a:ext cx="12192000" cy="80989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9804A985-0B3F-10CF-537C-0DBA63FD18F3}"/>
                </a:ext>
              </a:extLst>
            </p:cNvPr>
            <p:cNvSpPr txBox="1"/>
            <p:nvPr/>
          </p:nvSpPr>
          <p:spPr>
            <a:xfrm>
              <a:off x="-134982" y="900091"/>
              <a:ext cx="1219200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4000" dirty="0">
                  <a:solidFill>
                    <a:schemeClr val="bg1"/>
                  </a:solidFill>
                  <a:latin typeface="Amasis MT Pro Black" panose="02040A04050005020304" pitchFamily="18" charset="0"/>
                </a:rPr>
                <a:t>Median of Two Sorted Array</a:t>
              </a:r>
            </a:p>
          </p:txBody>
        </p:sp>
      </p:grpSp>
      <p:sp>
        <p:nvSpPr>
          <p:cNvPr id="8" name="Rectangle 2">
            <a:extLst>
              <a:ext uri="{FF2B5EF4-FFF2-40B4-BE49-F238E27FC236}">
                <a16:creationId xmlns:a16="http://schemas.microsoft.com/office/drawing/2014/main" id="{5BFCC685-8964-D528-CC55-494B9E00D503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291546" y="1853405"/>
            <a:ext cx="3339550" cy="4616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400" b="1" i="0" dirty="0">
                <a:solidFill>
                  <a:srgbClr val="00B050"/>
                </a:solidFill>
                <a:effectLst/>
                <a:latin typeface="Comic Sans MS" panose="030F0702030302020204" pitchFamily="66" charset="0"/>
              </a:rPr>
              <a:t>Base Case-1: </a:t>
            </a:r>
            <a:r>
              <a:rPr lang="en-US" sz="24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omic Sans MS" panose="030F0702030302020204" pitchFamily="66" charset="0"/>
              </a:rPr>
              <a:t>if n=1 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>
                  <a:lumMod val="95000"/>
                  <a:lumOff val="5000"/>
                </a:schemeClr>
              </a:solidFill>
              <a:effectLst/>
              <a:latin typeface="Comic Sans MS" panose="030F0702030302020204" pitchFamily="66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B0BA3FE-EEB5-3DE3-8ED1-12FE2111EA9D}"/>
              </a:ext>
            </a:extLst>
          </p:cNvPr>
          <p:cNvSpPr txBox="1"/>
          <p:nvPr/>
        </p:nvSpPr>
        <p:spPr>
          <a:xfrm>
            <a:off x="291547" y="971274"/>
            <a:ext cx="75272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  <a:latin typeface="Aptos Black" panose="020B0604020202020204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Divide Conquer and Combine Approach:</a:t>
            </a:r>
            <a:endParaRPr lang="en-IN" sz="2800" dirty="0">
              <a:solidFill>
                <a:srgbClr val="FF0000"/>
              </a:solidFill>
              <a:latin typeface="Aptos Black" panose="020B0604020202020204" pitchFamily="34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8A687DD-BF79-B558-082F-49CE5F02E61B}"/>
                  </a:ext>
                </a:extLst>
              </p:cNvPr>
              <p:cNvSpPr txBox="1"/>
              <p:nvPr/>
            </p:nvSpPr>
            <p:spPr>
              <a:xfrm>
                <a:off x="1961320" y="3260046"/>
                <a:ext cx="5923722" cy="9266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 panose="02040503050406030204" pitchFamily="18" charset="0"/>
                        </a:rPr>
                        <m:t>𝑀𝑒𝑑𝑖𝑎𝑛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𝐴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[0]</m:t>
                          </m:r>
                        </m:num>
                        <m:den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IN" sz="28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8A687DD-BF79-B558-082F-49CE5F02E6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1320" y="3260046"/>
                <a:ext cx="5923722" cy="9266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" name="Group 11">
            <a:extLst>
              <a:ext uri="{FF2B5EF4-FFF2-40B4-BE49-F238E27FC236}">
                <a16:creationId xmlns:a16="http://schemas.microsoft.com/office/drawing/2014/main" id="{7A0D63A8-52AB-00AB-619D-BD477A2A2ABA}"/>
              </a:ext>
            </a:extLst>
          </p:cNvPr>
          <p:cNvGrpSpPr/>
          <p:nvPr/>
        </p:nvGrpSpPr>
        <p:grpSpPr>
          <a:xfrm>
            <a:off x="4346713" y="1896037"/>
            <a:ext cx="1749287" cy="369332"/>
            <a:chOff x="5247861" y="1948070"/>
            <a:chExt cx="1749287" cy="369332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6EEC04B-3F78-6903-BD94-4C91319F3822}"/>
                </a:ext>
              </a:extLst>
            </p:cNvPr>
            <p:cNvSpPr txBox="1"/>
            <p:nvPr/>
          </p:nvSpPr>
          <p:spPr>
            <a:xfrm>
              <a:off x="5247861" y="1948070"/>
              <a:ext cx="174928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 =</a:t>
              </a:r>
              <a:endParaRPr lang="en-IN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B631F11-586B-0CD5-27EF-34E3A7D1EF46}"/>
                </a:ext>
              </a:extLst>
            </p:cNvPr>
            <p:cNvSpPr/>
            <p:nvPr/>
          </p:nvSpPr>
          <p:spPr>
            <a:xfrm>
              <a:off x="5801140" y="1948070"/>
              <a:ext cx="642727" cy="34714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A[0]</a:t>
              </a:r>
              <a:endParaRPr lang="en-IN" dirty="0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CC3007F-7D49-1793-083C-1FB699413327}"/>
              </a:ext>
            </a:extLst>
          </p:cNvPr>
          <p:cNvGrpSpPr/>
          <p:nvPr/>
        </p:nvGrpSpPr>
        <p:grpSpPr>
          <a:xfrm>
            <a:off x="6944139" y="1896037"/>
            <a:ext cx="1749287" cy="369332"/>
            <a:chOff x="5247861" y="1948070"/>
            <a:chExt cx="1749287" cy="369332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E6728A55-36FA-25A6-3B04-82491DE15AE7}"/>
                </a:ext>
              </a:extLst>
            </p:cNvPr>
            <p:cNvSpPr txBox="1"/>
            <p:nvPr/>
          </p:nvSpPr>
          <p:spPr>
            <a:xfrm>
              <a:off x="5247861" y="1948070"/>
              <a:ext cx="174928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 =</a:t>
              </a:r>
              <a:endParaRPr lang="en-IN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D0556F70-E6D3-011C-95D3-92EFA877C99E}"/>
                </a:ext>
              </a:extLst>
            </p:cNvPr>
            <p:cNvSpPr/>
            <p:nvPr/>
          </p:nvSpPr>
          <p:spPr>
            <a:xfrm>
              <a:off x="5801140" y="1948070"/>
              <a:ext cx="642727" cy="34714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B[0]</a:t>
              </a:r>
              <a:endParaRPr lang="en-IN" dirty="0"/>
            </a:p>
          </p:txBody>
        </p:sp>
      </p:grpSp>
    </p:spTree>
    <p:extLst>
      <p:ext uri="{BB962C8B-B14F-4D97-AF65-F5344CB8AC3E}">
        <p14:creationId xmlns:p14="http://schemas.microsoft.com/office/powerpoint/2010/main" val="113350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6CB10C88-4D11-BC05-9904-C42DEF0F61DB}"/>
              </a:ext>
            </a:extLst>
          </p:cNvPr>
          <p:cNvGrpSpPr/>
          <p:nvPr/>
        </p:nvGrpSpPr>
        <p:grpSpPr>
          <a:xfrm>
            <a:off x="0" y="-12867"/>
            <a:ext cx="12192000" cy="809897"/>
            <a:chOff x="-134982" y="849086"/>
            <a:chExt cx="12192000" cy="809897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28902B2C-8867-758B-4DB9-88BD58A6ACAC}"/>
                </a:ext>
              </a:extLst>
            </p:cNvPr>
            <p:cNvSpPr/>
            <p:nvPr/>
          </p:nvSpPr>
          <p:spPr>
            <a:xfrm>
              <a:off x="-134982" y="849086"/>
              <a:ext cx="12192000" cy="80989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9804A985-0B3F-10CF-537C-0DBA63FD18F3}"/>
                </a:ext>
              </a:extLst>
            </p:cNvPr>
            <p:cNvSpPr txBox="1"/>
            <p:nvPr/>
          </p:nvSpPr>
          <p:spPr>
            <a:xfrm>
              <a:off x="-134982" y="900091"/>
              <a:ext cx="1219200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4000" dirty="0">
                  <a:solidFill>
                    <a:schemeClr val="bg1"/>
                  </a:solidFill>
                  <a:latin typeface="Amasis MT Pro Black" panose="02040A04050005020304" pitchFamily="18" charset="0"/>
                </a:rPr>
                <a:t>Median of Two Sorted Array</a:t>
              </a: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EB0BA3FE-EEB5-3DE3-8ED1-12FE2111EA9D}"/>
              </a:ext>
            </a:extLst>
          </p:cNvPr>
          <p:cNvSpPr txBox="1"/>
          <p:nvPr/>
        </p:nvSpPr>
        <p:spPr>
          <a:xfrm>
            <a:off x="291547" y="971274"/>
            <a:ext cx="75272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  <a:latin typeface="Aptos Black" panose="020B0604020202020204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Divide Conquer and Combine Approach:</a:t>
            </a:r>
            <a:endParaRPr lang="en-IN" sz="2800" dirty="0">
              <a:solidFill>
                <a:srgbClr val="FF0000"/>
              </a:solidFill>
              <a:latin typeface="Aptos Black" panose="020B0604020202020204" pitchFamily="34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1276D05E-F49B-D979-E679-56540B304D13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291547" y="1879741"/>
            <a:ext cx="3485325" cy="4616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400" b="1" i="0" dirty="0">
                <a:solidFill>
                  <a:srgbClr val="00B050"/>
                </a:solidFill>
                <a:effectLst/>
                <a:latin typeface="Comic Sans MS" panose="030F0702030302020204" pitchFamily="66" charset="0"/>
              </a:rPr>
              <a:t>Base Case-2: </a:t>
            </a:r>
            <a:r>
              <a:rPr lang="en-US" sz="24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omic Sans MS" panose="030F0702030302020204" pitchFamily="66" charset="0"/>
              </a:rPr>
              <a:t>if n=2 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>
                  <a:lumMod val="95000"/>
                  <a:lumOff val="5000"/>
                </a:schemeClr>
              </a:solidFill>
              <a:effectLst/>
              <a:latin typeface="Comic Sans MS" panose="030F0702030302020204" pitchFamily="66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AFCEA85-FA90-DC03-ACD0-8E84DD871E15}"/>
                  </a:ext>
                </a:extLst>
              </p:cNvPr>
              <p:cNvSpPr txBox="1"/>
              <p:nvPr/>
            </p:nvSpPr>
            <p:spPr>
              <a:xfrm>
                <a:off x="1524003" y="2851072"/>
                <a:ext cx="9144000" cy="9266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𝑀𝑒𝑑𝑖𝑎𝑛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𝑀𝑎𝑥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d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[0]</m:t>
                              </m:r>
                            </m:e>
                          </m:d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 + 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𝑀𝑖𝑛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{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}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IN" sz="2800" dirty="0">
                  <a:latin typeface="Aptos Black" panose="020B0004020202020204" pitchFamily="34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AFCEA85-FA90-DC03-ACD0-8E84DD871E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3" y="2851072"/>
                <a:ext cx="9144000" cy="9266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" name="Group 16">
            <a:extLst>
              <a:ext uri="{FF2B5EF4-FFF2-40B4-BE49-F238E27FC236}">
                <a16:creationId xmlns:a16="http://schemas.microsoft.com/office/drawing/2014/main" id="{A4EB09FD-871E-8914-489A-AE161021E39B}"/>
              </a:ext>
            </a:extLst>
          </p:cNvPr>
          <p:cNvGrpSpPr/>
          <p:nvPr/>
        </p:nvGrpSpPr>
        <p:grpSpPr>
          <a:xfrm>
            <a:off x="4055168" y="1942460"/>
            <a:ext cx="1835423" cy="369332"/>
            <a:chOff x="4055165" y="3919541"/>
            <a:chExt cx="1835423" cy="369332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2338091F-D5FB-E4B6-0AA2-E97F1AD5FF49}"/>
                </a:ext>
              </a:extLst>
            </p:cNvPr>
            <p:cNvSpPr txBox="1"/>
            <p:nvPr/>
          </p:nvSpPr>
          <p:spPr>
            <a:xfrm>
              <a:off x="4055165" y="3919541"/>
              <a:ext cx="174928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 =</a:t>
              </a:r>
              <a:endParaRPr lang="en-IN" dirty="0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928FC68F-B1B5-0904-8DA8-7FB0F2EFBAEC}"/>
                </a:ext>
              </a:extLst>
            </p:cNvPr>
            <p:cNvSpPr/>
            <p:nvPr/>
          </p:nvSpPr>
          <p:spPr>
            <a:xfrm>
              <a:off x="4608444" y="3919541"/>
              <a:ext cx="642727" cy="34714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A[0]</a:t>
              </a:r>
              <a:endParaRPr lang="en-IN" dirty="0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101E31A-3FED-2BE7-D963-8E99F7288D36}"/>
                </a:ext>
              </a:extLst>
            </p:cNvPr>
            <p:cNvSpPr/>
            <p:nvPr/>
          </p:nvSpPr>
          <p:spPr>
            <a:xfrm>
              <a:off x="5247861" y="3919541"/>
              <a:ext cx="642727" cy="34714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A[1]</a:t>
              </a:r>
              <a:endParaRPr lang="en-IN" dirty="0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6C058AF2-5D1F-E548-AF3D-99BFC42B2CF2}"/>
              </a:ext>
            </a:extLst>
          </p:cNvPr>
          <p:cNvGrpSpPr/>
          <p:nvPr/>
        </p:nvGrpSpPr>
        <p:grpSpPr>
          <a:xfrm>
            <a:off x="5983363" y="1919762"/>
            <a:ext cx="1835423" cy="369332"/>
            <a:chOff x="4055165" y="3919541"/>
            <a:chExt cx="1835423" cy="369332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A6ACABF-3071-B346-EB5A-5E94BCA65BD1}"/>
                </a:ext>
              </a:extLst>
            </p:cNvPr>
            <p:cNvSpPr txBox="1"/>
            <p:nvPr/>
          </p:nvSpPr>
          <p:spPr>
            <a:xfrm>
              <a:off x="4055165" y="3919541"/>
              <a:ext cx="174928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 =</a:t>
              </a:r>
              <a:endParaRPr lang="en-IN" dirty="0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005257AA-40F1-9A65-22BB-C744F92E07DF}"/>
                </a:ext>
              </a:extLst>
            </p:cNvPr>
            <p:cNvSpPr/>
            <p:nvPr/>
          </p:nvSpPr>
          <p:spPr>
            <a:xfrm>
              <a:off x="4608444" y="3919541"/>
              <a:ext cx="642727" cy="34714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B[0]</a:t>
              </a:r>
              <a:endParaRPr lang="en-IN" dirty="0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3EE979D3-685D-7D60-6C0B-F9AB3698137A}"/>
                </a:ext>
              </a:extLst>
            </p:cNvPr>
            <p:cNvSpPr/>
            <p:nvPr/>
          </p:nvSpPr>
          <p:spPr>
            <a:xfrm>
              <a:off x="5247861" y="3919541"/>
              <a:ext cx="642727" cy="34714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B[1]</a:t>
              </a:r>
              <a:endParaRPr lang="en-IN" dirty="0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AFE45CD8-B2F9-DC05-86BB-D1B25572E634}"/>
              </a:ext>
            </a:extLst>
          </p:cNvPr>
          <p:cNvGrpSpPr/>
          <p:nvPr/>
        </p:nvGrpSpPr>
        <p:grpSpPr>
          <a:xfrm>
            <a:off x="865872" y="4361840"/>
            <a:ext cx="1835423" cy="369332"/>
            <a:chOff x="4055165" y="3919541"/>
            <a:chExt cx="1835423" cy="369332"/>
          </a:xfrm>
        </p:grpSpPr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2A944A31-AB1E-69D6-E3E9-A366520880A3}"/>
                </a:ext>
              </a:extLst>
            </p:cNvPr>
            <p:cNvSpPr txBox="1"/>
            <p:nvPr/>
          </p:nvSpPr>
          <p:spPr>
            <a:xfrm>
              <a:off x="4055165" y="3919541"/>
              <a:ext cx="174928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 =</a:t>
              </a:r>
              <a:endParaRPr lang="en-IN" dirty="0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2876B678-98EC-306A-1E61-CE2811066487}"/>
                </a:ext>
              </a:extLst>
            </p:cNvPr>
            <p:cNvSpPr/>
            <p:nvPr/>
          </p:nvSpPr>
          <p:spPr>
            <a:xfrm>
              <a:off x="4608444" y="3919541"/>
              <a:ext cx="642727" cy="34714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  <a:endParaRPr lang="en-IN" dirty="0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8E8608F4-D204-FBE6-9589-F253F2497EEC}"/>
                </a:ext>
              </a:extLst>
            </p:cNvPr>
            <p:cNvSpPr/>
            <p:nvPr/>
          </p:nvSpPr>
          <p:spPr>
            <a:xfrm>
              <a:off x="5247861" y="3919541"/>
              <a:ext cx="642727" cy="34714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5</a:t>
              </a:r>
              <a:endParaRPr lang="en-IN" dirty="0"/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DF5E01AE-BE73-0B72-BC55-2DBC94333203}"/>
              </a:ext>
            </a:extLst>
          </p:cNvPr>
          <p:cNvGrpSpPr/>
          <p:nvPr/>
        </p:nvGrpSpPr>
        <p:grpSpPr>
          <a:xfrm>
            <a:off x="2799886" y="4339142"/>
            <a:ext cx="1835423" cy="369332"/>
            <a:chOff x="4055165" y="3919541"/>
            <a:chExt cx="1835423" cy="369332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AC11689F-BC22-1C96-12A8-F0533ABAD76A}"/>
                </a:ext>
              </a:extLst>
            </p:cNvPr>
            <p:cNvSpPr txBox="1"/>
            <p:nvPr/>
          </p:nvSpPr>
          <p:spPr>
            <a:xfrm>
              <a:off x="4055165" y="3919541"/>
              <a:ext cx="174928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 =</a:t>
              </a:r>
              <a:endParaRPr lang="en-IN" dirty="0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0F71C49D-2FFB-F0A5-FC7C-B72C74D618D0}"/>
                </a:ext>
              </a:extLst>
            </p:cNvPr>
            <p:cNvSpPr/>
            <p:nvPr/>
          </p:nvSpPr>
          <p:spPr>
            <a:xfrm>
              <a:off x="4608444" y="3919541"/>
              <a:ext cx="642727" cy="34714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  <a:endParaRPr lang="en-IN" dirty="0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886174AE-1ACC-B441-1710-5603BD8705FC}"/>
                </a:ext>
              </a:extLst>
            </p:cNvPr>
            <p:cNvSpPr/>
            <p:nvPr/>
          </p:nvSpPr>
          <p:spPr>
            <a:xfrm>
              <a:off x="5247861" y="3919541"/>
              <a:ext cx="642727" cy="34714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7</a:t>
              </a:r>
              <a:endParaRPr lang="en-IN" dirty="0"/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91661F5F-43C3-D432-F72A-4FD39E591F92}"/>
              </a:ext>
            </a:extLst>
          </p:cNvPr>
          <p:cNvGrpSpPr/>
          <p:nvPr/>
        </p:nvGrpSpPr>
        <p:grpSpPr>
          <a:xfrm>
            <a:off x="5399903" y="4316952"/>
            <a:ext cx="2239975" cy="369332"/>
            <a:chOff x="4055165" y="3919541"/>
            <a:chExt cx="1835423" cy="369332"/>
          </a:xfrm>
        </p:grpSpPr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A9137779-CC03-B69F-0480-74D0230405EA}"/>
                </a:ext>
              </a:extLst>
            </p:cNvPr>
            <p:cNvSpPr txBox="1"/>
            <p:nvPr/>
          </p:nvSpPr>
          <p:spPr>
            <a:xfrm>
              <a:off x="4055165" y="3919541"/>
              <a:ext cx="174928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A+B =</a:t>
              </a:r>
              <a:endParaRPr lang="en-IN" dirty="0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F9EEED54-A6A0-C912-4C2A-B971D9A3A006}"/>
                </a:ext>
              </a:extLst>
            </p:cNvPr>
            <p:cNvSpPr/>
            <p:nvPr/>
          </p:nvSpPr>
          <p:spPr>
            <a:xfrm>
              <a:off x="4608444" y="3919541"/>
              <a:ext cx="642727" cy="34714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  <a:endParaRPr lang="en-IN" dirty="0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BBDDECAA-93C4-A5A2-EBC3-DA76AFAE201B}"/>
                </a:ext>
              </a:extLst>
            </p:cNvPr>
            <p:cNvSpPr/>
            <p:nvPr/>
          </p:nvSpPr>
          <p:spPr>
            <a:xfrm>
              <a:off x="5247861" y="3919541"/>
              <a:ext cx="642727" cy="347142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  <a:endParaRPr lang="en-IN" dirty="0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912BDA73-162D-2B9E-8DCE-6D9371940D6E}"/>
              </a:ext>
            </a:extLst>
          </p:cNvPr>
          <p:cNvGrpSpPr/>
          <p:nvPr/>
        </p:nvGrpSpPr>
        <p:grpSpPr>
          <a:xfrm>
            <a:off x="7639878" y="4316952"/>
            <a:ext cx="1282144" cy="347142"/>
            <a:chOff x="4608444" y="3919541"/>
            <a:chExt cx="1282144" cy="347142"/>
          </a:xfrm>
        </p:grpSpPr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E2851B7F-B34A-4FF9-FDF3-4B734E50B636}"/>
                </a:ext>
              </a:extLst>
            </p:cNvPr>
            <p:cNvSpPr/>
            <p:nvPr/>
          </p:nvSpPr>
          <p:spPr>
            <a:xfrm>
              <a:off x="4608444" y="3919541"/>
              <a:ext cx="642727" cy="347142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5</a:t>
              </a:r>
              <a:endParaRPr lang="en-IN" dirty="0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A9A8EFA2-A2E8-110D-D877-185DE9C2A9B8}"/>
                </a:ext>
              </a:extLst>
            </p:cNvPr>
            <p:cNvSpPr/>
            <p:nvPr/>
          </p:nvSpPr>
          <p:spPr>
            <a:xfrm>
              <a:off x="5247861" y="3919541"/>
              <a:ext cx="642727" cy="34714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7</a:t>
              </a:r>
              <a:endParaRPr lang="en-IN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3E7AC8D-1A20-8B20-BEE1-717872F363AD}"/>
                  </a:ext>
                </a:extLst>
              </p:cNvPr>
              <p:cNvSpPr txBox="1"/>
              <p:nvPr/>
            </p:nvSpPr>
            <p:spPr>
              <a:xfrm>
                <a:off x="9442883" y="4215550"/>
                <a:ext cx="2726724" cy="6165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𝑀𝑒𝑑𝑖𝑎𝑛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3+5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=4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3E7AC8D-1A20-8B20-BEE1-717872F363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42883" y="4215550"/>
                <a:ext cx="2726724" cy="61651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771E8128-A9C1-0126-8857-083504D8390B}"/>
                  </a:ext>
                </a:extLst>
              </p:cNvPr>
              <p:cNvSpPr txBox="1"/>
              <p:nvPr/>
            </p:nvSpPr>
            <p:spPr>
              <a:xfrm>
                <a:off x="63309" y="5418649"/>
                <a:ext cx="9144000" cy="9361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𝑀𝑒𝑑𝑖𝑎𝑛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𝑀𝑎𝑥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3,1</m:t>
                              </m:r>
                            </m:e>
                          </m:d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 + 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𝑀𝑖𝑛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{5, 7}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3+5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=4</m:t>
                      </m:r>
                    </m:oMath>
                  </m:oMathPara>
                </a14:m>
                <a:endParaRPr lang="en-IN" sz="2800" dirty="0">
                  <a:latin typeface="Aptos Black" panose="020B0004020202020204" pitchFamily="34" charset="0"/>
                </a:endParaRPr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771E8128-A9C1-0126-8857-083504D839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09" y="5418649"/>
                <a:ext cx="9144000" cy="9361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59E6E80E-E999-C363-947F-B71658FC0A38}"/>
              </a:ext>
            </a:extLst>
          </p:cNvPr>
          <p:cNvSpPr txBox="1"/>
          <p:nvPr/>
        </p:nvSpPr>
        <p:spPr>
          <a:xfrm>
            <a:off x="291546" y="3870258"/>
            <a:ext cx="2089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Example:</a:t>
            </a:r>
            <a:endParaRPr lang="en-IN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33022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6" grpId="0"/>
      <p:bldP spid="13" grpId="0"/>
      <p:bldP spid="51" grpId="0"/>
      <p:bldP spid="1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6CB10C88-4D11-BC05-9904-C42DEF0F61DB}"/>
              </a:ext>
            </a:extLst>
          </p:cNvPr>
          <p:cNvGrpSpPr/>
          <p:nvPr/>
        </p:nvGrpSpPr>
        <p:grpSpPr>
          <a:xfrm>
            <a:off x="0" y="-12867"/>
            <a:ext cx="12192000" cy="809897"/>
            <a:chOff x="-134982" y="849086"/>
            <a:chExt cx="12192000" cy="809897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28902B2C-8867-758B-4DB9-88BD58A6ACAC}"/>
                </a:ext>
              </a:extLst>
            </p:cNvPr>
            <p:cNvSpPr/>
            <p:nvPr/>
          </p:nvSpPr>
          <p:spPr>
            <a:xfrm>
              <a:off x="-134982" y="849086"/>
              <a:ext cx="12192000" cy="80989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9804A985-0B3F-10CF-537C-0DBA63FD18F3}"/>
                </a:ext>
              </a:extLst>
            </p:cNvPr>
            <p:cNvSpPr txBox="1"/>
            <p:nvPr/>
          </p:nvSpPr>
          <p:spPr>
            <a:xfrm>
              <a:off x="-134982" y="900091"/>
              <a:ext cx="1219200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4000" dirty="0">
                  <a:solidFill>
                    <a:schemeClr val="bg1"/>
                  </a:solidFill>
                  <a:latin typeface="Amasis MT Pro Black" panose="02040A04050005020304" pitchFamily="18" charset="0"/>
                </a:rPr>
                <a:t>Median of Two Sorted Array</a:t>
              </a:r>
            </a:p>
          </p:txBody>
        </p:sp>
      </p:grpSp>
      <p:sp>
        <p:nvSpPr>
          <p:cNvPr id="8" name="Rectangle 2">
            <a:extLst>
              <a:ext uri="{FF2B5EF4-FFF2-40B4-BE49-F238E27FC236}">
                <a16:creationId xmlns:a16="http://schemas.microsoft.com/office/drawing/2014/main" id="{5BFCC685-8964-D528-CC55-494B9E00D503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291546" y="1853405"/>
            <a:ext cx="3339550" cy="4616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400" b="1" dirty="0">
                <a:solidFill>
                  <a:srgbClr val="00B050"/>
                </a:solidFill>
                <a:latin typeface="Comic Sans MS" panose="030F0702030302020204" pitchFamily="66" charset="0"/>
              </a:rPr>
              <a:t>If n&gt;2:</a:t>
            </a:r>
            <a:r>
              <a:rPr lang="en-US" sz="24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omic Sans MS" panose="030F0702030302020204" pitchFamily="66" charset="0"/>
              </a:rPr>
              <a:t> 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>
                  <a:lumMod val="95000"/>
                  <a:lumOff val="5000"/>
                </a:schemeClr>
              </a:solidFill>
              <a:effectLst/>
              <a:latin typeface="Comic Sans MS" panose="030F0702030302020204" pitchFamily="66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B0BA3FE-EEB5-3DE3-8ED1-12FE2111EA9D}"/>
              </a:ext>
            </a:extLst>
          </p:cNvPr>
          <p:cNvSpPr txBox="1"/>
          <p:nvPr/>
        </p:nvSpPr>
        <p:spPr>
          <a:xfrm>
            <a:off x="291547" y="971274"/>
            <a:ext cx="75272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  <a:latin typeface="Aptos Black" panose="020B0604020202020204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Divide Conquer and Combine Approach:</a:t>
            </a:r>
            <a:endParaRPr lang="en-IN" sz="2800" dirty="0">
              <a:solidFill>
                <a:srgbClr val="FF0000"/>
              </a:solidFill>
              <a:latin typeface="Aptos Black" panose="020B0604020202020204" pitchFamily="34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B631F11-586B-0CD5-27EF-34E3A7D1EF46}"/>
              </a:ext>
            </a:extLst>
          </p:cNvPr>
          <p:cNvSpPr/>
          <p:nvPr/>
        </p:nvSpPr>
        <p:spPr>
          <a:xfrm>
            <a:off x="1007614" y="3478762"/>
            <a:ext cx="642727" cy="3471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95D04EC-1462-8CC3-C840-338243A3688C}"/>
              </a:ext>
            </a:extLst>
          </p:cNvPr>
          <p:cNvSpPr txBox="1"/>
          <p:nvPr/>
        </p:nvSpPr>
        <p:spPr>
          <a:xfrm>
            <a:off x="902043" y="2794060"/>
            <a:ext cx="96506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solidFill>
                  <a:srgbClr val="C00000"/>
                </a:solidFill>
                <a:latin typeface="Comic Sans MS" panose="030F0702030302020204" pitchFamily="66" charset="0"/>
              </a:rPr>
              <a:t>Step-1</a:t>
            </a:r>
            <a:r>
              <a:rPr lang="en-US" dirty="0">
                <a:latin typeface="Comic Sans MS" panose="030F0702030302020204" pitchFamily="66" charset="0"/>
              </a:rPr>
              <a:t>: Compute the Median </a:t>
            </a:r>
            <a:r>
              <a:rPr lang="en-US" b="1" dirty="0">
                <a:solidFill>
                  <a:srgbClr val="002060"/>
                </a:solidFill>
                <a:latin typeface="Comic Sans MS" panose="030F0702030302020204" pitchFamily="66" charset="0"/>
              </a:rPr>
              <a:t>m1</a:t>
            </a:r>
            <a:r>
              <a:rPr lang="en-US" dirty="0">
                <a:latin typeface="Comic Sans MS" panose="030F0702030302020204" pitchFamily="66" charset="0"/>
              </a:rPr>
              <a:t> and </a:t>
            </a:r>
            <a:r>
              <a:rPr lang="en-US" b="1" dirty="0">
                <a:solidFill>
                  <a:srgbClr val="7030A0"/>
                </a:solidFill>
                <a:latin typeface="Comic Sans MS" panose="030F0702030302020204" pitchFamily="66" charset="0"/>
              </a:rPr>
              <a:t>m2</a:t>
            </a:r>
            <a:r>
              <a:rPr lang="en-US" dirty="0">
                <a:latin typeface="Comic Sans MS" panose="030F0702030302020204" pitchFamily="66" charset="0"/>
              </a:rPr>
              <a:t> of </a:t>
            </a:r>
            <a:r>
              <a:rPr lang="en-US" dirty="0">
                <a:solidFill>
                  <a:srgbClr val="002060"/>
                </a:solidFill>
                <a:latin typeface="Comic Sans MS" panose="030F0702030302020204" pitchFamily="66" charset="0"/>
              </a:rPr>
              <a:t>A</a:t>
            </a:r>
            <a:r>
              <a:rPr lang="en-US" dirty="0">
                <a:latin typeface="Comic Sans MS" panose="030F0702030302020204" pitchFamily="66" charset="0"/>
              </a:rPr>
              <a:t> and </a:t>
            </a:r>
            <a:r>
              <a:rPr lang="en-US" b="1" dirty="0">
                <a:solidFill>
                  <a:srgbClr val="7030A0"/>
                </a:solidFill>
                <a:latin typeface="Comic Sans MS" panose="030F0702030302020204" pitchFamily="66" charset="0"/>
              </a:rPr>
              <a:t>B</a:t>
            </a:r>
            <a:r>
              <a:rPr lang="en-US" dirty="0">
                <a:latin typeface="Comic Sans MS" panose="030F0702030302020204" pitchFamily="66" charset="0"/>
              </a:rPr>
              <a:t> respectively</a:t>
            </a:r>
            <a:endParaRPr lang="en-IN" dirty="0">
              <a:latin typeface="Comic Sans MS" panose="030F0702030302020204" pitchFamily="66" charset="0"/>
            </a:endParaRPr>
          </a:p>
        </p:txBody>
      </p:sp>
      <p:graphicFrame>
        <p:nvGraphicFramePr>
          <p:cNvPr id="13" name="Table 16">
            <a:extLst>
              <a:ext uri="{FF2B5EF4-FFF2-40B4-BE49-F238E27FC236}">
                <a16:creationId xmlns:a16="http://schemas.microsoft.com/office/drawing/2014/main" id="{5AA0A2F3-DDB7-6217-7A38-51EF3C4D7C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1931608"/>
              </p:ext>
            </p:extLst>
          </p:nvPr>
        </p:nvGraphicFramePr>
        <p:xfrm>
          <a:off x="1762836" y="3478762"/>
          <a:ext cx="8127999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3111">
                  <a:extLst>
                    <a:ext uri="{9D8B030D-6E8A-4147-A177-3AD203B41FA5}">
                      <a16:colId xmlns:a16="http://schemas.microsoft.com/office/drawing/2014/main" val="3987782160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2131243195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421400323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216410293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843483791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3775587018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1005147841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1940931436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2862950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m1</a:t>
                      </a:r>
                      <a:endParaRPr lang="en-IN" dirty="0"/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5607326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295366E6-61CA-FC5D-7399-222F7EE0B6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4686721"/>
              </p:ext>
            </p:extLst>
          </p:nvPr>
        </p:nvGraphicFramePr>
        <p:xfrm>
          <a:off x="1762836" y="4062698"/>
          <a:ext cx="8127999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3111">
                  <a:extLst>
                    <a:ext uri="{9D8B030D-6E8A-4147-A177-3AD203B41FA5}">
                      <a16:colId xmlns:a16="http://schemas.microsoft.com/office/drawing/2014/main" val="3987782160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2131243195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421400323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216410293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843483791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3775587018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1005147841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1940931436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2862950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m2</a:t>
                      </a:r>
                      <a:endParaRPr lang="en-IN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5607326"/>
                  </a:ext>
                </a:extLst>
              </a:tr>
            </a:tbl>
          </a:graphicData>
        </a:graphic>
      </p:graphicFrame>
      <p:sp>
        <p:nvSpPr>
          <p:cNvPr id="18" name="Rectangle 17">
            <a:extLst>
              <a:ext uri="{FF2B5EF4-FFF2-40B4-BE49-F238E27FC236}">
                <a16:creationId xmlns:a16="http://schemas.microsoft.com/office/drawing/2014/main" id="{57BD2F40-4D0F-F74A-816D-A8CDC6E3552F}"/>
              </a:ext>
            </a:extLst>
          </p:cNvPr>
          <p:cNvSpPr/>
          <p:nvPr/>
        </p:nvSpPr>
        <p:spPr>
          <a:xfrm>
            <a:off x="1007614" y="4050400"/>
            <a:ext cx="642727" cy="347142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  <a:endParaRPr lang="en-IN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F92B666-1358-71A7-1030-B14FC756C9AF}"/>
              </a:ext>
            </a:extLst>
          </p:cNvPr>
          <p:cNvSpPr txBox="1"/>
          <p:nvPr/>
        </p:nvSpPr>
        <p:spPr>
          <a:xfrm>
            <a:off x="1001521" y="5100346"/>
            <a:ext cx="96506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solidFill>
                  <a:srgbClr val="C00000"/>
                </a:solidFill>
                <a:latin typeface="Comic Sans MS" panose="030F0702030302020204" pitchFamily="66" charset="0"/>
              </a:rPr>
              <a:t>Step-2</a:t>
            </a:r>
            <a:r>
              <a:rPr lang="en-US" dirty="0">
                <a:latin typeface="Comic Sans MS" panose="030F0702030302020204" pitchFamily="66" charset="0"/>
              </a:rPr>
              <a:t>: Compare  </a:t>
            </a:r>
            <a:r>
              <a:rPr lang="en-US" b="1" dirty="0">
                <a:solidFill>
                  <a:srgbClr val="002060"/>
                </a:solidFill>
                <a:latin typeface="Comic Sans MS" panose="030F0702030302020204" pitchFamily="66" charset="0"/>
              </a:rPr>
              <a:t>m1</a:t>
            </a:r>
            <a:r>
              <a:rPr lang="en-US" dirty="0">
                <a:latin typeface="Comic Sans MS" panose="030F0702030302020204" pitchFamily="66" charset="0"/>
              </a:rPr>
              <a:t> and </a:t>
            </a:r>
            <a:r>
              <a:rPr lang="en-US" b="1" dirty="0">
                <a:solidFill>
                  <a:srgbClr val="7030A0"/>
                </a:solidFill>
                <a:latin typeface="Comic Sans MS" panose="030F0702030302020204" pitchFamily="66" charset="0"/>
              </a:rPr>
              <a:t>m2</a:t>
            </a:r>
            <a:endParaRPr lang="en-IN" dirty="0">
              <a:latin typeface="Comic Sans MS" panose="030F0702030302020204" pitchFamily="66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A160C21-9E66-079A-A7A0-FEFD1CB8A2D2}"/>
              </a:ext>
            </a:extLst>
          </p:cNvPr>
          <p:cNvSpPr txBox="1"/>
          <p:nvPr/>
        </p:nvSpPr>
        <p:spPr>
          <a:xfrm>
            <a:off x="1961320" y="5812901"/>
            <a:ext cx="96506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solidFill>
                  <a:srgbClr val="C00000"/>
                </a:solidFill>
                <a:latin typeface="Comic Sans MS" panose="030F0702030302020204" pitchFamily="66" charset="0"/>
              </a:rPr>
              <a:t>2.1</a:t>
            </a:r>
            <a:r>
              <a:rPr lang="en-US" dirty="0">
                <a:latin typeface="Comic Sans MS" panose="030F0702030302020204" pitchFamily="66" charset="0"/>
              </a:rPr>
              <a:t>:  if </a:t>
            </a:r>
            <a:r>
              <a:rPr lang="en-US" b="1" dirty="0">
                <a:solidFill>
                  <a:srgbClr val="002060"/>
                </a:solidFill>
                <a:latin typeface="Comic Sans MS" panose="030F0702030302020204" pitchFamily="66" charset="0"/>
              </a:rPr>
              <a:t>m1</a:t>
            </a:r>
            <a:r>
              <a:rPr lang="en-US" dirty="0">
                <a:latin typeface="Comic Sans MS" panose="030F0702030302020204" pitchFamily="66" charset="0"/>
              </a:rPr>
              <a:t> = </a:t>
            </a:r>
            <a:r>
              <a:rPr lang="en-US" b="1" dirty="0">
                <a:solidFill>
                  <a:srgbClr val="7030A0"/>
                </a:solidFill>
                <a:latin typeface="Comic Sans MS" panose="030F0702030302020204" pitchFamily="66" charset="0"/>
              </a:rPr>
              <a:t>m2 then return m1</a:t>
            </a:r>
            <a:endParaRPr lang="en-IN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23867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6" grpId="0"/>
      <p:bldP spid="18" grpId="0" animBg="1"/>
      <p:bldP spid="19" grpId="0"/>
      <p:bldP spid="2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6CB10C88-4D11-BC05-9904-C42DEF0F61DB}"/>
              </a:ext>
            </a:extLst>
          </p:cNvPr>
          <p:cNvGrpSpPr/>
          <p:nvPr/>
        </p:nvGrpSpPr>
        <p:grpSpPr>
          <a:xfrm>
            <a:off x="0" y="-12867"/>
            <a:ext cx="12192000" cy="809897"/>
            <a:chOff x="-134982" y="849086"/>
            <a:chExt cx="12192000" cy="809897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28902B2C-8867-758B-4DB9-88BD58A6ACAC}"/>
                </a:ext>
              </a:extLst>
            </p:cNvPr>
            <p:cNvSpPr/>
            <p:nvPr/>
          </p:nvSpPr>
          <p:spPr>
            <a:xfrm>
              <a:off x="-134982" y="849086"/>
              <a:ext cx="12192000" cy="80989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9804A985-0B3F-10CF-537C-0DBA63FD18F3}"/>
                </a:ext>
              </a:extLst>
            </p:cNvPr>
            <p:cNvSpPr txBox="1"/>
            <p:nvPr/>
          </p:nvSpPr>
          <p:spPr>
            <a:xfrm>
              <a:off x="-134982" y="900091"/>
              <a:ext cx="1219200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4000" dirty="0">
                  <a:solidFill>
                    <a:schemeClr val="bg1"/>
                  </a:solidFill>
                  <a:latin typeface="Amasis MT Pro Black" panose="02040A04050005020304" pitchFamily="18" charset="0"/>
                </a:rPr>
                <a:t>Median of Two Sorted Array</a:t>
              </a:r>
            </a:p>
          </p:txBody>
        </p:sp>
      </p:grpSp>
      <p:graphicFrame>
        <p:nvGraphicFramePr>
          <p:cNvPr id="13" name="Table 16">
            <a:extLst>
              <a:ext uri="{FF2B5EF4-FFF2-40B4-BE49-F238E27FC236}">
                <a16:creationId xmlns:a16="http://schemas.microsoft.com/office/drawing/2014/main" id="{5AA0A2F3-DDB7-6217-7A38-51EF3C4D7C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220254"/>
              </p:ext>
            </p:extLst>
          </p:nvPr>
        </p:nvGraphicFramePr>
        <p:xfrm>
          <a:off x="565006" y="2795302"/>
          <a:ext cx="5301045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9005">
                  <a:extLst>
                    <a:ext uri="{9D8B030D-6E8A-4147-A177-3AD203B41FA5}">
                      <a16:colId xmlns:a16="http://schemas.microsoft.com/office/drawing/2014/main" val="3987782160"/>
                    </a:ext>
                  </a:extLst>
                </a:gridCol>
                <a:gridCol w="589005">
                  <a:extLst>
                    <a:ext uri="{9D8B030D-6E8A-4147-A177-3AD203B41FA5}">
                      <a16:colId xmlns:a16="http://schemas.microsoft.com/office/drawing/2014/main" val="2131243195"/>
                    </a:ext>
                  </a:extLst>
                </a:gridCol>
                <a:gridCol w="589005">
                  <a:extLst>
                    <a:ext uri="{9D8B030D-6E8A-4147-A177-3AD203B41FA5}">
                      <a16:colId xmlns:a16="http://schemas.microsoft.com/office/drawing/2014/main" val="421400323"/>
                    </a:ext>
                  </a:extLst>
                </a:gridCol>
                <a:gridCol w="589005">
                  <a:extLst>
                    <a:ext uri="{9D8B030D-6E8A-4147-A177-3AD203B41FA5}">
                      <a16:colId xmlns:a16="http://schemas.microsoft.com/office/drawing/2014/main" val="216410293"/>
                    </a:ext>
                  </a:extLst>
                </a:gridCol>
                <a:gridCol w="589005">
                  <a:extLst>
                    <a:ext uri="{9D8B030D-6E8A-4147-A177-3AD203B41FA5}">
                      <a16:colId xmlns:a16="http://schemas.microsoft.com/office/drawing/2014/main" val="843483791"/>
                    </a:ext>
                  </a:extLst>
                </a:gridCol>
                <a:gridCol w="589005">
                  <a:extLst>
                    <a:ext uri="{9D8B030D-6E8A-4147-A177-3AD203B41FA5}">
                      <a16:colId xmlns:a16="http://schemas.microsoft.com/office/drawing/2014/main" val="3775587018"/>
                    </a:ext>
                  </a:extLst>
                </a:gridCol>
                <a:gridCol w="589005">
                  <a:extLst>
                    <a:ext uri="{9D8B030D-6E8A-4147-A177-3AD203B41FA5}">
                      <a16:colId xmlns:a16="http://schemas.microsoft.com/office/drawing/2014/main" val="1005147841"/>
                    </a:ext>
                  </a:extLst>
                </a:gridCol>
                <a:gridCol w="589005">
                  <a:extLst>
                    <a:ext uri="{9D8B030D-6E8A-4147-A177-3AD203B41FA5}">
                      <a16:colId xmlns:a16="http://schemas.microsoft.com/office/drawing/2014/main" val="1940931436"/>
                    </a:ext>
                  </a:extLst>
                </a:gridCol>
                <a:gridCol w="589005">
                  <a:extLst>
                    <a:ext uri="{9D8B030D-6E8A-4147-A177-3AD203B41FA5}">
                      <a16:colId xmlns:a16="http://schemas.microsoft.com/office/drawing/2014/main" val="2862950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m1</a:t>
                      </a:r>
                      <a:endParaRPr lang="en-IN" dirty="0"/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5607326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295366E6-61CA-FC5D-7399-222F7EE0B6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0520981"/>
              </p:ext>
            </p:extLst>
          </p:nvPr>
        </p:nvGraphicFramePr>
        <p:xfrm>
          <a:off x="5866051" y="2792627"/>
          <a:ext cx="5577075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9675">
                  <a:extLst>
                    <a:ext uri="{9D8B030D-6E8A-4147-A177-3AD203B41FA5}">
                      <a16:colId xmlns:a16="http://schemas.microsoft.com/office/drawing/2014/main" val="3987782160"/>
                    </a:ext>
                  </a:extLst>
                </a:gridCol>
                <a:gridCol w="619675">
                  <a:extLst>
                    <a:ext uri="{9D8B030D-6E8A-4147-A177-3AD203B41FA5}">
                      <a16:colId xmlns:a16="http://schemas.microsoft.com/office/drawing/2014/main" val="2131243195"/>
                    </a:ext>
                  </a:extLst>
                </a:gridCol>
                <a:gridCol w="619675">
                  <a:extLst>
                    <a:ext uri="{9D8B030D-6E8A-4147-A177-3AD203B41FA5}">
                      <a16:colId xmlns:a16="http://schemas.microsoft.com/office/drawing/2014/main" val="421400323"/>
                    </a:ext>
                  </a:extLst>
                </a:gridCol>
                <a:gridCol w="619675">
                  <a:extLst>
                    <a:ext uri="{9D8B030D-6E8A-4147-A177-3AD203B41FA5}">
                      <a16:colId xmlns:a16="http://schemas.microsoft.com/office/drawing/2014/main" val="216410293"/>
                    </a:ext>
                  </a:extLst>
                </a:gridCol>
                <a:gridCol w="619675">
                  <a:extLst>
                    <a:ext uri="{9D8B030D-6E8A-4147-A177-3AD203B41FA5}">
                      <a16:colId xmlns:a16="http://schemas.microsoft.com/office/drawing/2014/main" val="843483791"/>
                    </a:ext>
                  </a:extLst>
                </a:gridCol>
                <a:gridCol w="619675">
                  <a:extLst>
                    <a:ext uri="{9D8B030D-6E8A-4147-A177-3AD203B41FA5}">
                      <a16:colId xmlns:a16="http://schemas.microsoft.com/office/drawing/2014/main" val="3775587018"/>
                    </a:ext>
                  </a:extLst>
                </a:gridCol>
                <a:gridCol w="619675">
                  <a:extLst>
                    <a:ext uri="{9D8B030D-6E8A-4147-A177-3AD203B41FA5}">
                      <a16:colId xmlns:a16="http://schemas.microsoft.com/office/drawing/2014/main" val="1005147841"/>
                    </a:ext>
                  </a:extLst>
                </a:gridCol>
                <a:gridCol w="619675">
                  <a:extLst>
                    <a:ext uri="{9D8B030D-6E8A-4147-A177-3AD203B41FA5}">
                      <a16:colId xmlns:a16="http://schemas.microsoft.com/office/drawing/2014/main" val="1940931436"/>
                    </a:ext>
                  </a:extLst>
                </a:gridCol>
                <a:gridCol w="619675">
                  <a:extLst>
                    <a:ext uri="{9D8B030D-6E8A-4147-A177-3AD203B41FA5}">
                      <a16:colId xmlns:a16="http://schemas.microsoft.com/office/drawing/2014/main" val="2862950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IN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m2</a:t>
                      </a:r>
                      <a:endParaRPr lang="en-IN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5607326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3A160C21-9E66-079A-A7A0-FEFD1CB8A2D2}"/>
              </a:ext>
            </a:extLst>
          </p:cNvPr>
          <p:cNvSpPr txBox="1"/>
          <p:nvPr/>
        </p:nvSpPr>
        <p:spPr>
          <a:xfrm>
            <a:off x="565006" y="1241547"/>
            <a:ext cx="96506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solidFill>
                  <a:srgbClr val="C00000"/>
                </a:solidFill>
                <a:latin typeface="Comic Sans MS" panose="030F0702030302020204" pitchFamily="66" charset="0"/>
              </a:rPr>
              <a:t>2.1</a:t>
            </a:r>
            <a:r>
              <a:rPr lang="en-US" dirty="0">
                <a:latin typeface="Comic Sans MS" panose="030F0702030302020204" pitchFamily="66" charset="0"/>
              </a:rPr>
              <a:t>:  if </a:t>
            </a:r>
            <a:r>
              <a:rPr lang="en-US" b="1" dirty="0">
                <a:solidFill>
                  <a:srgbClr val="002060"/>
                </a:solidFill>
                <a:latin typeface="Comic Sans MS" panose="030F0702030302020204" pitchFamily="66" charset="0"/>
              </a:rPr>
              <a:t>m1</a:t>
            </a:r>
            <a:r>
              <a:rPr lang="en-US" dirty="0">
                <a:latin typeface="Comic Sans MS" panose="030F0702030302020204" pitchFamily="66" charset="0"/>
              </a:rPr>
              <a:t> &lt; </a:t>
            </a:r>
            <a:r>
              <a:rPr lang="en-US" b="1" dirty="0">
                <a:solidFill>
                  <a:srgbClr val="7030A0"/>
                </a:solidFill>
                <a:latin typeface="Comic Sans MS" panose="030F0702030302020204" pitchFamily="66" charset="0"/>
              </a:rPr>
              <a:t>m2 </a:t>
            </a:r>
            <a:endParaRPr lang="en-IN" dirty="0">
              <a:latin typeface="Comic Sans MS" panose="030F0702030302020204" pitchFamily="66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55AA3B7-F747-1A82-AB04-EF0191EF0602}"/>
              </a:ext>
            </a:extLst>
          </p:cNvPr>
          <p:cNvSpPr/>
          <p:nvPr/>
        </p:nvSpPr>
        <p:spPr>
          <a:xfrm>
            <a:off x="565006" y="1987433"/>
            <a:ext cx="642727" cy="3471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  <a:endParaRPr lang="en-IN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7ADF8B1-6C0C-1021-C384-04E038124415}"/>
              </a:ext>
            </a:extLst>
          </p:cNvPr>
          <p:cNvSpPr/>
          <p:nvPr/>
        </p:nvSpPr>
        <p:spPr>
          <a:xfrm>
            <a:off x="1751254" y="1967621"/>
            <a:ext cx="642727" cy="347142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0DCC4A-E7E4-1F3C-FBA0-5AE61D8F28EA}"/>
              </a:ext>
            </a:extLst>
          </p:cNvPr>
          <p:cNvSpPr txBox="1"/>
          <p:nvPr/>
        </p:nvSpPr>
        <p:spPr>
          <a:xfrm>
            <a:off x="1359243" y="1976338"/>
            <a:ext cx="5066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ptos Black" panose="020B0004020202020204" pitchFamily="34" charset="0"/>
              </a:rPr>
              <a:t>+</a:t>
            </a:r>
            <a:endParaRPr lang="en-IN" dirty="0">
              <a:latin typeface="Aptos Black" panose="020B0004020202020204" pitchFamily="34" charset="0"/>
            </a:endParaRPr>
          </a:p>
        </p:txBody>
      </p:sp>
      <p:sp>
        <p:nvSpPr>
          <p:cNvPr id="7" name="Left Brace 6">
            <a:extLst>
              <a:ext uri="{FF2B5EF4-FFF2-40B4-BE49-F238E27FC236}">
                <a16:creationId xmlns:a16="http://schemas.microsoft.com/office/drawing/2014/main" id="{09174042-31C7-50E1-BF2C-223AD9FD6383}"/>
              </a:ext>
            </a:extLst>
          </p:cNvPr>
          <p:cNvSpPr/>
          <p:nvPr/>
        </p:nvSpPr>
        <p:spPr>
          <a:xfrm rot="16200000">
            <a:off x="5378027" y="1068654"/>
            <a:ext cx="976045" cy="5577077"/>
          </a:xfrm>
          <a:prstGeom prst="leftBrace">
            <a:avLst>
              <a:gd name="adj1" fmla="val 8333"/>
              <a:gd name="adj2" fmla="val 51773"/>
            </a:avLst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84912AD-A75A-5B6F-E88A-180A3BC6168B}"/>
              </a:ext>
            </a:extLst>
          </p:cNvPr>
          <p:cNvSpPr txBox="1"/>
          <p:nvPr/>
        </p:nvSpPr>
        <p:spPr>
          <a:xfrm>
            <a:off x="3793524" y="4255854"/>
            <a:ext cx="53134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00B05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Median will lie here</a:t>
            </a:r>
            <a:endParaRPr lang="en-IN" sz="3200" dirty="0">
              <a:solidFill>
                <a:srgbClr val="00B050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12" name="Multiplication Sign 11">
            <a:extLst>
              <a:ext uri="{FF2B5EF4-FFF2-40B4-BE49-F238E27FC236}">
                <a16:creationId xmlns:a16="http://schemas.microsoft.com/office/drawing/2014/main" id="{18F315D2-F1CD-8E6C-AD3B-B899820D97C6}"/>
              </a:ext>
            </a:extLst>
          </p:cNvPr>
          <p:cNvSpPr/>
          <p:nvPr/>
        </p:nvSpPr>
        <p:spPr>
          <a:xfrm>
            <a:off x="634038" y="2445436"/>
            <a:ext cx="1720994" cy="1055718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Callout: Up Arrow 15">
            <a:extLst>
              <a:ext uri="{FF2B5EF4-FFF2-40B4-BE49-F238E27FC236}">
                <a16:creationId xmlns:a16="http://schemas.microsoft.com/office/drawing/2014/main" id="{802D4DB2-94F2-E19B-58D1-D2E70E863C8F}"/>
              </a:ext>
            </a:extLst>
          </p:cNvPr>
          <p:cNvSpPr/>
          <p:nvPr/>
        </p:nvSpPr>
        <p:spPr>
          <a:xfrm>
            <a:off x="69375" y="3277003"/>
            <a:ext cx="2776177" cy="809897"/>
          </a:xfrm>
          <a:prstGeom prst="upArrow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omic Sans MS" panose="030F0702030302020204" pitchFamily="66" charset="0"/>
              </a:rPr>
              <a:t>Numbers less than m1</a:t>
            </a:r>
            <a:endParaRPr lang="en-IN" b="1" dirty="0">
              <a:latin typeface="Comic Sans MS" panose="030F0702030302020204" pitchFamily="66" charset="0"/>
            </a:endParaRPr>
          </a:p>
        </p:txBody>
      </p:sp>
      <p:sp>
        <p:nvSpPr>
          <p:cNvPr id="21" name="Multiplication Sign 20">
            <a:extLst>
              <a:ext uri="{FF2B5EF4-FFF2-40B4-BE49-F238E27FC236}">
                <a16:creationId xmlns:a16="http://schemas.microsoft.com/office/drawing/2014/main" id="{0C922A74-5056-7AB9-2A29-12040C879C56}"/>
              </a:ext>
            </a:extLst>
          </p:cNvPr>
          <p:cNvSpPr/>
          <p:nvPr/>
        </p:nvSpPr>
        <p:spPr>
          <a:xfrm>
            <a:off x="9544911" y="2373282"/>
            <a:ext cx="1720994" cy="1055718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Callout: Up Arrow 21">
            <a:extLst>
              <a:ext uri="{FF2B5EF4-FFF2-40B4-BE49-F238E27FC236}">
                <a16:creationId xmlns:a16="http://schemas.microsoft.com/office/drawing/2014/main" id="{A6FA5AC3-2F75-5287-A960-E5D9E1381D4F}"/>
              </a:ext>
            </a:extLst>
          </p:cNvPr>
          <p:cNvSpPr/>
          <p:nvPr/>
        </p:nvSpPr>
        <p:spPr>
          <a:xfrm>
            <a:off x="8886546" y="3273817"/>
            <a:ext cx="3037723" cy="809897"/>
          </a:xfrm>
          <a:prstGeom prst="upArrow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omic Sans MS" panose="030F0702030302020204" pitchFamily="66" charset="0"/>
              </a:rPr>
              <a:t>Numbers more than m2</a:t>
            </a:r>
            <a:endParaRPr lang="en-IN" b="1" dirty="0">
              <a:latin typeface="Comic Sans MS" panose="030F0702030302020204" pitchFamily="66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4FAC1B3-AE60-285C-70F0-94DD0909836F}"/>
              </a:ext>
            </a:extLst>
          </p:cNvPr>
          <p:cNvSpPr/>
          <p:nvPr/>
        </p:nvSpPr>
        <p:spPr>
          <a:xfrm>
            <a:off x="1359243" y="5496751"/>
            <a:ext cx="642727" cy="3471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  <a:endParaRPr lang="en-IN" dirty="0"/>
          </a:p>
        </p:txBody>
      </p:sp>
      <p:graphicFrame>
        <p:nvGraphicFramePr>
          <p:cNvPr id="24" name="Table 16">
            <a:extLst>
              <a:ext uri="{FF2B5EF4-FFF2-40B4-BE49-F238E27FC236}">
                <a16:creationId xmlns:a16="http://schemas.microsoft.com/office/drawing/2014/main" id="{0F4549EE-AC4C-1110-1DF8-36CECA165E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241218"/>
              </p:ext>
            </p:extLst>
          </p:nvPr>
        </p:nvGraphicFramePr>
        <p:xfrm>
          <a:off x="2114465" y="5496751"/>
          <a:ext cx="8127999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3111">
                  <a:extLst>
                    <a:ext uri="{9D8B030D-6E8A-4147-A177-3AD203B41FA5}">
                      <a16:colId xmlns:a16="http://schemas.microsoft.com/office/drawing/2014/main" val="3987782160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2131243195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421400323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216410293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843483791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3775587018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1005147841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1940931436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2862950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m1</a:t>
                      </a:r>
                      <a:endParaRPr lang="en-IN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5607326"/>
                  </a:ext>
                </a:extLst>
              </a:tr>
            </a:tbl>
          </a:graphicData>
        </a:graphic>
      </p:graphicFrame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77C13593-0CBE-0B46-9C7F-3228CC5165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0792492"/>
              </p:ext>
            </p:extLst>
          </p:nvPr>
        </p:nvGraphicFramePr>
        <p:xfrm>
          <a:off x="2114465" y="6080687"/>
          <a:ext cx="8127999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3111">
                  <a:extLst>
                    <a:ext uri="{9D8B030D-6E8A-4147-A177-3AD203B41FA5}">
                      <a16:colId xmlns:a16="http://schemas.microsoft.com/office/drawing/2014/main" val="3987782160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2131243195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421400323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216410293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843483791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3775587018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1005147841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1940931436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2862950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m2</a:t>
                      </a:r>
                      <a:endParaRPr lang="en-IN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5607326"/>
                  </a:ext>
                </a:extLst>
              </a:tr>
            </a:tbl>
          </a:graphicData>
        </a:graphic>
      </p:graphicFrame>
      <p:sp>
        <p:nvSpPr>
          <p:cNvPr id="26" name="Rectangle 25">
            <a:extLst>
              <a:ext uri="{FF2B5EF4-FFF2-40B4-BE49-F238E27FC236}">
                <a16:creationId xmlns:a16="http://schemas.microsoft.com/office/drawing/2014/main" id="{526D5C28-D49D-4F60-300C-67DFA3AD14C0}"/>
              </a:ext>
            </a:extLst>
          </p:cNvPr>
          <p:cNvSpPr/>
          <p:nvPr/>
        </p:nvSpPr>
        <p:spPr>
          <a:xfrm>
            <a:off x="1359243" y="6068389"/>
            <a:ext cx="642727" cy="347142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54538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14" grpId="0" animBg="1"/>
      <p:bldP spid="15" grpId="0" animBg="1"/>
      <p:bldP spid="5" grpId="0"/>
      <p:bldP spid="7" grpId="0" animBg="1"/>
      <p:bldP spid="12" grpId="0" animBg="1"/>
      <p:bldP spid="16" grpId="0" animBg="1"/>
      <p:bldP spid="21" grpId="0" animBg="1"/>
      <p:bldP spid="22" grpId="0" animBg="1"/>
      <p:bldP spid="23" grpId="0" animBg="1"/>
      <p:bldP spid="26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6CB10C88-4D11-BC05-9904-C42DEF0F61DB}"/>
              </a:ext>
            </a:extLst>
          </p:cNvPr>
          <p:cNvGrpSpPr/>
          <p:nvPr/>
        </p:nvGrpSpPr>
        <p:grpSpPr>
          <a:xfrm>
            <a:off x="0" y="-12867"/>
            <a:ext cx="12192000" cy="809897"/>
            <a:chOff x="-134982" y="849086"/>
            <a:chExt cx="12192000" cy="809897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28902B2C-8867-758B-4DB9-88BD58A6ACAC}"/>
                </a:ext>
              </a:extLst>
            </p:cNvPr>
            <p:cNvSpPr/>
            <p:nvPr/>
          </p:nvSpPr>
          <p:spPr>
            <a:xfrm>
              <a:off x="-134982" y="849086"/>
              <a:ext cx="12192000" cy="80989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9804A985-0B3F-10CF-537C-0DBA63FD18F3}"/>
                </a:ext>
              </a:extLst>
            </p:cNvPr>
            <p:cNvSpPr txBox="1"/>
            <p:nvPr/>
          </p:nvSpPr>
          <p:spPr>
            <a:xfrm>
              <a:off x="-134982" y="900091"/>
              <a:ext cx="1219200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4000" dirty="0">
                  <a:solidFill>
                    <a:schemeClr val="bg1"/>
                  </a:solidFill>
                  <a:latin typeface="Amasis MT Pro Black" panose="02040A04050005020304" pitchFamily="18" charset="0"/>
                </a:rPr>
                <a:t>Median of Two Sorted Array</a:t>
              </a:r>
            </a:p>
          </p:txBody>
        </p: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24FAC1B3-AE60-285C-70F0-94DD0909836F}"/>
              </a:ext>
            </a:extLst>
          </p:cNvPr>
          <p:cNvSpPr/>
          <p:nvPr/>
        </p:nvSpPr>
        <p:spPr>
          <a:xfrm>
            <a:off x="1482811" y="2271703"/>
            <a:ext cx="642727" cy="3471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  <a:endParaRPr lang="en-IN" dirty="0"/>
          </a:p>
        </p:txBody>
      </p:sp>
      <p:graphicFrame>
        <p:nvGraphicFramePr>
          <p:cNvPr id="24" name="Table 16">
            <a:extLst>
              <a:ext uri="{FF2B5EF4-FFF2-40B4-BE49-F238E27FC236}">
                <a16:creationId xmlns:a16="http://schemas.microsoft.com/office/drawing/2014/main" id="{0F4549EE-AC4C-1110-1DF8-36CECA165E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1611364"/>
              </p:ext>
            </p:extLst>
          </p:nvPr>
        </p:nvGraphicFramePr>
        <p:xfrm>
          <a:off x="2238033" y="2271703"/>
          <a:ext cx="8127999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3111">
                  <a:extLst>
                    <a:ext uri="{9D8B030D-6E8A-4147-A177-3AD203B41FA5}">
                      <a16:colId xmlns:a16="http://schemas.microsoft.com/office/drawing/2014/main" val="3987782160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2131243195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421400323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216410293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843483791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3775587018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1005147841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1940931436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2862950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m1</a:t>
                      </a:r>
                      <a:endParaRPr lang="en-IN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5607326"/>
                  </a:ext>
                </a:extLst>
              </a:tr>
            </a:tbl>
          </a:graphicData>
        </a:graphic>
      </p:graphicFrame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77C13593-0CBE-0B46-9C7F-3228CC5165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9759677"/>
              </p:ext>
            </p:extLst>
          </p:nvPr>
        </p:nvGraphicFramePr>
        <p:xfrm>
          <a:off x="2238033" y="2855639"/>
          <a:ext cx="8127999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3111">
                  <a:extLst>
                    <a:ext uri="{9D8B030D-6E8A-4147-A177-3AD203B41FA5}">
                      <a16:colId xmlns:a16="http://schemas.microsoft.com/office/drawing/2014/main" val="3987782160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2131243195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421400323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216410293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843483791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3775587018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1005147841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1940931436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2862950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m2</a:t>
                      </a:r>
                      <a:endParaRPr lang="en-IN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5607326"/>
                  </a:ext>
                </a:extLst>
              </a:tr>
            </a:tbl>
          </a:graphicData>
        </a:graphic>
      </p:graphicFrame>
      <p:sp>
        <p:nvSpPr>
          <p:cNvPr id="26" name="Rectangle 25">
            <a:extLst>
              <a:ext uri="{FF2B5EF4-FFF2-40B4-BE49-F238E27FC236}">
                <a16:creationId xmlns:a16="http://schemas.microsoft.com/office/drawing/2014/main" id="{526D5C28-D49D-4F60-300C-67DFA3AD14C0}"/>
              </a:ext>
            </a:extLst>
          </p:cNvPr>
          <p:cNvSpPr/>
          <p:nvPr/>
        </p:nvSpPr>
        <p:spPr>
          <a:xfrm>
            <a:off x="1482811" y="2843341"/>
            <a:ext cx="642727" cy="347142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  <a:endParaRPr lang="en-IN" dirty="0"/>
          </a:p>
        </p:txBody>
      </p:sp>
      <p:sp>
        <p:nvSpPr>
          <p:cNvPr id="6" name="Multiplication Sign 5">
            <a:extLst>
              <a:ext uri="{FF2B5EF4-FFF2-40B4-BE49-F238E27FC236}">
                <a16:creationId xmlns:a16="http://schemas.microsoft.com/office/drawing/2014/main" id="{42A67DA7-631A-C942-6700-3537B36A91AB}"/>
              </a:ext>
            </a:extLst>
          </p:cNvPr>
          <p:cNvSpPr/>
          <p:nvPr/>
        </p:nvSpPr>
        <p:spPr>
          <a:xfrm>
            <a:off x="3212756" y="1944825"/>
            <a:ext cx="766119" cy="1000897"/>
          </a:xfrm>
          <a:prstGeom prst="mathMultiply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Multiplication Sign 26">
            <a:extLst>
              <a:ext uri="{FF2B5EF4-FFF2-40B4-BE49-F238E27FC236}">
                <a16:creationId xmlns:a16="http://schemas.microsoft.com/office/drawing/2014/main" id="{C8A2F585-F4CD-C3D2-5261-AF442186F3EC}"/>
              </a:ext>
            </a:extLst>
          </p:cNvPr>
          <p:cNvSpPr/>
          <p:nvPr/>
        </p:nvSpPr>
        <p:spPr>
          <a:xfrm>
            <a:off x="8073080" y="2468972"/>
            <a:ext cx="766119" cy="1000897"/>
          </a:xfrm>
          <a:prstGeom prst="mathMultiply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656FD12-2832-5A8C-A357-8048EAB2CDCD}"/>
              </a:ext>
            </a:extLst>
          </p:cNvPr>
          <p:cNvSpPr txBox="1"/>
          <p:nvPr/>
        </p:nvSpPr>
        <p:spPr>
          <a:xfrm>
            <a:off x="2238033" y="4993190"/>
            <a:ext cx="69444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mic Sans MS" panose="030F0702030302020204" pitchFamily="66" charset="0"/>
              </a:rPr>
              <a:t>Compute the median of  A’ and B’ recursively</a:t>
            </a:r>
            <a:endParaRPr lang="en-IN" b="1" dirty="0">
              <a:latin typeface="Comic Sans MS" panose="030F0702030302020204" pitchFamily="66" charset="0"/>
            </a:endParaRPr>
          </a:p>
        </p:txBody>
      </p:sp>
      <p:sp>
        <p:nvSpPr>
          <p:cNvPr id="9" name="Right Brace 8">
            <a:extLst>
              <a:ext uri="{FF2B5EF4-FFF2-40B4-BE49-F238E27FC236}">
                <a16:creationId xmlns:a16="http://schemas.microsoft.com/office/drawing/2014/main" id="{F66B5147-AA2D-1E8F-C256-89C5E616924B}"/>
              </a:ext>
            </a:extLst>
          </p:cNvPr>
          <p:cNvSpPr/>
          <p:nvPr/>
        </p:nvSpPr>
        <p:spPr>
          <a:xfrm rot="5400000">
            <a:off x="4384259" y="1322481"/>
            <a:ext cx="208365" cy="4442554"/>
          </a:xfrm>
          <a:prstGeom prst="rightBrace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BC4CF91-A729-4331-E86A-33A8E940D670}"/>
              </a:ext>
            </a:extLst>
          </p:cNvPr>
          <p:cNvSpPr/>
          <p:nvPr/>
        </p:nvSpPr>
        <p:spPr>
          <a:xfrm>
            <a:off x="4167077" y="3837284"/>
            <a:ext cx="642727" cy="347142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B’</a:t>
            </a:r>
            <a:endParaRPr lang="en-IN" dirty="0"/>
          </a:p>
        </p:txBody>
      </p:sp>
      <p:sp>
        <p:nvSpPr>
          <p:cNvPr id="29" name="Right Brace 28">
            <a:extLst>
              <a:ext uri="{FF2B5EF4-FFF2-40B4-BE49-F238E27FC236}">
                <a16:creationId xmlns:a16="http://schemas.microsoft.com/office/drawing/2014/main" id="{C86947E7-1AAA-A5EA-3407-8D9679AEDA94}"/>
              </a:ext>
            </a:extLst>
          </p:cNvPr>
          <p:cNvSpPr/>
          <p:nvPr/>
        </p:nvSpPr>
        <p:spPr>
          <a:xfrm rot="16200000">
            <a:off x="7968898" y="-95108"/>
            <a:ext cx="208365" cy="4442554"/>
          </a:xfrm>
          <a:prstGeom prst="rightBrace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8A7EC2E-43B7-B058-4706-A4F409C12488}"/>
              </a:ext>
            </a:extLst>
          </p:cNvPr>
          <p:cNvSpPr/>
          <p:nvPr/>
        </p:nvSpPr>
        <p:spPr>
          <a:xfrm>
            <a:off x="7751716" y="1605793"/>
            <a:ext cx="642727" cy="3471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A’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658757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6CB10C88-4D11-BC05-9904-C42DEF0F61DB}"/>
              </a:ext>
            </a:extLst>
          </p:cNvPr>
          <p:cNvGrpSpPr/>
          <p:nvPr/>
        </p:nvGrpSpPr>
        <p:grpSpPr>
          <a:xfrm>
            <a:off x="0" y="-12867"/>
            <a:ext cx="12192000" cy="809897"/>
            <a:chOff x="-134982" y="849086"/>
            <a:chExt cx="12192000" cy="809897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28902B2C-8867-758B-4DB9-88BD58A6ACAC}"/>
                </a:ext>
              </a:extLst>
            </p:cNvPr>
            <p:cNvSpPr/>
            <p:nvPr/>
          </p:nvSpPr>
          <p:spPr>
            <a:xfrm>
              <a:off x="-134982" y="849086"/>
              <a:ext cx="12192000" cy="80989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9804A985-0B3F-10CF-537C-0DBA63FD18F3}"/>
                </a:ext>
              </a:extLst>
            </p:cNvPr>
            <p:cNvSpPr txBox="1"/>
            <p:nvPr/>
          </p:nvSpPr>
          <p:spPr>
            <a:xfrm>
              <a:off x="-134982" y="900091"/>
              <a:ext cx="1219200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4000" dirty="0">
                  <a:solidFill>
                    <a:schemeClr val="bg1"/>
                  </a:solidFill>
                  <a:latin typeface="Amasis MT Pro Black" panose="02040A04050005020304" pitchFamily="18" charset="0"/>
                </a:rPr>
                <a:t>Median of Two Sorted Array</a:t>
              </a:r>
            </a:p>
          </p:txBody>
        </p:sp>
      </p:grpSp>
      <p:graphicFrame>
        <p:nvGraphicFramePr>
          <p:cNvPr id="13" name="Table 16">
            <a:extLst>
              <a:ext uri="{FF2B5EF4-FFF2-40B4-BE49-F238E27FC236}">
                <a16:creationId xmlns:a16="http://schemas.microsoft.com/office/drawing/2014/main" id="{5AA0A2F3-DDB7-6217-7A38-51EF3C4D7C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7666511"/>
              </p:ext>
            </p:extLst>
          </p:nvPr>
        </p:nvGraphicFramePr>
        <p:xfrm>
          <a:off x="565006" y="2795302"/>
          <a:ext cx="5301045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9005">
                  <a:extLst>
                    <a:ext uri="{9D8B030D-6E8A-4147-A177-3AD203B41FA5}">
                      <a16:colId xmlns:a16="http://schemas.microsoft.com/office/drawing/2014/main" val="3987782160"/>
                    </a:ext>
                  </a:extLst>
                </a:gridCol>
                <a:gridCol w="589005">
                  <a:extLst>
                    <a:ext uri="{9D8B030D-6E8A-4147-A177-3AD203B41FA5}">
                      <a16:colId xmlns:a16="http://schemas.microsoft.com/office/drawing/2014/main" val="2131243195"/>
                    </a:ext>
                  </a:extLst>
                </a:gridCol>
                <a:gridCol w="589005">
                  <a:extLst>
                    <a:ext uri="{9D8B030D-6E8A-4147-A177-3AD203B41FA5}">
                      <a16:colId xmlns:a16="http://schemas.microsoft.com/office/drawing/2014/main" val="421400323"/>
                    </a:ext>
                  </a:extLst>
                </a:gridCol>
                <a:gridCol w="589005">
                  <a:extLst>
                    <a:ext uri="{9D8B030D-6E8A-4147-A177-3AD203B41FA5}">
                      <a16:colId xmlns:a16="http://schemas.microsoft.com/office/drawing/2014/main" val="216410293"/>
                    </a:ext>
                  </a:extLst>
                </a:gridCol>
                <a:gridCol w="589005">
                  <a:extLst>
                    <a:ext uri="{9D8B030D-6E8A-4147-A177-3AD203B41FA5}">
                      <a16:colId xmlns:a16="http://schemas.microsoft.com/office/drawing/2014/main" val="843483791"/>
                    </a:ext>
                  </a:extLst>
                </a:gridCol>
                <a:gridCol w="589005">
                  <a:extLst>
                    <a:ext uri="{9D8B030D-6E8A-4147-A177-3AD203B41FA5}">
                      <a16:colId xmlns:a16="http://schemas.microsoft.com/office/drawing/2014/main" val="3775587018"/>
                    </a:ext>
                  </a:extLst>
                </a:gridCol>
                <a:gridCol w="589005">
                  <a:extLst>
                    <a:ext uri="{9D8B030D-6E8A-4147-A177-3AD203B41FA5}">
                      <a16:colId xmlns:a16="http://schemas.microsoft.com/office/drawing/2014/main" val="1005147841"/>
                    </a:ext>
                  </a:extLst>
                </a:gridCol>
                <a:gridCol w="589005">
                  <a:extLst>
                    <a:ext uri="{9D8B030D-6E8A-4147-A177-3AD203B41FA5}">
                      <a16:colId xmlns:a16="http://schemas.microsoft.com/office/drawing/2014/main" val="1940931436"/>
                    </a:ext>
                  </a:extLst>
                </a:gridCol>
                <a:gridCol w="589005">
                  <a:extLst>
                    <a:ext uri="{9D8B030D-6E8A-4147-A177-3AD203B41FA5}">
                      <a16:colId xmlns:a16="http://schemas.microsoft.com/office/drawing/2014/main" val="2862950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m2</a:t>
                      </a:r>
                      <a:endParaRPr lang="en-IN" dirty="0"/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5607326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295366E6-61CA-FC5D-7399-222F7EE0B6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9382737"/>
              </p:ext>
            </p:extLst>
          </p:nvPr>
        </p:nvGraphicFramePr>
        <p:xfrm>
          <a:off x="5866051" y="2792627"/>
          <a:ext cx="5577075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9675">
                  <a:extLst>
                    <a:ext uri="{9D8B030D-6E8A-4147-A177-3AD203B41FA5}">
                      <a16:colId xmlns:a16="http://schemas.microsoft.com/office/drawing/2014/main" val="3987782160"/>
                    </a:ext>
                  </a:extLst>
                </a:gridCol>
                <a:gridCol w="619675">
                  <a:extLst>
                    <a:ext uri="{9D8B030D-6E8A-4147-A177-3AD203B41FA5}">
                      <a16:colId xmlns:a16="http://schemas.microsoft.com/office/drawing/2014/main" val="2131243195"/>
                    </a:ext>
                  </a:extLst>
                </a:gridCol>
                <a:gridCol w="619675">
                  <a:extLst>
                    <a:ext uri="{9D8B030D-6E8A-4147-A177-3AD203B41FA5}">
                      <a16:colId xmlns:a16="http://schemas.microsoft.com/office/drawing/2014/main" val="421400323"/>
                    </a:ext>
                  </a:extLst>
                </a:gridCol>
                <a:gridCol w="619675">
                  <a:extLst>
                    <a:ext uri="{9D8B030D-6E8A-4147-A177-3AD203B41FA5}">
                      <a16:colId xmlns:a16="http://schemas.microsoft.com/office/drawing/2014/main" val="216410293"/>
                    </a:ext>
                  </a:extLst>
                </a:gridCol>
                <a:gridCol w="619675">
                  <a:extLst>
                    <a:ext uri="{9D8B030D-6E8A-4147-A177-3AD203B41FA5}">
                      <a16:colId xmlns:a16="http://schemas.microsoft.com/office/drawing/2014/main" val="843483791"/>
                    </a:ext>
                  </a:extLst>
                </a:gridCol>
                <a:gridCol w="619675">
                  <a:extLst>
                    <a:ext uri="{9D8B030D-6E8A-4147-A177-3AD203B41FA5}">
                      <a16:colId xmlns:a16="http://schemas.microsoft.com/office/drawing/2014/main" val="3775587018"/>
                    </a:ext>
                  </a:extLst>
                </a:gridCol>
                <a:gridCol w="619675">
                  <a:extLst>
                    <a:ext uri="{9D8B030D-6E8A-4147-A177-3AD203B41FA5}">
                      <a16:colId xmlns:a16="http://schemas.microsoft.com/office/drawing/2014/main" val="1005147841"/>
                    </a:ext>
                  </a:extLst>
                </a:gridCol>
                <a:gridCol w="619675">
                  <a:extLst>
                    <a:ext uri="{9D8B030D-6E8A-4147-A177-3AD203B41FA5}">
                      <a16:colId xmlns:a16="http://schemas.microsoft.com/office/drawing/2014/main" val="1940931436"/>
                    </a:ext>
                  </a:extLst>
                </a:gridCol>
                <a:gridCol w="619675">
                  <a:extLst>
                    <a:ext uri="{9D8B030D-6E8A-4147-A177-3AD203B41FA5}">
                      <a16:colId xmlns:a16="http://schemas.microsoft.com/office/drawing/2014/main" val="2862950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IN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m1</a:t>
                      </a:r>
                      <a:endParaRPr lang="en-IN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5607326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3A160C21-9E66-079A-A7A0-FEFD1CB8A2D2}"/>
              </a:ext>
            </a:extLst>
          </p:cNvPr>
          <p:cNvSpPr txBox="1"/>
          <p:nvPr/>
        </p:nvSpPr>
        <p:spPr>
          <a:xfrm>
            <a:off x="565006" y="1241547"/>
            <a:ext cx="96506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solidFill>
                  <a:srgbClr val="C00000"/>
                </a:solidFill>
                <a:latin typeface="Comic Sans MS" panose="030F0702030302020204" pitchFamily="66" charset="0"/>
              </a:rPr>
              <a:t>2.2</a:t>
            </a:r>
            <a:r>
              <a:rPr lang="en-US" dirty="0">
                <a:latin typeface="Comic Sans MS" panose="030F0702030302020204" pitchFamily="66" charset="0"/>
              </a:rPr>
              <a:t>:  if </a:t>
            </a:r>
            <a:r>
              <a:rPr lang="en-US" b="1" dirty="0">
                <a:solidFill>
                  <a:srgbClr val="002060"/>
                </a:solidFill>
                <a:latin typeface="Comic Sans MS" panose="030F0702030302020204" pitchFamily="66" charset="0"/>
              </a:rPr>
              <a:t>m1</a:t>
            </a:r>
            <a:r>
              <a:rPr lang="en-US" dirty="0">
                <a:latin typeface="Comic Sans MS" panose="030F0702030302020204" pitchFamily="66" charset="0"/>
              </a:rPr>
              <a:t> &gt; </a:t>
            </a:r>
            <a:r>
              <a:rPr lang="en-US" b="1" dirty="0">
                <a:solidFill>
                  <a:srgbClr val="7030A0"/>
                </a:solidFill>
                <a:latin typeface="Comic Sans MS" panose="030F0702030302020204" pitchFamily="66" charset="0"/>
              </a:rPr>
              <a:t>m2 </a:t>
            </a:r>
            <a:endParaRPr lang="en-IN" dirty="0">
              <a:latin typeface="Comic Sans MS" panose="030F0702030302020204" pitchFamily="66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55AA3B7-F747-1A82-AB04-EF0191EF0602}"/>
              </a:ext>
            </a:extLst>
          </p:cNvPr>
          <p:cNvSpPr/>
          <p:nvPr/>
        </p:nvSpPr>
        <p:spPr>
          <a:xfrm>
            <a:off x="586490" y="1987433"/>
            <a:ext cx="642727" cy="3471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  <a:endParaRPr lang="en-IN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7ADF8B1-6C0C-1021-C384-04E038124415}"/>
              </a:ext>
            </a:extLst>
          </p:cNvPr>
          <p:cNvSpPr/>
          <p:nvPr/>
        </p:nvSpPr>
        <p:spPr>
          <a:xfrm>
            <a:off x="1772738" y="1967621"/>
            <a:ext cx="642727" cy="347142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0DCC4A-E7E4-1F3C-FBA0-5AE61D8F28EA}"/>
              </a:ext>
            </a:extLst>
          </p:cNvPr>
          <p:cNvSpPr txBox="1"/>
          <p:nvPr/>
        </p:nvSpPr>
        <p:spPr>
          <a:xfrm>
            <a:off x="1359243" y="1976338"/>
            <a:ext cx="5066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ptos Black" panose="020B0004020202020204" pitchFamily="34" charset="0"/>
              </a:rPr>
              <a:t>+</a:t>
            </a:r>
            <a:endParaRPr lang="en-IN" dirty="0">
              <a:latin typeface="Aptos Black" panose="020B0004020202020204" pitchFamily="34" charset="0"/>
            </a:endParaRPr>
          </a:p>
        </p:txBody>
      </p:sp>
      <p:sp>
        <p:nvSpPr>
          <p:cNvPr id="7" name="Left Brace 6">
            <a:extLst>
              <a:ext uri="{FF2B5EF4-FFF2-40B4-BE49-F238E27FC236}">
                <a16:creationId xmlns:a16="http://schemas.microsoft.com/office/drawing/2014/main" id="{09174042-31C7-50E1-BF2C-223AD9FD6383}"/>
              </a:ext>
            </a:extLst>
          </p:cNvPr>
          <p:cNvSpPr/>
          <p:nvPr/>
        </p:nvSpPr>
        <p:spPr>
          <a:xfrm rot="16200000">
            <a:off x="5378027" y="1068654"/>
            <a:ext cx="976045" cy="5577077"/>
          </a:xfrm>
          <a:prstGeom prst="leftBrace">
            <a:avLst>
              <a:gd name="adj1" fmla="val 8333"/>
              <a:gd name="adj2" fmla="val 51773"/>
            </a:avLst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84912AD-A75A-5B6F-E88A-180A3BC6168B}"/>
              </a:ext>
            </a:extLst>
          </p:cNvPr>
          <p:cNvSpPr txBox="1"/>
          <p:nvPr/>
        </p:nvSpPr>
        <p:spPr>
          <a:xfrm>
            <a:off x="3793524" y="4255854"/>
            <a:ext cx="53134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00B05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Median will lie here</a:t>
            </a:r>
            <a:endParaRPr lang="en-IN" sz="3200" dirty="0">
              <a:solidFill>
                <a:srgbClr val="00B050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12" name="Multiplication Sign 11">
            <a:extLst>
              <a:ext uri="{FF2B5EF4-FFF2-40B4-BE49-F238E27FC236}">
                <a16:creationId xmlns:a16="http://schemas.microsoft.com/office/drawing/2014/main" id="{18F315D2-F1CD-8E6C-AD3B-B899820D97C6}"/>
              </a:ext>
            </a:extLst>
          </p:cNvPr>
          <p:cNvSpPr/>
          <p:nvPr/>
        </p:nvSpPr>
        <p:spPr>
          <a:xfrm>
            <a:off x="623560" y="2445436"/>
            <a:ext cx="1720994" cy="1055718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Callout: Up Arrow 15">
            <a:extLst>
              <a:ext uri="{FF2B5EF4-FFF2-40B4-BE49-F238E27FC236}">
                <a16:creationId xmlns:a16="http://schemas.microsoft.com/office/drawing/2014/main" id="{802D4DB2-94F2-E19B-58D1-D2E70E863C8F}"/>
              </a:ext>
            </a:extLst>
          </p:cNvPr>
          <p:cNvSpPr/>
          <p:nvPr/>
        </p:nvSpPr>
        <p:spPr>
          <a:xfrm>
            <a:off x="69375" y="3277003"/>
            <a:ext cx="2776177" cy="809897"/>
          </a:xfrm>
          <a:prstGeom prst="upArrow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omic Sans MS" panose="030F0702030302020204" pitchFamily="66" charset="0"/>
              </a:rPr>
              <a:t>Numbers less than m2</a:t>
            </a:r>
            <a:endParaRPr lang="en-IN" b="1" dirty="0">
              <a:latin typeface="Comic Sans MS" panose="030F0702030302020204" pitchFamily="66" charset="0"/>
            </a:endParaRPr>
          </a:p>
        </p:txBody>
      </p:sp>
      <p:sp>
        <p:nvSpPr>
          <p:cNvPr id="21" name="Multiplication Sign 20">
            <a:extLst>
              <a:ext uri="{FF2B5EF4-FFF2-40B4-BE49-F238E27FC236}">
                <a16:creationId xmlns:a16="http://schemas.microsoft.com/office/drawing/2014/main" id="{0C922A74-5056-7AB9-2A29-12040C879C56}"/>
              </a:ext>
            </a:extLst>
          </p:cNvPr>
          <p:cNvSpPr/>
          <p:nvPr/>
        </p:nvSpPr>
        <p:spPr>
          <a:xfrm>
            <a:off x="9544911" y="2373282"/>
            <a:ext cx="1720994" cy="1055718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Callout: Up Arrow 21">
            <a:extLst>
              <a:ext uri="{FF2B5EF4-FFF2-40B4-BE49-F238E27FC236}">
                <a16:creationId xmlns:a16="http://schemas.microsoft.com/office/drawing/2014/main" id="{A6FA5AC3-2F75-5287-A960-E5D9E1381D4F}"/>
              </a:ext>
            </a:extLst>
          </p:cNvPr>
          <p:cNvSpPr/>
          <p:nvPr/>
        </p:nvSpPr>
        <p:spPr>
          <a:xfrm>
            <a:off x="8886546" y="3273817"/>
            <a:ext cx="3037723" cy="809897"/>
          </a:xfrm>
          <a:prstGeom prst="upArrow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omic Sans MS" panose="030F0702030302020204" pitchFamily="66" charset="0"/>
              </a:rPr>
              <a:t>Numbers more than m1</a:t>
            </a:r>
            <a:endParaRPr lang="en-IN" b="1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60763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14" grpId="0" animBg="1"/>
      <p:bldP spid="15" grpId="0" animBg="1"/>
      <p:bldP spid="5" grpId="0"/>
      <p:bldP spid="7" grpId="0" animBg="1"/>
      <p:bldP spid="10" grpId="0"/>
      <p:bldP spid="12" grpId="0" animBg="1"/>
      <p:bldP spid="16" grpId="0" animBg="1"/>
      <p:bldP spid="21" grpId="0" animBg="1"/>
      <p:bldP spid="22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6CB10C88-4D11-BC05-9904-C42DEF0F61DB}"/>
              </a:ext>
            </a:extLst>
          </p:cNvPr>
          <p:cNvGrpSpPr/>
          <p:nvPr/>
        </p:nvGrpSpPr>
        <p:grpSpPr>
          <a:xfrm>
            <a:off x="0" y="-12867"/>
            <a:ext cx="12192000" cy="809897"/>
            <a:chOff x="-134982" y="849086"/>
            <a:chExt cx="12192000" cy="809897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28902B2C-8867-758B-4DB9-88BD58A6ACAC}"/>
                </a:ext>
              </a:extLst>
            </p:cNvPr>
            <p:cNvSpPr/>
            <p:nvPr/>
          </p:nvSpPr>
          <p:spPr>
            <a:xfrm>
              <a:off x="-134982" y="849086"/>
              <a:ext cx="12192000" cy="80989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9804A985-0B3F-10CF-537C-0DBA63FD18F3}"/>
                </a:ext>
              </a:extLst>
            </p:cNvPr>
            <p:cNvSpPr txBox="1"/>
            <p:nvPr/>
          </p:nvSpPr>
          <p:spPr>
            <a:xfrm>
              <a:off x="-134982" y="900091"/>
              <a:ext cx="1219200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4000" dirty="0">
                  <a:solidFill>
                    <a:schemeClr val="bg1"/>
                  </a:solidFill>
                  <a:latin typeface="Amasis MT Pro Black" panose="02040A04050005020304" pitchFamily="18" charset="0"/>
                </a:rPr>
                <a:t>Median of Two Sorted Array</a:t>
              </a:r>
            </a:p>
          </p:txBody>
        </p: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24FAC1B3-AE60-285C-70F0-94DD0909836F}"/>
              </a:ext>
            </a:extLst>
          </p:cNvPr>
          <p:cNvSpPr/>
          <p:nvPr/>
        </p:nvSpPr>
        <p:spPr>
          <a:xfrm>
            <a:off x="1482811" y="2271703"/>
            <a:ext cx="642727" cy="3471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  <a:endParaRPr lang="en-IN" dirty="0"/>
          </a:p>
        </p:txBody>
      </p:sp>
      <p:graphicFrame>
        <p:nvGraphicFramePr>
          <p:cNvPr id="24" name="Table 16">
            <a:extLst>
              <a:ext uri="{FF2B5EF4-FFF2-40B4-BE49-F238E27FC236}">
                <a16:creationId xmlns:a16="http://schemas.microsoft.com/office/drawing/2014/main" id="{0F4549EE-AC4C-1110-1DF8-36CECA165E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4980088"/>
              </p:ext>
            </p:extLst>
          </p:nvPr>
        </p:nvGraphicFramePr>
        <p:xfrm>
          <a:off x="2238033" y="2271703"/>
          <a:ext cx="8127999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3111">
                  <a:extLst>
                    <a:ext uri="{9D8B030D-6E8A-4147-A177-3AD203B41FA5}">
                      <a16:colId xmlns:a16="http://schemas.microsoft.com/office/drawing/2014/main" val="3987782160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2131243195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421400323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216410293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843483791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3775587018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1005147841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1940931436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2862950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m1</a:t>
                      </a:r>
                      <a:endParaRPr lang="en-IN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5607326"/>
                  </a:ext>
                </a:extLst>
              </a:tr>
            </a:tbl>
          </a:graphicData>
        </a:graphic>
      </p:graphicFrame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77C13593-0CBE-0B46-9C7F-3228CC5165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0743757"/>
              </p:ext>
            </p:extLst>
          </p:nvPr>
        </p:nvGraphicFramePr>
        <p:xfrm>
          <a:off x="2238033" y="2855639"/>
          <a:ext cx="8127999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3111">
                  <a:extLst>
                    <a:ext uri="{9D8B030D-6E8A-4147-A177-3AD203B41FA5}">
                      <a16:colId xmlns:a16="http://schemas.microsoft.com/office/drawing/2014/main" val="3987782160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2131243195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421400323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216410293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843483791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3775587018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1005147841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1940931436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2862950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m2</a:t>
                      </a:r>
                      <a:endParaRPr lang="en-IN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5607326"/>
                  </a:ext>
                </a:extLst>
              </a:tr>
            </a:tbl>
          </a:graphicData>
        </a:graphic>
      </p:graphicFrame>
      <p:sp>
        <p:nvSpPr>
          <p:cNvPr id="26" name="Rectangle 25">
            <a:extLst>
              <a:ext uri="{FF2B5EF4-FFF2-40B4-BE49-F238E27FC236}">
                <a16:creationId xmlns:a16="http://schemas.microsoft.com/office/drawing/2014/main" id="{526D5C28-D49D-4F60-300C-67DFA3AD14C0}"/>
              </a:ext>
            </a:extLst>
          </p:cNvPr>
          <p:cNvSpPr/>
          <p:nvPr/>
        </p:nvSpPr>
        <p:spPr>
          <a:xfrm>
            <a:off x="1482811" y="2843341"/>
            <a:ext cx="642727" cy="347142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  <a:endParaRPr lang="en-IN" dirty="0"/>
          </a:p>
        </p:txBody>
      </p:sp>
      <p:sp>
        <p:nvSpPr>
          <p:cNvPr id="6" name="Multiplication Sign 5">
            <a:extLst>
              <a:ext uri="{FF2B5EF4-FFF2-40B4-BE49-F238E27FC236}">
                <a16:creationId xmlns:a16="http://schemas.microsoft.com/office/drawing/2014/main" id="{42A67DA7-631A-C942-6700-3537B36A91AB}"/>
              </a:ext>
            </a:extLst>
          </p:cNvPr>
          <p:cNvSpPr/>
          <p:nvPr/>
        </p:nvSpPr>
        <p:spPr>
          <a:xfrm>
            <a:off x="7717572" y="1944825"/>
            <a:ext cx="766119" cy="1000897"/>
          </a:xfrm>
          <a:prstGeom prst="mathMultiply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Multiplication Sign 26">
            <a:extLst>
              <a:ext uri="{FF2B5EF4-FFF2-40B4-BE49-F238E27FC236}">
                <a16:creationId xmlns:a16="http://schemas.microsoft.com/office/drawing/2014/main" id="{C8A2F585-F4CD-C3D2-5261-AF442186F3EC}"/>
              </a:ext>
            </a:extLst>
          </p:cNvPr>
          <p:cNvSpPr/>
          <p:nvPr/>
        </p:nvSpPr>
        <p:spPr>
          <a:xfrm>
            <a:off x="3325251" y="2564737"/>
            <a:ext cx="766119" cy="1000897"/>
          </a:xfrm>
          <a:prstGeom prst="mathMultiply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656FD12-2832-5A8C-A357-8048EAB2CDCD}"/>
              </a:ext>
            </a:extLst>
          </p:cNvPr>
          <p:cNvSpPr txBox="1"/>
          <p:nvPr/>
        </p:nvSpPr>
        <p:spPr>
          <a:xfrm>
            <a:off x="2238033" y="4993190"/>
            <a:ext cx="69444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mic Sans MS" panose="030F0702030302020204" pitchFamily="66" charset="0"/>
              </a:rPr>
              <a:t>Compute the median of  A’ and B’ recursively</a:t>
            </a:r>
            <a:endParaRPr lang="en-IN" b="1" dirty="0">
              <a:latin typeface="Comic Sans MS" panose="030F0702030302020204" pitchFamily="66" charset="0"/>
            </a:endParaRPr>
          </a:p>
        </p:txBody>
      </p:sp>
      <p:sp>
        <p:nvSpPr>
          <p:cNvPr id="9" name="Right Brace 8">
            <a:extLst>
              <a:ext uri="{FF2B5EF4-FFF2-40B4-BE49-F238E27FC236}">
                <a16:creationId xmlns:a16="http://schemas.microsoft.com/office/drawing/2014/main" id="{F66B5147-AA2D-1E8F-C256-89C5E616924B}"/>
              </a:ext>
            </a:extLst>
          </p:cNvPr>
          <p:cNvSpPr/>
          <p:nvPr/>
        </p:nvSpPr>
        <p:spPr>
          <a:xfrm rot="5400000">
            <a:off x="8040573" y="1311906"/>
            <a:ext cx="208365" cy="4442554"/>
          </a:xfrm>
          <a:prstGeom prst="rightBrace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BC4CF91-A729-4331-E86A-33A8E940D670}"/>
              </a:ext>
            </a:extLst>
          </p:cNvPr>
          <p:cNvSpPr/>
          <p:nvPr/>
        </p:nvSpPr>
        <p:spPr>
          <a:xfrm>
            <a:off x="7840964" y="3779398"/>
            <a:ext cx="642727" cy="347142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B’</a:t>
            </a:r>
            <a:endParaRPr lang="en-IN" dirty="0"/>
          </a:p>
        </p:txBody>
      </p:sp>
      <p:sp>
        <p:nvSpPr>
          <p:cNvPr id="29" name="Right Brace 28">
            <a:extLst>
              <a:ext uri="{FF2B5EF4-FFF2-40B4-BE49-F238E27FC236}">
                <a16:creationId xmlns:a16="http://schemas.microsoft.com/office/drawing/2014/main" id="{C86947E7-1AAA-A5EA-3407-8D9679AEDA94}"/>
              </a:ext>
            </a:extLst>
          </p:cNvPr>
          <p:cNvSpPr/>
          <p:nvPr/>
        </p:nvSpPr>
        <p:spPr>
          <a:xfrm rot="16200000">
            <a:off x="4355127" y="-183599"/>
            <a:ext cx="208365" cy="4442554"/>
          </a:xfrm>
          <a:prstGeom prst="rightBrace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8A7EC2E-43B7-B058-4706-A4F409C12488}"/>
              </a:ext>
            </a:extLst>
          </p:cNvPr>
          <p:cNvSpPr/>
          <p:nvPr/>
        </p:nvSpPr>
        <p:spPr>
          <a:xfrm>
            <a:off x="4137945" y="1347861"/>
            <a:ext cx="642727" cy="3471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A’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693216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6CB10C88-4D11-BC05-9904-C42DEF0F61DB}"/>
              </a:ext>
            </a:extLst>
          </p:cNvPr>
          <p:cNvGrpSpPr/>
          <p:nvPr/>
        </p:nvGrpSpPr>
        <p:grpSpPr>
          <a:xfrm>
            <a:off x="0" y="-12867"/>
            <a:ext cx="12192000" cy="809897"/>
            <a:chOff x="-134982" y="849086"/>
            <a:chExt cx="12192000" cy="809897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28902B2C-8867-758B-4DB9-88BD58A6ACAC}"/>
                </a:ext>
              </a:extLst>
            </p:cNvPr>
            <p:cNvSpPr/>
            <p:nvPr/>
          </p:nvSpPr>
          <p:spPr>
            <a:xfrm>
              <a:off x="-134982" y="849086"/>
              <a:ext cx="12192000" cy="80989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9804A985-0B3F-10CF-537C-0DBA63FD18F3}"/>
                </a:ext>
              </a:extLst>
            </p:cNvPr>
            <p:cNvSpPr txBox="1"/>
            <p:nvPr/>
          </p:nvSpPr>
          <p:spPr>
            <a:xfrm>
              <a:off x="-134982" y="900091"/>
              <a:ext cx="1219200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4000" dirty="0">
                  <a:solidFill>
                    <a:schemeClr val="bg1"/>
                  </a:solidFill>
                  <a:latin typeface="Amasis MT Pro Black" panose="02040A04050005020304" pitchFamily="18" charset="0"/>
                </a:rPr>
                <a:t>Median of Two Sorted Array</a:t>
              </a:r>
            </a:p>
          </p:txBody>
        </p:sp>
      </p:grpSp>
      <p:graphicFrame>
        <p:nvGraphicFramePr>
          <p:cNvPr id="7" name="Table 9">
            <a:extLst>
              <a:ext uri="{FF2B5EF4-FFF2-40B4-BE49-F238E27FC236}">
                <a16:creationId xmlns:a16="http://schemas.microsoft.com/office/drawing/2014/main" id="{19A5B1F4-5D51-7508-33A6-FB41360C79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6761427"/>
              </p:ext>
            </p:extLst>
          </p:nvPr>
        </p:nvGraphicFramePr>
        <p:xfrm>
          <a:off x="1463589" y="1130487"/>
          <a:ext cx="8127999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8909">
                  <a:extLst>
                    <a:ext uri="{9D8B030D-6E8A-4147-A177-3AD203B41FA5}">
                      <a16:colId xmlns:a16="http://schemas.microsoft.com/office/drawing/2014/main" val="3703989212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2451301708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4103205053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424933027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1218039798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2063588376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341334289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1633414290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924805449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1586702087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16697977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  <a:endParaRPr lang="en-IN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</a:t>
                      </a:r>
                      <a:endParaRPr lang="en-IN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17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21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7918444"/>
                  </a:ext>
                </a:extLst>
              </a:tr>
            </a:tbl>
          </a:graphicData>
        </a:graphic>
      </p:graphicFrame>
      <p:graphicFrame>
        <p:nvGraphicFramePr>
          <p:cNvPr id="19" name="Table 9">
            <a:extLst>
              <a:ext uri="{FF2B5EF4-FFF2-40B4-BE49-F238E27FC236}">
                <a16:creationId xmlns:a16="http://schemas.microsoft.com/office/drawing/2014/main" id="{2D0BF0AA-21A2-8A2F-8425-B8FC9DB89C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8363343"/>
              </p:ext>
            </p:extLst>
          </p:nvPr>
        </p:nvGraphicFramePr>
        <p:xfrm>
          <a:off x="1463588" y="1616581"/>
          <a:ext cx="8127999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8909">
                  <a:extLst>
                    <a:ext uri="{9D8B030D-6E8A-4147-A177-3AD203B41FA5}">
                      <a16:colId xmlns:a16="http://schemas.microsoft.com/office/drawing/2014/main" val="3703989212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2451301708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4103205053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424933027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1218039798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2063588376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341334289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1633414290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924805449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1586702087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16697977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  <a:endParaRPr lang="en-IN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  <a:endParaRPr lang="en-IN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18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22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7918444"/>
                  </a:ext>
                </a:extLst>
              </a:tr>
            </a:tbl>
          </a:graphicData>
        </a:graphic>
      </p:graphicFrame>
      <p:sp>
        <p:nvSpPr>
          <p:cNvPr id="20" name="Rectangle 19">
            <a:extLst>
              <a:ext uri="{FF2B5EF4-FFF2-40B4-BE49-F238E27FC236}">
                <a16:creationId xmlns:a16="http://schemas.microsoft.com/office/drawing/2014/main" id="{3B4AD450-F8A9-EE76-D0C4-A12D4FBF3ADD}"/>
              </a:ext>
            </a:extLst>
          </p:cNvPr>
          <p:cNvSpPr/>
          <p:nvPr/>
        </p:nvSpPr>
        <p:spPr>
          <a:xfrm>
            <a:off x="716516" y="1149554"/>
            <a:ext cx="642727" cy="3471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  <a:endParaRPr lang="en-IN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BC5D998-ACEB-D93B-E53F-AFEC5AE7029D}"/>
              </a:ext>
            </a:extLst>
          </p:cNvPr>
          <p:cNvSpPr/>
          <p:nvPr/>
        </p:nvSpPr>
        <p:spPr>
          <a:xfrm>
            <a:off x="716516" y="1601204"/>
            <a:ext cx="642727" cy="347142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37A8A49-A015-94D6-937A-5B84DEBA0268}"/>
              </a:ext>
            </a:extLst>
          </p:cNvPr>
          <p:cNvSpPr txBox="1"/>
          <p:nvPr/>
        </p:nvSpPr>
        <p:spPr>
          <a:xfrm>
            <a:off x="9786551" y="1127364"/>
            <a:ext cx="12274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mic Sans MS" panose="030F0702030302020204" pitchFamily="66" charset="0"/>
              </a:rPr>
              <a:t>n=11</a:t>
            </a:r>
            <a:endParaRPr lang="en-IN" dirty="0">
              <a:latin typeface="Comic Sans MS" panose="030F0702030302020204" pitchFamily="66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96BCF31-095D-5174-69D6-C5FD321F68A8}"/>
              </a:ext>
            </a:extLst>
          </p:cNvPr>
          <p:cNvSpPr txBox="1"/>
          <p:nvPr/>
        </p:nvSpPr>
        <p:spPr>
          <a:xfrm>
            <a:off x="9786551" y="1579014"/>
            <a:ext cx="12274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mic Sans MS" panose="030F0702030302020204" pitchFamily="66" charset="0"/>
              </a:rPr>
              <a:t>n=11</a:t>
            </a:r>
            <a:endParaRPr lang="en-IN" dirty="0">
              <a:latin typeface="Comic Sans MS" panose="030F0702030302020204" pitchFamily="66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C1B2FBD-D834-0A8A-B31E-AEFCF47AF2B9}"/>
              </a:ext>
            </a:extLst>
          </p:cNvPr>
          <p:cNvSpPr txBox="1"/>
          <p:nvPr/>
        </p:nvSpPr>
        <p:spPr>
          <a:xfrm>
            <a:off x="716515" y="2224217"/>
            <a:ext cx="984597" cy="36933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 m1=11 </a:t>
            </a:r>
            <a:endParaRPr lang="en-IN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F5B666F-D0CB-A344-17DF-B74EB5703DD0}"/>
              </a:ext>
            </a:extLst>
          </p:cNvPr>
          <p:cNvSpPr txBox="1"/>
          <p:nvPr/>
        </p:nvSpPr>
        <p:spPr>
          <a:xfrm>
            <a:off x="2213477" y="2224217"/>
            <a:ext cx="984597" cy="36933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m2=12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7F697D2-7CB7-EF33-6CE1-632677747EF1}"/>
              </a:ext>
            </a:extLst>
          </p:cNvPr>
          <p:cNvSpPr txBox="1"/>
          <p:nvPr/>
        </p:nvSpPr>
        <p:spPr>
          <a:xfrm>
            <a:off x="1787433" y="2224217"/>
            <a:ext cx="7249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&lt;</a:t>
            </a:r>
            <a:endParaRPr lang="en-IN" dirty="0"/>
          </a:p>
        </p:txBody>
      </p:sp>
      <p:graphicFrame>
        <p:nvGraphicFramePr>
          <p:cNvPr id="13" name="Table 13">
            <a:extLst>
              <a:ext uri="{FF2B5EF4-FFF2-40B4-BE49-F238E27FC236}">
                <a16:creationId xmlns:a16="http://schemas.microsoft.com/office/drawing/2014/main" id="{9375FA61-A390-2739-6E5C-40EA38CAD8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4813801"/>
              </p:ext>
            </p:extLst>
          </p:nvPr>
        </p:nvGraphicFramePr>
        <p:xfrm>
          <a:off x="1463588" y="2963360"/>
          <a:ext cx="696685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599144039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173869165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796566060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975590786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537676506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0391402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</a:t>
                      </a:r>
                      <a:endParaRPr lang="en-IN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17</a:t>
                      </a:r>
                      <a:endParaRPr lang="en-IN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21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7526876"/>
                  </a:ext>
                </a:extLst>
              </a:tr>
            </a:tbl>
          </a:graphicData>
        </a:graphic>
      </p:graphicFrame>
      <p:graphicFrame>
        <p:nvGraphicFramePr>
          <p:cNvPr id="14" name="Table 14">
            <a:extLst>
              <a:ext uri="{FF2B5EF4-FFF2-40B4-BE49-F238E27FC236}">
                <a16:creationId xmlns:a16="http://schemas.microsoft.com/office/drawing/2014/main" id="{0ABD90AF-72D8-2EC2-5403-A11ADF6156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815562"/>
              </p:ext>
            </p:extLst>
          </p:nvPr>
        </p:nvGraphicFramePr>
        <p:xfrm>
          <a:off x="1463587" y="3573593"/>
          <a:ext cx="546855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426">
                  <a:extLst>
                    <a:ext uri="{9D8B030D-6E8A-4147-A177-3AD203B41FA5}">
                      <a16:colId xmlns:a16="http://schemas.microsoft.com/office/drawing/2014/main" val="2313974344"/>
                    </a:ext>
                  </a:extLst>
                </a:gridCol>
                <a:gridCol w="911426">
                  <a:extLst>
                    <a:ext uri="{9D8B030D-6E8A-4147-A177-3AD203B41FA5}">
                      <a16:colId xmlns:a16="http://schemas.microsoft.com/office/drawing/2014/main" val="86608195"/>
                    </a:ext>
                  </a:extLst>
                </a:gridCol>
                <a:gridCol w="911426">
                  <a:extLst>
                    <a:ext uri="{9D8B030D-6E8A-4147-A177-3AD203B41FA5}">
                      <a16:colId xmlns:a16="http://schemas.microsoft.com/office/drawing/2014/main" val="2650740618"/>
                    </a:ext>
                  </a:extLst>
                </a:gridCol>
                <a:gridCol w="911426">
                  <a:extLst>
                    <a:ext uri="{9D8B030D-6E8A-4147-A177-3AD203B41FA5}">
                      <a16:colId xmlns:a16="http://schemas.microsoft.com/office/drawing/2014/main" val="1845271796"/>
                    </a:ext>
                  </a:extLst>
                </a:gridCol>
                <a:gridCol w="911426">
                  <a:extLst>
                    <a:ext uri="{9D8B030D-6E8A-4147-A177-3AD203B41FA5}">
                      <a16:colId xmlns:a16="http://schemas.microsoft.com/office/drawing/2014/main" val="2501868532"/>
                    </a:ext>
                  </a:extLst>
                </a:gridCol>
                <a:gridCol w="911426">
                  <a:extLst>
                    <a:ext uri="{9D8B030D-6E8A-4147-A177-3AD203B41FA5}">
                      <a16:colId xmlns:a16="http://schemas.microsoft.com/office/drawing/2014/main" val="32695443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  <a:endParaRPr lang="en-IN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  <a:endParaRPr lang="en-IN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8105979"/>
                  </a:ext>
                </a:extLst>
              </a:tr>
            </a:tbl>
          </a:graphicData>
        </a:graphic>
      </p:graphicFrame>
      <p:sp>
        <p:nvSpPr>
          <p:cNvPr id="34" name="Rectangle 33">
            <a:extLst>
              <a:ext uri="{FF2B5EF4-FFF2-40B4-BE49-F238E27FC236}">
                <a16:creationId xmlns:a16="http://schemas.microsoft.com/office/drawing/2014/main" id="{E7DCF24E-3F58-AB9D-AF11-B0BB1375A16F}"/>
              </a:ext>
            </a:extLst>
          </p:cNvPr>
          <p:cNvSpPr/>
          <p:nvPr/>
        </p:nvSpPr>
        <p:spPr>
          <a:xfrm>
            <a:off x="716516" y="2906709"/>
            <a:ext cx="642727" cy="3471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A’</a:t>
            </a:r>
            <a:endParaRPr lang="en-IN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4D4DA64-4697-BE8B-8895-7B528BB60D51}"/>
              </a:ext>
            </a:extLst>
          </p:cNvPr>
          <p:cNvSpPr/>
          <p:nvPr/>
        </p:nvSpPr>
        <p:spPr>
          <a:xfrm>
            <a:off x="716515" y="3567011"/>
            <a:ext cx="642727" cy="347142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B’</a:t>
            </a:r>
            <a:endParaRPr lang="en-IN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EA26EC1-6EC7-DCAE-4CAD-F64F39CB0493}"/>
              </a:ext>
            </a:extLst>
          </p:cNvPr>
          <p:cNvSpPr txBox="1"/>
          <p:nvPr/>
        </p:nvSpPr>
        <p:spPr>
          <a:xfrm>
            <a:off x="716515" y="4294532"/>
            <a:ext cx="976361" cy="36933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 m1=16 </a:t>
            </a:r>
            <a:endParaRPr lang="en-IN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B80A66D-E57D-FDFD-7109-6E95F0B1F3A8}"/>
              </a:ext>
            </a:extLst>
          </p:cNvPr>
          <p:cNvSpPr txBox="1"/>
          <p:nvPr/>
        </p:nvSpPr>
        <p:spPr>
          <a:xfrm>
            <a:off x="2213477" y="4294532"/>
            <a:ext cx="984597" cy="36933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m2=7</a:t>
            </a:r>
            <a:endParaRPr lang="en-IN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8C04DA3-8C90-9386-BC22-B5DFFD465356}"/>
              </a:ext>
            </a:extLst>
          </p:cNvPr>
          <p:cNvSpPr txBox="1"/>
          <p:nvPr/>
        </p:nvSpPr>
        <p:spPr>
          <a:xfrm>
            <a:off x="1787433" y="4294532"/>
            <a:ext cx="7249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&gt;</a:t>
            </a:r>
            <a:endParaRPr lang="en-IN" dirty="0"/>
          </a:p>
        </p:txBody>
      </p:sp>
      <p:graphicFrame>
        <p:nvGraphicFramePr>
          <p:cNvPr id="39" name="Table 13">
            <a:extLst>
              <a:ext uri="{FF2B5EF4-FFF2-40B4-BE49-F238E27FC236}">
                <a16:creationId xmlns:a16="http://schemas.microsoft.com/office/drawing/2014/main" id="{2870C5DF-29DA-B390-59F9-26763AFC09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054529"/>
              </p:ext>
            </p:extLst>
          </p:nvPr>
        </p:nvGraphicFramePr>
        <p:xfrm>
          <a:off x="1463586" y="4858823"/>
          <a:ext cx="3483429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599144039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173869165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7965660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13</a:t>
                      </a:r>
                      <a:endParaRPr lang="en-IN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</a:t>
                      </a:r>
                      <a:endParaRPr lang="en-IN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7526876"/>
                  </a:ext>
                </a:extLst>
              </a:tr>
            </a:tbl>
          </a:graphicData>
        </a:graphic>
      </p:graphicFrame>
      <p:graphicFrame>
        <p:nvGraphicFramePr>
          <p:cNvPr id="40" name="Table 14">
            <a:extLst>
              <a:ext uri="{FF2B5EF4-FFF2-40B4-BE49-F238E27FC236}">
                <a16:creationId xmlns:a16="http://schemas.microsoft.com/office/drawing/2014/main" id="{963B0D4D-B8E4-37AB-DC96-978246D22E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5276071"/>
              </p:ext>
            </p:extLst>
          </p:nvPr>
        </p:nvGraphicFramePr>
        <p:xfrm>
          <a:off x="1463585" y="5469056"/>
          <a:ext cx="2187423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9141">
                  <a:extLst>
                    <a:ext uri="{9D8B030D-6E8A-4147-A177-3AD203B41FA5}">
                      <a16:colId xmlns:a16="http://schemas.microsoft.com/office/drawing/2014/main" val="1845271796"/>
                    </a:ext>
                  </a:extLst>
                </a:gridCol>
                <a:gridCol w="729141">
                  <a:extLst>
                    <a:ext uri="{9D8B030D-6E8A-4147-A177-3AD203B41FA5}">
                      <a16:colId xmlns:a16="http://schemas.microsoft.com/office/drawing/2014/main" val="2501868532"/>
                    </a:ext>
                  </a:extLst>
                </a:gridCol>
                <a:gridCol w="729141">
                  <a:extLst>
                    <a:ext uri="{9D8B030D-6E8A-4147-A177-3AD203B41FA5}">
                      <a16:colId xmlns:a16="http://schemas.microsoft.com/office/drawing/2014/main" val="24991276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  <a:endParaRPr lang="en-IN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  <a:endParaRPr lang="en-IN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8105979"/>
                  </a:ext>
                </a:extLst>
              </a:tr>
            </a:tbl>
          </a:graphicData>
        </a:graphic>
      </p:graphicFrame>
      <p:sp>
        <p:nvSpPr>
          <p:cNvPr id="41" name="Rectangle 40">
            <a:extLst>
              <a:ext uri="{FF2B5EF4-FFF2-40B4-BE49-F238E27FC236}">
                <a16:creationId xmlns:a16="http://schemas.microsoft.com/office/drawing/2014/main" id="{B749343C-E7DF-82A4-3D03-AED53C97DEB0}"/>
              </a:ext>
            </a:extLst>
          </p:cNvPr>
          <p:cNvSpPr/>
          <p:nvPr/>
        </p:nvSpPr>
        <p:spPr>
          <a:xfrm>
            <a:off x="716514" y="4802172"/>
            <a:ext cx="642727" cy="3471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A’</a:t>
            </a:r>
            <a:endParaRPr lang="en-IN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FAD412E7-B555-1FBB-3340-747F5B5C48E6}"/>
              </a:ext>
            </a:extLst>
          </p:cNvPr>
          <p:cNvSpPr/>
          <p:nvPr/>
        </p:nvSpPr>
        <p:spPr>
          <a:xfrm>
            <a:off x="716513" y="5462474"/>
            <a:ext cx="642727" cy="347142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B’</a:t>
            </a:r>
            <a:endParaRPr lang="en-IN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CC2C188-8C1D-68E5-F15D-DB00BBCCD3F8}"/>
              </a:ext>
            </a:extLst>
          </p:cNvPr>
          <p:cNvSpPr txBox="1"/>
          <p:nvPr/>
        </p:nvSpPr>
        <p:spPr>
          <a:xfrm>
            <a:off x="716513" y="6189995"/>
            <a:ext cx="976361" cy="36933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 m1=13</a:t>
            </a:r>
            <a:endParaRPr lang="en-IN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DD858E4-51EA-8BA3-C8F3-019B0488B2A2}"/>
              </a:ext>
            </a:extLst>
          </p:cNvPr>
          <p:cNvSpPr txBox="1"/>
          <p:nvPr/>
        </p:nvSpPr>
        <p:spPr>
          <a:xfrm>
            <a:off x="2213475" y="6189995"/>
            <a:ext cx="984597" cy="36933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m2=10</a:t>
            </a:r>
            <a:endParaRPr lang="en-IN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B597E80-F5D9-3244-BC6E-DB227DA0C348}"/>
              </a:ext>
            </a:extLst>
          </p:cNvPr>
          <p:cNvSpPr txBox="1"/>
          <p:nvPr/>
        </p:nvSpPr>
        <p:spPr>
          <a:xfrm>
            <a:off x="1787431" y="6189995"/>
            <a:ext cx="7249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&gt;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870387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10" grpId="0"/>
      <p:bldP spid="31" grpId="0"/>
      <p:bldP spid="11" grpId="0" animBg="1"/>
      <p:bldP spid="32" grpId="0" animBg="1"/>
      <p:bldP spid="12" grpId="0"/>
      <p:bldP spid="34" grpId="0" animBg="1"/>
      <p:bldP spid="35" grpId="0" animBg="1"/>
      <p:bldP spid="36" grpId="0" animBg="1"/>
      <p:bldP spid="37" grpId="0" animBg="1"/>
      <p:bldP spid="38" grpId="0"/>
      <p:bldP spid="41" grpId="0" animBg="1"/>
      <p:bldP spid="42" grpId="0" animBg="1"/>
      <p:bldP spid="43" grpId="0" animBg="1"/>
      <p:bldP spid="44" grpId="0" animBg="1"/>
      <p:bldP spid="4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6CB10C88-4D11-BC05-9904-C42DEF0F61DB}"/>
              </a:ext>
            </a:extLst>
          </p:cNvPr>
          <p:cNvGrpSpPr/>
          <p:nvPr/>
        </p:nvGrpSpPr>
        <p:grpSpPr>
          <a:xfrm>
            <a:off x="0" y="-12867"/>
            <a:ext cx="12192000" cy="809897"/>
            <a:chOff x="-134982" y="849086"/>
            <a:chExt cx="12192000" cy="809897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28902B2C-8867-758B-4DB9-88BD58A6ACAC}"/>
                </a:ext>
              </a:extLst>
            </p:cNvPr>
            <p:cNvSpPr/>
            <p:nvPr/>
          </p:nvSpPr>
          <p:spPr>
            <a:xfrm>
              <a:off x="-134982" y="849086"/>
              <a:ext cx="12192000" cy="80989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9804A985-0B3F-10CF-537C-0DBA63FD18F3}"/>
                </a:ext>
              </a:extLst>
            </p:cNvPr>
            <p:cNvSpPr txBox="1"/>
            <p:nvPr/>
          </p:nvSpPr>
          <p:spPr>
            <a:xfrm>
              <a:off x="-134982" y="900091"/>
              <a:ext cx="1219200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4000" dirty="0">
                  <a:solidFill>
                    <a:schemeClr val="bg1"/>
                  </a:solidFill>
                  <a:latin typeface="Amasis MT Pro Black" panose="02040A04050005020304" pitchFamily="18" charset="0"/>
                </a:rPr>
                <a:t>Median of Two Sorted Array</a:t>
              </a:r>
            </a:p>
          </p:txBody>
        </p:sp>
      </p:grpSp>
      <p:graphicFrame>
        <p:nvGraphicFramePr>
          <p:cNvPr id="28" name="Table 13">
            <a:extLst>
              <a:ext uri="{FF2B5EF4-FFF2-40B4-BE49-F238E27FC236}">
                <a16:creationId xmlns:a16="http://schemas.microsoft.com/office/drawing/2014/main" id="{1DBA63F7-7D85-5BE2-7B1D-BB20BF0DCB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5208771"/>
              </p:ext>
            </p:extLst>
          </p:nvPr>
        </p:nvGraphicFramePr>
        <p:xfrm>
          <a:off x="1698364" y="3050998"/>
          <a:ext cx="2187421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6620">
                  <a:extLst>
                    <a:ext uri="{9D8B030D-6E8A-4147-A177-3AD203B41FA5}">
                      <a16:colId xmlns:a16="http://schemas.microsoft.com/office/drawing/2014/main" val="939193486"/>
                    </a:ext>
                  </a:extLst>
                </a:gridCol>
                <a:gridCol w="1080801">
                  <a:extLst>
                    <a:ext uri="{9D8B030D-6E8A-4147-A177-3AD203B41FA5}">
                      <a16:colId xmlns:a16="http://schemas.microsoft.com/office/drawing/2014/main" val="5991440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13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7526876"/>
                  </a:ext>
                </a:extLst>
              </a:tr>
            </a:tbl>
          </a:graphicData>
        </a:graphic>
      </p:graphicFrame>
      <p:graphicFrame>
        <p:nvGraphicFramePr>
          <p:cNvPr id="29" name="Table 14">
            <a:extLst>
              <a:ext uri="{FF2B5EF4-FFF2-40B4-BE49-F238E27FC236}">
                <a16:creationId xmlns:a16="http://schemas.microsoft.com/office/drawing/2014/main" id="{8EBDB8FB-BF91-8302-65CB-718A25EAA2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6276128"/>
              </p:ext>
            </p:extLst>
          </p:nvPr>
        </p:nvGraphicFramePr>
        <p:xfrm>
          <a:off x="1698363" y="3661231"/>
          <a:ext cx="218742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3711">
                  <a:extLst>
                    <a:ext uri="{9D8B030D-6E8A-4147-A177-3AD203B41FA5}">
                      <a16:colId xmlns:a16="http://schemas.microsoft.com/office/drawing/2014/main" val="1845271796"/>
                    </a:ext>
                  </a:extLst>
                </a:gridCol>
                <a:gridCol w="1093711">
                  <a:extLst>
                    <a:ext uri="{9D8B030D-6E8A-4147-A177-3AD203B41FA5}">
                      <a16:colId xmlns:a16="http://schemas.microsoft.com/office/drawing/2014/main" val="25018685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  <a:endParaRPr lang="en-IN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  <a:endParaRPr lang="en-IN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8105979"/>
                  </a:ext>
                </a:extLst>
              </a:tr>
            </a:tbl>
          </a:graphicData>
        </a:graphic>
      </p:graphicFrame>
      <p:sp>
        <p:nvSpPr>
          <p:cNvPr id="30" name="Rectangle 29">
            <a:extLst>
              <a:ext uri="{FF2B5EF4-FFF2-40B4-BE49-F238E27FC236}">
                <a16:creationId xmlns:a16="http://schemas.microsoft.com/office/drawing/2014/main" id="{ABBBC127-2DBE-2718-A9BF-9C5D6EB4E563}"/>
              </a:ext>
            </a:extLst>
          </p:cNvPr>
          <p:cNvSpPr/>
          <p:nvPr/>
        </p:nvSpPr>
        <p:spPr>
          <a:xfrm>
            <a:off x="951292" y="2994347"/>
            <a:ext cx="642727" cy="3471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A’</a:t>
            </a:r>
            <a:endParaRPr lang="en-IN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33CE0DB-8F55-4111-653F-9D1D581ACBEC}"/>
              </a:ext>
            </a:extLst>
          </p:cNvPr>
          <p:cNvSpPr/>
          <p:nvPr/>
        </p:nvSpPr>
        <p:spPr>
          <a:xfrm>
            <a:off x="951291" y="3654649"/>
            <a:ext cx="642727" cy="347142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B’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C0451C-030E-E9DD-F1E9-8C0B385DA4F4}"/>
              </a:ext>
            </a:extLst>
          </p:cNvPr>
          <p:cNvSpPr txBox="1"/>
          <p:nvPr/>
        </p:nvSpPr>
        <p:spPr>
          <a:xfrm>
            <a:off x="5511114" y="3421838"/>
            <a:ext cx="25331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ptos Black" panose="020B0004020202020204" pitchFamily="34" charset="0"/>
              </a:rPr>
              <a:t>Base Case</a:t>
            </a:r>
            <a:endParaRPr lang="en-IN" dirty="0">
              <a:latin typeface="Aptos Black" panose="020B0004020202020204" pitchFamily="34" charset="0"/>
            </a:endParaRPr>
          </a:p>
        </p:txBody>
      </p:sp>
      <p:sp>
        <p:nvSpPr>
          <p:cNvPr id="6" name="Right Brace 5">
            <a:extLst>
              <a:ext uri="{FF2B5EF4-FFF2-40B4-BE49-F238E27FC236}">
                <a16:creationId xmlns:a16="http://schemas.microsoft.com/office/drawing/2014/main" id="{8AB4AA29-BB58-958E-5B31-D91B91F23564}"/>
              </a:ext>
            </a:extLst>
          </p:cNvPr>
          <p:cNvSpPr/>
          <p:nvPr/>
        </p:nvSpPr>
        <p:spPr>
          <a:xfrm>
            <a:off x="4547285" y="3050998"/>
            <a:ext cx="252899" cy="950793"/>
          </a:xfrm>
          <a:prstGeom prst="rightBrace">
            <a:avLst/>
          </a:prstGeom>
          <a:solidFill>
            <a:srgbClr val="92D050"/>
          </a:solidFill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95E45BE4-612A-E93E-D0D9-43C4EFCD5FC1}"/>
                  </a:ext>
                </a:extLst>
              </p:cNvPr>
              <p:cNvSpPr txBox="1"/>
              <p:nvPr/>
            </p:nvSpPr>
            <p:spPr>
              <a:xfrm>
                <a:off x="609792" y="5050335"/>
                <a:ext cx="9144000" cy="9361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𝑀𝑒𝑑𝑖𝑎𝑛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𝑀𝑎𝑥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10,11</m:t>
                              </m:r>
                            </m:e>
                          </m:d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 + 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𝑀𝑖𝑛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{12, 13}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11+12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=11.5</m:t>
                      </m:r>
                    </m:oMath>
                  </m:oMathPara>
                </a14:m>
                <a:endParaRPr lang="en-IN" sz="2800" dirty="0">
                  <a:latin typeface="Aptos Black" panose="020B0004020202020204" pitchFamily="34" charset="0"/>
                </a:endParaRPr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95E45BE4-612A-E93E-D0D9-43C4EFCD5F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792" y="5050335"/>
                <a:ext cx="9144000" cy="93615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0" name="Table 13">
            <a:extLst>
              <a:ext uri="{FF2B5EF4-FFF2-40B4-BE49-F238E27FC236}">
                <a16:creationId xmlns:a16="http://schemas.microsoft.com/office/drawing/2014/main" id="{62BA730A-FC5A-502B-0898-35F25CC7DE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934262"/>
              </p:ext>
            </p:extLst>
          </p:nvPr>
        </p:nvGraphicFramePr>
        <p:xfrm>
          <a:off x="1698363" y="1163537"/>
          <a:ext cx="3483429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599144039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173869165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7965660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13</a:t>
                      </a:r>
                      <a:endParaRPr lang="en-IN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</a:t>
                      </a:r>
                      <a:endParaRPr lang="en-IN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7526876"/>
                  </a:ext>
                </a:extLst>
              </a:tr>
            </a:tbl>
          </a:graphicData>
        </a:graphic>
      </p:graphicFrame>
      <p:graphicFrame>
        <p:nvGraphicFramePr>
          <p:cNvPr id="51" name="Table 14">
            <a:extLst>
              <a:ext uri="{FF2B5EF4-FFF2-40B4-BE49-F238E27FC236}">
                <a16:creationId xmlns:a16="http://schemas.microsoft.com/office/drawing/2014/main" id="{E4AB71C4-71A8-0E88-3314-075AB2E77B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004830"/>
              </p:ext>
            </p:extLst>
          </p:nvPr>
        </p:nvGraphicFramePr>
        <p:xfrm>
          <a:off x="1698362" y="1773770"/>
          <a:ext cx="2187423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9141">
                  <a:extLst>
                    <a:ext uri="{9D8B030D-6E8A-4147-A177-3AD203B41FA5}">
                      <a16:colId xmlns:a16="http://schemas.microsoft.com/office/drawing/2014/main" val="1845271796"/>
                    </a:ext>
                  </a:extLst>
                </a:gridCol>
                <a:gridCol w="729141">
                  <a:extLst>
                    <a:ext uri="{9D8B030D-6E8A-4147-A177-3AD203B41FA5}">
                      <a16:colId xmlns:a16="http://schemas.microsoft.com/office/drawing/2014/main" val="2501868532"/>
                    </a:ext>
                  </a:extLst>
                </a:gridCol>
                <a:gridCol w="729141">
                  <a:extLst>
                    <a:ext uri="{9D8B030D-6E8A-4147-A177-3AD203B41FA5}">
                      <a16:colId xmlns:a16="http://schemas.microsoft.com/office/drawing/2014/main" val="24991276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  <a:endParaRPr lang="en-IN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  <a:endParaRPr lang="en-IN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8105979"/>
                  </a:ext>
                </a:extLst>
              </a:tr>
            </a:tbl>
          </a:graphicData>
        </a:graphic>
      </p:graphicFrame>
      <p:sp>
        <p:nvSpPr>
          <p:cNvPr id="52" name="Rectangle 51">
            <a:extLst>
              <a:ext uri="{FF2B5EF4-FFF2-40B4-BE49-F238E27FC236}">
                <a16:creationId xmlns:a16="http://schemas.microsoft.com/office/drawing/2014/main" id="{48138F82-3671-D8D6-1861-F316C5BF6567}"/>
              </a:ext>
            </a:extLst>
          </p:cNvPr>
          <p:cNvSpPr/>
          <p:nvPr/>
        </p:nvSpPr>
        <p:spPr>
          <a:xfrm>
            <a:off x="951291" y="1106886"/>
            <a:ext cx="642727" cy="3471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A’</a:t>
            </a:r>
            <a:endParaRPr lang="en-IN" dirty="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9EE0DEC4-F8A0-41AA-C93D-F0BF61689910}"/>
              </a:ext>
            </a:extLst>
          </p:cNvPr>
          <p:cNvSpPr/>
          <p:nvPr/>
        </p:nvSpPr>
        <p:spPr>
          <a:xfrm>
            <a:off x="951290" y="1767188"/>
            <a:ext cx="642727" cy="347142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B’</a:t>
            </a:r>
            <a:endParaRPr lang="en-IN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69F1F3F-4DBE-68C2-4265-DAD98B5BC0B9}"/>
              </a:ext>
            </a:extLst>
          </p:cNvPr>
          <p:cNvSpPr txBox="1"/>
          <p:nvPr/>
        </p:nvSpPr>
        <p:spPr>
          <a:xfrm>
            <a:off x="951290" y="2494709"/>
            <a:ext cx="976361" cy="36933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 m1=13</a:t>
            </a:r>
            <a:endParaRPr lang="en-IN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1853A80-0126-33FB-70FF-B361864602FD}"/>
              </a:ext>
            </a:extLst>
          </p:cNvPr>
          <p:cNvSpPr txBox="1"/>
          <p:nvPr/>
        </p:nvSpPr>
        <p:spPr>
          <a:xfrm>
            <a:off x="2448252" y="2494709"/>
            <a:ext cx="984597" cy="36933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m2=10</a:t>
            </a:r>
            <a:endParaRPr lang="en-IN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836A747-E1C2-9498-AADB-55F411E67C29}"/>
              </a:ext>
            </a:extLst>
          </p:cNvPr>
          <p:cNvSpPr txBox="1"/>
          <p:nvPr/>
        </p:nvSpPr>
        <p:spPr>
          <a:xfrm>
            <a:off x="2022208" y="2494709"/>
            <a:ext cx="7249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&gt;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81910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3" grpId="0" animBg="1"/>
      <p:bldP spid="5" grpId="0"/>
      <p:bldP spid="6" grpId="0" animBg="1"/>
      <p:bldP spid="49" grpId="0"/>
      <p:bldP spid="52" grpId="0" animBg="1"/>
      <p:bldP spid="53" grpId="0" animBg="1"/>
      <p:bldP spid="54" grpId="0" animBg="1"/>
      <p:bldP spid="55" grpId="0" animBg="1"/>
      <p:bldP spid="56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6CB10C88-4D11-BC05-9904-C42DEF0F61DB}"/>
              </a:ext>
            </a:extLst>
          </p:cNvPr>
          <p:cNvGrpSpPr/>
          <p:nvPr/>
        </p:nvGrpSpPr>
        <p:grpSpPr>
          <a:xfrm>
            <a:off x="0" y="-12867"/>
            <a:ext cx="12192000" cy="809897"/>
            <a:chOff x="-134982" y="849086"/>
            <a:chExt cx="12192000" cy="809897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28902B2C-8867-758B-4DB9-88BD58A6ACAC}"/>
                </a:ext>
              </a:extLst>
            </p:cNvPr>
            <p:cNvSpPr/>
            <p:nvPr/>
          </p:nvSpPr>
          <p:spPr>
            <a:xfrm>
              <a:off x="-134982" y="849086"/>
              <a:ext cx="12192000" cy="80989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9804A985-0B3F-10CF-537C-0DBA63FD18F3}"/>
                </a:ext>
              </a:extLst>
            </p:cNvPr>
            <p:cNvSpPr txBox="1"/>
            <p:nvPr/>
          </p:nvSpPr>
          <p:spPr>
            <a:xfrm>
              <a:off x="-134982" y="900091"/>
              <a:ext cx="1219200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4000" dirty="0">
                  <a:solidFill>
                    <a:schemeClr val="bg1"/>
                  </a:solidFill>
                  <a:latin typeface="Amasis MT Pro Black" panose="02040A04050005020304" pitchFamily="18" charset="0"/>
                </a:rPr>
                <a:t>Median of Two Sorted Array</a:t>
              </a: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8AD1BB25-5787-9DB7-F461-8654AE4D83B6}"/>
              </a:ext>
            </a:extLst>
          </p:cNvPr>
          <p:cNvSpPr txBox="1"/>
          <p:nvPr/>
        </p:nvSpPr>
        <p:spPr>
          <a:xfrm>
            <a:off x="704335" y="1612205"/>
            <a:ext cx="11059297" cy="37858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43434"/>
                </a:solidFill>
                <a:effectLst/>
                <a:latin typeface="Comic Sans MS" panose="030F0702030302020204" pitchFamily="66" charset="0"/>
              </a:rPr>
              <a:t>Find the medians of the given two arrays and store them in variable say </a:t>
            </a:r>
            <a:r>
              <a:rPr lang="en-US" b="0" i="0" dirty="0">
                <a:solidFill>
                  <a:srgbClr val="00B050"/>
                </a:solidFill>
                <a:effectLst/>
                <a:latin typeface="Comic Sans MS" panose="030F0702030302020204" pitchFamily="66" charset="0"/>
              </a:rPr>
              <a:t>m1</a:t>
            </a:r>
            <a:r>
              <a:rPr lang="en-US" b="0" i="0" dirty="0">
                <a:solidFill>
                  <a:srgbClr val="343434"/>
                </a:solidFill>
                <a:effectLst/>
                <a:latin typeface="Comic Sans MS" panose="030F0702030302020204" pitchFamily="66" charset="0"/>
              </a:rPr>
              <a:t> and </a:t>
            </a:r>
            <a:r>
              <a:rPr lang="en-US" b="0" i="0" dirty="0">
                <a:solidFill>
                  <a:srgbClr val="00B050"/>
                </a:solidFill>
                <a:effectLst/>
                <a:latin typeface="Comic Sans MS" panose="030F0702030302020204" pitchFamily="66" charset="0"/>
              </a:rPr>
              <a:t>m2.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43434"/>
                </a:solidFill>
                <a:effectLst/>
                <a:latin typeface="Comic Sans MS" panose="030F0702030302020204" pitchFamily="66" charset="0"/>
              </a:rPr>
              <a:t>Now, if m1=m2, then that will be the required output.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43434"/>
                </a:solidFill>
                <a:effectLst/>
                <a:latin typeface="Comic Sans MS" panose="030F0702030302020204" pitchFamily="66" charset="0"/>
              </a:rPr>
              <a:t>If </a:t>
            </a:r>
            <a:r>
              <a:rPr lang="en-US" b="1" i="0" dirty="0">
                <a:solidFill>
                  <a:srgbClr val="FF0000"/>
                </a:solidFill>
                <a:effectLst/>
                <a:latin typeface="Comic Sans MS" panose="030F0702030302020204" pitchFamily="66" charset="0"/>
              </a:rPr>
              <a:t>m1&lt;m2</a:t>
            </a:r>
            <a:r>
              <a:rPr lang="en-US" b="0" i="0" dirty="0">
                <a:solidFill>
                  <a:srgbClr val="343434"/>
                </a:solidFill>
                <a:effectLst/>
                <a:latin typeface="Comic Sans MS" panose="030F0702030302020204" pitchFamily="66" charset="0"/>
              </a:rPr>
              <a:t>, then we check in the subarrays, arr1[middle element - last] and in arr2[0 - middle element].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43434"/>
                </a:solidFill>
                <a:effectLst/>
                <a:latin typeface="Comic Sans MS" panose="030F0702030302020204" pitchFamily="66" charset="0"/>
              </a:rPr>
              <a:t>If </a:t>
            </a:r>
            <a:r>
              <a:rPr lang="en-US" b="1" i="0" dirty="0">
                <a:solidFill>
                  <a:srgbClr val="FF0000"/>
                </a:solidFill>
                <a:effectLst/>
                <a:latin typeface="Comic Sans MS" panose="030F0702030302020204" pitchFamily="66" charset="0"/>
              </a:rPr>
              <a:t>m1&gt;m2</a:t>
            </a:r>
            <a:r>
              <a:rPr lang="en-US" b="0" i="0" dirty="0">
                <a:solidFill>
                  <a:srgbClr val="343434"/>
                </a:solidFill>
                <a:effectLst/>
                <a:latin typeface="Comic Sans MS" panose="030F0702030302020204" pitchFamily="66" charset="0"/>
              </a:rPr>
              <a:t>, then we check in the subarrays</a:t>
            </a:r>
            <a:r>
              <a:rPr lang="en-US" b="0" i="0">
                <a:solidFill>
                  <a:srgbClr val="343434"/>
                </a:solidFill>
                <a:effectLst/>
                <a:latin typeface="Comic Sans MS" panose="030F0702030302020204" pitchFamily="66" charset="0"/>
              </a:rPr>
              <a:t>, arr1[0 - middle element] </a:t>
            </a:r>
            <a:r>
              <a:rPr lang="en-US" b="0" i="0" dirty="0">
                <a:solidFill>
                  <a:srgbClr val="343434"/>
                </a:solidFill>
                <a:effectLst/>
                <a:latin typeface="Comic Sans MS" panose="030F0702030302020204" pitchFamily="66" charset="0"/>
              </a:rPr>
              <a:t>and </a:t>
            </a:r>
            <a:r>
              <a:rPr lang="en-US" b="0" i="0">
                <a:solidFill>
                  <a:srgbClr val="343434"/>
                </a:solidFill>
                <a:effectLst/>
                <a:latin typeface="Comic Sans MS" panose="030F0702030302020204" pitchFamily="66" charset="0"/>
              </a:rPr>
              <a:t>in arr2[middle element - last </a:t>
            </a:r>
            <a:r>
              <a:rPr lang="en-US" b="0" i="0" dirty="0">
                <a:solidFill>
                  <a:srgbClr val="343434"/>
                </a:solidFill>
                <a:effectLst/>
                <a:latin typeface="Comic Sans MS" panose="030F0702030302020204" pitchFamily="66" charset="0"/>
              </a:rPr>
              <a:t>].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43434"/>
                </a:solidFill>
                <a:effectLst/>
                <a:latin typeface="Comic Sans MS" panose="030F0702030302020204" pitchFamily="66" charset="0"/>
              </a:rPr>
              <a:t>This will be the recursive process and repeat this till size of both the arrays become 2.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43434"/>
                </a:solidFill>
                <a:effectLst/>
                <a:latin typeface="Comic Sans MS" panose="030F0702030302020204" pitchFamily="66" charset="0"/>
              </a:rPr>
              <a:t>when the size will be 2 , we can use the formula :</a:t>
            </a:r>
          </a:p>
          <a:p>
            <a:pPr algn="l">
              <a:lnSpc>
                <a:spcPct val="150000"/>
              </a:lnSpc>
            </a:pPr>
            <a:r>
              <a:rPr lang="en-US" dirty="0">
                <a:solidFill>
                  <a:srgbClr val="343434"/>
                </a:solidFill>
                <a:latin typeface="Comic Sans MS" panose="030F0702030302020204" pitchFamily="66" charset="0"/>
              </a:rPr>
              <a:t>                      </a:t>
            </a:r>
            <a:r>
              <a:rPr lang="en-US" b="1" i="0" dirty="0">
                <a:solidFill>
                  <a:srgbClr val="343434"/>
                </a:solidFill>
                <a:effectLst/>
                <a:latin typeface="Comic Sans MS" panose="030F0702030302020204" pitchFamily="66" charset="0"/>
              </a:rPr>
              <a:t>Median = (max(ar1[0], ar2[0]) + min(ar1[1], ar2[1]))/2</a:t>
            </a:r>
            <a:endParaRPr lang="en-US" b="0" i="0" dirty="0">
              <a:solidFill>
                <a:srgbClr val="343434"/>
              </a:solidFill>
              <a:effectLst/>
              <a:latin typeface="Comic Sans MS" panose="030F0702030302020204" pitchFamily="66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DFF3A6F-F4C8-971A-761E-A74164F06D8D}"/>
              </a:ext>
            </a:extLst>
          </p:cNvPr>
          <p:cNvSpPr txBox="1"/>
          <p:nvPr/>
        </p:nvSpPr>
        <p:spPr>
          <a:xfrm>
            <a:off x="704335" y="1173206"/>
            <a:ext cx="15569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Steps:</a:t>
            </a:r>
            <a:endParaRPr lang="en-IN" dirty="0">
              <a:solidFill>
                <a:srgbClr val="00B050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186935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6CB10C88-4D11-BC05-9904-C42DEF0F61DB}"/>
              </a:ext>
            </a:extLst>
          </p:cNvPr>
          <p:cNvGrpSpPr/>
          <p:nvPr/>
        </p:nvGrpSpPr>
        <p:grpSpPr>
          <a:xfrm>
            <a:off x="0" y="-12867"/>
            <a:ext cx="12192000" cy="809897"/>
            <a:chOff x="-134982" y="849086"/>
            <a:chExt cx="12192000" cy="809897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28902B2C-8867-758B-4DB9-88BD58A6ACAC}"/>
                </a:ext>
              </a:extLst>
            </p:cNvPr>
            <p:cNvSpPr/>
            <p:nvPr/>
          </p:nvSpPr>
          <p:spPr>
            <a:xfrm>
              <a:off x="-134982" y="849086"/>
              <a:ext cx="12192000" cy="80989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9804A985-0B3F-10CF-537C-0DBA63FD18F3}"/>
                </a:ext>
              </a:extLst>
            </p:cNvPr>
            <p:cNvSpPr txBox="1"/>
            <p:nvPr/>
          </p:nvSpPr>
          <p:spPr>
            <a:xfrm>
              <a:off x="-134982" y="900091"/>
              <a:ext cx="1219200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4000" dirty="0">
                  <a:solidFill>
                    <a:schemeClr val="bg1"/>
                  </a:solidFill>
                  <a:latin typeface="Amasis MT Pro Black" panose="02040A04050005020304" pitchFamily="18" charset="0"/>
                </a:rPr>
                <a:t>Median of Two Sorted Array</a:t>
              </a: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796C897D-4CAE-5E5E-8F37-365A9EF6F8DF}"/>
              </a:ext>
            </a:extLst>
          </p:cNvPr>
          <p:cNvSpPr txBox="1"/>
          <p:nvPr/>
        </p:nvSpPr>
        <p:spPr>
          <a:xfrm>
            <a:off x="1149179" y="2903837"/>
            <a:ext cx="965841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00B05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Time Complexity </a:t>
            </a:r>
            <a:r>
              <a:rPr lang="en-US" sz="40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= O(log2n) = O(</a:t>
            </a:r>
            <a:r>
              <a:rPr lang="en-US" sz="4000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logn</a:t>
            </a:r>
            <a:r>
              <a:rPr lang="en-US" sz="40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)</a:t>
            </a:r>
            <a:endParaRPr lang="en-IN" sz="40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712989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B22EDB-30E2-BDCF-01DB-A10AED704E8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N" sz="4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Max-Min problem </a:t>
            </a:r>
            <a:endParaRPr lang="en-IN" sz="4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42A8A0-D38F-4466-D427-CB8F9F6A2E6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101674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0951360-8206-928F-ACDB-C240B54190CD}"/>
              </a:ext>
            </a:extLst>
          </p:cNvPr>
          <p:cNvSpPr txBox="1"/>
          <p:nvPr/>
        </p:nvSpPr>
        <p:spPr>
          <a:xfrm>
            <a:off x="820588" y="753828"/>
            <a:ext cx="963257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000" dirty="0"/>
              <a:t>The Max-Min problem involves finding the maximum and minimum elements in an array. Using the </a:t>
            </a:r>
            <a:r>
              <a:rPr lang="en-US" sz="2000" b="1" dirty="0"/>
              <a:t>Divide and Conquer</a:t>
            </a:r>
            <a:r>
              <a:rPr lang="en-US" sz="2000" dirty="0"/>
              <a:t> method, the problem is solved by dividing the array into smaller subarrays, solving the problem for these subarrays, and then combining the results to find the final maximum and minimum.</a:t>
            </a:r>
            <a:endParaRPr lang="en-IN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0EF220-62E7-5F88-6B9E-FF0719EDFB0B}"/>
              </a:ext>
            </a:extLst>
          </p:cNvPr>
          <p:cNvSpPr txBox="1"/>
          <p:nvPr/>
        </p:nvSpPr>
        <p:spPr>
          <a:xfrm>
            <a:off x="1099931" y="2318520"/>
            <a:ext cx="907389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000" b="1" dirty="0"/>
              <a:t>Algorithm:</a:t>
            </a:r>
          </a:p>
          <a:p>
            <a:pPr algn="just">
              <a:buFont typeface="+mj-lt"/>
              <a:buAutoNum type="arabicPeriod"/>
            </a:pPr>
            <a:r>
              <a:rPr lang="en-US" sz="2000" b="1" dirty="0"/>
              <a:t>Divide</a:t>
            </a:r>
            <a:r>
              <a:rPr lang="en-US" sz="2000" dirty="0"/>
              <a:t>:</a:t>
            </a:r>
          </a:p>
          <a:p>
            <a:pPr marL="742950" lvl="1" indent="-285750" algn="just">
              <a:buFont typeface="+mj-lt"/>
              <a:buAutoNum type="arabicPeriod"/>
            </a:pPr>
            <a:r>
              <a:rPr lang="en-US" sz="2000" dirty="0"/>
              <a:t>Split the array into two halves until each half contains only one or two elements.</a:t>
            </a:r>
          </a:p>
          <a:p>
            <a:pPr algn="just">
              <a:buFont typeface="+mj-lt"/>
              <a:buAutoNum type="arabicPeriod"/>
            </a:pPr>
            <a:r>
              <a:rPr lang="en-US" sz="2000" b="1" dirty="0"/>
              <a:t>Conquer</a:t>
            </a:r>
            <a:r>
              <a:rPr lang="en-US" sz="2000" dirty="0"/>
              <a:t>:</a:t>
            </a:r>
          </a:p>
          <a:p>
            <a:pPr marL="742950" lvl="1" indent="-285750" algn="just">
              <a:buFont typeface="+mj-lt"/>
              <a:buAutoNum type="arabicPeriod"/>
            </a:pPr>
            <a:r>
              <a:rPr lang="en-US" sz="2000" dirty="0"/>
              <a:t>If the subarray contains a single element, both the maximum and minimum are the same (that element).</a:t>
            </a:r>
          </a:p>
          <a:p>
            <a:pPr marL="742950" lvl="1" indent="-285750" algn="just">
              <a:buFont typeface="+mj-lt"/>
              <a:buAutoNum type="arabicPeriod"/>
            </a:pPr>
            <a:r>
              <a:rPr lang="en-US" sz="2000" dirty="0"/>
              <a:t>If the subarray contains two elements, compare them to find the maximum and minimum.</a:t>
            </a:r>
          </a:p>
          <a:p>
            <a:pPr algn="just">
              <a:buFont typeface="+mj-lt"/>
              <a:buAutoNum type="arabicPeriod"/>
            </a:pPr>
            <a:r>
              <a:rPr lang="en-US" sz="2000" b="1" dirty="0"/>
              <a:t>Combine</a:t>
            </a:r>
            <a:r>
              <a:rPr lang="en-US" sz="2000" dirty="0"/>
              <a:t>:</a:t>
            </a:r>
          </a:p>
          <a:p>
            <a:pPr marL="742950" lvl="1" indent="-285750" algn="just">
              <a:buFont typeface="+mj-lt"/>
              <a:buAutoNum type="arabicPeriod"/>
            </a:pPr>
            <a:r>
              <a:rPr lang="en-US" sz="2000" dirty="0"/>
              <a:t>Recursively merge results from the two halves by comparing their maximums and minimums to determine the overall maximum and minimum.</a:t>
            </a:r>
          </a:p>
        </p:txBody>
      </p:sp>
    </p:spTree>
    <p:extLst>
      <p:ext uri="{BB962C8B-B14F-4D97-AF65-F5344CB8AC3E}">
        <p14:creationId xmlns:p14="http://schemas.microsoft.com/office/powerpoint/2010/main" val="20464402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8EE0ED1-4C6E-0905-0612-79D697F21330}"/>
              </a:ext>
            </a:extLst>
          </p:cNvPr>
          <p:cNvSpPr txBox="1"/>
          <p:nvPr/>
        </p:nvSpPr>
        <p:spPr>
          <a:xfrm>
            <a:off x="1949823" y="922128"/>
            <a:ext cx="8861612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 err="1"/>
              <a:t>MaxMin</a:t>
            </a:r>
            <a:r>
              <a:rPr lang="en-IN" dirty="0"/>
              <a:t>(</a:t>
            </a:r>
            <a:r>
              <a:rPr lang="en-IN" dirty="0" err="1"/>
              <a:t>arr</a:t>
            </a:r>
            <a:r>
              <a:rPr lang="en-IN" dirty="0"/>
              <a:t>, low, high):</a:t>
            </a:r>
          </a:p>
          <a:p>
            <a:r>
              <a:rPr lang="en-IN" dirty="0"/>
              <a:t>    If low == high:</a:t>
            </a:r>
          </a:p>
          <a:p>
            <a:r>
              <a:rPr lang="en-IN" dirty="0"/>
              <a:t>        Return (</a:t>
            </a:r>
            <a:r>
              <a:rPr lang="en-IN" dirty="0" err="1"/>
              <a:t>arr</a:t>
            </a:r>
            <a:r>
              <a:rPr lang="en-IN" dirty="0"/>
              <a:t>[low], </a:t>
            </a:r>
            <a:r>
              <a:rPr lang="en-IN" dirty="0" err="1"/>
              <a:t>arr</a:t>
            </a:r>
            <a:r>
              <a:rPr lang="en-IN" dirty="0"/>
              <a:t>[low]) // Single element: max and min are the same</a:t>
            </a:r>
          </a:p>
          <a:p>
            <a:endParaRPr lang="en-IN" dirty="0"/>
          </a:p>
          <a:p>
            <a:r>
              <a:rPr lang="en-IN" dirty="0"/>
              <a:t>    Else If high == low + 1:</a:t>
            </a:r>
          </a:p>
          <a:p>
            <a:r>
              <a:rPr lang="en-IN" dirty="0"/>
              <a:t>        If </a:t>
            </a:r>
            <a:r>
              <a:rPr lang="en-IN" dirty="0" err="1"/>
              <a:t>arr</a:t>
            </a:r>
            <a:r>
              <a:rPr lang="en-IN" dirty="0"/>
              <a:t>[low] &gt; </a:t>
            </a:r>
            <a:r>
              <a:rPr lang="en-IN" dirty="0" err="1"/>
              <a:t>arr</a:t>
            </a:r>
            <a:r>
              <a:rPr lang="en-IN" dirty="0"/>
              <a:t>[high]:</a:t>
            </a:r>
          </a:p>
          <a:p>
            <a:r>
              <a:rPr lang="en-IN" dirty="0"/>
              <a:t>            Return (</a:t>
            </a:r>
            <a:r>
              <a:rPr lang="en-IN" dirty="0" err="1"/>
              <a:t>arr</a:t>
            </a:r>
            <a:r>
              <a:rPr lang="en-IN" dirty="0"/>
              <a:t>[low], </a:t>
            </a:r>
            <a:r>
              <a:rPr lang="en-IN" dirty="0" err="1"/>
              <a:t>arr</a:t>
            </a:r>
            <a:r>
              <a:rPr lang="en-IN" dirty="0"/>
              <a:t>[high]) // Two elements</a:t>
            </a:r>
          </a:p>
          <a:p>
            <a:r>
              <a:rPr lang="en-IN" dirty="0"/>
              <a:t>        Else:</a:t>
            </a:r>
          </a:p>
          <a:p>
            <a:r>
              <a:rPr lang="en-IN" dirty="0"/>
              <a:t>            Return (</a:t>
            </a:r>
            <a:r>
              <a:rPr lang="en-IN" dirty="0" err="1"/>
              <a:t>arr</a:t>
            </a:r>
            <a:r>
              <a:rPr lang="en-IN" dirty="0"/>
              <a:t>[high], </a:t>
            </a:r>
            <a:r>
              <a:rPr lang="en-IN" dirty="0" err="1"/>
              <a:t>arr</a:t>
            </a:r>
            <a:r>
              <a:rPr lang="en-IN" dirty="0"/>
              <a:t>[low])</a:t>
            </a:r>
          </a:p>
          <a:p>
            <a:endParaRPr lang="en-IN" dirty="0"/>
          </a:p>
          <a:p>
            <a:r>
              <a:rPr lang="en-IN" dirty="0"/>
              <a:t>    Else:</a:t>
            </a:r>
          </a:p>
          <a:p>
            <a:r>
              <a:rPr lang="en-IN" dirty="0"/>
              <a:t>        mid = (low + high) / 2</a:t>
            </a:r>
          </a:p>
          <a:p>
            <a:r>
              <a:rPr lang="en-IN" dirty="0"/>
              <a:t>        (max1, min1) = </a:t>
            </a:r>
            <a:r>
              <a:rPr lang="en-IN" dirty="0" err="1"/>
              <a:t>MaxMin</a:t>
            </a:r>
            <a:r>
              <a:rPr lang="en-IN" dirty="0"/>
              <a:t>(</a:t>
            </a:r>
            <a:r>
              <a:rPr lang="en-IN" dirty="0" err="1"/>
              <a:t>arr</a:t>
            </a:r>
            <a:r>
              <a:rPr lang="en-IN" dirty="0"/>
              <a:t>, low, mid)</a:t>
            </a:r>
          </a:p>
          <a:p>
            <a:r>
              <a:rPr lang="en-IN" dirty="0"/>
              <a:t>        (max2, min2) = </a:t>
            </a:r>
            <a:r>
              <a:rPr lang="en-IN" dirty="0" err="1"/>
              <a:t>MaxMin</a:t>
            </a:r>
            <a:r>
              <a:rPr lang="en-IN" dirty="0"/>
              <a:t>(</a:t>
            </a:r>
            <a:r>
              <a:rPr lang="en-IN" dirty="0" err="1"/>
              <a:t>arr</a:t>
            </a:r>
            <a:r>
              <a:rPr lang="en-IN" dirty="0"/>
              <a:t>, mid + 1, high)</a:t>
            </a:r>
          </a:p>
          <a:p>
            <a:endParaRPr lang="en-IN" dirty="0"/>
          </a:p>
          <a:p>
            <a:r>
              <a:rPr lang="en-IN" dirty="0"/>
              <a:t>        </a:t>
            </a:r>
            <a:r>
              <a:rPr lang="en-IN" dirty="0" err="1"/>
              <a:t>overall_max</a:t>
            </a:r>
            <a:r>
              <a:rPr lang="en-IN" dirty="0"/>
              <a:t> = max(max1, max2)</a:t>
            </a:r>
          </a:p>
          <a:p>
            <a:r>
              <a:rPr lang="en-IN" dirty="0"/>
              <a:t>        </a:t>
            </a:r>
            <a:r>
              <a:rPr lang="en-IN" dirty="0" err="1"/>
              <a:t>overall_min</a:t>
            </a:r>
            <a:r>
              <a:rPr lang="en-IN" dirty="0"/>
              <a:t> = min(min1, min2)</a:t>
            </a:r>
          </a:p>
          <a:p>
            <a:endParaRPr lang="en-IN" dirty="0"/>
          </a:p>
          <a:p>
            <a:r>
              <a:rPr lang="en-IN" dirty="0"/>
              <a:t>        Return (</a:t>
            </a:r>
            <a:r>
              <a:rPr lang="en-IN" dirty="0" err="1"/>
              <a:t>overall_max</a:t>
            </a:r>
            <a:r>
              <a:rPr lang="en-IN" dirty="0"/>
              <a:t>, </a:t>
            </a:r>
            <a:r>
              <a:rPr lang="en-IN" dirty="0" err="1"/>
              <a:t>overall_min</a:t>
            </a:r>
            <a:r>
              <a:rPr lang="en-IN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88649056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6A0A13FF-F0E9-29CC-6FDA-EFB783BDAA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5169" y="478501"/>
            <a:ext cx="5139578" cy="590099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3A8AA97-441A-99B8-0FE6-B775D6241CB5}"/>
              </a:ext>
            </a:extLst>
          </p:cNvPr>
          <p:cNvSpPr txBox="1"/>
          <p:nvPr/>
        </p:nvSpPr>
        <p:spPr>
          <a:xfrm>
            <a:off x="6504747" y="4465982"/>
            <a:ext cx="5578969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Complexity: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Time Complexity</a:t>
            </a:r>
            <a:r>
              <a:rPr lang="en-US" sz="2000" dirty="0"/>
              <a:t>: O(n) as each element is compared at most once during merging.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Space Complexity</a:t>
            </a:r>
            <a:r>
              <a:rPr lang="en-US" sz="2000" dirty="0"/>
              <a:t>: O(</a:t>
            </a:r>
            <a:r>
              <a:rPr lang="en-US" sz="2000" dirty="0" err="1"/>
              <a:t>log⁡n</a:t>
            </a:r>
            <a:r>
              <a:rPr lang="en-US" sz="2000" dirty="0"/>
              <a:t>), due to the recursion stack</a:t>
            </a:r>
          </a:p>
        </p:txBody>
      </p:sp>
    </p:spTree>
    <p:extLst>
      <p:ext uri="{BB962C8B-B14F-4D97-AF65-F5344CB8AC3E}">
        <p14:creationId xmlns:p14="http://schemas.microsoft.com/office/powerpoint/2010/main" val="13287431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6321</TotalTime>
  <Words>1273</Words>
  <Application>Microsoft Office PowerPoint</Application>
  <PresentationFormat>Widescreen</PresentationFormat>
  <Paragraphs>264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41" baseType="lpstr">
      <vt:lpstr>Abadi</vt:lpstr>
      <vt:lpstr>ADLaM Display</vt:lpstr>
      <vt:lpstr>Aharoni</vt:lpstr>
      <vt:lpstr>Amasis MT Pro Black</vt:lpstr>
      <vt:lpstr>Aptos Black</vt:lpstr>
      <vt:lpstr>Arial</vt:lpstr>
      <vt:lpstr>Calibri</vt:lpstr>
      <vt:lpstr>Calibri Light</vt:lpstr>
      <vt:lpstr>Cambria Math</vt:lpstr>
      <vt:lpstr>Comic Sans MS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Max-Min problem 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Dinesh Sahu</dc:creator>
  <cp:lastModifiedBy>Arun Agrawal</cp:lastModifiedBy>
  <cp:revision>18</cp:revision>
  <dcterms:created xsi:type="dcterms:W3CDTF">2023-08-14T05:05:00Z</dcterms:created>
  <dcterms:modified xsi:type="dcterms:W3CDTF">2026-01-30T05:14:40Z</dcterms:modified>
</cp:coreProperties>
</file>