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75375CAC-F21F-4954-A79D-EB643CFF72BD}"/>
    <pc:docChg chg="undo custSel modSld">
      <pc:chgData name="Abuzar Sayeed" userId="f3c20014-5dab-44db-87de-ec699cb07e88" providerId="ADAL" clId="{75375CAC-F21F-4954-A79D-EB643CFF72BD}" dt="2026-01-05T06:19:20.020" v="30" actId="207"/>
      <pc:docMkLst>
        <pc:docMk/>
      </pc:docMkLst>
      <pc:sldChg chg="modSp mod">
        <pc:chgData name="Abuzar Sayeed" userId="f3c20014-5dab-44db-87de-ec699cb07e88" providerId="ADAL" clId="{75375CAC-F21F-4954-A79D-EB643CFF72BD}" dt="2026-01-05T06:15:32.571" v="0" actId="207"/>
        <pc:sldMkLst>
          <pc:docMk/>
          <pc:sldMk cId="0" sldId="256"/>
        </pc:sldMkLst>
        <pc:spChg chg="mod">
          <ac:chgData name="Abuzar Sayeed" userId="f3c20014-5dab-44db-87de-ec699cb07e88" providerId="ADAL" clId="{75375CAC-F21F-4954-A79D-EB643CFF72BD}" dt="2026-01-05T06:15:32.571" v="0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5:39.975" v="1" actId="207"/>
        <pc:sldMkLst>
          <pc:docMk/>
          <pc:sldMk cId="0" sldId="257"/>
        </pc:sldMkLst>
        <pc:spChg chg="mod">
          <ac:chgData name="Abuzar Sayeed" userId="f3c20014-5dab-44db-87de-ec699cb07e88" providerId="ADAL" clId="{75375CAC-F21F-4954-A79D-EB643CFF72BD}" dt="2026-01-05T06:15:39.975" v="1" actId="20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5:51.016" v="2" actId="207"/>
        <pc:sldMkLst>
          <pc:docMk/>
          <pc:sldMk cId="0" sldId="258"/>
        </pc:sldMkLst>
        <pc:spChg chg="mod">
          <ac:chgData name="Abuzar Sayeed" userId="f3c20014-5dab-44db-87de-ec699cb07e88" providerId="ADAL" clId="{75375CAC-F21F-4954-A79D-EB643CFF72BD}" dt="2026-01-05T06:15:51.016" v="2" actId="20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00.569" v="3" actId="207"/>
        <pc:sldMkLst>
          <pc:docMk/>
          <pc:sldMk cId="0" sldId="259"/>
        </pc:sldMkLst>
        <pc:spChg chg="mod">
          <ac:chgData name="Abuzar Sayeed" userId="f3c20014-5dab-44db-87de-ec699cb07e88" providerId="ADAL" clId="{75375CAC-F21F-4954-A79D-EB643CFF72BD}" dt="2026-01-05T06:16:00.569" v="3" actId="20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75375CAC-F21F-4954-A79D-EB643CFF72BD}" dt="2026-01-05T06:16:28.165" v="6" actId="26606"/>
        <pc:sldMkLst>
          <pc:docMk/>
          <pc:sldMk cId="0" sldId="260"/>
        </pc:sldMkLst>
        <pc:spChg chg="add del">
          <ac:chgData name="Abuzar Sayeed" userId="f3c20014-5dab-44db-87de-ec699cb07e88" providerId="ADAL" clId="{75375CAC-F21F-4954-A79D-EB643CFF72BD}" dt="2026-01-05T06:16:28.165" v="6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uzar Sayeed" userId="f3c20014-5dab-44db-87de-ec699cb07e88" providerId="ADAL" clId="{75375CAC-F21F-4954-A79D-EB643CFF72BD}" dt="2026-01-05T06:16:14.875" v="4" actId="207"/>
          <ac:spMkLst>
            <pc:docMk/>
            <pc:sldMk cId="0" sldId="260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75375CAC-F21F-4954-A79D-EB643CFF72BD}" dt="2026-01-05T06:16:28.165" v="6" actId="26606"/>
          <ac:graphicFrameMkLst>
            <pc:docMk/>
            <pc:sldMk cId="0" sldId="260"/>
            <ac:graphicFrameMk id="7" creationId="{1C389D56-1428-157B-3817-10D5EEC0B413}"/>
          </ac:graphicFrameMkLst>
        </pc:graphicFrameChg>
      </pc:sldChg>
      <pc:sldChg chg="modSp mod">
        <pc:chgData name="Abuzar Sayeed" userId="f3c20014-5dab-44db-87de-ec699cb07e88" providerId="ADAL" clId="{75375CAC-F21F-4954-A79D-EB643CFF72BD}" dt="2026-01-05T06:16:35.511" v="7" actId="207"/>
        <pc:sldMkLst>
          <pc:docMk/>
          <pc:sldMk cId="0" sldId="261"/>
        </pc:sldMkLst>
        <pc:spChg chg="mod">
          <ac:chgData name="Abuzar Sayeed" userId="f3c20014-5dab-44db-87de-ec699cb07e88" providerId="ADAL" clId="{75375CAC-F21F-4954-A79D-EB643CFF72BD}" dt="2026-01-05T06:16:35.511" v="7" actId="20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42.660" v="8" actId="207"/>
        <pc:sldMkLst>
          <pc:docMk/>
          <pc:sldMk cId="0" sldId="262"/>
        </pc:sldMkLst>
        <pc:spChg chg="mod">
          <ac:chgData name="Abuzar Sayeed" userId="f3c20014-5dab-44db-87de-ec699cb07e88" providerId="ADAL" clId="{75375CAC-F21F-4954-A79D-EB643CFF72BD}" dt="2026-01-05T06:16:42.660" v="8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50.855" v="9" actId="207"/>
        <pc:sldMkLst>
          <pc:docMk/>
          <pc:sldMk cId="0" sldId="263"/>
        </pc:sldMkLst>
        <pc:spChg chg="mod">
          <ac:chgData name="Abuzar Sayeed" userId="f3c20014-5dab-44db-87de-ec699cb07e88" providerId="ADAL" clId="{75375CAC-F21F-4954-A79D-EB643CFF72BD}" dt="2026-01-05T06:16:50.855" v="9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57.116" v="10" actId="207"/>
        <pc:sldMkLst>
          <pc:docMk/>
          <pc:sldMk cId="0" sldId="264"/>
        </pc:sldMkLst>
        <pc:spChg chg="mod">
          <ac:chgData name="Abuzar Sayeed" userId="f3c20014-5dab-44db-87de-ec699cb07e88" providerId="ADAL" clId="{75375CAC-F21F-4954-A79D-EB643CFF72BD}" dt="2026-01-05T06:16:57.116" v="10" actId="207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03.756" v="11" actId="207"/>
        <pc:sldMkLst>
          <pc:docMk/>
          <pc:sldMk cId="0" sldId="265"/>
        </pc:sldMkLst>
        <pc:spChg chg="mod">
          <ac:chgData name="Abuzar Sayeed" userId="f3c20014-5dab-44db-87de-ec699cb07e88" providerId="ADAL" clId="{75375CAC-F21F-4954-A79D-EB643CFF72BD}" dt="2026-01-05T06:17:03.756" v="11" actId="20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13.624" v="12" actId="207"/>
        <pc:sldMkLst>
          <pc:docMk/>
          <pc:sldMk cId="0" sldId="266"/>
        </pc:sldMkLst>
        <pc:spChg chg="mod">
          <ac:chgData name="Abuzar Sayeed" userId="f3c20014-5dab-44db-87de-ec699cb07e88" providerId="ADAL" clId="{75375CAC-F21F-4954-A79D-EB643CFF72BD}" dt="2026-01-05T06:17:13.624" v="12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19.687" v="13" actId="207"/>
        <pc:sldMkLst>
          <pc:docMk/>
          <pc:sldMk cId="0" sldId="267"/>
        </pc:sldMkLst>
        <pc:spChg chg="mod">
          <ac:chgData name="Abuzar Sayeed" userId="f3c20014-5dab-44db-87de-ec699cb07e88" providerId="ADAL" clId="{75375CAC-F21F-4954-A79D-EB643CFF72BD}" dt="2026-01-05T06:17:19.687" v="13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26.777" v="14" actId="207"/>
        <pc:sldMkLst>
          <pc:docMk/>
          <pc:sldMk cId="0" sldId="268"/>
        </pc:sldMkLst>
        <pc:spChg chg="mod">
          <ac:chgData name="Abuzar Sayeed" userId="f3c20014-5dab-44db-87de-ec699cb07e88" providerId="ADAL" clId="{75375CAC-F21F-4954-A79D-EB643CFF72BD}" dt="2026-01-05T06:17:26.777" v="14" actId="20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33.331" v="15" actId="207"/>
        <pc:sldMkLst>
          <pc:docMk/>
          <pc:sldMk cId="0" sldId="269"/>
        </pc:sldMkLst>
        <pc:spChg chg="mod">
          <ac:chgData name="Abuzar Sayeed" userId="f3c20014-5dab-44db-87de-ec699cb07e88" providerId="ADAL" clId="{75375CAC-F21F-4954-A79D-EB643CFF72BD}" dt="2026-01-05T06:17:33.331" v="15" actId="20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40.654" v="16" actId="207"/>
        <pc:sldMkLst>
          <pc:docMk/>
          <pc:sldMk cId="0" sldId="270"/>
        </pc:sldMkLst>
        <pc:spChg chg="mod">
          <ac:chgData name="Abuzar Sayeed" userId="f3c20014-5dab-44db-87de-ec699cb07e88" providerId="ADAL" clId="{75375CAC-F21F-4954-A79D-EB643CFF72BD}" dt="2026-01-05T06:17:40.654" v="16" actId="20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46.427" v="17" actId="207"/>
        <pc:sldMkLst>
          <pc:docMk/>
          <pc:sldMk cId="0" sldId="271"/>
        </pc:sldMkLst>
        <pc:spChg chg="mod">
          <ac:chgData name="Abuzar Sayeed" userId="f3c20014-5dab-44db-87de-ec699cb07e88" providerId="ADAL" clId="{75375CAC-F21F-4954-A79D-EB643CFF72BD}" dt="2026-01-05T06:17:46.427" v="17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55.817" v="18" actId="207"/>
        <pc:sldMkLst>
          <pc:docMk/>
          <pc:sldMk cId="0" sldId="272"/>
        </pc:sldMkLst>
        <pc:spChg chg="mod">
          <ac:chgData name="Abuzar Sayeed" userId="f3c20014-5dab-44db-87de-ec699cb07e88" providerId="ADAL" clId="{75375CAC-F21F-4954-A79D-EB643CFF72BD}" dt="2026-01-05T06:17:55.817" v="18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01.116" v="19" actId="207"/>
        <pc:sldMkLst>
          <pc:docMk/>
          <pc:sldMk cId="0" sldId="273"/>
        </pc:sldMkLst>
        <pc:spChg chg="mod">
          <ac:chgData name="Abuzar Sayeed" userId="f3c20014-5dab-44db-87de-ec699cb07e88" providerId="ADAL" clId="{75375CAC-F21F-4954-A79D-EB643CFF72BD}" dt="2026-01-05T06:18:01.116" v="19" actId="207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07.566" v="20" actId="207"/>
        <pc:sldMkLst>
          <pc:docMk/>
          <pc:sldMk cId="0" sldId="274"/>
        </pc:sldMkLst>
        <pc:spChg chg="mod">
          <ac:chgData name="Abuzar Sayeed" userId="f3c20014-5dab-44db-87de-ec699cb07e88" providerId="ADAL" clId="{75375CAC-F21F-4954-A79D-EB643CFF72BD}" dt="2026-01-05T06:18:07.566" v="20" actId="207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19.839" v="21" actId="207"/>
        <pc:sldMkLst>
          <pc:docMk/>
          <pc:sldMk cId="0" sldId="275"/>
        </pc:sldMkLst>
        <pc:spChg chg="mod">
          <ac:chgData name="Abuzar Sayeed" userId="f3c20014-5dab-44db-87de-ec699cb07e88" providerId="ADAL" clId="{75375CAC-F21F-4954-A79D-EB643CFF72BD}" dt="2026-01-05T06:18:19.839" v="21" actId="207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26.623" v="22" actId="207"/>
        <pc:sldMkLst>
          <pc:docMk/>
          <pc:sldMk cId="0" sldId="276"/>
        </pc:sldMkLst>
        <pc:spChg chg="mod">
          <ac:chgData name="Abuzar Sayeed" userId="f3c20014-5dab-44db-87de-ec699cb07e88" providerId="ADAL" clId="{75375CAC-F21F-4954-A79D-EB643CFF72BD}" dt="2026-01-05T06:18:26.623" v="22" actId="207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32.950" v="23" actId="207"/>
        <pc:sldMkLst>
          <pc:docMk/>
          <pc:sldMk cId="0" sldId="277"/>
        </pc:sldMkLst>
        <pc:spChg chg="mod">
          <ac:chgData name="Abuzar Sayeed" userId="f3c20014-5dab-44db-87de-ec699cb07e88" providerId="ADAL" clId="{75375CAC-F21F-4954-A79D-EB643CFF72BD}" dt="2026-01-05T06:18:32.950" v="23" actId="207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43.022" v="24" actId="207"/>
        <pc:sldMkLst>
          <pc:docMk/>
          <pc:sldMk cId="0" sldId="278"/>
        </pc:sldMkLst>
        <pc:spChg chg="mod">
          <ac:chgData name="Abuzar Sayeed" userId="f3c20014-5dab-44db-87de-ec699cb07e88" providerId="ADAL" clId="{75375CAC-F21F-4954-A79D-EB643CFF72BD}" dt="2026-01-05T06:18:43.022" v="24" actId="20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48.223" v="25" actId="207"/>
        <pc:sldMkLst>
          <pc:docMk/>
          <pc:sldMk cId="0" sldId="279"/>
        </pc:sldMkLst>
        <pc:spChg chg="mod">
          <ac:chgData name="Abuzar Sayeed" userId="f3c20014-5dab-44db-87de-ec699cb07e88" providerId="ADAL" clId="{75375CAC-F21F-4954-A79D-EB643CFF72BD}" dt="2026-01-05T06:18:48.223" v="25" actId="207"/>
          <ac:spMkLst>
            <pc:docMk/>
            <pc:sldMk cId="0" sldId="279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54.458" v="26" actId="207"/>
        <pc:sldMkLst>
          <pc:docMk/>
          <pc:sldMk cId="0" sldId="280"/>
        </pc:sldMkLst>
        <pc:spChg chg="mod">
          <ac:chgData name="Abuzar Sayeed" userId="f3c20014-5dab-44db-87de-ec699cb07e88" providerId="ADAL" clId="{75375CAC-F21F-4954-A79D-EB643CFF72BD}" dt="2026-01-05T06:18:54.458" v="26" actId="207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00.526" v="27" actId="207"/>
        <pc:sldMkLst>
          <pc:docMk/>
          <pc:sldMk cId="0" sldId="281"/>
        </pc:sldMkLst>
        <pc:spChg chg="mod">
          <ac:chgData name="Abuzar Sayeed" userId="f3c20014-5dab-44db-87de-ec699cb07e88" providerId="ADAL" clId="{75375CAC-F21F-4954-A79D-EB643CFF72BD}" dt="2026-01-05T06:19:00.526" v="27" actId="207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05.872" v="28" actId="207"/>
        <pc:sldMkLst>
          <pc:docMk/>
          <pc:sldMk cId="0" sldId="282"/>
        </pc:sldMkLst>
        <pc:spChg chg="mod">
          <ac:chgData name="Abuzar Sayeed" userId="f3c20014-5dab-44db-87de-ec699cb07e88" providerId="ADAL" clId="{75375CAC-F21F-4954-A79D-EB643CFF72BD}" dt="2026-01-05T06:19:05.872" v="28" actId="207"/>
          <ac:spMkLst>
            <pc:docMk/>
            <pc:sldMk cId="0" sldId="282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13.753" v="29" actId="207"/>
        <pc:sldMkLst>
          <pc:docMk/>
          <pc:sldMk cId="0" sldId="283"/>
        </pc:sldMkLst>
        <pc:spChg chg="mod">
          <ac:chgData name="Abuzar Sayeed" userId="f3c20014-5dab-44db-87de-ec699cb07e88" providerId="ADAL" clId="{75375CAC-F21F-4954-A79D-EB643CFF72BD}" dt="2026-01-05T06:19:13.753" v="29" actId="207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20.020" v="30" actId="207"/>
        <pc:sldMkLst>
          <pc:docMk/>
          <pc:sldMk cId="0" sldId="284"/>
        </pc:sldMkLst>
        <pc:spChg chg="mod">
          <ac:chgData name="Abuzar Sayeed" userId="f3c20014-5dab-44db-87de-ec699cb07e88" providerId="ADAL" clId="{75375CAC-F21F-4954-A79D-EB643CFF72BD}" dt="2026-01-05T06:19:20.020" v="30" actId="207"/>
          <ac:spMkLst>
            <pc:docMk/>
            <pc:sldMk cId="0" sldId="28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56629" y="1755588"/>
            <a:ext cx="5405755" cy="3443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7858" y="515493"/>
            <a:ext cx="633628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9645" y="2175678"/>
            <a:ext cx="6094095" cy="233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0pMm_QxCg3I" TargetMode="External"/><Relationship Id="rId3" Type="http://schemas.openxmlformats.org/officeDocument/2006/relationships/hyperlink" Target="https://www.belden.com/blogs/network-types" TargetMode="External"/><Relationship Id="rId7" Type="http://schemas.openxmlformats.org/officeDocument/2006/relationships/hyperlink" Target="https://www.youtube.com/watch?v=9BIN99rHOCQ" TargetMode="External"/><Relationship Id="rId2" Type="http://schemas.openxmlformats.org/officeDocument/2006/relationships/hyperlink" Target="https://www.javatpoint.com/types-of-computer-networ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uSKdjjw5zow" TargetMode="External"/><Relationship Id="rId5" Type="http://schemas.openxmlformats.org/officeDocument/2006/relationships/hyperlink" Target="https://www.javatpoint.com/computer-network-topologies" TargetMode="External"/><Relationship Id="rId4" Type="http://schemas.openxmlformats.org/officeDocument/2006/relationships/hyperlink" Target="https://www.geeksforgeeks.org/types-of-network-topolo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1550" y="571322"/>
            <a:ext cx="10663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pu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  <a:r>
              <a:rPr spc="-335" dirty="0"/>
              <a:t> </a:t>
            </a: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95" dirty="0"/>
              <a:t>o</a:t>
            </a:r>
            <a:r>
              <a:rPr spc="-110" dirty="0"/>
              <a:t>r</a:t>
            </a:r>
            <a:r>
              <a:rPr spc="-100" dirty="0"/>
              <a:t>k</a:t>
            </a:r>
            <a:r>
              <a:rPr spc="-110" dirty="0"/>
              <a:t>s</a:t>
            </a:r>
            <a:r>
              <a:rPr dirty="0"/>
              <a:t>: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5" dirty="0"/>
              <a:t>v</a:t>
            </a:r>
            <a:r>
              <a:rPr spc="-100" dirty="0"/>
              <a:t>i</a:t>
            </a:r>
            <a:r>
              <a:rPr spc="-110" dirty="0"/>
              <a:t>ce</a:t>
            </a:r>
            <a:r>
              <a:rPr spc="-95" dirty="0"/>
              <a:t>s</a:t>
            </a:r>
            <a:r>
              <a:rPr dirty="0"/>
              <a:t>,</a:t>
            </a:r>
            <a:r>
              <a:rPr spc="-250" dirty="0"/>
              <a:t> </a:t>
            </a:r>
            <a:r>
              <a:rPr spc="-105" dirty="0"/>
              <a:t>t</a:t>
            </a:r>
            <a:r>
              <a:rPr spc="-95" dirty="0"/>
              <a:t>y</a:t>
            </a:r>
            <a:r>
              <a:rPr spc="-100" dirty="0"/>
              <a:t>pe</a:t>
            </a:r>
            <a:r>
              <a:rPr spc="-80" dirty="0"/>
              <a:t>s</a:t>
            </a:r>
            <a:r>
              <a:rPr dirty="0"/>
              <a:t>,</a:t>
            </a:r>
            <a:r>
              <a:rPr spc="-235" dirty="0"/>
              <a:t> </a:t>
            </a:r>
            <a:r>
              <a:rPr spc="-105" dirty="0"/>
              <a:t>t</a:t>
            </a:r>
            <a:r>
              <a:rPr spc="-95" dirty="0"/>
              <a:t>o</a:t>
            </a:r>
            <a:r>
              <a:rPr spc="-100" dirty="0"/>
              <a:t>p</a:t>
            </a:r>
            <a:r>
              <a:rPr spc="-95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spc="-100" dirty="0"/>
              <a:t>i</a:t>
            </a:r>
            <a:r>
              <a:rPr spc="-110" dirty="0"/>
              <a:t>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098" y="5481624"/>
            <a:ext cx="745299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Times New Roman"/>
                <a:cs typeface="Times New Roman"/>
              </a:rPr>
              <a:t>School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Computer Science Engineering and </a:t>
            </a:r>
            <a:r>
              <a:rPr sz="2400" b="1" spc="-25" dirty="0">
                <a:latin typeface="Times New Roman"/>
                <a:cs typeface="Times New Roman"/>
              </a:rPr>
              <a:t>Technology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Bennett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ts val="2555"/>
              </a:lnSpc>
            </a:pPr>
            <a:r>
              <a:rPr sz="2400" b="1" spc="-10" dirty="0">
                <a:latin typeface="Times New Roman"/>
                <a:cs typeface="Times New Roman"/>
              </a:rPr>
              <a:t>Greater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Noida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371" y="4027932"/>
            <a:ext cx="1280159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1983993"/>
            <a:ext cx="321119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endParaRPr sz="2800">
              <a:latin typeface="Times New Roman"/>
              <a:cs typeface="Times New Roman"/>
            </a:endParaRPr>
          </a:p>
          <a:p>
            <a:pPr marL="382905" indent="-37084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38354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types</a:t>
            </a:r>
            <a:endParaRPr sz="2800">
              <a:latin typeface="Times New Roman"/>
              <a:cs typeface="Times New Roman"/>
            </a:endParaRPr>
          </a:p>
          <a:p>
            <a:pPr marL="382905" indent="-370840">
              <a:lnSpc>
                <a:spcPct val="100000"/>
              </a:lnSpc>
              <a:spcBef>
                <a:spcPts val="2175"/>
              </a:spcBef>
              <a:buSzPct val="96428"/>
              <a:buFont typeface="Wingdings"/>
              <a:buChar char=""/>
              <a:tabLst>
                <a:tab pos="38354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topologies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25034" y="571322"/>
            <a:ext cx="1753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59529" y="543559"/>
            <a:ext cx="4484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dirty="0"/>
              <a:t>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39645" y="2175678"/>
          <a:ext cx="6093460" cy="2337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7748">
                <a:tc>
                  <a:txBody>
                    <a:bodyPr/>
                    <a:lstStyle/>
                    <a:p>
                      <a:pPr marL="641985" indent="-515620">
                        <a:lnSpc>
                          <a:spcPts val="2620"/>
                        </a:lnSpc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NIC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5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Hub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Bridge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Switch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5780" indent="-515620">
                        <a:lnSpc>
                          <a:spcPts val="3240"/>
                        </a:lnSpc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Repeater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Router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Gateway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ts val="3304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Firewall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44599"/>
            <a:ext cx="6791959" cy="432816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8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NIC 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 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host devices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media.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8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NIC 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printed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circuit </a:t>
            </a:r>
            <a:r>
              <a:rPr sz="2200" dirty="0">
                <a:latin typeface="Times New Roman"/>
                <a:cs typeface="Times New Roman"/>
              </a:rPr>
              <a:t>board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fits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5" dirty="0">
                <a:latin typeface="Times New Roman"/>
                <a:cs typeface="Times New Roman"/>
              </a:rPr>
              <a:t>expansion slot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 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a peripheral device.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NICs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sometimes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 adapters.</a:t>
            </a:r>
            <a:endParaRPr sz="2200">
              <a:latin typeface="Times New Roman"/>
              <a:cs typeface="Times New Roman"/>
            </a:endParaRPr>
          </a:p>
          <a:p>
            <a:pPr marL="241300" marR="355600" indent="-228600">
              <a:lnSpc>
                <a:spcPct val="130000"/>
              </a:lnSpc>
              <a:spcBef>
                <a:spcPts val="4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Each NIC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identified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unique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Media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Control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(MAC) address.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100"/>
              </a:lnSpc>
              <a:spcBef>
                <a:spcPts val="5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address is 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control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communication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host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 the network.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17545" y="515493"/>
            <a:ext cx="5769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NI</a:t>
            </a:r>
            <a:r>
              <a:rPr dirty="0"/>
              <a:t>C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507" y="1892807"/>
            <a:ext cx="3928872" cy="39639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4695" y="6205143"/>
            <a:ext cx="6423660" cy="30988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NIC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5" dirty="0">
                <a:latin typeface="Times New Roman"/>
                <a:cs typeface="Times New Roman"/>
              </a:rPr>
              <a:t> are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right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now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attend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lecture?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83313"/>
            <a:ext cx="6660515" cy="344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repeater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regenerate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  <a:tab pos="1585595" algn="l"/>
                <a:tab pos="2981325" algn="l"/>
                <a:tab pos="3923665" algn="l"/>
                <a:tab pos="4307840" algn="l"/>
                <a:tab pos="5212715" algn="l"/>
                <a:tab pos="6188710" algn="l"/>
              </a:tabLst>
            </a:pPr>
            <a:r>
              <a:rPr sz="2400" dirty="0">
                <a:latin typeface="Times New Roman"/>
                <a:cs typeface="Times New Roman"/>
              </a:rPr>
              <a:t>Repe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ters</a:t>
            </a:r>
            <a:r>
              <a:rPr sz="2400" dirty="0">
                <a:latin typeface="Times New Roman"/>
                <a:cs typeface="Times New Roman"/>
              </a:rPr>
              <a:t>	regen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rate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nalog	or	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	sign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ls</a:t>
            </a:r>
            <a:r>
              <a:rPr sz="2400" dirty="0">
                <a:latin typeface="Times New Roman"/>
                <a:cs typeface="Times New Roman"/>
              </a:rPr>
              <a:t>	that  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distorted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attenuation.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495"/>
              </a:spcBef>
              <a:buSzPct val="95833"/>
              <a:buFont typeface="Wingdings"/>
              <a:buChar char=""/>
              <a:tabLst>
                <a:tab pos="255904" algn="l"/>
                <a:tab pos="609600" algn="l"/>
                <a:tab pos="1742439" algn="l"/>
                <a:tab pos="2454275" algn="l"/>
                <a:tab pos="2996565" algn="l"/>
                <a:tab pos="3807460" algn="l"/>
                <a:tab pos="4246880" algn="l"/>
                <a:tab pos="5632450" algn="l"/>
              </a:tabLst>
            </a:pPr>
            <a:r>
              <a:rPr sz="2400" spc="-5" dirty="0">
                <a:latin typeface="Times New Roman"/>
                <a:cs typeface="Times New Roman"/>
              </a:rPr>
              <a:t>A	repe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ter	does	not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ake	an	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lige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	d</a:t>
            </a:r>
            <a:r>
              <a:rPr sz="2400" spc="-10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concerning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forwarding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5001" y="515493"/>
            <a:ext cx="6853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Repe</a:t>
            </a:r>
            <a:r>
              <a:rPr spc="-90" dirty="0"/>
              <a:t>a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4928" y="1825751"/>
            <a:ext cx="4767072" cy="4666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65705"/>
            <a:ext cx="6661150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Hubs </a:t>
            </a:r>
            <a:r>
              <a:rPr sz="2400" dirty="0">
                <a:latin typeface="Times New Roman"/>
                <a:cs typeface="Times New Roman"/>
              </a:rPr>
              <a:t>concentrate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connections.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Hubs </a:t>
            </a:r>
            <a:r>
              <a:rPr sz="2400" dirty="0">
                <a:latin typeface="Times New Roman"/>
                <a:cs typeface="Times New Roman"/>
              </a:rPr>
              <a:t>take a group of </a:t>
            </a:r>
            <a:r>
              <a:rPr sz="2400" spc="-5" dirty="0">
                <a:latin typeface="Times New Roman"/>
                <a:cs typeface="Times New Roman"/>
              </a:rPr>
              <a:t>hosts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allow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network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see </a:t>
            </a:r>
            <a:r>
              <a:rPr sz="2400" dirty="0">
                <a:latin typeface="Times New Roman"/>
                <a:cs typeface="Times New Roman"/>
              </a:rPr>
              <a:t>them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single unit. This </a:t>
            </a:r>
            <a:r>
              <a:rPr sz="2400" dirty="0">
                <a:latin typeface="Times New Roman"/>
                <a:cs typeface="Times New Roman"/>
              </a:rPr>
              <a:t>is done </a:t>
            </a:r>
            <a:r>
              <a:rPr sz="2400" spc="-20" dirty="0">
                <a:latin typeface="Times New Roman"/>
                <a:cs typeface="Times New Roman"/>
              </a:rPr>
              <a:t>passively, 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</a:t>
            </a:r>
            <a:r>
              <a:rPr sz="2400" dirty="0">
                <a:latin typeface="Times New Roman"/>
                <a:cs typeface="Times New Roman"/>
              </a:rPr>
              <a:t> 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transmission.</a:t>
            </a:r>
            <a:endParaRPr sz="24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49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Active hubs </a:t>
            </a:r>
            <a:r>
              <a:rPr sz="2400" spc="-5" dirty="0">
                <a:latin typeface="Times New Roman"/>
                <a:cs typeface="Times New Roman"/>
              </a:rPr>
              <a:t>concentrate hosts </a:t>
            </a:r>
            <a:r>
              <a:rPr sz="2400" dirty="0">
                <a:latin typeface="Times New Roman"/>
                <a:cs typeface="Times New Roman"/>
              </a:rPr>
              <a:t>and also </a:t>
            </a:r>
            <a:r>
              <a:rPr sz="2400" spc="-5" dirty="0">
                <a:latin typeface="Times New Roman"/>
                <a:cs typeface="Times New Roman"/>
              </a:rPr>
              <a:t>regenerate </a:t>
            </a:r>
            <a:r>
              <a:rPr sz="2400" dirty="0">
                <a:latin typeface="Times New Roman"/>
                <a:cs typeface="Times New Roman"/>
              </a:rPr>
              <a:t> signals.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00197" y="515493"/>
            <a:ext cx="60051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H</a:t>
            </a:r>
            <a:r>
              <a:rPr spc="-100" dirty="0"/>
              <a:t>ub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935" y="2209688"/>
            <a:ext cx="2911886" cy="3598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1883"/>
            <a:ext cx="11539220" cy="273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Switches add</a:t>
            </a:r>
            <a:r>
              <a:rPr sz="2300" spc="-5" dirty="0">
                <a:latin typeface="Times New Roman"/>
                <a:cs typeface="Times New Roman"/>
              </a:rPr>
              <a:t> more intelligence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transfer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management.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7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spc="-5" dirty="0">
                <a:latin typeface="Times New Roman"/>
                <a:cs typeface="Times New Roman"/>
              </a:rPr>
              <a:t>Determine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if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should </a:t>
            </a:r>
            <a:r>
              <a:rPr sz="2300" spc="-5" dirty="0">
                <a:latin typeface="Times New Roman"/>
                <a:cs typeface="Times New Roman"/>
              </a:rPr>
              <a:t>remain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LAN 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transfer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only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connection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needs </a:t>
            </a:r>
            <a:r>
              <a:rPr sz="2300" spc="-5" dirty="0">
                <a:latin typeface="Times New Roman"/>
                <a:cs typeface="Times New Roman"/>
              </a:rPr>
              <a:t>it.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8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-5" dirty="0">
                <a:latin typeface="Times New Roman"/>
                <a:cs typeface="Times New Roman"/>
              </a:rPr>
              <a:t>multiport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bridge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 a </a:t>
            </a:r>
            <a:r>
              <a:rPr sz="2300" spc="-5" dirty="0">
                <a:latin typeface="Times New Roman"/>
                <a:cs typeface="Times New Roman"/>
              </a:rPr>
              <a:t>buffer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design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boost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its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efficiency.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8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</a:t>
            </a:r>
            <a:r>
              <a:rPr sz="2300" spc="-5" dirty="0">
                <a:latin typeface="Times New Roman"/>
                <a:cs typeface="Times New Roman"/>
              </a:rPr>
              <a:t> is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5" dirty="0">
                <a:latin typeface="Times New Roman"/>
                <a:cs typeface="Times New Roman"/>
              </a:rPr>
              <a:t> data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link </a:t>
            </a:r>
            <a:r>
              <a:rPr sz="2300" dirty="0">
                <a:latin typeface="Times New Roman"/>
                <a:cs typeface="Times New Roman"/>
              </a:rPr>
              <a:t>layer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device.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70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dirty="0">
                <a:latin typeface="Times New Roman"/>
                <a:cs typeface="Times New Roman"/>
              </a:rPr>
              <a:t> perform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error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checking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before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forwarding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0720" y="515493"/>
            <a:ext cx="67627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0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Switche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398" y="4537847"/>
            <a:ext cx="10872587" cy="2243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92420"/>
            <a:ext cx="6659880" cy="4313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8600" algn="just">
              <a:lnSpc>
                <a:spcPct val="140100"/>
              </a:lnSpc>
              <a:spcBef>
                <a:spcPts val="9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bridge is a </a:t>
            </a:r>
            <a:r>
              <a:rPr sz="2400" spc="-15" dirty="0">
                <a:latin typeface="Times New Roman"/>
                <a:cs typeface="Times New Roman"/>
              </a:rPr>
              <a:t>repeater,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add on the </a:t>
            </a:r>
            <a:r>
              <a:rPr sz="2400" spc="-5" dirty="0">
                <a:latin typeface="Times New Roman"/>
                <a:cs typeface="Times New Roman"/>
              </a:rPr>
              <a:t>functionality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filtering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content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reading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addresses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ct val="14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Bridges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connections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 same</a:t>
            </a:r>
            <a:r>
              <a:rPr sz="2400" dirty="0">
                <a:latin typeface="Times New Roman"/>
                <a:cs typeface="Times New Roman"/>
              </a:rPr>
              <a:t> protocol.</a:t>
            </a:r>
            <a:endParaRPr sz="2400">
              <a:latin typeface="Times New Roman"/>
              <a:cs typeface="Times New Roman"/>
            </a:endParaRPr>
          </a:p>
          <a:p>
            <a:pPr marL="255270" indent="-243204" algn="just">
              <a:lnSpc>
                <a:spcPct val="100000"/>
              </a:lnSpc>
              <a:spcBef>
                <a:spcPts val="164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bridge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401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10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single </a:t>
            </a:r>
            <a:r>
              <a:rPr sz="2400" spc="-5" dirty="0">
                <a:latin typeface="Times New Roman"/>
                <a:cs typeface="Times New Roman"/>
              </a:rPr>
              <a:t>input and </a:t>
            </a:r>
            <a:r>
              <a:rPr sz="2400" dirty="0">
                <a:latin typeface="Times New Roman"/>
                <a:cs typeface="Times New Roman"/>
              </a:rPr>
              <a:t>single </a:t>
            </a:r>
            <a:r>
              <a:rPr sz="2400" spc="-5" dirty="0">
                <a:latin typeface="Times New Roman"/>
                <a:cs typeface="Times New Roman"/>
              </a:rPr>
              <a:t>output </a:t>
            </a:r>
            <a:r>
              <a:rPr sz="2400" dirty="0">
                <a:latin typeface="Times New Roman"/>
                <a:cs typeface="Times New Roman"/>
              </a:rPr>
              <a:t>port, thus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r>
              <a:rPr sz="2400" dirty="0">
                <a:latin typeface="Times New Roman"/>
                <a:cs typeface="Times New Roman"/>
              </a:rPr>
              <a:t> 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38069" y="515493"/>
            <a:ext cx="6529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B</a:t>
            </a:r>
            <a:r>
              <a:rPr spc="-100" dirty="0"/>
              <a:t>rid</a:t>
            </a:r>
            <a:r>
              <a:rPr spc="-90" dirty="0"/>
              <a:t>g</a:t>
            </a:r>
            <a:r>
              <a:rPr spc="-100" dirty="0"/>
              <a:t>e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6828" y="1825751"/>
            <a:ext cx="4621726" cy="4415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3525"/>
            <a:ext cx="6389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  <a:tab pos="634365" algn="l"/>
                <a:tab pos="1539875" algn="l"/>
                <a:tab pos="1918970" algn="l"/>
                <a:tab pos="2231390" algn="l"/>
                <a:tab pos="3201035" algn="l"/>
                <a:tab pos="3632200" algn="l"/>
                <a:tab pos="3944620" algn="l"/>
                <a:tab pos="5255260" algn="l"/>
                <a:tab pos="6174740" algn="l"/>
              </a:tabLst>
            </a:pPr>
            <a:r>
              <a:rPr sz="2400" spc="-5" dirty="0">
                <a:latin typeface="Times New Roman"/>
                <a:cs typeface="Times New Roman"/>
              </a:rPr>
              <a:t>A	rou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er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a	de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ice	or	a	</a:t>
            </a:r>
            <a:r>
              <a:rPr sz="2400" spc="-1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ar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ware	</a:t>
            </a:r>
            <a:r>
              <a:rPr sz="2400" spc="-5" dirty="0">
                <a:latin typeface="Times New Roman"/>
                <a:cs typeface="Times New Roman"/>
              </a:rPr>
              <a:t>wh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ch	</a:t>
            </a:r>
            <a:r>
              <a:rPr sz="2400" spc="-1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82165"/>
            <a:ext cx="2158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9430" algn="l"/>
              </a:tabLst>
            </a:pP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ponsi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le	for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9459" y="2132457"/>
            <a:ext cx="3689985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  <a:tabLst>
                <a:tab pos="1602105" algn="l"/>
                <a:tab pos="3175000" algn="l"/>
              </a:tabLst>
            </a:pPr>
            <a:r>
              <a:rPr sz="2400" dirty="0">
                <a:latin typeface="Times New Roman"/>
                <a:cs typeface="Times New Roman"/>
              </a:rPr>
              <a:t>receiving,	</a:t>
            </a:r>
            <a:r>
              <a:rPr sz="2400" spc="-5" dirty="0">
                <a:latin typeface="Times New Roman"/>
                <a:cs typeface="Times New Roman"/>
              </a:rPr>
              <a:t>analyzing	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2681097"/>
            <a:ext cx="135509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ar</a:t>
            </a:r>
            <a:r>
              <a:rPr sz="2400" dirty="0">
                <a:latin typeface="Times New Roman"/>
                <a:cs typeface="Times New Roman"/>
              </a:rPr>
              <a:t>ding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5829" y="2630804"/>
            <a:ext cx="425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243834"/>
            <a:ext cx="6391910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 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domain.</a:t>
            </a:r>
            <a:endParaRPr sz="2400" dirty="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150000"/>
              </a:lnSpc>
              <a:spcBef>
                <a:spcPts val="49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router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operates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OSI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model.</a:t>
            </a:r>
            <a:endParaRPr sz="24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router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installs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details</a:t>
            </a:r>
            <a:r>
              <a:rPr sz="2400" dirty="0">
                <a:latin typeface="Times New Roman"/>
                <a:cs typeface="Times New Roman"/>
              </a:rPr>
              <a:t> 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multiple </a:t>
            </a:r>
            <a:r>
              <a:rPr sz="2400" dirty="0">
                <a:latin typeface="Times New Roman"/>
                <a:cs typeface="Times New Roman"/>
              </a:rPr>
              <a:t> networks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routing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traffic</a:t>
            </a:r>
            <a:r>
              <a:rPr sz="2400" spc="-5" dirty="0">
                <a:latin typeface="Times New Roman"/>
                <a:cs typeface="Times New Roman"/>
              </a:rPr>
              <a:t> based</a:t>
            </a:r>
            <a:r>
              <a:rPr sz="2400" dirty="0">
                <a:latin typeface="Times New Roman"/>
                <a:cs typeface="Times New Roman"/>
              </a:rPr>
              <a:t> upon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 destination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address.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07589" y="515493"/>
            <a:ext cx="6587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R</a:t>
            </a:r>
            <a:r>
              <a:rPr spc="-90" dirty="0"/>
              <a:t>o</a:t>
            </a:r>
            <a:r>
              <a:rPr spc="-100" dirty="0"/>
              <a:t>ute</a:t>
            </a:r>
            <a:r>
              <a:rPr spc="-110" dirty="0"/>
              <a:t>r</a:t>
            </a:r>
            <a:r>
              <a:rPr dirty="0"/>
              <a:t>s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6095" y="2139695"/>
            <a:ext cx="4212336" cy="3166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5904"/>
            <a:ext cx="11207115" cy="2059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communication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among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protocols.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1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multiple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protocols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bunch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networks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gateway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operates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5" dirty="0">
                <a:latin typeface="Times New Roman"/>
                <a:cs typeface="Times New Roman"/>
              </a:rPr>
              <a:t> to </a:t>
            </a:r>
            <a:r>
              <a:rPr sz="2200" dirty="0">
                <a:latin typeface="Times New Roman"/>
                <a:cs typeface="Times New Roman"/>
              </a:rPr>
              <a:t>layer </a:t>
            </a:r>
            <a:r>
              <a:rPr sz="2200" spc="-5" dirty="0">
                <a:latin typeface="Times New Roman"/>
                <a:cs typeface="Times New Roman"/>
              </a:rPr>
              <a:t>5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OSI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model.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3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differentiate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inside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outside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7276" y="515493"/>
            <a:ext cx="7011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G</a:t>
            </a:r>
            <a:r>
              <a:rPr spc="-90" dirty="0"/>
              <a:t>a</a:t>
            </a:r>
            <a:r>
              <a:rPr spc="-100" dirty="0"/>
              <a:t>tew</a:t>
            </a:r>
            <a:r>
              <a:rPr spc="-90" dirty="0"/>
              <a:t>a</a:t>
            </a:r>
            <a:r>
              <a:rPr spc="-105" dirty="0"/>
              <a:t>y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335" y="3832859"/>
            <a:ext cx="7577327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42669"/>
            <a:ext cx="11469370" cy="2332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firewall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 network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device/software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controlling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security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access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rules.</a:t>
            </a:r>
            <a:endParaRPr sz="26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357505" algn="l"/>
              </a:tabLst>
            </a:pPr>
            <a:r>
              <a:rPr sz="2600" spc="-5" dirty="0">
                <a:latin typeface="Times New Roman"/>
                <a:cs typeface="Times New Roman"/>
              </a:rPr>
              <a:t>Firewalls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placed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internal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external </a:t>
            </a:r>
            <a:r>
              <a:rPr sz="2600" dirty="0">
                <a:latin typeface="Times New Roman"/>
                <a:cs typeface="Times New Roman"/>
              </a:rPr>
              <a:t>networks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5" dirty="0">
                <a:latin typeface="Times New Roman"/>
                <a:cs typeface="Times New Roman"/>
              </a:rPr>
              <a:t> as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Internet.</a:t>
            </a: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500"/>
              </a:spcBef>
              <a:buSzPct val="96153"/>
              <a:buFont typeface="Wingdings"/>
              <a:buChar char=""/>
              <a:tabLst>
                <a:tab pos="276860" algn="l"/>
                <a:tab pos="1684655" algn="l"/>
                <a:tab pos="2268220" algn="l"/>
                <a:tab pos="3606800" algn="l"/>
                <a:tab pos="5217160" algn="l"/>
                <a:tab pos="5656580" algn="l"/>
                <a:tab pos="6569709" algn="l"/>
                <a:tab pos="7592059" algn="l"/>
                <a:tab pos="8855710" algn="l"/>
                <a:tab pos="9678670" algn="l"/>
              </a:tabLst>
            </a:pPr>
            <a:r>
              <a:rPr sz="2600" dirty="0">
                <a:latin typeface="Times New Roman"/>
                <a:cs typeface="Times New Roman"/>
              </a:rPr>
              <a:t>Fir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wal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	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	typic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y	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nfi</a:t>
            </a:r>
            <a:r>
              <a:rPr sz="2600" spc="-1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ed	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	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ct	</a:t>
            </a:r>
            <a:r>
              <a:rPr sz="2600" spc="-5" dirty="0">
                <a:latin typeface="Times New Roman"/>
                <a:cs typeface="Times New Roman"/>
              </a:rPr>
              <a:t>acces</a:t>
            </a:r>
            <a:r>
              <a:rPr sz="2600" dirty="0">
                <a:latin typeface="Times New Roman"/>
                <a:cs typeface="Times New Roman"/>
              </a:rPr>
              <a:t>s	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ues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	f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om	u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gni</a:t>
            </a:r>
            <a:r>
              <a:rPr sz="2600" spc="-15" dirty="0">
                <a:latin typeface="Times New Roman"/>
                <a:cs typeface="Times New Roman"/>
              </a:rPr>
              <a:t>z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 sources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allowing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actions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recognized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72536" y="515493"/>
            <a:ext cx="6659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Fi</a:t>
            </a:r>
            <a:r>
              <a:rPr spc="-185" dirty="0"/>
              <a:t>r</a:t>
            </a:r>
            <a:r>
              <a:rPr spc="-100" dirty="0"/>
              <a:t>ew</a:t>
            </a:r>
            <a:r>
              <a:rPr spc="-90" dirty="0"/>
              <a:t>a</a:t>
            </a:r>
            <a:r>
              <a:rPr spc="-100" dirty="0"/>
              <a:t>l</a:t>
            </a:r>
            <a:r>
              <a:rPr dirty="0"/>
              <a:t>l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741" y="3869435"/>
            <a:ext cx="7754290" cy="2791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2091308"/>
            <a:ext cx="5027295" cy="2396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rk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24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(LAN)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Met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olit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(MAN)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ide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29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65497" y="515493"/>
            <a:ext cx="3472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55549"/>
            <a:ext cx="5295900" cy="329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Deployed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mainly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home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environment,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printers, </a:t>
            </a:r>
            <a:r>
              <a:rPr sz="2000" dirty="0">
                <a:latin typeface="Times New Roman"/>
                <a:cs typeface="Times New Roman"/>
              </a:rPr>
              <a:t> phones, </a:t>
            </a:r>
            <a:r>
              <a:rPr sz="2000" spc="-5" dirty="0">
                <a:latin typeface="Times New Roman"/>
                <a:cs typeface="Times New Roman"/>
              </a:rPr>
              <a:t>other </a:t>
            </a:r>
            <a:r>
              <a:rPr sz="2000" dirty="0">
                <a:latin typeface="Times New Roman"/>
                <a:cs typeface="Times New Roman"/>
              </a:rPr>
              <a:t>personal </a:t>
            </a:r>
            <a:r>
              <a:rPr sz="2000" spc="-5" dirty="0">
                <a:latin typeface="Times New Roman"/>
                <a:cs typeface="Times New Roman"/>
              </a:rPr>
              <a:t>gadgets through modem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either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wired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sharing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documents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&amp;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photos within </a:t>
            </a:r>
            <a:r>
              <a:rPr sz="2000" dirty="0">
                <a:latin typeface="Times New Roman"/>
                <a:cs typeface="Times New Roman"/>
              </a:rPr>
              <a:t>nodes, </a:t>
            </a:r>
            <a:r>
              <a:rPr sz="2000" spc="-5" dirty="0">
                <a:latin typeface="Times New Roman"/>
                <a:cs typeface="Times New Roman"/>
              </a:rPr>
              <a:t>accessing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internet and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entertainment.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2746" y="515493"/>
            <a:ext cx="4838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425" dirty="0"/>
              <a:t>P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3189" y="1536156"/>
            <a:ext cx="5064881" cy="24506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7256" y="4191856"/>
            <a:ext cx="5035366" cy="2237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5265" cy="433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6985" indent="-228600" algn="just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equipment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premise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building.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</a:t>
            </a:r>
            <a:r>
              <a:rPr sz="2000" dirty="0">
                <a:latin typeface="Times New Roman"/>
                <a:cs typeface="Times New Roman"/>
              </a:rPr>
              <a:t> 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through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switches,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adapters,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cables,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 optic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fibers.</a:t>
            </a:r>
            <a:endParaRPr sz="200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modern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LAN,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 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access</a:t>
            </a:r>
            <a:r>
              <a:rPr sz="2000" dirty="0">
                <a:latin typeface="Times New Roman"/>
                <a:cs typeface="Times New Roman"/>
              </a:rPr>
              <a:t> points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(Antenna)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84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8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logically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split</a:t>
            </a:r>
            <a:r>
              <a:rPr sz="2000" spc="84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into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multiple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5"/>
              </a:spcBef>
            </a:pPr>
            <a:r>
              <a:rPr sz="2000" spc="-15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(VLANs).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6170" y="515493"/>
            <a:ext cx="4911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L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711" y="2244851"/>
            <a:ext cx="4209912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4630" cy="335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covers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0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larger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geographic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area</a:t>
            </a:r>
            <a:r>
              <a:rPr sz="2000" dirty="0">
                <a:latin typeface="Times New Roman"/>
                <a:cs typeface="Times New Roman"/>
              </a:rPr>
              <a:t> by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interconnecting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-5" dirty="0">
                <a:latin typeface="Times New Roman"/>
                <a:cs typeface="Times New Roman"/>
              </a:rPr>
              <a:t> to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larger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MAN,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various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telephone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most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widely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protocols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RS-232,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14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TM,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ISD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7240" y="5201030"/>
            <a:ext cx="115570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157038"/>
            <a:ext cx="5292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6365" indent="-13843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1396365" algn="l"/>
                <a:tab pos="13970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banks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463032"/>
            <a:ext cx="50653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city,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airline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reservation,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military.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69970" y="515493"/>
            <a:ext cx="5065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M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1675" y="1833652"/>
            <a:ext cx="5379275" cy="4606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4630" cy="4789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extends</a:t>
            </a:r>
            <a:r>
              <a:rPr sz="2000" dirty="0">
                <a:latin typeface="Times New Roman"/>
                <a:cs typeface="Times New Roman"/>
              </a:rPr>
              <a:t> over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geographical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countries.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spans</a:t>
            </a:r>
            <a:r>
              <a:rPr sz="2000" dirty="0">
                <a:latin typeface="Times New Roman"/>
                <a:cs typeface="Times New Roman"/>
              </a:rPr>
              <a:t> over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geographical</a:t>
            </a:r>
            <a:r>
              <a:rPr sz="2000" dirty="0">
                <a:latin typeface="Times New Roman"/>
                <a:cs typeface="Times New Roman"/>
              </a:rPr>
              <a:t> area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through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telephone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fiber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optic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cable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 satellite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links.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biggest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world.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widely</a:t>
            </a:r>
            <a:r>
              <a:rPr sz="2000" dirty="0">
                <a:latin typeface="Times New Roman"/>
                <a:cs typeface="Times New Roman"/>
              </a:rPr>
              <a:t> 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field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Business,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government,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education,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sharing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message,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software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resources,</a:t>
            </a:r>
            <a:r>
              <a:rPr sz="2000" dirty="0">
                <a:latin typeface="Times New Roman"/>
                <a:cs typeface="Times New Roman"/>
              </a:rPr>
              <a:t> global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business,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high </a:t>
            </a:r>
            <a:r>
              <a:rPr sz="200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9782" y="515493"/>
            <a:ext cx="50260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325" dirty="0"/>
              <a:t> </a:t>
            </a:r>
            <a:r>
              <a:rPr spc="-595" dirty="0"/>
              <a:t>W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147" y="1876691"/>
            <a:ext cx="3951657" cy="45905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2091308"/>
            <a:ext cx="2731135" cy="3712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Bus</a:t>
            </a:r>
            <a:endParaRPr sz="26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dirty="0">
                <a:latin typeface="Times New Roman"/>
                <a:cs typeface="Times New Roman"/>
              </a:rPr>
              <a:t>Ring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Star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10" dirty="0">
                <a:latin typeface="Times New Roman"/>
                <a:cs typeface="Times New Roman"/>
              </a:rPr>
              <a:t>Tree(Hierarchical)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5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5" dirty="0">
                <a:latin typeface="Times New Roman"/>
                <a:cs typeface="Times New Roman"/>
              </a:rPr>
              <a:t>Mesh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Hybrid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86021" y="515493"/>
            <a:ext cx="4233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3409010"/>
            <a:ext cx="2318385" cy="1407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Benefits: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5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cost-effective.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  <a:tab pos="857885" algn="l"/>
                <a:tab pos="1671955" algn="l"/>
              </a:tabLst>
            </a:pPr>
            <a:r>
              <a:rPr sz="2000" dirty="0">
                <a:latin typeface="Times New Roman"/>
                <a:cs typeface="Times New Roman"/>
              </a:rPr>
              <a:t>The	C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ble	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eng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47186" y="4485513"/>
            <a:ext cx="2889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  <a:tab pos="1467485" algn="l"/>
                <a:tab pos="1998345" algn="l"/>
                <a:tab pos="2682875" algn="l"/>
              </a:tabLst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quir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the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ast	</a:t>
            </a:r>
            <a:r>
              <a:rPr sz="2000" spc="-20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780" y="4942408"/>
            <a:ext cx="5405120" cy="18313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comparison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  <a:tab pos="1473835" algn="l"/>
                <a:tab pos="1985645" algn="l"/>
                <a:tab pos="2385695" algn="l"/>
                <a:tab pos="3041015" algn="l"/>
                <a:tab pos="3790950" algn="l"/>
                <a:tab pos="4204970" algn="l"/>
                <a:tab pos="5083175" algn="l"/>
              </a:tabLst>
            </a:pPr>
            <a:r>
              <a:rPr sz="2000" dirty="0">
                <a:latin typeface="Times New Roman"/>
                <a:cs typeface="Times New Roman"/>
              </a:rPr>
              <a:t>Ex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	c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e	done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ly	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y	l</a:t>
            </a:r>
            <a:r>
              <a:rPr sz="2000" spc="-2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nk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endParaRPr sz="20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together.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9029" y="3317608"/>
            <a:ext cx="5405120" cy="323088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58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cable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collapses,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complete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collapses.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1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performance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stake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heavy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spc="-5" dirty="0">
                <a:latin typeface="Times New Roman"/>
                <a:cs typeface="Times New Roman"/>
              </a:rPr>
              <a:t>traffic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large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length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limited.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40989" y="515493"/>
            <a:ext cx="5525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95" dirty="0"/>
              <a:t>Bu</a:t>
            </a:r>
            <a:r>
              <a:rPr dirty="0"/>
              <a:t>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3192" y="1572909"/>
            <a:ext cx="5620344" cy="17070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5940" y="1345875"/>
            <a:ext cx="5405755" cy="191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Devices </a:t>
            </a:r>
            <a:r>
              <a:rPr sz="2000" spc="-5" dirty="0">
                <a:latin typeface="Times New Roman"/>
                <a:cs typeface="Times New Roman"/>
              </a:rPr>
              <a:t>are connected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central cable, called </a:t>
            </a:r>
            <a:r>
              <a:rPr sz="2000" b="1" spc="-5" dirty="0">
                <a:latin typeface="Times New Roman"/>
                <a:cs typeface="Times New Roman"/>
              </a:rPr>
              <a:t>bus </a:t>
            </a:r>
            <a:r>
              <a:rPr sz="2000" b="1" dirty="0">
                <a:latin typeface="Times New Roman"/>
                <a:cs typeface="Times New Roman"/>
              </a:rPr>
              <a:t> or </a:t>
            </a:r>
            <a:r>
              <a:rPr sz="2000" b="1" spc="-5" dirty="0">
                <a:latin typeface="Times New Roman"/>
                <a:cs typeface="Times New Roman"/>
              </a:rPr>
              <a:t>backbone</a:t>
            </a:r>
            <a:r>
              <a:rPr sz="2000" spc="-5" dirty="0">
                <a:latin typeface="Times New Roman"/>
                <a:cs typeface="Times New Roman"/>
              </a:rPr>
              <a:t>. </a:t>
            </a:r>
            <a:r>
              <a:rPr sz="2000" spc="-15" dirty="0">
                <a:latin typeface="Times New Roman"/>
                <a:cs typeface="Times New Roman"/>
              </a:rPr>
              <a:t>Terminators </a:t>
            </a:r>
            <a:r>
              <a:rPr sz="2000" spc="-5" dirty="0">
                <a:latin typeface="Times New Roman"/>
                <a:cs typeface="Times New Roman"/>
              </a:rPr>
              <a:t>at each end of the </a:t>
            </a:r>
            <a:r>
              <a:rPr sz="2000" dirty="0">
                <a:latin typeface="Times New Roman"/>
                <a:cs typeface="Times New Roman"/>
              </a:rPr>
              <a:t>bus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backwards.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705"/>
              </a:spcBef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N+1,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6989"/>
            <a:ext cx="6748780" cy="341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-5" dirty="0">
                <a:latin typeface="Times New Roman"/>
                <a:cs typeface="Times New Roman"/>
              </a:rPr>
              <a:t> computer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known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monitor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station,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responsible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5" dirty="0">
                <a:latin typeface="Times New Roman"/>
                <a:cs typeface="Times New Roman"/>
              </a:rPr>
              <a:t> amongst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tokens.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station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hold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token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complete.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5" dirty="0">
                <a:latin typeface="Times New Roman"/>
                <a:cs typeface="Times New Roman"/>
              </a:rPr>
              <a:t>done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sequential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method.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point-to-point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124958"/>
            <a:ext cx="6748145" cy="130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incorporates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repeater.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unidirectional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topology,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bidirectional.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7648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ogy</a:t>
            </a:r>
            <a:r>
              <a:rPr dirty="0"/>
              <a:t>:</a:t>
            </a:r>
            <a:r>
              <a:rPr spc="-240" dirty="0"/>
              <a:t> </a:t>
            </a:r>
            <a:r>
              <a:rPr spc="-95" dirty="0"/>
              <a:t>R</a:t>
            </a:r>
            <a:r>
              <a:rPr spc="-100" dirty="0"/>
              <a:t>i</a:t>
            </a:r>
            <a:r>
              <a:rPr spc="-95" dirty="0"/>
              <a:t>n</a:t>
            </a:r>
            <a:r>
              <a:rPr dirty="0"/>
              <a:t>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9141" y="2325252"/>
            <a:ext cx="4266839" cy="26006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23631" y="5463641"/>
            <a:ext cx="18402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No of cables = </a:t>
            </a:r>
            <a:r>
              <a:rPr sz="2000" spc="5" dirty="0">
                <a:latin typeface="Times New Roman"/>
                <a:cs typeface="Times New Roman"/>
              </a:rPr>
              <a:t>N,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281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6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 </a:t>
            </a:r>
            <a:r>
              <a:rPr sz="2000" spc="-10" dirty="0">
                <a:latin typeface="Times New Roman"/>
                <a:cs typeface="Times New Roman"/>
              </a:rPr>
              <a:t>affected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numerous nodes </a:t>
            </a:r>
            <a:r>
              <a:rPr sz="2000" dirty="0">
                <a:latin typeface="Times New Roman"/>
                <a:cs typeface="Times New Roman"/>
              </a:rPr>
              <a:t> 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heavy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traffic,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nodes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possessing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100"/>
              </a:lnSpc>
              <a:spcBef>
                <a:spcPts val="48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topology</a:t>
            </a:r>
            <a:r>
              <a:rPr sz="2000" dirty="0">
                <a:latin typeface="Times New Roman"/>
                <a:cs typeface="Times New Roman"/>
              </a:rPr>
              <a:t> has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cheap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installation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expansion.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/>
              <a:t>Drawbacks:</a:t>
            </a:r>
          </a:p>
          <a:p>
            <a:pPr marL="241300" marR="5715" indent="-228600">
              <a:lnSpc>
                <a:spcPct val="130100"/>
              </a:lnSpc>
              <a:spcBef>
                <a:spcPts val="565"/>
              </a:spcBef>
              <a:buSzPct val="95454"/>
              <a:buFont typeface="Wingdings"/>
              <a:buChar char=""/>
              <a:tabLst>
                <a:tab pos="241300" algn="l"/>
                <a:tab pos="541020" algn="l"/>
                <a:tab pos="856615" algn="l"/>
                <a:tab pos="1109345" algn="l"/>
                <a:tab pos="2048510" algn="l"/>
                <a:tab pos="2627630" algn="l"/>
                <a:tab pos="2975610" algn="l"/>
                <a:tab pos="4502785" algn="l"/>
                <a:tab pos="484886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a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tedi</a:t>
            </a:r>
            <a:r>
              <a:rPr sz="2200" b="0" spc="15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us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task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to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tr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u</a:t>
            </a:r>
            <a:r>
              <a:rPr sz="2200" b="0" dirty="0">
                <a:latin typeface="Times New Roman"/>
                <a:cs typeface="Times New Roman"/>
              </a:rPr>
              <a:t>b</a:t>
            </a:r>
            <a:r>
              <a:rPr sz="2200" b="0" spc="-5" dirty="0">
                <a:latin typeface="Times New Roman"/>
                <a:cs typeface="Times New Roman"/>
              </a:rPr>
              <a:t>les</a:t>
            </a:r>
            <a:r>
              <a:rPr sz="2200" b="0" spc="-15" dirty="0">
                <a:latin typeface="Times New Roman"/>
                <a:cs typeface="Times New Roman"/>
              </a:rPr>
              <a:t>h</a:t>
            </a:r>
            <a:r>
              <a:rPr sz="2200" b="0" spc="-5" dirty="0">
                <a:latin typeface="Times New Roman"/>
                <a:cs typeface="Times New Roman"/>
              </a:rPr>
              <a:t>o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0" dirty="0">
                <a:latin typeface="Times New Roman"/>
                <a:cs typeface="Times New Roman"/>
              </a:rPr>
              <a:t>i</a:t>
            </a:r>
            <a:r>
              <a:rPr sz="2200" b="0" spc="-5" dirty="0">
                <a:latin typeface="Times New Roman"/>
                <a:cs typeface="Times New Roman"/>
              </a:rPr>
              <a:t>n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Ring  </a:t>
            </a:r>
            <a:r>
              <a:rPr sz="2200" b="0" spc="-15" dirty="0">
                <a:latin typeface="Times New Roman"/>
                <a:cs typeface="Times New Roman"/>
              </a:rPr>
              <a:t>topology.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  <a:tab pos="553085" algn="l"/>
                <a:tab pos="880744" algn="l"/>
                <a:tab pos="1918970" algn="l"/>
                <a:tab pos="2277110" algn="l"/>
                <a:tab pos="2821305" algn="l"/>
                <a:tab pos="3196590" algn="l"/>
                <a:tab pos="4002404" algn="l"/>
                <a:tab pos="4864100" algn="l"/>
                <a:tab pos="523748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di</a:t>
            </a:r>
            <a:r>
              <a:rPr sz="2200" b="0" spc="-45" dirty="0">
                <a:latin typeface="Times New Roman"/>
                <a:cs typeface="Times New Roman"/>
              </a:rPr>
              <a:t>f</a:t>
            </a:r>
            <a:r>
              <a:rPr sz="2200" b="0" spc="-5" dirty="0">
                <a:latin typeface="Times New Roman"/>
                <a:cs typeface="Times New Roman"/>
              </a:rPr>
              <a:t>ficult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to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add</a:t>
            </a:r>
            <a:r>
              <a:rPr sz="2200" b="0" dirty="0">
                <a:latin typeface="Times New Roman"/>
                <a:cs typeface="Times New Roman"/>
              </a:rPr>
              <a:t>	o</a:t>
            </a:r>
            <a:r>
              <a:rPr sz="2200" b="0" spc="-5" dirty="0">
                <a:latin typeface="Times New Roman"/>
                <a:cs typeface="Times New Roman"/>
              </a:rPr>
              <a:t>r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d</a:t>
            </a:r>
            <a:r>
              <a:rPr sz="2200" b="0" spc="-15" dirty="0">
                <a:latin typeface="Times New Roman"/>
                <a:cs typeface="Times New Roman"/>
              </a:rPr>
              <a:t>e</a:t>
            </a:r>
            <a:r>
              <a:rPr sz="2200" b="0" spc="-5" dirty="0">
                <a:latin typeface="Times New Roman"/>
                <a:cs typeface="Times New Roman"/>
              </a:rPr>
              <a:t>lete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n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des,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10" dirty="0">
                <a:latin typeface="Times New Roman"/>
                <a:cs typeface="Times New Roman"/>
              </a:rPr>
              <a:t>a</a:t>
            </a:r>
            <a:r>
              <a:rPr sz="2200" b="0" spc="-5" dirty="0">
                <a:latin typeface="Times New Roman"/>
                <a:cs typeface="Times New Roman"/>
              </a:rPr>
              <a:t>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it  interrupts</a:t>
            </a:r>
            <a:r>
              <a:rPr sz="2200" b="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the</a:t>
            </a:r>
            <a:r>
              <a:rPr sz="2200" b="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network</a:t>
            </a:r>
            <a:r>
              <a:rPr sz="2200" b="0" spc="10" dirty="0">
                <a:latin typeface="Times New Roman"/>
                <a:cs typeface="Times New Roman"/>
              </a:rPr>
              <a:t> </a:t>
            </a:r>
            <a:r>
              <a:rPr sz="2200" b="0" spc="-15" dirty="0">
                <a:latin typeface="Times New Roman"/>
                <a:cs typeface="Times New Roman"/>
              </a:rPr>
              <a:t>activity.</a:t>
            </a:r>
            <a:endParaRPr sz="2200">
              <a:latin typeface="Times New Roman"/>
              <a:cs typeface="Times New Roman"/>
            </a:endParaRPr>
          </a:p>
          <a:p>
            <a:pPr marL="241300" marR="8890" indent="-228600">
              <a:lnSpc>
                <a:spcPct val="13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If</a:t>
            </a:r>
            <a:r>
              <a:rPr sz="2200" b="0" spc="39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one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computer</a:t>
            </a:r>
            <a:r>
              <a:rPr sz="2200" b="0" spc="40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crashes,</a:t>
            </a:r>
            <a:r>
              <a:rPr sz="2200" b="0" spc="40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the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entire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network </a:t>
            </a:r>
            <a:r>
              <a:rPr sz="2200" b="0" spc="-53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activity</a:t>
            </a:r>
            <a:r>
              <a:rPr sz="2200" b="0" spc="1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is disrupted.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3641" y="515493"/>
            <a:ext cx="5759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95" dirty="0"/>
              <a:t>R</a:t>
            </a:r>
            <a:r>
              <a:rPr spc="-100" dirty="0"/>
              <a:t>in</a:t>
            </a:r>
            <a:r>
              <a:rPr dirty="0"/>
              <a:t>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6505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St</a:t>
            </a:r>
            <a:r>
              <a:rPr spc="-90" dirty="0"/>
              <a:t>a</a:t>
            </a:r>
            <a:r>
              <a:rPr dirty="0"/>
              <a:t>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6390" cy="439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All the </a:t>
            </a:r>
            <a:r>
              <a:rPr sz="2000" spc="-5" dirty="0">
                <a:latin typeface="Times New Roman"/>
                <a:cs typeface="Times New Roman"/>
              </a:rPr>
              <a:t>nodes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5" dirty="0">
                <a:latin typeface="Times New Roman"/>
                <a:cs typeface="Times New Roman"/>
              </a:rPr>
              <a:t>connected </a:t>
            </a:r>
            <a:r>
              <a:rPr sz="2000" dirty="0">
                <a:latin typeface="Times New Roman"/>
                <a:cs typeface="Times New Roman"/>
              </a:rPr>
              <a:t>via </a:t>
            </a:r>
            <a:r>
              <a:rPr sz="2000" spc="-5" dirty="0">
                <a:latin typeface="Times New Roman"/>
                <a:cs typeface="Times New Roman"/>
              </a:rPr>
              <a:t>cables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single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hub.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hub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active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92100" algn="l"/>
              </a:tabLst>
            </a:pPr>
            <a:r>
              <a:rPr dirty="0"/>
              <a:t>	</a:t>
            </a:r>
            <a:r>
              <a:rPr sz="2000" spc="-5" dirty="0">
                <a:latin typeface="Times New Roman"/>
                <a:cs typeface="Times New Roman"/>
              </a:rPr>
              <a:t>Active hubs contain repeaters, while passive </a:t>
            </a:r>
            <a:r>
              <a:rPr sz="2000" dirty="0">
                <a:latin typeface="Times New Roman"/>
                <a:cs typeface="Times New Roman"/>
              </a:rPr>
              <a:t>hubs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non-intelligent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 node </a:t>
            </a:r>
            <a:r>
              <a:rPr sz="2000" spc="-5" dirty="0">
                <a:latin typeface="Times New Roman"/>
                <a:cs typeface="Times New Roman"/>
              </a:rPr>
              <a:t>contains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reserved connection to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central node, which the </a:t>
            </a:r>
            <a:r>
              <a:rPr sz="2000" dirty="0">
                <a:latin typeface="Times New Roman"/>
                <a:cs typeface="Times New Roman"/>
              </a:rPr>
              <a:t>central </a:t>
            </a:r>
            <a:r>
              <a:rPr sz="2000" spc="-5" dirty="0">
                <a:latin typeface="Times New Roman"/>
                <a:cs typeface="Times New Roman"/>
              </a:rPr>
              <a:t>node acting </a:t>
            </a:r>
            <a:r>
              <a:rPr sz="2000" spc="-10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spc="5" dirty="0">
                <a:latin typeface="Times New Roman"/>
                <a:cs typeface="Times New Roman"/>
              </a:rPr>
              <a:t>No.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cables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No.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ports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2013" y="3038113"/>
            <a:ext cx="3745284" cy="26456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29555" cy="3338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install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reconfigure.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Robustness,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dirty="0">
                <a:latin typeface="Times New Roman"/>
                <a:cs typeface="Times New Roman"/>
              </a:rPr>
              <a:t> 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</a:t>
            </a:r>
            <a:r>
              <a:rPr sz="2000" spc="-5" dirty="0">
                <a:latin typeface="Times New Roman"/>
                <a:cs typeface="Times New Roman"/>
              </a:rPr>
              <a:t> fails;</a:t>
            </a:r>
            <a:r>
              <a:rPr sz="2000" dirty="0">
                <a:latin typeface="Times New Roman"/>
                <a:cs typeface="Times New Roman"/>
              </a:rPr>
              <a:t> only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</a:t>
            </a:r>
            <a:r>
              <a:rPr sz="2000" spc="-5" dirty="0">
                <a:latin typeface="Times New Roman"/>
                <a:cs typeface="Times New Roman"/>
              </a:rPr>
              <a:t> 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fected.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k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ac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 </a:t>
            </a:r>
            <a:r>
              <a:rPr sz="2000" spc="-5" dirty="0">
                <a:latin typeface="Times New Roman"/>
                <a:cs typeface="Times New Roman"/>
              </a:rPr>
              <a:t>fault identification and isolation.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5" dirty="0">
                <a:latin typeface="Times New Roman"/>
                <a:cs typeface="Times New Roman"/>
              </a:rPr>
              <a:t>long as </a:t>
            </a:r>
            <a:r>
              <a:rPr sz="2000" dirty="0">
                <a:latin typeface="Times New Roman"/>
                <a:cs typeface="Times New Roman"/>
              </a:rPr>
              <a:t> the hub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working, it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used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monitor link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problems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bypass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defective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6629" y="2011171"/>
            <a:ext cx="5405755" cy="235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another,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sends it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5" dirty="0">
                <a:latin typeface="Times New Roman"/>
                <a:cs typeface="Times New Roman"/>
              </a:rPr>
              <a:t>controller,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which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then</a:t>
            </a:r>
            <a:r>
              <a:rPr sz="2000" spc="-5" dirty="0">
                <a:latin typeface="Times New Roman"/>
                <a:cs typeface="Times New Roman"/>
              </a:rPr>
              <a:t> relays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 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6505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St</a:t>
            </a:r>
            <a:r>
              <a:rPr spc="-90" dirty="0"/>
              <a:t>a</a:t>
            </a:r>
            <a:r>
              <a:rPr dirty="0"/>
              <a:t>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0808" y="515493"/>
            <a:ext cx="8402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90" dirty="0"/>
              <a:t> </a:t>
            </a:r>
            <a:r>
              <a:rPr spc="-420" dirty="0"/>
              <a:t>T</a:t>
            </a:r>
            <a:r>
              <a:rPr spc="-185" dirty="0"/>
              <a:t>r</a:t>
            </a:r>
            <a:r>
              <a:rPr spc="-100" dirty="0"/>
              <a:t>ee</a:t>
            </a:r>
            <a:r>
              <a:rPr dirty="0"/>
              <a:t>/</a:t>
            </a:r>
            <a:r>
              <a:rPr spc="-240" dirty="0"/>
              <a:t> </a:t>
            </a:r>
            <a:r>
              <a:rPr spc="-105" dirty="0"/>
              <a:t>H</a:t>
            </a:r>
            <a:r>
              <a:rPr spc="-100" dirty="0"/>
              <a:t>ier</a:t>
            </a:r>
            <a:r>
              <a:rPr spc="-90" dirty="0"/>
              <a:t>a</a:t>
            </a:r>
            <a:r>
              <a:rPr spc="-185" dirty="0"/>
              <a:t>r</a:t>
            </a:r>
            <a:r>
              <a:rPr spc="-110" dirty="0"/>
              <a:t>c</a:t>
            </a:r>
            <a:r>
              <a:rPr spc="-100" dirty="0"/>
              <a:t>h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5755" cy="387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hierarchically,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  <a:tab pos="913130" algn="l"/>
                <a:tab pos="2027555" algn="l"/>
                <a:tab pos="2580640" algn="l"/>
                <a:tab pos="2978150" algn="l"/>
                <a:tab pos="3656965" algn="l"/>
                <a:tab pos="4377690" algn="l"/>
                <a:tab pos="5180965" algn="l"/>
              </a:tabLst>
            </a:pP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ree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y	has	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ast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hree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ls	</a:t>
            </a:r>
            <a:r>
              <a:rPr sz="2000" spc="-10" dirty="0">
                <a:latin typeface="Times New Roman"/>
                <a:cs typeface="Times New Roman"/>
              </a:rPr>
              <a:t>of  </a:t>
            </a:r>
            <a:r>
              <a:rPr sz="2000" spc="-15" dirty="0">
                <a:latin typeface="Times New Roman"/>
                <a:cs typeface="Times New Roman"/>
              </a:rPr>
              <a:t>hierarchy.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562610" algn="l"/>
                <a:tab pos="897890" algn="l"/>
                <a:tab pos="1304925" algn="l"/>
                <a:tab pos="2441575" algn="l"/>
                <a:tab pos="2821305" algn="l"/>
                <a:tab pos="3382645" algn="l"/>
                <a:tab pos="4450715" algn="l"/>
                <a:tab pos="498411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xt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</a:t>
            </a:r>
            <a:r>
              <a:rPr sz="2000" spc="-20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us	t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y	a</a:t>
            </a:r>
            <a:r>
              <a:rPr sz="2000" spc="-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	St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  </a:t>
            </a:r>
            <a:r>
              <a:rPr sz="2000" spc="-15" dirty="0"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best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if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workstations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situated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groups,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8650" y="2170316"/>
            <a:ext cx="4915998" cy="33985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281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6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 </a:t>
            </a:r>
            <a:r>
              <a:rPr sz="2000" spc="-5" dirty="0">
                <a:latin typeface="Times New Roman"/>
                <a:cs typeface="Times New Roman"/>
              </a:rPr>
              <a:t>allows more </a:t>
            </a:r>
            <a:r>
              <a:rPr sz="2000" dirty="0">
                <a:latin typeface="Times New Roman"/>
                <a:cs typeface="Times New Roman"/>
              </a:rPr>
              <a:t>devices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attached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single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central</a:t>
            </a:r>
            <a:r>
              <a:rPr sz="2000" dirty="0">
                <a:latin typeface="Times New Roman"/>
                <a:cs typeface="Times New Roman"/>
              </a:rPr>
              <a:t> hub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therefore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increase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signal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48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allows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isolate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prioritize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6629" y="2011171"/>
            <a:ext cx="5405120" cy="24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profoundly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root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node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collapses,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collapse.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64817" y="515493"/>
            <a:ext cx="82753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90" dirty="0"/>
              <a:t> </a:t>
            </a:r>
            <a:r>
              <a:rPr spc="-420" dirty="0"/>
              <a:t>T</a:t>
            </a:r>
            <a:r>
              <a:rPr spc="-185" dirty="0"/>
              <a:t>r</a:t>
            </a:r>
            <a:r>
              <a:rPr spc="-100" dirty="0"/>
              <a:t>ee/</a:t>
            </a:r>
            <a:r>
              <a:rPr spc="-105" dirty="0"/>
              <a:t>H</a:t>
            </a:r>
            <a:r>
              <a:rPr spc="-100" dirty="0"/>
              <a:t>i</a:t>
            </a:r>
            <a:r>
              <a:rPr spc="-110" dirty="0"/>
              <a:t>er</a:t>
            </a:r>
            <a:r>
              <a:rPr spc="-105" dirty="0"/>
              <a:t>a</a:t>
            </a:r>
            <a:r>
              <a:rPr spc="-190" dirty="0"/>
              <a:t>r</a:t>
            </a:r>
            <a:r>
              <a:rPr spc="-100" dirty="0"/>
              <a:t>c</a:t>
            </a:r>
            <a:r>
              <a:rPr spc="-114" dirty="0"/>
              <a:t>h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5917" y="515493"/>
            <a:ext cx="5916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M</a:t>
            </a:r>
            <a:r>
              <a:rPr spc="-95" dirty="0"/>
              <a:t>es</a:t>
            </a:r>
            <a:r>
              <a:rPr dirty="0"/>
              <a:t>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5755" cy="3481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  <a:tab pos="698500" algn="l"/>
                <a:tab pos="1138555" algn="l"/>
                <a:tab pos="1862455" algn="l"/>
                <a:tab pos="2304415" algn="l"/>
                <a:tab pos="3463290" algn="l"/>
                <a:tab pos="4046854" algn="l"/>
                <a:tab pos="4431030" algn="l"/>
                <a:tab pos="4871720" algn="l"/>
              </a:tabLst>
            </a:pPr>
            <a:r>
              <a:rPr sz="2000" dirty="0">
                <a:latin typeface="Times New Roman"/>
                <a:cs typeface="Times New Roman"/>
              </a:rPr>
              <a:t>All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n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des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onne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	wi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	a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l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o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  nodes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network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point-to-point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1123315" algn="l"/>
                <a:tab pos="2341245" algn="l"/>
                <a:tab pos="2997835" algn="l"/>
                <a:tab pos="3695065" algn="l"/>
                <a:tab pos="5095240" algn="l"/>
              </a:tabLst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sh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ogy	has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wo	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ques	for 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i.e.,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flooding.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(N-1)/2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5" dirty="0">
                <a:latin typeface="Times New Roman"/>
                <a:cs typeface="Times New Roman"/>
              </a:rPr>
              <a:t>No.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 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(N-1)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8188" y="2559165"/>
            <a:ext cx="4267926" cy="26380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28920" cy="294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1006475" algn="l"/>
                <a:tab pos="2275840" algn="l"/>
                <a:tab pos="2772410" algn="l"/>
                <a:tab pos="3241040" algn="l"/>
                <a:tab pos="4043679" algn="l"/>
                <a:tab pos="4399280" algn="l"/>
                <a:tab pos="5077460" algn="l"/>
              </a:tabLst>
            </a:pPr>
            <a:r>
              <a:rPr sz="2000" dirty="0">
                <a:latin typeface="Times New Roman"/>
                <a:cs typeface="Times New Roman"/>
              </a:rPr>
              <a:t>Every	c</a:t>
            </a:r>
            <a:r>
              <a:rPr sz="2000" spc="-10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nec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	has	the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bi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y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c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rry	</a:t>
            </a:r>
            <a:r>
              <a:rPr sz="2000" spc="-10" dirty="0">
                <a:latin typeface="Times New Roman"/>
                <a:cs typeface="Times New Roman"/>
              </a:rPr>
              <a:t>its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Topology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robust.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diagnose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faults.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Topology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security.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0205" y="2011171"/>
            <a:ext cx="5742305" cy="288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1042669" algn="l"/>
                <a:tab pos="2249805" algn="l"/>
                <a:tab pos="2654935" algn="l"/>
                <a:tab pos="4074160" algn="l"/>
                <a:tab pos="4508500" algn="l"/>
                <a:tab pos="5363845" algn="l"/>
              </a:tabLst>
            </a:pP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esh	</a:t>
            </a:r>
            <a:r>
              <a:rPr sz="2000" spc="-15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-10" dirty="0">
                <a:latin typeface="Times New Roman"/>
                <a:cs typeface="Times New Roman"/>
              </a:rPr>
              <a:t>lo</a:t>
            </a:r>
            <a:r>
              <a:rPr sz="2000" dirty="0">
                <a:latin typeface="Times New Roman"/>
                <a:cs typeface="Times New Roman"/>
              </a:rPr>
              <a:t>gy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hal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g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ll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configure.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678180" algn="l"/>
                <a:tab pos="1082040" algn="l"/>
                <a:tab pos="1543685" algn="l"/>
                <a:tab pos="2289175" algn="l"/>
                <a:tab pos="2751455" algn="l"/>
                <a:tab pos="3932554" algn="l"/>
                <a:tab pos="4535805" algn="l"/>
                <a:tab pos="5153025" algn="l"/>
              </a:tabLst>
            </a:pP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ll	the	n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des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	c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nn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ed	wi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	ea</a:t>
            </a:r>
            <a:r>
              <a:rPr sz="2000" spc="-2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	o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8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,  cabling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costly.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Bulk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essential.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45917" y="515493"/>
            <a:ext cx="5916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M</a:t>
            </a:r>
            <a:r>
              <a:rPr spc="-95" dirty="0"/>
              <a:t>es</a:t>
            </a:r>
            <a:r>
              <a:rPr dirty="0"/>
              <a:t>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5" dirty="0"/>
              <a:t>H</a:t>
            </a:r>
            <a:r>
              <a:rPr spc="-90" dirty="0"/>
              <a:t>y</a:t>
            </a:r>
            <a:r>
              <a:rPr spc="-100" dirty="0"/>
              <a:t>bri</a:t>
            </a:r>
            <a:r>
              <a:rPr dirty="0"/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6390" cy="289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985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  <a:tab pos="1583690" algn="l"/>
                <a:tab pos="1940560" algn="l"/>
                <a:tab pos="2466340" algn="l"/>
                <a:tab pos="2822575" algn="l"/>
                <a:tab pos="3489325" algn="l"/>
                <a:tab pos="4500880" algn="l"/>
                <a:tab pos="5180965" algn="l"/>
              </a:tabLst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t</a:t>
            </a:r>
            <a:r>
              <a:rPr sz="2000" spc="-15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	d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spc="-4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	t</a:t>
            </a:r>
            <a:r>
              <a:rPr sz="2000" spc="-1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0" dirty="0">
                <a:latin typeface="Times New Roman"/>
                <a:cs typeface="Times New Roman"/>
              </a:rPr>
              <a:t>of  </a:t>
            </a:r>
            <a:r>
              <a:rPr sz="2000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  <a:tab pos="611505" algn="l"/>
                <a:tab pos="993775" algn="l"/>
                <a:tab pos="1320165" algn="l"/>
                <a:tab pos="2294255" algn="l"/>
                <a:tab pos="2874645" algn="l"/>
                <a:tab pos="3905250" algn="l"/>
                <a:tab pos="506793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a	re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ble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sc</a:t>
            </a:r>
            <a:r>
              <a:rPr sz="2000" spc="-20" dirty="0">
                <a:latin typeface="Times New Roman"/>
                <a:cs typeface="Times New Roman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able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og</a:t>
            </a:r>
            <a:r>
              <a:rPr sz="2000" spc="-14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	but  </a:t>
            </a:r>
            <a:r>
              <a:rPr sz="2000" spc="-10" dirty="0">
                <a:latin typeface="Times New Roman"/>
                <a:cs typeface="Times New Roman"/>
              </a:rPr>
              <a:t>simultaneously,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costly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605155" algn="l"/>
                <a:tab pos="1644650" algn="l"/>
                <a:tab pos="2164715" algn="l"/>
                <a:tab pos="3005455" algn="l"/>
                <a:tab pos="3580765" algn="l"/>
                <a:tab pos="4660900" algn="l"/>
                <a:tab pos="5081905" algn="l"/>
              </a:tabLst>
            </a:pPr>
            <a:r>
              <a:rPr sz="2000" dirty="0">
                <a:latin typeface="Times New Roman"/>
                <a:cs typeface="Times New Roman"/>
              </a:rPr>
              <a:t>It	re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eri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de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eri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the  topologies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8960" y="1889420"/>
            <a:ext cx="5011813" cy="46987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3338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527685" algn="l"/>
                <a:tab pos="828040" algn="l"/>
                <a:tab pos="1410335" algn="l"/>
                <a:tab pos="1737995" algn="l"/>
                <a:tab pos="3138805" algn="l"/>
                <a:tab pos="3635375" algn="l"/>
                <a:tab pos="464121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ea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y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t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oubl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ho</a:t>
            </a:r>
            <a:r>
              <a:rPr sz="2000" dirty="0">
                <a:latin typeface="Times New Roman"/>
                <a:cs typeface="Times New Roman"/>
              </a:rPr>
              <a:t>ot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pr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des	s</a:t>
            </a:r>
            <a:r>
              <a:rPr sz="2000" spc="-20" dirty="0">
                <a:latin typeface="Times New Roman"/>
                <a:cs typeface="Times New Roman"/>
              </a:rPr>
              <a:t>im</a:t>
            </a:r>
            <a:r>
              <a:rPr sz="2000" dirty="0">
                <a:latin typeface="Times New Roman"/>
                <a:cs typeface="Times New Roman"/>
              </a:rPr>
              <a:t>ple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error-detecting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topology,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quite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effective.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scalable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since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size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greater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easily.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0205" y="2011171"/>
            <a:ext cx="5457190" cy="144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isn’t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costly, </a:t>
            </a:r>
            <a:r>
              <a:rPr sz="2000" spc="-5" dirty="0">
                <a:latin typeface="Times New Roman"/>
                <a:cs typeface="Times New Roman"/>
              </a:rPr>
              <a:t>as it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5" dirty="0"/>
              <a:t>H</a:t>
            </a:r>
            <a:r>
              <a:rPr spc="-90" dirty="0"/>
              <a:t>y</a:t>
            </a:r>
            <a:r>
              <a:rPr spc="-100" dirty="0"/>
              <a:t>bri</a:t>
            </a:r>
            <a:r>
              <a:rPr dirty="0"/>
              <a:t>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92883"/>
            <a:ext cx="6276340" cy="3455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https://www.javatpoint.com/types-of-computer-network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https://www.belden.com/blogs/network-types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https://www.geeksforgeeks.org/types-of-network-topology/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https://www.javatpoint.com/computer-network-topologies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https://www.youtube.com/watch?v=uSKdjjw5zow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https://www.youtube.com/watch?v=9BIN99rHOCQ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https://www.youtube.com/watch?v=0pMm_QxCg3I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8605" y="515493"/>
            <a:ext cx="2509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Refe</a:t>
            </a:r>
            <a:r>
              <a:rPr spc="-185" dirty="0"/>
              <a:t>r</a:t>
            </a:r>
            <a:r>
              <a:rPr spc="-110" dirty="0"/>
              <a:t>e</a:t>
            </a:r>
            <a:r>
              <a:rPr spc="-100" dirty="0"/>
              <a:t>n</a:t>
            </a:r>
            <a:r>
              <a:rPr spc="-110" dirty="0"/>
              <a:t>ce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1927</Words>
  <Application>Microsoft Office PowerPoint</Application>
  <PresentationFormat>Widescreen</PresentationFormat>
  <Paragraphs>197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Times New Roman</vt:lpstr>
      <vt:lpstr>Wingdings</vt:lpstr>
      <vt:lpstr>Office Theme</vt:lpstr>
      <vt:lpstr>Computer Networks: Devices, types, topologies</vt:lpstr>
      <vt:lpstr>Outline</vt:lpstr>
      <vt:lpstr>Networking devices</vt:lpstr>
      <vt:lpstr>Networking devices: NIC</vt:lpstr>
      <vt:lpstr>Networking devices: Repeater</vt:lpstr>
      <vt:lpstr>Networking devices: Hubs</vt:lpstr>
      <vt:lpstr>Networking devices: Switches</vt:lpstr>
      <vt:lpstr>Networking devices: Bridges</vt:lpstr>
      <vt:lpstr>Networking devices: Routers</vt:lpstr>
      <vt:lpstr>Networking devices: Gateways</vt:lpstr>
      <vt:lpstr>Networking devices: Firewall</vt:lpstr>
      <vt:lpstr>Network Types</vt:lpstr>
      <vt:lpstr>Network Types: PAN</vt:lpstr>
      <vt:lpstr>Network Types: LAN</vt:lpstr>
      <vt:lpstr>Network Types: MAN</vt:lpstr>
      <vt:lpstr>Network Types: WAN</vt:lpstr>
      <vt:lpstr>Network Topology</vt:lpstr>
      <vt:lpstr>Network Topology : Bus</vt:lpstr>
      <vt:lpstr>Network Topology: Ring</vt:lpstr>
      <vt:lpstr>Network Topology : Ring</vt:lpstr>
      <vt:lpstr>Network Topology : Star</vt:lpstr>
      <vt:lpstr>Network Topology : Star</vt:lpstr>
      <vt:lpstr>Network Topology : Tree/ Hierarchal</vt:lpstr>
      <vt:lpstr>Network Topology : Tree/Hierarchal</vt:lpstr>
      <vt:lpstr>Network Topology : Mesh</vt:lpstr>
      <vt:lpstr>Network Topology : Mesh</vt:lpstr>
      <vt:lpstr>Network Topology : Hybrid</vt:lpstr>
      <vt:lpstr>Network Topology : Hybrid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2</cp:revision>
  <dcterms:created xsi:type="dcterms:W3CDTF">2023-06-14T06:24:31Z</dcterms:created>
  <dcterms:modified xsi:type="dcterms:W3CDTF">2026-01-09T04:58:48Z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2023-06-14T00:00:00Z</vt:filetime>
  </property>
</Properties>
</file>