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9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64C1BC-ECFC-4D74-BA1E-111D6D14CDC1}" v="1" dt="2026-02-13T04:50:44.15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968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lshan Shrivastava" userId="7b16fef2-b446-424e-8912-a65858c037d0" providerId="ADAL" clId="{DF50F7AD-2934-41EF-BC34-9E402FD459E8}"/>
    <pc:docChg chg="custSel modSld">
      <pc:chgData name="Gulshan Shrivastava" userId="7b16fef2-b446-424e-8912-a65858c037d0" providerId="ADAL" clId="{DF50F7AD-2934-41EF-BC34-9E402FD459E8}" dt="2026-02-13T04:51:00.875" v="11" actId="20577"/>
      <pc:docMkLst>
        <pc:docMk/>
      </pc:docMkLst>
      <pc:sldChg chg="modSp mod">
        <pc:chgData name="Gulshan Shrivastava" userId="7b16fef2-b446-424e-8912-a65858c037d0" providerId="ADAL" clId="{DF50F7AD-2934-41EF-BC34-9E402FD459E8}" dt="2026-02-13T04:51:00.875" v="11" actId="20577"/>
        <pc:sldMkLst>
          <pc:docMk/>
          <pc:sldMk cId="0" sldId="268"/>
        </pc:sldMkLst>
        <pc:spChg chg="mod">
          <ac:chgData name="Gulshan Shrivastava" userId="7b16fef2-b446-424e-8912-a65858c037d0" providerId="ADAL" clId="{DF50F7AD-2934-41EF-BC34-9E402FD459E8}" dt="2026-02-13T04:51:00.875" v="11" actId="20577"/>
          <ac:spMkLst>
            <pc:docMk/>
            <pc:sldMk cId="0" sldId="268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2172" y="559765"/>
            <a:ext cx="10747654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8819" y="2604971"/>
            <a:ext cx="6543040" cy="3463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atevidyalay.com/stop-and-wait-arq-sliding-window-protocols/" TargetMode="External"/><Relationship Id="rId2" Type="http://schemas.openxmlformats.org/officeDocument/2006/relationships/hyperlink" Target="https://www.gatevidyalay.com/stop-and-wait-protocol-practice-problem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vHrvhqHvwW8" TargetMode="External"/><Relationship Id="rId5" Type="http://schemas.openxmlformats.org/officeDocument/2006/relationships/hyperlink" Target="https://www.youtube.com/watch?v=n09DfvemnTQ" TargetMode="External"/><Relationship Id="rId4" Type="http://schemas.openxmlformats.org/officeDocument/2006/relationships/hyperlink" Target="https://www.geeksforgeeks.org/stop-and-wait-arq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76427"/>
            <a:ext cx="12192000" cy="1028700"/>
          </a:xfrm>
          <a:custGeom>
            <a:avLst/>
            <a:gdLst/>
            <a:ahLst/>
            <a:cxnLst/>
            <a:rect l="l" t="t" r="r" b="b"/>
            <a:pathLst>
              <a:path w="12192000" h="1028700">
                <a:moveTo>
                  <a:pt x="12192000" y="0"/>
                </a:moveTo>
                <a:lnTo>
                  <a:pt x="0" y="0"/>
                </a:lnTo>
                <a:lnTo>
                  <a:pt x="0" y="1028700"/>
                </a:lnTo>
                <a:lnTo>
                  <a:pt x="12192000" y="10287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1238" y="543255"/>
            <a:ext cx="30613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Flow</a:t>
            </a:r>
            <a:r>
              <a:rPr sz="4400" b="1" spc="-2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4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Control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89098" y="5481929"/>
            <a:ext cx="7451725" cy="10496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algn="ctr">
              <a:lnSpc>
                <a:spcPts val="2590"/>
              </a:lnSpc>
              <a:spcBef>
                <a:spcPts val="425"/>
              </a:spcBef>
            </a:pPr>
            <a:r>
              <a:rPr sz="2400" b="1" dirty="0">
                <a:latin typeface="Times New Roman"/>
                <a:cs typeface="Times New Roman"/>
              </a:rPr>
              <a:t>School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Computer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Science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Engineering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Technology </a:t>
            </a:r>
            <a:r>
              <a:rPr sz="2400" b="1" dirty="0">
                <a:latin typeface="Times New Roman"/>
                <a:cs typeface="Times New Roman"/>
              </a:rPr>
              <a:t>Bennett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University</a:t>
            </a:r>
            <a:endParaRPr sz="2400">
              <a:latin typeface="Times New Roman"/>
              <a:cs typeface="Times New Roman"/>
            </a:endParaRPr>
          </a:p>
          <a:p>
            <a:pPr marL="2540" algn="ctr">
              <a:lnSpc>
                <a:spcPts val="2555"/>
              </a:lnSpc>
            </a:pPr>
            <a:r>
              <a:rPr sz="2400" b="1" dirty="0">
                <a:latin typeface="Times New Roman"/>
                <a:cs typeface="Times New Roman"/>
              </a:rPr>
              <a:t>Greater</a:t>
            </a:r>
            <a:r>
              <a:rPr sz="2400" b="1" spc="-10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Noida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–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201310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63311" y="2284476"/>
            <a:ext cx="1985772" cy="22890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2172" y="2944825"/>
            <a:ext cx="223710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spc="-10" dirty="0">
                <a:latin typeface="Times New Roman"/>
                <a:cs typeface="Times New Roman"/>
              </a:rPr>
              <a:t>Outline</a:t>
            </a:r>
            <a:endParaRPr sz="54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297927" y="746188"/>
            <a:ext cx="81915" cy="5452745"/>
            <a:chOff x="4297927" y="746188"/>
            <a:chExt cx="81915" cy="5452745"/>
          </a:xfrm>
        </p:grpSpPr>
        <p:sp>
          <p:nvSpPr>
            <p:cNvPr id="4" name="object 4"/>
            <p:cNvSpPr/>
            <p:nvPr/>
          </p:nvSpPr>
          <p:spPr>
            <a:xfrm>
              <a:off x="4312027" y="766699"/>
              <a:ext cx="46355" cy="5410835"/>
            </a:xfrm>
            <a:custGeom>
              <a:avLst/>
              <a:gdLst/>
              <a:ahLst/>
              <a:cxnLst/>
              <a:rect l="l" t="t" r="r" b="b"/>
              <a:pathLst>
                <a:path w="46354" h="5410835">
                  <a:moveTo>
                    <a:pt x="22863" y="0"/>
                  </a:moveTo>
                  <a:lnTo>
                    <a:pt x="19561" y="380"/>
                  </a:lnTo>
                  <a:lnTo>
                    <a:pt x="12322" y="635"/>
                  </a:lnTo>
                  <a:lnTo>
                    <a:pt x="15510" y="70714"/>
                  </a:lnTo>
                  <a:lnTo>
                    <a:pt x="17328" y="136905"/>
                  </a:lnTo>
                  <a:lnTo>
                    <a:pt x="17995" y="199491"/>
                  </a:lnTo>
                  <a:lnTo>
                    <a:pt x="17732" y="258755"/>
                  </a:lnTo>
                  <a:lnTo>
                    <a:pt x="16759" y="314980"/>
                  </a:lnTo>
                  <a:lnTo>
                    <a:pt x="15295" y="368451"/>
                  </a:lnTo>
                  <a:lnTo>
                    <a:pt x="10161" y="515162"/>
                  </a:lnTo>
                  <a:lnTo>
                    <a:pt x="8935" y="560443"/>
                  </a:lnTo>
                  <a:lnTo>
                    <a:pt x="8318" y="604386"/>
                  </a:lnTo>
                  <a:lnTo>
                    <a:pt x="8530" y="647273"/>
                  </a:lnTo>
                  <a:lnTo>
                    <a:pt x="9792" y="689387"/>
                  </a:lnTo>
                  <a:lnTo>
                    <a:pt x="12322" y="731012"/>
                  </a:lnTo>
                  <a:lnTo>
                    <a:pt x="15511" y="777252"/>
                  </a:lnTo>
                  <a:lnTo>
                    <a:pt x="18110" y="826306"/>
                  </a:lnTo>
                  <a:lnTo>
                    <a:pt x="20137" y="877669"/>
                  </a:lnTo>
                  <a:lnTo>
                    <a:pt x="21606" y="930837"/>
                  </a:lnTo>
                  <a:lnTo>
                    <a:pt x="22533" y="985304"/>
                  </a:lnTo>
                  <a:lnTo>
                    <a:pt x="22935" y="1040567"/>
                  </a:lnTo>
                  <a:lnTo>
                    <a:pt x="22825" y="1096121"/>
                  </a:lnTo>
                  <a:lnTo>
                    <a:pt x="22221" y="1151461"/>
                  </a:lnTo>
                  <a:lnTo>
                    <a:pt x="21138" y="1206082"/>
                  </a:lnTo>
                  <a:lnTo>
                    <a:pt x="19590" y="1259479"/>
                  </a:lnTo>
                  <a:lnTo>
                    <a:pt x="17595" y="1311149"/>
                  </a:lnTo>
                  <a:lnTo>
                    <a:pt x="15167" y="1360587"/>
                  </a:lnTo>
                  <a:lnTo>
                    <a:pt x="9011" y="1459459"/>
                  </a:lnTo>
                  <a:lnTo>
                    <a:pt x="6294" y="1509645"/>
                  </a:lnTo>
                  <a:lnTo>
                    <a:pt x="4195" y="1558471"/>
                  </a:lnTo>
                  <a:lnTo>
                    <a:pt x="2736" y="1606564"/>
                  </a:lnTo>
                  <a:lnTo>
                    <a:pt x="1940" y="1654551"/>
                  </a:lnTo>
                  <a:lnTo>
                    <a:pt x="1829" y="1703060"/>
                  </a:lnTo>
                  <a:lnTo>
                    <a:pt x="2424" y="1752716"/>
                  </a:lnTo>
                  <a:lnTo>
                    <a:pt x="3749" y="1804147"/>
                  </a:lnTo>
                  <a:lnTo>
                    <a:pt x="5825" y="1857980"/>
                  </a:lnTo>
                  <a:lnTo>
                    <a:pt x="8676" y="1914841"/>
                  </a:lnTo>
                  <a:lnTo>
                    <a:pt x="12322" y="1975358"/>
                  </a:lnTo>
                  <a:lnTo>
                    <a:pt x="14396" y="2018508"/>
                  </a:lnTo>
                  <a:lnTo>
                    <a:pt x="15187" y="2062010"/>
                  </a:lnTo>
                  <a:lnTo>
                    <a:pt x="14913" y="2105956"/>
                  </a:lnTo>
                  <a:lnTo>
                    <a:pt x="13787" y="2150439"/>
                  </a:lnTo>
                  <a:lnTo>
                    <a:pt x="12026" y="2195552"/>
                  </a:lnTo>
                  <a:lnTo>
                    <a:pt x="5083" y="2335593"/>
                  </a:lnTo>
                  <a:lnTo>
                    <a:pt x="2935" y="2384150"/>
                  </a:lnTo>
                  <a:lnTo>
                    <a:pt x="1227" y="2433800"/>
                  </a:lnTo>
                  <a:lnTo>
                    <a:pt x="177" y="2484636"/>
                  </a:lnTo>
                  <a:lnTo>
                    <a:pt x="0" y="2536749"/>
                  </a:lnTo>
                  <a:lnTo>
                    <a:pt x="910" y="2590233"/>
                  </a:lnTo>
                  <a:lnTo>
                    <a:pt x="3123" y="2645181"/>
                  </a:lnTo>
                  <a:lnTo>
                    <a:pt x="6856" y="2701684"/>
                  </a:lnTo>
                  <a:lnTo>
                    <a:pt x="17655" y="2817594"/>
                  </a:lnTo>
                  <a:lnTo>
                    <a:pt x="21021" y="2873018"/>
                  </a:lnTo>
                  <a:lnTo>
                    <a:pt x="22690" y="2926360"/>
                  </a:lnTo>
                  <a:lnTo>
                    <a:pt x="22931" y="2977870"/>
                  </a:lnTo>
                  <a:lnTo>
                    <a:pt x="22012" y="3027798"/>
                  </a:lnTo>
                  <a:lnTo>
                    <a:pt x="20203" y="3076396"/>
                  </a:lnTo>
                  <a:lnTo>
                    <a:pt x="17772" y="3123914"/>
                  </a:lnTo>
                  <a:lnTo>
                    <a:pt x="9443" y="3262492"/>
                  </a:lnTo>
                  <a:lnTo>
                    <a:pt x="7217" y="3308195"/>
                  </a:lnTo>
                  <a:lnTo>
                    <a:pt x="5715" y="3354071"/>
                  </a:lnTo>
                  <a:lnTo>
                    <a:pt x="5205" y="3400371"/>
                  </a:lnTo>
                  <a:lnTo>
                    <a:pt x="5957" y="3447344"/>
                  </a:lnTo>
                  <a:lnTo>
                    <a:pt x="8240" y="3495242"/>
                  </a:lnTo>
                  <a:lnTo>
                    <a:pt x="17331" y="3602576"/>
                  </a:lnTo>
                  <a:lnTo>
                    <a:pt x="20125" y="3655555"/>
                  </a:lnTo>
                  <a:lnTo>
                    <a:pt x="21078" y="3704219"/>
                  </a:lnTo>
                  <a:lnTo>
                    <a:pt x="20570" y="3749538"/>
                  </a:lnTo>
                  <a:lnTo>
                    <a:pt x="18975" y="3792478"/>
                  </a:lnTo>
                  <a:lnTo>
                    <a:pt x="16671" y="3834007"/>
                  </a:lnTo>
                  <a:lnTo>
                    <a:pt x="11442" y="3916703"/>
                  </a:lnTo>
                  <a:lnTo>
                    <a:pt x="9270" y="3959805"/>
                  </a:lnTo>
                  <a:lnTo>
                    <a:pt x="7895" y="4005367"/>
                  </a:lnTo>
                  <a:lnTo>
                    <a:pt x="7695" y="4054357"/>
                  </a:lnTo>
                  <a:lnTo>
                    <a:pt x="9045" y="4107741"/>
                  </a:lnTo>
                  <a:lnTo>
                    <a:pt x="15918" y="4227764"/>
                  </a:lnTo>
                  <a:lnTo>
                    <a:pt x="18118" y="4287997"/>
                  </a:lnTo>
                  <a:lnTo>
                    <a:pt x="19138" y="4347051"/>
                  </a:lnTo>
                  <a:lnTo>
                    <a:pt x="19196" y="4404790"/>
                  </a:lnTo>
                  <a:lnTo>
                    <a:pt x="18510" y="4461077"/>
                  </a:lnTo>
                  <a:lnTo>
                    <a:pt x="17297" y="4515776"/>
                  </a:lnTo>
                  <a:lnTo>
                    <a:pt x="12672" y="4668984"/>
                  </a:lnTo>
                  <a:lnTo>
                    <a:pt x="11526" y="4715970"/>
                  </a:lnTo>
                  <a:lnTo>
                    <a:pt x="10941" y="4760685"/>
                  </a:lnTo>
                  <a:lnTo>
                    <a:pt x="11134" y="4802995"/>
                  </a:lnTo>
                  <a:lnTo>
                    <a:pt x="13516" y="4887986"/>
                  </a:lnTo>
                  <a:lnTo>
                    <a:pt x="13219" y="4933081"/>
                  </a:lnTo>
                  <a:lnTo>
                    <a:pt x="11848" y="4978520"/>
                  </a:lnTo>
                  <a:lnTo>
                    <a:pt x="7556" y="5072308"/>
                  </a:lnTo>
                  <a:lnTo>
                    <a:pt x="5470" y="5121599"/>
                  </a:lnTo>
                  <a:lnTo>
                    <a:pt x="3979" y="5173114"/>
                  </a:lnTo>
                  <a:lnTo>
                    <a:pt x="3501" y="5227325"/>
                  </a:lnTo>
                  <a:lnTo>
                    <a:pt x="4455" y="5284702"/>
                  </a:lnTo>
                  <a:lnTo>
                    <a:pt x="7256" y="5345715"/>
                  </a:lnTo>
                  <a:lnTo>
                    <a:pt x="12322" y="5410835"/>
                  </a:lnTo>
                  <a:lnTo>
                    <a:pt x="18037" y="5410111"/>
                  </a:lnTo>
                  <a:lnTo>
                    <a:pt x="25149" y="5410149"/>
                  </a:lnTo>
                  <a:lnTo>
                    <a:pt x="30610" y="5410835"/>
                  </a:lnTo>
                  <a:lnTo>
                    <a:pt x="29400" y="5366139"/>
                  </a:lnTo>
                  <a:lnTo>
                    <a:pt x="28650" y="5319141"/>
                  </a:lnTo>
                  <a:lnTo>
                    <a:pt x="28300" y="5270163"/>
                  </a:lnTo>
                  <a:lnTo>
                    <a:pt x="28291" y="5219531"/>
                  </a:lnTo>
                  <a:lnTo>
                    <a:pt x="29058" y="5114594"/>
                  </a:lnTo>
                  <a:lnTo>
                    <a:pt x="33348" y="4793725"/>
                  </a:lnTo>
                  <a:lnTo>
                    <a:pt x="33852" y="4693381"/>
                  </a:lnTo>
                  <a:lnTo>
                    <a:pt x="33662" y="4645906"/>
                  </a:lnTo>
                  <a:lnTo>
                    <a:pt x="33098" y="4600660"/>
                  </a:lnTo>
                  <a:lnTo>
                    <a:pt x="32101" y="4557967"/>
                  </a:lnTo>
                  <a:lnTo>
                    <a:pt x="30610" y="4518152"/>
                  </a:lnTo>
                  <a:lnTo>
                    <a:pt x="28492" y="4469684"/>
                  </a:lnTo>
                  <a:lnTo>
                    <a:pt x="26959" y="4428990"/>
                  </a:lnTo>
                  <a:lnTo>
                    <a:pt x="25949" y="4394165"/>
                  </a:lnTo>
                  <a:lnTo>
                    <a:pt x="25398" y="4363307"/>
                  </a:lnTo>
                  <a:lnTo>
                    <a:pt x="25241" y="4334513"/>
                  </a:lnTo>
                  <a:lnTo>
                    <a:pt x="25417" y="4305879"/>
                  </a:lnTo>
                  <a:lnTo>
                    <a:pt x="29054" y="4098512"/>
                  </a:lnTo>
                  <a:lnTo>
                    <a:pt x="30610" y="3950080"/>
                  </a:lnTo>
                  <a:lnTo>
                    <a:pt x="30827" y="3881697"/>
                  </a:lnTo>
                  <a:lnTo>
                    <a:pt x="30501" y="3819105"/>
                  </a:lnTo>
                  <a:lnTo>
                    <a:pt x="29743" y="3761617"/>
                  </a:lnTo>
                  <a:lnTo>
                    <a:pt x="28664" y="3708544"/>
                  </a:lnTo>
                  <a:lnTo>
                    <a:pt x="22283" y="3485330"/>
                  </a:lnTo>
                  <a:lnTo>
                    <a:pt x="21580" y="3444299"/>
                  </a:lnTo>
                  <a:lnTo>
                    <a:pt x="21325" y="3402867"/>
                  </a:lnTo>
                  <a:lnTo>
                    <a:pt x="21627" y="3360346"/>
                  </a:lnTo>
                  <a:lnTo>
                    <a:pt x="22597" y="3316047"/>
                  </a:lnTo>
                  <a:lnTo>
                    <a:pt x="24344" y="3269282"/>
                  </a:lnTo>
                  <a:lnTo>
                    <a:pt x="26979" y="3219363"/>
                  </a:lnTo>
                  <a:lnTo>
                    <a:pt x="35653" y="3094070"/>
                  </a:lnTo>
                  <a:lnTo>
                    <a:pt x="39686" y="3028163"/>
                  </a:lnTo>
                  <a:lnTo>
                    <a:pt x="42737" y="2967267"/>
                  </a:lnTo>
                  <a:lnTo>
                    <a:pt x="44834" y="2910769"/>
                  </a:lnTo>
                  <a:lnTo>
                    <a:pt x="46006" y="2858054"/>
                  </a:lnTo>
                  <a:lnTo>
                    <a:pt x="46279" y="2808509"/>
                  </a:lnTo>
                  <a:lnTo>
                    <a:pt x="45682" y="2761520"/>
                  </a:lnTo>
                  <a:lnTo>
                    <a:pt x="44242" y="2716473"/>
                  </a:lnTo>
                  <a:lnTo>
                    <a:pt x="41987" y="2672754"/>
                  </a:lnTo>
                  <a:lnTo>
                    <a:pt x="38945" y="2629750"/>
                  </a:lnTo>
                  <a:lnTo>
                    <a:pt x="35143" y="2586846"/>
                  </a:lnTo>
                  <a:lnTo>
                    <a:pt x="30610" y="2543429"/>
                  </a:lnTo>
                  <a:lnTo>
                    <a:pt x="26691" y="2501168"/>
                  </a:lnTo>
                  <a:lnTo>
                    <a:pt x="24507" y="2461314"/>
                  </a:lnTo>
                  <a:lnTo>
                    <a:pt x="23752" y="2422622"/>
                  </a:lnTo>
                  <a:lnTo>
                    <a:pt x="24119" y="2383846"/>
                  </a:lnTo>
                  <a:lnTo>
                    <a:pt x="25301" y="2343742"/>
                  </a:lnTo>
                  <a:lnTo>
                    <a:pt x="28882" y="2254570"/>
                  </a:lnTo>
                  <a:lnTo>
                    <a:pt x="30667" y="2203012"/>
                  </a:lnTo>
                  <a:lnTo>
                    <a:pt x="32039" y="2145147"/>
                  </a:lnTo>
                  <a:lnTo>
                    <a:pt x="32692" y="2079729"/>
                  </a:lnTo>
                  <a:lnTo>
                    <a:pt x="32318" y="2005513"/>
                  </a:lnTo>
                  <a:lnTo>
                    <a:pt x="28975" y="1850058"/>
                  </a:lnTo>
                  <a:lnTo>
                    <a:pt x="27969" y="1780187"/>
                  </a:lnTo>
                  <a:lnTo>
                    <a:pt x="27502" y="1711958"/>
                  </a:lnTo>
                  <a:lnTo>
                    <a:pt x="27481" y="1645691"/>
                  </a:lnTo>
                  <a:lnTo>
                    <a:pt x="27816" y="1581700"/>
                  </a:lnTo>
                  <a:lnTo>
                    <a:pt x="28416" y="1520303"/>
                  </a:lnTo>
                  <a:lnTo>
                    <a:pt x="31626" y="1306999"/>
                  </a:lnTo>
                  <a:lnTo>
                    <a:pt x="32439" y="1224154"/>
                  </a:lnTo>
                  <a:lnTo>
                    <a:pt x="32328" y="1189792"/>
                  </a:lnTo>
                  <a:lnTo>
                    <a:pt x="31748" y="1160561"/>
                  </a:lnTo>
                  <a:lnTo>
                    <a:pt x="30610" y="1136777"/>
                  </a:lnTo>
                  <a:lnTo>
                    <a:pt x="29451" y="1103560"/>
                  </a:lnTo>
                  <a:lnTo>
                    <a:pt x="29964" y="1066682"/>
                  </a:lnTo>
                  <a:lnTo>
                    <a:pt x="31619" y="1025999"/>
                  </a:lnTo>
                  <a:lnTo>
                    <a:pt x="36230" y="932656"/>
                  </a:lnTo>
                  <a:lnTo>
                    <a:pt x="38127" y="879711"/>
                  </a:lnTo>
                  <a:lnTo>
                    <a:pt x="39044" y="822396"/>
                  </a:lnTo>
                  <a:lnTo>
                    <a:pt x="38450" y="760568"/>
                  </a:lnTo>
                  <a:lnTo>
                    <a:pt x="35816" y="694086"/>
                  </a:lnTo>
                  <a:lnTo>
                    <a:pt x="30610" y="622808"/>
                  </a:lnTo>
                  <a:lnTo>
                    <a:pt x="26036" y="564387"/>
                  </a:lnTo>
                  <a:lnTo>
                    <a:pt x="23237" y="511192"/>
                  </a:lnTo>
                  <a:lnTo>
                    <a:pt x="21931" y="462014"/>
                  </a:lnTo>
                  <a:lnTo>
                    <a:pt x="21833" y="415642"/>
                  </a:lnTo>
                  <a:lnTo>
                    <a:pt x="22662" y="370869"/>
                  </a:lnTo>
                  <a:lnTo>
                    <a:pt x="24133" y="326485"/>
                  </a:lnTo>
                  <a:lnTo>
                    <a:pt x="27873" y="234046"/>
                  </a:lnTo>
                  <a:lnTo>
                    <a:pt x="29575" y="183574"/>
                  </a:lnTo>
                  <a:lnTo>
                    <a:pt x="30787" y="128654"/>
                  </a:lnTo>
                  <a:lnTo>
                    <a:pt x="31227" y="68077"/>
                  </a:lnTo>
                  <a:lnTo>
                    <a:pt x="30610" y="635"/>
                  </a:lnTo>
                  <a:lnTo>
                    <a:pt x="22863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18565" y="766826"/>
              <a:ext cx="40640" cy="5411470"/>
            </a:xfrm>
            <a:custGeom>
              <a:avLst/>
              <a:gdLst/>
              <a:ahLst/>
              <a:cxnLst/>
              <a:rect l="l" t="t" r="r" b="b"/>
              <a:pathLst>
                <a:path w="40639" h="5411470">
                  <a:moveTo>
                    <a:pt x="24072" y="508"/>
                  </a:moveTo>
                  <a:lnTo>
                    <a:pt x="28649" y="44885"/>
                  </a:lnTo>
                  <a:lnTo>
                    <a:pt x="32218" y="89371"/>
                  </a:lnTo>
                  <a:lnTo>
                    <a:pt x="34810" y="134414"/>
                  </a:lnTo>
                  <a:lnTo>
                    <a:pt x="36455" y="180461"/>
                  </a:lnTo>
                  <a:lnTo>
                    <a:pt x="37185" y="227961"/>
                  </a:lnTo>
                  <a:lnTo>
                    <a:pt x="37031" y="277363"/>
                  </a:lnTo>
                  <a:lnTo>
                    <a:pt x="36022" y="329114"/>
                  </a:lnTo>
                  <a:lnTo>
                    <a:pt x="34192" y="383662"/>
                  </a:lnTo>
                  <a:lnTo>
                    <a:pt x="31569" y="441457"/>
                  </a:lnTo>
                  <a:lnTo>
                    <a:pt x="28185" y="502947"/>
                  </a:lnTo>
                  <a:lnTo>
                    <a:pt x="24072" y="568578"/>
                  </a:lnTo>
                  <a:lnTo>
                    <a:pt x="21148" y="621140"/>
                  </a:lnTo>
                  <a:lnTo>
                    <a:pt x="19293" y="672405"/>
                  </a:lnTo>
                  <a:lnTo>
                    <a:pt x="18354" y="722682"/>
                  </a:lnTo>
                  <a:lnTo>
                    <a:pt x="18174" y="772281"/>
                  </a:lnTo>
                  <a:lnTo>
                    <a:pt x="18599" y="821511"/>
                  </a:lnTo>
                  <a:lnTo>
                    <a:pt x="19473" y="870680"/>
                  </a:lnTo>
                  <a:lnTo>
                    <a:pt x="20643" y="920099"/>
                  </a:lnTo>
                  <a:lnTo>
                    <a:pt x="21953" y="970075"/>
                  </a:lnTo>
                  <a:lnTo>
                    <a:pt x="23247" y="1020918"/>
                  </a:lnTo>
                  <a:lnTo>
                    <a:pt x="24372" y="1072937"/>
                  </a:lnTo>
                  <a:lnTo>
                    <a:pt x="25172" y="1126441"/>
                  </a:lnTo>
                  <a:lnTo>
                    <a:pt x="25492" y="1181740"/>
                  </a:lnTo>
                  <a:lnTo>
                    <a:pt x="25177" y="1239141"/>
                  </a:lnTo>
                  <a:lnTo>
                    <a:pt x="24072" y="1298956"/>
                  </a:lnTo>
                  <a:lnTo>
                    <a:pt x="22617" y="1365600"/>
                  </a:lnTo>
                  <a:lnTo>
                    <a:pt x="21797" y="1424021"/>
                  </a:lnTo>
                  <a:lnTo>
                    <a:pt x="21500" y="1475876"/>
                  </a:lnTo>
                  <a:lnTo>
                    <a:pt x="21617" y="1522828"/>
                  </a:lnTo>
                  <a:lnTo>
                    <a:pt x="22035" y="1566536"/>
                  </a:lnTo>
                  <a:lnTo>
                    <a:pt x="22643" y="1608661"/>
                  </a:lnTo>
                  <a:lnTo>
                    <a:pt x="23331" y="1650862"/>
                  </a:lnTo>
                  <a:lnTo>
                    <a:pt x="23987" y="1694800"/>
                  </a:lnTo>
                  <a:lnTo>
                    <a:pt x="24501" y="1742136"/>
                  </a:lnTo>
                  <a:lnTo>
                    <a:pt x="24760" y="1794529"/>
                  </a:lnTo>
                  <a:lnTo>
                    <a:pt x="24654" y="1853640"/>
                  </a:lnTo>
                  <a:lnTo>
                    <a:pt x="24072" y="1921128"/>
                  </a:lnTo>
                  <a:lnTo>
                    <a:pt x="23731" y="1996679"/>
                  </a:lnTo>
                  <a:lnTo>
                    <a:pt x="24376" y="2066046"/>
                  </a:lnTo>
                  <a:lnTo>
                    <a:pt x="25700" y="2129698"/>
                  </a:lnTo>
                  <a:lnTo>
                    <a:pt x="27398" y="2188101"/>
                  </a:lnTo>
                  <a:lnTo>
                    <a:pt x="29164" y="2241722"/>
                  </a:lnTo>
                  <a:lnTo>
                    <a:pt x="30693" y="2291029"/>
                  </a:lnTo>
                  <a:lnTo>
                    <a:pt x="31678" y="2336489"/>
                  </a:lnTo>
                  <a:lnTo>
                    <a:pt x="31815" y="2378569"/>
                  </a:lnTo>
                  <a:lnTo>
                    <a:pt x="30796" y="2417736"/>
                  </a:lnTo>
                  <a:lnTo>
                    <a:pt x="28317" y="2454457"/>
                  </a:lnTo>
                  <a:lnTo>
                    <a:pt x="24072" y="2489200"/>
                  </a:lnTo>
                  <a:lnTo>
                    <a:pt x="21162" y="2517730"/>
                  </a:lnTo>
                  <a:lnTo>
                    <a:pt x="19913" y="2552994"/>
                  </a:lnTo>
                  <a:lnTo>
                    <a:pt x="20037" y="2594103"/>
                  </a:lnTo>
                  <a:lnTo>
                    <a:pt x="21246" y="2640167"/>
                  </a:lnTo>
                  <a:lnTo>
                    <a:pt x="23254" y="2690297"/>
                  </a:lnTo>
                  <a:lnTo>
                    <a:pt x="25773" y="2743604"/>
                  </a:lnTo>
                  <a:lnTo>
                    <a:pt x="28516" y="2799198"/>
                  </a:lnTo>
                  <a:lnTo>
                    <a:pt x="31197" y="2856190"/>
                  </a:lnTo>
                  <a:lnTo>
                    <a:pt x="33527" y="2913691"/>
                  </a:lnTo>
                  <a:lnTo>
                    <a:pt x="35220" y="2970812"/>
                  </a:lnTo>
                  <a:lnTo>
                    <a:pt x="35988" y="3026662"/>
                  </a:lnTo>
                  <a:lnTo>
                    <a:pt x="35545" y="3080353"/>
                  </a:lnTo>
                  <a:lnTo>
                    <a:pt x="33602" y="3130995"/>
                  </a:lnTo>
                  <a:lnTo>
                    <a:pt x="29874" y="3177700"/>
                  </a:lnTo>
                  <a:lnTo>
                    <a:pt x="24072" y="3219577"/>
                  </a:lnTo>
                  <a:lnTo>
                    <a:pt x="16861" y="3265540"/>
                  </a:lnTo>
                  <a:lnTo>
                    <a:pt x="11173" y="3313013"/>
                  </a:lnTo>
                  <a:lnTo>
                    <a:pt x="6919" y="3361858"/>
                  </a:lnTo>
                  <a:lnTo>
                    <a:pt x="4013" y="3411941"/>
                  </a:lnTo>
                  <a:lnTo>
                    <a:pt x="2367" y="3463124"/>
                  </a:lnTo>
                  <a:lnTo>
                    <a:pt x="1894" y="3515272"/>
                  </a:lnTo>
                  <a:lnTo>
                    <a:pt x="2505" y="3568247"/>
                  </a:lnTo>
                  <a:lnTo>
                    <a:pt x="4115" y="3621914"/>
                  </a:lnTo>
                  <a:lnTo>
                    <a:pt x="6635" y="3676136"/>
                  </a:lnTo>
                  <a:lnTo>
                    <a:pt x="9978" y="3730777"/>
                  </a:lnTo>
                  <a:lnTo>
                    <a:pt x="14057" y="3785701"/>
                  </a:lnTo>
                  <a:lnTo>
                    <a:pt x="18784" y="3840771"/>
                  </a:lnTo>
                  <a:lnTo>
                    <a:pt x="24072" y="3895852"/>
                  </a:lnTo>
                  <a:lnTo>
                    <a:pt x="29112" y="3951227"/>
                  </a:lnTo>
                  <a:lnTo>
                    <a:pt x="33179" y="4007085"/>
                  </a:lnTo>
                  <a:lnTo>
                    <a:pt x="36308" y="4063142"/>
                  </a:lnTo>
                  <a:lnTo>
                    <a:pt x="38537" y="4119113"/>
                  </a:lnTo>
                  <a:lnTo>
                    <a:pt x="39902" y="4174714"/>
                  </a:lnTo>
                  <a:lnTo>
                    <a:pt x="40438" y="4229662"/>
                  </a:lnTo>
                  <a:lnTo>
                    <a:pt x="40183" y="4283671"/>
                  </a:lnTo>
                  <a:lnTo>
                    <a:pt x="39173" y="4336459"/>
                  </a:lnTo>
                  <a:lnTo>
                    <a:pt x="37445" y="4387741"/>
                  </a:lnTo>
                  <a:lnTo>
                    <a:pt x="35034" y="4437232"/>
                  </a:lnTo>
                  <a:lnTo>
                    <a:pt x="31977" y="4484650"/>
                  </a:lnTo>
                  <a:lnTo>
                    <a:pt x="28311" y="4529709"/>
                  </a:lnTo>
                  <a:lnTo>
                    <a:pt x="24072" y="4572127"/>
                  </a:lnTo>
                  <a:lnTo>
                    <a:pt x="21076" y="4606014"/>
                  </a:lnTo>
                  <a:lnTo>
                    <a:pt x="18926" y="4644600"/>
                  </a:lnTo>
                  <a:lnTo>
                    <a:pt x="17529" y="4687330"/>
                  </a:lnTo>
                  <a:lnTo>
                    <a:pt x="16789" y="4733651"/>
                  </a:lnTo>
                  <a:lnTo>
                    <a:pt x="16613" y="4783010"/>
                  </a:lnTo>
                  <a:lnTo>
                    <a:pt x="16906" y="4834852"/>
                  </a:lnTo>
                  <a:lnTo>
                    <a:pt x="17574" y="4888624"/>
                  </a:lnTo>
                  <a:lnTo>
                    <a:pt x="18522" y="4943773"/>
                  </a:lnTo>
                  <a:lnTo>
                    <a:pt x="19655" y="4999745"/>
                  </a:lnTo>
                  <a:lnTo>
                    <a:pt x="20880" y="5055986"/>
                  </a:lnTo>
                  <a:lnTo>
                    <a:pt x="22102" y="5111942"/>
                  </a:lnTo>
                  <a:lnTo>
                    <a:pt x="23225" y="5167061"/>
                  </a:lnTo>
                  <a:lnTo>
                    <a:pt x="24157" y="5220788"/>
                  </a:lnTo>
                  <a:lnTo>
                    <a:pt x="24802" y="5272569"/>
                  </a:lnTo>
                  <a:lnTo>
                    <a:pt x="25065" y="5321852"/>
                  </a:lnTo>
                  <a:lnTo>
                    <a:pt x="24854" y="5368083"/>
                  </a:lnTo>
                  <a:lnTo>
                    <a:pt x="24072" y="5410708"/>
                  </a:lnTo>
                  <a:lnTo>
                    <a:pt x="17087" y="5411241"/>
                  </a:lnTo>
                  <a:lnTo>
                    <a:pt x="11245" y="5411444"/>
                  </a:lnTo>
                  <a:lnTo>
                    <a:pt x="5784" y="5410708"/>
                  </a:lnTo>
                  <a:lnTo>
                    <a:pt x="8103" y="5342661"/>
                  </a:lnTo>
                  <a:lnTo>
                    <a:pt x="8973" y="5284869"/>
                  </a:lnTo>
                  <a:lnTo>
                    <a:pt x="8724" y="5235008"/>
                  </a:lnTo>
                  <a:lnTo>
                    <a:pt x="7684" y="5190751"/>
                  </a:lnTo>
                  <a:lnTo>
                    <a:pt x="6179" y="5149775"/>
                  </a:lnTo>
                  <a:lnTo>
                    <a:pt x="4539" y="5109756"/>
                  </a:lnTo>
                  <a:lnTo>
                    <a:pt x="3091" y="5068368"/>
                  </a:lnTo>
                  <a:lnTo>
                    <a:pt x="2164" y="5023286"/>
                  </a:lnTo>
                  <a:lnTo>
                    <a:pt x="2085" y="4972187"/>
                  </a:lnTo>
                  <a:lnTo>
                    <a:pt x="3182" y="4912745"/>
                  </a:lnTo>
                  <a:lnTo>
                    <a:pt x="5784" y="4842637"/>
                  </a:lnTo>
                  <a:lnTo>
                    <a:pt x="9107" y="4763564"/>
                  </a:lnTo>
                  <a:lnTo>
                    <a:pt x="11502" y="4693379"/>
                  </a:lnTo>
                  <a:lnTo>
                    <a:pt x="13041" y="4631055"/>
                  </a:lnTo>
                  <a:lnTo>
                    <a:pt x="13794" y="4575565"/>
                  </a:lnTo>
                  <a:lnTo>
                    <a:pt x="13833" y="4525883"/>
                  </a:lnTo>
                  <a:lnTo>
                    <a:pt x="13227" y="4480982"/>
                  </a:lnTo>
                  <a:lnTo>
                    <a:pt x="12049" y="4439837"/>
                  </a:lnTo>
                  <a:lnTo>
                    <a:pt x="10368" y="4401420"/>
                  </a:lnTo>
                  <a:lnTo>
                    <a:pt x="8256" y="4364706"/>
                  </a:lnTo>
                  <a:lnTo>
                    <a:pt x="5784" y="4328668"/>
                  </a:lnTo>
                  <a:lnTo>
                    <a:pt x="4104" y="4298142"/>
                  </a:lnTo>
                  <a:lnTo>
                    <a:pt x="2798" y="4258945"/>
                  </a:lnTo>
                  <a:lnTo>
                    <a:pt x="1839" y="4212411"/>
                  </a:lnTo>
                  <a:lnTo>
                    <a:pt x="1197" y="4159877"/>
                  </a:lnTo>
                  <a:lnTo>
                    <a:pt x="842" y="4102677"/>
                  </a:lnTo>
                  <a:lnTo>
                    <a:pt x="746" y="4042148"/>
                  </a:lnTo>
                  <a:lnTo>
                    <a:pt x="879" y="3979624"/>
                  </a:lnTo>
                  <a:lnTo>
                    <a:pt x="1212" y="3916441"/>
                  </a:lnTo>
                  <a:lnTo>
                    <a:pt x="1716" y="3853935"/>
                  </a:lnTo>
                  <a:lnTo>
                    <a:pt x="2363" y="3793440"/>
                  </a:lnTo>
                  <a:lnTo>
                    <a:pt x="3122" y="3736293"/>
                  </a:lnTo>
                  <a:lnTo>
                    <a:pt x="3965" y="3683829"/>
                  </a:lnTo>
                  <a:lnTo>
                    <a:pt x="4862" y="3637383"/>
                  </a:lnTo>
                  <a:lnTo>
                    <a:pt x="5784" y="3598291"/>
                  </a:lnTo>
                  <a:lnTo>
                    <a:pt x="6420" y="3554362"/>
                  </a:lnTo>
                  <a:lnTo>
                    <a:pt x="6145" y="3511101"/>
                  </a:lnTo>
                  <a:lnTo>
                    <a:pt x="5221" y="3467771"/>
                  </a:lnTo>
                  <a:lnTo>
                    <a:pt x="3909" y="3423635"/>
                  </a:lnTo>
                  <a:lnTo>
                    <a:pt x="2469" y="3377956"/>
                  </a:lnTo>
                  <a:lnTo>
                    <a:pt x="1164" y="3329997"/>
                  </a:lnTo>
                  <a:lnTo>
                    <a:pt x="254" y="3279022"/>
                  </a:lnTo>
                  <a:lnTo>
                    <a:pt x="0" y="3224293"/>
                  </a:lnTo>
                  <a:lnTo>
                    <a:pt x="662" y="3165075"/>
                  </a:lnTo>
                  <a:lnTo>
                    <a:pt x="2504" y="3100629"/>
                  </a:lnTo>
                  <a:lnTo>
                    <a:pt x="5784" y="3030220"/>
                  </a:lnTo>
                  <a:lnTo>
                    <a:pt x="8423" y="2974530"/>
                  </a:lnTo>
                  <a:lnTo>
                    <a:pt x="10023" y="2922634"/>
                  </a:lnTo>
                  <a:lnTo>
                    <a:pt x="10742" y="2873719"/>
                  </a:lnTo>
                  <a:lnTo>
                    <a:pt x="10738" y="2826972"/>
                  </a:lnTo>
                  <a:lnTo>
                    <a:pt x="10170" y="2781580"/>
                  </a:lnTo>
                  <a:lnTo>
                    <a:pt x="9196" y="2736728"/>
                  </a:lnTo>
                  <a:lnTo>
                    <a:pt x="7975" y="2691606"/>
                  </a:lnTo>
                  <a:lnTo>
                    <a:pt x="6664" y="2645398"/>
                  </a:lnTo>
                  <a:lnTo>
                    <a:pt x="5422" y="2597293"/>
                  </a:lnTo>
                  <a:lnTo>
                    <a:pt x="4407" y="2546477"/>
                  </a:lnTo>
                  <a:lnTo>
                    <a:pt x="3777" y="2492137"/>
                  </a:lnTo>
                  <a:lnTo>
                    <a:pt x="3691" y="2433460"/>
                  </a:lnTo>
                  <a:lnTo>
                    <a:pt x="4308" y="2369633"/>
                  </a:lnTo>
                  <a:lnTo>
                    <a:pt x="5784" y="2299843"/>
                  </a:lnTo>
                  <a:lnTo>
                    <a:pt x="7244" y="2234025"/>
                  </a:lnTo>
                  <a:lnTo>
                    <a:pt x="8038" y="2172548"/>
                  </a:lnTo>
                  <a:lnTo>
                    <a:pt x="8271" y="2114856"/>
                  </a:lnTo>
                  <a:lnTo>
                    <a:pt x="8049" y="2060393"/>
                  </a:lnTo>
                  <a:lnTo>
                    <a:pt x="7477" y="2008603"/>
                  </a:lnTo>
                  <a:lnTo>
                    <a:pt x="6662" y="1958930"/>
                  </a:lnTo>
                  <a:lnTo>
                    <a:pt x="5708" y="1910817"/>
                  </a:lnTo>
                  <a:lnTo>
                    <a:pt x="4722" y="1863708"/>
                  </a:lnTo>
                  <a:lnTo>
                    <a:pt x="3809" y="1817048"/>
                  </a:lnTo>
                  <a:lnTo>
                    <a:pt x="3075" y="1770281"/>
                  </a:lnTo>
                  <a:lnTo>
                    <a:pt x="2625" y="1722849"/>
                  </a:lnTo>
                  <a:lnTo>
                    <a:pt x="2565" y="1674198"/>
                  </a:lnTo>
                  <a:lnTo>
                    <a:pt x="3002" y="1623770"/>
                  </a:lnTo>
                  <a:lnTo>
                    <a:pt x="4039" y="1571011"/>
                  </a:lnTo>
                  <a:lnTo>
                    <a:pt x="5784" y="1515364"/>
                  </a:lnTo>
                  <a:lnTo>
                    <a:pt x="8476" y="1446223"/>
                  </a:lnTo>
                  <a:lnTo>
                    <a:pt x="11129" y="1381700"/>
                  </a:lnTo>
                  <a:lnTo>
                    <a:pt x="13606" y="1321351"/>
                  </a:lnTo>
                  <a:lnTo>
                    <a:pt x="15775" y="1264736"/>
                  </a:lnTo>
                  <a:lnTo>
                    <a:pt x="17498" y="1211412"/>
                  </a:lnTo>
                  <a:lnTo>
                    <a:pt x="18643" y="1160938"/>
                  </a:lnTo>
                  <a:lnTo>
                    <a:pt x="19073" y="1112872"/>
                  </a:lnTo>
                  <a:lnTo>
                    <a:pt x="18653" y="1066771"/>
                  </a:lnTo>
                  <a:lnTo>
                    <a:pt x="17250" y="1022195"/>
                  </a:lnTo>
                  <a:lnTo>
                    <a:pt x="14727" y="978700"/>
                  </a:lnTo>
                  <a:lnTo>
                    <a:pt x="10950" y="935846"/>
                  </a:lnTo>
                  <a:lnTo>
                    <a:pt x="5784" y="893190"/>
                  </a:lnTo>
                  <a:lnTo>
                    <a:pt x="2616" y="861472"/>
                  </a:lnTo>
                  <a:lnTo>
                    <a:pt x="855" y="823743"/>
                  </a:lnTo>
                  <a:lnTo>
                    <a:pt x="307" y="780737"/>
                  </a:lnTo>
                  <a:lnTo>
                    <a:pt x="779" y="733186"/>
                  </a:lnTo>
                  <a:lnTo>
                    <a:pt x="2077" y="681823"/>
                  </a:lnTo>
                  <a:lnTo>
                    <a:pt x="4006" y="627379"/>
                  </a:lnTo>
                  <a:lnTo>
                    <a:pt x="6373" y="570589"/>
                  </a:lnTo>
                  <a:lnTo>
                    <a:pt x="8983" y="512184"/>
                  </a:lnTo>
                  <a:lnTo>
                    <a:pt x="11642" y="452897"/>
                  </a:lnTo>
                  <a:lnTo>
                    <a:pt x="14157" y="393461"/>
                  </a:lnTo>
                  <a:lnTo>
                    <a:pt x="16333" y="334608"/>
                  </a:lnTo>
                  <a:lnTo>
                    <a:pt x="17976" y="277071"/>
                  </a:lnTo>
                  <a:lnTo>
                    <a:pt x="18893" y="221583"/>
                  </a:lnTo>
                  <a:lnTo>
                    <a:pt x="18889" y="168875"/>
                  </a:lnTo>
                  <a:lnTo>
                    <a:pt x="17770" y="119681"/>
                  </a:lnTo>
                  <a:lnTo>
                    <a:pt x="15342" y="74734"/>
                  </a:lnTo>
                  <a:lnTo>
                    <a:pt x="11411" y="34765"/>
                  </a:lnTo>
                  <a:lnTo>
                    <a:pt x="5784" y="508"/>
                  </a:lnTo>
                  <a:lnTo>
                    <a:pt x="14801" y="0"/>
                  </a:lnTo>
                  <a:lnTo>
                    <a:pt x="18992" y="635"/>
                  </a:lnTo>
                  <a:lnTo>
                    <a:pt x="24072" y="508"/>
                  </a:lnTo>
                  <a:close/>
                </a:path>
              </a:pathLst>
            </a:custGeom>
            <a:ln w="4127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4641850" y="658113"/>
            <a:ext cx="6913880" cy="1691005"/>
            <a:chOff x="4641850" y="658113"/>
            <a:chExt cx="6913880" cy="1691005"/>
          </a:xfrm>
        </p:grpSpPr>
        <p:sp>
          <p:nvSpPr>
            <p:cNvPr id="7" name="object 7"/>
            <p:cNvSpPr/>
            <p:nvPr/>
          </p:nvSpPr>
          <p:spPr>
            <a:xfrm>
              <a:off x="4648200" y="1284731"/>
              <a:ext cx="6901180" cy="1057910"/>
            </a:xfrm>
            <a:custGeom>
              <a:avLst/>
              <a:gdLst/>
              <a:ahLst/>
              <a:cxnLst/>
              <a:rect l="l" t="t" r="r" b="b"/>
              <a:pathLst>
                <a:path w="6901180" h="1057910">
                  <a:moveTo>
                    <a:pt x="0" y="1057656"/>
                  </a:moveTo>
                  <a:lnTo>
                    <a:pt x="6900672" y="1057656"/>
                  </a:lnTo>
                  <a:lnTo>
                    <a:pt x="6900672" y="0"/>
                  </a:lnTo>
                  <a:lnTo>
                    <a:pt x="0" y="0"/>
                  </a:lnTo>
                  <a:lnTo>
                    <a:pt x="0" y="1057656"/>
                  </a:lnTo>
                  <a:close/>
                </a:path>
              </a:pathLst>
            </a:custGeom>
            <a:ln w="1270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92624" y="664463"/>
              <a:ext cx="4831080" cy="1240790"/>
            </a:xfrm>
            <a:custGeom>
              <a:avLst/>
              <a:gdLst/>
              <a:ahLst/>
              <a:cxnLst/>
              <a:rect l="l" t="t" r="r" b="b"/>
              <a:pathLst>
                <a:path w="4831080" h="1240789">
                  <a:moveTo>
                    <a:pt x="4624324" y="0"/>
                  </a:moveTo>
                  <a:lnTo>
                    <a:pt x="206755" y="0"/>
                  </a:lnTo>
                  <a:lnTo>
                    <a:pt x="159353" y="5461"/>
                  </a:lnTo>
                  <a:lnTo>
                    <a:pt x="115836" y="21017"/>
                  </a:lnTo>
                  <a:lnTo>
                    <a:pt x="77447" y="45426"/>
                  </a:lnTo>
                  <a:lnTo>
                    <a:pt x="45426" y="77447"/>
                  </a:lnTo>
                  <a:lnTo>
                    <a:pt x="21017" y="115836"/>
                  </a:lnTo>
                  <a:lnTo>
                    <a:pt x="5461" y="159353"/>
                  </a:lnTo>
                  <a:lnTo>
                    <a:pt x="0" y="206756"/>
                  </a:lnTo>
                  <a:lnTo>
                    <a:pt x="0" y="1033780"/>
                  </a:lnTo>
                  <a:lnTo>
                    <a:pt x="5461" y="1081182"/>
                  </a:lnTo>
                  <a:lnTo>
                    <a:pt x="21017" y="1124699"/>
                  </a:lnTo>
                  <a:lnTo>
                    <a:pt x="45426" y="1163088"/>
                  </a:lnTo>
                  <a:lnTo>
                    <a:pt x="77447" y="1195109"/>
                  </a:lnTo>
                  <a:lnTo>
                    <a:pt x="115836" y="1219518"/>
                  </a:lnTo>
                  <a:lnTo>
                    <a:pt x="159353" y="1235074"/>
                  </a:lnTo>
                  <a:lnTo>
                    <a:pt x="206755" y="1240536"/>
                  </a:lnTo>
                  <a:lnTo>
                    <a:pt x="4624324" y="1240536"/>
                  </a:lnTo>
                  <a:lnTo>
                    <a:pt x="4671726" y="1235074"/>
                  </a:lnTo>
                  <a:lnTo>
                    <a:pt x="4715243" y="1219518"/>
                  </a:lnTo>
                  <a:lnTo>
                    <a:pt x="4753632" y="1195109"/>
                  </a:lnTo>
                  <a:lnTo>
                    <a:pt x="4785653" y="1163088"/>
                  </a:lnTo>
                  <a:lnTo>
                    <a:pt x="4810062" y="1124699"/>
                  </a:lnTo>
                  <a:lnTo>
                    <a:pt x="4825618" y="1081182"/>
                  </a:lnTo>
                  <a:lnTo>
                    <a:pt x="4831080" y="1033780"/>
                  </a:lnTo>
                  <a:lnTo>
                    <a:pt x="4831080" y="206756"/>
                  </a:lnTo>
                  <a:lnTo>
                    <a:pt x="4825618" y="159353"/>
                  </a:lnTo>
                  <a:lnTo>
                    <a:pt x="4810062" y="115836"/>
                  </a:lnTo>
                  <a:lnTo>
                    <a:pt x="4785653" y="77447"/>
                  </a:lnTo>
                  <a:lnTo>
                    <a:pt x="4753632" y="45426"/>
                  </a:lnTo>
                  <a:lnTo>
                    <a:pt x="4715243" y="21017"/>
                  </a:lnTo>
                  <a:lnTo>
                    <a:pt x="4671726" y="5461"/>
                  </a:lnTo>
                  <a:lnTo>
                    <a:pt x="4624324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92624" y="664463"/>
              <a:ext cx="4831080" cy="1240790"/>
            </a:xfrm>
            <a:custGeom>
              <a:avLst/>
              <a:gdLst/>
              <a:ahLst/>
              <a:cxnLst/>
              <a:rect l="l" t="t" r="r" b="b"/>
              <a:pathLst>
                <a:path w="4831080" h="1240789">
                  <a:moveTo>
                    <a:pt x="0" y="206756"/>
                  </a:moveTo>
                  <a:lnTo>
                    <a:pt x="5461" y="159353"/>
                  </a:lnTo>
                  <a:lnTo>
                    <a:pt x="21017" y="115836"/>
                  </a:lnTo>
                  <a:lnTo>
                    <a:pt x="45426" y="77447"/>
                  </a:lnTo>
                  <a:lnTo>
                    <a:pt x="77447" y="45426"/>
                  </a:lnTo>
                  <a:lnTo>
                    <a:pt x="115836" y="21017"/>
                  </a:lnTo>
                  <a:lnTo>
                    <a:pt x="159353" y="5461"/>
                  </a:lnTo>
                  <a:lnTo>
                    <a:pt x="206755" y="0"/>
                  </a:lnTo>
                  <a:lnTo>
                    <a:pt x="4624324" y="0"/>
                  </a:lnTo>
                  <a:lnTo>
                    <a:pt x="4671726" y="5461"/>
                  </a:lnTo>
                  <a:lnTo>
                    <a:pt x="4715243" y="21017"/>
                  </a:lnTo>
                  <a:lnTo>
                    <a:pt x="4753632" y="45426"/>
                  </a:lnTo>
                  <a:lnTo>
                    <a:pt x="4785653" y="77447"/>
                  </a:lnTo>
                  <a:lnTo>
                    <a:pt x="4810062" y="115836"/>
                  </a:lnTo>
                  <a:lnTo>
                    <a:pt x="4825618" y="159353"/>
                  </a:lnTo>
                  <a:lnTo>
                    <a:pt x="4831080" y="206756"/>
                  </a:lnTo>
                  <a:lnTo>
                    <a:pt x="4831080" y="1033780"/>
                  </a:lnTo>
                  <a:lnTo>
                    <a:pt x="4825618" y="1081182"/>
                  </a:lnTo>
                  <a:lnTo>
                    <a:pt x="4810062" y="1124699"/>
                  </a:lnTo>
                  <a:lnTo>
                    <a:pt x="4785653" y="1163088"/>
                  </a:lnTo>
                  <a:lnTo>
                    <a:pt x="4753632" y="1195109"/>
                  </a:lnTo>
                  <a:lnTo>
                    <a:pt x="4715243" y="1219518"/>
                  </a:lnTo>
                  <a:lnTo>
                    <a:pt x="4671726" y="1235074"/>
                  </a:lnTo>
                  <a:lnTo>
                    <a:pt x="4624324" y="1240536"/>
                  </a:lnTo>
                  <a:lnTo>
                    <a:pt x="206755" y="1240536"/>
                  </a:lnTo>
                  <a:lnTo>
                    <a:pt x="159353" y="1235074"/>
                  </a:lnTo>
                  <a:lnTo>
                    <a:pt x="115836" y="1219518"/>
                  </a:lnTo>
                  <a:lnTo>
                    <a:pt x="77447" y="1195109"/>
                  </a:lnTo>
                  <a:lnTo>
                    <a:pt x="45426" y="1163088"/>
                  </a:lnTo>
                  <a:lnTo>
                    <a:pt x="21017" y="1124699"/>
                  </a:lnTo>
                  <a:lnTo>
                    <a:pt x="5461" y="1081182"/>
                  </a:lnTo>
                  <a:lnTo>
                    <a:pt x="0" y="1033780"/>
                  </a:lnTo>
                  <a:lnTo>
                    <a:pt x="0" y="20675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224017" y="888949"/>
            <a:ext cx="143319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10" dirty="0">
                <a:solidFill>
                  <a:srgbClr val="FFFFFF"/>
                </a:solidFill>
                <a:latin typeface="Calibri"/>
                <a:cs typeface="Calibri"/>
              </a:rPr>
              <a:t>Delays</a:t>
            </a:r>
            <a:endParaRPr sz="42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641850" y="2563114"/>
            <a:ext cx="6913880" cy="1691005"/>
            <a:chOff x="4641850" y="2563114"/>
            <a:chExt cx="6913880" cy="1691005"/>
          </a:xfrm>
        </p:grpSpPr>
        <p:sp>
          <p:nvSpPr>
            <p:cNvPr id="12" name="object 12"/>
            <p:cNvSpPr/>
            <p:nvPr/>
          </p:nvSpPr>
          <p:spPr>
            <a:xfrm>
              <a:off x="4648200" y="3189732"/>
              <a:ext cx="6901180" cy="1057910"/>
            </a:xfrm>
            <a:custGeom>
              <a:avLst/>
              <a:gdLst/>
              <a:ahLst/>
              <a:cxnLst/>
              <a:rect l="l" t="t" r="r" b="b"/>
              <a:pathLst>
                <a:path w="6901180" h="1057910">
                  <a:moveTo>
                    <a:pt x="0" y="1057656"/>
                  </a:moveTo>
                  <a:lnTo>
                    <a:pt x="6900672" y="1057656"/>
                  </a:lnTo>
                  <a:lnTo>
                    <a:pt x="6900672" y="0"/>
                  </a:lnTo>
                  <a:lnTo>
                    <a:pt x="0" y="0"/>
                  </a:lnTo>
                  <a:lnTo>
                    <a:pt x="0" y="1057656"/>
                  </a:lnTo>
                  <a:close/>
                </a:path>
              </a:pathLst>
            </a:custGeom>
            <a:ln w="12700">
              <a:solidFill>
                <a:srgbClr val="4DC5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92624" y="2569464"/>
              <a:ext cx="4831080" cy="1240790"/>
            </a:xfrm>
            <a:custGeom>
              <a:avLst/>
              <a:gdLst/>
              <a:ahLst/>
              <a:cxnLst/>
              <a:rect l="l" t="t" r="r" b="b"/>
              <a:pathLst>
                <a:path w="4831080" h="1240789">
                  <a:moveTo>
                    <a:pt x="4624324" y="0"/>
                  </a:moveTo>
                  <a:lnTo>
                    <a:pt x="206755" y="0"/>
                  </a:lnTo>
                  <a:lnTo>
                    <a:pt x="159353" y="5461"/>
                  </a:lnTo>
                  <a:lnTo>
                    <a:pt x="115836" y="21017"/>
                  </a:lnTo>
                  <a:lnTo>
                    <a:pt x="77447" y="45426"/>
                  </a:lnTo>
                  <a:lnTo>
                    <a:pt x="45426" y="77447"/>
                  </a:lnTo>
                  <a:lnTo>
                    <a:pt x="21017" y="115836"/>
                  </a:lnTo>
                  <a:lnTo>
                    <a:pt x="5461" y="159353"/>
                  </a:lnTo>
                  <a:lnTo>
                    <a:pt x="0" y="206756"/>
                  </a:lnTo>
                  <a:lnTo>
                    <a:pt x="0" y="1033780"/>
                  </a:lnTo>
                  <a:lnTo>
                    <a:pt x="5461" y="1081182"/>
                  </a:lnTo>
                  <a:lnTo>
                    <a:pt x="21017" y="1124699"/>
                  </a:lnTo>
                  <a:lnTo>
                    <a:pt x="45426" y="1163088"/>
                  </a:lnTo>
                  <a:lnTo>
                    <a:pt x="77447" y="1195109"/>
                  </a:lnTo>
                  <a:lnTo>
                    <a:pt x="115836" y="1219518"/>
                  </a:lnTo>
                  <a:lnTo>
                    <a:pt x="159353" y="1235074"/>
                  </a:lnTo>
                  <a:lnTo>
                    <a:pt x="206755" y="1240536"/>
                  </a:lnTo>
                  <a:lnTo>
                    <a:pt x="4624324" y="1240536"/>
                  </a:lnTo>
                  <a:lnTo>
                    <a:pt x="4671726" y="1235074"/>
                  </a:lnTo>
                  <a:lnTo>
                    <a:pt x="4715243" y="1219518"/>
                  </a:lnTo>
                  <a:lnTo>
                    <a:pt x="4753632" y="1195109"/>
                  </a:lnTo>
                  <a:lnTo>
                    <a:pt x="4785653" y="1163088"/>
                  </a:lnTo>
                  <a:lnTo>
                    <a:pt x="4810062" y="1124699"/>
                  </a:lnTo>
                  <a:lnTo>
                    <a:pt x="4825618" y="1081182"/>
                  </a:lnTo>
                  <a:lnTo>
                    <a:pt x="4831080" y="1033780"/>
                  </a:lnTo>
                  <a:lnTo>
                    <a:pt x="4831080" y="206756"/>
                  </a:lnTo>
                  <a:lnTo>
                    <a:pt x="4825618" y="159353"/>
                  </a:lnTo>
                  <a:lnTo>
                    <a:pt x="4810062" y="115836"/>
                  </a:lnTo>
                  <a:lnTo>
                    <a:pt x="4785653" y="77447"/>
                  </a:lnTo>
                  <a:lnTo>
                    <a:pt x="4753632" y="45426"/>
                  </a:lnTo>
                  <a:lnTo>
                    <a:pt x="4715243" y="21017"/>
                  </a:lnTo>
                  <a:lnTo>
                    <a:pt x="4671726" y="5461"/>
                  </a:lnTo>
                  <a:lnTo>
                    <a:pt x="4624324" y="0"/>
                  </a:lnTo>
                  <a:close/>
                </a:path>
              </a:pathLst>
            </a:custGeom>
            <a:solidFill>
              <a:srgbClr val="4DC5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992624" y="2569464"/>
              <a:ext cx="4831080" cy="1240790"/>
            </a:xfrm>
            <a:custGeom>
              <a:avLst/>
              <a:gdLst/>
              <a:ahLst/>
              <a:cxnLst/>
              <a:rect l="l" t="t" r="r" b="b"/>
              <a:pathLst>
                <a:path w="4831080" h="1240789">
                  <a:moveTo>
                    <a:pt x="0" y="206756"/>
                  </a:moveTo>
                  <a:lnTo>
                    <a:pt x="5461" y="159353"/>
                  </a:lnTo>
                  <a:lnTo>
                    <a:pt x="21017" y="115836"/>
                  </a:lnTo>
                  <a:lnTo>
                    <a:pt x="45426" y="77447"/>
                  </a:lnTo>
                  <a:lnTo>
                    <a:pt x="77447" y="45426"/>
                  </a:lnTo>
                  <a:lnTo>
                    <a:pt x="115836" y="21017"/>
                  </a:lnTo>
                  <a:lnTo>
                    <a:pt x="159353" y="5461"/>
                  </a:lnTo>
                  <a:lnTo>
                    <a:pt x="206755" y="0"/>
                  </a:lnTo>
                  <a:lnTo>
                    <a:pt x="4624324" y="0"/>
                  </a:lnTo>
                  <a:lnTo>
                    <a:pt x="4671726" y="5461"/>
                  </a:lnTo>
                  <a:lnTo>
                    <a:pt x="4715243" y="21017"/>
                  </a:lnTo>
                  <a:lnTo>
                    <a:pt x="4753632" y="45426"/>
                  </a:lnTo>
                  <a:lnTo>
                    <a:pt x="4785653" y="77447"/>
                  </a:lnTo>
                  <a:lnTo>
                    <a:pt x="4810062" y="115836"/>
                  </a:lnTo>
                  <a:lnTo>
                    <a:pt x="4825618" y="159353"/>
                  </a:lnTo>
                  <a:lnTo>
                    <a:pt x="4831080" y="206756"/>
                  </a:lnTo>
                  <a:lnTo>
                    <a:pt x="4831080" y="1033780"/>
                  </a:lnTo>
                  <a:lnTo>
                    <a:pt x="4825618" y="1081182"/>
                  </a:lnTo>
                  <a:lnTo>
                    <a:pt x="4810062" y="1124699"/>
                  </a:lnTo>
                  <a:lnTo>
                    <a:pt x="4785653" y="1163088"/>
                  </a:lnTo>
                  <a:lnTo>
                    <a:pt x="4753632" y="1195109"/>
                  </a:lnTo>
                  <a:lnTo>
                    <a:pt x="4715243" y="1219518"/>
                  </a:lnTo>
                  <a:lnTo>
                    <a:pt x="4671726" y="1235074"/>
                  </a:lnTo>
                  <a:lnTo>
                    <a:pt x="4624324" y="1240536"/>
                  </a:lnTo>
                  <a:lnTo>
                    <a:pt x="206755" y="1240536"/>
                  </a:lnTo>
                  <a:lnTo>
                    <a:pt x="159353" y="1235074"/>
                  </a:lnTo>
                  <a:lnTo>
                    <a:pt x="115836" y="1219518"/>
                  </a:lnTo>
                  <a:lnTo>
                    <a:pt x="77447" y="1195109"/>
                  </a:lnTo>
                  <a:lnTo>
                    <a:pt x="45426" y="1163088"/>
                  </a:lnTo>
                  <a:lnTo>
                    <a:pt x="21017" y="1124699"/>
                  </a:lnTo>
                  <a:lnTo>
                    <a:pt x="5461" y="1081182"/>
                  </a:lnTo>
                  <a:lnTo>
                    <a:pt x="0" y="1033780"/>
                  </a:lnTo>
                  <a:lnTo>
                    <a:pt x="0" y="20675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224017" y="2794761"/>
            <a:ext cx="307594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solidFill>
                  <a:srgbClr val="FFFFFF"/>
                </a:solidFill>
                <a:latin typeface="Calibri"/>
                <a:cs typeface="Calibri"/>
              </a:rPr>
              <a:t>Stop</a:t>
            </a:r>
            <a:r>
              <a:rPr sz="4200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2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42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200" spc="-20" dirty="0">
                <a:solidFill>
                  <a:srgbClr val="FFFFFF"/>
                </a:solidFill>
                <a:latin typeface="Calibri"/>
                <a:cs typeface="Calibri"/>
              </a:rPr>
              <a:t>Wait</a:t>
            </a:r>
            <a:endParaRPr sz="42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641850" y="4468114"/>
            <a:ext cx="6913880" cy="1692275"/>
            <a:chOff x="4641850" y="4468114"/>
            <a:chExt cx="6913880" cy="1692275"/>
          </a:xfrm>
        </p:grpSpPr>
        <p:sp>
          <p:nvSpPr>
            <p:cNvPr id="17" name="object 17"/>
            <p:cNvSpPr/>
            <p:nvPr/>
          </p:nvSpPr>
          <p:spPr>
            <a:xfrm>
              <a:off x="4648200" y="5094732"/>
              <a:ext cx="6901180" cy="1059180"/>
            </a:xfrm>
            <a:custGeom>
              <a:avLst/>
              <a:gdLst/>
              <a:ahLst/>
              <a:cxnLst/>
              <a:rect l="l" t="t" r="r" b="b"/>
              <a:pathLst>
                <a:path w="6901180" h="1059179">
                  <a:moveTo>
                    <a:pt x="0" y="1059180"/>
                  </a:moveTo>
                  <a:lnTo>
                    <a:pt x="6900672" y="1059180"/>
                  </a:lnTo>
                  <a:lnTo>
                    <a:pt x="6900672" y="0"/>
                  </a:lnTo>
                  <a:lnTo>
                    <a:pt x="0" y="0"/>
                  </a:lnTo>
                  <a:lnTo>
                    <a:pt x="0" y="1059180"/>
                  </a:lnTo>
                  <a:close/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992624" y="4474464"/>
              <a:ext cx="4831080" cy="1240790"/>
            </a:xfrm>
            <a:custGeom>
              <a:avLst/>
              <a:gdLst/>
              <a:ahLst/>
              <a:cxnLst/>
              <a:rect l="l" t="t" r="r" b="b"/>
              <a:pathLst>
                <a:path w="4831080" h="1240789">
                  <a:moveTo>
                    <a:pt x="4624324" y="0"/>
                  </a:moveTo>
                  <a:lnTo>
                    <a:pt x="206755" y="0"/>
                  </a:lnTo>
                  <a:lnTo>
                    <a:pt x="159353" y="5461"/>
                  </a:lnTo>
                  <a:lnTo>
                    <a:pt x="115836" y="21017"/>
                  </a:lnTo>
                  <a:lnTo>
                    <a:pt x="77447" y="45426"/>
                  </a:lnTo>
                  <a:lnTo>
                    <a:pt x="45426" y="77447"/>
                  </a:lnTo>
                  <a:lnTo>
                    <a:pt x="21017" y="115836"/>
                  </a:lnTo>
                  <a:lnTo>
                    <a:pt x="5461" y="159353"/>
                  </a:lnTo>
                  <a:lnTo>
                    <a:pt x="0" y="206756"/>
                  </a:lnTo>
                  <a:lnTo>
                    <a:pt x="0" y="1033780"/>
                  </a:lnTo>
                  <a:lnTo>
                    <a:pt x="5461" y="1081186"/>
                  </a:lnTo>
                  <a:lnTo>
                    <a:pt x="21017" y="1124704"/>
                  </a:lnTo>
                  <a:lnTo>
                    <a:pt x="45426" y="1163094"/>
                  </a:lnTo>
                  <a:lnTo>
                    <a:pt x="77447" y="1195113"/>
                  </a:lnTo>
                  <a:lnTo>
                    <a:pt x="115836" y="1219520"/>
                  </a:lnTo>
                  <a:lnTo>
                    <a:pt x="159353" y="1235075"/>
                  </a:lnTo>
                  <a:lnTo>
                    <a:pt x="206755" y="1240536"/>
                  </a:lnTo>
                  <a:lnTo>
                    <a:pt x="4624324" y="1240536"/>
                  </a:lnTo>
                  <a:lnTo>
                    <a:pt x="4671726" y="1235075"/>
                  </a:lnTo>
                  <a:lnTo>
                    <a:pt x="4715243" y="1219520"/>
                  </a:lnTo>
                  <a:lnTo>
                    <a:pt x="4753632" y="1195113"/>
                  </a:lnTo>
                  <a:lnTo>
                    <a:pt x="4785653" y="1163094"/>
                  </a:lnTo>
                  <a:lnTo>
                    <a:pt x="4810062" y="1124704"/>
                  </a:lnTo>
                  <a:lnTo>
                    <a:pt x="4825618" y="1081186"/>
                  </a:lnTo>
                  <a:lnTo>
                    <a:pt x="4831080" y="1033780"/>
                  </a:lnTo>
                  <a:lnTo>
                    <a:pt x="4831080" y="206756"/>
                  </a:lnTo>
                  <a:lnTo>
                    <a:pt x="4825618" y="159353"/>
                  </a:lnTo>
                  <a:lnTo>
                    <a:pt x="4810062" y="115836"/>
                  </a:lnTo>
                  <a:lnTo>
                    <a:pt x="4785653" y="77447"/>
                  </a:lnTo>
                  <a:lnTo>
                    <a:pt x="4753632" y="45426"/>
                  </a:lnTo>
                  <a:lnTo>
                    <a:pt x="4715243" y="21017"/>
                  </a:lnTo>
                  <a:lnTo>
                    <a:pt x="4671726" y="5461"/>
                  </a:lnTo>
                  <a:lnTo>
                    <a:pt x="4624324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992624" y="4474464"/>
              <a:ext cx="4831080" cy="1240790"/>
            </a:xfrm>
            <a:custGeom>
              <a:avLst/>
              <a:gdLst/>
              <a:ahLst/>
              <a:cxnLst/>
              <a:rect l="l" t="t" r="r" b="b"/>
              <a:pathLst>
                <a:path w="4831080" h="1240789">
                  <a:moveTo>
                    <a:pt x="0" y="206756"/>
                  </a:moveTo>
                  <a:lnTo>
                    <a:pt x="5461" y="159353"/>
                  </a:lnTo>
                  <a:lnTo>
                    <a:pt x="21017" y="115836"/>
                  </a:lnTo>
                  <a:lnTo>
                    <a:pt x="45426" y="77447"/>
                  </a:lnTo>
                  <a:lnTo>
                    <a:pt x="77447" y="45426"/>
                  </a:lnTo>
                  <a:lnTo>
                    <a:pt x="115836" y="21017"/>
                  </a:lnTo>
                  <a:lnTo>
                    <a:pt x="159353" y="5461"/>
                  </a:lnTo>
                  <a:lnTo>
                    <a:pt x="206755" y="0"/>
                  </a:lnTo>
                  <a:lnTo>
                    <a:pt x="4624324" y="0"/>
                  </a:lnTo>
                  <a:lnTo>
                    <a:pt x="4671726" y="5461"/>
                  </a:lnTo>
                  <a:lnTo>
                    <a:pt x="4715243" y="21017"/>
                  </a:lnTo>
                  <a:lnTo>
                    <a:pt x="4753632" y="45426"/>
                  </a:lnTo>
                  <a:lnTo>
                    <a:pt x="4785653" y="77447"/>
                  </a:lnTo>
                  <a:lnTo>
                    <a:pt x="4810062" y="115836"/>
                  </a:lnTo>
                  <a:lnTo>
                    <a:pt x="4825618" y="159353"/>
                  </a:lnTo>
                  <a:lnTo>
                    <a:pt x="4831080" y="206756"/>
                  </a:lnTo>
                  <a:lnTo>
                    <a:pt x="4831080" y="1033780"/>
                  </a:lnTo>
                  <a:lnTo>
                    <a:pt x="4825618" y="1081186"/>
                  </a:lnTo>
                  <a:lnTo>
                    <a:pt x="4810062" y="1124704"/>
                  </a:lnTo>
                  <a:lnTo>
                    <a:pt x="4785653" y="1163094"/>
                  </a:lnTo>
                  <a:lnTo>
                    <a:pt x="4753632" y="1195113"/>
                  </a:lnTo>
                  <a:lnTo>
                    <a:pt x="4715243" y="1219520"/>
                  </a:lnTo>
                  <a:lnTo>
                    <a:pt x="4671726" y="1235075"/>
                  </a:lnTo>
                  <a:lnTo>
                    <a:pt x="4624324" y="1240536"/>
                  </a:lnTo>
                  <a:lnTo>
                    <a:pt x="206755" y="1240536"/>
                  </a:lnTo>
                  <a:lnTo>
                    <a:pt x="159353" y="1235075"/>
                  </a:lnTo>
                  <a:lnTo>
                    <a:pt x="115836" y="1219520"/>
                  </a:lnTo>
                  <a:lnTo>
                    <a:pt x="77447" y="1195113"/>
                  </a:lnTo>
                  <a:lnTo>
                    <a:pt x="45426" y="1163094"/>
                  </a:lnTo>
                  <a:lnTo>
                    <a:pt x="21017" y="1124704"/>
                  </a:lnTo>
                  <a:lnTo>
                    <a:pt x="5461" y="1081186"/>
                  </a:lnTo>
                  <a:lnTo>
                    <a:pt x="0" y="1033780"/>
                  </a:lnTo>
                  <a:lnTo>
                    <a:pt x="0" y="20675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224017" y="4700396"/>
            <a:ext cx="414909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solidFill>
                  <a:srgbClr val="FFFFFF"/>
                </a:solidFill>
                <a:latin typeface="Calibri"/>
                <a:cs typeface="Calibri"/>
              </a:rPr>
              <a:t>Stop</a:t>
            </a:r>
            <a:r>
              <a:rPr sz="4200" spc="-1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2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4200" spc="-1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200" dirty="0">
                <a:solidFill>
                  <a:srgbClr val="FFFFFF"/>
                </a:solidFill>
                <a:latin typeface="Calibri"/>
                <a:cs typeface="Calibri"/>
              </a:rPr>
              <a:t>Wait</a:t>
            </a:r>
            <a:r>
              <a:rPr sz="4200" spc="-1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200" spc="-25" dirty="0">
                <a:solidFill>
                  <a:srgbClr val="FFFFFF"/>
                </a:solidFill>
                <a:latin typeface="Calibri"/>
                <a:cs typeface="Calibri"/>
              </a:rPr>
              <a:t>ARQ</a:t>
            </a:r>
            <a:endParaRPr sz="4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73400">
              <a:lnSpc>
                <a:spcPct val="100000"/>
              </a:lnSpc>
              <a:spcBef>
                <a:spcPts val="100"/>
              </a:spcBef>
            </a:pPr>
            <a:r>
              <a:rPr sz="3300" b="1" spc="-25" dirty="0">
                <a:latin typeface="Times New Roman"/>
                <a:cs typeface="Times New Roman"/>
              </a:rPr>
              <a:t>Types</a:t>
            </a:r>
            <a:r>
              <a:rPr sz="3300" b="1" spc="-100" dirty="0">
                <a:latin typeface="Times New Roman"/>
                <a:cs typeface="Times New Roman"/>
              </a:rPr>
              <a:t> </a:t>
            </a:r>
            <a:r>
              <a:rPr sz="3300" b="1" dirty="0">
                <a:latin typeface="Times New Roman"/>
                <a:cs typeface="Times New Roman"/>
              </a:rPr>
              <a:t>of</a:t>
            </a:r>
            <a:r>
              <a:rPr sz="3300" b="1" spc="-90" dirty="0">
                <a:latin typeface="Times New Roman"/>
                <a:cs typeface="Times New Roman"/>
              </a:rPr>
              <a:t> </a:t>
            </a:r>
            <a:r>
              <a:rPr sz="3300" b="1" spc="-10" dirty="0">
                <a:latin typeface="Times New Roman"/>
                <a:cs typeface="Times New Roman"/>
              </a:rPr>
              <a:t>Delays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4600955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370545"/>
                </a:moveTo>
                <a:lnTo>
                  <a:pt x="832510" y="1189012"/>
                </a:lnTo>
                <a:lnTo>
                  <a:pt x="1013460" y="1008888"/>
                </a:lnTo>
                <a:lnTo>
                  <a:pt x="0" y="0"/>
                </a:lnTo>
                <a:lnTo>
                  <a:pt x="0" y="2017776"/>
                </a:lnTo>
                <a:lnTo>
                  <a:pt x="488391" y="1531594"/>
                </a:lnTo>
                <a:lnTo>
                  <a:pt x="670699" y="1713890"/>
                </a:lnTo>
                <a:lnTo>
                  <a:pt x="1014056" y="137054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094720" y="0"/>
            <a:ext cx="1097280" cy="1097280"/>
          </a:xfrm>
          <a:custGeom>
            <a:avLst/>
            <a:gdLst/>
            <a:ahLst/>
            <a:cxnLst/>
            <a:rect l="l" t="t" r="r" b="b"/>
            <a:pathLst>
              <a:path w="1097279" h="1097280">
                <a:moveTo>
                  <a:pt x="1097280" y="0"/>
                </a:moveTo>
                <a:lnTo>
                  <a:pt x="0" y="0"/>
                </a:lnTo>
                <a:lnTo>
                  <a:pt x="178269" y="178282"/>
                </a:lnTo>
                <a:lnTo>
                  <a:pt x="0" y="356616"/>
                </a:lnTo>
                <a:lnTo>
                  <a:pt x="323723" y="680339"/>
                </a:lnTo>
                <a:lnTo>
                  <a:pt x="502056" y="502069"/>
                </a:lnTo>
                <a:lnTo>
                  <a:pt x="1097280" y="1097280"/>
                </a:lnTo>
                <a:lnTo>
                  <a:pt x="1097280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857245" y="3456178"/>
            <a:ext cx="6379845" cy="1336675"/>
            <a:chOff x="2857245" y="3456178"/>
            <a:chExt cx="6379845" cy="1336675"/>
          </a:xfrm>
        </p:grpSpPr>
        <p:sp>
          <p:nvSpPr>
            <p:cNvPr id="6" name="object 6"/>
            <p:cNvSpPr/>
            <p:nvPr/>
          </p:nvSpPr>
          <p:spPr>
            <a:xfrm>
              <a:off x="2863595" y="4340352"/>
              <a:ext cx="6367145" cy="445770"/>
            </a:xfrm>
            <a:custGeom>
              <a:avLst/>
              <a:gdLst/>
              <a:ahLst/>
              <a:cxnLst/>
              <a:rect l="l" t="t" r="r" b="b"/>
              <a:pathLst>
                <a:path w="6367145" h="445770">
                  <a:moveTo>
                    <a:pt x="3183636" y="0"/>
                  </a:moveTo>
                  <a:lnTo>
                    <a:pt x="3183636" y="261620"/>
                  </a:lnTo>
                  <a:lnTo>
                    <a:pt x="6366636" y="261620"/>
                  </a:lnTo>
                  <a:lnTo>
                    <a:pt x="6366636" y="445770"/>
                  </a:lnTo>
                </a:path>
                <a:path w="6367145" h="445770">
                  <a:moveTo>
                    <a:pt x="3183636" y="0"/>
                  </a:moveTo>
                  <a:lnTo>
                    <a:pt x="3183636" y="261620"/>
                  </a:lnTo>
                  <a:lnTo>
                    <a:pt x="4244594" y="261620"/>
                  </a:lnTo>
                  <a:lnTo>
                    <a:pt x="4244594" y="445770"/>
                  </a:lnTo>
                </a:path>
                <a:path w="6367145" h="445770">
                  <a:moveTo>
                    <a:pt x="3183890" y="0"/>
                  </a:moveTo>
                  <a:lnTo>
                    <a:pt x="3183890" y="261620"/>
                  </a:lnTo>
                  <a:lnTo>
                    <a:pt x="2122932" y="261620"/>
                  </a:lnTo>
                  <a:lnTo>
                    <a:pt x="2122932" y="445770"/>
                  </a:lnTo>
                </a:path>
                <a:path w="6367145" h="445770">
                  <a:moveTo>
                    <a:pt x="3183001" y="0"/>
                  </a:moveTo>
                  <a:lnTo>
                    <a:pt x="3183001" y="261620"/>
                  </a:lnTo>
                  <a:lnTo>
                    <a:pt x="0" y="261620"/>
                  </a:lnTo>
                  <a:lnTo>
                    <a:pt x="0" y="445770"/>
                  </a:lnTo>
                </a:path>
              </a:pathLst>
            </a:custGeom>
            <a:ln w="12700">
              <a:solidFill>
                <a:srgbClr val="3458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80559" y="3462528"/>
              <a:ext cx="3133725" cy="878205"/>
            </a:xfrm>
            <a:custGeom>
              <a:avLst/>
              <a:gdLst/>
              <a:ahLst/>
              <a:cxnLst/>
              <a:rect l="l" t="t" r="r" b="b"/>
              <a:pathLst>
                <a:path w="3133725" h="878204">
                  <a:moveTo>
                    <a:pt x="3133343" y="0"/>
                  </a:moveTo>
                  <a:lnTo>
                    <a:pt x="0" y="0"/>
                  </a:lnTo>
                  <a:lnTo>
                    <a:pt x="0" y="877824"/>
                  </a:lnTo>
                  <a:lnTo>
                    <a:pt x="3133343" y="877824"/>
                  </a:lnTo>
                  <a:lnTo>
                    <a:pt x="313334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80559" y="3462528"/>
              <a:ext cx="3133725" cy="878205"/>
            </a:xfrm>
            <a:custGeom>
              <a:avLst/>
              <a:gdLst/>
              <a:ahLst/>
              <a:cxnLst/>
              <a:rect l="l" t="t" r="r" b="b"/>
              <a:pathLst>
                <a:path w="3133725" h="878204">
                  <a:moveTo>
                    <a:pt x="0" y="877824"/>
                  </a:moveTo>
                  <a:lnTo>
                    <a:pt x="3133343" y="877824"/>
                  </a:lnTo>
                  <a:lnTo>
                    <a:pt x="3133343" y="0"/>
                  </a:lnTo>
                  <a:lnTo>
                    <a:pt x="0" y="0"/>
                  </a:lnTo>
                  <a:lnTo>
                    <a:pt x="0" y="8778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480559" y="3462528"/>
            <a:ext cx="3133725" cy="878205"/>
          </a:xfrm>
          <a:prstGeom prst="rect">
            <a:avLst/>
          </a:prstGeom>
        </p:spPr>
        <p:txBody>
          <a:bodyPr vert="horz" wrap="square" lIns="0" tIns="218440" rIns="0" bIns="0" rtlCol="0">
            <a:spAutoFit/>
          </a:bodyPr>
          <a:lstStyle/>
          <a:p>
            <a:pPr marL="539750">
              <a:lnSpc>
                <a:spcPct val="100000"/>
              </a:lnSpc>
              <a:spcBef>
                <a:spcPts val="1720"/>
              </a:spcBef>
            </a:pPr>
            <a:r>
              <a:rPr sz="2500" spc="-25" dirty="0">
                <a:solidFill>
                  <a:srgbClr val="FFFFFF"/>
                </a:solidFill>
                <a:latin typeface="Times New Roman"/>
                <a:cs typeface="Times New Roman"/>
              </a:rPr>
              <a:t>Types</a:t>
            </a:r>
            <a:r>
              <a:rPr sz="25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5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imes New Roman"/>
                <a:cs typeface="Times New Roman"/>
              </a:rPr>
              <a:t>Delays</a:t>
            </a:r>
            <a:endParaRPr sz="25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980945" y="4779009"/>
            <a:ext cx="1767205" cy="890905"/>
            <a:chOff x="1980945" y="4779009"/>
            <a:chExt cx="1767205" cy="890905"/>
          </a:xfrm>
        </p:grpSpPr>
        <p:sp>
          <p:nvSpPr>
            <p:cNvPr id="11" name="object 11"/>
            <p:cNvSpPr/>
            <p:nvPr/>
          </p:nvSpPr>
          <p:spPr>
            <a:xfrm>
              <a:off x="1987295" y="4785359"/>
              <a:ext cx="1754505" cy="878205"/>
            </a:xfrm>
            <a:custGeom>
              <a:avLst/>
              <a:gdLst/>
              <a:ahLst/>
              <a:cxnLst/>
              <a:rect l="l" t="t" r="r" b="b"/>
              <a:pathLst>
                <a:path w="1754504" h="878204">
                  <a:moveTo>
                    <a:pt x="1754124" y="0"/>
                  </a:moveTo>
                  <a:lnTo>
                    <a:pt x="0" y="0"/>
                  </a:lnTo>
                  <a:lnTo>
                    <a:pt x="0" y="877823"/>
                  </a:lnTo>
                  <a:lnTo>
                    <a:pt x="1754124" y="877823"/>
                  </a:lnTo>
                  <a:lnTo>
                    <a:pt x="175412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87295" y="4785359"/>
              <a:ext cx="1754505" cy="878205"/>
            </a:xfrm>
            <a:custGeom>
              <a:avLst/>
              <a:gdLst/>
              <a:ahLst/>
              <a:cxnLst/>
              <a:rect l="l" t="t" r="r" b="b"/>
              <a:pathLst>
                <a:path w="1754504" h="878204">
                  <a:moveTo>
                    <a:pt x="0" y="877823"/>
                  </a:moveTo>
                  <a:lnTo>
                    <a:pt x="1754124" y="877823"/>
                  </a:lnTo>
                  <a:lnTo>
                    <a:pt x="1754124" y="0"/>
                  </a:lnTo>
                  <a:lnTo>
                    <a:pt x="0" y="0"/>
                  </a:lnTo>
                  <a:lnTo>
                    <a:pt x="0" y="87782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987295" y="4785359"/>
            <a:ext cx="1754505" cy="878205"/>
          </a:xfrm>
          <a:prstGeom prst="rect">
            <a:avLst/>
          </a:prstGeom>
        </p:spPr>
        <p:txBody>
          <a:bodyPr vert="horz" wrap="square" lIns="0" tIns="218440" rIns="0" bIns="0" rtlCol="0">
            <a:spAutoFit/>
          </a:bodyPr>
          <a:lstStyle/>
          <a:p>
            <a:pPr marL="29845">
              <a:lnSpc>
                <a:spcPct val="100000"/>
              </a:lnSpc>
              <a:spcBef>
                <a:spcPts val="1720"/>
              </a:spcBef>
            </a:pPr>
            <a:r>
              <a:rPr sz="2500" spc="-10" dirty="0">
                <a:solidFill>
                  <a:srgbClr val="FFFFFF"/>
                </a:solidFill>
                <a:latin typeface="Times New Roman"/>
                <a:cs typeface="Times New Roman"/>
              </a:rPr>
              <a:t>Transmission</a:t>
            </a:r>
            <a:endParaRPr sz="25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102353" y="4779009"/>
            <a:ext cx="1767205" cy="890905"/>
            <a:chOff x="4102353" y="4779009"/>
            <a:chExt cx="1767205" cy="890905"/>
          </a:xfrm>
        </p:grpSpPr>
        <p:sp>
          <p:nvSpPr>
            <p:cNvPr id="15" name="object 15"/>
            <p:cNvSpPr/>
            <p:nvPr/>
          </p:nvSpPr>
          <p:spPr>
            <a:xfrm>
              <a:off x="4108703" y="4785359"/>
              <a:ext cx="1754505" cy="878205"/>
            </a:xfrm>
            <a:custGeom>
              <a:avLst/>
              <a:gdLst/>
              <a:ahLst/>
              <a:cxnLst/>
              <a:rect l="l" t="t" r="r" b="b"/>
              <a:pathLst>
                <a:path w="1754504" h="878204">
                  <a:moveTo>
                    <a:pt x="1754124" y="0"/>
                  </a:moveTo>
                  <a:lnTo>
                    <a:pt x="0" y="0"/>
                  </a:lnTo>
                  <a:lnTo>
                    <a:pt x="0" y="877823"/>
                  </a:lnTo>
                  <a:lnTo>
                    <a:pt x="1754124" y="877823"/>
                  </a:lnTo>
                  <a:lnTo>
                    <a:pt x="175412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108703" y="4785359"/>
              <a:ext cx="1754505" cy="878205"/>
            </a:xfrm>
            <a:custGeom>
              <a:avLst/>
              <a:gdLst/>
              <a:ahLst/>
              <a:cxnLst/>
              <a:rect l="l" t="t" r="r" b="b"/>
              <a:pathLst>
                <a:path w="1754504" h="878204">
                  <a:moveTo>
                    <a:pt x="0" y="877823"/>
                  </a:moveTo>
                  <a:lnTo>
                    <a:pt x="1754124" y="877823"/>
                  </a:lnTo>
                  <a:lnTo>
                    <a:pt x="1754124" y="0"/>
                  </a:lnTo>
                  <a:lnTo>
                    <a:pt x="0" y="0"/>
                  </a:lnTo>
                  <a:lnTo>
                    <a:pt x="0" y="87782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108703" y="4785359"/>
            <a:ext cx="1754505" cy="878205"/>
          </a:xfrm>
          <a:prstGeom prst="rect">
            <a:avLst/>
          </a:prstGeom>
        </p:spPr>
        <p:txBody>
          <a:bodyPr vert="horz" wrap="square" lIns="0" tIns="218440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1720"/>
              </a:spcBef>
            </a:pPr>
            <a:r>
              <a:rPr sz="2500" spc="-10" dirty="0">
                <a:solidFill>
                  <a:srgbClr val="FFFFFF"/>
                </a:solidFill>
                <a:latin typeface="Times New Roman"/>
                <a:cs typeface="Times New Roman"/>
              </a:rPr>
              <a:t>Propagation</a:t>
            </a:r>
            <a:endParaRPr sz="25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225285" y="4779009"/>
            <a:ext cx="1767205" cy="890905"/>
            <a:chOff x="6225285" y="4779009"/>
            <a:chExt cx="1767205" cy="890905"/>
          </a:xfrm>
        </p:grpSpPr>
        <p:sp>
          <p:nvSpPr>
            <p:cNvPr id="19" name="object 19"/>
            <p:cNvSpPr/>
            <p:nvPr/>
          </p:nvSpPr>
          <p:spPr>
            <a:xfrm>
              <a:off x="6231635" y="4785359"/>
              <a:ext cx="1754505" cy="878205"/>
            </a:xfrm>
            <a:custGeom>
              <a:avLst/>
              <a:gdLst/>
              <a:ahLst/>
              <a:cxnLst/>
              <a:rect l="l" t="t" r="r" b="b"/>
              <a:pathLst>
                <a:path w="1754504" h="878204">
                  <a:moveTo>
                    <a:pt x="1754123" y="0"/>
                  </a:moveTo>
                  <a:lnTo>
                    <a:pt x="0" y="0"/>
                  </a:lnTo>
                  <a:lnTo>
                    <a:pt x="0" y="877823"/>
                  </a:lnTo>
                  <a:lnTo>
                    <a:pt x="1754123" y="877823"/>
                  </a:lnTo>
                  <a:lnTo>
                    <a:pt x="175412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31635" y="4785359"/>
              <a:ext cx="1754505" cy="878205"/>
            </a:xfrm>
            <a:custGeom>
              <a:avLst/>
              <a:gdLst/>
              <a:ahLst/>
              <a:cxnLst/>
              <a:rect l="l" t="t" r="r" b="b"/>
              <a:pathLst>
                <a:path w="1754504" h="878204">
                  <a:moveTo>
                    <a:pt x="0" y="877823"/>
                  </a:moveTo>
                  <a:lnTo>
                    <a:pt x="1754123" y="877823"/>
                  </a:lnTo>
                  <a:lnTo>
                    <a:pt x="1754123" y="0"/>
                  </a:lnTo>
                  <a:lnTo>
                    <a:pt x="0" y="0"/>
                  </a:lnTo>
                  <a:lnTo>
                    <a:pt x="0" y="87782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231635" y="4785359"/>
            <a:ext cx="1754505" cy="878205"/>
          </a:xfrm>
          <a:prstGeom prst="rect">
            <a:avLst/>
          </a:prstGeom>
        </p:spPr>
        <p:txBody>
          <a:bodyPr vert="horz" wrap="square" lIns="0" tIns="218440" rIns="0" bIns="0" rtlCol="0">
            <a:spAutoFit/>
          </a:bodyPr>
          <a:lstStyle/>
          <a:p>
            <a:pPr marL="331470">
              <a:lnSpc>
                <a:spcPct val="100000"/>
              </a:lnSpc>
              <a:spcBef>
                <a:spcPts val="1720"/>
              </a:spcBef>
            </a:pPr>
            <a:r>
              <a:rPr sz="2500" spc="-10" dirty="0">
                <a:solidFill>
                  <a:srgbClr val="FFFFFF"/>
                </a:solidFill>
                <a:latin typeface="Times New Roman"/>
                <a:cs typeface="Times New Roman"/>
              </a:rPr>
              <a:t>Queuing</a:t>
            </a:r>
            <a:endParaRPr sz="2500"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346693" y="4779009"/>
            <a:ext cx="1767205" cy="890905"/>
            <a:chOff x="8346693" y="4779009"/>
            <a:chExt cx="1767205" cy="890905"/>
          </a:xfrm>
        </p:grpSpPr>
        <p:sp>
          <p:nvSpPr>
            <p:cNvPr id="23" name="object 23"/>
            <p:cNvSpPr/>
            <p:nvPr/>
          </p:nvSpPr>
          <p:spPr>
            <a:xfrm>
              <a:off x="8353043" y="4785359"/>
              <a:ext cx="1754505" cy="878205"/>
            </a:xfrm>
            <a:custGeom>
              <a:avLst/>
              <a:gdLst/>
              <a:ahLst/>
              <a:cxnLst/>
              <a:rect l="l" t="t" r="r" b="b"/>
              <a:pathLst>
                <a:path w="1754504" h="878204">
                  <a:moveTo>
                    <a:pt x="1754124" y="0"/>
                  </a:moveTo>
                  <a:lnTo>
                    <a:pt x="0" y="0"/>
                  </a:lnTo>
                  <a:lnTo>
                    <a:pt x="0" y="877823"/>
                  </a:lnTo>
                  <a:lnTo>
                    <a:pt x="1754124" y="877823"/>
                  </a:lnTo>
                  <a:lnTo>
                    <a:pt x="175412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353043" y="4785359"/>
              <a:ext cx="1754505" cy="878205"/>
            </a:xfrm>
            <a:custGeom>
              <a:avLst/>
              <a:gdLst/>
              <a:ahLst/>
              <a:cxnLst/>
              <a:rect l="l" t="t" r="r" b="b"/>
              <a:pathLst>
                <a:path w="1754504" h="878204">
                  <a:moveTo>
                    <a:pt x="0" y="877823"/>
                  </a:moveTo>
                  <a:lnTo>
                    <a:pt x="1754124" y="877823"/>
                  </a:lnTo>
                  <a:lnTo>
                    <a:pt x="1754124" y="0"/>
                  </a:lnTo>
                  <a:lnTo>
                    <a:pt x="0" y="0"/>
                  </a:lnTo>
                  <a:lnTo>
                    <a:pt x="0" y="87782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8353043" y="4785359"/>
            <a:ext cx="1754505" cy="878205"/>
          </a:xfrm>
          <a:prstGeom prst="rect">
            <a:avLst/>
          </a:prstGeom>
        </p:spPr>
        <p:txBody>
          <a:bodyPr vert="horz" wrap="square" lIns="0" tIns="218440" rIns="0" bIns="0" rtlCol="0">
            <a:spAutoFit/>
          </a:bodyPr>
          <a:lstStyle/>
          <a:p>
            <a:pPr marL="190500">
              <a:lnSpc>
                <a:spcPct val="100000"/>
              </a:lnSpc>
              <a:spcBef>
                <a:spcPts val="1720"/>
              </a:spcBef>
            </a:pPr>
            <a:r>
              <a:rPr sz="2500" spc="-10" dirty="0">
                <a:solidFill>
                  <a:srgbClr val="FFFFFF"/>
                </a:solidFill>
                <a:latin typeface="Times New Roman"/>
                <a:cs typeface="Times New Roman"/>
              </a:rPr>
              <a:t>Processing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82623" y="1951685"/>
            <a:ext cx="85553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273139"/>
                </a:solidFill>
                <a:latin typeface="Times New Roman"/>
                <a:cs typeface="Times New Roman"/>
              </a:rPr>
              <a:t>Delay</a:t>
            </a:r>
            <a:r>
              <a:rPr sz="2200" spc="-3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73139"/>
                </a:solidFill>
                <a:latin typeface="Times New Roman"/>
                <a:cs typeface="Times New Roman"/>
              </a:rPr>
              <a:t>is</a:t>
            </a:r>
            <a:r>
              <a:rPr sz="2200" spc="-3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sz="2200" spc="-3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73139"/>
                </a:solidFill>
                <a:latin typeface="Times New Roman"/>
                <a:cs typeface="Times New Roman"/>
              </a:rPr>
              <a:t>time</a:t>
            </a:r>
            <a:r>
              <a:rPr sz="2200" spc="-1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73139"/>
                </a:solidFill>
                <a:latin typeface="Times New Roman"/>
                <a:cs typeface="Times New Roman"/>
              </a:rPr>
              <a:t>for</a:t>
            </a:r>
            <a:r>
              <a:rPr sz="2200" spc="-3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73139"/>
                </a:solidFill>
                <a:latin typeface="Times New Roman"/>
                <a:cs typeface="Times New Roman"/>
              </a:rPr>
              <a:t>which</a:t>
            </a:r>
            <a:r>
              <a:rPr sz="2200" spc="-3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sz="2200" spc="-3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73139"/>
                </a:solidFill>
                <a:latin typeface="Times New Roman"/>
                <a:cs typeface="Times New Roman"/>
              </a:rPr>
              <a:t>processing</a:t>
            </a:r>
            <a:r>
              <a:rPr sz="2200" spc="-3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sz="2200" spc="-3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2200" spc="-3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73139"/>
                </a:solidFill>
                <a:latin typeface="Times New Roman"/>
                <a:cs typeface="Times New Roman"/>
              </a:rPr>
              <a:t>particular</a:t>
            </a:r>
            <a:r>
              <a:rPr sz="2200" spc="-2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73139"/>
                </a:solidFill>
                <a:latin typeface="Times New Roman"/>
                <a:cs typeface="Times New Roman"/>
              </a:rPr>
              <a:t>packet</a:t>
            </a:r>
            <a:r>
              <a:rPr sz="2200" spc="-3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73139"/>
                </a:solidFill>
                <a:latin typeface="Times New Roman"/>
                <a:cs typeface="Times New Roman"/>
              </a:rPr>
              <a:t>takes</a:t>
            </a:r>
            <a:r>
              <a:rPr sz="2200" spc="-3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73139"/>
                </a:solidFill>
                <a:latin typeface="Times New Roman"/>
                <a:cs typeface="Times New Roman"/>
              </a:rPr>
              <a:t>place.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68446" y="337769"/>
            <a:ext cx="3242945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b="1" spc="-20" dirty="0">
                <a:latin typeface="Times New Roman"/>
                <a:cs typeface="Times New Roman"/>
              </a:rPr>
              <a:t>Types</a:t>
            </a:r>
            <a:r>
              <a:rPr sz="3300" b="1" spc="-55" dirty="0">
                <a:latin typeface="Times New Roman"/>
                <a:cs typeface="Times New Roman"/>
              </a:rPr>
              <a:t> </a:t>
            </a:r>
            <a:r>
              <a:rPr sz="3300" b="1" dirty="0">
                <a:latin typeface="Times New Roman"/>
                <a:cs typeface="Times New Roman"/>
              </a:rPr>
              <a:t>of</a:t>
            </a:r>
            <a:r>
              <a:rPr sz="3300" b="1" spc="-55" dirty="0">
                <a:latin typeface="Times New Roman"/>
                <a:cs typeface="Times New Roman"/>
              </a:rPr>
              <a:t> </a:t>
            </a:r>
            <a:r>
              <a:rPr sz="3300" b="1" dirty="0">
                <a:latin typeface="Times New Roman"/>
                <a:cs typeface="Times New Roman"/>
              </a:rPr>
              <a:t>Delays</a:t>
            </a:r>
            <a:endParaRPr sz="33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8759" y="1040763"/>
            <a:ext cx="9364345" cy="113284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70"/>
              </a:spcBef>
              <a:buClr>
                <a:srgbClr val="3333CC"/>
              </a:buClr>
              <a:buSzPct val="84090"/>
              <a:buFont typeface="Wingdings"/>
              <a:buChar char=""/>
              <a:tabLst>
                <a:tab pos="354965" algn="l"/>
              </a:tabLst>
            </a:pPr>
            <a:r>
              <a:rPr sz="2200" b="1" spc="-10" dirty="0">
                <a:latin typeface="Times New Roman"/>
                <a:cs typeface="Times New Roman"/>
              </a:rPr>
              <a:t>Transmission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delay: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Time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taken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put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packet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transmission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link.</a:t>
            </a:r>
            <a:endParaRPr sz="22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Clr>
                <a:srgbClr val="3333CC"/>
              </a:buClr>
              <a:buSzPct val="84090"/>
              <a:buFont typeface="Courier New"/>
              <a:buChar char="o"/>
              <a:tabLst>
                <a:tab pos="698500" algn="l"/>
              </a:tabLst>
            </a:pPr>
            <a:r>
              <a:rPr sz="2200" dirty="0">
                <a:latin typeface="Times New Roman"/>
                <a:cs typeface="Times New Roman"/>
              </a:rPr>
              <a:t>Transmission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delay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ambria Math"/>
                <a:cs typeface="Cambria Math"/>
              </a:rPr>
              <a:t>∝</a:t>
            </a:r>
            <a:r>
              <a:rPr sz="2200" spc="20" dirty="0">
                <a:latin typeface="Cambria Math"/>
                <a:cs typeface="Cambria Math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Length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Size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packet</a:t>
            </a:r>
            <a:endParaRPr sz="22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Clr>
                <a:srgbClr val="3333CC"/>
              </a:buClr>
              <a:buSzPct val="84090"/>
              <a:buFont typeface="Courier New"/>
              <a:buChar char="o"/>
              <a:tabLst>
                <a:tab pos="698500" algn="l"/>
              </a:tabLst>
            </a:pPr>
            <a:r>
              <a:rPr sz="2200" dirty="0">
                <a:latin typeface="Times New Roman"/>
                <a:cs typeface="Times New Roman"/>
              </a:rPr>
              <a:t>Transmission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delay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ambria Math"/>
                <a:cs typeface="Cambria Math"/>
              </a:rPr>
              <a:t>∝</a:t>
            </a:r>
            <a:r>
              <a:rPr sz="2200" spc="20" dirty="0">
                <a:latin typeface="Cambria Math"/>
                <a:cs typeface="Cambria Math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/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Bandwidth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83278" y="2276297"/>
            <a:ext cx="63627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Cambria Math"/>
                <a:cs typeface="Cambria Math"/>
              </a:rPr>
              <a:t>𝑻</a:t>
            </a:r>
            <a:r>
              <a:rPr sz="2400" baseline="-15625" dirty="0">
                <a:latin typeface="Cambria Math"/>
                <a:cs typeface="Cambria Math"/>
              </a:rPr>
              <a:t>𝒕</a:t>
            </a:r>
            <a:r>
              <a:rPr sz="2400" spc="517" baseline="-15625" dirty="0">
                <a:latin typeface="Cambria Math"/>
                <a:cs typeface="Cambria Math"/>
              </a:rPr>
              <a:t> </a:t>
            </a:r>
            <a:r>
              <a:rPr sz="2200" spc="-50" dirty="0">
                <a:latin typeface="Cambria Math"/>
                <a:cs typeface="Cambria Math"/>
              </a:rPr>
              <a:t>=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118989" y="2479294"/>
            <a:ext cx="2354580" cy="18415"/>
          </a:xfrm>
          <a:custGeom>
            <a:avLst/>
            <a:gdLst/>
            <a:ahLst/>
            <a:cxnLst/>
            <a:rect l="l" t="t" r="r" b="b"/>
            <a:pathLst>
              <a:path w="2354579" h="18414">
                <a:moveTo>
                  <a:pt x="2354580" y="0"/>
                </a:moveTo>
                <a:lnTo>
                  <a:pt x="0" y="0"/>
                </a:lnTo>
                <a:lnTo>
                  <a:pt x="0" y="18287"/>
                </a:lnTo>
                <a:lnTo>
                  <a:pt x="2354580" y="18287"/>
                </a:lnTo>
                <a:lnTo>
                  <a:pt x="23545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107051" y="2064766"/>
            <a:ext cx="238061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Cambria Math"/>
                <a:cs typeface="Cambria Math"/>
              </a:rPr>
              <a:t>𝐋𝐞𝐧𝐠𝐭𝐡</a:t>
            </a:r>
            <a:r>
              <a:rPr sz="2200" spc="-35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𝐨𝐟</a:t>
            </a:r>
            <a:r>
              <a:rPr sz="2200" spc="-45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𝐝𝐚𝐭𝐚</a:t>
            </a:r>
            <a:r>
              <a:rPr sz="2200" spc="-30" dirty="0">
                <a:latin typeface="Cambria Math"/>
                <a:cs typeface="Cambria Math"/>
              </a:rPr>
              <a:t> </a:t>
            </a:r>
            <a:r>
              <a:rPr sz="2200" spc="-25" dirty="0">
                <a:latin typeface="Cambria Math"/>
                <a:cs typeface="Cambria Math"/>
              </a:rPr>
              <a:t>(𝐋)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18886" y="2462911"/>
            <a:ext cx="195707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Cambria Math"/>
                <a:cs typeface="Cambria Math"/>
              </a:rPr>
              <a:t>𝐁𝐚𝐧𝐝𝐰𝐢𝐝𝐭𝐡</a:t>
            </a:r>
            <a:r>
              <a:rPr sz="2200" spc="-85" dirty="0">
                <a:latin typeface="Cambria Math"/>
                <a:cs typeface="Cambria Math"/>
              </a:rPr>
              <a:t> </a:t>
            </a:r>
            <a:r>
              <a:rPr sz="2200" spc="-25" dirty="0">
                <a:latin typeface="Cambria Math"/>
                <a:cs typeface="Cambria Math"/>
              </a:rPr>
              <a:t>(𝐁)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8759" y="2810382"/>
            <a:ext cx="10629265" cy="18376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latin typeface="Times New Roman"/>
                <a:cs typeface="Times New Roman"/>
              </a:rPr>
              <a:t>This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delay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depends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upon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the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number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of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active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sessions,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bandwidth,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MAC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protocol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lr>
                <a:srgbClr val="3333CC"/>
              </a:buClr>
              <a:buSzPct val="84090"/>
              <a:buFont typeface="Wingdings"/>
              <a:buChar char=""/>
              <a:tabLst>
                <a:tab pos="354965" algn="l"/>
              </a:tabLst>
            </a:pPr>
            <a:r>
              <a:rPr sz="2200" b="1" spc="-10" dirty="0">
                <a:latin typeface="Times New Roman"/>
                <a:cs typeface="Times New Roman"/>
              </a:rPr>
              <a:t>Propagation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delay: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Time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taken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bit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travel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from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sender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receiver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link.</a:t>
            </a:r>
            <a:endParaRPr sz="22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275"/>
              </a:spcBef>
              <a:buClr>
                <a:srgbClr val="3333CC"/>
              </a:buClr>
              <a:buSzPct val="84090"/>
              <a:buFont typeface="Courier New"/>
              <a:buChar char="o"/>
              <a:tabLst>
                <a:tab pos="698500" algn="l"/>
              </a:tabLst>
            </a:pPr>
            <a:r>
              <a:rPr sz="2200" dirty="0">
                <a:latin typeface="Times New Roman"/>
                <a:cs typeface="Times New Roman"/>
              </a:rPr>
              <a:t>Propagation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delay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ambria Math"/>
                <a:cs typeface="Cambria Math"/>
              </a:rPr>
              <a:t>∝</a:t>
            </a:r>
            <a:r>
              <a:rPr sz="2200" spc="20" dirty="0">
                <a:latin typeface="Cambria Math"/>
                <a:cs typeface="Cambria Math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Distance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between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sender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receiver</a:t>
            </a:r>
            <a:endParaRPr sz="22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Clr>
                <a:srgbClr val="3333CC"/>
              </a:buClr>
              <a:buSzPct val="84090"/>
              <a:buFont typeface="Courier New"/>
              <a:buChar char="o"/>
              <a:tabLst>
                <a:tab pos="698500" algn="l"/>
              </a:tabLst>
            </a:pPr>
            <a:r>
              <a:rPr sz="2200" dirty="0">
                <a:latin typeface="Times New Roman"/>
                <a:cs typeface="Times New Roman"/>
              </a:rPr>
              <a:t>Propagation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delay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ambria Math"/>
                <a:cs typeface="Cambria Math"/>
              </a:rPr>
              <a:t>∝</a:t>
            </a:r>
            <a:r>
              <a:rPr sz="2200" spc="25" dirty="0">
                <a:latin typeface="Cambria Math"/>
                <a:cs typeface="Cambria Math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/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transmission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speed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29966" y="5116829"/>
            <a:ext cx="6565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Cambria Math"/>
                <a:cs typeface="Cambria Math"/>
              </a:rPr>
              <a:t>𝐓</a:t>
            </a:r>
            <a:r>
              <a:rPr sz="2400" baseline="-15625" dirty="0">
                <a:latin typeface="Cambria Math"/>
                <a:cs typeface="Cambria Math"/>
              </a:rPr>
              <a:t>𝐩</a:t>
            </a:r>
            <a:r>
              <a:rPr sz="2400" spc="202" baseline="-15625" dirty="0">
                <a:latin typeface="Cambria Math"/>
                <a:cs typeface="Cambria Math"/>
              </a:rPr>
              <a:t> </a:t>
            </a:r>
            <a:r>
              <a:rPr sz="2200" spc="-50" dirty="0">
                <a:latin typeface="Cambria Math"/>
                <a:cs typeface="Cambria Math"/>
              </a:rPr>
              <a:t>=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787013" y="5318505"/>
            <a:ext cx="5039995" cy="18415"/>
          </a:xfrm>
          <a:custGeom>
            <a:avLst/>
            <a:gdLst/>
            <a:ahLst/>
            <a:cxnLst/>
            <a:rect l="l" t="t" r="r" b="b"/>
            <a:pathLst>
              <a:path w="5039995" h="18414">
                <a:moveTo>
                  <a:pt x="5039868" y="0"/>
                </a:moveTo>
                <a:lnTo>
                  <a:pt x="0" y="0"/>
                </a:lnTo>
                <a:lnTo>
                  <a:pt x="0" y="18288"/>
                </a:lnTo>
                <a:lnTo>
                  <a:pt x="5039868" y="18288"/>
                </a:lnTo>
                <a:lnTo>
                  <a:pt x="50398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774694" y="4904308"/>
            <a:ext cx="50647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Cambria Math"/>
                <a:cs typeface="Cambria Math"/>
              </a:rPr>
              <a:t>𝐃𝐢𝐬𝐭𝐚𝐧𝐜𝐞</a:t>
            </a:r>
            <a:r>
              <a:rPr sz="2200" spc="-70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𝐛𝐞𝐭𝐰𝐞𝐞𝐧</a:t>
            </a:r>
            <a:r>
              <a:rPr sz="2200" spc="-85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𝐬𝐞𝐧𝐝𝐞𝐫</a:t>
            </a:r>
            <a:r>
              <a:rPr sz="2200" spc="-65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𝐚𝐧𝐝</a:t>
            </a:r>
            <a:r>
              <a:rPr sz="2200" spc="-85" dirty="0">
                <a:latin typeface="Cambria Math"/>
                <a:cs typeface="Cambria Math"/>
              </a:rPr>
              <a:t> </a:t>
            </a:r>
            <a:r>
              <a:rPr sz="2200" spc="-10" dirty="0">
                <a:latin typeface="Cambria Math"/>
                <a:cs typeface="Cambria Math"/>
              </a:rPr>
              <a:t>𝐫𝐞𝐜𝐞𝐢𝐯𝐞𝐫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68366" y="5302707"/>
            <a:ext cx="267970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latin typeface="Cambria Math"/>
                <a:cs typeface="Cambria Math"/>
              </a:rPr>
              <a:t>𝐓𝐫𝐚𝐧𝐬𝐦𝐢𝐬𝐬𝐢𝐨𝐧</a:t>
            </a:r>
            <a:r>
              <a:rPr sz="2200" spc="-15" dirty="0">
                <a:latin typeface="Cambria Math"/>
                <a:cs typeface="Cambria Math"/>
              </a:rPr>
              <a:t> </a:t>
            </a:r>
            <a:r>
              <a:rPr sz="2200" spc="-20" dirty="0">
                <a:latin typeface="Cambria Math"/>
                <a:cs typeface="Cambria Math"/>
              </a:rPr>
              <a:t>𝐬𝐩𝐞𝐞𝐝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4600955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370545"/>
                </a:moveTo>
                <a:lnTo>
                  <a:pt x="832510" y="1189012"/>
                </a:lnTo>
                <a:lnTo>
                  <a:pt x="1013460" y="1008888"/>
                </a:lnTo>
                <a:lnTo>
                  <a:pt x="0" y="0"/>
                </a:lnTo>
                <a:lnTo>
                  <a:pt x="0" y="2017776"/>
                </a:lnTo>
                <a:lnTo>
                  <a:pt x="488391" y="1531594"/>
                </a:lnTo>
                <a:lnTo>
                  <a:pt x="670699" y="1713890"/>
                </a:lnTo>
                <a:lnTo>
                  <a:pt x="1014056" y="137054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1094720" y="0"/>
            <a:ext cx="1097280" cy="1097280"/>
          </a:xfrm>
          <a:custGeom>
            <a:avLst/>
            <a:gdLst/>
            <a:ahLst/>
            <a:cxnLst/>
            <a:rect l="l" t="t" r="r" b="b"/>
            <a:pathLst>
              <a:path w="1097279" h="1097280">
                <a:moveTo>
                  <a:pt x="1097280" y="0"/>
                </a:moveTo>
                <a:lnTo>
                  <a:pt x="0" y="0"/>
                </a:lnTo>
                <a:lnTo>
                  <a:pt x="178269" y="178282"/>
                </a:lnTo>
                <a:lnTo>
                  <a:pt x="0" y="356616"/>
                </a:lnTo>
                <a:lnTo>
                  <a:pt x="323723" y="680339"/>
                </a:lnTo>
                <a:lnTo>
                  <a:pt x="502056" y="502069"/>
                </a:lnTo>
                <a:lnTo>
                  <a:pt x="1097280" y="1097280"/>
                </a:lnTo>
                <a:lnTo>
                  <a:pt x="1097280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6430" y="1790489"/>
            <a:ext cx="3069978" cy="749177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66372" y="5807023"/>
            <a:ext cx="3772494" cy="5366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2172" y="559765"/>
            <a:ext cx="10747654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76220">
              <a:lnSpc>
                <a:spcPct val="100000"/>
              </a:lnSpc>
              <a:spcBef>
                <a:spcPts val="100"/>
              </a:spcBef>
            </a:pPr>
            <a:r>
              <a:rPr sz="3300" b="1" spc="-25" dirty="0">
                <a:latin typeface="Times New Roman"/>
                <a:cs typeface="Times New Roman"/>
              </a:rPr>
              <a:t>Types</a:t>
            </a:r>
            <a:r>
              <a:rPr sz="3300" b="1" spc="-100" dirty="0">
                <a:latin typeface="Times New Roman"/>
                <a:cs typeface="Times New Roman"/>
              </a:rPr>
              <a:t> </a:t>
            </a:r>
            <a:r>
              <a:rPr sz="3300" b="1" dirty="0">
                <a:latin typeface="Times New Roman"/>
                <a:cs typeface="Times New Roman"/>
              </a:rPr>
              <a:t>of</a:t>
            </a:r>
            <a:r>
              <a:rPr sz="3300" b="1" spc="-90" dirty="0">
                <a:latin typeface="Times New Roman"/>
                <a:cs typeface="Times New Roman"/>
              </a:rPr>
              <a:t> </a:t>
            </a:r>
            <a:r>
              <a:rPr sz="3300" b="1" dirty="0">
                <a:latin typeface="Times New Roman"/>
                <a:cs typeface="Times New Roman"/>
              </a:rPr>
              <a:t>Delays</a:t>
            </a:r>
            <a:endParaRPr sz="33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8587" y="1242822"/>
            <a:ext cx="11534140" cy="4320413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81000" marR="32384" indent="-342900">
              <a:lnSpc>
                <a:spcPts val="2380"/>
              </a:lnSpc>
              <a:spcBef>
                <a:spcPts val="390"/>
              </a:spcBef>
              <a:buClr>
                <a:srgbClr val="3333CC"/>
              </a:buClr>
              <a:buSzPct val="84090"/>
              <a:buFont typeface="Wingdings"/>
              <a:buChar char=""/>
              <a:tabLst>
                <a:tab pos="381000" algn="l"/>
                <a:tab pos="1549400" algn="l"/>
                <a:tab pos="2426335" algn="l"/>
                <a:tab pos="3150235" algn="l"/>
                <a:tab pos="3886200" algn="l"/>
                <a:tab pos="4311015" algn="l"/>
                <a:tab pos="4797425" algn="l"/>
                <a:tab pos="5407025" algn="l"/>
                <a:tab pos="6280785" algn="l"/>
                <a:tab pos="7265670" algn="l"/>
                <a:tab pos="7628255" algn="l"/>
                <a:tab pos="8114030" algn="l"/>
                <a:tab pos="8926830" algn="l"/>
                <a:tab pos="9784715" algn="l"/>
                <a:tab pos="10085070" algn="l"/>
                <a:tab pos="10415905" algn="l"/>
                <a:tab pos="11167110" algn="l"/>
              </a:tabLst>
            </a:pPr>
            <a:r>
              <a:rPr sz="2200" b="1" spc="-10" dirty="0">
                <a:latin typeface="Times New Roman"/>
                <a:cs typeface="Times New Roman"/>
              </a:rPr>
              <a:t>Queuing</a:t>
            </a:r>
            <a:r>
              <a:rPr sz="2200" b="1" dirty="0">
                <a:latin typeface="Times New Roman"/>
                <a:cs typeface="Times New Roman"/>
              </a:rPr>
              <a:t>	</a:t>
            </a:r>
            <a:r>
              <a:rPr sz="2200" b="1" spc="-10" dirty="0">
                <a:latin typeface="Times New Roman"/>
                <a:cs typeface="Times New Roman"/>
              </a:rPr>
              <a:t>delay:</a:t>
            </a:r>
            <a:r>
              <a:rPr sz="2200" b="1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Time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spent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by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data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packet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waiting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in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queue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before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it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is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taken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for </a:t>
            </a:r>
            <a:r>
              <a:rPr sz="2200" spc="-10" dirty="0">
                <a:latin typeface="Times New Roman"/>
                <a:cs typeface="Times New Roman"/>
              </a:rPr>
              <a:t>execution.</a:t>
            </a:r>
            <a:endParaRPr sz="2200" dirty="0">
              <a:latin typeface="Times New Roman"/>
              <a:cs typeface="Times New Roman"/>
            </a:endParaRPr>
          </a:p>
          <a:p>
            <a:pPr marL="723900" lvl="1" indent="-228600">
              <a:lnSpc>
                <a:spcPts val="2510"/>
              </a:lnSpc>
              <a:spcBef>
                <a:spcPts val="225"/>
              </a:spcBef>
              <a:buClr>
                <a:srgbClr val="3333CC"/>
              </a:buClr>
              <a:buSzPct val="84090"/>
              <a:buFont typeface="Courier New"/>
              <a:buChar char="o"/>
              <a:tabLst>
                <a:tab pos="723900" algn="l"/>
              </a:tabLst>
            </a:pP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depends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congestion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network,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size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queue,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arrival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rate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packets,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number</a:t>
            </a:r>
            <a:endParaRPr sz="2200" dirty="0">
              <a:latin typeface="Times New Roman"/>
              <a:cs typeface="Times New Roman"/>
            </a:endParaRPr>
          </a:p>
          <a:p>
            <a:pPr marL="723900">
              <a:lnSpc>
                <a:spcPts val="2510"/>
              </a:lnSpc>
            </a:pP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servers/links.</a:t>
            </a:r>
            <a:endParaRPr sz="2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2200" dirty="0">
              <a:latin typeface="Times New Roman"/>
              <a:cs typeface="Times New Roman"/>
            </a:endParaRPr>
          </a:p>
          <a:p>
            <a:pPr marL="380365" indent="-342265">
              <a:lnSpc>
                <a:spcPct val="100000"/>
              </a:lnSpc>
              <a:spcBef>
                <a:spcPts val="5"/>
              </a:spcBef>
              <a:buClr>
                <a:srgbClr val="3333CC"/>
              </a:buClr>
              <a:buSzPct val="84090"/>
              <a:buFont typeface="Wingdings"/>
              <a:buChar char=""/>
              <a:tabLst>
                <a:tab pos="380365" algn="l"/>
              </a:tabLst>
            </a:pPr>
            <a:r>
              <a:rPr sz="2200" b="1" dirty="0">
                <a:latin typeface="Times New Roman"/>
                <a:cs typeface="Times New Roman"/>
              </a:rPr>
              <a:t>Processing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delay: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Time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taken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processor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process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packet.</a:t>
            </a:r>
            <a:endParaRPr sz="2200" dirty="0">
              <a:latin typeface="Times New Roman"/>
              <a:cs typeface="Times New Roman"/>
            </a:endParaRPr>
          </a:p>
          <a:p>
            <a:pPr marL="723900" lvl="1" indent="-228600">
              <a:lnSpc>
                <a:spcPct val="100000"/>
              </a:lnSpc>
              <a:spcBef>
                <a:spcPts val="265"/>
              </a:spcBef>
              <a:buClr>
                <a:srgbClr val="3333CC"/>
              </a:buClr>
              <a:buSzPct val="84090"/>
              <a:buFont typeface="Courier New"/>
              <a:buChar char="o"/>
              <a:tabLst>
                <a:tab pos="723900" algn="l"/>
              </a:tabLst>
            </a:pP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depends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speed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processor.</a:t>
            </a:r>
            <a:endParaRPr sz="2200" dirty="0">
              <a:latin typeface="Times New Roman"/>
              <a:cs typeface="Times New Roman"/>
            </a:endParaRPr>
          </a:p>
          <a:p>
            <a:pPr marL="723900" lvl="1" indent="-228600">
              <a:lnSpc>
                <a:spcPct val="100000"/>
              </a:lnSpc>
              <a:spcBef>
                <a:spcPts val="265"/>
              </a:spcBef>
              <a:buClr>
                <a:srgbClr val="3333CC"/>
              </a:buClr>
              <a:buSzPct val="84090"/>
              <a:buFont typeface="Courier New"/>
              <a:buChar char="o"/>
              <a:tabLst>
                <a:tab pos="723900" algn="l"/>
              </a:tabLst>
            </a:pPr>
            <a:r>
              <a:rPr sz="2200" dirty="0">
                <a:latin typeface="Times New Roman"/>
                <a:cs typeface="Times New Roman"/>
              </a:rPr>
              <a:t>Processing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packet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helps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detecting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bit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level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errors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occurs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during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transmission.</a:t>
            </a:r>
            <a:endParaRPr sz="2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2200" dirty="0">
              <a:latin typeface="Times New Roman"/>
              <a:cs typeface="Times New Roman"/>
            </a:endParaRPr>
          </a:p>
          <a:p>
            <a:pPr marR="467359" algn="ctr">
              <a:lnSpc>
                <a:spcPct val="100000"/>
              </a:lnSpc>
              <a:tabLst>
                <a:tab pos="1080135" algn="l"/>
              </a:tabLst>
            </a:pPr>
            <a:r>
              <a:rPr sz="3300" baseline="11363" dirty="0">
                <a:latin typeface="Cambria Math"/>
                <a:cs typeface="Cambria Math"/>
              </a:rPr>
              <a:t>𝑇</a:t>
            </a:r>
            <a:r>
              <a:rPr sz="1600" dirty="0">
                <a:latin typeface="Cambria Math"/>
                <a:cs typeface="Cambria Math"/>
              </a:rPr>
              <a:t>𝑡𝑜𝑡𝑎𝑙</a:t>
            </a:r>
            <a:r>
              <a:rPr sz="1600" spc="95" dirty="0">
                <a:latin typeface="Cambria Math"/>
                <a:cs typeface="Cambria Math"/>
              </a:rPr>
              <a:t>  </a:t>
            </a:r>
            <a:r>
              <a:rPr sz="3300" spc="-75" baseline="11363" dirty="0">
                <a:latin typeface="Cambria Math"/>
                <a:cs typeface="Cambria Math"/>
              </a:rPr>
              <a:t>=</a:t>
            </a:r>
            <a:r>
              <a:rPr sz="3300" baseline="11363" dirty="0">
                <a:latin typeface="Cambria Math"/>
                <a:cs typeface="Cambria Math"/>
              </a:rPr>
              <a:t>	𝑇</a:t>
            </a:r>
            <a:r>
              <a:rPr sz="1600" dirty="0">
                <a:latin typeface="Cambria Math"/>
                <a:cs typeface="Cambria Math"/>
              </a:rPr>
              <a:t>𝑡</a:t>
            </a:r>
            <a:r>
              <a:rPr sz="1600" spc="190" dirty="0">
                <a:latin typeface="Cambria Math"/>
                <a:cs typeface="Cambria Math"/>
              </a:rPr>
              <a:t> </a:t>
            </a:r>
            <a:r>
              <a:rPr sz="3300" baseline="11363" dirty="0">
                <a:latin typeface="Cambria Math"/>
                <a:cs typeface="Cambria Math"/>
              </a:rPr>
              <a:t>+</a:t>
            </a:r>
            <a:r>
              <a:rPr sz="3300" spc="-104" baseline="11363" dirty="0">
                <a:latin typeface="Cambria Math"/>
                <a:cs typeface="Cambria Math"/>
              </a:rPr>
              <a:t> </a:t>
            </a:r>
            <a:r>
              <a:rPr sz="3300" baseline="11363" dirty="0">
                <a:latin typeface="Cambria Math"/>
                <a:cs typeface="Cambria Math"/>
              </a:rPr>
              <a:t>𝑇</a:t>
            </a:r>
            <a:r>
              <a:rPr sz="1600" dirty="0">
                <a:latin typeface="Cambria Math"/>
                <a:cs typeface="Cambria Math"/>
              </a:rPr>
              <a:t>𝑝</a:t>
            </a:r>
            <a:r>
              <a:rPr sz="1600" spc="170" dirty="0">
                <a:latin typeface="Cambria Math"/>
                <a:cs typeface="Cambria Math"/>
              </a:rPr>
              <a:t> </a:t>
            </a:r>
            <a:r>
              <a:rPr sz="3300" baseline="11363" dirty="0">
                <a:latin typeface="Cambria Math"/>
                <a:cs typeface="Cambria Math"/>
              </a:rPr>
              <a:t>+</a:t>
            </a:r>
            <a:r>
              <a:rPr sz="3300" spc="525" baseline="11363" dirty="0">
                <a:latin typeface="Cambria Math"/>
                <a:cs typeface="Cambria Math"/>
              </a:rPr>
              <a:t> </a:t>
            </a:r>
            <a:r>
              <a:rPr sz="3300" spc="-15" baseline="11363" dirty="0">
                <a:latin typeface="Cambria Math"/>
                <a:cs typeface="Cambria Math"/>
              </a:rPr>
              <a:t>𝑇</a:t>
            </a:r>
            <a:r>
              <a:rPr sz="1600" spc="-10" dirty="0">
                <a:latin typeface="Cambria Math"/>
                <a:cs typeface="Cambria Math"/>
              </a:rPr>
              <a:t>𝑄</a:t>
            </a:r>
            <a:r>
              <a:rPr sz="1600" spc="185" dirty="0">
                <a:latin typeface="Cambria Math"/>
                <a:cs typeface="Cambria Math"/>
              </a:rPr>
              <a:t> </a:t>
            </a:r>
            <a:r>
              <a:rPr sz="3300" baseline="11363" dirty="0">
                <a:latin typeface="Cambria Math"/>
                <a:cs typeface="Cambria Math"/>
              </a:rPr>
              <a:t>+</a:t>
            </a:r>
            <a:r>
              <a:rPr sz="3300" spc="532" baseline="11363" dirty="0">
                <a:latin typeface="Cambria Math"/>
                <a:cs typeface="Cambria Math"/>
              </a:rPr>
              <a:t> </a:t>
            </a:r>
            <a:r>
              <a:rPr sz="3300" spc="-30" baseline="11363" dirty="0">
                <a:latin typeface="Cambria Math"/>
                <a:cs typeface="Cambria Math"/>
              </a:rPr>
              <a:t>𝑇</a:t>
            </a:r>
            <a:r>
              <a:rPr sz="1600" spc="-20" dirty="0">
                <a:latin typeface="Cambria Math"/>
                <a:cs typeface="Cambria Math"/>
              </a:rPr>
              <a:t>𝑝𝑟𝑜</a:t>
            </a:r>
            <a:endParaRPr sz="1600" dirty="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080"/>
              </a:spcBef>
            </a:pPr>
            <a:endParaRPr sz="1600" dirty="0">
              <a:latin typeface="Cambria Math"/>
              <a:cs typeface="Cambria Math"/>
            </a:endParaRPr>
          </a:p>
          <a:p>
            <a:pPr marL="454659" algn="ctr">
              <a:lnSpc>
                <a:spcPct val="100000"/>
              </a:lnSpc>
              <a:tabLst>
                <a:tab pos="1535430" algn="l"/>
              </a:tabLst>
            </a:pPr>
            <a:r>
              <a:rPr sz="2200" dirty="0">
                <a:latin typeface="Cambria Math"/>
                <a:cs typeface="Cambria Math"/>
              </a:rPr>
              <a:t>𝑇</a:t>
            </a:r>
            <a:r>
              <a:rPr sz="2400" baseline="-15625" dirty="0">
                <a:latin typeface="Cambria Math"/>
                <a:cs typeface="Cambria Math"/>
              </a:rPr>
              <a:t>𝑡𝑜𝑡𝑎𝑙</a:t>
            </a:r>
            <a:r>
              <a:rPr sz="2400" spc="157" baseline="-15625" dirty="0">
                <a:latin typeface="Cambria Math"/>
                <a:cs typeface="Cambria Math"/>
              </a:rPr>
              <a:t>  </a:t>
            </a:r>
            <a:r>
              <a:rPr sz="2200" spc="-50" dirty="0">
                <a:latin typeface="Cambria Math"/>
                <a:cs typeface="Cambria Math"/>
              </a:rPr>
              <a:t>=</a:t>
            </a:r>
            <a:r>
              <a:rPr sz="2200" dirty="0">
                <a:latin typeface="Cambria Math"/>
                <a:cs typeface="Cambria Math"/>
              </a:rPr>
              <a:t>	𝑇</a:t>
            </a:r>
            <a:r>
              <a:rPr sz="2400" baseline="-15625" dirty="0">
                <a:latin typeface="Cambria Math"/>
                <a:cs typeface="Cambria Math"/>
              </a:rPr>
              <a:t>𝑡</a:t>
            </a:r>
            <a:r>
              <a:rPr sz="2400" spc="277" baseline="-15625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+</a:t>
            </a:r>
            <a:r>
              <a:rPr sz="2200" spc="-75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𝑇</a:t>
            </a:r>
            <a:r>
              <a:rPr sz="2400" baseline="-15625" dirty="0">
                <a:latin typeface="Cambria Math"/>
                <a:cs typeface="Cambria Math"/>
              </a:rPr>
              <a:t>𝑝</a:t>
            </a:r>
            <a:r>
              <a:rPr sz="2400" spc="284" baseline="-15625" dirty="0">
                <a:latin typeface="Cambria Math"/>
                <a:cs typeface="Cambria Math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When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ambria Math"/>
                <a:cs typeface="Cambria Math"/>
              </a:rPr>
              <a:t>𝑇</a:t>
            </a:r>
            <a:r>
              <a:rPr sz="2400" baseline="-15625" dirty="0">
                <a:latin typeface="Cambria Math"/>
                <a:cs typeface="Cambria Math"/>
              </a:rPr>
              <a:t>𝑄</a:t>
            </a:r>
            <a:r>
              <a:rPr sz="2400" spc="367" baseline="-15625" dirty="0">
                <a:latin typeface="Cambria Math"/>
                <a:cs typeface="Cambria Math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ambria Math"/>
                <a:cs typeface="Cambria Math"/>
              </a:rPr>
              <a:t>𝑇</a:t>
            </a:r>
            <a:r>
              <a:rPr sz="2400" baseline="-15625" dirty="0">
                <a:latin typeface="Cambria Math"/>
                <a:cs typeface="Cambria Math"/>
              </a:rPr>
              <a:t>𝑝𝑟𝑜</a:t>
            </a:r>
            <a:r>
              <a:rPr sz="2400" spc="345" baseline="-15625" dirty="0">
                <a:latin typeface="Cambria Math"/>
                <a:cs typeface="Cambria Math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zero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4600955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370545"/>
                </a:moveTo>
                <a:lnTo>
                  <a:pt x="832510" y="1189012"/>
                </a:lnTo>
                <a:lnTo>
                  <a:pt x="1013460" y="1008888"/>
                </a:lnTo>
                <a:lnTo>
                  <a:pt x="0" y="0"/>
                </a:lnTo>
                <a:lnTo>
                  <a:pt x="0" y="2017776"/>
                </a:lnTo>
                <a:lnTo>
                  <a:pt x="488391" y="1531594"/>
                </a:lnTo>
                <a:lnTo>
                  <a:pt x="670699" y="1713890"/>
                </a:lnTo>
                <a:lnTo>
                  <a:pt x="1014056" y="137054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094720" y="0"/>
            <a:ext cx="1097280" cy="1097280"/>
          </a:xfrm>
          <a:custGeom>
            <a:avLst/>
            <a:gdLst/>
            <a:ahLst/>
            <a:cxnLst/>
            <a:rect l="l" t="t" r="r" b="b"/>
            <a:pathLst>
              <a:path w="1097279" h="1097280">
                <a:moveTo>
                  <a:pt x="1097280" y="0"/>
                </a:moveTo>
                <a:lnTo>
                  <a:pt x="0" y="0"/>
                </a:lnTo>
                <a:lnTo>
                  <a:pt x="178269" y="178282"/>
                </a:lnTo>
                <a:lnTo>
                  <a:pt x="0" y="356616"/>
                </a:lnTo>
                <a:lnTo>
                  <a:pt x="323723" y="680339"/>
                </a:lnTo>
                <a:lnTo>
                  <a:pt x="502056" y="502069"/>
                </a:lnTo>
                <a:lnTo>
                  <a:pt x="1097280" y="1097280"/>
                </a:lnTo>
                <a:lnTo>
                  <a:pt x="1097280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8638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imes New Roman"/>
                <a:cs typeface="Times New Roman"/>
              </a:rPr>
              <a:t>Flow</a:t>
            </a:r>
            <a:r>
              <a:rPr b="1" spc="-5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Control</a:t>
            </a:r>
            <a:r>
              <a:rPr b="1" spc="-35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Protocols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6095" y="1484198"/>
            <a:ext cx="11379200" cy="713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0" indent="-244475">
              <a:lnSpc>
                <a:spcPts val="2705"/>
              </a:lnSpc>
              <a:spcBef>
                <a:spcPts val="100"/>
              </a:spcBef>
              <a:buSzPct val="95833"/>
              <a:buFont typeface="Wingdings"/>
              <a:buChar char=""/>
              <a:tabLst>
                <a:tab pos="254000" algn="l"/>
              </a:tabLst>
            </a:pP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procedures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restricting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amount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sender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send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ts val="2705"/>
              </a:lnSpc>
            </a:pP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receiver.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4600955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370545"/>
                </a:moveTo>
                <a:lnTo>
                  <a:pt x="832510" y="1189012"/>
                </a:lnTo>
                <a:lnTo>
                  <a:pt x="1013460" y="1008888"/>
                </a:lnTo>
                <a:lnTo>
                  <a:pt x="0" y="0"/>
                </a:lnTo>
                <a:lnTo>
                  <a:pt x="0" y="2017776"/>
                </a:lnTo>
                <a:lnTo>
                  <a:pt x="488391" y="1531594"/>
                </a:lnTo>
                <a:lnTo>
                  <a:pt x="670699" y="1713890"/>
                </a:lnTo>
                <a:lnTo>
                  <a:pt x="1014056" y="137054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219307" y="0"/>
            <a:ext cx="972819" cy="1935480"/>
          </a:xfrm>
          <a:custGeom>
            <a:avLst/>
            <a:gdLst/>
            <a:ahLst/>
            <a:cxnLst/>
            <a:rect l="l" t="t" r="r" b="b"/>
            <a:pathLst>
              <a:path w="972820" h="1935480">
                <a:moveTo>
                  <a:pt x="972693" y="0"/>
                </a:moveTo>
                <a:lnTo>
                  <a:pt x="381" y="967740"/>
                </a:lnTo>
                <a:lnTo>
                  <a:pt x="177482" y="1144016"/>
                </a:lnTo>
                <a:lnTo>
                  <a:pt x="0" y="1321562"/>
                </a:lnTo>
                <a:lnTo>
                  <a:pt x="348615" y="1670177"/>
                </a:lnTo>
                <a:lnTo>
                  <a:pt x="526986" y="1491881"/>
                </a:lnTo>
                <a:lnTo>
                  <a:pt x="972693" y="1935480"/>
                </a:lnTo>
                <a:lnTo>
                  <a:pt x="972693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0101" y="2167688"/>
            <a:ext cx="5924202" cy="41477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69689" y="559765"/>
            <a:ext cx="28111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imes New Roman"/>
                <a:cs typeface="Times New Roman"/>
              </a:rPr>
              <a:t>Stop</a:t>
            </a:r>
            <a:r>
              <a:rPr b="1" spc="-2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and</a:t>
            </a:r>
            <a:r>
              <a:rPr b="1" spc="-75" dirty="0">
                <a:latin typeface="Times New Roman"/>
                <a:cs typeface="Times New Roman"/>
              </a:rPr>
              <a:t> </a:t>
            </a:r>
            <a:r>
              <a:rPr b="1" spc="-40" dirty="0">
                <a:latin typeface="Times New Roman"/>
                <a:cs typeface="Times New Roman"/>
              </a:rPr>
              <a:t>Wait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443354"/>
            <a:ext cx="5149850" cy="496514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1939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  <a:tab pos="879475" algn="l"/>
                <a:tab pos="1757680" algn="l"/>
                <a:tab pos="2181225" algn="l"/>
                <a:tab pos="2771140" algn="l"/>
                <a:tab pos="3527425" algn="l"/>
                <a:tab pos="4150360" algn="l"/>
                <a:tab pos="4627880" algn="l"/>
              </a:tabLst>
            </a:pPr>
            <a:r>
              <a:rPr sz="1900" spc="-10" dirty="0">
                <a:solidFill>
                  <a:srgbClr val="333333"/>
                </a:solidFill>
                <a:latin typeface="Times New Roman"/>
                <a:cs typeface="Times New Roman"/>
              </a:rPr>
              <a:t>After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1900" spc="-10" dirty="0">
                <a:solidFill>
                  <a:srgbClr val="333333"/>
                </a:solidFill>
                <a:latin typeface="Times New Roman"/>
                <a:cs typeface="Times New Roman"/>
              </a:rPr>
              <a:t>sending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1900" spc="-25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1900" spc="-10" dirty="0">
                <a:solidFill>
                  <a:srgbClr val="333333"/>
                </a:solidFill>
                <a:latin typeface="Times New Roman"/>
                <a:cs typeface="Times New Roman"/>
              </a:rPr>
              <a:t>data,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1900" spc="-10" dirty="0">
                <a:solidFill>
                  <a:srgbClr val="333333"/>
                </a:solidFill>
                <a:latin typeface="Times New Roman"/>
                <a:cs typeface="Times New Roman"/>
              </a:rPr>
              <a:t>sender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1900" spc="-10" dirty="0">
                <a:solidFill>
                  <a:srgbClr val="333333"/>
                </a:solidFill>
                <a:latin typeface="Times New Roman"/>
                <a:cs typeface="Times New Roman"/>
              </a:rPr>
              <a:t>stops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1900" spc="-25" dirty="0">
                <a:solidFill>
                  <a:srgbClr val="333333"/>
                </a:solidFill>
                <a:latin typeface="Times New Roman"/>
                <a:cs typeface="Times New Roman"/>
              </a:rPr>
              <a:t>and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1900" spc="-10" dirty="0">
                <a:solidFill>
                  <a:srgbClr val="333333"/>
                </a:solidFill>
                <a:latin typeface="Times New Roman"/>
                <a:cs typeface="Times New Roman"/>
              </a:rPr>
              <a:t>waits</a:t>
            </a:r>
            <a:endParaRPr sz="1900" dirty="0">
              <a:latin typeface="Times New Roman"/>
              <a:cs typeface="Times New Roman"/>
            </a:endParaRPr>
          </a:p>
          <a:p>
            <a:pPr marL="241300">
              <a:lnSpc>
                <a:spcPts val="1595"/>
              </a:lnSpc>
              <a:tabLst>
                <a:tab pos="812800" algn="l"/>
                <a:tab pos="1555115" algn="l"/>
                <a:tab pos="2470785" algn="l"/>
                <a:tab pos="2893060" algn="l"/>
                <a:tab pos="4665980" algn="l"/>
              </a:tabLst>
            </a:pPr>
            <a:r>
              <a:rPr sz="1900" spc="-10" dirty="0">
                <a:solidFill>
                  <a:srgbClr val="333333"/>
                </a:solidFill>
                <a:latin typeface="Times New Roman"/>
                <a:cs typeface="Times New Roman"/>
              </a:rPr>
              <a:t>until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1900" spc="-10" dirty="0">
                <a:solidFill>
                  <a:srgbClr val="333333"/>
                </a:solidFill>
                <a:latin typeface="Times New Roman"/>
                <a:cs typeface="Times New Roman"/>
              </a:rPr>
              <a:t>he/she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1900" spc="-10" dirty="0">
                <a:solidFill>
                  <a:srgbClr val="333333"/>
                </a:solidFill>
                <a:latin typeface="Times New Roman"/>
                <a:cs typeface="Times New Roman"/>
              </a:rPr>
              <a:t>receives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1900" spc="-25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1900" spc="-10" dirty="0">
                <a:solidFill>
                  <a:srgbClr val="333333"/>
                </a:solidFill>
                <a:latin typeface="Times New Roman"/>
                <a:cs typeface="Times New Roman"/>
              </a:rPr>
              <a:t>acknowledgment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1900" spc="-20" dirty="0">
                <a:solidFill>
                  <a:srgbClr val="333333"/>
                </a:solidFill>
                <a:latin typeface="Times New Roman"/>
                <a:cs typeface="Times New Roman"/>
              </a:rPr>
              <a:t>from</a:t>
            </a:r>
            <a:endParaRPr sz="1900" dirty="0">
              <a:latin typeface="Times New Roman"/>
              <a:cs typeface="Times New Roman"/>
            </a:endParaRPr>
          </a:p>
          <a:p>
            <a:pPr marL="241300">
              <a:lnSpc>
                <a:spcPts val="1939"/>
              </a:lnSpc>
            </a:pP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1900" spc="-10" dirty="0">
                <a:solidFill>
                  <a:srgbClr val="333333"/>
                </a:solidFill>
                <a:latin typeface="Times New Roman"/>
                <a:cs typeface="Times New Roman"/>
              </a:rPr>
              <a:t> receiver.</a:t>
            </a:r>
            <a:endParaRPr sz="1900" dirty="0">
              <a:latin typeface="Times New Roman"/>
              <a:cs typeface="Times New Roman"/>
            </a:endParaRPr>
          </a:p>
          <a:p>
            <a:pPr marL="241300" marR="7620" indent="-229235">
              <a:lnSpc>
                <a:spcPct val="7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  <a:tab pos="549275" algn="l"/>
                <a:tab pos="869315" algn="l"/>
                <a:tab pos="1469390" algn="l"/>
                <a:tab pos="1913255" algn="l"/>
                <a:tab pos="3235960" algn="l"/>
                <a:tab pos="3690620" algn="l"/>
                <a:tab pos="4251325" algn="l"/>
                <a:tab pos="4839335" algn="l"/>
              </a:tabLst>
            </a:pPr>
            <a:r>
              <a:rPr sz="1900" spc="-25" dirty="0">
                <a:solidFill>
                  <a:srgbClr val="333333"/>
                </a:solidFill>
                <a:latin typeface="Times New Roman"/>
                <a:cs typeface="Times New Roman"/>
              </a:rPr>
              <a:t>It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1900" spc="-25" dirty="0">
                <a:solidFill>
                  <a:srgbClr val="333333"/>
                </a:solidFill>
                <a:latin typeface="Times New Roman"/>
                <a:cs typeface="Times New Roman"/>
              </a:rPr>
              <a:t>is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1900" spc="-20" dirty="0">
                <a:solidFill>
                  <a:srgbClr val="333333"/>
                </a:solidFill>
                <a:latin typeface="Times New Roman"/>
                <a:cs typeface="Times New Roman"/>
              </a:rPr>
              <a:t>used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1900" spc="-25" dirty="0">
                <a:solidFill>
                  <a:srgbClr val="333333"/>
                </a:solidFill>
                <a:latin typeface="Times New Roman"/>
                <a:cs typeface="Times New Roman"/>
              </a:rPr>
              <a:t>for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1900" spc="-10" dirty="0">
                <a:solidFill>
                  <a:srgbClr val="333333"/>
                </a:solidFill>
                <a:latin typeface="Times New Roman"/>
                <a:cs typeface="Times New Roman"/>
              </a:rPr>
              <a:t>transmitting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1900" spc="-25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1900" spc="-20" dirty="0">
                <a:solidFill>
                  <a:srgbClr val="333333"/>
                </a:solidFill>
                <a:latin typeface="Times New Roman"/>
                <a:cs typeface="Times New Roman"/>
              </a:rPr>
              <a:t>data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1900" spc="-20" dirty="0">
                <a:solidFill>
                  <a:srgbClr val="333333"/>
                </a:solidFill>
                <a:latin typeface="Times New Roman"/>
                <a:cs typeface="Times New Roman"/>
              </a:rPr>
              <a:t>over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1900" spc="-25" dirty="0">
                <a:solidFill>
                  <a:srgbClr val="333333"/>
                </a:solidFill>
                <a:latin typeface="Times New Roman"/>
                <a:cs typeface="Times New Roman"/>
              </a:rPr>
              <a:t>the 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noiseless</a:t>
            </a:r>
            <a:r>
              <a:rPr sz="1900" spc="-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333333"/>
                </a:solidFill>
                <a:latin typeface="Times New Roman"/>
                <a:cs typeface="Times New Roman"/>
              </a:rPr>
              <a:t>channels.</a:t>
            </a:r>
            <a:endParaRPr sz="1900" dirty="0">
              <a:latin typeface="Times New Roman"/>
              <a:cs typeface="Times New Roman"/>
            </a:endParaRPr>
          </a:p>
          <a:p>
            <a:pPr marL="241300" indent="-228600">
              <a:lnSpc>
                <a:spcPts val="1939"/>
              </a:lnSpc>
              <a:spcBef>
                <a:spcPts val="315"/>
              </a:spcBef>
              <a:buFont typeface="Arial MT"/>
              <a:buChar char="•"/>
              <a:tabLst>
                <a:tab pos="241300" algn="l"/>
              </a:tabLst>
            </a:pP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It</a:t>
            </a:r>
            <a:r>
              <a:rPr sz="1900" spc="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provides</a:t>
            </a:r>
            <a:r>
              <a:rPr sz="1900" spc="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00" b="1" i="1" u="sng" dirty="0">
                <a:solidFill>
                  <a:srgbClr val="333333"/>
                </a:solidFill>
                <a:latin typeface="Times New Roman"/>
                <a:cs typeface="Times New Roman"/>
              </a:rPr>
              <a:t>unidirectional</a:t>
            </a:r>
            <a:r>
              <a:rPr sz="1900" spc="6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data</a:t>
            </a:r>
            <a:r>
              <a:rPr sz="1900" spc="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transmission</a:t>
            </a:r>
            <a:r>
              <a:rPr sz="1900" spc="8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333333"/>
                </a:solidFill>
                <a:latin typeface="Times New Roman"/>
                <a:cs typeface="Times New Roman"/>
              </a:rPr>
              <a:t>which</a:t>
            </a:r>
            <a:endParaRPr sz="1900" dirty="0">
              <a:latin typeface="Times New Roman"/>
              <a:cs typeface="Times New Roman"/>
            </a:endParaRPr>
          </a:p>
          <a:p>
            <a:pPr marL="241300">
              <a:lnSpc>
                <a:spcPts val="1595"/>
              </a:lnSpc>
            </a:pP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means</a:t>
            </a:r>
            <a:r>
              <a:rPr sz="1900" spc="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that</a:t>
            </a:r>
            <a:r>
              <a:rPr sz="1900" spc="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either</a:t>
            </a:r>
            <a:r>
              <a:rPr sz="1900" spc="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sending</a:t>
            </a:r>
            <a:r>
              <a:rPr sz="1900" spc="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or</a:t>
            </a:r>
            <a:r>
              <a:rPr sz="1900" spc="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receiving</a:t>
            </a:r>
            <a:r>
              <a:rPr sz="1900" spc="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of</a:t>
            </a:r>
            <a:r>
              <a:rPr sz="1900" spc="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data</a:t>
            </a:r>
            <a:r>
              <a:rPr sz="1900" spc="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00" spc="-20" dirty="0">
                <a:solidFill>
                  <a:srgbClr val="333333"/>
                </a:solidFill>
                <a:latin typeface="Times New Roman"/>
                <a:cs typeface="Times New Roman"/>
              </a:rPr>
              <a:t>will</a:t>
            </a:r>
            <a:endParaRPr sz="1900" dirty="0">
              <a:latin typeface="Times New Roman"/>
              <a:cs typeface="Times New Roman"/>
            </a:endParaRPr>
          </a:p>
          <a:p>
            <a:pPr marL="241300">
              <a:lnSpc>
                <a:spcPts val="1939"/>
              </a:lnSpc>
            </a:pP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take</a:t>
            </a:r>
            <a:r>
              <a:rPr sz="1900" spc="-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place</a:t>
            </a:r>
            <a:r>
              <a:rPr sz="1900" spc="-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at</a:t>
            </a:r>
            <a:r>
              <a:rPr sz="1900" spc="-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a</a:t>
            </a:r>
            <a:r>
              <a:rPr sz="1900" spc="-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00" spc="-20" dirty="0">
                <a:solidFill>
                  <a:srgbClr val="333333"/>
                </a:solidFill>
                <a:latin typeface="Times New Roman"/>
                <a:cs typeface="Times New Roman"/>
              </a:rPr>
              <a:t>time.</a:t>
            </a:r>
            <a:endParaRPr sz="19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9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b="1" spc="-10" dirty="0">
                <a:solidFill>
                  <a:srgbClr val="333333"/>
                </a:solidFill>
                <a:latin typeface="Times New Roman"/>
                <a:cs typeface="Times New Roman"/>
              </a:rPr>
              <a:t>Working:</a:t>
            </a:r>
            <a:endParaRPr sz="19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310"/>
              </a:spcBef>
              <a:buFont typeface="Arial MT"/>
              <a:buChar char="•"/>
              <a:tabLst>
                <a:tab pos="241300" algn="l"/>
              </a:tabLst>
            </a:pP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Sender</a:t>
            </a:r>
            <a:r>
              <a:rPr sz="1900" spc="-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sends</a:t>
            </a:r>
            <a:r>
              <a:rPr sz="1900" spc="-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a</a:t>
            </a:r>
            <a:r>
              <a:rPr sz="1900" spc="-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data</a:t>
            </a:r>
            <a:r>
              <a:rPr sz="1900" spc="-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packet</a:t>
            </a:r>
            <a:r>
              <a:rPr sz="1900" spc="-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to</a:t>
            </a:r>
            <a:r>
              <a:rPr sz="1900" spc="-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1900" spc="-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333333"/>
                </a:solidFill>
                <a:latin typeface="Times New Roman"/>
                <a:cs typeface="Times New Roman"/>
              </a:rPr>
              <a:t>receiver.</a:t>
            </a:r>
            <a:endParaRPr sz="1900" dirty="0">
              <a:latin typeface="Times New Roman"/>
              <a:cs typeface="Times New Roman"/>
            </a:endParaRPr>
          </a:p>
          <a:p>
            <a:pPr marL="241300" marR="7620" indent="-229235">
              <a:lnSpc>
                <a:spcPct val="7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Sender</a:t>
            </a:r>
            <a:r>
              <a:rPr sz="1900" spc="2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stops</a:t>
            </a:r>
            <a:r>
              <a:rPr sz="1900" spc="2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and</a:t>
            </a:r>
            <a:r>
              <a:rPr sz="1900" spc="2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waits</a:t>
            </a:r>
            <a:r>
              <a:rPr sz="1900" spc="2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for</a:t>
            </a:r>
            <a:r>
              <a:rPr sz="1900" spc="2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1900" spc="2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333333"/>
                </a:solidFill>
                <a:latin typeface="Times New Roman"/>
                <a:cs typeface="Times New Roman"/>
              </a:rPr>
              <a:t>acknowledgement 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for</a:t>
            </a:r>
            <a:r>
              <a:rPr sz="1900" spc="-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1900" spc="-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sent</a:t>
            </a:r>
            <a:r>
              <a:rPr sz="1900" spc="-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packet</a:t>
            </a:r>
            <a:r>
              <a:rPr sz="190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from</a:t>
            </a:r>
            <a:r>
              <a:rPr sz="1900" spc="-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1900" spc="-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333333"/>
                </a:solidFill>
                <a:latin typeface="Times New Roman"/>
                <a:cs typeface="Times New Roman"/>
              </a:rPr>
              <a:t>receiver.</a:t>
            </a:r>
            <a:endParaRPr sz="19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241300" algn="l"/>
              </a:tabLst>
            </a:pP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Receiver</a:t>
            </a:r>
            <a:r>
              <a:rPr sz="1900" spc="-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receives</a:t>
            </a:r>
            <a:r>
              <a:rPr sz="1900" spc="-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and</a:t>
            </a:r>
            <a:r>
              <a:rPr sz="1900" spc="-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processes</a:t>
            </a:r>
            <a:r>
              <a:rPr sz="1900" spc="-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1900" spc="-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data</a:t>
            </a:r>
            <a:r>
              <a:rPr sz="1900" spc="-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333333"/>
                </a:solidFill>
                <a:latin typeface="Times New Roman"/>
                <a:cs typeface="Times New Roman"/>
              </a:rPr>
              <a:t>packet.</a:t>
            </a:r>
            <a:endParaRPr sz="19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310"/>
              </a:spcBef>
              <a:buFont typeface="Arial MT"/>
              <a:buChar char="•"/>
              <a:tabLst>
                <a:tab pos="241300" algn="l"/>
              </a:tabLst>
            </a:pP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Receiver</a:t>
            </a:r>
            <a:r>
              <a:rPr sz="190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sends</a:t>
            </a:r>
            <a:r>
              <a:rPr sz="1900" spc="-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an</a:t>
            </a:r>
            <a:r>
              <a:rPr sz="190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acknowledgement</a:t>
            </a:r>
            <a:r>
              <a:rPr sz="1900" spc="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to</a:t>
            </a:r>
            <a:r>
              <a:rPr sz="190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1900" spc="-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333333"/>
                </a:solidFill>
                <a:latin typeface="Times New Roman"/>
                <a:cs typeface="Times New Roman"/>
              </a:rPr>
              <a:t>sender.</a:t>
            </a:r>
            <a:endParaRPr sz="1900" dirty="0">
              <a:latin typeface="Times New Roman"/>
              <a:cs typeface="Times New Roman"/>
            </a:endParaRPr>
          </a:p>
          <a:p>
            <a:pPr marL="241300" marR="7620" indent="-229235">
              <a:lnSpc>
                <a:spcPct val="7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  <a:tab pos="939165" algn="l"/>
                <a:tab pos="2022475" algn="l"/>
                <a:tab pos="2505710" algn="l"/>
                <a:tab pos="4505960" algn="l"/>
              </a:tabLst>
            </a:pPr>
            <a:r>
              <a:rPr sz="1900" spc="-10" dirty="0">
                <a:solidFill>
                  <a:srgbClr val="333333"/>
                </a:solidFill>
                <a:latin typeface="Times New Roman"/>
                <a:cs typeface="Times New Roman"/>
              </a:rPr>
              <a:t>After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1900" spc="-10" dirty="0">
                <a:solidFill>
                  <a:srgbClr val="333333"/>
                </a:solidFill>
                <a:latin typeface="Times New Roman"/>
                <a:cs typeface="Times New Roman"/>
              </a:rPr>
              <a:t>receiving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1900" spc="-25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1900" spc="-10" dirty="0">
                <a:solidFill>
                  <a:srgbClr val="333333"/>
                </a:solidFill>
                <a:latin typeface="Times New Roman"/>
                <a:cs typeface="Times New Roman"/>
              </a:rPr>
              <a:t>acknowledgement,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1900" spc="-10" dirty="0">
                <a:solidFill>
                  <a:srgbClr val="333333"/>
                </a:solidFill>
                <a:latin typeface="Times New Roman"/>
                <a:cs typeface="Times New Roman"/>
              </a:rPr>
              <a:t>sender 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sends the</a:t>
            </a:r>
            <a:r>
              <a:rPr sz="1900" spc="-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next</a:t>
            </a:r>
            <a:r>
              <a:rPr sz="1900" spc="-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data</a:t>
            </a:r>
            <a:r>
              <a:rPr sz="1900" spc="-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packet</a:t>
            </a:r>
            <a:r>
              <a:rPr sz="1900" spc="-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to</a:t>
            </a:r>
            <a:r>
              <a:rPr sz="1900" spc="-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1900" spc="-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333333"/>
                </a:solidFill>
                <a:latin typeface="Times New Roman"/>
                <a:cs typeface="Times New Roman"/>
              </a:rPr>
              <a:t>receiver.</a:t>
            </a:r>
            <a:endParaRPr sz="19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4600955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370545"/>
                </a:moveTo>
                <a:lnTo>
                  <a:pt x="832510" y="1189012"/>
                </a:lnTo>
                <a:lnTo>
                  <a:pt x="1013460" y="1008888"/>
                </a:lnTo>
                <a:lnTo>
                  <a:pt x="0" y="0"/>
                </a:lnTo>
                <a:lnTo>
                  <a:pt x="0" y="2017776"/>
                </a:lnTo>
                <a:lnTo>
                  <a:pt x="488391" y="1531594"/>
                </a:lnTo>
                <a:lnTo>
                  <a:pt x="670699" y="1713890"/>
                </a:lnTo>
                <a:lnTo>
                  <a:pt x="1014056" y="137054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6469379" y="0"/>
            <a:ext cx="5722620" cy="6294120"/>
            <a:chOff x="6469379" y="0"/>
            <a:chExt cx="5722620" cy="6294120"/>
          </a:xfrm>
        </p:grpSpPr>
        <p:sp>
          <p:nvSpPr>
            <p:cNvPr id="6" name="object 6"/>
            <p:cNvSpPr/>
            <p:nvPr/>
          </p:nvSpPr>
          <p:spPr>
            <a:xfrm>
              <a:off x="11219307" y="0"/>
              <a:ext cx="972819" cy="1935480"/>
            </a:xfrm>
            <a:custGeom>
              <a:avLst/>
              <a:gdLst/>
              <a:ahLst/>
              <a:cxnLst/>
              <a:rect l="l" t="t" r="r" b="b"/>
              <a:pathLst>
                <a:path w="972820" h="1935480">
                  <a:moveTo>
                    <a:pt x="972693" y="0"/>
                  </a:moveTo>
                  <a:lnTo>
                    <a:pt x="381" y="967740"/>
                  </a:lnTo>
                  <a:lnTo>
                    <a:pt x="177482" y="1144016"/>
                  </a:lnTo>
                  <a:lnTo>
                    <a:pt x="0" y="1321562"/>
                  </a:lnTo>
                  <a:lnTo>
                    <a:pt x="348615" y="1670177"/>
                  </a:lnTo>
                  <a:lnTo>
                    <a:pt x="526986" y="1491881"/>
                  </a:lnTo>
                  <a:lnTo>
                    <a:pt x="972693" y="1935480"/>
                  </a:lnTo>
                  <a:lnTo>
                    <a:pt x="972693" y="0"/>
                  </a:lnTo>
                  <a:close/>
                </a:path>
              </a:pathLst>
            </a:custGeom>
            <a:solidFill>
              <a:srgbClr val="FFC00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69379" y="1778507"/>
              <a:ext cx="5306567" cy="451561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257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imes New Roman"/>
                <a:cs typeface="Times New Roman"/>
              </a:rPr>
              <a:t>Stop</a:t>
            </a:r>
            <a:r>
              <a:rPr b="1" spc="-9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and</a:t>
            </a:r>
            <a:r>
              <a:rPr b="1" spc="-145" dirty="0">
                <a:latin typeface="Times New Roman"/>
                <a:cs typeface="Times New Roman"/>
              </a:rPr>
              <a:t> </a:t>
            </a:r>
            <a:r>
              <a:rPr b="1" spc="-20" dirty="0">
                <a:latin typeface="Times New Roman"/>
                <a:cs typeface="Times New Roman"/>
              </a:rPr>
              <a:t>Wait</a:t>
            </a:r>
            <a:r>
              <a:rPr b="1" spc="-130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Transmission</a:t>
            </a:r>
            <a:r>
              <a:rPr b="1" spc="-100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Process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9073" y="1613153"/>
            <a:ext cx="5534660" cy="423799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1300" marR="6350" indent="-228600">
              <a:lnSpc>
                <a:spcPts val="2160"/>
              </a:lnSpc>
              <a:spcBef>
                <a:spcPts val="375"/>
              </a:spcBef>
              <a:buFont typeface="Arial MT"/>
              <a:buChar char="•"/>
              <a:tabLst>
                <a:tab pos="241300" algn="l"/>
                <a:tab pos="1077595" algn="l"/>
                <a:tab pos="1630680" algn="l"/>
                <a:tab pos="2069464" algn="l"/>
                <a:tab pos="2623185" algn="l"/>
                <a:tab pos="3415665" algn="l"/>
                <a:tab pos="3801110" algn="l"/>
                <a:tab pos="4241800" algn="l"/>
              </a:tabLst>
            </a:pP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Sender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	</a:t>
            </a:r>
            <a:r>
              <a:rPr sz="2000" spc="-20" dirty="0">
                <a:solidFill>
                  <a:srgbClr val="2F2F2F"/>
                </a:solidFill>
                <a:latin typeface="Times New Roman"/>
                <a:cs typeface="Times New Roman"/>
              </a:rPr>
              <a:t>puts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	</a:t>
            </a:r>
            <a:r>
              <a:rPr sz="2000" spc="-20" dirty="0">
                <a:solidFill>
                  <a:srgbClr val="2F2F2F"/>
                </a:solidFill>
                <a:latin typeface="Times New Roman"/>
                <a:cs typeface="Times New Roman"/>
              </a:rPr>
              <a:t>data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packet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2F2F2F"/>
                </a:solidFill>
                <a:latin typeface="Times New Roman"/>
                <a:cs typeface="Times New Roman"/>
              </a:rPr>
              <a:t>on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transmission link.</a:t>
            </a:r>
            <a:endParaRPr sz="20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Packet</a:t>
            </a:r>
            <a:r>
              <a:rPr sz="2000" spc="-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propagates</a:t>
            </a:r>
            <a:r>
              <a:rPr sz="2000" spc="-5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towards</a:t>
            </a:r>
            <a:r>
              <a:rPr sz="20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2000" spc="-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receiver’s</a:t>
            </a:r>
            <a:r>
              <a:rPr sz="2000" spc="-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2F2F2F"/>
                </a:solidFill>
                <a:latin typeface="Times New Roman"/>
                <a:cs typeface="Times New Roman"/>
              </a:rPr>
              <a:t>end.</a:t>
            </a:r>
            <a:endParaRPr sz="20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Packet</a:t>
            </a:r>
            <a:r>
              <a:rPr sz="2000" spc="-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reaches</a:t>
            </a:r>
            <a:r>
              <a:rPr sz="20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receiver</a:t>
            </a:r>
            <a:r>
              <a:rPr sz="2000" spc="-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and</a:t>
            </a:r>
            <a:r>
              <a:rPr sz="20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waits</a:t>
            </a:r>
            <a:r>
              <a:rPr sz="20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in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its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 buffer.</a:t>
            </a:r>
            <a:endParaRPr sz="20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Receiver</a:t>
            </a:r>
            <a:r>
              <a:rPr sz="2000" spc="-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processes</a:t>
            </a:r>
            <a:r>
              <a:rPr sz="2000" spc="-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2000" spc="-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data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 packet.</a:t>
            </a:r>
            <a:endParaRPr sz="2000">
              <a:latin typeface="Times New Roman"/>
              <a:cs typeface="Times New Roman"/>
            </a:endParaRPr>
          </a:p>
          <a:p>
            <a:pPr marL="240665" indent="-227965">
              <a:lnSpc>
                <a:spcPts val="228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  <a:tab pos="1390015" algn="l"/>
                <a:tab pos="2059305" algn="l"/>
                <a:tab pos="2616835" algn="l"/>
                <a:tab pos="4709795" algn="l"/>
                <a:tab pos="5212715" algn="l"/>
              </a:tabLst>
            </a:pP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Receiver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	</a:t>
            </a:r>
            <a:r>
              <a:rPr sz="2000" spc="-20" dirty="0">
                <a:solidFill>
                  <a:srgbClr val="2F2F2F"/>
                </a:solidFill>
                <a:latin typeface="Times New Roman"/>
                <a:cs typeface="Times New Roman"/>
              </a:rPr>
              <a:t>puts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acknowledgement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2F2F2F"/>
                </a:solidFill>
                <a:latin typeface="Times New Roman"/>
                <a:cs typeface="Times New Roman"/>
              </a:rPr>
              <a:t>on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endParaRPr sz="2000">
              <a:latin typeface="Times New Roman"/>
              <a:cs typeface="Times New Roman"/>
            </a:endParaRPr>
          </a:p>
          <a:p>
            <a:pPr marL="241300">
              <a:lnSpc>
                <a:spcPts val="2280"/>
              </a:lnSpc>
            </a:pP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transmission</a:t>
            </a:r>
            <a:r>
              <a:rPr sz="2000" spc="-6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link.</a:t>
            </a:r>
            <a:endParaRPr sz="2000">
              <a:latin typeface="Times New Roman"/>
              <a:cs typeface="Times New Roman"/>
            </a:endParaRPr>
          </a:p>
          <a:p>
            <a:pPr marL="241300" marR="6350" indent="-228600">
              <a:lnSpc>
                <a:spcPts val="216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Acknowledgement</a:t>
            </a:r>
            <a:r>
              <a:rPr sz="2000" spc="7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propagates</a:t>
            </a:r>
            <a:r>
              <a:rPr sz="2000" spc="7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towards</a:t>
            </a:r>
            <a:r>
              <a:rPr sz="2000" spc="7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2000" spc="6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sender’s </a:t>
            </a:r>
            <a:r>
              <a:rPr sz="2000" spc="-20" dirty="0">
                <a:solidFill>
                  <a:srgbClr val="2F2F2F"/>
                </a:solidFill>
                <a:latin typeface="Times New Roman"/>
                <a:cs typeface="Times New Roman"/>
              </a:rPr>
              <a:t>end.</a:t>
            </a:r>
            <a:endParaRPr sz="2000">
              <a:latin typeface="Times New Roman"/>
              <a:cs typeface="Times New Roman"/>
            </a:endParaRPr>
          </a:p>
          <a:p>
            <a:pPr marL="240665" indent="-227965">
              <a:lnSpc>
                <a:spcPts val="2280"/>
              </a:lnSpc>
              <a:spcBef>
                <a:spcPts val="72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Acknowledgement</a:t>
            </a:r>
            <a:r>
              <a:rPr sz="2000" spc="17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reaches</a:t>
            </a:r>
            <a:r>
              <a:rPr sz="2000" spc="17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2000" spc="17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sender</a:t>
            </a:r>
            <a:r>
              <a:rPr sz="2000" spc="17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and</a:t>
            </a:r>
            <a:r>
              <a:rPr sz="2000" spc="16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waits</a:t>
            </a:r>
            <a:r>
              <a:rPr sz="2000" spc="17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2F2F2F"/>
                </a:solidFill>
                <a:latin typeface="Times New Roman"/>
                <a:cs typeface="Times New Roman"/>
              </a:rPr>
              <a:t>in</a:t>
            </a:r>
            <a:endParaRPr sz="2000">
              <a:latin typeface="Times New Roman"/>
              <a:cs typeface="Times New Roman"/>
            </a:endParaRPr>
          </a:p>
          <a:p>
            <a:pPr marL="241300">
              <a:lnSpc>
                <a:spcPts val="2280"/>
              </a:lnSpc>
            </a:pP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its</a:t>
            </a:r>
            <a:r>
              <a:rPr sz="20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buffer.</a:t>
            </a:r>
            <a:endParaRPr sz="20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Sender</a:t>
            </a:r>
            <a:r>
              <a:rPr sz="20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processes</a:t>
            </a:r>
            <a:r>
              <a:rPr sz="2000" spc="-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the 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acknowledgement.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4600955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370545"/>
                </a:moveTo>
                <a:lnTo>
                  <a:pt x="832510" y="1189012"/>
                </a:lnTo>
                <a:lnTo>
                  <a:pt x="1013460" y="1008888"/>
                </a:lnTo>
                <a:lnTo>
                  <a:pt x="0" y="0"/>
                </a:lnTo>
                <a:lnTo>
                  <a:pt x="0" y="2017776"/>
                </a:lnTo>
                <a:lnTo>
                  <a:pt x="488391" y="1531594"/>
                </a:lnTo>
                <a:lnTo>
                  <a:pt x="670699" y="1713890"/>
                </a:lnTo>
                <a:lnTo>
                  <a:pt x="1014056" y="137054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6605016" y="0"/>
            <a:ext cx="5587365" cy="6535420"/>
            <a:chOff x="6605016" y="0"/>
            <a:chExt cx="5587365" cy="6535420"/>
          </a:xfrm>
        </p:grpSpPr>
        <p:sp>
          <p:nvSpPr>
            <p:cNvPr id="6" name="object 6"/>
            <p:cNvSpPr/>
            <p:nvPr/>
          </p:nvSpPr>
          <p:spPr>
            <a:xfrm>
              <a:off x="11219307" y="0"/>
              <a:ext cx="972819" cy="1935480"/>
            </a:xfrm>
            <a:custGeom>
              <a:avLst/>
              <a:gdLst/>
              <a:ahLst/>
              <a:cxnLst/>
              <a:rect l="l" t="t" r="r" b="b"/>
              <a:pathLst>
                <a:path w="972820" h="1935480">
                  <a:moveTo>
                    <a:pt x="972693" y="0"/>
                  </a:moveTo>
                  <a:lnTo>
                    <a:pt x="381" y="967740"/>
                  </a:lnTo>
                  <a:lnTo>
                    <a:pt x="177482" y="1144016"/>
                  </a:lnTo>
                  <a:lnTo>
                    <a:pt x="0" y="1321562"/>
                  </a:lnTo>
                  <a:lnTo>
                    <a:pt x="348615" y="1670177"/>
                  </a:lnTo>
                  <a:lnTo>
                    <a:pt x="526986" y="1491881"/>
                  </a:lnTo>
                  <a:lnTo>
                    <a:pt x="972693" y="1935480"/>
                  </a:lnTo>
                  <a:lnTo>
                    <a:pt x="972693" y="0"/>
                  </a:lnTo>
                  <a:close/>
                </a:path>
              </a:pathLst>
            </a:custGeom>
            <a:solidFill>
              <a:srgbClr val="FFC00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05016" y="1456944"/>
              <a:ext cx="4962144" cy="507796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635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imes New Roman"/>
                <a:cs typeface="Times New Roman"/>
              </a:rPr>
              <a:t>Stop</a:t>
            </a:r>
            <a:r>
              <a:rPr b="1" spc="-10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and</a:t>
            </a:r>
            <a:r>
              <a:rPr b="1" spc="-150" dirty="0">
                <a:latin typeface="Times New Roman"/>
                <a:cs typeface="Times New Roman"/>
              </a:rPr>
              <a:t> </a:t>
            </a:r>
            <a:r>
              <a:rPr b="1" spc="-20" dirty="0">
                <a:latin typeface="Times New Roman"/>
                <a:cs typeface="Times New Roman"/>
              </a:rPr>
              <a:t>Wait</a:t>
            </a:r>
            <a:r>
              <a:rPr b="1" spc="-135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Transmission</a:t>
            </a:r>
            <a:r>
              <a:rPr b="1" spc="-10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Process</a:t>
            </a:r>
            <a:r>
              <a:rPr b="1" spc="-85" dirty="0">
                <a:latin typeface="Times New Roman"/>
                <a:cs typeface="Times New Roman"/>
              </a:rPr>
              <a:t> </a:t>
            </a:r>
            <a:r>
              <a:rPr b="1" spc="-25" dirty="0">
                <a:latin typeface="Times New Roman"/>
                <a:cs typeface="Times New Roman"/>
              </a:rPr>
              <a:t>II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3534" y="1419859"/>
            <a:ext cx="4218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1800" spc="-20" dirty="0">
                <a:solidFill>
                  <a:srgbClr val="2F2F2F"/>
                </a:solidFill>
                <a:latin typeface="Times New Roman"/>
                <a:cs typeface="Times New Roman"/>
              </a:rPr>
              <a:t>Total</a:t>
            </a:r>
            <a:r>
              <a:rPr sz="1800" spc="-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time</a:t>
            </a:r>
            <a:r>
              <a:rPr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taken</a:t>
            </a:r>
            <a:r>
              <a:rPr sz="1800" spc="-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in</a:t>
            </a:r>
            <a:r>
              <a:rPr sz="18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sending</a:t>
            </a:r>
            <a:r>
              <a:rPr sz="18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one</a:t>
            </a:r>
            <a:r>
              <a:rPr sz="18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data</a:t>
            </a:r>
            <a:r>
              <a:rPr sz="1800" spc="-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F2F2F"/>
                </a:solidFill>
                <a:latin typeface="Times New Roman"/>
                <a:cs typeface="Times New Roman"/>
              </a:rPr>
              <a:t>packet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705992" y="2092960"/>
            <a:ext cx="2056130" cy="276225"/>
          </a:xfrm>
          <a:custGeom>
            <a:avLst/>
            <a:gdLst/>
            <a:ahLst/>
            <a:cxnLst/>
            <a:rect l="l" t="t" r="r" b="b"/>
            <a:pathLst>
              <a:path w="2056129" h="276225">
                <a:moveTo>
                  <a:pt x="1983353" y="0"/>
                </a:moveTo>
                <a:lnTo>
                  <a:pt x="1980559" y="9143"/>
                </a:lnTo>
                <a:lnTo>
                  <a:pt x="1993253" y="15712"/>
                </a:lnTo>
                <a:lnTo>
                  <a:pt x="2004292" y="25304"/>
                </a:lnTo>
                <a:lnTo>
                  <a:pt x="2027547" y="71560"/>
                </a:lnTo>
                <a:lnTo>
                  <a:pt x="2034543" y="113938"/>
                </a:lnTo>
                <a:lnTo>
                  <a:pt x="2035423" y="138175"/>
                </a:lnTo>
                <a:lnTo>
                  <a:pt x="2034543" y="162393"/>
                </a:lnTo>
                <a:lnTo>
                  <a:pt x="2027547" y="204684"/>
                </a:lnTo>
                <a:lnTo>
                  <a:pt x="2004292" y="250856"/>
                </a:lnTo>
                <a:lnTo>
                  <a:pt x="1980559" y="266953"/>
                </a:lnTo>
                <a:lnTo>
                  <a:pt x="1983353" y="276098"/>
                </a:lnTo>
                <a:lnTo>
                  <a:pt x="2026644" y="246040"/>
                </a:lnTo>
                <a:lnTo>
                  <a:pt x="2045315" y="208700"/>
                </a:lnTo>
                <a:lnTo>
                  <a:pt x="2054701" y="163361"/>
                </a:lnTo>
                <a:lnTo>
                  <a:pt x="2055864" y="138175"/>
                </a:lnTo>
                <a:lnTo>
                  <a:pt x="2054756" y="113938"/>
                </a:lnTo>
                <a:lnTo>
                  <a:pt x="2045315" y="67397"/>
                </a:lnTo>
                <a:lnTo>
                  <a:pt x="2026644" y="30057"/>
                </a:lnTo>
                <a:lnTo>
                  <a:pt x="1999783" y="6383"/>
                </a:lnTo>
                <a:lnTo>
                  <a:pt x="1983353" y="0"/>
                </a:lnTo>
                <a:close/>
              </a:path>
              <a:path w="2056129" h="276225">
                <a:moveTo>
                  <a:pt x="72511" y="0"/>
                </a:moveTo>
                <a:lnTo>
                  <a:pt x="29344" y="30057"/>
                </a:lnTo>
                <a:lnTo>
                  <a:pt x="10656" y="67397"/>
                </a:lnTo>
                <a:lnTo>
                  <a:pt x="1182" y="112736"/>
                </a:lnTo>
                <a:lnTo>
                  <a:pt x="0" y="138175"/>
                </a:lnTo>
                <a:lnTo>
                  <a:pt x="1137" y="162393"/>
                </a:lnTo>
                <a:lnTo>
                  <a:pt x="1182" y="163361"/>
                </a:lnTo>
                <a:lnTo>
                  <a:pt x="10656" y="208700"/>
                </a:lnTo>
                <a:lnTo>
                  <a:pt x="29344" y="246040"/>
                </a:lnTo>
                <a:lnTo>
                  <a:pt x="72511" y="276098"/>
                </a:lnTo>
                <a:lnTo>
                  <a:pt x="75305" y="266953"/>
                </a:lnTo>
                <a:lnTo>
                  <a:pt x="62664" y="260405"/>
                </a:lnTo>
                <a:lnTo>
                  <a:pt x="51619" y="250856"/>
                </a:lnTo>
                <a:lnTo>
                  <a:pt x="28336" y="204684"/>
                </a:lnTo>
                <a:lnTo>
                  <a:pt x="21540" y="163361"/>
                </a:lnTo>
                <a:lnTo>
                  <a:pt x="20568" y="138175"/>
                </a:lnTo>
                <a:lnTo>
                  <a:pt x="21427" y="113938"/>
                </a:lnTo>
                <a:lnTo>
                  <a:pt x="28336" y="71560"/>
                </a:lnTo>
                <a:lnTo>
                  <a:pt x="51619" y="25304"/>
                </a:lnTo>
                <a:lnTo>
                  <a:pt x="75305" y="9143"/>
                </a:lnTo>
                <a:lnTo>
                  <a:pt x="72511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411982" y="2055621"/>
            <a:ext cx="2305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75920" algn="l"/>
              </a:tabLst>
            </a:pPr>
            <a:r>
              <a:rPr sz="1800" spc="-50" dirty="0">
                <a:solidFill>
                  <a:srgbClr val="2F2F2F"/>
                </a:solidFill>
                <a:latin typeface="Cambria Math"/>
                <a:cs typeface="Cambria Math"/>
              </a:rPr>
              <a:t>=</a:t>
            </a:r>
            <a:r>
              <a:rPr sz="1800" dirty="0">
                <a:solidFill>
                  <a:srgbClr val="2F2F2F"/>
                </a:solidFill>
                <a:latin typeface="Cambria Math"/>
                <a:cs typeface="Cambria Math"/>
              </a:rPr>
              <a:t>	𝑇</a:t>
            </a:r>
            <a:r>
              <a:rPr sz="1950" baseline="-14957" dirty="0">
                <a:solidFill>
                  <a:srgbClr val="2F2F2F"/>
                </a:solidFill>
                <a:latin typeface="Cambria Math"/>
                <a:cs typeface="Cambria Math"/>
              </a:rPr>
              <a:t>𝑡</a:t>
            </a:r>
            <a:r>
              <a:rPr sz="1950" spc="179" baseline="-14957" dirty="0">
                <a:solidFill>
                  <a:srgbClr val="2F2F2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2F2F2F"/>
                </a:solidFill>
                <a:latin typeface="Cambria Math"/>
                <a:cs typeface="Cambria Math"/>
              </a:rPr>
              <a:t>+</a:t>
            </a:r>
            <a:r>
              <a:rPr sz="1800" spc="-65" dirty="0">
                <a:solidFill>
                  <a:srgbClr val="2F2F2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2F2F2F"/>
                </a:solidFill>
                <a:latin typeface="Cambria Math"/>
                <a:cs typeface="Cambria Math"/>
              </a:rPr>
              <a:t>𝑇</a:t>
            </a:r>
            <a:r>
              <a:rPr sz="1950" baseline="-14957" dirty="0">
                <a:solidFill>
                  <a:srgbClr val="2F2F2F"/>
                </a:solidFill>
                <a:latin typeface="Cambria Math"/>
                <a:cs typeface="Cambria Math"/>
              </a:rPr>
              <a:t>𝑝</a:t>
            </a:r>
            <a:r>
              <a:rPr sz="1950" spc="157" baseline="-14957" dirty="0">
                <a:solidFill>
                  <a:srgbClr val="2F2F2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2F2F2F"/>
                </a:solidFill>
                <a:latin typeface="Cambria Math"/>
                <a:cs typeface="Cambria Math"/>
              </a:rPr>
              <a:t>+</a:t>
            </a:r>
            <a:r>
              <a:rPr sz="1800" spc="-65" dirty="0">
                <a:solidFill>
                  <a:srgbClr val="2F2F2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2F2F2F"/>
                </a:solidFill>
                <a:latin typeface="Cambria Math"/>
                <a:cs typeface="Cambria Math"/>
              </a:rPr>
              <a:t>𝑇</a:t>
            </a:r>
            <a:r>
              <a:rPr sz="1950" baseline="-14957" dirty="0">
                <a:solidFill>
                  <a:srgbClr val="2F2F2F"/>
                </a:solidFill>
                <a:latin typeface="Cambria Math"/>
                <a:cs typeface="Cambria Math"/>
              </a:rPr>
              <a:t>𝑄</a:t>
            </a:r>
            <a:r>
              <a:rPr sz="1950" spc="179" baseline="-14957" dirty="0">
                <a:solidFill>
                  <a:srgbClr val="2F2F2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2F2F2F"/>
                </a:solidFill>
                <a:latin typeface="Cambria Math"/>
                <a:cs typeface="Cambria Math"/>
              </a:rPr>
              <a:t>+</a:t>
            </a:r>
            <a:r>
              <a:rPr sz="1800" spc="-70" dirty="0">
                <a:solidFill>
                  <a:srgbClr val="2F2F2F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2F2F2F"/>
                </a:solidFill>
                <a:latin typeface="Cambria Math"/>
                <a:cs typeface="Cambria Math"/>
              </a:rPr>
              <a:t>𝑇</a:t>
            </a:r>
            <a:r>
              <a:rPr sz="1950" spc="-30" baseline="-14957" dirty="0">
                <a:solidFill>
                  <a:srgbClr val="2F2F2F"/>
                </a:solidFill>
                <a:latin typeface="Cambria Math"/>
                <a:cs typeface="Cambria Math"/>
              </a:rPr>
              <a:t>𝑝𝑟𝑜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648836" y="2092960"/>
            <a:ext cx="2056130" cy="276225"/>
          </a:xfrm>
          <a:custGeom>
            <a:avLst/>
            <a:gdLst/>
            <a:ahLst/>
            <a:cxnLst/>
            <a:rect l="l" t="t" r="r" b="b"/>
            <a:pathLst>
              <a:path w="2056129" h="276225">
                <a:moveTo>
                  <a:pt x="1983353" y="0"/>
                </a:moveTo>
                <a:lnTo>
                  <a:pt x="1980559" y="9143"/>
                </a:lnTo>
                <a:lnTo>
                  <a:pt x="1993253" y="15712"/>
                </a:lnTo>
                <a:lnTo>
                  <a:pt x="2004292" y="25304"/>
                </a:lnTo>
                <a:lnTo>
                  <a:pt x="2027547" y="71560"/>
                </a:lnTo>
                <a:lnTo>
                  <a:pt x="2034543" y="113938"/>
                </a:lnTo>
                <a:lnTo>
                  <a:pt x="2035423" y="138175"/>
                </a:lnTo>
                <a:lnTo>
                  <a:pt x="2034543" y="162393"/>
                </a:lnTo>
                <a:lnTo>
                  <a:pt x="2027547" y="204684"/>
                </a:lnTo>
                <a:lnTo>
                  <a:pt x="2004292" y="250856"/>
                </a:lnTo>
                <a:lnTo>
                  <a:pt x="1980559" y="266953"/>
                </a:lnTo>
                <a:lnTo>
                  <a:pt x="1983353" y="276098"/>
                </a:lnTo>
                <a:lnTo>
                  <a:pt x="2026644" y="246040"/>
                </a:lnTo>
                <a:lnTo>
                  <a:pt x="2045315" y="208700"/>
                </a:lnTo>
                <a:lnTo>
                  <a:pt x="2054701" y="163361"/>
                </a:lnTo>
                <a:lnTo>
                  <a:pt x="2055864" y="138175"/>
                </a:lnTo>
                <a:lnTo>
                  <a:pt x="2054756" y="113938"/>
                </a:lnTo>
                <a:lnTo>
                  <a:pt x="2045315" y="67397"/>
                </a:lnTo>
                <a:lnTo>
                  <a:pt x="2026644" y="30057"/>
                </a:lnTo>
                <a:lnTo>
                  <a:pt x="1999783" y="6383"/>
                </a:lnTo>
                <a:lnTo>
                  <a:pt x="1983353" y="0"/>
                </a:lnTo>
                <a:close/>
              </a:path>
              <a:path w="2056129" h="276225">
                <a:moveTo>
                  <a:pt x="72511" y="0"/>
                </a:moveTo>
                <a:lnTo>
                  <a:pt x="29344" y="30057"/>
                </a:lnTo>
                <a:lnTo>
                  <a:pt x="10656" y="67397"/>
                </a:lnTo>
                <a:lnTo>
                  <a:pt x="1182" y="112736"/>
                </a:lnTo>
                <a:lnTo>
                  <a:pt x="0" y="138175"/>
                </a:lnTo>
                <a:lnTo>
                  <a:pt x="1137" y="162393"/>
                </a:lnTo>
                <a:lnTo>
                  <a:pt x="1182" y="163361"/>
                </a:lnTo>
                <a:lnTo>
                  <a:pt x="10656" y="208700"/>
                </a:lnTo>
                <a:lnTo>
                  <a:pt x="29344" y="246040"/>
                </a:lnTo>
                <a:lnTo>
                  <a:pt x="72511" y="276098"/>
                </a:lnTo>
                <a:lnTo>
                  <a:pt x="75305" y="266953"/>
                </a:lnTo>
                <a:lnTo>
                  <a:pt x="62664" y="260405"/>
                </a:lnTo>
                <a:lnTo>
                  <a:pt x="51619" y="250856"/>
                </a:lnTo>
                <a:lnTo>
                  <a:pt x="28336" y="204684"/>
                </a:lnTo>
                <a:lnTo>
                  <a:pt x="21540" y="163361"/>
                </a:lnTo>
                <a:lnTo>
                  <a:pt x="21427" y="162393"/>
                </a:lnTo>
                <a:lnTo>
                  <a:pt x="20568" y="138175"/>
                </a:lnTo>
                <a:lnTo>
                  <a:pt x="21427" y="113938"/>
                </a:lnTo>
                <a:lnTo>
                  <a:pt x="24012" y="91725"/>
                </a:lnTo>
                <a:lnTo>
                  <a:pt x="34411" y="53466"/>
                </a:lnTo>
                <a:lnTo>
                  <a:pt x="62664" y="15712"/>
                </a:lnTo>
                <a:lnTo>
                  <a:pt x="75305" y="9143"/>
                </a:lnTo>
                <a:lnTo>
                  <a:pt x="72511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32779" y="2055621"/>
            <a:ext cx="3324225" cy="40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4370">
              <a:lnSpc>
                <a:spcPts val="1780"/>
              </a:lnSpc>
              <a:spcBef>
                <a:spcPts val="100"/>
              </a:spcBef>
              <a:tabLst>
                <a:tab pos="998855" algn="l"/>
              </a:tabLst>
            </a:pPr>
            <a:r>
              <a:rPr sz="1800" spc="-50" dirty="0">
                <a:solidFill>
                  <a:srgbClr val="2F2F2F"/>
                </a:solidFill>
                <a:latin typeface="Cambria Math"/>
                <a:cs typeface="Cambria Math"/>
              </a:rPr>
              <a:t>+</a:t>
            </a:r>
            <a:r>
              <a:rPr sz="1800" dirty="0">
                <a:solidFill>
                  <a:srgbClr val="2F2F2F"/>
                </a:solidFill>
                <a:latin typeface="Cambria Math"/>
                <a:cs typeface="Cambria Math"/>
              </a:rPr>
              <a:t>	𝑇</a:t>
            </a:r>
            <a:r>
              <a:rPr sz="1950" baseline="-14957" dirty="0">
                <a:solidFill>
                  <a:srgbClr val="2F2F2F"/>
                </a:solidFill>
                <a:latin typeface="Cambria Math"/>
                <a:cs typeface="Cambria Math"/>
              </a:rPr>
              <a:t>𝑡</a:t>
            </a:r>
            <a:r>
              <a:rPr sz="1950" spc="179" baseline="-14957" dirty="0">
                <a:solidFill>
                  <a:srgbClr val="2F2F2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2F2F2F"/>
                </a:solidFill>
                <a:latin typeface="Cambria Math"/>
                <a:cs typeface="Cambria Math"/>
              </a:rPr>
              <a:t>+</a:t>
            </a:r>
            <a:r>
              <a:rPr sz="1800" spc="-70" dirty="0">
                <a:solidFill>
                  <a:srgbClr val="2F2F2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2F2F2F"/>
                </a:solidFill>
                <a:latin typeface="Cambria Math"/>
                <a:cs typeface="Cambria Math"/>
              </a:rPr>
              <a:t>𝑇</a:t>
            </a:r>
            <a:r>
              <a:rPr sz="1950" baseline="-14957" dirty="0">
                <a:solidFill>
                  <a:srgbClr val="2F2F2F"/>
                </a:solidFill>
                <a:latin typeface="Cambria Math"/>
                <a:cs typeface="Cambria Math"/>
              </a:rPr>
              <a:t>𝑝</a:t>
            </a:r>
            <a:r>
              <a:rPr sz="1950" spc="165" baseline="-14957" dirty="0">
                <a:solidFill>
                  <a:srgbClr val="2F2F2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2F2F2F"/>
                </a:solidFill>
                <a:latin typeface="Cambria Math"/>
                <a:cs typeface="Cambria Math"/>
              </a:rPr>
              <a:t>+</a:t>
            </a:r>
            <a:r>
              <a:rPr sz="1800" spc="-70" dirty="0">
                <a:solidFill>
                  <a:srgbClr val="2F2F2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2F2F2F"/>
                </a:solidFill>
                <a:latin typeface="Cambria Math"/>
                <a:cs typeface="Cambria Math"/>
              </a:rPr>
              <a:t>𝑇</a:t>
            </a:r>
            <a:r>
              <a:rPr sz="1950" baseline="-14957" dirty="0">
                <a:solidFill>
                  <a:srgbClr val="2F2F2F"/>
                </a:solidFill>
                <a:latin typeface="Cambria Math"/>
                <a:cs typeface="Cambria Math"/>
              </a:rPr>
              <a:t>𝑄</a:t>
            </a:r>
            <a:r>
              <a:rPr sz="1950" spc="179" baseline="-14957" dirty="0">
                <a:solidFill>
                  <a:srgbClr val="2F2F2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2F2F2F"/>
                </a:solidFill>
                <a:latin typeface="Cambria Math"/>
                <a:cs typeface="Cambria Math"/>
              </a:rPr>
              <a:t>+</a:t>
            </a:r>
            <a:r>
              <a:rPr sz="1800" spc="-70" dirty="0">
                <a:solidFill>
                  <a:srgbClr val="2F2F2F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2F2F2F"/>
                </a:solidFill>
                <a:latin typeface="Cambria Math"/>
                <a:cs typeface="Cambria Math"/>
              </a:rPr>
              <a:t>𝑇</a:t>
            </a:r>
            <a:r>
              <a:rPr sz="1950" spc="-30" baseline="-14957" dirty="0">
                <a:solidFill>
                  <a:srgbClr val="2F2F2F"/>
                </a:solidFill>
                <a:latin typeface="Cambria Math"/>
                <a:cs typeface="Cambria Math"/>
              </a:rPr>
              <a:t>𝑝𝑟𝑜</a:t>
            </a:r>
            <a:endParaRPr sz="1950" baseline="-14957">
              <a:latin typeface="Cambria Math"/>
              <a:cs typeface="Cambria Math"/>
            </a:endParaRPr>
          </a:p>
          <a:p>
            <a:pPr marL="50800">
              <a:lnSpc>
                <a:spcPts val="1180"/>
              </a:lnSpc>
              <a:tabLst>
                <a:tab pos="2994025" algn="l"/>
              </a:tabLst>
            </a:pPr>
            <a:r>
              <a:rPr sz="1300" spc="65" dirty="0">
                <a:solidFill>
                  <a:srgbClr val="2F2F2F"/>
                </a:solidFill>
                <a:latin typeface="Cambria Math"/>
                <a:cs typeface="Cambria Math"/>
              </a:rPr>
              <a:t>𝑝𝑎𝑐𝑘𝑒𝑡</a:t>
            </a:r>
            <a:r>
              <a:rPr sz="1300" dirty="0">
                <a:solidFill>
                  <a:srgbClr val="2F2F2F"/>
                </a:solidFill>
                <a:latin typeface="Cambria Math"/>
                <a:cs typeface="Cambria Math"/>
              </a:rPr>
              <a:t>	</a:t>
            </a:r>
            <a:r>
              <a:rPr sz="1300" spc="55" dirty="0">
                <a:solidFill>
                  <a:srgbClr val="2F2F2F"/>
                </a:solidFill>
                <a:latin typeface="Cambria Math"/>
                <a:cs typeface="Cambria Math"/>
              </a:rPr>
              <a:t>𝑎𝑐𝑘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8134" y="2514346"/>
            <a:ext cx="11257280" cy="874394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266700" marR="43180" indent="-228600">
              <a:lnSpc>
                <a:spcPts val="2080"/>
              </a:lnSpc>
              <a:spcBef>
                <a:spcPts val="235"/>
              </a:spcBef>
              <a:buFont typeface="Arial MT"/>
              <a:buChar char="•"/>
              <a:tabLst>
                <a:tab pos="266700" algn="l"/>
              </a:tabLst>
            </a:pP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Assume</a:t>
            </a:r>
            <a:r>
              <a:rPr sz="1800" spc="1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that</a:t>
            </a:r>
            <a:r>
              <a:rPr sz="1800" spc="1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1800" spc="114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Cambria Math"/>
                <a:cs typeface="Cambria Math"/>
              </a:rPr>
              <a:t>𝑇</a:t>
            </a:r>
            <a:r>
              <a:rPr sz="1950" baseline="-14957" dirty="0">
                <a:solidFill>
                  <a:srgbClr val="2F2F2F"/>
                </a:solidFill>
                <a:latin typeface="Cambria Math"/>
                <a:cs typeface="Cambria Math"/>
              </a:rPr>
              <a:t>𝑄</a:t>
            </a:r>
            <a:r>
              <a:rPr sz="1950" spc="284" baseline="-14957" dirty="0">
                <a:solidFill>
                  <a:srgbClr val="2F2F2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2F2F2F"/>
                </a:solidFill>
                <a:latin typeface="Cambria Math"/>
                <a:cs typeface="Cambria Math"/>
              </a:rPr>
              <a:t>+</a:t>
            </a:r>
            <a:r>
              <a:rPr sz="1800" spc="-10" dirty="0">
                <a:solidFill>
                  <a:srgbClr val="2F2F2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2F2F2F"/>
                </a:solidFill>
                <a:latin typeface="Cambria Math"/>
                <a:cs typeface="Cambria Math"/>
              </a:rPr>
              <a:t>𝑇</a:t>
            </a:r>
            <a:r>
              <a:rPr sz="1950" baseline="-14957" dirty="0">
                <a:solidFill>
                  <a:srgbClr val="2F2F2F"/>
                </a:solidFill>
                <a:latin typeface="Cambria Math"/>
                <a:cs typeface="Cambria Math"/>
              </a:rPr>
              <a:t>𝑝𝑟𝑜</a:t>
            </a:r>
            <a:r>
              <a:rPr sz="1950" spc="600" baseline="-14957" dirty="0">
                <a:solidFill>
                  <a:srgbClr val="2F2F2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to</a:t>
            </a:r>
            <a:r>
              <a:rPr sz="1800" spc="1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be</a:t>
            </a:r>
            <a:r>
              <a:rPr sz="1800" spc="1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zero</a:t>
            </a:r>
            <a:r>
              <a:rPr sz="1800" spc="1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at</a:t>
            </a:r>
            <a:r>
              <a:rPr sz="1800" spc="1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both</a:t>
            </a:r>
            <a:r>
              <a:rPr sz="1800" spc="1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sender</a:t>
            </a:r>
            <a:r>
              <a:rPr sz="1800" spc="1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and</a:t>
            </a:r>
            <a:r>
              <a:rPr sz="1800" spc="1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receiver</a:t>
            </a:r>
            <a:r>
              <a:rPr sz="1800" spc="1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side.</a:t>
            </a:r>
            <a:r>
              <a:rPr sz="1800" spc="1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Cambria Math"/>
                <a:cs typeface="Cambria Math"/>
              </a:rPr>
              <a:t>𝑇</a:t>
            </a:r>
            <a:r>
              <a:rPr sz="1950" baseline="-14957" dirty="0">
                <a:solidFill>
                  <a:srgbClr val="2F2F2F"/>
                </a:solidFill>
                <a:latin typeface="Cambria Math"/>
                <a:cs typeface="Cambria Math"/>
              </a:rPr>
              <a:t>𝑡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for</a:t>
            </a:r>
            <a:r>
              <a:rPr sz="1800" spc="1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1800" spc="1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2F2F2F"/>
                </a:solidFill>
                <a:latin typeface="Times New Roman"/>
                <a:cs typeface="Times New Roman"/>
              </a:rPr>
              <a:t>ack</a:t>
            </a:r>
            <a:r>
              <a:rPr sz="1800" i="1" spc="1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to</a:t>
            </a:r>
            <a:r>
              <a:rPr sz="1800" spc="1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be</a:t>
            </a:r>
            <a:r>
              <a:rPr sz="1800" spc="1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zero</a:t>
            </a:r>
            <a:r>
              <a:rPr sz="1800" spc="1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since</a:t>
            </a:r>
            <a:r>
              <a:rPr sz="1800" spc="1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its</a:t>
            </a:r>
            <a:r>
              <a:rPr sz="1800" spc="114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size</a:t>
            </a:r>
            <a:r>
              <a:rPr sz="1800" spc="1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is</a:t>
            </a:r>
            <a:r>
              <a:rPr sz="1800" spc="1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2F2F2F"/>
                </a:solidFill>
                <a:latin typeface="Times New Roman"/>
                <a:cs typeface="Times New Roman"/>
              </a:rPr>
              <a:t>very </a:t>
            </a:r>
            <a:r>
              <a:rPr sz="1800" spc="-10" dirty="0">
                <a:solidFill>
                  <a:srgbClr val="2F2F2F"/>
                </a:solidFill>
                <a:latin typeface="Times New Roman"/>
                <a:cs typeface="Times New Roman"/>
              </a:rPr>
              <a:t>small.</a:t>
            </a:r>
            <a:endParaRPr sz="1800" dirty="0">
              <a:latin typeface="Times New Roman"/>
              <a:cs typeface="Times New Roman"/>
            </a:endParaRPr>
          </a:p>
          <a:p>
            <a:pPr marL="723265" lvl="1" indent="-227965">
              <a:lnSpc>
                <a:spcPct val="100000"/>
              </a:lnSpc>
              <a:spcBef>
                <a:spcPts val="225"/>
              </a:spcBef>
              <a:buFont typeface="Arial MT"/>
              <a:buChar char="•"/>
              <a:tabLst>
                <a:tab pos="723265" algn="l"/>
              </a:tabLst>
            </a:pP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After</a:t>
            </a:r>
            <a:r>
              <a:rPr sz="18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18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above</a:t>
            </a:r>
            <a:r>
              <a:rPr sz="18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assumption,</a:t>
            </a:r>
            <a:r>
              <a:rPr sz="18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total</a:t>
            </a:r>
            <a:r>
              <a:rPr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time</a:t>
            </a:r>
            <a:r>
              <a:rPr sz="18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taken</a:t>
            </a:r>
            <a:r>
              <a:rPr sz="18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in</a:t>
            </a:r>
            <a:r>
              <a:rPr sz="18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sending one data</a:t>
            </a:r>
            <a:r>
              <a:rPr sz="18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F2F2F"/>
                </a:solidFill>
                <a:latin typeface="Times New Roman"/>
                <a:cs typeface="Times New Roman"/>
              </a:rPr>
              <a:t>packet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140071" y="3761740"/>
            <a:ext cx="858519" cy="276225"/>
          </a:xfrm>
          <a:custGeom>
            <a:avLst/>
            <a:gdLst/>
            <a:ahLst/>
            <a:cxnLst/>
            <a:rect l="l" t="t" r="r" b="b"/>
            <a:pathLst>
              <a:path w="858520" h="276225">
                <a:moveTo>
                  <a:pt x="785494" y="0"/>
                </a:moveTo>
                <a:lnTo>
                  <a:pt x="782701" y="9143"/>
                </a:lnTo>
                <a:lnTo>
                  <a:pt x="795395" y="15712"/>
                </a:lnTo>
                <a:lnTo>
                  <a:pt x="806434" y="25304"/>
                </a:lnTo>
                <a:lnTo>
                  <a:pt x="829689" y="71560"/>
                </a:lnTo>
                <a:lnTo>
                  <a:pt x="836685" y="113938"/>
                </a:lnTo>
                <a:lnTo>
                  <a:pt x="837560" y="138049"/>
                </a:lnTo>
                <a:lnTo>
                  <a:pt x="836685" y="162393"/>
                </a:lnTo>
                <a:lnTo>
                  <a:pt x="829689" y="204684"/>
                </a:lnTo>
                <a:lnTo>
                  <a:pt x="806434" y="250856"/>
                </a:lnTo>
                <a:lnTo>
                  <a:pt x="782701" y="266954"/>
                </a:lnTo>
                <a:lnTo>
                  <a:pt x="785494" y="276098"/>
                </a:lnTo>
                <a:lnTo>
                  <a:pt x="828786" y="246040"/>
                </a:lnTo>
                <a:lnTo>
                  <a:pt x="847457" y="208700"/>
                </a:lnTo>
                <a:lnTo>
                  <a:pt x="856843" y="163361"/>
                </a:lnTo>
                <a:lnTo>
                  <a:pt x="858006" y="138176"/>
                </a:lnTo>
                <a:lnTo>
                  <a:pt x="856898" y="113938"/>
                </a:lnTo>
                <a:lnTo>
                  <a:pt x="847457" y="67397"/>
                </a:lnTo>
                <a:lnTo>
                  <a:pt x="828786" y="30057"/>
                </a:lnTo>
                <a:lnTo>
                  <a:pt x="801925" y="6383"/>
                </a:lnTo>
                <a:lnTo>
                  <a:pt x="785494" y="0"/>
                </a:lnTo>
                <a:close/>
              </a:path>
              <a:path w="858520" h="276225">
                <a:moveTo>
                  <a:pt x="72516" y="0"/>
                </a:moveTo>
                <a:lnTo>
                  <a:pt x="29350" y="30057"/>
                </a:lnTo>
                <a:lnTo>
                  <a:pt x="10662" y="67397"/>
                </a:lnTo>
                <a:lnTo>
                  <a:pt x="1188" y="112736"/>
                </a:lnTo>
                <a:lnTo>
                  <a:pt x="0" y="138049"/>
                </a:lnTo>
                <a:lnTo>
                  <a:pt x="1143" y="162393"/>
                </a:lnTo>
                <a:lnTo>
                  <a:pt x="1188" y="163361"/>
                </a:lnTo>
                <a:lnTo>
                  <a:pt x="10662" y="208700"/>
                </a:lnTo>
                <a:lnTo>
                  <a:pt x="29350" y="246040"/>
                </a:lnTo>
                <a:lnTo>
                  <a:pt x="72516" y="276098"/>
                </a:lnTo>
                <a:lnTo>
                  <a:pt x="75311" y="266954"/>
                </a:lnTo>
                <a:lnTo>
                  <a:pt x="62670" y="260405"/>
                </a:lnTo>
                <a:lnTo>
                  <a:pt x="51625" y="250856"/>
                </a:lnTo>
                <a:lnTo>
                  <a:pt x="28342" y="204684"/>
                </a:lnTo>
                <a:lnTo>
                  <a:pt x="21546" y="163361"/>
                </a:lnTo>
                <a:lnTo>
                  <a:pt x="20574" y="138176"/>
                </a:lnTo>
                <a:lnTo>
                  <a:pt x="21433" y="113938"/>
                </a:lnTo>
                <a:lnTo>
                  <a:pt x="28342" y="71560"/>
                </a:lnTo>
                <a:lnTo>
                  <a:pt x="51625" y="25304"/>
                </a:lnTo>
                <a:lnTo>
                  <a:pt x="75311" y="9143"/>
                </a:lnTo>
                <a:lnTo>
                  <a:pt x="72516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847844" y="3724782"/>
            <a:ext cx="11074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74650" algn="l"/>
              </a:tabLst>
            </a:pPr>
            <a:r>
              <a:rPr sz="1800" spc="-50" dirty="0">
                <a:solidFill>
                  <a:srgbClr val="2F2F2F"/>
                </a:solidFill>
                <a:latin typeface="Cambria Math"/>
                <a:cs typeface="Cambria Math"/>
              </a:rPr>
              <a:t>=</a:t>
            </a:r>
            <a:r>
              <a:rPr sz="1800" dirty="0">
                <a:solidFill>
                  <a:srgbClr val="2F2F2F"/>
                </a:solidFill>
                <a:latin typeface="Cambria Math"/>
                <a:cs typeface="Cambria Math"/>
              </a:rPr>
              <a:t>	𝑇</a:t>
            </a:r>
            <a:r>
              <a:rPr sz="1950" baseline="-14957" dirty="0">
                <a:solidFill>
                  <a:srgbClr val="2F2F2F"/>
                </a:solidFill>
                <a:latin typeface="Cambria Math"/>
                <a:cs typeface="Cambria Math"/>
              </a:rPr>
              <a:t>𝑡</a:t>
            </a:r>
            <a:r>
              <a:rPr sz="1950" spc="195" baseline="-14957" dirty="0">
                <a:solidFill>
                  <a:srgbClr val="2F2F2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2F2F2F"/>
                </a:solidFill>
                <a:latin typeface="Cambria Math"/>
                <a:cs typeface="Cambria Math"/>
              </a:rPr>
              <a:t>+</a:t>
            </a:r>
            <a:r>
              <a:rPr sz="1800" spc="-60" dirty="0">
                <a:solidFill>
                  <a:srgbClr val="2F2F2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2F2F2F"/>
                </a:solidFill>
                <a:latin typeface="Cambria Math"/>
                <a:cs typeface="Cambria Math"/>
              </a:rPr>
              <a:t>𝑇</a:t>
            </a:r>
            <a:r>
              <a:rPr sz="1950" spc="-37" baseline="-14957" dirty="0">
                <a:solidFill>
                  <a:srgbClr val="2F2F2F"/>
                </a:solidFill>
                <a:latin typeface="Cambria Math"/>
                <a:cs typeface="Cambria Math"/>
              </a:rPr>
              <a:t>𝑝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883527" y="3761740"/>
            <a:ext cx="387350" cy="276225"/>
          </a:xfrm>
          <a:custGeom>
            <a:avLst/>
            <a:gdLst/>
            <a:ahLst/>
            <a:cxnLst/>
            <a:rect l="l" t="t" r="r" b="b"/>
            <a:pathLst>
              <a:path w="387350" h="276225">
                <a:moveTo>
                  <a:pt x="314578" y="0"/>
                </a:moveTo>
                <a:lnTo>
                  <a:pt x="311784" y="9143"/>
                </a:lnTo>
                <a:lnTo>
                  <a:pt x="324479" y="15712"/>
                </a:lnTo>
                <a:lnTo>
                  <a:pt x="335518" y="25304"/>
                </a:lnTo>
                <a:lnTo>
                  <a:pt x="358773" y="71560"/>
                </a:lnTo>
                <a:lnTo>
                  <a:pt x="365769" y="113938"/>
                </a:lnTo>
                <a:lnTo>
                  <a:pt x="366644" y="138049"/>
                </a:lnTo>
                <a:lnTo>
                  <a:pt x="365769" y="162393"/>
                </a:lnTo>
                <a:lnTo>
                  <a:pt x="358773" y="204684"/>
                </a:lnTo>
                <a:lnTo>
                  <a:pt x="335518" y="250856"/>
                </a:lnTo>
                <a:lnTo>
                  <a:pt x="311784" y="266954"/>
                </a:lnTo>
                <a:lnTo>
                  <a:pt x="314578" y="276098"/>
                </a:lnTo>
                <a:lnTo>
                  <a:pt x="357870" y="246040"/>
                </a:lnTo>
                <a:lnTo>
                  <a:pt x="376541" y="208700"/>
                </a:lnTo>
                <a:lnTo>
                  <a:pt x="385927" y="163361"/>
                </a:lnTo>
                <a:lnTo>
                  <a:pt x="387090" y="138176"/>
                </a:lnTo>
                <a:lnTo>
                  <a:pt x="385982" y="113938"/>
                </a:lnTo>
                <a:lnTo>
                  <a:pt x="376541" y="67397"/>
                </a:lnTo>
                <a:lnTo>
                  <a:pt x="357870" y="30057"/>
                </a:lnTo>
                <a:lnTo>
                  <a:pt x="331009" y="6383"/>
                </a:lnTo>
                <a:lnTo>
                  <a:pt x="314578" y="0"/>
                </a:lnTo>
                <a:close/>
              </a:path>
              <a:path w="387350" h="276225">
                <a:moveTo>
                  <a:pt x="72517" y="0"/>
                </a:moveTo>
                <a:lnTo>
                  <a:pt x="29350" y="30057"/>
                </a:lnTo>
                <a:lnTo>
                  <a:pt x="10662" y="67397"/>
                </a:lnTo>
                <a:lnTo>
                  <a:pt x="1188" y="112736"/>
                </a:lnTo>
                <a:lnTo>
                  <a:pt x="0" y="138049"/>
                </a:lnTo>
                <a:lnTo>
                  <a:pt x="1143" y="162393"/>
                </a:lnTo>
                <a:lnTo>
                  <a:pt x="1188" y="163361"/>
                </a:lnTo>
                <a:lnTo>
                  <a:pt x="10662" y="208700"/>
                </a:lnTo>
                <a:lnTo>
                  <a:pt x="29350" y="246040"/>
                </a:lnTo>
                <a:lnTo>
                  <a:pt x="72517" y="276098"/>
                </a:lnTo>
                <a:lnTo>
                  <a:pt x="75311" y="266954"/>
                </a:lnTo>
                <a:lnTo>
                  <a:pt x="62670" y="260405"/>
                </a:lnTo>
                <a:lnTo>
                  <a:pt x="51625" y="250856"/>
                </a:lnTo>
                <a:lnTo>
                  <a:pt x="28342" y="204684"/>
                </a:lnTo>
                <a:lnTo>
                  <a:pt x="21546" y="163361"/>
                </a:lnTo>
                <a:lnTo>
                  <a:pt x="21433" y="162393"/>
                </a:lnTo>
                <a:lnTo>
                  <a:pt x="20574" y="138176"/>
                </a:lnTo>
                <a:lnTo>
                  <a:pt x="21433" y="113938"/>
                </a:lnTo>
                <a:lnTo>
                  <a:pt x="24018" y="91725"/>
                </a:lnTo>
                <a:lnTo>
                  <a:pt x="34417" y="53467"/>
                </a:lnTo>
                <a:lnTo>
                  <a:pt x="62670" y="15712"/>
                </a:lnTo>
                <a:lnTo>
                  <a:pt x="75311" y="9143"/>
                </a:lnTo>
                <a:lnTo>
                  <a:pt x="72517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980176" y="3724782"/>
            <a:ext cx="1247775" cy="40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2940">
              <a:lnSpc>
                <a:spcPts val="1780"/>
              </a:lnSpc>
              <a:spcBef>
                <a:spcPts val="100"/>
              </a:spcBef>
              <a:tabLst>
                <a:tab pos="987425" algn="l"/>
              </a:tabLst>
            </a:pPr>
            <a:r>
              <a:rPr sz="1800" spc="-50" dirty="0">
                <a:solidFill>
                  <a:srgbClr val="2F2F2F"/>
                </a:solidFill>
                <a:latin typeface="Cambria Math"/>
                <a:cs typeface="Cambria Math"/>
              </a:rPr>
              <a:t>+</a:t>
            </a:r>
            <a:r>
              <a:rPr sz="1800" dirty="0">
                <a:solidFill>
                  <a:srgbClr val="2F2F2F"/>
                </a:solidFill>
                <a:latin typeface="Cambria Math"/>
                <a:cs typeface="Cambria Math"/>
              </a:rPr>
              <a:t>	</a:t>
            </a:r>
            <a:r>
              <a:rPr sz="1800" spc="-25" dirty="0">
                <a:solidFill>
                  <a:srgbClr val="2F2F2F"/>
                </a:solidFill>
                <a:latin typeface="Cambria Math"/>
                <a:cs typeface="Cambria Math"/>
              </a:rPr>
              <a:t>𝑇</a:t>
            </a:r>
            <a:r>
              <a:rPr sz="1950" spc="-37" baseline="-14957" dirty="0">
                <a:solidFill>
                  <a:srgbClr val="2F2F2F"/>
                </a:solidFill>
                <a:latin typeface="Cambria Math"/>
                <a:cs typeface="Cambria Math"/>
              </a:rPr>
              <a:t>𝑝</a:t>
            </a:r>
            <a:endParaRPr sz="1950" baseline="-14957">
              <a:latin typeface="Cambria Math"/>
              <a:cs typeface="Cambria Math"/>
            </a:endParaRPr>
          </a:p>
          <a:p>
            <a:pPr marL="38100">
              <a:lnSpc>
                <a:spcPts val="1180"/>
              </a:lnSpc>
            </a:pPr>
            <a:r>
              <a:rPr sz="1300" spc="65" dirty="0">
                <a:solidFill>
                  <a:srgbClr val="2F2F2F"/>
                </a:solidFill>
                <a:latin typeface="Cambria Math"/>
                <a:cs typeface="Cambria Math"/>
              </a:rPr>
              <a:t>𝑝𝑎𝑐𝑘𝑒𝑡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279893" y="3900042"/>
            <a:ext cx="3175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55" dirty="0">
                <a:solidFill>
                  <a:srgbClr val="2F2F2F"/>
                </a:solidFill>
                <a:latin typeface="Cambria Math"/>
                <a:cs typeface="Cambria Math"/>
              </a:rPr>
              <a:t>𝑎𝑐𝑘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43369" y="4230446"/>
            <a:ext cx="16541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10802" dirty="0">
                <a:solidFill>
                  <a:srgbClr val="2F2F2F"/>
                </a:solidFill>
                <a:latin typeface="Cambria Math"/>
                <a:cs typeface="Cambria Math"/>
              </a:rPr>
              <a:t>𝑇</a:t>
            </a:r>
            <a:r>
              <a:rPr sz="1300" dirty="0">
                <a:solidFill>
                  <a:srgbClr val="2F2F2F"/>
                </a:solidFill>
                <a:latin typeface="Cambria Math"/>
                <a:cs typeface="Cambria Math"/>
              </a:rPr>
              <a:t>𝑡𝑜𝑡𝑎𝑙</a:t>
            </a:r>
            <a:r>
              <a:rPr sz="2700" baseline="10802" dirty="0">
                <a:solidFill>
                  <a:srgbClr val="2F2F2F"/>
                </a:solidFill>
                <a:latin typeface="Cambria Math"/>
                <a:cs typeface="Cambria Math"/>
              </a:rPr>
              <a:t>=</a:t>
            </a:r>
            <a:r>
              <a:rPr sz="2700" spc="172" baseline="10802" dirty="0">
                <a:solidFill>
                  <a:srgbClr val="2F2F2F"/>
                </a:solidFill>
                <a:latin typeface="Cambria Math"/>
                <a:cs typeface="Cambria Math"/>
              </a:rPr>
              <a:t> </a:t>
            </a:r>
            <a:r>
              <a:rPr sz="2700" baseline="10802" dirty="0">
                <a:solidFill>
                  <a:srgbClr val="2F2F2F"/>
                </a:solidFill>
                <a:latin typeface="Cambria Math"/>
                <a:cs typeface="Cambria Math"/>
              </a:rPr>
              <a:t>𝑇</a:t>
            </a:r>
            <a:r>
              <a:rPr sz="1300" dirty="0">
                <a:solidFill>
                  <a:srgbClr val="2F2F2F"/>
                </a:solidFill>
                <a:latin typeface="Cambria Math"/>
                <a:cs typeface="Cambria Math"/>
              </a:rPr>
              <a:t>𝑡</a:t>
            </a:r>
            <a:r>
              <a:rPr sz="1300" spc="250" dirty="0">
                <a:solidFill>
                  <a:srgbClr val="2F2F2F"/>
                </a:solidFill>
                <a:latin typeface="Cambria Math"/>
                <a:cs typeface="Cambria Math"/>
              </a:rPr>
              <a:t> </a:t>
            </a:r>
            <a:r>
              <a:rPr sz="2700" baseline="10802" dirty="0">
                <a:solidFill>
                  <a:srgbClr val="2F2F2F"/>
                </a:solidFill>
                <a:latin typeface="Cambria Math"/>
                <a:cs typeface="Cambria Math"/>
              </a:rPr>
              <a:t>+</a:t>
            </a:r>
            <a:r>
              <a:rPr sz="2700" spc="44" baseline="10802" dirty="0">
                <a:solidFill>
                  <a:srgbClr val="2F2F2F"/>
                </a:solidFill>
                <a:latin typeface="Cambria Math"/>
                <a:cs typeface="Cambria Math"/>
              </a:rPr>
              <a:t> </a:t>
            </a:r>
            <a:r>
              <a:rPr sz="2700" spc="-37" baseline="10802" dirty="0">
                <a:solidFill>
                  <a:srgbClr val="2F2F2F"/>
                </a:solidFill>
                <a:latin typeface="Cambria Math"/>
                <a:cs typeface="Cambria Math"/>
              </a:rPr>
              <a:t>2𝑇</a:t>
            </a:r>
            <a:r>
              <a:rPr sz="1300" spc="-25" dirty="0">
                <a:solidFill>
                  <a:srgbClr val="2F2F2F"/>
                </a:solidFill>
                <a:latin typeface="Cambria Math"/>
                <a:cs typeface="Cambria Math"/>
              </a:rPr>
              <a:t>𝑝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043302" y="4707509"/>
            <a:ext cx="292735" cy="212090"/>
          </a:xfrm>
          <a:custGeom>
            <a:avLst/>
            <a:gdLst/>
            <a:ahLst/>
            <a:cxnLst/>
            <a:rect l="l" t="t" r="r" b="b"/>
            <a:pathLst>
              <a:path w="292735" h="212089">
                <a:moveTo>
                  <a:pt x="224917" y="0"/>
                </a:moveTo>
                <a:lnTo>
                  <a:pt x="221869" y="8636"/>
                </a:lnTo>
                <a:lnTo>
                  <a:pt x="234154" y="13946"/>
                </a:lnTo>
                <a:lnTo>
                  <a:pt x="244713" y="21304"/>
                </a:lnTo>
                <a:lnTo>
                  <a:pt x="266104" y="55431"/>
                </a:lnTo>
                <a:lnTo>
                  <a:pt x="272356" y="86536"/>
                </a:lnTo>
                <a:lnTo>
                  <a:pt x="272391" y="86776"/>
                </a:lnTo>
                <a:lnTo>
                  <a:pt x="273177" y="104902"/>
                </a:lnTo>
                <a:lnTo>
                  <a:pt x="272391" y="123571"/>
                </a:lnTo>
                <a:lnTo>
                  <a:pt x="270033" y="140525"/>
                </a:lnTo>
                <a:lnTo>
                  <a:pt x="253486" y="180911"/>
                </a:lnTo>
                <a:lnTo>
                  <a:pt x="222250" y="203200"/>
                </a:lnTo>
                <a:lnTo>
                  <a:pt x="224917" y="211836"/>
                </a:lnTo>
                <a:lnTo>
                  <a:pt x="265386" y="187707"/>
                </a:lnTo>
                <a:lnTo>
                  <a:pt x="288115" y="143335"/>
                </a:lnTo>
                <a:lnTo>
                  <a:pt x="292481" y="105918"/>
                </a:lnTo>
                <a:lnTo>
                  <a:pt x="291399" y="86776"/>
                </a:lnTo>
                <a:lnTo>
                  <a:pt x="291385" y="86536"/>
                </a:lnTo>
                <a:lnTo>
                  <a:pt x="274955" y="37084"/>
                </a:lnTo>
                <a:lnTo>
                  <a:pt x="240272" y="5544"/>
                </a:lnTo>
                <a:lnTo>
                  <a:pt x="224917" y="0"/>
                </a:lnTo>
                <a:close/>
              </a:path>
              <a:path w="292735" h="212089">
                <a:moveTo>
                  <a:pt x="67564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0" y="105918"/>
                </a:lnTo>
                <a:lnTo>
                  <a:pt x="992" y="123571"/>
                </a:lnTo>
                <a:lnTo>
                  <a:pt x="1093" y="125370"/>
                </a:lnTo>
                <a:lnTo>
                  <a:pt x="17399" y="174752"/>
                </a:lnTo>
                <a:lnTo>
                  <a:pt x="52153" y="206238"/>
                </a:lnTo>
                <a:lnTo>
                  <a:pt x="67564" y="211836"/>
                </a:lnTo>
                <a:lnTo>
                  <a:pt x="70231" y="203200"/>
                </a:lnTo>
                <a:lnTo>
                  <a:pt x="58183" y="197866"/>
                </a:lnTo>
                <a:lnTo>
                  <a:pt x="47767" y="190436"/>
                </a:lnTo>
                <a:lnTo>
                  <a:pt x="26376" y="155765"/>
                </a:lnTo>
                <a:lnTo>
                  <a:pt x="19346" y="105918"/>
                </a:lnTo>
                <a:lnTo>
                  <a:pt x="19304" y="104902"/>
                </a:lnTo>
                <a:lnTo>
                  <a:pt x="20089" y="86776"/>
                </a:lnTo>
                <a:lnTo>
                  <a:pt x="31877" y="42164"/>
                </a:lnTo>
                <a:lnTo>
                  <a:pt x="58344" y="13946"/>
                </a:lnTo>
                <a:lnTo>
                  <a:pt x="70612" y="8636"/>
                </a:lnTo>
                <a:lnTo>
                  <a:pt x="67564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43534" y="4183202"/>
            <a:ext cx="5889625" cy="755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18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propagation</a:t>
            </a:r>
            <a:r>
              <a:rPr sz="1800" spc="-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speed</a:t>
            </a:r>
            <a:r>
              <a:rPr sz="1800" spc="-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will</a:t>
            </a:r>
            <a:r>
              <a:rPr sz="18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be</a:t>
            </a:r>
            <a:r>
              <a:rPr sz="18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same for</a:t>
            </a:r>
            <a:r>
              <a:rPr sz="18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packet</a:t>
            </a:r>
            <a:r>
              <a:rPr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and</a:t>
            </a:r>
            <a:r>
              <a:rPr sz="18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ack.</a:t>
            </a:r>
            <a:r>
              <a:rPr sz="1800" spc="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2F2F2F"/>
                </a:solidFill>
                <a:latin typeface="Times New Roman"/>
                <a:cs typeface="Times New Roman"/>
              </a:rPr>
              <a:t>Now,</a:t>
            </a:r>
            <a:endParaRPr sz="18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420"/>
              </a:spcBef>
              <a:buFont typeface="Arial MT"/>
              <a:buChar char="•"/>
              <a:tabLst>
                <a:tab pos="240665" algn="l"/>
                <a:tab pos="1474470" algn="l"/>
                <a:tab pos="1776095" algn="l"/>
              </a:tabLst>
            </a:pPr>
            <a:r>
              <a:rPr sz="1800" spc="-10" dirty="0">
                <a:solidFill>
                  <a:srgbClr val="2F2F2F"/>
                </a:solidFill>
                <a:latin typeface="Cambria Math"/>
                <a:cs typeface="Cambria Math"/>
              </a:rPr>
              <a:t>𝐄𝐟𝐟𝐢𝐜𝐢𝐞𝐧𝐜𝐲</a:t>
            </a:r>
            <a:r>
              <a:rPr sz="1800" dirty="0">
                <a:solidFill>
                  <a:srgbClr val="2F2F2F"/>
                </a:solidFill>
                <a:latin typeface="Cambria Math"/>
                <a:cs typeface="Cambria Math"/>
              </a:rPr>
              <a:t>	</a:t>
            </a:r>
            <a:r>
              <a:rPr sz="1800" spc="-50" dirty="0">
                <a:solidFill>
                  <a:srgbClr val="2F2F2F"/>
                </a:solidFill>
                <a:latin typeface="Cambria Math"/>
                <a:cs typeface="Cambria Math"/>
              </a:rPr>
              <a:t>𝛈</a:t>
            </a:r>
            <a:r>
              <a:rPr sz="1800" dirty="0">
                <a:solidFill>
                  <a:srgbClr val="2F2F2F"/>
                </a:solidFill>
                <a:latin typeface="Cambria Math"/>
                <a:cs typeface="Cambria Math"/>
              </a:rPr>
              <a:t>	</a:t>
            </a:r>
            <a:r>
              <a:rPr sz="1800" spc="-50" dirty="0">
                <a:solidFill>
                  <a:srgbClr val="2F2F2F"/>
                </a:solidFill>
                <a:latin typeface="Cambria Math"/>
                <a:cs typeface="Cambria Math"/>
              </a:rPr>
              <a:t>=</a:t>
            </a:r>
            <a:endParaRPr sz="1800" dirty="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704464" y="4804790"/>
            <a:ext cx="909955" cy="15240"/>
          </a:xfrm>
          <a:custGeom>
            <a:avLst/>
            <a:gdLst/>
            <a:ahLst/>
            <a:cxnLst/>
            <a:rect l="l" t="t" r="r" b="b"/>
            <a:pathLst>
              <a:path w="909954" h="15239">
                <a:moveTo>
                  <a:pt x="909827" y="0"/>
                </a:moveTo>
                <a:lnTo>
                  <a:pt x="0" y="0"/>
                </a:lnTo>
                <a:lnTo>
                  <a:pt x="0" y="15239"/>
                </a:lnTo>
                <a:lnTo>
                  <a:pt x="909827" y="15239"/>
                </a:lnTo>
                <a:lnTo>
                  <a:pt x="909827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736342" y="4813172"/>
            <a:ext cx="84836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75" dirty="0">
                <a:solidFill>
                  <a:srgbClr val="2F2F2F"/>
                </a:solidFill>
                <a:latin typeface="Cambria Math"/>
                <a:cs typeface="Cambria Math"/>
              </a:rPr>
              <a:t>Total</a:t>
            </a:r>
            <a:r>
              <a:rPr sz="1300" spc="15" dirty="0">
                <a:solidFill>
                  <a:srgbClr val="2F2F2F"/>
                </a:solidFill>
                <a:latin typeface="Cambria Math"/>
                <a:cs typeface="Cambria Math"/>
              </a:rPr>
              <a:t> </a:t>
            </a:r>
            <a:r>
              <a:rPr sz="1300" spc="60" dirty="0">
                <a:solidFill>
                  <a:srgbClr val="2F2F2F"/>
                </a:solidFill>
                <a:latin typeface="Cambria Math"/>
                <a:cs typeface="Cambria Math"/>
              </a:rPr>
              <a:t>time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66745" y="4503801"/>
            <a:ext cx="1658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00" spc="80" dirty="0">
                <a:solidFill>
                  <a:srgbClr val="2F2F2F"/>
                </a:solidFill>
                <a:latin typeface="Cambria Math"/>
                <a:cs typeface="Cambria Math"/>
              </a:rPr>
              <a:t>Useful</a:t>
            </a:r>
            <a:r>
              <a:rPr sz="1300" spc="10" dirty="0">
                <a:solidFill>
                  <a:srgbClr val="2F2F2F"/>
                </a:solidFill>
                <a:latin typeface="Cambria Math"/>
                <a:cs typeface="Cambria Math"/>
              </a:rPr>
              <a:t> </a:t>
            </a:r>
            <a:r>
              <a:rPr sz="1300" spc="60" dirty="0">
                <a:solidFill>
                  <a:srgbClr val="2F2F2F"/>
                </a:solidFill>
                <a:latin typeface="Cambria Math"/>
                <a:cs typeface="Cambria Math"/>
              </a:rPr>
              <a:t>time</a:t>
            </a:r>
            <a:r>
              <a:rPr sz="2700" spc="89" baseline="-32407" dirty="0">
                <a:solidFill>
                  <a:srgbClr val="2F2F2F"/>
                </a:solidFill>
                <a:latin typeface="Times New Roman"/>
                <a:cs typeface="Times New Roman"/>
              </a:rPr>
              <a:t>,</a:t>
            </a:r>
            <a:r>
              <a:rPr sz="2700" spc="22" baseline="-32407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700" spc="-15" baseline="-32407" dirty="0">
                <a:solidFill>
                  <a:srgbClr val="2F2F2F"/>
                </a:solidFill>
                <a:latin typeface="Times New Roman"/>
                <a:cs typeface="Times New Roman"/>
              </a:rPr>
              <a:t>where</a:t>
            </a:r>
            <a:endParaRPr sz="2700" baseline="-32407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18134" y="5003672"/>
            <a:ext cx="10875645" cy="131381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723265" marR="43180" indent="-228600">
              <a:lnSpc>
                <a:spcPts val="2060"/>
              </a:lnSpc>
              <a:spcBef>
                <a:spcPts val="250"/>
              </a:spcBef>
              <a:buFont typeface="Arial MT"/>
              <a:buChar char="•"/>
              <a:tabLst>
                <a:tab pos="723265" algn="l"/>
              </a:tabLst>
            </a:pP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Useful</a:t>
            </a:r>
            <a:r>
              <a:rPr sz="1800" spc="-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time</a:t>
            </a:r>
            <a:r>
              <a:rPr sz="1800" spc="-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=</a:t>
            </a:r>
            <a:r>
              <a:rPr sz="1800" spc="-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Cambria Math"/>
                <a:cs typeface="Cambria Math"/>
              </a:rPr>
              <a:t>𝑇</a:t>
            </a:r>
            <a:r>
              <a:rPr sz="1950" baseline="-14957" dirty="0">
                <a:solidFill>
                  <a:srgbClr val="2F2F2F"/>
                </a:solidFill>
                <a:latin typeface="Cambria Math"/>
                <a:cs typeface="Cambria Math"/>
              </a:rPr>
              <a:t>𝑡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,</a:t>
            </a:r>
            <a:r>
              <a:rPr sz="1800" spc="-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Useless</a:t>
            </a:r>
            <a:r>
              <a:rPr sz="1800" spc="-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time</a:t>
            </a:r>
            <a:r>
              <a:rPr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=</a:t>
            </a:r>
            <a:r>
              <a:rPr sz="1800" spc="-7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Time</a:t>
            </a:r>
            <a:r>
              <a:rPr sz="1800" spc="-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for</a:t>
            </a:r>
            <a:r>
              <a:rPr sz="1800" spc="-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which</a:t>
            </a:r>
            <a:r>
              <a:rPr sz="1800" spc="-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sender</a:t>
            </a:r>
            <a:r>
              <a:rPr sz="1800" spc="-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is</a:t>
            </a:r>
            <a:r>
              <a:rPr sz="1800" spc="-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forced</a:t>
            </a:r>
            <a:r>
              <a:rPr sz="1800" spc="-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to</a:t>
            </a:r>
            <a:r>
              <a:rPr sz="1800" spc="-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wait</a:t>
            </a:r>
            <a:r>
              <a:rPr sz="1800" spc="-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=</a:t>
            </a:r>
            <a:r>
              <a:rPr sz="18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Cambria Math"/>
                <a:cs typeface="Cambria Math"/>
              </a:rPr>
              <a:t>2𝑇</a:t>
            </a:r>
            <a:r>
              <a:rPr sz="1950" baseline="-14957" dirty="0">
                <a:solidFill>
                  <a:srgbClr val="2F2F2F"/>
                </a:solidFill>
                <a:latin typeface="Cambria Math"/>
                <a:cs typeface="Cambria Math"/>
              </a:rPr>
              <a:t>𝑝</a:t>
            </a:r>
            <a:r>
              <a:rPr sz="1950" spc="337" baseline="-14957" dirty="0">
                <a:solidFill>
                  <a:srgbClr val="2F2F2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and</a:t>
            </a:r>
            <a:r>
              <a:rPr sz="1800" spc="-7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2F2F2F"/>
                </a:solidFill>
                <a:latin typeface="Times New Roman"/>
                <a:cs typeface="Times New Roman"/>
              </a:rPr>
              <a:t>Total</a:t>
            </a:r>
            <a:r>
              <a:rPr sz="1800" spc="-5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time</a:t>
            </a:r>
            <a:r>
              <a:rPr sz="1800" spc="-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=</a:t>
            </a:r>
            <a:r>
              <a:rPr sz="1800" spc="-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Useful</a:t>
            </a:r>
            <a:r>
              <a:rPr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time</a:t>
            </a:r>
            <a:r>
              <a:rPr sz="1800" spc="-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spc="-50" dirty="0">
                <a:solidFill>
                  <a:srgbClr val="2F2F2F"/>
                </a:solidFill>
                <a:latin typeface="Times New Roman"/>
                <a:cs typeface="Times New Roman"/>
              </a:rPr>
              <a:t>+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Useless</a:t>
            </a:r>
            <a:r>
              <a:rPr sz="1800" spc="-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2F2F2F"/>
                </a:solidFill>
                <a:latin typeface="Times New Roman"/>
                <a:cs typeface="Times New Roman"/>
              </a:rPr>
              <a:t>time</a:t>
            </a:r>
            <a:endParaRPr sz="1800" dirty="0">
              <a:latin typeface="Times New Roman"/>
              <a:cs typeface="Times New Roman"/>
            </a:endParaRPr>
          </a:p>
          <a:p>
            <a:pPr marL="266065" indent="-227965">
              <a:lnSpc>
                <a:spcPct val="100000"/>
              </a:lnSpc>
              <a:spcBef>
                <a:spcPts val="745"/>
              </a:spcBef>
              <a:buFont typeface="Arial MT"/>
              <a:buChar char="•"/>
              <a:tabLst>
                <a:tab pos="266065" algn="l"/>
              </a:tabLst>
            </a:pPr>
            <a:r>
              <a:rPr sz="1800" b="1" dirty="0">
                <a:solidFill>
                  <a:srgbClr val="2F2F2F"/>
                </a:solidFill>
                <a:latin typeface="Times New Roman"/>
                <a:cs typeface="Times New Roman"/>
              </a:rPr>
              <a:t>Throughput: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Number</a:t>
            </a:r>
            <a:r>
              <a:rPr sz="18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of</a:t>
            </a:r>
            <a:r>
              <a:rPr sz="1800" spc="-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bits</a:t>
            </a:r>
            <a:r>
              <a:rPr sz="18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that</a:t>
            </a:r>
            <a:r>
              <a:rPr sz="1800" spc="-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can</a:t>
            </a:r>
            <a:r>
              <a:rPr sz="18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be</a:t>
            </a:r>
            <a:r>
              <a:rPr sz="1800" spc="-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sent</a:t>
            </a:r>
            <a:r>
              <a:rPr sz="1800" spc="-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through</a:t>
            </a:r>
            <a:r>
              <a:rPr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18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channel</a:t>
            </a:r>
            <a:r>
              <a:rPr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per</a:t>
            </a:r>
            <a:r>
              <a:rPr sz="1800" spc="-10" dirty="0">
                <a:solidFill>
                  <a:srgbClr val="2F2F2F"/>
                </a:solidFill>
                <a:latin typeface="Times New Roman"/>
                <a:cs typeface="Times New Roman"/>
              </a:rPr>
              <a:t> second.</a:t>
            </a:r>
            <a:endParaRPr sz="1800" dirty="0">
              <a:latin typeface="Times New Roman"/>
              <a:cs typeface="Times New Roman"/>
            </a:endParaRPr>
          </a:p>
          <a:p>
            <a:pPr marL="266065" indent="-227965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266065" algn="l"/>
              </a:tabLst>
            </a:pPr>
            <a:r>
              <a:rPr sz="1800" b="1" dirty="0">
                <a:solidFill>
                  <a:srgbClr val="2F2F2F"/>
                </a:solidFill>
                <a:latin typeface="Times New Roman"/>
                <a:cs typeface="Times New Roman"/>
              </a:rPr>
              <a:t>Round</a:t>
            </a:r>
            <a:r>
              <a:rPr sz="1800" b="1" spc="-7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b="1" spc="-35" dirty="0">
                <a:solidFill>
                  <a:srgbClr val="2F2F2F"/>
                </a:solidFill>
                <a:latin typeface="Times New Roman"/>
                <a:cs typeface="Times New Roman"/>
              </a:rPr>
              <a:t>Trip</a:t>
            </a:r>
            <a:r>
              <a:rPr sz="1800" b="1" spc="-8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F2F2F"/>
                </a:solidFill>
                <a:latin typeface="Times New Roman"/>
                <a:cs typeface="Times New Roman"/>
              </a:rPr>
              <a:t>Time</a:t>
            </a:r>
            <a:r>
              <a:rPr sz="1800" b="1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F2F2F"/>
                </a:solidFill>
                <a:latin typeface="Times New Roman"/>
                <a:cs typeface="Times New Roman"/>
              </a:rPr>
              <a:t>(RTT)</a:t>
            </a:r>
            <a:r>
              <a:rPr sz="1800" b="1" spc="-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=</a:t>
            </a:r>
            <a:r>
              <a:rPr sz="1800" spc="-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2F2F2F"/>
                </a:solidFill>
                <a:latin typeface="Cambria Math"/>
                <a:cs typeface="Cambria Math"/>
              </a:rPr>
              <a:t>2𝑇</a:t>
            </a:r>
            <a:r>
              <a:rPr sz="1950" spc="-37" baseline="-14957" dirty="0">
                <a:solidFill>
                  <a:srgbClr val="2F2F2F"/>
                </a:solidFill>
                <a:latin typeface="Cambria Math"/>
                <a:cs typeface="Cambria Math"/>
              </a:rPr>
              <a:t>𝑝</a:t>
            </a:r>
            <a:endParaRPr sz="1950" baseline="-14957" dirty="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0" y="4600955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370545"/>
                </a:moveTo>
                <a:lnTo>
                  <a:pt x="832510" y="1189012"/>
                </a:lnTo>
                <a:lnTo>
                  <a:pt x="1013460" y="1008888"/>
                </a:lnTo>
                <a:lnTo>
                  <a:pt x="0" y="0"/>
                </a:lnTo>
                <a:lnTo>
                  <a:pt x="0" y="2017776"/>
                </a:lnTo>
                <a:lnTo>
                  <a:pt x="488391" y="1531594"/>
                </a:lnTo>
                <a:lnTo>
                  <a:pt x="670699" y="1713890"/>
                </a:lnTo>
                <a:lnTo>
                  <a:pt x="1014056" y="137054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1219307" y="0"/>
            <a:ext cx="972819" cy="1935480"/>
          </a:xfrm>
          <a:custGeom>
            <a:avLst/>
            <a:gdLst/>
            <a:ahLst/>
            <a:cxnLst/>
            <a:rect l="l" t="t" r="r" b="b"/>
            <a:pathLst>
              <a:path w="972820" h="1935480">
                <a:moveTo>
                  <a:pt x="972693" y="0"/>
                </a:moveTo>
                <a:lnTo>
                  <a:pt x="381" y="967740"/>
                </a:lnTo>
                <a:lnTo>
                  <a:pt x="177482" y="1144016"/>
                </a:lnTo>
                <a:lnTo>
                  <a:pt x="0" y="1321562"/>
                </a:lnTo>
                <a:lnTo>
                  <a:pt x="348615" y="1670177"/>
                </a:lnTo>
                <a:lnTo>
                  <a:pt x="526986" y="1491881"/>
                </a:lnTo>
                <a:lnTo>
                  <a:pt x="972693" y="1935480"/>
                </a:lnTo>
                <a:lnTo>
                  <a:pt x="972693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6552" y="5590032"/>
            <a:ext cx="3637788" cy="5897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23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imes New Roman"/>
                <a:cs typeface="Times New Roman"/>
              </a:rPr>
              <a:t>Stop</a:t>
            </a:r>
            <a:r>
              <a:rPr b="1" spc="-5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and</a:t>
            </a:r>
            <a:r>
              <a:rPr b="1" spc="-11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Wait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:</a:t>
            </a:r>
            <a:r>
              <a:rPr b="1" spc="-22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Advantage</a:t>
            </a:r>
            <a:r>
              <a:rPr b="1" spc="-5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and</a:t>
            </a:r>
            <a:r>
              <a:rPr b="1" spc="-55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Disadvantage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489959"/>
            <a:ext cx="4023360" cy="3129280"/>
            <a:chOff x="0" y="3489959"/>
            <a:chExt cx="4023360" cy="3129280"/>
          </a:xfrm>
        </p:grpSpPr>
        <p:sp>
          <p:nvSpPr>
            <p:cNvPr id="4" name="object 4"/>
            <p:cNvSpPr/>
            <p:nvPr/>
          </p:nvSpPr>
          <p:spPr>
            <a:xfrm>
              <a:off x="0" y="4600955"/>
              <a:ext cx="1014094" cy="2018030"/>
            </a:xfrm>
            <a:custGeom>
              <a:avLst/>
              <a:gdLst/>
              <a:ahLst/>
              <a:cxnLst/>
              <a:rect l="l" t="t" r="r" b="b"/>
              <a:pathLst>
                <a:path w="1014094" h="2018029">
                  <a:moveTo>
                    <a:pt x="1014056" y="1370545"/>
                  </a:moveTo>
                  <a:lnTo>
                    <a:pt x="832510" y="1189012"/>
                  </a:lnTo>
                  <a:lnTo>
                    <a:pt x="1013460" y="1008888"/>
                  </a:lnTo>
                  <a:lnTo>
                    <a:pt x="0" y="0"/>
                  </a:lnTo>
                  <a:lnTo>
                    <a:pt x="0" y="2017776"/>
                  </a:lnTo>
                  <a:lnTo>
                    <a:pt x="488391" y="1531594"/>
                  </a:lnTo>
                  <a:lnTo>
                    <a:pt x="670699" y="1713890"/>
                  </a:lnTo>
                  <a:lnTo>
                    <a:pt x="1014056" y="1370545"/>
                  </a:lnTo>
                  <a:close/>
                </a:path>
              </a:pathLst>
            </a:custGeom>
            <a:solidFill>
              <a:srgbClr val="4471C4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9932" y="3489959"/>
              <a:ext cx="3043427" cy="2481072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11219307" y="0"/>
            <a:ext cx="972819" cy="1935480"/>
          </a:xfrm>
          <a:custGeom>
            <a:avLst/>
            <a:gdLst/>
            <a:ahLst/>
            <a:cxnLst/>
            <a:rect l="l" t="t" r="r" b="b"/>
            <a:pathLst>
              <a:path w="972820" h="1935480">
                <a:moveTo>
                  <a:pt x="972693" y="0"/>
                </a:moveTo>
                <a:lnTo>
                  <a:pt x="381" y="967740"/>
                </a:lnTo>
                <a:lnTo>
                  <a:pt x="177482" y="1144016"/>
                </a:lnTo>
                <a:lnTo>
                  <a:pt x="0" y="1321562"/>
                </a:lnTo>
                <a:lnTo>
                  <a:pt x="348615" y="1670177"/>
                </a:lnTo>
                <a:lnTo>
                  <a:pt x="526986" y="1491881"/>
                </a:lnTo>
                <a:lnTo>
                  <a:pt x="972693" y="1935480"/>
                </a:lnTo>
                <a:lnTo>
                  <a:pt x="972693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64668" y="1367789"/>
            <a:ext cx="11456670" cy="193675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240665" algn="l"/>
              </a:tabLst>
            </a:pPr>
            <a:r>
              <a:rPr sz="1800" b="1" spc="-10" dirty="0">
                <a:solidFill>
                  <a:srgbClr val="2F2F2F"/>
                </a:solidFill>
                <a:latin typeface="Times New Roman"/>
                <a:cs typeface="Times New Roman"/>
              </a:rPr>
              <a:t>Advantage:</a:t>
            </a:r>
            <a:endParaRPr sz="1800">
              <a:latin typeface="Times New Roman"/>
              <a:cs typeface="Times New Roman"/>
            </a:endParaRPr>
          </a:p>
          <a:p>
            <a:pPr marL="697865" lvl="1" indent="-227965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697865" algn="l"/>
              </a:tabLst>
            </a:pP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It</a:t>
            </a:r>
            <a:r>
              <a:rPr sz="18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is</a:t>
            </a:r>
            <a:r>
              <a:rPr sz="18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very</a:t>
            </a:r>
            <a:r>
              <a:rPr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simple</a:t>
            </a:r>
            <a:r>
              <a:rPr sz="18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to</a:t>
            </a:r>
            <a:r>
              <a:rPr sz="18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F2F2F"/>
                </a:solidFill>
                <a:latin typeface="Times New Roman"/>
                <a:cs typeface="Times New Roman"/>
              </a:rPr>
              <a:t>implement.</a:t>
            </a:r>
            <a:endParaRPr sz="1800">
              <a:latin typeface="Times New Roman"/>
              <a:cs typeface="Times New Roman"/>
            </a:endParaRPr>
          </a:p>
          <a:p>
            <a:pPr marL="697865" lvl="1" indent="-227965">
              <a:lnSpc>
                <a:spcPct val="100000"/>
              </a:lnSpc>
              <a:spcBef>
                <a:spcPts val="275"/>
              </a:spcBef>
              <a:buFont typeface="Arial MT"/>
              <a:buChar char="•"/>
              <a:tabLst>
                <a:tab pos="697865" algn="l"/>
              </a:tabLst>
            </a:pP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1800" spc="-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incoming</a:t>
            </a:r>
            <a:r>
              <a:rPr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packet</a:t>
            </a:r>
            <a:r>
              <a:rPr sz="1800" spc="-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from</a:t>
            </a:r>
            <a:r>
              <a:rPr sz="1800" spc="-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receiver</a:t>
            </a:r>
            <a:r>
              <a:rPr sz="1800" spc="-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is</a:t>
            </a:r>
            <a:r>
              <a:rPr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always</a:t>
            </a:r>
            <a:r>
              <a:rPr sz="1800" spc="-6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an</a:t>
            </a:r>
            <a:r>
              <a:rPr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F2F2F"/>
                </a:solidFill>
                <a:latin typeface="Times New Roman"/>
                <a:cs typeface="Times New Roman"/>
              </a:rPr>
              <a:t>acknowledgement.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240665" algn="l"/>
              </a:tabLst>
            </a:pPr>
            <a:r>
              <a:rPr sz="1800" b="1" spc="-10" dirty="0">
                <a:solidFill>
                  <a:srgbClr val="2F2F2F"/>
                </a:solidFill>
                <a:latin typeface="Times New Roman"/>
                <a:cs typeface="Times New Roman"/>
              </a:rPr>
              <a:t>Disadvantage: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800">
              <a:latin typeface="Times New Roman"/>
              <a:cs typeface="Times New Roman"/>
            </a:endParaRPr>
          </a:p>
          <a:p>
            <a:pPr marL="840740">
              <a:lnSpc>
                <a:spcPct val="100000"/>
              </a:lnSpc>
              <a:tabLst>
                <a:tab pos="4289425" algn="l"/>
                <a:tab pos="7691755" algn="l"/>
              </a:tabLst>
            </a:pP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Problems</a:t>
            </a:r>
            <a:r>
              <a:rPr sz="18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occur</a:t>
            </a:r>
            <a:r>
              <a:rPr sz="18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due</a:t>
            </a:r>
            <a:r>
              <a:rPr sz="1800" spc="-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to</a:t>
            </a:r>
            <a:r>
              <a:rPr sz="18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lost</a:t>
            </a:r>
            <a:r>
              <a:rPr sz="18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2F2F2F"/>
                </a:solidFill>
                <a:latin typeface="Times New Roman"/>
                <a:cs typeface="Times New Roman"/>
              </a:rPr>
              <a:t>data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	</a:t>
            </a:r>
            <a:r>
              <a:rPr sz="2700" baseline="3086" dirty="0">
                <a:solidFill>
                  <a:srgbClr val="2F2F2F"/>
                </a:solidFill>
                <a:latin typeface="Times New Roman"/>
                <a:cs typeface="Times New Roman"/>
              </a:rPr>
              <a:t>Problems</a:t>
            </a:r>
            <a:r>
              <a:rPr sz="2700" spc="-22" baseline="3086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700" baseline="3086" dirty="0">
                <a:solidFill>
                  <a:srgbClr val="2F2F2F"/>
                </a:solidFill>
                <a:latin typeface="Times New Roman"/>
                <a:cs typeface="Times New Roman"/>
              </a:rPr>
              <a:t>occur</a:t>
            </a:r>
            <a:r>
              <a:rPr sz="2700" spc="-22" baseline="3086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700" baseline="3086" dirty="0">
                <a:solidFill>
                  <a:srgbClr val="2F2F2F"/>
                </a:solidFill>
                <a:latin typeface="Times New Roman"/>
                <a:cs typeface="Times New Roman"/>
              </a:rPr>
              <a:t>due to</a:t>
            </a:r>
            <a:r>
              <a:rPr sz="2700" spc="-30" baseline="3086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700" baseline="3086" dirty="0">
                <a:solidFill>
                  <a:srgbClr val="2F2F2F"/>
                </a:solidFill>
                <a:latin typeface="Times New Roman"/>
                <a:cs typeface="Times New Roman"/>
              </a:rPr>
              <a:t>lost </a:t>
            </a:r>
            <a:r>
              <a:rPr sz="2700" spc="-37" baseline="3086" dirty="0">
                <a:solidFill>
                  <a:srgbClr val="2F2F2F"/>
                </a:solidFill>
                <a:latin typeface="Times New Roman"/>
                <a:cs typeface="Times New Roman"/>
              </a:rPr>
              <a:t>ack</a:t>
            </a:r>
            <a:r>
              <a:rPr sz="2700" baseline="3086" dirty="0">
                <a:solidFill>
                  <a:srgbClr val="2F2F2F"/>
                </a:solidFill>
                <a:latin typeface="Times New Roman"/>
                <a:cs typeface="Times New Roman"/>
              </a:rPr>
              <a:t>	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Problems</a:t>
            </a:r>
            <a:r>
              <a:rPr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occur</a:t>
            </a:r>
            <a:r>
              <a:rPr sz="18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due</a:t>
            </a:r>
            <a:r>
              <a:rPr sz="18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to</a:t>
            </a:r>
            <a:r>
              <a:rPr sz="18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delayed</a:t>
            </a:r>
            <a:r>
              <a:rPr sz="1800" spc="-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data</a:t>
            </a:r>
            <a:r>
              <a:rPr sz="1800" spc="-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/</a:t>
            </a:r>
            <a:r>
              <a:rPr sz="1800" spc="-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ack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98218" y="3597832"/>
            <a:ext cx="2939382" cy="231566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96597" y="3602352"/>
            <a:ext cx="3079286" cy="230405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26004" y="264363"/>
            <a:ext cx="72104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imes New Roman"/>
                <a:cs typeface="Times New Roman"/>
              </a:rPr>
              <a:t>Stop</a:t>
            </a:r>
            <a:r>
              <a:rPr b="1" spc="-6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and</a:t>
            </a:r>
            <a:r>
              <a:rPr b="1" spc="-12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Wait</a:t>
            </a:r>
            <a:r>
              <a:rPr b="1" spc="-4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:</a:t>
            </a:r>
            <a:r>
              <a:rPr b="1" spc="-4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Numerical</a:t>
            </a:r>
            <a:r>
              <a:rPr b="1" spc="-55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Problems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4668" y="1404365"/>
            <a:ext cx="11226800" cy="5189241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33020">
              <a:lnSpc>
                <a:spcPts val="1939"/>
              </a:lnSpc>
              <a:spcBef>
                <a:spcPts val="345"/>
              </a:spcBef>
            </a:pPr>
            <a:r>
              <a:rPr sz="1800" b="1" dirty="0">
                <a:solidFill>
                  <a:srgbClr val="2F2F2F"/>
                </a:solidFill>
                <a:latin typeface="Times New Roman"/>
                <a:cs typeface="Times New Roman"/>
              </a:rPr>
              <a:t>Problem</a:t>
            </a:r>
            <a:r>
              <a:rPr sz="1800" b="1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F2F2F"/>
                </a:solidFill>
                <a:latin typeface="Times New Roman"/>
                <a:cs typeface="Times New Roman"/>
              </a:rPr>
              <a:t>1.</a:t>
            </a:r>
            <a:r>
              <a:rPr sz="1800" b="1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If</a:t>
            </a:r>
            <a:r>
              <a:rPr sz="18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18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bandwidth</a:t>
            </a:r>
            <a:r>
              <a:rPr sz="1800" spc="-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of</a:t>
            </a:r>
            <a:r>
              <a:rPr sz="18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18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line</a:t>
            </a:r>
            <a:r>
              <a:rPr sz="18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is</a:t>
            </a:r>
            <a:r>
              <a:rPr sz="1800" spc="-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1.5</a:t>
            </a:r>
            <a:r>
              <a:rPr sz="1800" spc="-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Mbps,</a:t>
            </a:r>
            <a:r>
              <a:rPr sz="18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spc="-35" dirty="0">
                <a:solidFill>
                  <a:srgbClr val="2F2F2F"/>
                </a:solidFill>
                <a:latin typeface="Times New Roman"/>
                <a:cs typeface="Times New Roman"/>
              </a:rPr>
              <a:t>RTT</a:t>
            </a:r>
            <a:r>
              <a:rPr sz="1800" spc="-5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is</a:t>
            </a:r>
            <a:r>
              <a:rPr sz="18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45</a:t>
            </a:r>
            <a:r>
              <a:rPr sz="18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msec</a:t>
            </a:r>
            <a:r>
              <a:rPr sz="18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and</a:t>
            </a:r>
            <a:r>
              <a:rPr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packet</a:t>
            </a:r>
            <a:r>
              <a:rPr sz="1800" spc="-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size</a:t>
            </a:r>
            <a:r>
              <a:rPr sz="18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is</a:t>
            </a:r>
            <a:r>
              <a:rPr sz="18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1</a:t>
            </a:r>
            <a:r>
              <a:rPr sz="18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KB,</a:t>
            </a:r>
            <a:r>
              <a:rPr sz="18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then</a:t>
            </a:r>
            <a:r>
              <a:rPr sz="18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find</a:t>
            </a:r>
            <a:r>
              <a:rPr sz="18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18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link</a:t>
            </a:r>
            <a:r>
              <a:rPr sz="1800" spc="-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F2F2F"/>
                </a:solidFill>
                <a:latin typeface="Times New Roman"/>
                <a:cs typeface="Times New Roman"/>
              </a:rPr>
              <a:t>utilization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in</a:t>
            </a:r>
            <a:r>
              <a:rPr sz="18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stop</a:t>
            </a:r>
            <a:r>
              <a:rPr sz="18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and</a:t>
            </a:r>
            <a:r>
              <a:rPr sz="18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2F2F2F"/>
                </a:solidFill>
                <a:latin typeface="Times New Roman"/>
                <a:cs typeface="Times New Roman"/>
              </a:rPr>
              <a:t>wait.</a:t>
            </a:r>
            <a:endParaRPr sz="1800" dirty="0">
              <a:latin typeface="Times New Roman"/>
              <a:cs typeface="Times New Roman"/>
            </a:endParaRPr>
          </a:p>
          <a:p>
            <a:pPr marL="12700" marR="4064635">
              <a:lnSpc>
                <a:spcPts val="2950"/>
              </a:lnSpc>
              <a:spcBef>
                <a:spcPts val="200"/>
              </a:spcBef>
            </a:pPr>
            <a:r>
              <a:rPr sz="1800" b="1" dirty="0">
                <a:solidFill>
                  <a:srgbClr val="2F2F2F"/>
                </a:solidFill>
                <a:latin typeface="Times New Roman"/>
                <a:cs typeface="Times New Roman"/>
              </a:rPr>
              <a:t>Solution-</a:t>
            </a:r>
            <a:r>
              <a:rPr sz="1800" b="1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Given-</a:t>
            </a:r>
            <a:r>
              <a:rPr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Bandwidth</a:t>
            </a:r>
            <a:r>
              <a:rPr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=</a:t>
            </a:r>
            <a:r>
              <a:rPr sz="18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1.5</a:t>
            </a:r>
            <a:r>
              <a:rPr sz="18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Mbps,</a:t>
            </a:r>
            <a:r>
              <a:rPr sz="18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RTT</a:t>
            </a:r>
            <a:r>
              <a:rPr sz="1800" spc="-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=</a:t>
            </a:r>
            <a:r>
              <a:rPr sz="1800" spc="-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45</a:t>
            </a:r>
            <a:r>
              <a:rPr sz="18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msec,</a:t>
            </a:r>
            <a:r>
              <a:rPr sz="18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Packet</a:t>
            </a:r>
            <a:r>
              <a:rPr sz="18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size</a:t>
            </a:r>
            <a:r>
              <a:rPr sz="18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=</a:t>
            </a:r>
            <a:r>
              <a:rPr sz="1800" spc="-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1</a:t>
            </a:r>
            <a:r>
              <a:rPr sz="18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KB </a:t>
            </a:r>
            <a:r>
              <a:rPr sz="1800" spc="-10" dirty="0">
                <a:solidFill>
                  <a:srgbClr val="2F2F2F"/>
                </a:solidFill>
                <a:latin typeface="Times New Roman"/>
                <a:cs typeface="Times New Roman"/>
              </a:rPr>
              <a:t>Hence,</a:t>
            </a:r>
            <a:endParaRPr sz="1800" dirty="0">
              <a:latin typeface="Times New Roman"/>
              <a:cs typeface="Times New Roman"/>
            </a:endParaRPr>
          </a:p>
          <a:p>
            <a:pPr marL="12700" marR="2228215">
              <a:lnSpc>
                <a:spcPts val="2940"/>
              </a:lnSpc>
            </a:pP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Transmission</a:t>
            </a:r>
            <a:r>
              <a:rPr sz="18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delay</a:t>
            </a:r>
            <a:r>
              <a:rPr sz="1800" spc="-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(Tt)</a:t>
            </a:r>
            <a:r>
              <a:rPr sz="1800" spc="-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=</a:t>
            </a:r>
            <a:r>
              <a:rPr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L/B</a:t>
            </a:r>
            <a:r>
              <a:rPr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=</a:t>
            </a:r>
            <a:r>
              <a:rPr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1KB/1.5Mbps</a:t>
            </a:r>
            <a:r>
              <a:rPr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=</a:t>
            </a:r>
            <a:r>
              <a:rPr sz="18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(1K</a:t>
            </a:r>
            <a:r>
              <a:rPr sz="1800" spc="-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x</a:t>
            </a:r>
            <a:r>
              <a:rPr sz="18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8</a:t>
            </a:r>
            <a:r>
              <a:rPr sz="18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bits)</a:t>
            </a:r>
            <a:r>
              <a:rPr sz="18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/</a:t>
            </a:r>
            <a:r>
              <a:rPr sz="18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(1.5</a:t>
            </a:r>
            <a:r>
              <a:rPr sz="18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bits</a:t>
            </a:r>
            <a:r>
              <a:rPr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per</a:t>
            </a:r>
            <a:r>
              <a:rPr sz="18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sec)</a:t>
            </a:r>
            <a:r>
              <a:rPr sz="1800" spc="-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=</a:t>
            </a:r>
            <a:r>
              <a:rPr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5.461</a:t>
            </a:r>
            <a:r>
              <a:rPr lang="en-US"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2F2F2F"/>
                </a:solidFill>
                <a:latin typeface="Times New Roman"/>
                <a:cs typeface="Times New Roman"/>
              </a:rPr>
              <a:t>msec </a:t>
            </a:r>
            <a:r>
              <a:rPr lang="en-US" sz="1800" spc="-20" dirty="0" err="1">
                <a:solidFill>
                  <a:srgbClr val="2F2F2F"/>
                </a:solidFill>
                <a:latin typeface="Times New Roman"/>
                <a:cs typeface="Times New Roman"/>
              </a:rPr>
              <a:t>Tcycle</a:t>
            </a:r>
            <a:r>
              <a:rPr lang="en-US" sz="1800" spc="-20" dirty="0">
                <a:solidFill>
                  <a:srgbClr val="2F2F2F"/>
                </a:solidFill>
                <a:latin typeface="Times New Roman"/>
                <a:cs typeface="Times New Roman"/>
              </a:rPr>
              <a:t>​=Tt​+RTT= 5.46+45=50.46 </a:t>
            </a:r>
            <a:r>
              <a:rPr lang="en-US" sz="1800" spc="-20" dirty="0" err="1">
                <a:solidFill>
                  <a:srgbClr val="2F2F2F"/>
                </a:solidFill>
                <a:latin typeface="Times New Roman"/>
                <a:cs typeface="Times New Roman"/>
              </a:rPr>
              <a:t>ms</a:t>
            </a:r>
            <a:br>
              <a:rPr lang="en-US" sz="1800" spc="-20" dirty="0">
                <a:solidFill>
                  <a:srgbClr val="2F2F2F"/>
                </a:solidFill>
                <a:latin typeface="Times New Roman"/>
                <a:cs typeface="Times New Roman"/>
              </a:rPr>
            </a:b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Propagation</a:t>
            </a:r>
            <a:r>
              <a:rPr sz="1800" spc="-5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delay</a:t>
            </a:r>
            <a:r>
              <a:rPr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(Tp)</a:t>
            </a:r>
            <a:r>
              <a:rPr sz="18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=</a:t>
            </a:r>
            <a:r>
              <a:rPr sz="1800" spc="-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F2F2F"/>
                </a:solidFill>
                <a:latin typeface="Times New Roman"/>
                <a:cs typeface="Times New Roman"/>
              </a:rPr>
              <a:t>RTT/</a:t>
            </a:r>
            <a:r>
              <a:rPr sz="18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2</a:t>
            </a:r>
            <a:r>
              <a:rPr sz="1800" spc="-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=</a:t>
            </a:r>
            <a:r>
              <a:rPr sz="18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45</a:t>
            </a:r>
            <a:r>
              <a:rPr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msec</a:t>
            </a:r>
            <a:r>
              <a:rPr sz="18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/</a:t>
            </a:r>
            <a:r>
              <a:rPr sz="18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2</a:t>
            </a:r>
            <a:r>
              <a:rPr sz="18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=</a:t>
            </a:r>
            <a:r>
              <a:rPr sz="18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22.5</a:t>
            </a:r>
            <a:r>
              <a:rPr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2F2F2F"/>
                </a:solidFill>
                <a:latin typeface="Times New Roman"/>
                <a:cs typeface="Times New Roman"/>
              </a:rPr>
              <a:t>msec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Link</a:t>
            </a:r>
            <a:r>
              <a:rPr sz="18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Utilization</a:t>
            </a:r>
            <a:r>
              <a:rPr sz="1800" spc="-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or Efficiency</a:t>
            </a:r>
            <a:r>
              <a:rPr sz="1800" spc="-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(η) =</a:t>
            </a:r>
            <a:r>
              <a:rPr sz="18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1</a:t>
            </a:r>
            <a:r>
              <a:rPr sz="18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/ 1+(2</a:t>
            </a:r>
            <a:r>
              <a:rPr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Tp/Tt)</a:t>
            </a:r>
            <a:r>
              <a:rPr sz="18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=</a:t>
            </a:r>
            <a:r>
              <a:rPr sz="1800" spc="4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lang="en-US" sz="1800" spc="440" dirty="0">
                <a:solidFill>
                  <a:srgbClr val="2F2F2F"/>
                </a:solidFill>
                <a:latin typeface="Times New Roman"/>
                <a:cs typeface="Times New Roman"/>
              </a:rPr>
              <a:t>1/ (1+(2X22.5)/5.46)=1/(1+8.24)=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1</a:t>
            </a:r>
            <a:r>
              <a:rPr sz="18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/</a:t>
            </a:r>
            <a:r>
              <a:rPr sz="18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9.24</a:t>
            </a:r>
            <a:r>
              <a:rPr sz="1800" spc="-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=</a:t>
            </a:r>
            <a:r>
              <a:rPr sz="18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0.108</a:t>
            </a:r>
            <a:r>
              <a:rPr sz="1800" spc="-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=</a:t>
            </a:r>
            <a:r>
              <a:rPr sz="18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10.8</a:t>
            </a:r>
            <a:r>
              <a:rPr sz="18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spc="-50" dirty="0">
                <a:solidFill>
                  <a:srgbClr val="2F2F2F"/>
                </a:solidFill>
                <a:latin typeface="Times New Roman"/>
                <a:cs typeface="Times New Roman"/>
              </a:rPr>
              <a:t>%</a:t>
            </a:r>
            <a:br>
              <a:rPr lang="en-US" sz="1800" spc="-50" dirty="0">
                <a:solidFill>
                  <a:srgbClr val="2F2F2F"/>
                </a:solidFill>
                <a:latin typeface="Times New Roman"/>
                <a:cs typeface="Times New Roman"/>
              </a:rPr>
            </a:br>
            <a:r>
              <a:rPr lang="en-US" sz="1800" spc="-50" dirty="0">
                <a:solidFill>
                  <a:srgbClr val="2F2F2F"/>
                </a:solidFill>
                <a:latin typeface="Times New Roman"/>
                <a:cs typeface="Times New Roman"/>
              </a:rPr>
              <a:t>Link Utilization (U) =Tt/ (</a:t>
            </a:r>
            <a:r>
              <a:rPr lang="en-US" sz="1800" spc="-50" dirty="0" err="1">
                <a:solidFill>
                  <a:srgbClr val="2F2F2F"/>
                </a:solidFill>
                <a:latin typeface="Times New Roman"/>
                <a:cs typeface="Times New Roman"/>
              </a:rPr>
              <a:t>Tt+RTT</a:t>
            </a:r>
            <a:r>
              <a:rPr lang="en-US" sz="1800" spc="-50" dirty="0">
                <a:solidFill>
                  <a:srgbClr val="2F2F2F"/>
                </a:solidFill>
                <a:latin typeface="Times New Roman"/>
                <a:cs typeface="Times New Roman"/>
              </a:rPr>
              <a:t>)= 5.46/50.46=0.108 =10.8%</a:t>
            </a:r>
            <a:endParaRPr sz="1800" dirty="0">
              <a:latin typeface="Times New Roman"/>
              <a:cs typeface="Times New Roman"/>
            </a:endParaRPr>
          </a:p>
          <a:p>
            <a:pPr marL="12700" marR="5080">
              <a:lnSpc>
                <a:spcPts val="1939"/>
              </a:lnSpc>
            </a:pPr>
            <a:br>
              <a:rPr lang="en-US" sz="1800" b="1" dirty="0">
                <a:solidFill>
                  <a:srgbClr val="2F2F2F"/>
                </a:solidFill>
                <a:latin typeface="Times New Roman"/>
                <a:cs typeface="Times New Roman"/>
              </a:rPr>
            </a:br>
            <a:r>
              <a:rPr sz="1800" b="1" dirty="0">
                <a:solidFill>
                  <a:srgbClr val="2F2F2F"/>
                </a:solidFill>
                <a:latin typeface="Times New Roman"/>
                <a:cs typeface="Times New Roman"/>
              </a:rPr>
              <a:t>Problem</a:t>
            </a:r>
            <a:r>
              <a:rPr sz="1800" b="1" spc="-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F2F2F"/>
                </a:solidFill>
                <a:latin typeface="Times New Roman"/>
                <a:cs typeface="Times New Roman"/>
              </a:rPr>
              <a:t>2.</a:t>
            </a:r>
            <a:r>
              <a:rPr sz="1800" b="1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A</a:t>
            </a:r>
            <a:r>
              <a:rPr sz="1800" spc="-114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channel</a:t>
            </a:r>
            <a:r>
              <a:rPr sz="18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has</a:t>
            </a:r>
            <a:r>
              <a:rPr sz="1800" spc="-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a</a:t>
            </a:r>
            <a:r>
              <a:rPr sz="18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bit</a:t>
            </a:r>
            <a:r>
              <a:rPr sz="1800" spc="-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rate</a:t>
            </a:r>
            <a:r>
              <a:rPr sz="18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of</a:t>
            </a:r>
            <a:r>
              <a:rPr sz="1800" spc="-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4</a:t>
            </a:r>
            <a:r>
              <a:rPr sz="18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Kbps</a:t>
            </a:r>
            <a:r>
              <a:rPr sz="1800" spc="-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and</a:t>
            </a:r>
            <a:r>
              <a:rPr sz="18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propagation</a:t>
            </a:r>
            <a:r>
              <a:rPr sz="1800" spc="-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delay</a:t>
            </a:r>
            <a:r>
              <a:rPr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of</a:t>
            </a:r>
            <a:r>
              <a:rPr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20</a:t>
            </a:r>
            <a:r>
              <a:rPr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msec.</a:t>
            </a:r>
            <a:r>
              <a:rPr sz="1800" spc="-6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channel</a:t>
            </a:r>
            <a:r>
              <a:rPr sz="1800" spc="-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uses</a:t>
            </a:r>
            <a:r>
              <a:rPr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stop</a:t>
            </a:r>
            <a:r>
              <a:rPr sz="18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and</a:t>
            </a:r>
            <a:r>
              <a:rPr sz="18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wait</a:t>
            </a:r>
            <a:r>
              <a:rPr sz="1800" spc="-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F2F2F"/>
                </a:solidFill>
                <a:latin typeface="Times New Roman"/>
                <a:cs typeface="Times New Roman"/>
              </a:rPr>
              <a:t>protocol. </a:t>
            </a:r>
            <a:r>
              <a:rPr sz="1800" spc="-30" dirty="0">
                <a:solidFill>
                  <a:srgbClr val="2F2F2F"/>
                </a:solidFill>
                <a:latin typeface="Times New Roman"/>
                <a:cs typeface="Times New Roman"/>
              </a:rPr>
              <a:t>To</a:t>
            </a:r>
            <a:r>
              <a:rPr sz="1800" spc="-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get</a:t>
            </a:r>
            <a:r>
              <a:rPr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a</a:t>
            </a:r>
            <a:r>
              <a:rPr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channel</a:t>
            </a:r>
            <a:r>
              <a:rPr sz="1800" spc="-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F2F2F"/>
                </a:solidFill>
                <a:latin typeface="Times New Roman"/>
                <a:cs typeface="Times New Roman"/>
              </a:rPr>
              <a:t>efficiency</a:t>
            </a:r>
            <a:r>
              <a:rPr sz="1800" spc="-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of</a:t>
            </a:r>
            <a:r>
              <a:rPr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at</a:t>
            </a:r>
            <a:r>
              <a:rPr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least</a:t>
            </a:r>
            <a:r>
              <a:rPr sz="1800" spc="-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20%,</a:t>
            </a:r>
            <a:r>
              <a:rPr sz="1800" spc="-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what</a:t>
            </a:r>
            <a:r>
              <a:rPr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is</a:t>
            </a:r>
            <a:r>
              <a:rPr sz="1800" spc="-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minimum</a:t>
            </a:r>
            <a:r>
              <a:rPr sz="18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packet</a:t>
            </a:r>
            <a:r>
              <a:rPr sz="1800" spc="-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F2F2F"/>
                </a:solidFill>
                <a:latin typeface="Times New Roman"/>
                <a:cs typeface="Times New Roman"/>
              </a:rPr>
              <a:t>size?</a:t>
            </a:r>
            <a:endParaRPr sz="1800" dirty="0">
              <a:latin typeface="Times New Roman"/>
              <a:cs typeface="Times New Roman"/>
            </a:endParaRPr>
          </a:p>
          <a:p>
            <a:pPr marL="12700"/>
            <a:r>
              <a:rPr sz="1800" b="1" dirty="0">
                <a:solidFill>
                  <a:srgbClr val="2F2F2F"/>
                </a:solidFill>
                <a:latin typeface="Times New Roman"/>
                <a:cs typeface="Times New Roman"/>
              </a:rPr>
              <a:t>Solution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:</a:t>
            </a:r>
            <a:r>
              <a:rPr sz="18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1</a:t>
            </a:r>
            <a:r>
              <a:rPr sz="18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/ 1+(2</a:t>
            </a:r>
            <a:r>
              <a:rPr sz="1800" spc="-5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Tp/Tt)</a:t>
            </a:r>
            <a:r>
              <a:rPr sz="1800" spc="4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&gt;=</a:t>
            </a:r>
            <a:r>
              <a:rPr sz="1800" spc="4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1/4</a:t>
            </a:r>
            <a:endParaRPr sz="1800" dirty="0">
              <a:latin typeface="Times New Roman"/>
              <a:cs typeface="Times New Roman"/>
            </a:endParaRPr>
          </a:p>
          <a:p>
            <a:pPr marL="927100" marR="7017384"/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1/</a:t>
            </a:r>
            <a:r>
              <a:rPr sz="18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1+(2</a:t>
            </a:r>
            <a:r>
              <a:rPr sz="18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x</a:t>
            </a:r>
            <a:r>
              <a:rPr sz="18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20ms</a:t>
            </a:r>
            <a:r>
              <a:rPr sz="18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x</a:t>
            </a:r>
            <a:r>
              <a:rPr sz="1800" spc="4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4Kbps/ L)</a:t>
            </a:r>
            <a:r>
              <a:rPr sz="18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&gt;=</a:t>
            </a:r>
            <a:r>
              <a:rPr sz="18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1/5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4</a:t>
            </a:r>
            <a:r>
              <a:rPr sz="18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&gt;=</a:t>
            </a:r>
            <a:r>
              <a:rPr sz="18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(2</a:t>
            </a:r>
            <a:r>
              <a:rPr sz="18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x</a:t>
            </a:r>
            <a:r>
              <a:rPr sz="18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20ms</a:t>
            </a:r>
            <a:r>
              <a:rPr sz="18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x</a:t>
            </a:r>
            <a:r>
              <a:rPr sz="1800" spc="4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4Kbps/</a:t>
            </a:r>
            <a:r>
              <a:rPr sz="1800" spc="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L)</a:t>
            </a:r>
            <a:endParaRPr lang="en-US" sz="1800" dirty="0">
              <a:latin typeface="Times New Roman"/>
              <a:cs typeface="Times New Roman"/>
            </a:endParaRPr>
          </a:p>
          <a:p>
            <a:pPr marL="927100"/>
            <a:r>
              <a:rPr lang="en-US" sz="1800" dirty="0">
                <a:solidFill>
                  <a:srgbClr val="2F2F2F"/>
                </a:solidFill>
                <a:latin typeface="Times New Roman"/>
                <a:cs typeface="Times New Roman"/>
              </a:rPr>
              <a:t>L</a:t>
            </a:r>
            <a:r>
              <a:rPr lang="en-US" sz="1800" spc="-7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lang="en-US" sz="1800" dirty="0">
                <a:solidFill>
                  <a:srgbClr val="2F2F2F"/>
                </a:solidFill>
                <a:latin typeface="Times New Roman"/>
                <a:cs typeface="Times New Roman"/>
              </a:rPr>
              <a:t>&gt;=</a:t>
            </a:r>
            <a:r>
              <a:rPr lang="en-US" sz="18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lang="en-US" sz="1800" dirty="0">
                <a:solidFill>
                  <a:srgbClr val="2F2F2F"/>
                </a:solidFill>
                <a:latin typeface="Times New Roman"/>
                <a:cs typeface="Times New Roman"/>
              </a:rPr>
              <a:t>40</a:t>
            </a:r>
            <a:r>
              <a:rPr lang="en-US" sz="1800" spc="-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lang="en-US" sz="1800" spc="-20" dirty="0">
                <a:solidFill>
                  <a:srgbClr val="2F2F2F"/>
                </a:solidFill>
                <a:latin typeface="Times New Roman"/>
                <a:cs typeface="Times New Roman"/>
              </a:rPr>
              <a:t>bits</a:t>
            </a:r>
            <a:endParaRPr lang="en-US" sz="1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-15240" y="4828540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370545"/>
                </a:moveTo>
                <a:lnTo>
                  <a:pt x="832510" y="1189012"/>
                </a:lnTo>
                <a:lnTo>
                  <a:pt x="1013460" y="1008888"/>
                </a:lnTo>
                <a:lnTo>
                  <a:pt x="0" y="0"/>
                </a:lnTo>
                <a:lnTo>
                  <a:pt x="0" y="2017776"/>
                </a:lnTo>
                <a:lnTo>
                  <a:pt x="488391" y="1531594"/>
                </a:lnTo>
                <a:lnTo>
                  <a:pt x="670699" y="1713890"/>
                </a:lnTo>
                <a:lnTo>
                  <a:pt x="1014056" y="137054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219307" y="0"/>
            <a:ext cx="972819" cy="1935480"/>
          </a:xfrm>
          <a:custGeom>
            <a:avLst/>
            <a:gdLst/>
            <a:ahLst/>
            <a:cxnLst/>
            <a:rect l="l" t="t" r="r" b="b"/>
            <a:pathLst>
              <a:path w="972820" h="1935480">
                <a:moveTo>
                  <a:pt x="972693" y="0"/>
                </a:moveTo>
                <a:lnTo>
                  <a:pt x="381" y="967740"/>
                </a:lnTo>
                <a:lnTo>
                  <a:pt x="177482" y="1144016"/>
                </a:lnTo>
                <a:lnTo>
                  <a:pt x="0" y="1321562"/>
                </a:lnTo>
                <a:lnTo>
                  <a:pt x="348615" y="1670177"/>
                </a:lnTo>
                <a:lnTo>
                  <a:pt x="526986" y="1491881"/>
                </a:lnTo>
                <a:lnTo>
                  <a:pt x="972693" y="1935480"/>
                </a:lnTo>
                <a:lnTo>
                  <a:pt x="972693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26135D0-0D4D-66B4-C386-373CE82C8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C103B23-A648-FA9E-F864-6F332FD915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26004" y="264363"/>
            <a:ext cx="72104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imes New Roman"/>
                <a:cs typeface="Times New Roman"/>
              </a:rPr>
              <a:t>Stop</a:t>
            </a:r>
            <a:r>
              <a:rPr b="1" spc="-6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and</a:t>
            </a:r>
            <a:r>
              <a:rPr b="1" spc="-12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Wait</a:t>
            </a:r>
            <a:r>
              <a:rPr b="1" spc="-4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:</a:t>
            </a:r>
            <a:r>
              <a:rPr b="1" spc="-4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Numerical</a:t>
            </a:r>
            <a:r>
              <a:rPr b="1" spc="-55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Problems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6661962C-DD4B-C4CB-8FDC-365550E1E416}"/>
                  </a:ext>
                </a:extLst>
              </p:cNvPr>
              <p:cNvSpPr txBox="1"/>
              <p:nvPr/>
            </p:nvSpPr>
            <p:spPr>
              <a:xfrm>
                <a:off x="264668" y="1404365"/>
                <a:ext cx="11226800" cy="4707955"/>
              </a:xfrm>
              <a:prstGeom prst="rect">
                <a:avLst/>
              </a:prstGeom>
            </p:spPr>
            <p:txBody>
              <a:bodyPr vert="horz" wrap="square" lIns="0" tIns="43815" rIns="0" bIns="0" rtlCol="0">
                <a:spAutoFit/>
              </a:bodyPr>
              <a:lstStyle/>
              <a:p>
                <a:pPr marL="12700" marR="5080">
                  <a:lnSpc>
                    <a:spcPts val="1939"/>
                  </a:lnSpc>
                </a:pPr>
                <a:r>
                  <a:rPr sz="1800" b="1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Problem</a:t>
                </a:r>
                <a:r>
                  <a:rPr sz="1800" b="1" spc="-35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800" b="1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2.</a:t>
                </a:r>
                <a:r>
                  <a:rPr sz="1800" b="1" spc="-25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80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A</a:t>
                </a:r>
                <a:r>
                  <a:rPr sz="1800" spc="-114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80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channel</a:t>
                </a:r>
                <a:r>
                  <a:rPr sz="1800" spc="-2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80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has</a:t>
                </a:r>
                <a:r>
                  <a:rPr sz="1800" spc="-35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80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a</a:t>
                </a:r>
                <a:r>
                  <a:rPr sz="1800" spc="-2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80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bit</a:t>
                </a:r>
                <a:r>
                  <a:rPr sz="1800" spc="-3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80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rate</a:t>
                </a:r>
                <a:r>
                  <a:rPr sz="1800" spc="-2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80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of</a:t>
                </a:r>
                <a:r>
                  <a:rPr sz="1800" spc="-35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80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4</a:t>
                </a:r>
                <a:r>
                  <a:rPr sz="1800" spc="-2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80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Kbps</a:t>
                </a:r>
                <a:r>
                  <a:rPr sz="1800" spc="-3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80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and</a:t>
                </a:r>
                <a:r>
                  <a:rPr sz="1800" spc="-2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80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propagation</a:t>
                </a:r>
                <a:r>
                  <a:rPr sz="1800" spc="-45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80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delay</a:t>
                </a:r>
                <a:r>
                  <a:rPr sz="1800" spc="-25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80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of</a:t>
                </a:r>
                <a:r>
                  <a:rPr sz="1800" spc="-25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80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20</a:t>
                </a:r>
                <a:r>
                  <a:rPr sz="1800" spc="-25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80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msec.</a:t>
                </a:r>
                <a:r>
                  <a:rPr sz="1800" spc="-6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80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The</a:t>
                </a:r>
                <a:r>
                  <a:rPr sz="1800" spc="-25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80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channel</a:t>
                </a:r>
                <a:r>
                  <a:rPr sz="1800" spc="-35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80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uses</a:t>
                </a:r>
                <a:r>
                  <a:rPr sz="1800" spc="-25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80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stop</a:t>
                </a:r>
                <a:r>
                  <a:rPr sz="1800" spc="-2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80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and</a:t>
                </a:r>
                <a:r>
                  <a:rPr sz="1800" spc="-2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80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wait</a:t>
                </a:r>
                <a:r>
                  <a:rPr sz="1800" spc="-35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800" spc="-1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protocol. </a:t>
                </a:r>
                <a:r>
                  <a:rPr sz="1800" spc="-3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To</a:t>
                </a:r>
                <a:r>
                  <a:rPr sz="1800" spc="-4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80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get</a:t>
                </a:r>
                <a:r>
                  <a:rPr sz="1800" spc="-25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80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a</a:t>
                </a:r>
                <a:r>
                  <a:rPr sz="1800" spc="-25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80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channel</a:t>
                </a:r>
                <a:r>
                  <a:rPr sz="1800" spc="-4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800" spc="-1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efficiency</a:t>
                </a:r>
                <a:r>
                  <a:rPr sz="1800" spc="-45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80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of</a:t>
                </a:r>
                <a:r>
                  <a:rPr sz="1800" spc="-25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80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at</a:t>
                </a:r>
                <a:r>
                  <a:rPr sz="1800" spc="-25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80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least</a:t>
                </a:r>
                <a:r>
                  <a:rPr sz="1800" spc="-3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80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20%,</a:t>
                </a:r>
                <a:r>
                  <a:rPr sz="1800" spc="-1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80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what</a:t>
                </a:r>
                <a:r>
                  <a:rPr sz="1800" spc="-25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80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is</a:t>
                </a:r>
                <a:r>
                  <a:rPr sz="1800" spc="-35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80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the</a:t>
                </a:r>
                <a:r>
                  <a:rPr sz="1800" spc="-25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80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minimum</a:t>
                </a:r>
                <a:r>
                  <a:rPr sz="1800" spc="-2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80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packet</a:t>
                </a:r>
                <a:r>
                  <a:rPr sz="1800" spc="-4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800" spc="-1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size?</a:t>
                </a:r>
                <a:endParaRPr sz="1800" dirty="0">
                  <a:latin typeface="Times New Roman"/>
                  <a:cs typeface="Times New Roman"/>
                </a:endParaRPr>
              </a:p>
              <a:p>
                <a:pPr marL="12700"/>
                <a:r>
                  <a:rPr sz="1800" b="1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Solution</a:t>
                </a:r>
                <a:r>
                  <a:rPr sz="180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:</a:t>
                </a:r>
                <a:r>
                  <a:rPr sz="1800" spc="-5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 </a:t>
                </a:r>
                <a:endParaRPr lang="en-US" sz="1800" spc="-5" dirty="0">
                  <a:solidFill>
                    <a:srgbClr val="2F2F2F"/>
                  </a:solidFill>
                  <a:latin typeface="Times New Roman"/>
                  <a:cs typeface="Times New Roman"/>
                </a:endParaRPr>
              </a:p>
              <a:p>
                <a:r>
                  <a:rPr lang="en-US" dirty="0"/>
                  <a:t>Bit rate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 i="1"/>
                      <m:t>Kbps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4000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 i="1"/>
                      <m:t>bps</m:t>
                    </m:r>
                  </m:oMath>
                </a14:m>
                <a:endParaRPr lang="en-US" dirty="0"/>
              </a:p>
              <a:p>
                <a:r>
                  <a:rPr lang="en-US" dirty="0"/>
                  <a:t>Propagation delay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nor/>
                      </m:rPr>
                      <a:rPr lang="ar-AE" i="1"/>
                      <m:t> </m:t>
                    </m:r>
                    <m:r>
                      <m:rPr>
                        <m:nor/>
                      </m:rPr>
                      <a:rPr lang="en-US" i="1"/>
                      <m:t>ms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02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 i="1"/>
                      <m:t>s</m:t>
                    </m:r>
                  </m:oMath>
                </a14:m>
                <a:endParaRPr lang="en-US" dirty="0"/>
              </a:p>
              <a:p>
                <a:r>
                  <a:rPr lang="en-US" dirty="0"/>
                  <a:t>Protocol = </a:t>
                </a:r>
                <a:r>
                  <a:rPr lang="en-US" b="1" dirty="0"/>
                  <a:t>Stop-and-Wait</a:t>
                </a:r>
                <a:endParaRPr lang="en-US" dirty="0"/>
              </a:p>
              <a:p>
                <a:r>
                  <a:rPr lang="en-US" dirty="0"/>
                  <a:t>Required efficiency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>
                        <a:latin typeface="Cambria Math" panose="02040503050406030204" pitchFamily="18" charset="0"/>
                      </a:rPr>
                      <m:t>%=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dirty="0"/>
              </a:p>
              <a:p>
                <a:pPr marL="12700"/>
                <a:endParaRPr lang="en-IN" spc="-5" dirty="0">
                  <a:solidFill>
                    <a:srgbClr val="2F2F2F"/>
                  </a:solidFill>
                  <a:latin typeface="Times New Roman"/>
                  <a:cs typeface="Times New Roman"/>
                </a:endParaRPr>
              </a:p>
              <a:p>
                <a:pPr marL="12700"/>
                <a:r>
                  <a:rPr lang="en-US" sz="180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	</a:t>
                </a:r>
                <a:r>
                  <a:rPr lang="el-GR" dirty="0"/>
                  <a:t>η</a:t>
                </a:r>
                <a:r>
                  <a:rPr lang="en-US" dirty="0"/>
                  <a:t>= </a:t>
                </a:r>
                <a:r>
                  <a:rPr sz="180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1+(2</a:t>
                </a:r>
                <a:r>
                  <a:rPr sz="1800" spc="-5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80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Tp/Tt)</a:t>
                </a:r>
                <a:r>
                  <a:rPr sz="1800" spc="445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80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&lt;</a:t>
                </a:r>
                <a:r>
                  <a:rPr sz="180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=</a:t>
                </a:r>
                <a:r>
                  <a:rPr sz="1800" spc="42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800" spc="-25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1/</a:t>
                </a:r>
                <a:r>
                  <a:rPr lang="en-US" sz="1800" spc="-25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0.2</a:t>
                </a:r>
                <a:endParaRPr sz="1800" dirty="0">
                  <a:latin typeface="Times New Roman"/>
                  <a:cs typeface="Times New Roman"/>
                </a:endParaRPr>
              </a:p>
              <a:p>
                <a:pPr marL="927100" marR="7017384"/>
                <a:r>
                  <a:rPr sz="180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1+(2</a:t>
                </a:r>
                <a:r>
                  <a:rPr sz="1800" spc="-5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80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x</a:t>
                </a:r>
                <a:r>
                  <a:rPr sz="1800" spc="-5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800" spc="-5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0.0</a:t>
                </a:r>
                <a:r>
                  <a:rPr sz="180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2</a:t>
                </a:r>
                <a:r>
                  <a:rPr sz="1800" spc="-5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80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x</a:t>
                </a:r>
                <a:r>
                  <a:rPr sz="1800" spc="445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80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Tt</a:t>
                </a:r>
                <a:r>
                  <a:rPr sz="180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)</a:t>
                </a:r>
                <a:r>
                  <a:rPr sz="1800" spc="-5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pc="-5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&lt;</a:t>
                </a:r>
                <a:r>
                  <a:rPr sz="180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=</a:t>
                </a:r>
                <a:r>
                  <a:rPr sz="1800" spc="-2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800" spc="-25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5 </a:t>
                </a:r>
                <a:br>
                  <a:rPr lang="en-US" sz="1800" spc="-25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</a:br>
                <a:r>
                  <a:rPr sz="180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(2</a:t>
                </a:r>
                <a:r>
                  <a:rPr sz="1800" spc="-5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80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x</a:t>
                </a:r>
                <a:r>
                  <a:rPr sz="1800" spc="-5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80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20ms</a:t>
                </a:r>
                <a:r>
                  <a:rPr sz="1800" spc="-5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80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x</a:t>
                </a:r>
                <a:r>
                  <a:rPr sz="1800" spc="44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pc="44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T</a:t>
                </a:r>
                <a:r>
                  <a:rPr lang="en-US" sz="1800" spc="44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t</a:t>
                </a:r>
                <a:r>
                  <a:rPr sz="1800" spc="-25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)</a:t>
                </a:r>
                <a:r>
                  <a:rPr lang="en-US" sz="1800" spc="-25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 &lt;=4</a:t>
                </a:r>
              </a:p>
              <a:p>
                <a:pPr marL="927100" marR="7017384"/>
                <a:r>
                  <a:rPr lang="en-US" spc="-25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Tt ​≥ 0.04/4</a:t>
                </a:r>
                <a:br>
                  <a:rPr lang="en-US" spc="-25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</a:br>
                <a:r>
                  <a:rPr lang="en-US" spc="-25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Tt​≥0.01 s</a:t>
                </a:r>
                <a:endParaRPr lang="en-US" sz="1800" dirty="0">
                  <a:latin typeface="Times New Roman"/>
                  <a:cs typeface="Times New Roman"/>
                </a:endParaRPr>
              </a:p>
              <a:p>
                <a:pPr marL="927100"/>
                <a:r>
                  <a:rPr lang="en-US" sz="180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Tt​=Packet size (bits)/ Bit rate</a:t>
                </a:r>
              </a:p>
              <a:p>
                <a:pPr marL="927100"/>
                <a:r>
                  <a:rPr lang="en-US" sz="180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Packet size=Tt​×R</a:t>
                </a:r>
              </a:p>
              <a:p>
                <a:pPr marL="927100"/>
                <a:r>
                  <a:rPr lang="en-US" sz="180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Packet size=0.01×4000	​</a:t>
                </a:r>
                <a:br>
                  <a:rPr lang="en-US" sz="180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</a:br>
                <a:r>
                  <a:rPr lang="en-US" sz="1800" dirty="0">
                    <a:solidFill>
                      <a:srgbClr val="2F2F2F"/>
                    </a:solidFill>
                    <a:latin typeface="Times New Roman"/>
                    <a:cs typeface="Times New Roman"/>
                  </a:rPr>
                  <a:t>Packet size=40 bits (Minimum)</a:t>
                </a:r>
                <a:endParaRPr lang="en-US" sz="1800" dirty="0">
                  <a:latin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6661962C-DD4B-C4CB-8FDC-365550E1E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668" y="1404365"/>
                <a:ext cx="11226800" cy="4707955"/>
              </a:xfrm>
              <a:prstGeom prst="rect">
                <a:avLst/>
              </a:prstGeom>
              <a:blipFill>
                <a:blip r:embed="rId2"/>
                <a:stretch>
                  <a:fillRect l="-1249" t="-1294" r="-923" b="-20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bject 4">
            <a:extLst>
              <a:ext uri="{FF2B5EF4-FFF2-40B4-BE49-F238E27FC236}">
                <a16:creationId xmlns:a16="http://schemas.microsoft.com/office/drawing/2014/main" id="{CFCCBDF4-8D1F-0B5A-BA1E-36F8A58953D9}"/>
              </a:ext>
            </a:extLst>
          </p:cNvPr>
          <p:cNvSpPr/>
          <p:nvPr/>
        </p:nvSpPr>
        <p:spPr>
          <a:xfrm>
            <a:off x="-15240" y="4828540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370545"/>
                </a:moveTo>
                <a:lnTo>
                  <a:pt x="832510" y="1189012"/>
                </a:lnTo>
                <a:lnTo>
                  <a:pt x="1013460" y="1008888"/>
                </a:lnTo>
                <a:lnTo>
                  <a:pt x="0" y="0"/>
                </a:lnTo>
                <a:lnTo>
                  <a:pt x="0" y="2017776"/>
                </a:lnTo>
                <a:lnTo>
                  <a:pt x="488391" y="1531594"/>
                </a:lnTo>
                <a:lnTo>
                  <a:pt x="670699" y="1713890"/>
                </a:lnTo>
                <a:lnTo>
                  <a:pt x="1014056" y="137054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0EF9C09-B063-A9A3-3C48-03B0814441BE}"/>
              </a:ext>
            </a:extLst>
          </p:cNvPr>
          <p:cNvSpPr/>
          <p:nvPr/>
        </p:nvSpPr>
        <p:spPr>
          <a:xfrm>
            <a:off x="11219307" y="0"/>
            <a:ext cx="972819" cy="1935480"/>
          </a:xfrm>
          <a:custGeom>
            <a:avLst/>
            <a:gdLst/>
            <a:ahLst/>
            <a:cxnLst/>
            <a:rect l="l" t="t" r="r" b="b"/>
            <a:pathLst>
              <a:path w="972820" h="1935480">
                <a:moveTo>
                  <a:pt x="972693" y="0"/>
                </a:moveTo>
                <a:lnTo>
                  <a:pt x="381" y="967740"/>
                </a:lnTo>
                <a:lnTo>
                  <a:pt x="177482" y="1144016"/>
                </a:lnTo>
                <a:lnTo>
                  <a:pt x="0" y="1321562"/>
                </a:lnTo>
                <a:lnTo>
                  <a:pt x="348615" y="1670177"/>
                </a:lnTo>
                <a:lnTo>
                  <a:pt x="526986" y="1491881"/>
                </a:lnTo>
                <a:lnTo>
                  <a:pt x="972693" y="1935480"/>
                </a:lnTo>
                <a:lnTo>
                  <a:pt x="972693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36095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54451" y="247599"/>
            <a:ext cx="48799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imes New Roman"/>
                <a:cs typeface="Times New Roman"/>
              </a:rPr>
              <a:t>Sliding</a:t>
            </a:r>
            <a:r>
              <a:rPr b="1" spc="-10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Window</a:t>
            </a:r>
            <a:r>
              <a:rPr b="1" spc="-55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protocol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8468" y="1404365"/>
            <a:ext cx="5766435" cy="488632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317500" marR="94615" indent="-228600">
              <a:lnSpc>
                <a:spcPts val="1939"/>
              </a:lnSpc>
              <a:spcBef>
                <a:spcPts val="345"/>
              </a:spcBef>
              <a:buFont typeface="Arial MT"/>
              <a:buChar char="•"/>
              <a:tabLst>
                <a:tab pos="317500" algn="l"/>
                <a:tab pos="603885" algn="l"/>
                <a:tab pos="1345565" algn="l"/>
                <a:tab pos="1772285" algn="l"/>
                <a:tab pos="2515235" algn="l"/>
                <a:tab pos="2837815" algn="l"/>
                <a:tab pos="3401695" algn="l"/>
                <a:tab pos="4311650" algn="l"/>
                <a:tab pos="5078730" algn="l"/>
              </a:tabLst>
            </a:pPr>
            <a:r>
              <a:rPr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It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solidFill>
                  <a:srgbClr val="2F2F2F"/>
                </a:solidFill>
                <a:latin typeface="Times New Roman"/>
                <a:cs typeface="Times New Roman"/>
              </a:rPr>
              <a:t>allows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	</a:t>
            </a:r>
            <a:r>
              <a:rPr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solidFill>
                  <a:srgbClr val="2F2F2F"/>
                </a:solidFill>
                <a:latin typeface="Times New Roman"/>
                <a:cs typeface="Times New Roman"/>
              </a:rPr>
              <a:t>sender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	</a:t>
            </a:r>
            <a:r>
              <a:rPr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to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	</a:t>
            </a:r>
            <a:r>
              <a:rPr sz="1800" spc="-20" dirty="0">
                <a:solidFill>
                  <a:srgbClr val="2F2F2F"/>
                </a:solidFill>
                <a:latin typeface="Times New Roman"/>
                <a:cs typeface="Times New Roman"/>
              </a:rPr>
              <a:t>send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solidFill>
                  <a:srgbClr val="2F2F2F"/>
                </a:solidFill>
                <a:latin typeface="Times New Roman"/>
                <a:cs typeface="Times New Roman"/>
              </a:rPr>
              <a:t>multiple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solidFill>
                  <a:srgbClr val="2F2F2F"/>
                </a:solidFill>
                <a:latin typeface="Times New Roman"/>
                <a:cs typeface="Times New Roman"/>
              </a:rPr>
              <a:t>frames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solidFill>
                  <a:srgbClr val="2F2F2F"/>
                </a:solidFill>
                <a:latin typeface="Times New Roman"/>
                <a:cs typeface="Times New Roman"/>
              </a:rPr>
              <a:t>before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needing</a:t>
            </a:r>
            <a:r>
              <a:rPr sz="1800" spc="-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18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F2F2F"/>
                </a:solidFill>
                <a:latin typeface="Times New Roman"/>
                <a:cs typeface="Times New Roman"/>
              </a:rPr>
              <a:t>acknowledgements.</a:t>
            </a:r>
            <a:endParaRPr sz="1800" dirty="0">
              <a:latin typeface="Times New Roman"/>
              <a:cs typeface="Times New Roman"/>
            </a:endParaRPr>
          </a:p>
          <a:p>
            <a:pPr marL="316865" indent="-227965">
              <a:lnSpc>
                <a:spcPts val="2050"/>
              </a:lnSpc>
              <a:spcBef>
                <a:spcPts val="760"/>
              </a:spcBef>
              <a:buFont typeface="Arial MT"/>
              <a:buChar char="•"/>
              <a:tabLst>
                <a:tab pos="316865" algn="l"/>
                <a:tab pos="1266825" algn="l"/>
                <a:tab pos="2099945" algn="l"/>
                <a:tab pos="2629535" algn="l"/>
                <a:tab pos="3677920" algn="l"/>
                <a:tab pos="4220210" algn="l"/>
                <a:tab pos="5384800" algn="l"/>
              </a:tabLst>
            </a:pPr>
            <a:r>
              <a:rPr sz="1800" spc="-10" dirty="0">
                <a:solidFill>
                  <a:srgbClr val="2F2F2F"/>
                </a:solidFill>
                <a:latin typeface="Times New Roman"/>
                <a:cs typeface="Times New Roman"/>
              </a:rPr>
              <a:t>Sender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solidFill>
                  <a:srgbClr val="2F2F2F"/>
                </a:solidFill>
                <a:latin typeface="Times New Roman"/>
                <a:cs typeface="Times New Roman"/>
              </a:rPr>
              <a:t>slides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	</a:t>
            </a:r>
            <a:r>
              <a:rPr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its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solidFill>
                  <a:srgbClr val="2F2F2F"/>
                </a:solidFill>
                <a:latin typeface="Times New Roman"/>
                <a:cs typeface="Times New Roman"/>
              </a:rPr>
              <a:t>window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	</a:t>
            </a:r>
            <a:r>
              <a:rPr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on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solidFill>
                  <a:srgbClr val="2F2F2F"/>
                </a:solidFill>
                <a:latin typeface="Times New Roman"/>
                <a:cs typeface="Times New Roman"/>
              </a:rPr>
              <a:t>receiving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	</a:t>
            </a:r>
            <a:r>
              <a:rPr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endParaRPr sz="1800" dirty="0">
              <a:latin typeface="Times New Roman"/>
              <a:cs typeface="Times New Roman"/>
            </a:endParaRPr>
          </a:p>
          <a:p>
            <a:pPr marL="317500">
              <a:lnSpc>
                <a:spcPts val="2050"/>
              </a:lnSpc>
            </a:pP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acknowledgements</a:t>
            </a:r>
            <a:r>
              <a:rPr sz="18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for</a:t>
            </a:r>
            <a:r>
              <a:rPr sz="18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18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sent</a:t>
            </a:r>
            <a:r>
              <a:rPr sz="18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F2F2F"/>
                </a:solidFill>
                <a:latin typeface="Times New Roman"/>
                <a:cs typeface="Times New Roman"/>
              </a:rPr>
              <a:t>frames.</a:t>
            </a:r>
            <a:endParaRPr sz="1800" dirty="0">
              <a:latin typeface="Times New Roman"/>
              <a:cs typeface="Times New Roman"/>
            </a:endParaRPr>
          </a:p>
          <a:p>
            <a:pPr marL="317500" marR="93980" indent="-228600">
              <a:lnSpc>
                <a:spcPts val="1939"/>
              </a:lnSpc>
              <a:spcBef>
                <a:spcPts val="1040"/>
              </a:spcBef>
              <a:buFont typeface="Arial MT"/>
              <a:buChar char="•"/>
              <a:tabLst>
                <a:tab pos="317500" algn="l"/>
              </a:tabLst>
            </a:pP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Sliding</a:t>
            </a:r>
            <a:r>
              <a:rPr sz="1800" spc="4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window</a:t>
            </a:r>
            <a:r>
              <a:rPr sz="1800" spc="434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refers</a:t>
            </a:r>
            <a:r>
              <a:rPr sz="1800" spc="4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to</a:t>
            </a:r>
            <a:r>
              <a:rPr sz="1800" spc="4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1800" spc="4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2F2F2F"/>
                </a:solidFill>
                <a:latin typeface="Times New Roman"/>
                <a:cs typeface="Times New Roman"/>
              </a:rPr>
              <a:t>imaginary</a:t>
            </a:r>
            <a:r>
              <a:rPr sz="1800" spc="47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boxes</a:t>
            </a:r>
            <a:r>
              <a:rPr sz="1800" spc="4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to</a:t>
            </a:r>
            <a:r>
              <a:rPr sz="1800" spc="4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2F2F2F"/>
                </a:solidFill>
                <a:latin typeface="Times New Roman"/>
                <a:cs typeface="Times New Roman"/>
              </a:rPr>
              <a:t>hold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frames</a:t>
            </a:r>
            <a:r>
              <a:rPr sz="18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and</a:t>
            </a:r>
            <a:r>
              <a:rPr sz="1800" spc="-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it</a:t>
            </a:r>
            <a:r>
              <a:rPr sz="1800" spc="-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involves</a:t>
            </a:r>
            <a:r>
              <a:rPr sz="1800" spc="-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sliding</a:t>
            </a:r>
            <a:r>
              <a:rPr sz="1800" spc="-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of</a:t>
            </a:r>
            <a:r>
              <a:rPr sz="1800" spc="-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sender’s</a:t>
            </a:r>
            <a:r>
              <a:rPr sz="1800" spc="-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F2F2F"/>
                </a:solidFill>
                <a:latin typeface="Times New Roman"/>
                <a:cs typeface="Times New Roman"/>
              </a:rPr>
              <a:t>window.</a:t>
            </a:r>
            <a:endParaRPr sz="1800" dirty="0">
              <a:latin typeface="Times New Roman"/>
              <a:cs typeface="Times New Roman"/>
            </a:endParaRPr>
          </a:p>
          <a:p>
            <a:pPr marL="316865" indent="-227965">
              <a:lnSpc>
                <a:spcPts val="2050"/>
              </a:lnSpc>
              <a:spcBef>
                <a:spcPts val="755"/>
              </a:spcBef>
              <a:buFont typeface="Arial MT"/>
              <a:buChar char="•"/>
              <a:tabLst>
                <a:tab pos="316865" algn="l"/>
              </a:tabLst>
            </a:pP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1800" spc="254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sender</a:t>
            </a:r>
            <a:r>
              <a:rPr sz="1800" spc="254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has</a:t>
            </a:r>
            <a:r>
              <a:rPr sz="1800" spc="2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a</a:t>
            </a:r>
            <a:r>
              <a:rPr sz="1800" spc="25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buffer</a:t>
            </a:r>
            <a:r>
              <a:rPr sz="1800" spc="2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called</a:t>
            </a:r>
            <a:r>
              <a:rPr sz="1800" spc="2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1800" spc="25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sending</a:t>
            </a:r>
            <a:r>
              <a:rPr sz="1800" spc="2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window</a:t>
            </a:r>
            <a:r>
              <a:rPr sz="1800" spc="25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and</a:t>
            </a:r>
            <a:endParaRPr sz="1800" dirty="0">
              <a:latin typeface="Times New Roman"/>
              <a:cs typeface="Times New Roman"/>
            </a:endParaRPr>
          </a:p>
          <a:p>
            <a:pPr marL="317500">
              <a:lnSpc>
                <a:spcPts val="2050"/>
              </a:lnSpc>
            </a:pP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18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receiver</a:t>
            </a:r>
            <a:r>
              <a:rPr sz="18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has</a:t>
            </a:r>
            <a:r>
              <a:rPr sz="1800" spc="-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buffer</a:t>
            </a:r>
            <a:r>
              <a:rPr sz="1800" spc="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called</a:t>
            </a:r>
            <a:r>
              <a:rPr sz="1800" spc="-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18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receiving</a:t>
            </a:r>
            <a:r>
              <a:rPr sz="18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F2F2F"/>
                </a:solidFill>
                <a:latin typeface="Times New Roman"/>
                <a:cs typeface="Times New Roman"/>
              </a:rPr>
              <a:t>window.</a:t>
            </a:r>
            <a:endParaRPr sz="1800" dirty="0">
              <a:latin typeface="Times New Roman"/>
              <a:cs typeface="Times New Roman"/>
            </a:endParaRPr>
          </a:p>
          <a:p>
            <a:pPr marL="317500" marR="94615" indent="-228600" algn="just">
              <a:lnSpc>
                <a:spcPts val="1939"/>
              </a:lnSpc>
              <a:spcBef>
                <a:spcPts val="1030"/>
              </a:spcBef>
              <a:buFont typeface="Arial MT"/>
              <a:buChar char="•"/>
              <a:tabLst>
                <a:tab pos="317500" algn="l"/>
              </a:tabLst>
            </a:pP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1800" spc="1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size</a:t>
            </a:r>
            <a:r>
              <a:rPr sz="1800" spc="114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of</a:t>
            </a:r>
            <a:r>
              <a:rPr sz="1800" spc="1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1800" spc="10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sending</a:t>
            </a:r>
            <a:r>
              <a:rPr sz="1800" spc="1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window</a:t>
            </a:r>
            <a:r>
              <a:rPr sz="1800" spc="10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determines</a:t>
            </a:r>
            <a:r>
              <a:rPr sz="1800" spc="114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1800" spc="1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F2F2F"/>
                </a:solidFill>
                <a:latin typeface="Times New Roman"/>
                <a:cs typeface="Times New Roman"/>
              </a:rPr>
              <a:t>sequence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number</a:t>
            </a:r>
            <a:r>
              <a:rPr sz="1800" spc="18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of</a:t>
            </a:r>
            <a:r>
              <a:rPr sz="1800" spc="18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1800" spc="17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outbound</a:t>
            </a:r>
            <a:r>
              <a:rPr sz="1800" spc="18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frames.</a:t>
            </a:r>
            <a:r>
              <a:rPr sz="1800" spc="17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If</a:t>
            </a:r>
            <a:r>
              <a:rPr sz="1800" spc="18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1800" spc="18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sequence</a:t>
            </a:r>
            <a:r>
              <a:rPr sz="1800" spc="18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F2F2F"/>
                </a:solidFill>
                <a:latin typeface="Times New Roman"/>
                <a:cs typeface="Times New Roman"/>
              </a:rPr>
              <a:t>number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of</a:t>
            </a:r>
            <a:r>
              <a:rPr sz="1800" spc="7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1800" spc="8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frames</a:t>
            </a:r>
            <a:r>
              <a:rPr sz="1800" spc="7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is</a:t>
            </a:r>
            <a:r>
              <a:rPr sz="1800" spc="7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an</a:t>
            </a:r>
            <a:r>
              <a:rPr sz="1800" spc="7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F2F2F"/>
                </a:solidFill>
                <a:latin typeface="Times New Roman"/>
                <a:cs typeface="Times New Roman"/>
              </a:rPr>
              <a:t>n-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bit</a:t>
            </a:r>
            <a:r>
              <a:rPr sz="1800" spc="7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field,</a:t>
            </a:r>
            <a:r>
              <a:rPr sz="1800" spc="7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then</a:t>
            </a:r>
            <a:r>
              <a:rPr sz="1800" spc="8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1800" spc="7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range</a:t>
            </a:r>
            <a:r>
              <a:rPr sz="1800" spc="8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of</a:t>
            </a:r>
            <a:r>
              <a:rPr sz="1800" spc="5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F2F2F"/>
                </a:solidFill>
                <a:latin typeface="Times New Roman"/>
                <a:cs typeface="Times New Roman"/>
              </a:rPr>
              <a:t>sequence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numbers</a:t>
            </a:r>
            <a:r>
              <a:rPr sz="1800" spc="360" dirty="0">
                <a:solidFill>
                  <a:srgbClr val="2F2F2F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that</a:t>
            </a:r>
            <a:r>
              <a:rPr sz="1800" spc="360" dirty="0">
                <a:solidFill>
                  <a:srgbClr val="2F2F2F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can</a:t>
            </a:r>
            <a:r>
              <a:rPr sz="1800" spc="360" dirty="0">
                <a:solidFill>
                  <a:srgbClr val="2F2F2F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be</a:t>
            </a:r>
            <a:r>
              <a:rPr sz="1800" spc="360" dirty="0">
                <a:solidFill>
                  <a:srgbClr val="2F2F2F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assigned</a:t>
            </a:r>
            <a:r>
              <a:rPr sz="1800" spc="365" dirty="0">
                <a:solidFill>
                  <a:srgbClr val="2F2F2F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is</a:t>
            </a:r>
            <a:r>
              <a:rPr sz="1800" spc="360" dirty="0">
                <a:solidFill>
                  <a:srgbClr val="2F2F2F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0</a:t>
            </a:r>
            <a:r>
              <a:rPr sz="1800" spc="355" dirty="0">
                <a:solidFill>
                  <a:srgbClr val="2F2F2F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to</a:t>
            </a:r>
            <a:r>
              <a:rPr sz="1800" spc="350" dirty="0">
                <a:solidFill>
                  <a:srgbClr val="2F2F2F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2F2F2F"/>
                </a:solidFill>
                <a:latin typeface="Cambria Math"/>
                <a:cs typeface="Cambria Math"/>
              </a:rPr>
              <a:t>2</a:t>
            </a:r>
            <a:r>
              <a:rPr sz="1950" baseline="27777" dirty="0">
                <a:solidFill>
                  <a:srgbClr val="2F2F2F"/>
                </a:solidFill>
                <a:latin typeface="Cambria Math"/>
                <a:cs typeface="Cambria Math"/>
              </a:rPr>
              <a:t>𝑛</a:t>
            </a:r>
            <a:r>
              <a:rPr sz="1950" spc="322" baseline="27777" dirty="0">
                <a:solidFill>
                  <a:srgbClr val="2F2F2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2F2F2F"/>
                </a:solidFill>
                <a:latin typeface="Cambria Math"/>
                <a:cs typeface="Cambria Math"/>
              </a:rPr>
              <a:t>−</a:t>
            </a:r>
            <a:r>
              <a:rPr sz="1800" spc="-5" dirty="0">
                <a:solidFill>
                  <a:srgbClr val="2F2F2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2F2F2F"/>
                </a:solidFill>
                <a:latin typeface="Cambria Math"/>
                <a:cs typeface="Cambria Math"/>
              </a:rPr>
              <a:t>1</a:t>
            </a:r>
            <a:r>
              <a:rPr sz="1800" spc="345" dirty="0">
                <a:solidFill>
                  <a:srgbClr val="2F2F2F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2F2F2F"/>
                </a:solidFill>
                <a:latin typeface="Times New Roman"/>
                <a:cs typeface="Times New Roman"/>
              </a:rPr>
              <a:t>. </a:t>
            </a:r>
            <a:r>
              <a:rPr sz="1800" spc="-10" dirty="0">
                <a:solidFill>
                  <a:srgbClr val="2F2F2F"/>
                </a:solidFill>
                <a:latin typeface="Times New Roman"/>
                <a:cs typeface="Times New Roman"/>
              </a:rPr>
              <a:t>Consequently,</a:t>
            </a:r>
            <a:r>
              <a:rPr sz="1800" spc="-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1800" spc="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size</a:t>
            </a:r>
            <a:r>
              <a:rPr sz="1800" spc="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of the</a:t>
            </a:r>
            <a:r>
              <a:rPr sz="1800" spc="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sending</a:t>
            </a:r>
            <a:r>
              <a:rPr sz="18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window</a:t>
            </a:r>
            <a:r>
              <a:rPr sz="1800" spc="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is</a:t>
            </a:r>
            <a:r>
              <a:rPr sz="1800" spc="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Cambria Math"/>
                <a:cs typeface="Cambria Math"/>
              </a:rPr>
              <a:t>2</a:t>
            </a:r>
            <a:r>
              <a:rPr sz="1950" baseline="27777" dirty="0">
                <a:solidFill>
                  <a:srgbClr val="2F2F2F"/>
                </a:solidFill>
                <a:latin typeface="Cambria Math"/>
                <a:cs typeface="Cambria Math"/>
              </a:rPr>
              <a:t>𝑛</a:t>
            </a:r>
            <a:r>
              <a:rPr sz="1950" spc="307" baseline="27777" dirty="0">
                <a:solidFill>
                  <a:srgbClr val="2F2F2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2F2F2F"/>
                </a:solidFill>
                <a:latin typeface="Cambria Math"/>
                <a:cs typeface="Cambria Math"/>
              </a:rPr>
              <a:t>−</a:t>
            </a:r>
            <a:r>
              <a:rPr sz="1800" spc="15" dirty="0">
                <a:solidFill>
                  <a:srgbClr val="2F2F2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2F2F2F"/>
                </a:solidFill>
                <a:latin typeface="Cambria Math"/>
                <a:cs typeface="Cambria Math"/>
              </a:rPr>
              <a:t>1</a:t>
            </a:r>
            <a:r>
              <a:rPr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  <a:p>
            <a:pPr marL="317500" marR="93980" indent="-228600" algn="just">
              <a:lnSpc>
                <a:spcPts val="1939"/>
              </a:lnSpc>
              <a:spcBef>
                <a:spcPts val="1030"/>
              </a:spcBef>
              <a:buFont typeface="Arial MT"/>
              <a:buChar char="•"/>
              <a:tabLst>
                <a:tab pos="317500" algn="l"/>
              </a:tabLst>
            </a:pP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18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size</a:t>
            </a:r>
            <a:r>
              <a:rPr sz="18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of</a:t>
            </a:r>
            <a:r>
              <a:rPr sz="18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18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receiving</a:t>
            </a:r>
            <a:r>
              <a:rPr sz="1800" spc="-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window</a:t>
            </a:r>
            <a:r>
              <a:rPr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is</a:t>
            </a:r>
            <a:r>
              <a:rPr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1800" spc="-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maximum</a:t>
            </a:r>
            <a:r>
              <a:rPr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F2F2F"/>
                </a:solidFill>
                <a:latin typeface="Times New Roman"/>
                <a:cs typeface="Times New Roman"/>
              </a:rPr>
              <a:t>number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of</a:t>
            </a:r>
            <a:r>
              <a:rPr sz="1800" spc="85" dirty="0">
                <a:solidFill>
                  <a:srgbClr val="2F2F2F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frames</a:t>
            </a:r>
            <a:r>
              <a:rPr sz="1800" spc="85" dirty="0">
                <a:solidFill>
                  <a:srgbClr val="2F2F2F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that</a:t>
            </a:r>
            <a:r>
              <a:rPr sz="1800" spc="85" dirty="0">
                <a:solidFill>
                  <a:srgbClr val="2F2F2F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1800" spc="95" dirty="0">
                <a:solidFill>
                  <a:srgbClr val="2F2F2F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receiver</a:t>
            </a:r>
            <a:r>
              <a:rPr sz="1800" spc="85" dirty="0">
                <a:solidFill>
                  <a:srgbClr val="2F2F2F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can</a:t>
            </a:r>
            <a:r>
              <a:rPr sz="1800" spc="90" dirty="0">
                <a:solidFill>
                  <a:srgbClr val="2F2F2F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accept</a:t>
            </a:r>
            <a:r>
              <a:rPr sz="1800" spc="95" dirty="0">
                <a:solidFill>
                  <a:srgbClr val="2F2F2F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at</a:t>
            </a:r>
            <a:r>
              <a:rPr sz="1800" spc="85" dirty="0">
                <a:solidFill>
                  <a:srgbClr val="2F2F2F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a</a:t>
            </a:r>
            <a:r>
              <a:rPr sz="1800" spc="90" dirty="0">
                <a:solidFill>
                  <a:srgbClr val="2F2F2F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time.</a:t>
            </a:r>
            <a:r>
              <a:rPr sz="1800" spc="90" dirty="0">
                <a:solidFill>
                  <a:srgbClr val="2F2F2F"/>
                </a:solidFill>
                <a:latin typeface="Times New Roman"/>
                <a:cs typeface="Times New Roman"/>
              </a:rPr>
              <a:t>  </a:t>
            </a:r>
            <a:r>
              <a:rPr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It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determines</a:t>
            </a:r>
            <a:r>
              <a:rPr sz="1800" spc="95" dirty="0">
                <a:solidFill>
                  <a:srgbClr val="2F2F2F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1800" spc="95" dirty="0">
                <a:solidFill>
                  <a:srgbClr val="2F2F2F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maximum</a:t>
            </a:r>
            <a:r>
              <a:rPr sz="1800" spc="100" dirty="0">
                <a:solidFill>
                  <a:srgbClr val="2F2F2F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number</a:t>
            </a:r>
            <a:r>
              <a:rPr sz="1800" spc="100" dirty="0">
                <a:solidFill>
                  <a:srgbClr val="2F2F2F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of</a:t>
            </a:r>
            <a:r>
              <a:rPr sz="1800" spc="95" dirty="0">
                <a:solidFill>
                  <a:srgbClr val="2F2F2F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frames</a:t>
            </a:r>
            <a:r>
              <a:rPr sz="1800" spc="100" dirty="0">
                <a:solidFill>
                  <a:srgbClr val="2F2F2F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that</a:t>
            </a:r>
            <a:r>
              <a:rPr sz="1800" spc="100" dirty="0">
                <a:solidFill>
                  <a:srgbClr val="2F2F2F"/>
                </a:solidFill>
                <a:latin typeface="Times New Roman"/>
                <a:cs typeface="Times New Roman"/>
              </a:rPr>
              <a:t>  </a:t>
            </a:r>
            <a:r>
              <a:rPr sz="1800" spc="-25" dirty="0">
                <a:solidFill>
                  <a:srgbClr val="2F2F2F"/>
                </a:solidFill>
                <a:latin typeface="Times New Roman"/>
                <a:cs typeface="Times New Roman"/>
              </a:rPr>
              <a:t>the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sender</a:t>
            </a:r>
            <a:r>
              <a:rPr sz="1800" spc="-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can</a:t>
            </a:r>
            <a:r>
              <a:rPr sz="1800" spc="-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send</a:t>
            </a:r>
            <a:r>
              <a:rPr sz="1800" spc="-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before</a:t>
            </a:r>
            <a:r>
              <a:rPr sz="1800" spc="-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2F2F"/>
                </a:solidFill>
                <a:latin typeface="Times New Roman"/>
                <a:cs typeface="Times New Roman"/>
              </a:rPr>
              <a:t>receiving</a:t>
            </a:r>
            <a:r>
              <a:rPr sz="1800" spc="-5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F2F2F"/>
                </a:solidFill>
                <a:latin typeface="Times New Roman"/>
                <a:cs typeface="Times New Roman"/>
              </a:rPr>
              <a:t>acknowledgment.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4600955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370545"/>
                </a:moveTo>
                <a:lnTo>
                  <a:pt x="832510" y="1189012"/>
                </a:lnTo>
                <a:lnTo>
                  <a:pt x="1013460" y="1008888"/>
                </a:lnTo>
                <a:lnTo>
                  <a:pt x="0" y="0"/>
                </a:lnTo>
                <a:lnTo>
                  <a:pt x="0" y="2017776"/>
                </a:lnTo>
                <a:lnTo>
                  <a:pt x="488391" y="1531594"/>
                </a:lnTo>
                <a:lnTo>
                  <a:pt x="670699" y="1713890"/>
                </a:lnTo>
                <a:lnTo>
                  <a:pt x="1014056" y="137054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6217920" y="0"/>
            <a:ext cx="5974080" cy="6499225"/>
            <a:chOff x="6217920" y="0"/>
            <a:chExt cx="5974080" cy="6499225"/>
          </a:xfrm>
        </p:grpSpPr>
        <p:sp>
          <p:nvSpPr>
            <p:cNvPr id="6" name="object 6"/>
            <p:cNvSpPr/>
            <p:nvPr/>
          </p:nvSpPr>
          <p:spPr>
            <a:xfrm>
              <a:off x="11219307" y="0"/>
              <a:ext cx="972819" cy="1935480"/>
            </a:xfrm>
            <a:custGeom>
              <a:avLst/>
              <a:gdLst/>
              <a:ahLst/>
              <a:cxnLst/>
              <a:rect l="l" t="t" r="r" b="b"/>
              <a:pathLst>
                <a:path w="972820" h="1935480">
                  <a:moveTo>
                    <a:pt x="972693" y="0"/>
                  </a:moveTo>
                  <a:lnTo>
                    <a:pt x="381" y="967740"/>
                  </a:lnTo>
                  <a:lnTo>
                    <a:pt x="177482" y="1144016"/>
                  </a:lnTo>
                  <a:lnTo>
                    <a:pt x="0" y="1321562"/>
                  </a:lnTo>
                  <a:lnTo>
                    <a:pt x="348615" y="1670177"/>
                  </a:lnTo>
                  <a:lnTo>
                    <a:pt x="526986" y="1491881"/>
                  </a:lnTo>
                  <a:lnTo>
                    <a:pt x="972693" y="1935480"/>
                  </a:lnTo>
                  <a:lnTo>
                    <a:pt x="972693" y="0"/>
                  </a:lnTo>
                  <a:close/>
                </a:path>
              </a:pathLst>
            </a:custGeom>
            <a:solidFill>
              <a:srgbClr val="FFC00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17920" y="1155191"/>
              <a:ext cx="5001768" cy="534390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0200" y="269494"/>
            <a:ext cx="100584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imes New Roman"/>
                <a:cs typeface="Times New Roman"/>
              </a:rPr>
              <a:t>Stop</a:t>
            </a:r>
            <a:r>
              <a:rPr b="1" spc="1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and</a:t>
            </a:r>
            <a:r>
              <a:rPr b="1" spc="-70" dirty="0">
                <a:latin typeface="Times New Roman"/>
                <a:cs typeface="Times New Roman"/>
              </a:rPr>
              <a:t> </a:t>
            </a:r>
            <a:r>
              <a:rPr b="1" spc="-65" dirty="0">
                <a:latin typeface="Times New Roman"/>
                <a:cs typeface="Times New Roman"/>
              </a:rPr>
              <a:t>Wait</a:t>
            </a:r>
            <a:r>
              <a:rPr b="1" spc="-175" dirty="0">
                <a:latin typeface="Times New Roman"/>
                <a:cs typeface="Times New Roman"/>
              </a:rPr>
              <a:t> </a:t>
            </a:r>
            <a:r>
              <a:rPr b="1" spc="-25" dirty="0">
                <a:latin typeface="Times New Roman"/>
                <a:cs typeface="Times New Roman"/>
              </a:rPr>
              <a:t>ARQ</a:t>
            </a:r>
            <a:r>
              <a:rPr lang="en-US" b="1" spc="-25" dirty="0">
                <a:latin typeface="Times New Roman"/>
                <a:cs typeface="Times New Roman"/>
              </a:rPr>
              <a:t> </a:t>
            </a:r>
            <a:r>
              <a:rPr lang="en-US" spc="-25" dirty="0">
                <a:latin typeface="Times New Roman"/>
                <a:cs typeface="Times New Roman"/>
              </a:rPr>
              <a:t>(</a:t>
            </a:r>
            <a:r>
              <a:rPr lang="en-US" dirty="0"/>
              <a:t>Automatic Repeat </a:t>
            </a:r>
            <a:r>
              <a:rPr lang="en-US" dirty="0" err="1"/>
              <a:t>reQuest</a:t>
            </a:r>
            <a:r>
              <a:rPr lang="en-US" dirty="0"/>
              <a:t>)</a:t>
            </a:r>
            <a:endParaRPr b="1" spc="-25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4872" y="1304391"/>
            <a:ext cx="8771890" cy="320929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228600" indent="-228600">
              <a:lnSpc>
                <a:spcPct val="100000"/>
              </a:lnSpc>
              <a:spcBef>
                <a:spcPts val="855"/>
              </a:spcBef>
              <a:buFont typeface="Arial MT"/>
              <a:buChar char="•"/>
              <a:tabLst>
                <a:tab pos="228600" algn="l"/>
              </a:tabLst>
            </a:pP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Stop</a:t>
            </a:r>
            <a:r>
              <a:rPr sz="2000" spc="-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and</a:t>
            </a:r>
            <a:r>
              <a:rPr sz="2000" spc="-6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45" dirty="0">
                <a:solidFill>
                  <a:srgbClr val="2F2F2F"/>
                </a:solidFill>
                <a:latin typeface="Times New Roman"/>
                <a:cs typeface="Times New Roman"/>
              </a:rPr>
              <a:t>Wait</a:t>
            </a:r>
            <a:r>
              <a:rPr sz="2000" spc="-1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ARQ</a:t>
            </a:r>
            <a:r>
              <a:rPr sz="20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is</a:t>
            </a:r>
            <a:r>
              <a:rPr sz="20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an</a:t>
            </a:r>
            <a:r>
              <a:rPr sz="20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improved</a:t>
            </a:r>
            <a:r>
              <a:rPr sz="2000" spc="-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and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modified</a:t>
            </a:r>
            <a:r>
              <a:rPr sz="20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version</a:t>
            </a:r>
            <a:r>
              <a:rPr sz="2000" spc="-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of</a:t>
            </a:r>
            <a:r>
              <a:rPr sz="20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Stop</a:t>
            </a:r>
            <a:r>
              <a:rPr sz="20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and</a:t>
            </a:r>
            <a:r>
              <a:rPr sz="2000" spc="-5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2F2F2F"/>
                </a:solidFill>
                <a:latin typeface="Times New Roman"/>
                <a:cs typeface="Times New Roman"/>
              </a:rPr>
              <a:t>Wait</a:t>
            </a:r>
            <a:r>
              <a:rPr sz="2000" spc="-5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protocol.</a:t>
            </a:r>
            <a:endParaRPr sz="2000" dirty="0">
              <a:latin typeface="Times New Roman"/>
              <a:cs typeface="Times New Roman"/>
            </a:endParaRPr>
          </a:p>
          <a:p>
            <a:pPr marL="228600" indent="-22860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28600" algn="l"/>
              </a:tabLst>
            </a:pP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Stop</a:t>
            </a:r>
            <a:r>
              <a:rPr sz="20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and</a:t>
            </a:r>
            <a:r>
              <a:rPr sz="2000" spc="-5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45" dirty="0">
                <a:solidFill>
                  <a:srgbClr val="2F2F2F"/>
                </a:solidFill>
                <a:latin typeface="Times New Roman"/>
                <a:cs typeface="Times New Roman"/>
              </a:rPr>
              <a:t>Wait</a:t>
            </a:r>
            <a:r>
              <a:rPr sz="2000" spc="-1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ARQ 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assumes-</a:t>
            </a:r>
            <a:endParaRPr sz="2000" dirty="0">
              <a:latin typeface="Times New Roman"/>
              <a:cs typeface="Times New Roman"/>
            </a:endParaRPr>
          </a:p>
          <a:p>
            <a:pPr marL="685800" lvl="1" indent="-228600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685800" algn="l"/>
              </a:tabLst>
            </a:pP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20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communication</a:t>
            </a:r>
            <a:r>
              <a:rPr sz="2000" spc="-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channel</a:t>
            </a:r>
            <a:r>
              <a:rPr sz="2000" spc="-5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is</a:t>
            </a:r>
            <a:r>
              <a:rPr sz="20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noisy.</a:t>
            </a:r>
            <a:endParaRPr sz="2000" dirty="0">
              <a:latin typeface="Times New Roman"/>
              <a:cs typeface="Times New Roman"/>
            </a:endParaRPr>
          </a:p>
          <a:p>
            <a:pPr marL="685800" lvl="1" indent="-228600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685800" algn="l"/>
              </a:tabLst>
            </a:pP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Errors</a:t>
            </a:r>
            <a:r>
              <a:rPr sz="2000" spc="-5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may</a:t>
            </a:r>
            <a:r>
              <a:rPr sz="2000" spc="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get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introduced</a:t>
            </a:r>
            <a:r>
              <a:rPr sz="2000" spc="-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in</a:t>
            </a:r>
            <a:r>
              <a:rPr sz="20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data</a:t>
            </a:r>
            <a:r>
              <a:rPr sz="20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during</a:t>
            </a:r>
            <a:r>
              <a:rPr sz="2000" spc="-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 transmission.</a:t>
            </a:r>
            <a:endParaRPr sz="2000" dirty="0">
              <a:latin typeface="Times New Roman"/>
              <a:cs typeface="Times New Roman"/>
            </a:endParaRPr>
          </a:p>
          <a:p>
            <a:pPr marL="228600" indent="-22860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28600" algn="l"/>
              </a:tabLst>
            </a:pPr>
            <a:r>
              <a:rPr sz="2000" spc="-20" dirty="0">
                <a:solidFill>
                  <a:srgbClr val="2F2F2F"/>
                </a:solidFill>
                <a:latin typeface="Times New Roman"/>
                <a:cs typeface="Times New Roman"/>
              </a:rPr>
              <a:t>Working</a:t>
            </a:r>
            <a:r>
              <a:rPr sz="2000" spc="-5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Principle:</a:t>
            </a:r>
            <a:endParaRPr sz="2000" dirty="0">
              <a:latin typeface="Times New Roman"/>
              <a:cs typeface="Times New Roman"/>
            </a:endParaRPr>
          </a:p>
          <a:p>
            <a:pPr marL="685800" lvl="1" indent="-228600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685800" algn="l"/>
              </a:tabLst>
            </a:pP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It</a:t>
            </a:r>
            <a:r>
              <a:rPr sz="20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works</a:t>
            </a:r>
            <a:r>
              <a:rPr sz="2000" spc="-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similar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to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stop</a:t>
            </a:r>
            <a:r>
              <a:rPr sz="2000" spc="-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and</a:t>
            </a:r>
            <a:r>
              <a:rPr sz="20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wait</a:t>
            </a:r>
            <a:r>
              <a:rPr sz="20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protocol.</a:t>
            </a:r>
            <a:endParaRPr sz="2000" dirty="0">
              <a:latin typeface="Times New Roman"/>
              <a:cs typeface="Times New Roman"/>
            </a:endParaRPr>
          </a:p>
          <a:p>
            <a:pPr marL="685800" lvl="1" indent="-228600">
              <a:lnSpc>
                <a:spcPct val="100000"/>
              </a:lnSpc>
              <a:spcBef>
                <a:spcPts val="250"/>
              </a:spcBef>
              <a:buFont typeface="Arial MT"/>
              <a:buChar char="•"/>
              <a:tabLst>
                <a:tab pos="685800" algn="l"/>
              </a:tabLst>
            </a:pP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It</a:t>
            </a:r>
            <a:r>
              <a:rPr sz="20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provides</a:t>
            </a:r>
            <a:r>
              <a:rPr sz="2000" spc="-5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a</a:t>
            </a:r>
            <a:r>
              <a:rPr sz="20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solution</a:t>
            </a:r>
            <a:r>
              <a:rPr sz="2000" spc="-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to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all</a:t>
            </a:r>
            <a:r>
              <a:rPr sz="20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limitations</a:t>
            </a:r>
            <a:r>
              <a:rPr sz="20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of</a:t>
            </a:r>
            <a:r>
              <a:rPr sz="20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stop</a:t>
            </a:r>
            <a:r>
              <a:rPr sz="20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and</a:t>
            </a:r>
            <a:r>
              <a:rPr sz="20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wait</a:t>
            </a:r>
            <a:r>
              <a:rPr sz="20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protocol.</a:t>
            </a:r>
            <a:endParaRPr sz="2000" dirty="0">
              <a:latin typeface="Times New Roman"/>
              <a:cs typeface="Times New Roman"/>
            </a:endParaRPr>
          </a:p>
          <a:p>
            <a:pPr marL="685800" lvl="1" indent="-228600">
              <a:lnSpc>
                <a:spcPct val="100000"/>
              </a:lnSpc>
              <a:spcBef>
                <a:spcPts val="270"/>
              </a:spcBef>
              <a:buFont typeface="Arial MT"/>
              <a:buChar char="•"/>
              <a:tabLst>
                <a:tab pos="685800" algn="l"/>
              </a:tabLst>
            </a:pP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It</a:t>
            </a:r>
            <a:r>
              <a:rPr sz="20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includes</a:t>
            </a:r>
            <a:r>
              <a:rPr sz="2000" spc="-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20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following</a:t>
            </a:r>
            <a:r>
              <a:rPr sz="2000" spc="-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three</a:t>
            </a:r>
            <a:r>
              <a:rPr sz="20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extra</a:t>
            </a:r>
            <a:r>
              <a:rPr sz="20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elements.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44"/>
              </a:spcBef>
            </a:pPr>
            <a:r>
              <a:rPr sz="1200" spc="-50" dirty="0">
                <a:latin typeface="Arial MT"/>
                <a:cs typeface="Arial MT"/>
              </a:rPr>
              <a:t>•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4600955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370545"/>
                </a:moveTo>
                <a:lnTo>
                  <a:pt x="832510" y="1189012"/>
                </a:lnTo>
                <a:lnTo>
                  <a:pt x="1013460" y="1008888"/>
                </a:lnTo>
                <a:lnTo>
                  <a:pt x="0" y="0"/>
                </a:lnTo>
                <a:lnTo>
                  <a:pt x="0" y="2017776"/>
                </a:lnTo>
                <a:lnTo>
                  <a:pt x="488391" y="1531594"/>
                </a:lnTo>
                <a:lnTo>
                  <a:pt x="670699" y="1713890"/>
                </a:lnTo>
                <a:lnTo>
                  <a:pt x="1014056" y="137054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219307" y="0"/>
            <a:ext cx="972819" cy="1935480"/>
          </a:xfrm>
          <a:custGeom>
            <a:avLst/>
            <a:gdLst/>
            <a:ahLst/>
            <a:cxnLst/>
            <a:rect l="l" t="t" r="r" b="b"/>
            <a:pathLst>
              <a:path w="972820" h="1935480">
                <a:moveTo>
                  <a:pt x="972693" y="0"/>
                </a:moveTo>
                <a:lnTo>
                  <a:pt x="381" y="967740"/>
                </a:lnTo>
                <a:lnTo>
                  <a:pt x="177482" y="1144016"/>
                </a:lnTo>
                <a:lnTo>
                  <a:pt x="0" y="1321562"/>
                </a:lnTo>
                <a:lnTo>
                  <a:pt x="348615" y="1670177"/>
                </a:lnTo>
                <a:lnTo>
                  <a:pt x="526986" y="1491881"/>
                </a:lnTo>
                <a:lnTo>
                  <a:pt x="972693" y="1935480"/>
                </a:lnTo>
                <a:lnTo>
                  <a:pt x="972693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5256" y="4520192"/>
            <a:ext cx="6105155" cy="170534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4510" y="269494"/>
            <a:ext cx="39179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imes New Roman"/>
                <a:cs typeface="Times New Roman"/>
              </a:rPr>
              <a:t>Stop</a:t>
            </a:r>
            <a:r>
              <a:rPr b="1" spc="1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and</a:t>
            </a:r>
            <a:r>
              <a:rPr b="1" spc="-70" dirty="0">
                <a:latin typeface="Times New Roman"/>
                <a:cs typeface="Times New Roman"/>
              </a:rPr>
              <a:t> </a:t>
            </a:r>
            <a:r>
              <a:rPr b="1" spc="-65" dirty="0">
                <a:latin typeface="Times New Roman"/>
                <a:cs typeface="Times New Roman"/>
              </a:rPr>
              <a:t>Wait</a:t>
            </a:r>
            <a:r>
              <a:rPr b="1" spc="-175" dirty="0">
                <a:latin typeface="Times New Roman"/>
                <a:cs typeface="Times New Roman"/>
              </a:rPr>
              <a:t> </a:t>
            </a:r>
            <a:r>
              <a:rPr b="1" spc="-25" dirty="0">
                <a:latin typeface="Times New Roman"/>
                <a:cs typeface="Times New Roman"/>
              </a:rPr>
              <a:t>ARQ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5680" y="1188847"/>
            <a:ext cx="10749915" cy="2186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ts val="251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Stop</a:t>
            </a:r>
            <a:r>
              <a:rPr sz="2200" spc="8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and</a:t>
            </a:r>
            <a:r>
              <a:rPr sz="2200" spc="7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wait</a:t>
            </a:r>
            <a:r>
              <a:rPr sz="2200" spc="7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ARQ</a:t>
            </a:r>
            <a:r>
              <a:rPr sz="2200" spc="7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is</a:t>
            </a:r>
            <a:r>
              <a:rPr sz="2200" spc="7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a</a:t>
            </a:r>
            <a:r>
              <a:rPr sz="2200" spc="7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one</a:t>
            </a:r>
            <a:r>
              <a:rPr sz="2200" spc="7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bit</a:t>
            </a:r>
            <a:r>
              <a:rPr sz="2200" spc="8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sliding</a:t>
            </a:r>
            <a:r>
              <a:rPr sz="2200" spc="7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window</a:t>
            </a:r>
            <a:r>
              <a:rPr sz="2200" spc="7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protocol</a:t>
            </a:r>
            <a:r>
              <a:rPr sz="2200" spc="8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where</a:t>
            </a:r>
            <a:r>
              <a:rPr sz="2200" spc="7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Sender</a:t>
            </a:r>
            <a:r>
              <a:rPr sz="2200" spc="7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window</a:t>
            </a:r>
            <a:r>
              <a:rPr sz="2200" spc="6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size</a:t>
            </a:r>
            <a:r>
              <a:rPr sz="2200" spc="6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=</a:t>
            </a:r>
            <a:r>
              <a:rPr sz="2200" spc="7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1</a:t>
            </a:r>
            <a:r>
              <a:rPr sz="2200" spc="8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2F2F2F"/>
                </a:solidFill>
                <a:latin typeface="Times New Roman"/>
                <a:cs typeface="Times New Roman"/>
              </a:rPr>
              <a:t>and</a:t>
            </a:r>
            <a:endParaRPr sz="2200">
              <a:latin typeface="Times New Roman"/>
              <a:cs typeface="Times New Roman"/>
            </a:endParaRPr>
          </a:p>
          <a:p>
            <a:pPr marL="240665">
              <a:lnSpc>
                <a:spcPts val="2510"/>
              </a:lnSpc>
            </a:pP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Receiver</a:t>
            </a:r>
            <a:r>
              <a:rPr sz="22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window</a:t>
            </a:r>
            <a:r>
              <a:rPr sz="2200" spc="-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size</a:t>
            </a:r>
            <a:r>
              <a:rPr sz="2200" spc="-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=</a:t>
            </a:r>
            <a:r>
              <a:rPr sz="2200" spc="-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spc="-50" dirty="0">
                <a:solidFill>
                  <a:srgbClr val="2F2F2F"/>
                </a:solidFill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  <a:p>
            <a:pPr marL="240665" marR="71120" indent="-228600">
              <a:lnSpc>
                <a:spcPts val="2380"/>
              </a:lnSpc>
              <a:spcBef>
                <a:spcPts val="1030"/>
              </a:spcBef>
              <a:buFont typeface="Arial MT"/>
              <a:buChar char="•"/>
              <a:tabLst>
                <a:tab pos="240665" algn="l"/>
                <a:tab pos="3812540" algn="l"/>
              </a:tabLst>
            </a:pP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Minimum</a:t>
            </a:r>
            <a:r>
              <a:rPr sz="2200" spc="-7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number</a:t>
            </a:r>
            <a:r>
              <a:rPr sz="22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of</a:t>
            </a:r>
            <a:r>
              <a:rPr sz="2200" spc="-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sequence</a:t>
            </a:r>
            <a:r>
              <a:rPr sz="2200" spc="-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numbers</a:t>
            </a:r>
            <a:r>
              <a:rPr sz="2200" spc="-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required</a:t>
            </a:r>
            <a:r>
              <a:rPr sz="2200" spc="-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in</a:t>
            </a:r>
            <a:r>
              <a:rPr sz="2200" spc="-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Stop</a:t>
            </a:r>
            <a:r>
              <a:rPr sz="2200" spc="-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and</a:t>
            </a:r>
            <a:r>
              <a:rPr sz="2200" spc="-8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spc="-65" dirty="0">
                <a:solidFill>
                  <a:srgbClr val="2F2F2F"/>
                </a:solidFill>
                <a:latin typeface="Times New Roman"/>
                <a:cs typeface="Times New Roman"/>
              </a:rPr>
              <a:t>Wait</a:t>
            </a:r>
            <a:r>
              <a:rPr sz="2200" spc="-1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ARQ</a:t>
            </a:r>
            <a:r>
              <a:rPr sz="2200" spc="-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=</a:t>
            </a:r>
            <a:r>
              <a:rPr sz="2200" spc="-5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2</a:t>
            </a:r>
            <a:r>
              <a:rPr sz="2200" spc="-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(Sender</a:t>
            </a:r>
            <a:r>
              <a:rPr sz="2200" spc="-7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F2F2F"/>
                </a:solidFill>
                <a:latin typeface="Times New Roman"/>
                <a:cs typeface="Times New Roman"/>
              </a:rPr>
              <a:t>Window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Size</a:t>
            </a:r>
            <a:r>
              <a:rPr sz="2200" spc="-5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+</a:t>
            </a:r>
            <a:r>
              <a:rPr sz="2200" spc="-5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Receiver</a:t>
            </a:r>
            <a:r>
              <a:rPr sz="2200" spc="-7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F2F2F"/>
                </a:solidFill>
                <a:latin typeface="Times New Roman"/>
                <a:cs typeface="Times New Roman"/>
              </a:rPr>
              <a:t>Window</a:t>
            </a:r>
            <a:r>
              <a:rPr sz="2200" spc="-6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2F2F2F"/>
                </a:solidFill>
                <a:latin typeface="Times New Roman"/>
                <a:cs typeface="Times New Roman"/>
              </a:rPr>
              <a:t>Size)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	and</a:t>
            </a:r>
            <a:r>
              <a:rPr sz="2200" spc="-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2200" spc="-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two</a:t>
            </a:r>
            <a:r>
              <a:rPr sz="2200" spc="-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sequence</a:t>
            </a:r>
            <a:r>
              <a:rPr sz="2200" spc="-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numbers</a:t>
            </a:r>
            <a:r>
              <a:rPr sz="22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used</a:t>
            </a:r>
            <a:r>
              <a:rPr sz="2200" spc="-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are</a:t>
            </a:r>
            <a:r>
              <a:rPr sz="2200" spc="-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0</a:t>
            </a:r>
            <a:r>
              <a:rPr sz="2200" spc="-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and</a:t>
            </a:r>
            <a:r>
              <a:rPr sz="2200" spc="-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2F2F2F"/>
                </a:solidFill>
                <a:latin typeface="Times New Roman"/>
                <a:cs typeface="Times New Roman"/>
              </a:rPr>
              <a:t>1.</a:t>
            </a:r>
            <a:endParaRPr sz="2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70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For</a:t>
            </a:r>
            <a:r>
              <a:rPr sz="2200" spc="-5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any</a:t>
            </a:r>
            <a:r>
              <a:rPr sz="2200" spc="-5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sliding</a:t>
            </a:r>
            <a:r>
              <a:rPr sz="2200" spc="-5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window</a:t>
            </a:r>
            <a:r>
              <a:rPr sz="2200" spc="-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protocol</a:t>
            </a:r>
            <a:r>
              <a:rPr sz="2200" spc="-5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to</a:t>
            </a:r>
            <a:r>
              <a:rPr sz="2200" spc="-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work</a:t>
            </a:r>
            <a:r>
              <a:rPr sz="2200" spc="-5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without</a:t>
            </a:r>
            <a:r>
              <a:rPr sz="2200" spc="-5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any</a:t>
            </a:r>
            <a:r>
              <a:rPr sz="2200" spc="-5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F2F2F"/>
                </a:solidFill>
                <a:latin typeface="Times New Roman"/>
                <a:cs typeface="Times New Roman"/>
              </a:rPr>
              <a:t>problem,</a:t>
            </a:r>
            <a:endParaRPr sz="22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229"/>
              </a:spcBef>
            </a:pPr>
            <a:r>
              <a:rPr sz="2200" spc="-20" dirty="0">
                <a:solidFill>
                  <a:srgbClr val="2F2F2F"/>
                </a:solidFill>
                <a:latin typeface="Times New Roman"/>
                <a:cs typeface="Times New Roman"/>
              </a:rPr>
              <a:t>Available</a:t>
            </a:r>
            <a:r>
              <a:rPr sz="2200" spc="-5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Sequence</a:t>
            </a:r>
            <a:r>
              <a:rPr sz="2200" spc="-6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Numbers</a:t>
            </a:r>
            <a:r>
              <a:rPr sz="2200" spc="-5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&gt;=</a:t>
            </a:r>
            <a:r>
              <a:rPr sz="2200" spc="-6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Sender</a:t>
            </a:r>
            <a:r>
              <a:rPr sz="2200" spc="-9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F2F2F"/>
                </a:solidFill>
                <a:latin typeface="Times New Roman"/>
                <a:cs typeface="Times New Roman"/>
              </a:rPr>
              <a:t>Window</a:t>
            </a:r>
            <a:r>
              <a:rPr sz="2200" spc="-7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Size</a:t>
            </a:r>
            <a:r>
              <a:rPr sz="2200" spc="-5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+</a:t>
            </a:r>
            <a:r>
              <a:rPr sz="2200" spc="-6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F2F2F"/>
                </a:solidFill>
                <a:latin typeface="Times New Roman"/>
                <a:cs typeface="Times New Roman"/>
              </a:rPr>
              <a:t>Receiver</a:t>
            </a:r>
            <a:r>
              <a:rPr sz="2200" spc="-9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F2F2F"/>
                </a:solidFill>
                <a:latin typeface="Times New Roman"/>
                <a:cs typeface="Times New Roman"/>
              </a:rPr>
              <a:t>Window</a:t>
            </a:r>
            <a:r>
              <a:rPr sz="2200" spc="-7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2F2F2F"/>
                </a:solidFill>
                <a:latin typeface="Times New Roman"/>
                <a:cs typeface="Times New Roman"/>
              </a:rPr>
              <a:t>Size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4600955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370545"/>
                </a:moveTo>
                <a:lnTo>
                  <a:pt x="832510" y="1189012"/>
                </a:lnTo>
                <a:lnTo>
                  <a:pt x="1013460" y="1008888"/>
                </a:lnTo>
                <a:lnTo>
                  <a:pt x="0" y="0"/>
                </a:lnTo>
                <a:lnTo>
                  <a:pt x="0" y="2017776"/>
                </a:lnTo>
                <a:lnTo>
                  <a:pt x="488391" y="1531594"/>
                </a:lnTo>
                <a:lnTo>
                  <a:pt x="670699" y="1713890"/>
                </a:lnTo>
                <a:lnTo>
                  <a:pt x="1014056" y="137054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219307" y="0"/>
            <a:ext cx="972819" cy="1935480"/>
          </a:xfrm>
          <a:custGeom>
            <a:avLst/>
            <a:gdLst/>
            <a:ahLst/>
            <a:cxnLst/>
            <a:rect l="l" t="t" r="r" b="b"/>
            <a:pathLst>
              <a:path w="972820" h="1935480">
                <a:moveTo>
                  <a:pt x="972693" y="0"/>
                </a:moveTo>
                <a:lnTo>
                  <a:pt x="381" y="967740"/>
                </a:lnTo>
                <a:lnTo>
                  <a:pt x="177482" y="1144016"/>
                </a:lnTo>
                <a:lnTo>
                  <a:pt x="0" y="1321562"/>
                </a:lnTo>
                <a:lnTo>
                  <a:pt x="348615" y="1670177"/>
                </a:lnTo>
                <a:lnTo>
                  <a:pt x="526986" y="1491881"/>
                </a:lnTo>
                <a:lnTo>
                  <a:pt x="972693" y="1935480"/>
                </a:lnTo>
                <a:lnTo>
                  <a:pt x="972693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1888" y="4010405"/>
            <a:ext cx="7810145" cy="12287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8819" y="415797"/>
            <a:ext cx="6628130" cy="164846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560"/>
              </a:spcBef>
            </a:pPr>
            <a:r>
              <a:rPr sz="3800" b="1" dirty="0">
                <a:latin typeface="Times New Roman"/>
                <a:cs typeface="Times New Roman"/>
              </a:rPr>
              <a:t>How</a:t>
            </a:r>
            <a:r>
              <a:rPr sz="3800" b="1" spc="-80" dirty="0">
                <a:latin typeface="Times New Roman"/>
                <a:cs typeface="Times New Roman"/>
              </a:rPr>
              <a:t> </a:t>
            </a:r>
            <a:r>
              <a:rPr sz="3800" b="1" dirty="0">
                <a:latin typeface="Times New Roman"/>
                <a:cs typeface="Times New Roman"/>
              </a:rPr>
              <a:t>Stop</a:t>
            </a:r>
            <a:r>
              <a:rPr sz="3800" b="1" spc="10" dirty="0">
                <a:latin typeface="Times New Roman"/>
                <a:cs typeface="Times New Roman"/>
              </a:rPr>
              <a:t> </a:t>
            </a:r>
            <a:r>
              <a:rPr sz="3800" b="1" dirty="0">
                <a:latin typeface="Times New Roman"/>
                <a:cs typeface="Times New Roman"/>
              </a:rPr>
              <a:t>and</a:t>
            </a:r>
            <a:r>
              <a:rPr sz="3800" b="1" spc="-75" dirty="0">
                <a:latin typeface="Times New Roman"/>
                <a:cs typeface="Times New Roman"/>
              </a:rPr>
              <a:t> </a:t>
            </a:r>
            <a:r>
              <a:rPr sz="3800" b="1" spc="-70" dirty="0">
                <a:latin typeface="Times New Roman"/>
                <a:cs typeface="Times New Roman"/>
              </a:rPr>
              <a:t>Wait</a:t>
            </a:r>
            <a:r>
              <a:rPr sz="3800" b="1" spc="-165" dirty="0">
                <a:latin typeface="Times New Roman"/>
                <a:cs typeface="Times New Roman"/>
              </a:rPr>
              <a:t> </a:t>
            </a:r>
            <a:r>
              <a:rPr sz="3800" b="1" dirty="0">
                <a:latin typeface="Times New Roman"/>
                <a:cs typeface="Times New Roman"/>
              </a:rPr>
              <a:t>ARQ</a:t>
            </a:r>
            <a:r>
              <a:rPr sz="3800" b="1" spc="10" dirty="0">
                <a:latin typeface="Times New Roman"/>
                <a:cs typeface="Times New Roman"/>
              </a:rPr>
              <a:t> </a:t>
            </a:r>
            <a:r>
              <a:rPr sz="3800" b="1" spc="-10" dirty="0">
                <a:latin typeface="Times New Roman"/>
                <a:cs typeface="Times New Roman"/>
              </a:rPr>
              <a:t>Solves </a:t>
            </a:r>
            <a:r>
              <a:rPr sz="3800" b="1" dirty="0">
                <a:latin typeface="Times New Roman"/>
                <a:cs typeface="Times New Roman"/>
              </a:rPr>
              <a:t>The</a:t>
            </a:r>
            <a:r>
              <a:rPr sz="3800" b="1" spc="-25" dirty="0">
                <a:latin typeface="Times New Roman"/>
                <a:cs typeface="Times New Roman"/>
              </a:rPr>
              <a:t> </a:t>
            </a:r>
            <a:r>
              <a:rPr sz="3800" b="1" dirty="0">
                <a:latin typeface="Times New Roman"/>
                <a:cs typeface="Times New Roman"/>
              </a:rPr>
              <a:t>Problems</a:t>
            </a:r>
            <a:r>
              <a:rPr sz="3800" b="1" spc="-50" dirty="0">
                <a:latin typeface="Times New Roman"/>
                <a:cs typeface="Times New Roman"/>
              </a:rPr>
              <a:t> </a:t>
            </a:r>
            <a:r>
              <a:rPr sz="3800" b="1" dirty="0">
                <a:latin typeface="Times New Roman"/>
                <a:cs typeface="Times New Roman"/>
              </a:rPr>
              <a:t>of</a:t>
            </a:r>
            <a:r>
              <a:rPr sz="3800" b="1" spc="-15" dirty="0">
                <a:latin typeface="Times New Roman"/>
                <a:cs typeface="Times New Roman"/>
              </a:rPr>
              <a:t> </a:t>
            </a:r>
            <a:r>
              <a:rPr sz="3800" b="1" dirty="0">
                <a:latin typeface="Times New Roman"/>
                <a:cs typeface="Times New Roman"/>
              </a:rPr>
              <a:t>Stop</a:t>
            </a:r>
            <a:r>
              <a:rPr sz="3800" b="1" spc="-40" dirty="0">
                <a:latin typeface="Times New Roman"/>
                <a:cs typeface="Times New Roman"/>
              </a:rPr>
              <a:t> </a:t>
            </a:r>
            <a:r>
              <a:rPr sz="3800" b="1" dirty="0">
                <a:latin typeface="Times New Roman"/>
                <a:cs typeface="Times New Roman"/>
              </a:rPr>
              <a:t>and</a:t>
            </a:r>
            <a:r>
              <a:rPr sz="3800" b="1" spc="-100" dirty="0">
                <a:latin typeface="Times New Roman"/>
                <a:cs typeface="Times New Roman"/>
              </a:rPr>
              <a:t> </a:t>
            </a:r>
            <a:r>
              <a:rPr sz="3800" b="1" spc="-20" dirty="0">
                <a:latin typeface="Times New Roman"/>
                <a:cs typeface="Times New Roman"/>
              </a:rPr>
              <a:t>Wait </a:t>
            </a:r>
            <a:r>
              <a:rPr sz="3800" b="1" dirty="0">
                <a:latin typeface="Times New Roman"/>
                <a:cs typeface="Times New Roman"/>
              </a:rPr>
              <a:t>Protocol</a:t>
            </a:r>
            <a:r>
              <a:rPr sz="3800" b="1" spc="-140" dirty="0">
                <a:latin typeface="Times New Roman"/>
                <a:cs typeface="Times New Roman"/>
              </a:rPr>
              <a:t> </a:t>
            </a:r>
            <a:r>
              <a:rPr sz="3800" b="1" spc="-50" dirty="0">
                <a:latin typeface="Times New Roman"/>
                <a:cs typeface="Times New Roman"/>
              </a:rPr>
              <a:t>?</a:t>
            </a:r>
            <a:endParaRPr sz="38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38847" y="2355516"/>
            <a:ext cx="4286885" cy="87630"/>
            <a:chOff x="738847" y="2355516"/>
            <a:chExt cx="4286885" cy="87630"/>
          </a:xfrm>
        </p:grpSpPr>
        <p:sp>
          <p:nvSpPr>
            <p:cNvPr id="4" name="object 4"/>
            <p:cNvSpPr/>
            <p:nvPr/>
          </p:nvSpPr>
          <p:spPr>
            <a:xfrm>
              <a:off x="759256" y="2382685"/>
              <a:ext cx="4244975" cy="48895"/>
            </a:xfrm>
            <a:custGeom>
              <a:avLst/>
              <a:gdLst/>
              <a:ahLst/>
              <a:cxnLst/>
              <a:rect l="l" t="t" r="r" b="b"/>
              <a:pathLst>
                <a:path w="4244975" h="48894">
                  <a:moveTo>
                    <a:pt x="2874048" y="21932"/>
                  </a:moveTo>
                  <a:lnTo>
                    <a:pt x="2039899" y="21932"/>
                  </a:lnTo>
                  <a:lnTo>
                    <a:pt x="2085390" y="23184"/>
                  </a:lnTo>
                  <a:lnTo>
                    <a:pt x="2144289" y="26529"/>
                  </a:lnTo>
                  <a:lnTo>
                    <a:pt x="2143840" y="26529"/>
                  </a:lnTo>
                  <a:lnTo>
                    <a:pt x="2277301" y="37472"/>
                  </a:lnTo>
                  <a:lnTo>
                    <a:pt x="2334813" y="41695"/>
                  </a:lnTo>
                  <a:lnTo>
                    <a:pt x="2387099" y="44843"/>
                  </a:lnTo>
                  <a:lnTo>
                    <a:pt x="2435166" y="46998"/>
                  </a:lnTo>
                  <a:lnTo>
                    <a:pt x="2483209" y="48332"/>
                  </a:lnTo>
                  <a:lnTo>
                    <a:pt x="2522659" y="48660"/>
                  </a:lnTo>
                  <a:lnTo>
                    <a:pt x="2564095" y="48332"/>
                  </a:lnTo>
                  <a:lnTo>
                    <a:pt x="2605330" y="47340"/>
                  </a:lnTo>
                  <a:lnTo>
                    <a:pt x="2691221" y="43699"/>
                  </a:lnTo>
                  <a:lnTo>
                    <a:pt x="2966766" y="29332"/>
                  </a:lnTo>
                  <a:lnTo>
                    <a:pt x="3024960" y="27517"/>
                  </a:lnTo>
                  <a:lnTo>
                    <a:pt x="3079689" y="26529"/>
                  </a:lnTo>
                  <a:lnTo>
                    <a:pt x="3776314" y="26238"/>
                  </a:lnTo>
                  <a:lnTo>
                    <a:pt x="3792349" y="25615"/>
                  </a:lnTo>
                  <a:lnTo>
                    <a:pt x="3770364" y="25615"/>
                  </a:lnTo>
                  <a:lnTo>
                    <a:pt x="3692717" y="24829"/>
                  </a:lnTo>
                  <a:lnTo>
                    <a:pt x="3704799" y="24829"/>
                  </a:lnTo>
                  <a:lnTo>
                    <a:pt x="3661715" y="23820"/>
                  </a:lnTo>
                  <a:lnTo>
                    <a:pt x="3659842" y="23820"/>
                  </a:lnTo>
                  <a:lnTo>
                    <a:pt x="3621082" y="22367"/>
                  </a:lnTo>
                  <a:lnTo>
                    <a:pt x="2892225" y="22367"/>
                  </a:lnTo>
                  <a:lnTo>
                    <a:pt x="2874048" y="21932"/>
                  </a:lnTo>
                  <a:close/>
                </a:path>
                <a:path w="4244975" h="48894">
                  <a:moveTo>
                    <a:pt x="817228" y="1961"/>
                  </a:moveTo>
                  <a:lnTo>
                    <a:pt x="765314" y="1961"/>
                  </a:lnTo>
                  <a:lnTo>
                    <a:pt x="718026" y="3333"/>
                  </a:lnTo>
                  <a:lnTo>
                    <a:pt x="663694" y="5806"/>
                  </a:lnTo>
                  <a:lnTo>
                    <a:pt x="449294" y="17864"/>
                  </a:lnTo>
                  <a:lnTo>
                    <a:pt x="343138" y="22736"/>
                  </a:lnTo>
                  <a:lnTo>
                    <a:pt x="380587" y="24118"/>
                  </a:lnTo>
                  <a:lnTo>
                    <a:pt x="448140" y="27517"/>
                  </a:lnTo>
                  <a:lnTo>
                    <a:pt x="587132" y="36116"/>
                  </a:lnTo>
                  <a:lnTo>
                    <a:pt x="643893" y="38872"/>
                  </a:lnTo>
                  <a:lnTo>
                    <a:pt x="694088" y="40514"/>
                  </a:lnTo>
                  <a:lnTo>
                    <a:pt x="740785" y="41214"/>
                  </a:lnTo>
                  <a:lnTo>
                    <a:pt x="774746" y="41214"/>
                  </a:lnTo>
                  <a:lnTo>
                    <a:pt x="824157" y="40301"/>
                  </a:lnTo>
                  <a:lnTo>
                    <a:pt x="1342906" y="26529"/>
                  </a:lnTo>
                  <a:lnTo>
                    <a:pt x="1340595" y="26529"/>
                  </a:lnTo>
                  <a:lnTo>
                    <a:pt x="1389766" y="25900"/>
                  </a:lnTo>
                  <a:lnTo>
                    <a:pt x="1383921" y="25900"/>
                  </a:lnTo>
                  <a:lnTo>
                    <a:pt x="1705011" y="25615"/>
                  </a:lnTo>
                  <a:lnTo>
                    <a:pt x="1657757" y="24599"/>
                  </a:lnTo>
                  <a:lnTo>
                    <a:pt x="1656185" y="24599"/>
                  </a:lnTo>
                  <a:lnTo>
                    <a:pt x="1609401" y="22367"/>
                  </a:lnTo>
                  <a:lnTo>
                    <a:pt x="1565213" y="18851"/>
                  </a:lnTo>
                  <a:lnTo>
                    <a:pt x="1560085" y="18248"/>
                  </a:lnTo>
                  <a:lnTo>
                    <a:pt x="1111492" y="18248"/>
                  </a:lnTo>
                  <a:lnTo>
                    <a:pt x="1060472" y="17464"/>
                  </a:lnTo>
                  <a:lnTo>
                    <a:pt x="1057167" y="17464"/>
                  </a:lnTo>
                  <a:lnTo>
                    <a:pt x="1000963" y="13804"/>
                  </a:lnTo>
                  <a:lnTo>
                    <a:pt x="943953" y="8732"/>
                  </a:lnTo>
                  <a:lnTo>
                    <a:pt x="894879" y="5075"/>
                  </a:lnTo>
                  <a:lnTo>
                    <a:pt x="850745" y="2769"/>
                  </a:lnTo>
                  <a:lnTo>
                    <a:pt x="817228" y="1961"/>
                  </a:lnTo>
                  <a:close/>
                </a:path>
                <a:path w="4244975" h="48894">
                  <a:moveTo>
                    <a:pt x="2660638" y="1961"/>
                  </a:moveTo>
                  <a:lnTo>
                    <a:pt x="2454296" y="1961"/>
                  </a:lnTo>
                  <a:lnTo>
                    <a:pt x="1848457" y="23501"/>
                  </a:lnTo>
                  <a:lnTo>
                    <a:pt x="1847868" y="23501"/>
                  </a:lnTo>
                  <a:lnTo>
                    <a:pt x="1798673" y="24829"/>
                  </a:lnTo>
                  <a:lnTo>
                    <a:pt x="1747186" y="25615"/>
                  </a:lnTo>
                  <a:lnTo>
                    <a:pt x="1537794" y="25900"/>
                  </a:lnTo>
                  <a:lnTo>
                    <a:pt x="1536898" y="25900"/>
                  </a:lnTo>
                  <a:lnTo>
                    <a:pt x="1631904" y="27964"/>
                  </a:lnTo>
                  <a:lnTo>
                    <a:pt x="1786803" y="33959"/>
                  </a:lnTo>
                  <a:lnTo>
                    <a:pt x="1828975" y="34120"/>
                  </a:lnTo>
                  <a:lnTo>
                    <a:pt x="1863390" y="32985"/>
                  </a:lnTo>
                  <a:lnTo>
                    <a:pt x="1892409" y="30963"/>
                  </a:lnTo>
                  <a:lnTo>
                    <a:pt x="1943700" y="25900"/>
                  </a:lnTo>
                  <a:lnTo>
                    <a:pt x="1968989" y="23820"/>
                  </a:lnTo>
                  <a:lnTo>
                    <a:pt x="1967725" y="23820"/>
                  </a:lnTo>
                  <a:lnTo>
                    <a:pt x="1998483" y="22367"/>
                  </a:lnTo>
                  <a:lnTo>
                    <a:pt x="1982709" y="22367"/>
                  </a:lnTo>
                  <a:lnTo>
                    <a:pt x="2874048" y="21932"/>
                  </a:lnTo>
                  <a:lnTo>
                    <a:pt x="2847201" y="21288"/>
                  </a:lnTo>
                  <a:lnTo>
                    <a:pt x="2811555" y="18610"/>
                  </a:lnTo>
                  <a:lnTo>
                    <a:pt x="2739779" y="8214"/>
                  </a:lnTo>
                  <a:lnTo>
                    <a:pt x="2698929" y="4220"/>
                  </a:lnTo>
                  <a:lnTo>
                    <a:pt x="2660638" y="1961"/>
                  </a:lnTo>
                  <a:close/>
                </a:path>
                <a:path w="4244975" h="48894">
                  <a:moveTo>
                    <a:pt x="3749679" y="27266"/>
                  </a:moveTo>
                  <a:lnTo>
                    <a:pt x="3230546" y="27266"/>
                  </a:lnTo>
                  <a:lnTo>
                    <a:pt x="3278139" y="28294"/>
                  </a:lnTo>
                  <a:lnTo>
                    <a:pt x="3277361" y="28294"/>
                  </a:lnTo>
                  <a:lnTo>
                    <a:pt x="3498053" y="32845"/>
                  </a:lnTo>
                  <a:lnTo>
                    <a:pt x="3541916" y="32845"/>
                  </a:lnTo>
                  <a:lnTo>
                    <a:pt x="3596081" y="32092"/>
                  </a:lnTo>
                  <a:lnTo>
                    <a:pt x="3749679" y="27266"/>
                  </a:lnTo>
                  <a:close/>
                </a:path>
                <a:path w="4244975" h="48894">
                  <a:moveTo>
                    <a:pt x="457" y="13804"/>
                  </a:moveTo>
                  <a:lnTo>
                    <a:pt x="340" y="15876"/>
                  </a:lnTo>
                  <a:lnTo>
                    <a:pt x="228" y="17864"/>
                  </a:lnTo>
                  <a:lnTo>
                    <a:pt x="107" y="20027"/>
                  </a:lnTo>
                  <a:lnTo>
                    <a:pt x="0" y="21932"/>
                  </a:lnTo>
                  <a:lnTo>
                    <a:pt x="1219" y="24599"/>
                  </a:lnTo>
                  <a:lnTo>
                    <a:pt x="1150" y="25270"/>
                  </a:lnTo>
                  <a:lnTo>
                    <a:pt x="1052" y="26238"/>
                  </a:lnTo>
                  <a:lnTo>
                    <a:pt x="947" y="27266"/>
                  </a:lnTo>
                  <a:lnTo>
                    <a:pt x="877" y="27964"/>
                  </a:lnTo>
                  <a:lnTo>
                    <a:pt x="771" y="29005"/>
                  </a:lnTo>
                  <a:lnTo>
                    <a:pt x="695" y="29748"/>
                  </a:lnTo>
                  <a:lnTo>
                    <a:pt x="572" y="30963"/>
                  </a:lnTo>
                  <a:lnTo>
                    <a:pt x="457" y="32092"/>
                  </a:lnTo>
                  <a:lnTo>
                    <a:pt x="36749" y="28294"/>
                  </a:lnTo>
                  <a:lnTo>
                    <a:pt x="36576" y="28294"/>
                  </a:lnTo>
                  <a:lnTo>
                    <a:pt x="73747" y="25270"/>
                  </a:lnTo>
                  <a:lnTo>
                    <a:pt x="72756" y="25270"/>
                  </a:lnTo>
                  <a:lnTo>
                    <a:pt x="111365" y="23028"/>
                  </a:lnTo>
                  <a:lnTo>
                    <a:pt x="85917" y="21646"/>
                  </a:lnTo>
                  <a:lnTo>
                    <a:pt x="43102" y="18248"/>
                  </a:lnTo>
                  <a:lnTo>
                    <a:pt x="457" y="13804"/>
                  </a:lnTo>
                  <a:close/>
                </a:path>
                <a:path w="4244975" h="48894">
                  <a:moveTo>
                    <a:pt x="4244797" y="13804"/>
                  </a:moveTo>
                  <a:lnTo>
                    <a:pt x="4199662" y="14646"/>
                  </a:lnTo>
                  <a:lnTo>
                    <a:pt x="4106793" y="17464"/>
                  </a:lnTo>
                  <a:lnTo>
                    <a:pt x="4107027" y="17464"/>
                  </a:lnTo>
                  <a:lnTo>
                    <a:pt x="4025256" y="20442"/>
                  </a:lnTo>
                  <a:lnTo>
                    <a:pt x="4045562" y="20442"/>
                  </a:lnTo>
                  <a:lnTo>
                    <a:pt x="4096051" y="21646"/>
                  </a:lnTo>
                  <a:lnTo>
                    <a:pt x="4095107" y="21646"/>
                  </a:lnTo>
                  <a:lnTo>
                    <a:pt x="4143239" y="23820"/>
                  </a:lnTo>
                  <a:lnTo>
                    <a:pt x="4193398" y="27266"/>
                  </a:lnTo>
                  <a:lnTo>
                    <a:pt x="4244797" y="32092"/>
                  </a:lnTo>
                  <a:lnTo>
                    <a:pt x="4244797" y="13804"/>
                  </a:lnTo>
                  <a:close/>
                </a:path>
                <a:path w="4244975" h="48894">
                  <a:moveTo>
                    <a:pt x="3776314" y="26238"/>
                  </a:moveTo>
                  <a:lnTo>
                    <a:pt x="3131270" y="26238"/>
                  </a:lnTo>
                  <a:lnTo>
                    <a:pt x="3184637" y="26529"/>
                  </a:lnTo>
                  <a:lnTo>
                    <a:pt x="3181947" y="26529"/>
                  </a:lnTo>
                  <a:lnTo>
                    <a:pt x="3231972" y="27266"/>
                  </a:lnTo>
                  <a:lnTo>
                    <a:pt x="3749861" y="27266"/>
                  </a:lnTo>
                  <a:lnTo>
                    <a:pt x="3776314" y="26238"/>
                  </a:lnTo>
                  <a:close/>
                </a:path>
                <a:path w="4244975" h="48894">
                  <a:moveTo>
                    <a:pt x="224892" y="20442"/>
                  </a:moveTo>
                  <a:lnTo>
                    <a:pt x="205466" y="20442"/>
                  </a:lnTo>
                  <a:lnTo>
                    <a:pt x="160337" y="21107"/>
                  </a:lnTo>
                  <a:lnTo>
                    <a:pt x="161309" y="21107"/>
                  </a:lnTo>
                  <a:lnTo>
                    <a:pt x="115653" y="22736"/>
                  </a:lnTo>
                  <a:lnTo>
                    <a:pt x="116400" y="22736"/>
                  </a:lnTo>
                  <a:lnTo>
                    <a:pt x="111365" y="23028"/>
                  </a:lnTo>
                  <a:lnTo>
                    <a:pt x="128322" y="23949"/>
                  </a:lnTo>
                  <a:lnTo>
                    <a:pt x="172728" y="25270"/>
                  </a:lnTo>
                  <a:lnTo>
                    <a:pt x="219549" y="25615"/>
                  </a:lnTo>
                  <a:lnTo>
                    <a:pt x="285184" y="24829"/>
                  </a:lnTo>
                  <a:lnTo>
                    <a:pt x="276365" y="24829"/>
                  </a:lnTo>
                  <a:lnTo>
                    <a:pt x="324100" y="23501"/>
                  </a:lnTo>
                  <a:lnTo>
                    <a:pt x="343138" y="22736"/>
                  </a:lnTo>
                  <a:lnTo>
                    <a:pt x="321363" y="21932"/>
                  </a:lnTo>
                  <a:lnTo>
                    <a:pt x="323221" y="21932"/>
                  </a:lnTo>
                  <a:lnTo>
                    <a:pt x="267171" y="20718"/>
                  </a:lnTo>
                  <a:lnTo>
                    <a:pt x="287131" y="20718"/>
                  </a:lnTo>
                  <a:lnTo>
                    <a:pt x="224892" y="20442"/>
                  </a:lnTo>
                  <a:close/>
                </a:path>
                <a:path w="4244975" h="48894">
                  <a:moveTo>
                    <a:pt x="3997503" y="20195"/>
                  </a:moveTo>
                  <a:lnTo>
                    <a:pt x="3947902" y="20718"/>
                  </a:lnTo>
                  <a:lnTo>
                    <a:pt x="3948821" y="20718"/>
                  </a:lnTo>
                  <a:lnTo>
                    <a:pt x="3895846" y="21932"/>
                  </a:lnTo>
                  <a:lnTo>
                    <a:pt x="3897450" y="21932"/>
                  </a:lnTo>
                  <a:lnTo>
                    <a:pt x="3858034" y="23184"/>
                  </a:lnTo>
                  <a:lnTo>
                    <a:pt x="3857343" y="23184"/>
                  </a:lnTo>
                  <a:lnTo>
                    <a:pt x="3801070" y="25270"/>
                  </a:lnTo>
                  <a:lnTo>
                    <a:pt x="3801212" y="25270"/>
                  </a:lnTo>
                  <a:lnTo>
                    <a:pt x="3792349" y="25615"/>
                  </a:lnTo>
                  <a:lnTo>
                    <a:pt x="3812217" y="25615"/>
                  </a:lnTo>
                  <a:lnTo>
                    <a:pt x="3918611" y="23820"/>
                  </a:lnTo>
                  <a:lnTo>
                    <a:pt x="3919555" y="23820"/>
                  </a:lnTo>
                  <a:lnTo>
                    <a:pt x="3969206" y="22367"/>
                  </a:lnTo>
                  <a:lnTo>
                    <a:pt x="4025256" y="20442"/>
                  </a:lnTo>
                  <a:lnTo>
                    <a:pt x="4045562" y="20442"/>
                  </a:lnTo>
                  <a:lnTo>
                    <a:pt x="3997503" y="20195"/>
                  </a:lnTo>
                  <a:close/>
                </a:path>
                <a:path w="4244975" h="48894">
                  <a:moveTo>
                    <a:pt x="3270595" y="6899"/>
                  </a:moveTo>
                  <a:lnTo>
                    <a:pt x="3211980" y="7750"/>
                  </a:lnTo>
                  <a:lnTo>
                    <a:pt x="3156736" y="9599"/>
                  </a:lnTo>
                  <a:lnTo>
                    <a:pt x="3102580" y="12197"/>
                  </a:lnTo>
                  <a:lnTo>
                    <a:pt x="3102909" y="12197"/>
                  </a:lnTo>
                  <a:lnTo>
                    <a:pt x="2965209" y="20027"/>
                  </a:lnTo>
                  <a:lnTo>
                    <a:pt x="2923901" y="21646"/>
                  </a:lnTo>
                  <a:lnTo>
                    <a:pt x="2871200" y="22367"/>
                  </a:lnTo>
                  <a:lnTo>
                    <a:pt x="3621082" y="22367"/>
                  </a:lnTo>
                  <a:lnTo>
                    <a:pt x="3596913" y="21461"/>
                  </a:lnTo>
                  <a:lnTo>
                    <a:pt x="3535223" y="18248"/>
                  </a:lnTo>
                  <a:lnTo>
                    <a:pt x="3535022" y="18248"/>
                  </a:lnTo>
                  <a:lnTo>
                    <a:pt x="3399090" y="9599"/>
                  </a:lnTo>
                  <a:lnTo>
                    <a:pt x="3399370" y="9599"/>
                  </a:lnTo>
                  <a:lnTo>
                    <a:pt x="3332783" y="7392"/>
                  </a:lnTo>
                  <a:lnTo>
                    <a:pt x="3270595" y="6899"/>
                  </a:lnTo>
                  <a:close/>
                </a:path>
                <a:path w="4244975" h="48894">
                  <a:moveTo>
                    <a:pt x="1473264" y="8732"/>
                  </a:moveTo>
                  <a:lnTo>
                    <a:pt x="1318063" y="8732"/>
                  </a:lnTo>
                  <a:lnTo>
                    <a:pt x="1214475" y="14646"/>
                  </a:lnTo>
                  <a:lnTo>
                    <a:pt x="1214099" y="14646"/>
                  </a:lnTo>
                  <a:lnTo>
                    <a:pt x="1163561" y="17036"/>
                  </a:lnTo>
                  <a:lnTo>
                    <a:pt x="1109485" y="18248"/>
                  </a:lnTo>
                  <a:lnTo>
                    <a:pt x="1560085" y="18248"/>
                  </a:lnTo>
                  <a:lnTo>
                    <a:pt x="1522298" y="13804"/>
                  </a:lnTo>
                  <a:lnTo>
                    <a:pt x="1473264" y="8732"/>
                  </a:lnTo>
                  <a:close/>
                </a:path>
                <a:path w="4244975" h="48894">
                  <a:moveTo>
                    <a:pt x="1421006" y="6452"/>
                  </a:moveTo>
                  <a:lnTo>
                    <a:pt x="1370260" y="6731"/>
                  </a:lnTo>
                  <a:lnTo>
                    <a:pt x="1317500" y="8732"/>
                  </a:lnTo>
                  <a:lnTo>
                    <a:pt x="1475665" y="8732"/>
                  </a:lnTo>
                  <a:lnTo>
                    <a:pt x="1421006" y="6452"/>
                  </a:lnTo>
                  <a:close/>
                </a:path>
                <a:path w="4244975" h="48894">
                  <a:moveTo>
                    <a:pt x="2560376" y="0"/>
                  </a:moveTo>
                  <a:lnTo>
                    <a:pt x="2509902" y="577"/>
                  </a:lnTo>
                  <a:lnTo>
                    <a:pt x="2453007" y="1961"/>
                  </a:lnTo>
                  <a:lnTo>
                    <a:pt x="2666227" y="1961"/>
                  </a:lnTo>
                  <a:lnTo>
                    <a:pt x="2608914" y="294"/>
                  </a:lnTo>
                  <a:lnTo>
                    <a:pt x="2560376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9485" y="2376154"/>
              <a:ext cx="4245610" cy="46355"/>
            </a:xfrm>
            <a:custGeom>
              <a:avLst/>
              <a:gdLst/>
              <a:ahLst/>
              <a:cxnLst/>
              <a:rect l="l" t="t" r="r" b="b"/>
              <a:pathLst>
                <a:path w="4245610" h="46355">
                  <a:moveTo>
                    <a:pt x="228" y="20335"/>
                  </a:moveTo>
                  <a:lnTo>
                    <a:pt x="67222" y="14218"/>
                  </a:lnTo>
                  <a:lnTo>
                    <a:pt x="126992" y="9792"/>
                  </a:lnTo>
                  <a:lnTo>
                    <a:pt x="181158" y="6986"/>
                  </a:lnTo>
                  <a:lnTo>
                    <a:pt x="231342" y="5733"/>
                  </a:lnTo>
                  <a:lnTo>
                    <a:pt x="279164" y="5963"/>
                  </a:lnTo>
                  <a:lnTo>
                    <a:pt x="326244" y="7607"/>
                  </a:lnTo>
                  <a:lnTo>
                    <a:pt x="374202" y="10597"/>
                  </a:lnTo>
                  <a:lnTo>
                    <a:pt x="424658" y="14862"/>
                  </a:lnTo>
                  <a:lnTo>
                    <a:pt x="479234" y="20335"/>
                  </a:lnTo>
                  <a:lnTo>
                    <a:pt x="530894" y="24176"/>
                  </a:lnTo>
                  <a:lnTo>
                    <a:pt x="582729" y="25273"/>
                  </a:lnTo>
                  <a:lnTo>
                    <a:pt x="634360" y="24336"/>
                  </a:lnTo>
                  <a:lnTo>
                    <a:pt x="685406" y="22073"/>
                  </a:lnTo>
                  <a:lnTo>
                    <a:pt x="735490" y="19192"/>
                  </a:lnTo>
                  <a:lnTo>
                    <a:pt x="784231" y="16403"/>
                  </a:lnTo>
                  <a:lnTo>
                    <a:pt x="831251" y="14415"/>
                  </a:lnTo>
                  <a:lnTo>
                    <a:pt x="876170" y="13935"/>
                  </a:lnTo>
                  <a:lnTo>
                    <a:pt x="918609" y="15672"/>
                  </a:lnTo>
                  <a:lnTo>
                    <a:pt x="958189" y="20335"/>
                  </a:lnTo>
                  <a:lnTo>
                    <a:pt x="994961" y="25683"/>
                  </a:lnTo>
                  <a:lnTo>
                    <a:pt x="1035811" y="30120"/>
                  </a:lnTo>
                  <a:lnTo>
                    <a:pt x="1080345" y="33595"/>
                  </a:lnTo>
                  <a:lnTo>
                    <a:pt x="1128171" y="36053"/>
                  </a:lnTo>
                  <a:lnTo>
                    <a:pt x="1178894" y="37442"/>
                  </a:lnTo>
                  <a:lnTo>
                    <a:pt x="1232123" y="37708"/>
                  </a:lnTo>
                  <a:lnTo>
                    <a:pt x="1287462" y="36798"/>
                  </a:lnTo>
                  <a:lnTo>
                    <a:pt x="1344520" y="34659"/>
                  </a:lnTo>
                  <a:lnTo>
                    <a:pt x="1402903" y="31238"/>
                  </a:lnTo>
                  <a:lnTo>
                    <a:pt x="1462217" y="26481"/>
                  </a:lnTo>
                  <a:lnTo>
                    <a:pt x="1522069" y="20335"/>
                  </a:lnTo>
                  <a:lnTo>
                    <a:pt x="1569365" y="15276"/>
                  </a:lnTo>
                  <a:lnTo>
                    <a:pt x="1616937" y="10891"/>
                  </a:lnTo>
                  <a:lnTo>
                    <a:pt x="1664796" y="7208"/>
                  </a:lnTo>
                  <a:lnTo>
                    <a:pt x="1712952" y="4251"/>
                  </a:lnTo>
                  <a:lnTo>
                    <a:pt x="1761417" y="2047"/>
                  </a:lnTo>
                  <a:lnTo>
                    <a:pt x="1810202" y="621"/>
                  </a:lnTo>
                  <a:lnTo>
                    <a:pt x="1859318" y="0"/>
                  </a:lnTo>
                  <a:lnTo>
                    <a:pt x="1908776" y="208"/>
                  </a:lnTo>
                  <a:lnTo>
                    <a:pt x="1958587" y="1272"/>
                  </a:lnTo>
                  <a:lnTo>
                    <a:pt x="2008762" y="3218"/>
                  </a:lnTo>
                  <a:lnTo>
                    <a:pt x="2059313" y="6072"/>
                  </a:lnTo>
                  <a:lnTo>
                    <a:pt x="2110251" y="9858"/>
                  </a:lnTo>
                  <a:lnTo>
                    <a:pt x="2161586" y="14604"/>
                  </a:lnTo>
                  <a:lnTo>
                    <a:pt x="2213330" y="20335"/>
                  </a:lnTo>
                  <a:lnTo>
                    <a:pt x="2282144" y="27272"/>
                  </a:lnTo>
                  <a:lnTo>
                    <a:pt x="2343884" y="31040"/>
                  </a:lnTo>
                  <a:lnTo>
                    <a:pt x="2399815" y="32249"/>
                  </a:lnTo>
                  <a:lnTo>
                    <a:pt x="2451200" y="31509"/>
                  </a:lnTo>
                  <a:lnTo>
                    <a:pt x="2499302" y="29432"/>
                  </a:lnTo>
                  <a:lnTo>
                    <a:pt x="2545385" y="26626"/>
                  </a:lnTo>
                  <a:lnTo>
                    <a:pt x="2590712" y="23704"/>
                  </a:lnTo>
                  <a:lnTo>
                    <a:pt x="2636547" y="21274"/>
                  </a:lnTo>
                  <a:lnTo>
                    <a:pt x="2684152" y="19948"/>
                  </a:lnTo>
                  <a:lnTo>
                    <a:pt x="2734792" y="20335"/>
                  </a:lnTo>
                  <a:lnTo>
                    <a:pt x="2787709" y="21145"/>
                  </a:lnTo>
                  <a:lnTo>
                    <a:pt x="2841133" y="20896"/>
                  </a:lnTo>
                  <a:lnTo>
                    <a:pt x="2894810" y="19919"/>
                  </a:lnTo>
                  <a:lnTo>
                    <a:pt x="2948485" y="18543"/>
                  </a:lnTo>
                  <a:lnTo>
                    <a:pt x="3001905" y="17097"/>
                  </a:lnTo>
                  <a:lnTo>
                    <a:pt x="3054814" y="15910"/>
                  </a:lnTo>
                  <a:lnTo>
                    <a:pt x="3106958" y="15311"/>
                  </a:lnTo>
                  <a:lnTo>
                    <a:pt x="3158082" y="15629"/>
                  </a:lnTo>
                  <a:lnTo>
                    <a:pt x="3207932" y="17194"/>
                  </a:lnTo>
                  <a:lnTo>
                    <a:pt x="3256254" y="20335"/>
                  </a:lnTo>
                  <a:lnTo>
                    <a:pt x="3284528" y="22163"/>
                  </a:lnTo>
                  <a:lnTo>
                    <a:pt x="3318964" y="23436"/>
                  </a:lnTo>
                  <a:lnTo>
                    <a:pt x="3358941" y="24217"/>
                  </a:lnTo>
                  <a:lnTo>
                    <a:pt x="3403836" y="24568"/>
                  </a:lnTo>
                  <a:lnTo>
                    <a:pt x="3453027" y="24550"/>
                  </a:lnTo>
                  <a:lnTo>
                    <a:pt x="3505893" y="24226"/>
                  </a:lnTo>
                  <a:lnTo>
                    <a:pt x="3561812" y="23658"/>
                  </a:lnTo>
                  <a:lnTo>
                    <a:pt x="3620161" y="22907"/>
                  </a:lnTo>
                  <a:lnTo>
                    <a:pt x="3680319" y="22035"/>
                  </a:lnTo>
                  <a:lnTo>
                    <a:pt x="3741664" y="21105"/>
                  </a:lnTo>
                  <a:lnTo>
                    <a:pt x="3803575" y="20179"/>
                  </a:lnTo>
                  <a:lnTo>
                    <a:pt x="3865428" y="19318"/>
                  </a:lnTo>
                  <a:lnTo>
                    <a:pt x="3926602" y="18585"/>
                  </a:lnTo>
                  <a:lnTo>
                    <a:pt x="3986476" y="18041"/>
                  </a:lnTo>
                  <a:lnTo>
                    <a:pt x="4044428" y="17749"/>
                  </a:lnTo>
                  <a:lnTo>
                    <a:pt x="4099834" y="17770"/>
                  </a:lnTo>
                  <a:lnTo>
                    <a:pt x="4152074" y="18167"/>
                  </a:lnTo>
                  <a:lnTo>
                    <a:pt x="4200526" y="19002"/>
                  </a:lnTo>
                  <a:lnTo>
                    <a:pt x="4244568" y="20335"/>
                  </a:lnTo>
                  <a:lnTo>
                    <a:pt x="4245457" y="29352"/>
                  </a:lnTo>
                  <a:lnTo>
                    <a:pt x="4244060" y="29733"/>
                  </a:lnTo>
                  <a:lnTo>
                    <a:pt x="4244568" y="38623"/>
                  </a:lnTo>
                  <a:lnTo>
                    <a:pt x="4202478" y="40923"/>
                  </a:lnTo>
                  <a:lnTo>
                    <a:pt x="4161121" y="41996"/>
                  </a:lnTo>
                  <a:lnTo>
                    <a:pt x="4119944" y="42073"/>
                  </a:lnTo>
                  <a:lnTo>
                    <a:pt x="4078391" y="41383"/>
                  </a:lnTo>
                  <a:lnTo>
                    <a:pt x="4035905" y="40156"/>
                  </a:lnTo>
                  <a:lnTo>
                    <a:pt x="3991933" y="38623"/>
                  </a:lnTo>
                  <a:lnTo>
                    <a:pt x="3945919" y="37014"/>
                  </a:lnTo>
                  <a:lnTo>
                    <a:pt x="3897307" y="35557"/>
                  </a:lnTo>
                  <a:lnTo>
                    <a:pt x="3845543" y="34484"/>
                  </a:lnTo>
                  <a:lnTo>
                    <a:pt x="3790071" y="34024"/>
                  </a:lnTo>
                  <a:lnTo>
                    <a:pt x="3730335" y="34408"/>
                  </a:lnTo>
                  <a:lnTo>
                    <a:pt x="3665780" y="35864"/>
                  </a:lnTo>
                  <a:lnTo>
                    <a:pt x="3595852" y="38623"/>
                  </a:lnTo>
                  <a:lnTo>
                    <a:pt x="3524000" y="41374"/>
                  </a:lnTo>
                  <a:lnTo>
                    <a:pt x="3464753" y="42328"/>
                  </a:lnTo>
                  <a:lnTo>
                    <a:pt x="3415879" y="41874"/>
                  </a:lnTo>
                  <a:lnTo>
                    <a:pt x="3375145" y="40401"/>
                  </a:lnTo>
                  <a:lnTo>
                    <a:pt x="3340318" y="38299"/>
                  </a:lnTo>
                  <a:lnTo>
                    <a:pt x="3309165" y="35956"/>
                  </a:lnTo>
                  <a:lnTo>
                    <a:pt x="3279455" y="33762"/>
                  </a:lnTo>
                  <a:lnTo>
                    <a:pt x="3248954" y="32104"/>
                  </a:lnTo>
                  <a:lnTo>
                    <a:pt x="3215430" y="31372"/>
                  </a:lnTo>
                  <a:lnTo>
                    <a:pt x="3176649" y="31956"/>
                  </a:lnTo>
                  <a:lnTo>
                    <a:pt x="3130380" y="34243"/>
                  </a:lnTo>
                  <a:lnTo>
                    <a:pt x="3074390" y="38623"/>
                  </a:lnTo>
                  <a:lnTo>
                    <a:pt x="3011533" y="43264"/>
                  </a:lnTo>
                  <a:lnTo>
                    <a:pt x="2956391" y="45409"/>
                  </a:lnTo>
                  <a:lnTo>
                    <a:pt x="2907423" y="45583"/>
                  </a:lnTo>
                  <a:lnTo>
                    <a:pt x="2863087" y="44306"/>
                  </a:lnTo>
                  <a:lnTo>
                    <a:pt x="2821841" y="42101"/>
                  </a:lnTo>
                  <a:lnTo>
                    <a:pt x="2782144" y="39491"/>
                  </a:lnTo>
                  <a:lnTo>
                    <a:pt x="2742454" y="36996"/>
                  </a:lnTo>
                  <a:lnTo>
                    <a:pt x="2701230" y="35140"/>
                  </a:lnTo>
                  <a:lnTo>
                    <a:pt x="2656928" y="34445"/>
                  </a:lnTo>
                  <a:lnTo>
                    <a:pt x="2608008" y="35432"/>
                  </a:lnTo>
                  <a:lnTo>
                    <a:pt x="2552928" y="38623"/>
                  </a:lnTo>
                  <a:lnTo>
                    <a:pt x="2504234" y="41866"/>
                  </a:lnTo>
                  <a:lnTo>
                    <a:pt x="2457173" y="44113"/>
                  </a:lnTo>
                  <a:lnTo>
                    <a:pt x="2411243" y="45491"/>
                  </a:lnTo>
                  <a:lnTo>
                    <a:pt x="2365945" y="46121"/>
                  </a:lnTo>
                  <a:lnTo>
                    <a:pt x="2320777" y="46129"/>
                  </a:lnTo>
                  <a:lnTo>
                    <a:pt x="2275240" y="45637"/>
                  </a:lnTo>
                  <a:lnTo>
                    <a:pt x="2228832" y="44771"/>
                  </a:lnTo>
                  <a:lnTo>
                    <a:pt x="2181054" y="43653"/>
                  </a:lnTo>
                  <a:lnTo>
                    <a:pt x="2131405" y="42407"/>
                  </a:lnTo>
                  <a:lnTo>
                    <a:pt x="2079383" y="41157"/>
                  </a:lnTo>
                  <a:lnTo>
                    <a:pt x="2024490" y="40027"/>
                  </a:lnTo>
                  <a:lnTo>
                    <a:pt x="1966224" y="39142"/>
                  </a:lnTo>
                  <a:lnTo>
                    <a:pt x="1904085" y="38623"/>
                  </a:lnTo>
                  <a:lnTo>
                    <a:pt x="1847480" y="38472"/>
                  </a:lnTo>
                  <a:lnTo>
                    <a:pt x="1796261" y="38530"/>
                  </a:lnTo>
                  <a:lnTo>
                    <a:pt x="1749359" y="38752"/>
                  </a:lnTo>
                  <a:lnTo>
                    <a:pt x="1705707" y="39090"/>
                  </a:lnTo>
                  <a:lnTo>
                    <a:pt x="1664237" y="39498"/>
                  </a:lnTo>
                  <a:lnTo>
                    <a:pt x="1623880" y="39930"/>
                  </a:lnTo>
                  <a:lnTo>
                    <a:pt x="1583569" y="40338"/>
                  </a:lnTo>
                  <a:lnTo>
                    <a:pt x="1542235" y="40676"/>
                  </a:lnTo>
                  <a:lnTo>
                    <a:pt x="1498811" y="40898"/>
                  </a:lnTo>
                  <a:lnTo>
                    <a:pt x="1452228" y="40956"/>
                  </a:lnTo>
                  <a:lnTo>
                    <a:pt x="1401419" y="40804"/>
                  </a:lnTo>
                  <a:lnTo>
                    <a:pt x="1345315" y="40396"/>
                  </a:lnTo>
                  <a:lnTo>
                    <a:pt x="1282848" y="39685"/>
                  </a:lnTo>
                  <a:lnTo>
                    <a:pt x="1212951" y="38623"/>
                  </a:lnTo>
                  <a:lnTo>
                    <a:pt x="1119430" y="37132"/>
                  </a:lnTo>
                  <a:lnTo>
                    <a:pt x="1044051" y="36124"/>
                  </a:lnTo>
                  <a:lnTo>
                    <a:pt x="983814" y="35543"/>
                  </a:lnTo>
                  <a:lnTo>
                    <a:pt x="935715" y="35332"/>
                  </a:lnTo>
                  <a:lnTo>
                    <a:pt x="896753" y="35433"/>
                  </a:lnTo>
                  <a:lnTo>
                    <a:pt x="863925" y="35789"/>
                  </a:lnTo>
                  <a:lnTo>
                    <a:pt x="834228" y="36343"/>
                  </a:lnTo>
                  <a:lnTo>
                    <a:pt x="804661" y="37038"/>
                  </a:lnTo>
                  <a:lnTo>
                    <a:pt x="772222" y="37818"/>
                  </a:lnTo>
                  <a:lnTo>
                    <a:pt x="733907" y="38623"/>
                  </a:lnTo>
                  <a:lnTo>
                    <a:pt x="699797" y="39066"/>
                  </a:lnTo>
                  <a:lnTo>
                    <a:pt x="658549" y="39277"/>
                  </a:lnTo>
                  <a:lnTo>
                    <a:pt x="611245" y="39297"/>
                  </a:lnTo>
                  <a:lnTo>
                    <a:pt x="558963" y="39168"/>
                  </a:lnTo>
                  <a:lnTo>
                    <a:pt x="502787" y="38930"/>
                  </a:lnTo>
                  <a:lnTo>
                    <a:pt x="443795" y="38623"/>
                  </a:lnTo>
                  <a:lnTo>
                    <a:pt x="383070" y="38290"/>
                  </a:lnTo>
                  <a:lnTo>
                    <a:pt x="321691" y="37970"/>
                  </a:lnTo>
                  <a:lnTo>
                    <a:pt x="260740" y="37705"/>
                  </a:lnTo>
                  <a:lnTo>
                    <a:pt x="201298" y="37535"/>
                  </a:lnTo>
                  <a:lnTo>
                    <a:pt x="144444" y="37501"/>
                  </a:lnTo>
                  <a:lnTo>
                    <a:pt x="91261" y="37644"/>
                  </a:lnTo>
                  <a:lnTo>
                    <a:pt x="42829" y="38004"/>
                  </a:lnTo>
                  <a:lnTo>
                    <a:pt x="228" y="38623"/>
                  </a:lnTo>
                  <a:lnTo>
                    <a:pt x="0" y="34559"/>
                  </a:lnTo>
                  <a:lnTo>
                    <a:pt x="736" y="26177"/>
                  </a:lnTo>
                  <a:lnTo>
                    <a:pt x="228" y="20335"/>
                  </a:lnTo>
                  <a:close/>
                </a:path>
              </a:pathLst>
            </a:custGeom>
            <a:ln w="4127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18819" y="2604640"/>
            <a:ext cx="6550659" cy="3658870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266065" indent="-253365">
              <a:lnSpc>
                <a:spcPct val="100000"/>
              </a:lnSpc>
              <a:spcBef>
                <a:spcPts val="860"/>
              </a:spcBef>
              <a:buAutoNum type="arabicPeriod"/>
              <a:tabLst>
                <a:tab pos="266065" algn="l"/>
              </a:tabLst>
            </a:pPr>
            <a:r>
              <a:rPr sz="2000" b="1" dirty="0">
                <a:solidFill>
                  <a:srgbClr val="EC7C30"/>
                </a:solidFill>
                <a:latin typeface="Times New Roman"/>
                <a:cs typeface="Times New Roman"/>
              </a:rPr>
              <a:t>Problem</a:t>
            </a:r>
            <a:r>
              <a:rPr sz="2000" b="1" spc="-45" dirty="0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EC7C30"/>
                </a:solidFill>
                <a:latin typeface="Times New Roman"/>
                <a:cs typeface="Times New Roman"/>
              </a:rPr>
              <a:t>of</a:t>
            </a:r>
            <a:r>
              <a:rPr sz="2000" b="1" spc="-25" dirty="0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EC7C30"/>
                </a:solidFill>
                <a:latin typeface="Times New Roman"/>
                <a:cs typeface="Times New Roman"/>
              </a:rPr>
              <a:t>Lost</a:t>
            </a:r>
            <a:r>
              <a:rPr sz="2000" b="1" spc="-30" dirty="0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EC7C30"/>
                </a:solidFill>
                <a:latin typeface="Times New Roman"/>
                <a:cs typeface="Times New Roman"/>
              </a:rPr>
              <a:t>Data</a:t>
            </a:r>
            <a:r>
              <a:rPr sz="2000" b="1" spc="-25" dirty="0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EC7C30"/>
                </a:solidFill>
                <a:latin typeface="Times New Roman"/>
                <a:cs typeface="Times New Roman"/>
              </a:rPr>
              <a:t>Packet-</a:t>
            </a:r>
            <a:endParaRPr sz="2000">
              <a:latin typeface="Times New Roman"/>
              <a:cs typeface="Times New Roman"/>
            </a:endParaRPr>
          </a:p>
          <a:p>
            <a:pPr marL="240665" lvl="1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helps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solve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problem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lost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packet.</a:t>
            </a:r>
            <a:endParaRPr sz="2000">
              <a:latin typeface="Times New Roman"/>
              <a:cs typeface="Times New Roman"/>
            </a:endParaRPr>
          </a:p>
          <a:p>
            <a:pPr marL="240665" marR="264160" lvl="1" indent="-228600">
              <a:lnSpc>
                <a:spcPts val="2160"/>
              </a:lnSpc>
              <a:spcBef>
                <a:spcPts val="104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Times New Roman"/>
                <a:cs typeface="Times New Roman"/>
              </a:rPr>
              <a:t>After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sending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packet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receiver,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sender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starts</a:t>
            </a:r>
            <a:r>
              <a:rPr sz="2000" spc="-25" dirty="0">
                <a:latin typeface="Times New Roman"/>
                <a:cs typeface="Times New Roman"/>
              </a:rPr>
              <a:t> the 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timer.</a:t>
            </a:r>
            <a:endParaRPr sz="2000">
              <a:latin typeface="Times New Roman"/>
              <a:cs typeface="Times New Roman"/>
            </a:endParaRPr>
          </a:p>
          <a:p>
            <a:pPr marL="240665" marR="5080" lvl="1" indent="-228600">
              <a:lnSpc>
                <a:spcPts val="2160"/>
              </a:lnSpc>
              <a:spcBef>
                <a:spcPts val="100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packet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gets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acknowledged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before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timer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expires, </a:t>
            </a:r>
            <a:r>
              <a:rPr sz="2000" dirty="0">
                <a:latin typeface="Times New Roman"/>
                <a:cs typeface="Times New Roman"/>
              </a:rPr>
              <a:t>sender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stops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timer.</a:t>
            </a:r>
            <a:endParaRPr sz="2000">
              <a:latin typeface="Times New Roman"/>
              <a:cs typeface="Times New Roman"/>
            </a:endParaRPr>
          </a:p>
          <a:p>
            <a:pPr marL="240665" marR="213360" lvl="1" indent="-228600">
              <a:lnSpc>
                <a:spcPts val="2160"/>
              </a:lnSpc>
              <a:spcBef>
                <a:spcPts val="994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timer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goes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before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receiving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acknowledgement, </a:t>
            </a:r>
            <a:r>
              <a:rPr sz="2000" dirty="0">
                <a:latin typeface="Times New Roman"/>
                <a:cs typeface="Times New Roman"/>
              </a:rPr>
              <a:t>sender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retransmits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same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packet.</a:t>
            </a:r>
            <a:endParaRPr sz="2000">
              <a:latin typeface="Times New Roman"/>
              <a:cs typeface="Times New Roman"/>
            </a:endParaRPr>
          </a:p>
          <a:p>
            <a:pPr marL="240665" lvl="1" indent="-227965">
              <a:lnSpc>
                <a:spcPct val="100000"/>
              </a:lnSpc>
              <a:spcBef>
                <a:spcPts val="74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Times New Roman"/>
                <a:cs typeface="Times New Roman"/>
              </a:rPr>
              <a:t>After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retransmission,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sender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resets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timer.</a:t>
            </a:r>
            <a:endParaRPr sz="2000">
              <a:latin typeface="Times New Roman"/>
              <a:cs typeface="Times New Roman"/>
            </a:endParaRPr>
          </a:p>
          <a:p>
            <a:pPr marL="240665" lvl="1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prevents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occurrence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deadlock.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40572" y="541586"/>
            <a:ext cx="3588105" cy="259447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02441" y="3482508"/>
            <a:ext cx="3555556" cy="27556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8819" y="415797"/>
            <a:ext cx="6628130" cy="164846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560"/>
              </a:spcBef>
            </a:pPr>
            <a:r>
              <a:rPr sz="3800" b="1" dirty="0">
                <a:latin typeface="Times New Roman"/>
                <a:cs typeface="Times New Roman"/>
              </a:rPr>
              <a:t>How</a:t>
            </a:r>
            <a:r>
              <a:rPr sz="3800" b="1" spc="-80" dirty="0">
                <a:latin typeface="Times New Roman"/>
                <a:cs typeface="Times New Roman"/>
              </a:rPr>
              <a:t> </a:t>
            </a:r>
            <a:r>
              <a:rPr sz="3800" b="1" dirty="0">
                <a:latin typeface="Times New Roman"/>
                <a:cs typeface="Times New Roman"/>
              </a:rPr>
              <a:t>Stop</a:t>
            </a:r>
            <a:r>
              <a:rPr sz="3800" b="1" spc="10" dirty="0">
                <a:latin typeface="Times New Roman"/>
                <a:cs typeface="Times New Roman"/>
              </a:rPr>
              <a:t> </a:t>
            </a:r>
            <a:r>
              <a:rPr sz="3800" b="1" dirty="0">
                <a:latin typeface="Times New Roman"/>
                <a:cs typeface="Times New Roman"/>
              </a:rPr>
              <a:t>and</a:t>
            </a:r>
            <a:r>
              <a:rPr sz="3800" b="1" spc="-75" dirty="0">
                <a:latin typeface="Times New Roman"/>
                <a:cs typeface="Times New Roman"/>
              </a:rPr>
              <a:t> </a:t>
            </a:r>
            <a:r>
              <a:rPr sz="3800" b="1" spc="-70" dirty="0">
                <a:latin typeface="Times New Roman"/>
                <a:cs typeface="Times New Roman"/>
              </a:rPr>
              <a:t>Wait</a:t>
            </a:r>
            <a:r>
              <a:rPr sz="3800" b="1" spc="-165" dirty="0">
                <a:latin typeface="Times New Roman"/>
                <a:cs typeface="Times New Roman"/>
              </a:rPr>
              <a:t> </a:t>
            </a:r>
            <a:r>
              <a:rPr sz="3800" b="1" dirty="0">
                <a:latin typeface="Times New Roman"/>
                <a:cs typeface="Times New Roman"/>
              </a:rPr>
              <a:t>ARQ</a:t>
            </a:r>
            <a:r>
              <a:rPr sz="3800" b="1" spc="10" dirty="0">
                <a:latin typeface="Times New Roman"/>
                <a:cs typeface="Times New Roman"/>
              </a:rPr>
              <a:t> </a:t>
            </a:r>
            <a:r>
              <a:rPr sz="3800" b="1" spc="-10" dirty="0">
                <a:latin typeface="Times New Roman"/>
                <a:cs typeface="Times New Roman"/>
              </a:rPr>
              <a:t>Solves </a:t>
            </a:r>
            <a:r>
              <a:rPr sz="3800" b="1" dirty="0">
                <a:latin typeface="Times New Roman"/>
                <a:cs typeface="Times New Roman"/>
              </a:rPr>
              <a:t>The</a:t>
            </a:r>
            <a:r>
              <a:rPr sz="3800" b="1" spc="-25" dirty="0">
                <a:latin typeface="Times New Roman"/>
                <a:cs typeface="Times New Roman"/>
              </a:rPr>
              <a:t> </a:t>
            </a:r>
            <a:r>
              <a:rPr sz="3800" b="1" dirty="0">
                <a:latin typeface="Times New Roman"/>
                <a:cs typeface="Times New Roman"/>
              </a:rPr>
              <a:t>Problems</a:t>
            </a:r>
            <a:r>
              <a:rPr sz="3800" b="1" spc="-50" dirty="0">
                <a:latin typeface="Times New Roman"/>
                <a:cs typeface="Times New Roman"/>
              </a:rPr>
              <a:t> </a:t>
            </a:r>
            <a:r>
              <a:rPr sz="3800" b="1" dirty="0">
                <a:latin typeface="Times New Roman"/>
                <a:cs typeface="Times New Roman"/>
              </a:rPr>
              <a:t>of</a:t>
            </a:r>
            <a:r>
              <a:rPr sz="3800" b="1" spc="-15" dirty="0">
                <a:latin typeface="Times New Roman"/>
                <a:cs typeface="Times New Roman"/>
              </a:rPr>
              <a:t> </a:t>
            </a:r>
            <a:r>
              <a:rPr sz="3800" b="1" dirty="0">
                <a:latin typeface="Times New Roman"/>
                <a:cs typeface="Times New Roman"/>
              </a:rPr>
              <a:t>Stop</a:t>
            </a:r>
            <a:r>
              <a:rPr sz="3800" b="1" spc="-40" dirty="0">
                <a:latin typeface="Times New Roman"/>
                <a:cs typeface="Times New Roman"/>
              </a:rPr>
              <a:t> </a:t>
            </a:r>
            <a:r>
              <a:rPr sz="3800" b="1" dirty="0">
                <a:latin typeface="Times New Roman"/>
                <a:cs typeface="Times New Roman"/>
              </a:rPr>
              <a:t>and</a:t>
            </a:r>
            <a:r>
              <a:rPr sz="3800" b="1" spc="-100" dirty="0">
                <a:latin typeface="Times New Roman"/>
                <a:cs typeface="Times New Roman"/>
              </a:rPr>
              <a:t> </a:t>
            </a:r>
            <a:r>
              <a:rPr sz="3800" b="1" spc="-20" dirty="0">
                <a:latin typeface="Times New Roman"/>
                <a:cs typeface="Times New Roman"/>
              </a:rPr>
              <a:t>Wait </a:t>
            </a:r>
            <a:r>
              <a:rPr sz="3800" b="1" dirty="0">
                <a:latin typeface="Times New Roman"/>
                <a:cs typeface="Times New Roman"/>
              </a:rPr>
              <a:t>Protocol</a:t>
            </a:r>
            <a:r>
              <a:rPr sz="3800" b="1" spc="-140" dirty="0">
                <a:latin typeface="Times New Roman"/>
                <a:cs typeface="Times New Roman"/>
              </a:rPr>
              <a:t> </a:t>
            </a:r>
            <a:r>
              <a:rPr sz="3800" b="1" spc="-50" dirty="0">
                <a:latin typeface="Times New Roman"/>
                <a:cs typeface="Times New Roman"/>
              </a:rPr>
              <a:t>?</a:t>
            </a:r>
            <a:endParaRPr sz="38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38847" y="2355516"/>
            <a:ext cx="4286885" cy="87630"/>
            <a:chOff x="738847" y="2355516"/>
            <a:chExt cx="4286885" cy="87630"/>
          </a:xfrm>
        </p:grpSpPr>
        <p:sp>
          <p:nvSpPr>
            <p:cNvPr id="4" name="object 4"/>
            <p:cNvSpPr/>
            <p:nvPr/>
          </p:nvSpPr>
          <p:spPr>
            <a:xfrm>
              <a:off x="759256" y="2382685"/>
              <a:ext cx="4244975" cy="48895"/>
            </a:xfrm>
            <a:custGeom>
              <a:avLst/>
              <a:gdLst/>
              <a:ahLst/>
              <a:cxnLst/>
              <a:rect l="l" t="t" r="r" b="b"/>
              <a:pathLst>
                <a:path w="4244975" h="48894">
                  <a:moveTo>
                    <a:pt x="2874048" y="21932"/>
                  </a:moveTo>
                  <a:lnTo>
                    <a:pt x="2039899" y="21932"/>
                  </a:lnTo>
                  <a:lnTo>
                    <a:pt x="2085390" y="23184"/>
                  </a:lnTo>
                  <a:lnTo>
                    <a:pt x="2144289" y="26529"/>
                  </a:lnTo>
                  <a:lnTo>
                    <a:pt x="2143840" y="26529"/>
                  </a:lnTo>
                  <a:lnTo>
                    <a:pt x="2277301" y="37472"/>
                  </a:lnTo>
                  <a:lnTo>
                    <a:pt x="2334813" y="41695"/>
                  </a:lnTo>
                  <a:lnTo>
                    <a:pt x="2387099" y="44843"/>
                  </a:lnTo>
                  <a:lnTo>
                    <a:pt x="2435166" y="46998"/>
                  </a:lnTo>
                  <a:lnTo>
                    <a:pt x="2483209" y="48332"/>
                  </a:lnTo>
                  <a:lnTo>
                    <a:pt x="2522659" y="48660"/>
                  </a:lnTo>
                  <a:lnTo>
                    <a:pt x="2564095" y="48332"/>
                  </a:lnTo>
                  <a:lnTo>
                    <a:pt x="2605330" y="47340"/>
                  </a:lnTo>
                  <a:lnTo>
                    <a:pt x="2691221" y="43699"/>
                  </a:lnTo>
                  <a:lnTo>
                    <a:pt x="2966766" y="29332"/>
                  </a:lnTo>
                  <a:lnTo>
                    <a:pt x="3024960" y="27517"/>
                  </a:lnTo>
                  <a:lnTo>
                    <a:pt x="3079689" y="26529"/>
                  </a:lnTo>
                  <a:lnTo>
                    <a:pt x="3776314" y="26238"/>
                  </a:lnTo>
                  <a:lnTo>
                    <a:pt x="3792349" y="25615"/>
                  </a:lnTo>
                  <a:lnTo>
                    <a:pt x="3770364" y="25615"/>
                  </a:lnTo>
                  <a:lnTo>
                    <a:pt x="3692717" y="24829"/>
                  </a:lnTo>
                  <a:lnTo>
                    <a:pt x="3704799" y="24829"/>
                  </a:lnTo>
                  <a:lnTo>
                    <a:pt x="3661715" y="23820"/>
                  </a:lnTo>
                  <a:lnTo>
                    <a:pt x="3659842" y="23820"/>
                  </a:lnTo>
                  <a:lnTo>
                    <a:pt x="3621082" y="22367"/>
                  </a:lnTo>
                  <a:lnTo>
                    <a:pt x="2892225" y="22367"/>
                  </a:lnTo>
                  <a:lnTo>
                    <a:pt x="2874048" y="21932"/>
                  </a:lnTo>
                  <a:close/>
                </a:path>
                <a:path w="4244975" h="48894">
                  <a:moveTo>
                    <a:pt x="817228" y="1961"/>
                  </a:moveTo>
                  <a:lnTo>
                    <a:pt x="765314" y="1961"/>
                  </a:lnTo>
                  <a:lnTo>
                    <a:pt x="718026" y="3333"/>
                  </a:lnTo>
                  <a:lnTo>
                    <a:pt x="663694" y="5806"/>
                  </a:lnTo>
                  <a:lnTo>
                    <a:pt x="449294" y="17864"/>
                  </a:lnTo>
                  <a:lnTo>
                    <a:pt x="343138" y="22736"/>
                  </a:lnTo>
                  <a:lnTo>
                    <a:pt x="380587" y="24118"/>
                  </a:lnTo>
                  <a:lnTo>
                    <a:pt x="448140" y="27517"/>
                  </a:lnTo>
                  <a:lnTo>
                    <a:pt x="587132" y="36116"/>
                  </a:lnTo>
                  <a:lnTo>
                    <a:pt x="643893" y="38872"/>
                  </a:lnTo>
                  <a:lnTo>
                    <a:pt x="694088" y="40514"/>
                  </a:lnTo>
                  <a:lnTo>
                    <a:pt x="740785" y="41214"/>
                  </a:lnTo>
                  <a:lnTo>
                    <a:pt x="774746" y="41214"/>
                  </a:lnTo>
                  <a:lnTo>
                    <a:pt x="824157" y="40301"/>
                  </a:lnTo>
                  <a:lnTo>
                    <a:pt x="1342906" y="26529"/>
                  </a:lnTo>
                  <a:lnTo>
                    <a:pt x="1340595" y="26529"/>
                  </a:lnTo>
                  <a:lnTo>
                    <a:pt x="1389766" y="25900"/>
                  </a:lnTo>
                  <a:lnTo>
                    <a:pt x="1383921" y="25900"/>
                  </a:lnTo>
                  <a:lnTo>
                    <a:pt x="1705011" y="25615"/>
                  </a:lnTo>
                  <a:lnTo>
                    <a:pt x="1657757" y="24599"/>
                  </a:lnTo>
                  <a:lnTo>
                    <a:pt x="1656185" y="24599"/>
                  </a:lnTo>
                  <a:lnTo>
                    <a:pt x="1609401" y="22367"/>
                  </a:lnTo>
                  <a:lnTo>
                    <a:pt x="1565213" y="18851"/>
                  </a:lnTo>
                  <a:lnTo>
                    <a:pt x="1560085" y="18248"/>
                  </a:lnTo>
                  <a:lnTo>
                    <a:pt x="1111492" y="18248"/>
                  </a:lnTo>
                  <a:lnTo>
                    <a:pt x="1060472" y="17464"/>
                  </a:lnTo>
                  <a:lnTo>
                    <a:pt x="1057167" y="17464"/>
                  </a:lnTo>
                  <a:lnTo>
                    <a:pt x="1000963" y="13804"/>
                  </a:lnTo>
                  <a:lnTo>
                    <a:pt x="943953" y="8732"/>
                  </a:lnTo>
                  <a:lnTo>
                    <a:pt x="894879" y="5075"/>
                  </a:lnTo>
                  <a:lnTo>
                    <a:pt x="850745" y="2769"/>
                  </a:lnTo>
                  <a:lnTo>
                    <a:pt x="817228" y="1961"/>
                  </a:lnTo>
                  <a:close/>
                </a:path>
                <a:path w="4244975" h="48894">
                  <a:moveTo>
                    <a:pt x="2660638" y="1961"/>
                  </a:moveTo>
                  <a:lnTo>
                    <a:pt x="2454296" y="1961"/>
                  </a:lnTo>
                  <a:lnTo>
                    <a:pt x="1848457" y="23501"/>
                  </a:lnTo>
                  <a:lnTo>
                    <a:pt x="1847868" y="23501"/>
                  </a:lnTo>
                  <a:lnTo>
                    <a:pt x="1798673" y="24829"/>
                  </a:lnTo>
                  <a:lnTo>
                    <a:pt x="1747186" y="25615"/>
                  </a:lnTo>
                  <a:lnTo>
                    <a:pt x="1537794" y="25900"/>
                  </a:lnTo>
                  <a:lnTo>
                    <a:pt x="1536898" y="25900"/>
                  </a:lnTo>
                  <a:lnTo>
                    <a:pt x="1631904" y="27964"/>
                  </a:lnTo>
                  <a:lnTo>
                    <a:pt x="1786803" y="33959"/>
                  </a:lnTo>
                  <a:lnTo>
                    <a:pt x="1828975" y="34120"/>
                  </a:lnTo>
                  <a:lnTo>
                    <a:pt x="1863390" y="32985"/>
                  </a:lnTo>
                  <a:lnTo>
                    <a:pt x="1892409" y="30963"/>
                  </a:lnTo>
                  <a:lnTo>
                    <a:pt x="1943700" y="25900"/>
                  </a:lnTo>
                  <a:lnTo>
                    <a:pt x="1968989" y="23820"/>
                  </a:lnTo>
                  <a:lnTo>
                    <a:pt x="1967725" y="23820"/>
                  </a:lnTo>
                  <a:lnTo>
                    <a:pt x="1998483" y="22367"/>
                  </a:lnTo>
                  <a:lnTo>
                    <a:pt x="1982709" y="22367"/>
                  </a:lnTo>
                  <a:lnTo>
                    <a:pt x="2874048" y="21932"/>
                  </a:lnTo>
                  <a:lnTo>
                    <a:pt x="2847201" y="21288"/>
                  </a:lnTo>
                  <a:lnTo>
                    <a:pt x="2811555" y="18610"/>
                  </a:lnTo>
                  <a:lnTo>
                    <a:pt x="2739779" y="8214"/>
                  </a:lnTo>
                  <a:lnTo>
                    <a:pt x="2698929" y="4220"/>
                  </a:lnTo>
                  <a:lnTo>
                    <a:pt x="2660638" y="1961"/>
                  </a:lnTo>
                  <a:close/>
                </a:path>
                <a:path w="4244975" h="48894">
                  <a:moveTo>
                    <a:pt x="3749679" y="27266"/>
                  </a:moveTo>
                  <a:lnTo>
                    <a:pt x="3230546" y="27266"/>
                  </a:lnTo>
                  <a:lnTo>
                    <a:pt x="3278139" y="28294"/>
                  </a:lnTo>
                  <a:lnTo>
                    <a:pt x="3277361" y="28294"/>
                  </a:lnTo>
                  <a:lnTo>
                    <a:pt x="3498053" y="32845"/>
                  </a:lnTo>
                  <a:lnTo>
                    <a:pt x="3541916" y="32845"/>
                  </a:lnTo>
                  <a:lnTo>
                    <a:pt x="3596081" y="32092"/>
                  </a:lnTo>
                  <a:lnTo>
                    <a:pt x="3749679" y="27266"/>
                  </a:lnTo>
                  <a:close/>
                </a:path>
                <a:path w="4244975" h="48894">
                  <a:moveTo>
                    <a:pt x="457" y="13804"/>
                  </a:moveTo>
                  <a:lnTo>
                    <a:pt x="340" y="15876"/>
                  </a:lnTo>
                  <a:lnTo>
                    <a:pt x="228" y="17864"/>
                  </a:lnTo>
                  <a:lnTo>
                    <a:pt x="107" y="20027"/>
                  </a:lnTo>
                  <a:lnTo>
                    <a:pt x="0" y="21932"/>
                  </a:lnTo>
                  <a:lnTo>
                    <a:pt x="1219" y="24599"/>
                  </a:lnTo>
                  <a:lnTo>
                    <a:pt x="1150" y="25270"/>
                  </a:lnTo>
                  <a:lnTo>
                    <a:pt x="1052" y="26238"/>
                  </a:lnTo>
                  <a:lnTo>
                    <a:pt x="947" y="27266"/>
                  </a:lnTo>
                  <a:lnTo>
                    <a:pt x="877" y="27964"/>
                  </a:lnTo>
                  <a:lnTo>
                    <a:pt x="771" y="29005"/>
                  </a:lnTo>
                  <a:lnTo>
                    <a:pt x="695" y="29748"/>
                  </a:lnTo>
                  <a:lnTo>
                    <a:pt x="572" y="30963"/>
                  </a:lnTo>
                  <a:lnTo>
                    <a:pt x="457" y="32092"/>
                  </a:lnTo>
                  <a:lnTo>
                    <a:pt x="36749" y="28294"/>
                  </a:lnTo>
                  <a:lnTo>
                    <a:pt x="36576" y="28294"/>
                  </a:lnTo>
                  <a:lnTo>
                    <a:pt x="73747" y="25270"/>
                  </a:lnTo>
                  <a:lnTo>
                    <a:pt x="72756" y="25270"/>
                  </a:lnTo>
                  <a:lnTo>
                    <a:pt x="111365" y="23028"/>
                  </a:lnTo>
                  <a:lnTo>
                    <a:pt x="85917" y="21646"/>
                  </a:lnTo>
                  <a:lnTo>
                    <a:pt x="43102" y="18248"/>
                  </a:lnTo>
                  <a:lnTo>
                    <a:pt x="457" y="13804"/>
                  </a:lnTo>
                  <a:close/>
                </a:path>
                <a:path w="4244975" h="48894">
                  <a:moveTo>
                    <a:pt x="4244797" y="13804"/>
                  </a:moveTo>
                  <a:lnTo>
                    <a:pt x="4199662" y="14646"/>
                  </a:lnTo>
                  <a:lnTo>
                    <a:pt x="4106793" y="17464"/>
                  </a:lnTo>
                  <a:lnTo>
                    <a:pt x="4107027" y="17464"/>
                  </a:lnTo>
                  <a:lnTo>
                    <a:pt x="4025256" y="20442"/>
                  </a:lnTo>
                  <a:lnTo>
                    <a:pt x="4045562" y="20442"/>
                  </a:lnTo>
                  <a:lnTo>
                    <a:pt x="4096051" y="21646"/>
                  </a:lnTo>
                  <a:lnTo>
                    <a:pt x="4095107" y="21646"/>
                  </a:lnTo>
                  <a:lnTo>
                    <a:pt x="4143239" y="23820"/>
                  </a:lnTo>
                  <a:lnTo>
                    <a:pt x="4193398" y="27266"/>
                  </a:lnTo>
                  <a:lnTo>
                    <a:pt x="4244797" y="32092"/>
                  </a:lnTo>
                  <a:lnTo>
                    <a:pt x="4244797" y="13804"/>
                  </a:lnTo>
                  <a:close/>
                </a:path>
                <a:path w="4244975" h="48894">
                  <a:moveTo>
                    <a:pt x="3776314" y="26238"/>
                  </a:moveTo>
                  <a:lnTo>
                    <a:pt x="3131270" y="26238"/>
                  </a:lnTo>
                  <a:lnTo>
                    <a:pt x="3184637" y="26529"/>
                  </a:lnTo>
                  <a:lnTo>
                    <a:pt x="3181947" y="26529"/>
                  </a:lnTo>
                  <a:lnTo>
                    <a:pt x="3231972" y="27266"/>
                  </a:lnTo>
                  <a:lnTo>
                    <a:pt x="3749861" y="27266"/>
                  </a:lnTo>
                  <a:lnTo>
                    <a:pt x="3776314" y="26238"/>
                  </a:lnTo>
                  <a:close/>
                </a:path>
                <a:path w="4244975" h="48894">
                  <a:moveTo>
                    <a:pt x="224892" y="20442"/>
                  </a:moveTo>
                  <a:lnTo>
                    <a:pt x="205466" y="20442"/>
                  </a:lnTo>
                  <a:lnTo>
                    <a:pt x="160337" y="21107"/>
                  </a:lnTo>
                  <a:lnTo>
                    <a:pt x="161309" y="21107"/>
                  </a:lnTo>
                  <a:lnTo>
                    <a:pt x="115653" y="22736"/>
                  </a:lnTo>
                  <a:lnTo>
                    <a:pt x="116400" y="22736"/>
                  </a:lnTo>
                  <a:lnTo>
                    <a:pt x="111365" y="23028"/>
                  </a:lnTo>
                  <a:lnTo>
                    <a:pt x="128322" y="23949"/>
                  </a:lnTo>
                  <a:lnTo>
                    <a:pt x="172728" y="25270"/>
                  </a:lnTo>
                  <a:lnTo>
                    <a:pt x="219549" y="25615"/>
                  </a:lnTo>
                  <a:lnTo>
                    <a:pt x="285184" y="24829"/>
                  </a:lnTo>
                  <a:lnTo>
                    <a:pt x="276365" y="24829"/>
                  </a:lnTo>
                  <a:lnTo>
                    <a:pt x="324100" y="23501"/>
                  </a:lnTo>
                  <a:lnTo>
                    <a:pt x="343138" y="22736"/>
                  </a:lnTo>
                  <a:lnTo>
                    <a:pt x="321363" y="21932"/>
                  </a:lnTo>
                  <a:lnTo>
                    <a:pt x="323221" y="21932"/>
                  </a:lnTo>
                  <a:lnTo>
                    <a:pt x="267171" y="20718"/>
                  </a:lnTo>
                  <a:lnTo>
                    <a:pt x="287131" y="20718"/>
                  </a:lnTo>
                  <a:lnTo>
                    <a:pt x="224892" y="20442"/>
                  </a:lnTo>
                  <a:close/>
                </a:path>
                <a:path w="4244975" h="48894">
                  <a:moveTo>
                    <a:pt x="3997503" y="20195"/>
                  </a:moveTo>
                  <a:lnTo>
                    <a:pt x="3947902" y="20718"/>
                  </a:lnTo>
                  <a:lnTo>
                    <a:pt x="3948821" y="20718"/>
                  </a:lnTo>
                  <a:lnTo>
                    <a:pt x="3895846" y="21932"/>
                  </a:lnTo>
                  <a:lnTo>
                    <a:pt x="3897450" y="21932"/>
                  </a:lnTo>
                  <a:lnTo>
                    <a:pt x="3858034" y="23184"/>
                  </a:lnTo>
                  <a:lnTo>
                    <a:pt x="3857343" y="23184"/>
                  </a:lnTo>
                  <a:lnTo>
                    <a:pt x="3801070" y="25270"/>
                  </a:lnTo>
                  <a:lnTo>
                    <a:pt x="3801212" y="25270"/>
                  </a:lnTo>
                  <a:lnTo>
                    <a:pt x="3792349" y="25615"/>
                  </a:lnTo>
                  <a:lnTo>
                    <a:pt x="3812217" y="25615"/>
                  </a:lnTo>
                  <a:lnTo>
                    <a:pt x="3918611" y="23820"/>
                  </a:lnTo>
                  <a:lnTo>
                    <a:pt x="3919555" y="23820"/>
                  </a:lnTo>
                  <a:lnTo>
                    <a:pt x="3969206" y="22367"/>
                  </a:lnTo>
                  <a:lnTo>
                    <a:pt x="4025256" y="20442"/>
                  </a:lnTo>
                  <a:lnTo>
                    <a:pt x="4045562" y="20442"/>
                  </a:lnTo>
                  <a:lnTo>
                    <a:pt x="3997503" y="20195"/>
                  </a:lnTo>
                  <a:close/>
                </a:path>
                <a:path w="4244975" h="48894">
                  <a:moveTo>
                    <a:pt x="3270595" y="6899"/>
                  </a:moveTo>
                  <a:lnTo>
                    <a:pt x="3211980" y="7750"/>
                  </a:lnTo>
                  <a:lnTo>
                    <a:pt x="3156736" y="9599"/>
                  </a:lnTo>
                  <a:lnTo>
                    <a:pt x="3102580" y="12197"/>
                  </a:lnTo>
                  <a:lnTo>
                    <a:pt x="3102909" y="12197"/>
                  </a:lnTo>
                  <a:lnTo>
                    <a:pt x="2965209" y="20027"/>
                  </a:lnTo>
                  <a:lnTo>
                    <a:pt x="2923901" y="21646"/>
                  </a:lnTo>
                  <a:lnTo>
                    <a:pt x="2871200" y="22367"/>
                  </a:lnTo>
                  <a:lnTo>
                    <a:pt x="3621082" y="22367"/>
                  </a:lnTo>
                  <a:lnTo>
                    <a:pt x="3596913" y="21461"/>
                  </a:lnTo>
                  <a:lnTo>
                    <a:pt x="3535223" y="18248"/>
                  </a:lnTo>
                  <a:lnTo>
                    <a:pt x="3535022" y="18248"/>
                  </a:lnTo>
                  <a:lnTo>
                    <a:pt x="3399090" y="9599"/>
                  </a:lnTo>
                  <a:lnTo>
                    <a:pt x="3399370" y="9599"/>
                  </a:lnTo>
                  <a:lnTo>
                    <a:pt x="3332783" y="7392"/>
                  </a:lnTo>
                  <a:lnTo>
                    <a:pt x="3270595" y="6899"/>
                  </a:lnTo>
                  <a:close/>
                </a:path>
                <a:path w="4244975" h="48894">
                  <a:moveTo>
                    <a:pt x="1473264" y="8732"/>
                  </a:moveTo>
                  <a:lnTo>
                    <a:pt x="1318063" y="8732"/>
                  </a:lnTo>
                  <a:lnTo>
                    <a:pt x="1214475" y="14646"/>
                  </a:lnTo>
                  <a:lnTo>
                    <a:pt x="1214099" y="14646"/>
                  </a:lnTo>
                  <a:lnTo>
                    <a:pt x="1163561" y="17036"/>
                  </a:lnTo>
                  <a:lnTo>
                    <a:pt x="1109485" y="18248"/>
                  </a:lnTo>
                  <a:lnTo>
                    <a:pt x="1560085" y="18248"/>
                  </a:lnTo>
                  <a:lnTo>
                    <a:pt x="1522298" y="13804"/>
                  </a:lnTo>
                  <a:lnTo>
                    <a:pt x="1473264" y="8732"/>
                  </a:lnTo>
                  <a:close/>
                </a:path>
                <a:path w="4244975" h="48894">
                  <a:moveTo>
                    <a:pt x="1421006" y="6452"/>
                  </a:moveTo>
                  <a:lnTo>
                    <a:pt x="1370260" y="6731"/>
                  </a:lnTo>
                  <a:lnTo>
                    <a:pt x="1317500" y="8732"/>
                  </a:lnTo>
                  <a:lnTo>
                    <a:pt x="1475665" y="8732"/>
                  </a:lnTo>
                  <a:lnTo>
                    <a:pt x="1421006" y="6452"/>
                  </a:lnTo>
                  <a:close/>
                </a:path>
                <a:path w="4244975" h="48894">
                  <a:moveTo>
                    <a:pt x="2560376" y="0"/>
                  </a:moveTo>
                  <a:lnTo>
                    <a:pt x="2509902" y="577"/>
                  </a:lnTo>
                  <a:lnTo>
                    <a:pt x="2453007" y="1961"/>
                  </a:lnTo>
                  <a:lnTo>
                    <a:pt x="2666227" y="1961"/>
                  </a:lnTo>
                  <a:lnTo>
                    <a:pt x="2608914" y="294"/>
                  </a:lnTo>
                  <a:lnTo>
                    <a:pt x="2560376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9485" y="2376154"/>
              <a:ext cx="4245610" cy="46355"/>
            </a:xfrm>
            <a:custGeom>
              <a:avLst/>
              <a:gdLst/>
              <a:ahLst/>
              <a:cxnLst/>
              <a:rect l="l" t="t" r="r" b="b"/>
              <a:pathLst>
                <a:path w="4245610" h="46355">
                  <a:moveTo>
                    <a:pt x="228" y="20335"/>
                  </a:moveTo>
                  <a:lnTo>
                    <a:pt x="67222" y="14218"/>
                  </a:lnTo>
                  <a:lnTo>
                    <a:pt x="126992" y="9792"/>
                  </a:lnTo>
                  <a:lnTo>
                    <a:pt x="181158" y="6986"/>
                  </a:lnTo>
                  <a:lnTo>
                    <a:pt x="231342" y="5733"/>
                  </a:lnTo>
                  <a:lnTo>
                    <a:pt x="279164" y="5963"/>
                  </a:lnTo>
                  <a:lnTo>
                    <a:pt x="326244" y="7607"/>
                  </a:lnTo>
                  <a:lnTo>
                    <a:pt x="374202" y="10597"/>
                  </a:lnTo>
                  <a:lnTo>
                    <a:pt x="424658" y="14862"/>
                  </a:lnTo>
                  <a:lnTo>
                    <a:pt x="479234" y="20335"/>
                  </a:lnTo>
                  <a:lnTo>
                    <a:pt x="530894" y="24176"/>
                  </a:lnTo>
                  <a:lnTo>
                    <a:pt x="582729" y="25273"/>
                  </a:lnTo>
                  <a:lnTo>
                    <a:pt x="634360" y="24336"/>
                  </a:lnTo>
                  <a:lnTo>
                    <a:pt x="685406" y="22073"/>
                  </a:lnTo>
                  <a:lnTo>
                    <a:pt x="735490" y="19192"/>
                  </a:lnTo>
                  <a:lnTo>
                    <a:pt x="784231" y="16403"/>
                  </a:lnTo>
                  <a:lnTo>
                    <a:pt x="831251" y="14415"/>
                  </a:lnTo>
                  <a:lnTo>
                    <a:pt x="876170" y="13935"/>
                  </a:lnTo>
                  <a:lnTo>
                    <a:pt x="918609" y="15672"/>
                  </a:lnTo>
                  <a:lnTo>
                    <a:pt x="958189" y="20335"/>
                  </a:lnTo>
                  <a:lnTo>
                    <a:pt x="994961" y="25683"/>
                  </a:lnTo>
                  <a:lnTo>
                    <a:pt x="1035811" y="30120"/>
                  </a:lnTo>
                  <a:lnTo>
                    <a:pt x="1080345" y="33595"/>
                  </a:lnTo>
                  <a:lnTo>
                    <a:pt x="1128171" y="36053"/>
                  </a:lnTo>
                  <a:lnTo>
                    <a:pt x="1178894" y="37442"/>
                  </a:lnTo>
                  <a:lnTo>
                    <a:pt x="1232123" y="37708"/>
                  </a:lnTo>
                  <a:lnTo>
                    <a:pt x="1287462" y="36798"/>
                  </a:lnTo>
                  <a:lnTo>
                    <a:pt x="1344520" y="34659"/>
                  </a:lnTo>
                  <a:lnTo>
                    <a:pt x="1402903" y="31238"/>
                  </a:lnTo>
                  <a:lnTo>
                    <a:pt x="1462217" y="26481"/>
                  </a:lnTo>
                  <a:lnTo>
                    <a:pt x="1522069" y="20335"/>
                  </a:lnTo>
                  <a:lnTo>
                    <a:pt x="1569365" y="15276"/>
                  </a:lnTo>
                  <a:lnTo>
                    <a:pt x="1616937" y="10891"/>
                  </a:lnTo>
                  <a:lnTo>
                    <a:pt x="1664796" y="7208"/>
                  </a:lnTo>
                  <a:lnTo>
                    <a:pt x="1712952" y="4251"/>
                  </a:lnTo>
                  <a:lnTo>
                    <a:pt x="1761417" y="2047"/>
                  </a:lnTo>
                  <a:lnTo>
                    <a:pt x="1810202" y="621"/>
                  </a:lnTo>
                  <a:lnTo>
                    <a:pt x="1859318" y="0"/>
                  </a:lnTo>
                  <a:lnTo>
                    <a:pt x="1908776" y="208"/>
                  </a:lnTo>
                  <a:lnTo>
                    <a:pt x="1958587" y="1272"/>
                  </a:lnTo>
                  <a:lnTo>
                    <a:pt x="2008762" y="3218"/>
                  </a:lnTo>
                  <a:lnTo>
                    <a:pt x="2059313" y="6072"/>
                  </a:lnTo>
                  <a:lnTo>
                    <a:pt x="2110251" y="9858"/>
                  </a:lnTo>
                  <a:lnTo>
                    <a:pt x="2161586" y="14604"/>
                  </a:lnTo>
                  <a:lnTo>
                    <a:pt x="2213330" y="20335"/>
                  </a:lnTo>
                  <a:lnTo>
                    <a:pt x="2282144" y="27272"/>
                  </a:lnTo>
                  <a:lnTo>
                    <a:pt x="2343884" y="31040"/>
                  </a:lnTo>
                  <a:lnTo>
                    <a:pt x="2399815" y="32249"/>
                  </a:lnTo>
                  <a:lnTo>
                    <a:pt x="2451200" y="31509"/>
                  </a:lnTo>
                  <a:lnTo>
                    <a:pt x="2499302" y="29432"/>
                  </a:lnTo>
                  <a:lnTo>
                    <a:pt x="2545385" y="26626"/>
                  </a:lnTo>
                  <a:lnTo>
                    <a:pt x="2590712" y="23704"/>
                  </a:lnTo>
                  <a:lnTo>
                    <a:pt x="2636547" y="21274"/>
                  </a:lnTo>
                  <a:lnTo>
                    <a:pt x="2684152" y="19948"/>
                  </a:lnTo>
                  <a:lnTo>
                    <a:pt x="2734792" y="20335"/>
                  </a:lnTo>
                  <a:lnTo>
                    <a:pt x="2787709" y="21145"/>
                  </a:lnTo>
                  <a:lnTo>
                    <a:pt x="2841133" y="20896"/>
                  </a:lnTo>
                  <a:lnTo>
                    <a:pt x="2894810" y="19919"/>
                  </a:lnTo>
                  <a:lnTo>
                    <a:pt x="2948485" y="18543"/>
                  </a:lnTo>
                  <a:lnTo>
                    <a:pt x="3001905" y="17097"/>
                  </a:lnTo>
                  <a:lnTo>
                    <a:pt x="3054814" y="15910"/>
                  </a:lnTo>
                  <a:lnTo>
                    <a:pt x="3106958" y="15311"/>
                  </a:lnTo>
                  <a:lnTo>
                    <a:pt x="3158082" y="15629"/>
                  </a:lnTo>
                  <a:lnTo>
                    <a:pt x="3207932" y="17194"/>
                  </a:lnTo>
                  <a:lnTo>
                    <a:pt x="3256254" y="20335"/>
                  </a:lnTo>
                  <a:lnTo>
                    <a:pt x="3284528" y="22163"/>
                  </a:lnTo>
                  <a:lnTo>
                    <a:pt x="3318964" y="23436"/>
                  </a:lnTo>
                  <a:lnTo>
                    <a:pt x="3358941" y="24217"/>
                  </a:lnTo>
                  <a:lnTo>
                    <a:pt x="3403836" y="24568"/>
                  </a:lnTo>
                  <a:lnTo>
                    <a:pt x="3453027" y="24550"/>
                  </a:lnTo>
                  <a:lnTo>
                    <a:pt x="3505893" y="24226"/>
                  </a:lnTo>
                  <a:lnTo>
                    <a:pt x="3561812" y="23658"/>
                  </a:lnTo>
                  <a:lnTo>
                    <a:pt x="3620161" y="22907"/>
                  </a:lnTo>
                  <a:lnTo>
                    <a:pt x="3680319" y="22035"/>
                  </a:lnTo>
                  <a:lnTo>
                    <a:pt x="3741664" y="21105"/>
                  </a:lnTo>
                  <a:lnTo>
                    <a:pt x="3803575" y="20179"/>
                  </a:lnTo>
                  <a:lnTo>
                    <a:pt x="3865428" y="19318"/>
                  </a:lnTo>
                  <a:lnTo>
                    <a:pt x="3926602" y="18585"/>
                  </a:lnTo>
                  <a:lnTo>
                    <a:pt x="3986476" y="18041"/>
                  </a:lnTo>
                  <a:lnTo>
                    <a:pt x="4044428" y="17749"/>
                  </a:lnTo>
                  <a:lnTo>
                    <a:pt x="4099834" y="17770"/>
                  </a:lnTo>
                  <a:lnTo>
                    <a:pt x="4152074" y="18167"/>
                  </a:lnTo>
                  <a:lnTo>
                    <a:pt x="4200526" y="19002"/>
                  </a:lnTo>
                  <a:lnTo>
                    <a:pt x="4244568" y="20335"/>
                  </a:lnTo>
                  <a:lnTo>
                    <a:pt x="4245457" y="29352"/>
                  </a:lnTo>
                  <a:lnTo>
                    <a:pt x="4244060" y="29733"/>
                  </a:lnTo>
                  <a:lnTo>
                    <a:pt x="4244568" y="38623"/>
                  </a:lnTo>
                  <a:lnTo>
                    <a:pt x="4202478" y="40923"/>
                  </a:lnTo>
                  <a:lnTo>
                    <a:pt x="4161121" y="41996"/>
                  </a:lnTo>
                  <a:lnTo>
                    <a:pt x="4119944" y="42073"/>
                  </a:lnTo>
                  <a:lnTo>
                    <a:pt x="4078391" y="41383"/>
                  </a:lnTo>
                  <a:lnTo>
                    <a:pt x="4035905" y="40156"/>
                  </a:lnTo>
                  <a:lnTo>
                    <a:pt x="3991933" y="38623"/>
                  </a:lnTo>
                  <a:lnTo>
                    <a:pt x="3945919" y="37014"/>
                  </a:lnTo>
                  <a:lnTo>
                    <a:pt x="3897307" y="35557"/>
                  </a:lnTo>
                  <a:lnTo>
                    <a:pt x="3845543" y="34484"/>
                  </a:lnTo>
                  <a:lnTo>
                    <a:pt x="3790071" y="34024"/>
                  </a:lnTo>
                  <a:lnTo>
                    <a:pt x="3730335" y="34408"/>
                  </a:lnTo>
                  <a:lnTo>
                    <a:pt x="3665780" y="35864"/>
                  </a:lnTo>
                  <a:lnTo>
                    <a:pt x="3595852" y="38623"/>
                  </a:lnTo>
                  <a:lnTo>
                    <a:pt x="3524000" y="41374"/>
                  </a:lnTo>
                  <a:lnTo>
                    <a:pt x="3464753" y="42328"/>
                  </a:lnTo>
                  <a:lnTo>
                    <a:pt x="3415879" y="41874"/>
                  </a:lnTo>
                  <a:lnTo>
                    <a:pt x="3375145" y="40401"/>
                  </a:lnTo>
                  <a:lnTo>
                    <a:pt x="3340318" y="38299"/>
                  </a:lnTo>
                  <a:lnTo>
                    <a:pt x="3309165" y="35956"/>
                  </a:lnTo>
                  <a:lnTo>
                    <a:pt x="3279455" y="33762"/>
                  </a:lnTo>
                  <a:lnTo>
                    <a:pt x="3248954" y="32104"/>
                  </a:lnTo>
                  <a:lnTo>
                    <a:pt x="3215430" y="31372"/>
                  </a:lnTo>
                  <a:lnTo>
                    <a:pt x="3176649" y="31956"/>
                  </a:lnTo>
                  <a:lnTo>
                    <a:pt x="3130380" y="34243"/>
                  </a:lnTo>
                  <a:lnTo>
                    <a:pt x="3074390" y="38623"/>
                  </a:lnTo>
                  <a:lnTo>
                    <a:pt x="3011533" y="43264"/>
                  </a:lnTo>
                  <a:lnTo>
                    <a:pt x="2956391" y="45409"/>
                  </a:lnTo>
                  <a:lnTo>
                    <a:pt x="2907423" y="45583"/>
                  </a:lnTo>
                  <a:lnTo>
                    <a:pt x="2863087" y="44306"/>
                  </a:lnTo>
                  <a:lnTo>
                    <a:pt x="2821841" y="42101"/>
                  </a:lnTo>
                  <a:lnTo>
                    <a:pt x="2782144" y="39491"/>
                  </a:lnTo>
                  <a:lnTo>
                    <a:pt x="2742454" y="36996"/>
                  </a:lnTo>
                  <a:lnTo>
                    <a:pt x="2701230" y="35140"/>
                  </a:lnTo>
                  <a:lnTo>
                    <a:pt x="2656928" y="34445"/>
                  </a:lnTo>
                  <a:lnTo>
                    <a:pt x="2608008" y="35432"/>
                  </a:lnTo>
                  <a:lnTo>
                    <a:pt x="2552928" y="38623"/>
                  </a:lnTo>
                  <a:lnTo>
                    <a:pt x="2504234" y="41866"/>
                  </a:lnTo>
                  <a:lnTo>
                    <a:pt x="2457173" y="44113"/>
                  </a:lnTo>
                  <a:lnTo>
                    <a:pt x="2411243" y="45491"/>
                  </a:lnTo>
                  <a:lnTo>
                    <a:pt x="2365945" y="46121"/>
                  </a:lnTo>
                  <a:lnTo>
                    <a:pt x="2320777" y="46129"/>
                  </a:lnTo>
                  <a:lnTo>
                    <a:pt x="2275240" y="45637"/>
                  </a:lnTo>
                  <a:lnTo>
                    <a:pt x="2228832" y="44771"/>
                  </a:lnTo>
                  <a:lnTo>
                    <a:pt x="2181054" y="43653"/>
                  </a:lnTo>
                  <a:lnTo>
                    <a:pt x="2131405" y="42407"/>
                  </a:lnTo>
                  <a:lnTo>
                    <a:pt x="2079383" y="41157"/>
                  </a:lnTo>
                  <a:lnTo>
                    <a:pt x="2024490" y="40027"/>
                  </a:lnTo>
                  <a:lnTo>
                    <a:pt x="1966224" y="39142"/>
                  </a:lnTo>
                  <a:lnTo>
                    <a:pt x="1904085" y="38623"/>
                  </a:lnTo>
                  <a:lnTo>
                    <a:pt x="1847480" y="38472"/>
                  </a:lnTo>
                  <a:lnTo>
                    <a:pt x="1796261" y="38530"/>
                  </a:lnTo>
                  <a:lnTo>
                    <a:pt x="1749359" y="38752"/>
                  </a:lnTo>
                  <a:lnTo>
                    <a:pt x="1705707" y="39090"/>
                  </a:lnTo>
                  <a:lnTo>
                    <a:pt x="1664237" y="39498"/>
                  </a:lnTo>
                  <a:lnTo>
                    <a:pt x="1623880" y="39930"/>
                  </a:lnTo>
                  <a:lnTo>
                    <a:pt x="1583569" y="40338"/>
                  </a:lnTo>
                  <a:lnTo>
                    <a:pt x="1542235" y="40676"/>
                  </a:lnTo>
                  <a:lnTo>
                    <a:pt x="1498811" y="40898"/>
                  </a:lnTo>
                  <a:lnTo>
                    <a:pt x="1452228" y="40956"/>
                  </a:lnTo>
                  <a:lnTo>
                    <a:pt x="1401419" y="40804"/>
                  </a:lnTo>
                  <a:lnTo>
                    <a:pt x="1345315" y="40396"/>
                  </a:lnTo>
                  <a:lnTo>
                    <a:pt x="1282848" y="39685"/>
                  </a:lnTo>
                  <a:lnTo>
                    <a:pt x="1212951" y="38623"/>
                  </a:lnTo>
                  <a:lnTo>
                    <a:pt x="1119430" y="37132"/>
                  </a:lnTo>
                  <a:lnTo>
                    <a:pt x="1044051" y="36124"/>
                  </a:lnTo>
                  <a:lnTo>
                    <a:pt x="983814" y="35543"/>
                  </a:lnTo>
                  <a:lnTo>
                    <a:pt x="935715" y="35332"/>
                  </a:lnTo>
                  <a:lnTo>
                    <a:pt x="896753" y="35433"/>
                  </a:lnTo>
                  <a:lnTo>
                    <a:pt x="863925" y="35789"/>
                  </a:lnTo>
                  <a:lnTo>
                    <a:pt x="834228" y="36343"/>
                  </a:lnTo>
                  <a:lnTo>
                    <a:pt x="804661" y="37038"/>
                  </a:lnTo>
                  <a:lnTo>
                    <a:pt x="772222" y="37818"/>
                  </a:lnTo>
                  <a:lnTo>
                    <a:pt x="733907" y="38623"/>
                  </a:lnTo>
                  <a:lnTo>
                    <a:pt x="699797" y="39066"/>
                  </a:lnTo>
                  <a:lnTo>
                    <a:pt x="658549" y="39277"/>
                  </a:lnTo>
                  <a:lnTo>
                    <a:pt x="611245" y="39297"/>
                  </a:lnTo>
                  <a:lnTo>
                    <a:pt x="558963" y="39168"/>
                  </a:lnTo>
                  <a:lnTo>
                    <a:pt x="502787" y="38930"/>
                  </a:lnTo>
                  <a:lnTo>
                    <a:pt x="443795" y="38623"/>
                  </a:lnTo>
                  <a:lnTo>
                    <a:pt x="383070" y="38290"/>
                  </a:lnTo>
                  <a:lnTo>
                    <a:pt x="321691" y="37970"/>
                  </a:lnTo>
                  <a:lnTo>
                    <a:pt x="260740" y="37705"/>
                  </a:lnTo>
                  <a:lnTo>
                    <a:pt x="201298" y="37535"/>
                  </a:lnTo>
                  <a:lnTo>
                    <a:pt x="144444" y="37501"/>
                  </a:lnTo>
                  <a:lnTo>
                    <a:pt x="91261" y="37644"/>
                  </a:lnTo>
                  <a:lnTo>
                    <a:pt x="42829" y="38004"/>
                  </a:lnTo>
                  <a:lnTo>
                    <a:pt x="228" y="38623"/>
                  </a:lnTo>
                  <a:lnTo>
                    <a:pt x="0" y="34559"/>
                  </a:lnTo>
                  <a:lnTo>
                    <a:pt x="736" y="26177"/>
                  </a:lnTo>
                  <a:lnTo>
                    <a:pt x="228" y="20335"/>
                  </a:lnTo>
                  <a:close/>
                </a:path>
              </a:pathLst>
            </a:custGeom>
            <a:ln w="4127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252729" indent="-240029">
              <a:lnSpc>
                <a:spcPct val="100000"/>
              </a:lnSpc>
              <a:spcBef>
                <a:spcPts val="645"/>
              </a:spcBef>
              <a:buAutoNum type="arabicPeriod" startAt="2"/>
              <a:tabLst>
                <a:tab pos="252729" algn="l"/>
              </a:tabLst>
            </a:pPr>
            <a:r>
              <a:rPr dirty="0"/>
              <a:t>Problem</a:t>
            </a:r>
            <a:r>
              <a:rPr spc="-5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Lost</a:t>
            </a:r>
            <a:r>
              <a:rPr spc="-120" dirty="0"/>
              <a:t> </a:t>
            </a:r>
            <a:r>
              <a:rPr spc="-10" dirty="0"/>
              <a:t>Acknowledgement-</a:t>
            </a:r>
          </a:p>
          <a:p>
            <a:pPr marL="240665" marR="264160" lvl="1" indent="-228600">
              <a:lnSpc>
                <a:spcPct val="80000"/>
              </a:lnSpc>
              <a:spcBef>
                <a:spcPts val="994"/>
              </a:spcBef>
              <a:buFont typeface="Arial MT"/>
              <a:buChar char="•"/>
              <a:tabLst>
                <a:tab pos="240665" algn="l"/>
              </a:tabLst>
            </a:pPr>
            <a:r>
              <a:rPr sz="1900" dirty="0">
                <a:latin typeface="Times New Roman"/>
                <a:cs typeface="Times New Roman"/>
              </a:rPr>
              <a:t>Sequence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number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on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data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packets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help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to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solve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problem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of </a:t>
            </a:r>
            <a:r>
              <a:rPr sz="1900" dirty="0">
                <a:latin typeface="Times New Roman"/>
                <a:cs typeface="Times New Roman"/>
              </a:rPr>
              <a:t>delayed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acknowledgement.</a:t>
            </a:r>
            <a:endParaRPr sz="1900">
              <a:latin typeface="Times New Roman"/>
              <a:cs typeface="Times New Roman"/>
            </a:endParaRPr>
          </a:p>
          <a:p>
            <a:pPr marL="240665" lvl="1" indent="-227965">
              <a:lnSpc>
                <a:spcPct val="100000"/>
              </a:lnSpc>
              <a:spcBef>
                <a:spcPts val="555"/>
              </a:spcBef>
              <a:buFont typeface="Arial MT"/>
              <a:buChar char="•"/>
              <a:tabLst>
                <a:tab pos="240665" algn="l"/>
              </a:tabLst>
            </a:pPr>
            <a:r>
              <a:rPr sz="1900" dirty="0">
                <a:latin typeface="Times New Roman"/>
                <a:cs typeface="Times New Roman"/>
              </a:rPr>
              <a:t>Consider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acknowledgement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sent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by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receiver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gets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lost.</a:t>
            </a:r>
            <a:endParaRPr sz="1900">
              <a:latin typeface="Times New Roman"/>
              <a:cs typeface="Times New Roman"/>
            </a:endParaRPr>
          </a:p>
          <a:p>
            <a:pPr marL="240665" lvl="1" indent="-227965">
              <a:lnSpc>
                <a:spcPts val="2055"/>
              </a:lnSpc>
              <a:spcBef>
                <a:spcPts val="540"/>
              </a:spcBef>
              <a:buFont typeface="Arial MT"/>
              <a:buChar char="•"/>
              <a:tabLst>
                <a:tab pos="240665" algn="l"/>
              </a:tabLst>
            </a:pPr>
            <a:r>
              <a:rPr sz="1900" dirty="0">
                <a:latin typeface="Times New Roman"/>
                <a:cs typeface="Times New Roman"/>
              </a:rPr>
              <a:t>Then,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sender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retransmits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same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data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packet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after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its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timer </a:t>
            </a:r>
            <a:r>
              <a:rPr sz="1900" spc="-20" dirty="0">
                <a:latin typeface="Times New Roman"/>
                <a:cs typeface="Times New Roman"/>
              </a:rPr>
              <a:t>goes</a:t>
            </a:r>
            <a:endParaRPr sz="1900">
              <a:latin typeface="Times New Roman"/>
              <a:cs typeface="Times New Roman"/>
            </a:endParaRPr>
          </a:p>
          <a:p>
            <a:pPr marL="240665">
              <a:lnSpc>
                <a:spcPts val="2055"/>
              </a:lnSpc>
            </a:pPr>
            <a:r>
              <a:rPr b="0" spc="-20" dirty="0">
                <a:latin typeface="Times New Roman"/>
                <a:cs typeface="Times New Roman"/>
              </a:rPr>
              <a:t>off.</a:t>
            </a:r>
          </a:p>
          <a:p>
            <a:pPr marL="240665" lvl="1" indent="-227965">
              <a:lnSpc>
                <a:spcPct val="100000"/>
              </a:lnSpc>
              <a:spcBef>
                <a:spcPts val="540"/>
              </a:spcBef>
              <a:buFont typeface="Arial MT"/>
              <a:buChar char="•"/>
              <a:tabLst>
                <a:tab pos="240665" algn="l"/>
              </a:tabLst>
            </a:pPr>
            <a:r>
              <a:rPr sz="1900" dirty="0">
                <a:latin typeface="Times New Roman"/>
                <a:cs typeface="Times New Roman"/>
              </a:rPr>
              <a:t>This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prevents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occurrence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of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deadlock.</a:t>
            </a:r>
            <a:endParaRPr sz="1900">
              <a:latin typeface="Times New Roman"/>
              <a:cs typeface="Times New Roman"/>
            </a:endParaRPr>
          </a:p>
          <a:p>
            <a:pPr marL="240665" marR="373380" lvl="1" indent="-228600">
              <a:lnSpc>
                <a:spcPts val="1820"/>
              </a:lnSpc>
              <a:spcBef>
                <a:spcPts val="994"/>
              </a:spcBef>
              <a:buFont typeface="Arial MT"/>
              <a:buChar char="•"/>
              <a:tabLst>
                <a:tab pos="240665" algn="l"/>
              </a:tabLst>
            </a:pP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sequence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number</a:t>
            </a:r>
            <a:r>
              <a:rPr sz="1900" spc="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on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data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packet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helps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receiver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to </a:t>
            </a:r>
            <a:r>
              <a:rPr sz="1900" dirty="0">
                <a:latin typeface="Times New Roman"/>
                <a:cs typeface="Times New Roman"/>
              </a:rPr>
              <a:t>identify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duplicate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data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packet.</a:t>
            </a:r>
            <a:endParaRPr sz="1900">
              <a:latin typeface="Times New Roman"/>
              <a:cs typeface="Times New Roman"/>
            </a:endParaRPr>
          </a:p>
          <a:p>
            <a:pPr marL="240665" marR="429895" lvl="1" indent="-228600">
              <a:lnSpc>
                <a:spcPct val="80000"/>
              </a:lnSpc>
              <a:spcBef>
                <a:spcPts val="1020"/>
              </a:spcBef>
              <a:buFont typeface="Arial MT"/>
              <a:buChar char="•"/>
              <a:tabLst>
                <a:tab pos="240665" algn="l"/>
              </a:tabLst>
            </a:pPr>
            <a:r>
              <a:rPr sz="1900" dirty="0">
                <a:latin typeface="Times New Roman"/>
                <a:cs typeface="Times New Roman"/>
              </a:rPr>
              <a:t>Receiver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discards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duplicate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packet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and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re-sends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20" dirty="0">
                <a:latin typeface="Times New Roman"/>
                <a:cs typeface="Times New Roman"/>
              </a:rPr>
              <a:t> same </a:t>
            </a:r>
            <a:r>
              <a:rPr sz="1900" spc="-10" dirty="0">
                <a:latin typeface="Times New Roman"/>
                <a:cs typeface="Times New Roman"/>
              </a:rPr>
              <a:t>acknowledgement.</a:t>
            </a:r>
            <a:endParaRPr sz="19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0496" y="331768"/>
            <a:ext cx="3070053" cy="260725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67899" y="3292839"/>
            <a:ext cx="3897088" cy="309340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8819" y="415797"/>
            <a:ext cx="6628130" cy="164846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560"/>
              </a:spcBef>
            </a:pPr>
            <a:r>
              <a:rPr sz="3800" b="1" dirty="0">
                <a:latin typeface="Times New Roman"/>
                <a:cs typeface="Times New Roman"/>
              </a:rPr>
              <a:t>How</a:t>
            </a:r>
            <a:r>
              <a:rPr sz="3800" b="1" spc="-80" dirty="0">
                <a:latin typeface="Times New Roman"/>
                <a:cs typeface="Times New Roman"/>
              </a:rPr>
              <a:t> </a:t>
            </a:r>
            <a:r>
              <a:rPr sz="3800" b="1" dirty="0">
                <a:latin typeface="Times New Roman"/>
                <a:cs typeface="Times New Roman"/>
              </a:rPr>
              <a:t>Stop</a:t>
            </a:r>
            <a:r>
              <a:rPr sz="3800" b="1" spc="10" dirty="0">
                <a:latin typeface="Times New Roman"/>
                <a:cs typeface="Times New Roman"/>
              </a:rPr>
              <a:t> </a:t>
            </a:r>
            <a:r>
              <a:rPr sz="3800" b="1" dirty="0">
                <a:latin typeface="Times New Roman"/>
                <a:cs typeface="Times New Roman"/>
              </a:rPr>
              <a:t>and</a:t>
            </a:r>
            <a:r>
              <a:rPr sz="3800" b="1" spc="-75" dirty="0">
                <a:latin typeface="Times New Roman"/>
                <a:cs typeface="Times New Roman"/>
              </a:rPr>
              <a:t> </a:t>
            </a:r>
            <a:r>
              <a:rPr sz="3800" b="1" spc="-70" dirty="0">
                <a:latin typeface="Times New Roman"/>
                <a:cs typeface="Times New Roman"/>
              </a:rPr>
              <a:t>Wait</a:t>
            </a:r>
            <a:r>
              <a:rPr sz="3800" b="1" spc="-165" dirty="0">
                <a:latin typeface="Times New Roman"/>
                <a:cs typeface="Times New Roman"/>
              </a:rPr>
              <a:t> </a:t>
            </a:r>
            <a:r>
              <a:rPr sz="3800" b="1" dirty="0">
                <a:latin typeface="Times New Roman"/>
                <a:cs typeface="Times New Roman"/>
              </a:rPr>
              <a:t>ARQ</a:t>
            </a:r>
            <a:r>
              <a:rPr sz="3800" b="1" spc="10" dirty="0">
                <a:latin typeface="Times New Roman"/>
                <a:cs typeface="Times New Roman"/>
              </a:rPr>
              <a:t> </a:t>
            </a:r>
            <a:r>
              <a:rPr sz="3800" b="1" spc="-10" dirty="0">
                <a:latin typeface="Times New Roman"/>
                <a:cs typeface="Times New Roman"/>
              </a:rPr>
              <a:t>Solves </a:t>
            </a:r>
            <a:r>
              <a:rPr sz="3800" b="1" dirty="0">
                <a:latin typeface="Times New Roman"/>
                <a:cs typeface="Times New Roman"/>
              </a:rPr>
              <a:t>The</a:t>
            </a:r>
            <a:r>
              <a:rPr sz="3800" b="1" spc="-25" dirty="0">
                <a:latin typeface="Times New Roman"/>
                <a:cs typeface="Times New Roman"/>
              </a:rPr>
              <a:t> </a:t>
            </a:r>
            <a:r>
              <a:rPr sz="3800" b="1" dirty="0">
                <a:latin typeface="Times New Roman"/>
                <a:cs typeface="Times New Roman"/>
              </a:rPr>
              <a:t>Problems</a:t>
            </a:r>
            <a:r>
              <a:rPr sz="3800" b="1" spc="-50" dirty="0">
                <a:latin typeface="Times New Roman"/>
                <a:cs typeface="Times New Roman"/>
              </a:rPr>
              <a:t> </a:t>
            </a:r>
            <a:r>
              <a:rPr sz="3800" b="1" dirty="0">
                <a:latin typeface="Times New Roman"/>
                <a:cs typeface="Times New Roman"/>
              </a:rPr>
              <a:t>of</a:t>
            </a:r>
            <a:r>
              <a:rPr sz="3800" b="1" spc="-15" dirty="0">
                <a:latin typeface="Times New Roman"/>
                <a:cs typeface="Times New Roman"/>
              </a:rPr>
              <a:t> </a:t>
            </a:r>
            <a:r>
              <a:rPr sz="3800" b="1" dirty="0">
                <a:latin typeface="Times New Roman"/>
                <a:cs typeface="Times New Roman"/>
              </a:rPr>
              <a:t>Stop</a:t>
            </a:r>
            <a:r>
              <a:rPr sz="3800" b="1" spc="-40" dirty="0">
                <a:latin typeface="Times New Roman"/>
                <a:cs typeface="Times New Roman"/>
              </a:rPr>
              <a:t> </a:t>
            </a:r>
            <a:r>
              <a:rPr sz="3800" b="1" dirty="0">
                <a:latin typeface="Times New Roman"/>
                <a:cs typeface="Times New Roman"/>
              </a:rPr>
              <a:t>and</a:t>
            </a:r>
            <a:r>
              <a:rPr sz="3800" b="1" spc="-100" dirty="0">
                <a:latin typeface="Times New Roman"/>
                <a:cs typeface="Times New Roman"/>
              </a:rPr>
              <a:t> </a:t>
            </a:r>
            <a:r>
              <a:rPr sz="3800" b="1" spc="-20" dirty="0">
                <a:latin typeface="Times New Roman"/>
                <a:cs typeface="Times New Roman"/>
              </a:rPr>
              <a:t>Wait </a:t>
            </a:r>
            <a:r>
              <a:rPr sz="3800" b="1" dirty="0">
                <a:latin typeface="Times New Roman"/>
                <a:cs typeface="Times New Roman"/>
              </a:rPr>
              <a:t>Protocol</a:t>
            </a:r>
            <a:r>
              <a:rPr sz="3800" b="1" spc="-140" dirty="0">
                <a:latin typeface="Times New Roman"/>
                <a:cs typeface="Times New Roman"/>
              </a:rPr>
              <a:t> </a:t>
            </a:r>
            <a:r>
              <a:rPr sz="3800" b="1" spc="-50" dirty="0">
                <a:latin typeface="Times New Roman"/>
                <a:cs typeface="Times New Roman"/>
              </a:rPr>
              <a:t>?</a:t>
            </a:r>
            <a:endParaRPr sz="38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38847" y="2355516"/>
            <a:ext cx="4286885" cy="87630"/>
            <a:chOff x="738847" y="2355516"/>
            <a:chExt cx="4286885" cy="87630"/>
          </a:xfrm>
        </p:grpSpPr>
        <p:sp>
          <p:nvSpPr>
            <p:cNvPr id="4" name="object 4"/>
            <p:cNvSpPr/>
            <p:nvPr/>
          </p:nvSpPr>
          <p:spPr>
            <a:xfrm>
              <a:off x="759256" y="2382685"/>
              <a:ext cx="4244975" cy="48895"/>
            </a:xfrm>
            <a:custGeom>
              <a:avLst/>
              <a:gdLst/>
              <a:ahLst/>
              <a:cxnLst/>
              <a:rect l="l" t="t" r="r" b="b"/>
              <a:pathLst>
                <a:path w="4244975" h="48894">
                  <a:moveTo>
                    <a:pt x="2874048" y="21932"/>
                  </a:moveTo>
                  <a:lnTo>
                    <a:pt x="2039899" y="21932"/>
                  </a:lnTo>
                  <a:lnTo>
                    <a:pt x="2085390" y="23184"/>
                  </a:lnTo>
                  <a:lnTo>
                    <a:pt x="2144289" y="26529"/>
                  </a:lnTo>
                  <a:lnTo>
                    <a:pt x="2143840" y="26529"/>
                  </a:lnTo>
                  <a:lnTo>
                    <a:pt x="2277301" y="37472"/>
                  </a:lnTo>
                  <a:lnTo>
                    <a:pt x="2334813" y="41695"/>
                  </a:lnTo>
                  <a:lnTo>
                    <a:pt x="2387099" y="44843"/>
                  </a:lnTo>
                  <a:lnTo>
                    <a:pt x="2435166" y="46998"/>
                  </a:lnTo>
                  <a:lnTo>
                    <a:pt x="2483209" y="48332"/>
                  </a:lnTo>
                  <a:lnTo>
                    <a:pt x="2522659" y="48660"/>
                  </a:lnTo>
                  <a:lnTo>
                    <a:pt x="2564095" y="48332"/>
                  </a:lnTo>
                  <a:lnTo>
                    <a:pt x="2605330" y="47340"/>
                  </a:lnTo>
                  <a:lnTo>
                    <a:pt x="2691221" y="43699"/>
                  </a:lnTo>
                  <a:lnTo>
                    <a:pt x="2966766" y="29332"/>
                  </a:lnTo>
                  <a:lnTo>
                    <a:pt x="3024960" y="27517"/>
                  </a:lnTo>
                  <a:lnTo>
                    <a:pt x="3079689" y="26529"/>
                  </a:lnTo>
                  <a:lnTo>
                    <a:pt x="3776314" y="26238"/>
                  </a:lnTo>
                  <a:lnTo>
                    <a:pt x="3792349" y="25615"/>
                  </a:lnTo>
                  <a:lnTo>
                    <a:pt x="3770364" y="25615"/>
                  </a:lnTo>
                  <a:lnTo>
                    <a:pt x="3692717" y="24829"/>
                  </a:lnTo>
                  <a:lnTo>
                    <a:pt x="3704799" y="24829"/>
                  </a:lnTo>
                  <a:lnTo>
                    <a:pt x="3661715" y="23820"/>
                  </a:lnTo>
                  <a:lnTo>
                    <a:pt x="3659842" y="23820"/>
                  </a:lnTo>
                  <a:lnTo>
                    <a:pt x="3621082" y="22367"/>
                  </a:lnTo>
                  <a:lnTo>
                    <a:pt x="2892225" y="22367"/>
                  </a:lnTo>
                  <a:lnTo>
                    <a:pt x="2874048" y="21932"/>
                  </a:lnTo>
                  <a:close/>
                </a:path>
                <a:path w="4244975" h="48894">
                  <a:moveTo>
                    <a:pt x="817228" y="1961"/>
                  </a:moveTo>
                  <a:lnTo>
                    <a:pt x="765314" y="1961"/>
                  </a:lnTo>
                  <a:lnTo>
                    <a:pt x="718026" y="3333"/>
                  </a:lnTo>
                  <a:lnTo>
                    <a:pt x="663694" y="5806"/>
                  </a:lnTo>
                  <a:lnTo>
                    <a:pt x="449294" y="17864"/>
                  </a:lnTo>
                  <a:lnTo>
                    <a:pt x="343138" y="22736"/>
                  </a:lnTo>
                  <a:lnTo>
                    <a:pt x="380587" y="24118"/>
                  </a:lnTo>
                  <a:lnTo>
                    <a:pt x="448140" y="27517"/>
                  </a:lnTo>
                  <a:lnTo>
                    <a:pt x="587132" y="36116"/>
                  </a:lnTo>
                  <a:lnTo>
                    <a:pt x="643893" y="38872"/>
                  </a:lnTo>
                  <a:lnTo>
                    <a:pt x="694088" y="40514"/>
                  </a:lnTo>
                  <a:lnTo>
                    <a:pt x="740785" y="41214"/>
                  </a:lnTo>
                  <a:lnTo>
                    <a:pt x="774746" y="41214"/>
                  </a:lnTo>
                  <a:lnTo>
                    <a:pt x="824157" y="40301"/>
                  </a:lnTo>
                  <a:lnTo>
                    <a:pt x="1342906" y="26529"/>
                  </a:lnTo>
                  <a:lnTo>
                    <a:pt x="1340595" y="26529"/>
                  </a:lnTo>
                  <a:lnTo>
                    <a:pt x="1389766" y="25900"/>
                  </a:lnTo>
                  <a:lnTo>
                    <a:pt x="1383921" y="25900"/>
                  </a:lnTo>
                  <a:lnTo>
                    <a:pt x="1705011" y="25615"/>
                  </a:lnTo>
                  <a:lnTo>
                    <a:pt x="1657757" y="24599"/>
                  </a:lnTo>
                  <a:lnTo>
                    <a:pt x="1656185" y="24599"/>
                  </a:lnTo>
                  <a:lnTo>
                    <a:pt x="1609401" y="22367"/>
                  </a:lnTo>
                  <a:lnTo>
                    <a:pt x="1565213" y="18851"/>
                  </a:lnTo>
                  <a:lnTo>
                    <a:pt x="1560085" y="18248"/>
                  </a:lnTo>
                  <a:lnTo>
                    <a:pt x="1111492" y="18248"/>
                  </a:lnTo>
                  <a:lnTo>
                    <a:pt x="1060472" y="17464"/>
                  </a:lnTo>
                  <a:lnTo>
                    <a:pt x="1057167" y="17464"/>
                  </a:lnTo>
                  <a:lnTo>
                    <a:pt x="1000963" y="13804"/>
                  </a:lnTo>
                  <a:lnTo>
                    <a:pt x="943953" y="8732"/>
                  </a:lnTo>
                  <a:lnTo>
                    <a:pt x="894879" y="5075"/>
                  </a:lnTo>
                  <a:lnTo>
                    <a:pt x="850745" y="2769"/>
                  </a:lnTo>
                  <a:lnTo>
                    <a:pt x="817228" y="1961"/>
                  </a:lnTo>
                  <a:close/>
                </a:path>
                <a:path w="4244975" h="48894">
                  <a:moveTo>
                    <a:pt x="2660638" y="1961"/>
                  </a:moveTo>
                  <a:lnTo>
                    <a:pt x="2454296" y="1961"/>
                  </a:lnTo>
                  <a:lnTo>
                    <a:pt x="1848457" y="23501"/>
                  </a:lnTo>
                  <a:lnTo>
                    <a:pt x="1847868" y="23501"/>
                  </a:lnTo>
                  <a:lnTo>
                    <a:pt x="1798673" y="24829"/>
                  </a:lnTo>
                  <a:lnTo>
                    <a:pt x="1747186" y="25615"/>
                  </a:lnTo>
                  <a:lnTo>
                    <a:pt x="1537794" y="25900"/>
                  </a:lnTo>
                  <a:lnTo>
                    <a:pt x="1536898" y="25900"/>
                  </a:lnTo>
                  <a:lnTo>
                    <a:pt x="1631904" y="27964"/>
                  </a:lnTo>
                  <a:lnTo>
                    <a:pt x="1786803" y="33959"/>
                  </a:lnTo>
                  <a:lnTo>
                    <a:pt x="1828975" y="34120"/>
                  </a:lnTo>
                  <a:lnTo>
                    <a:pt x="1863390" y="32985"/>
                  </a:lnTo>
                  <a:lnTo>
                    <a:pt x="1892409" y="30963"/>
                  </a:lnTo>
                  <a:lnTo>
                    <a:pt x="1943700" y="25900"/>
                  </a:lnTo>
                  <a:lnTo>
                    <a:pt x="1968989" y="23820"/>
                  </a:lnTo>
                  <a:lnTo>
                    <a:pt x="1967725" y="23820"/>
                  </a:lnTo>
                  <a:lnTo>
                    <a:pt x="1998483" y="22367"/>
                  </a:lnTo>
                  <a:lnTo>
                    <a:pt x="1982709" y="22367"/>
                  </a:lnTo>
                  <a:lnTo>
                    <a:pt x="2874048" y="21932"/>
                  </a:lnTo>
                  <a:lnTo>
                    <a:pt x="2847201" y="21288"/>
                  </a:lnTo>
                  <a:lnTo>
                    <a:pt x="2811555" y="18610"/>
                  </a:lnTo>
                  <a:lnTo>
                    <a:pt x="2739779" y="8214"/>
                  </a:lnTo>
                  <a:lnTo>
                    <a:pt x="2698929" y="4220"/>
                  </a:lnTo>
                  <a:lnTo>
                    <a:pt x="2660638" y="1961"/>
                  </a:lnTo>
                  <a:close/>
                </a:path>
                <a:path w="4244975" h="48894">
                  <a:moveTo>
                    <a:pt x="3749679" y="27266"/>
                  </a:moveTo>
                  <a:lnTo>
                    <a:pt x="3230546" y="27266"/>
                  </a:lnTo>
                  <a:lnTo>
                    <a:pt x="3278139" y="28294"/>
                  </a:lnTo>
                  <a:lnTo>
                    <a:pt x="3277361" y="28294"/>
                  </a:lnTo>
                  <a:lnTo>
                    <a:pt x="3498053" y="32845"/>
                  </a:lnTo>
                  <a:lnTo>
                    <a:pt x="3541916" y="32845"/>
                  </a:lnTo>
                  <a:lnTo>
                    <a:pt x="3596081" y="32092"/>
                  </a:lnTo>
                  <a:lnTo>
                    <a:pt x="3749679" y="27266"/>
                  </a:lnTo>
                  <a:close/>
                </a:path>
                <a:path w="4244975" h="48894">
                  <a:moveTo>
                    <a:pt x="457" y="13804"/>
                  </a:moveTo>
                  <a:lnTo>
                    <a:pt x="340" y="15876"/>
                  </a:lnTo>
                  <a:lnTo>
                    <a:pt x="228" y="17864"/>
                  </a:lnTo>
                  <a:lnTo>
                    <a:pt x="107" y="20027"/>
                  </a:lnTo>
                  <a:lnTo>
                    <a:pt x="0" y="21932"/>
                  </a:lnTo>
                  <a:lnTo>
                    <a:pt x="1219" y="24599"/>
                  </a:lnTo>
                  <a:lnTo>
                    <a:pt x="1150" y="25270"/>
                  </a:lnTo>
                  <a:lnTo>
                    <a:pt x="1052" y="26238"/>
                  </a:lnTo>
                  <a:lnTo>
                    <a:pt x="947" y="27266"/>
                  </a:lnTo>
                  <a:lnTo>
                    <a:pt x="877" y="27964"/>
                  </a:lnTo>
                  <a:lnTo>
                    <a:pt x="771" y="29005"/>
                  </a:lnTo>
                  <a:lnTo>
                    <a:pt x="695" y="29748"/>
                  </a:lnTo>
                  <a:lnTo>
                    <a:pt x="572" y="30963"/>
                  </a:lnTo>
                  <a:lnTo>
                    <a:pt x="457" y="32092"/>
                  </a:lnTo>
                  <a:lnTo>
                    <a:pt x="36749" y="28294"/>
                  </a:lnTo>
                  <a:lnTo>
                    <a:pt x="36576" y="28294"/>
                  </a:lnTo>
                  <a:lnTo>
                    <a:pt x="73747" y="25270"/>
                  </a:lnTo>
                  <a:lnTo>
                    <a:pt x="72756" y="25270"/>
                  </a:lnTo>
                  <a:lnTo>
                    <a:pt x="111365" y="23028"/>
                  </a:lnTo>
                  <a:lnTo>
                    <a:pt x="85917" y="21646"/>
                  </a:lnTo>
                  <a:lnTo>
                    <a:pt x="43102" y="18248"/>
                  </a:lnTo>
                  <a:lnTo>
                    <a:pt x="457" y="13804"/>
                  </a:lnTo>
                  <a:close/>
                </a:path>
                <a:path w="4244975" h="48894">
                  <a:moveTo>
                    <a:pt x="4244797" y="13804"/>
                  </a:moveTo>
                  <a:lnTo>
                    <a:pt x="4199662" y="14646"/>
                  </a:lnTo>
                  <a:lnTo>
                    <a:pt x="4106793" y="17464"/>
                  </a:lnTo>
                  <a:lnTo>
                    <a:pt x="4107027" y="17464"/>
                  </a:lnTo>
                  <a:lnTo>
                    <a:pt x="4025256" y="20442"/>
                  </a:lnTo>
                  <a:lnTo>
                    <a:pt x="4045562" y="20442"/>
                  </a:lnTo>
                  <a:lnTo>
                    <a:pt x="4096051" y="21646"/>
                  </a:lnTo>
                  <a:lnTo>
                    <a:pt x="4095107" y="21646"/>
                  </a:lnTo>
                  <a:lnTo>
                    <a:pt x="4143239" y="23820"/>
                  </a:lnTo>
                  <a:lnTo>
                    <a:pt x="4193398" y="27266"/>
                  </a:lnTo>
                  <a:lnTo>
                    <a:pt x="4244797" y="32092"/>
                  </a:lnTo>
                  <a:lnTo>
                    <a:pt x="4244797" y="13804"/>
                  </a:lnTo>
                  <a:close/>
                </a:path>
                <a:path w="4244975" h="48894">
                  <a:moveTo>
                    <a:pt x="3776314" y="26238"/>
                  </a:moveTo>
                  <a:lnTo>
                    <a:pt x="3131270" y="26238"/>
                  </a:lnTo>
                  <a:lnTo>
                    <a:pt x="3184637" y="26529"/>
                  </a:lnTo>
                  <a:lnTo>
                    <a:pt x="3181947" y="26529"/>
                  </a:lnTo>
                  <a:lnTo>
                    <a:pt x="3231972" y="27266"/>
                  </a:lnTo>
                  <a:lnTo>
                    <a:pt x="3749861" y="27266"/>
                  </a:lnTo>
                  <a:lnTo>
                    <a:pt x="3776314" y="26238"/>
                  </a:lnTo>
                  <a:close/>
                </a:path>
                <a:path w="4244975" h="48894">
                  <a:moveTo>
                    <a:pt x="224892" y="20442"/>
                  </a:moveTo>
                  <a:lnTo>
                    <a:pt x="205466" y="20442"/>
                  </a:lnTo>
                  <a:lnTo>
                    <a:pt x="160337" y="21107"/>
                  </a:lnTo>
                  <a:lnTo>
                    <a:pt x="161309" y="21107"/>
                  </a:lnTo>
                  <a:lnTo>
                    <a:pt x="115653" y="22736"/>
                  </a:lnTo>
                  <a:lnTo>
                    <a:pt x="116400" y="22736"/>
                  </a:lnTo>
                  <a:lnTo>
                    <a:pt x="111365" y="23028"/>
                  </a:lnTo>
                  <a:lnTo>
                    <a:pt x="128322" y="23949"/>
                  </a:lnTo>
                  <a:lnTo>
                    <a:pt x="172728" y="25270"/>
                  </a:lnTo>
                  <a:lnTo>
                    <a:pt x="219549" y="25615"/>
                  </a:lnTo>
                  <a:lnTo>
                    <a:pt x="285184" y="24829"/>
                  </a:lnTo>
                  <a:lnTo>
                    <a:pt x="276365" y="24829"/>
                  </a:lnTo>
                  <a:lnTo>
                    <a:pt x="324100" y="23501"/>
                  </a:lnTo>
                  <a:lnTo>
                    <a:pt x="343138" y="22736"/>
                  </a:lnTo>
                  <a:lnTo>
                    <a:pt x="321363" y="21932"/>
                  </a:lnTo>
                  <a:lnTo>
                    <a:pt x="323221" y="21932"/>
                  </a:lnTo>
                  <a:lnTo>
                    <a:pt x="267171" y="20718"/>
                  </a:lnTo>
                  <a:lnTo>
                    <a:pt x="287131" y="20718"/>
                  </a:lnTo>
                  <a:lnTo>
                    <a:pt x="224892" y="20442"/>
                  </a:lnTo>
                  <a:close/>
                </a:path>
                <a:path w="4244975" h="48894">
                  <a:moveTo>
                    <a:pt x="3997503" y="20195"/>
                  </a:moveTo>
                  <a:lnTo>
                    <a:pt x="3947902" y="20718"/>
                  </a:lnTo>
                  <a:lnTo>
                    <a:pt x="3948821" y="20718"/>
                  </a:lnTo>
                  <a:lnTo>
                    <a:pt x="3895846" y="21932"/>
                  </a:lnTo>
                  <a:lnTo>
                    <a:pt x="3897450" y="21932"/>
                  </a:lnTo>
                  <a:lnTo>
                    <a:pt x="3858034" y="23184"/>
                  </a:lnTo>
                  <a:lnTo>
                    <a:pt x="3857343" y="23184"/>
                  </a:lnTo>
                  <a:lnTo>
                    <a:pt x="3801070" y="25270"/>
                  </a:lnTo>
                  <a:lnTo>
                    <a:pt x="3801212" y="25270"/>
                  </a:lnTo>
                  <a:lnTo>
                    <a:pt x="3792349" y="25615"/>
                  </a:lnTo>
                  <a:lnTo>
                    <a:pt x="3812217" y="25615"/>
                  </a:lnTo>
                  <a:lnTo>
                    <a:pt x="3918611" y="23820"/>
                  </a:lnTo>
                  <a:lnTo>
                    <a:pt x="3919555" y="23820"/>
                  </a:lnTo>
                  <a:lnTo>
                    <a:pt x="3969206" y="22367"/>
                  </a:lnTo>
                  <a:lnTo>
                    <a:pt x="4025256" y="20442"/>
                  </a:lnTo>
                  <a:lnTo>
                    <a:pt x="4045562" y="20442"/>
                  </a:lnTo>
                  <a:lnTo>
                    <a:pt x="3997503" y="20195"/>
                  </a:lnTo>
                  <a:close/>
                </a:path>
                <a:path w="4244975" h="48894">
                  <a:moveTo>
                    <a:pt x="3270595" y="6899"/>
                  </a:moveTo>
                  <a:lnTo>
                    <a:pt x="3211980" y="7750"/>
                  </a:lnTo>
                  <a:lnTo>
                    <a:pt x="3156736" y="9599"/>
                  </a:lnTo>
                  <a:lnTo>
                    <a:pt x="3102580" y="12197"/>
                  </a:lnTo>
                  <a:lnTo>
                    <a:pt x="3102909" y="12197"/>
                  </a:lnTo>
                  <a:lnTo>
                    <a:pt x="2965209" y="20027"/>
                  </a:lnTo>
                  <a:lnTo>
                    <a:pt x="2923901" y="21646"/>
                  </a:lnTo>
                  <a:lnTo>
                    <a:pt x="2871200" y="22367"/>
                  </a:lnTo>
                  <a:lnTo>
                    <a:pt x="3621082" y="22367"/>
                  </a:lnTo>
                  <a:lnTo>
                    <a:pt x="3596913" y="21461"/>
                  </a:lnTo>
                  <a:lnTo>
                    <a:pt x="3535223" y="18248"/>
                  </a:lnTo>
                  <a:lnTo>
                    <a:pt x="3535022" y="18248"/>
                  </a:lnTo>
                  <a:lnTo>
                    <a:pt x="3399090" y="9599"/>
                  </a:lnTo>
                  <a:lnTo>
                    <a:pt x="3399370" y="9599"/>
                  </a:lnTo>
                  <a:lnTo>
                    <a:pt x="3332783" y="7392"/>
                  </a:lnTo>
                  <a:lnTo>
                    <a:pt x="3270595" y="6899"/>
                  </a:lnTo>
                  <a:close/>
                </a:path>
                <a:path w="4244975" h="48894">
                  <a:moveTo>
                    <a:pt x="1473264" y="8732"/>
                  </a:moveTo>
                  <a:lnTo>
                    <a:pt x="1318063" y="8732"/>
                  </a:lnTo>
                  <a:lnTo>
                    <a:pt x="1214475" y="14646"/>
                  </a:lnTo>
                  <a:lnTo>
                    <a:pt x="1214099" y="14646"/>
                  </a:lnTo>
                  <a:lnTo>
                    <a:pt x="1163561" y="17036"/>
                  </a:lnTo>
                  <a:lnTo>
                    <a:pt x="1109485" y="18248"/>
                  </a:lnTo>
                  <a:lnTo>
                    <a:pt x="1560085" y="18248"/>
                  </a:lnTo>
                  <a:lnTo>
                    <a:pt x="1522298" y="13804"/>
                  </a:lnTo>
                  <a:lnTo>
                    <a:pt x="1473264" y="8732"/>
                  </a:lnTo>
                  <a:close/>
                </a:path>
                <a:path w="4244975" h="48894">
                  <a:moveTo>
                    <a:pt x="1421006" y="6452"/>
                  </a:moveTo>
                  <a:lnTo>
                    <a:pt x="1370260" y="6731"/>
                  </a:lnTo>
                  <a:lnTo>
                    <a:pt x="1317500" y="8732"/>
                  </a:lnTo>
                  <a:lnTo>
                    <a:pt x="1475665" y="8732"/>
                  </a:lnTo>
                  <a:lnTo>
                    <a:pt x="1421006" y="6452"/>
                  </a:lnTo>
                  <a:close/>
                </a:path>
                <a:path w="4244975" h="48894">
                  <a:moveTo>
                    <a:pt x="2560376" y="0"/>
                  </a:moveTo>
                  <a:lnTo>
                    <a:pt x="2509902" y="577"/>
                  </a:lnTo>
                  <a:lnTo>
                    <a:pt x="2453007" y="1961"/>
                  </a:lnTo>
                  <a:lnTo>
                    <a:pt x="2666227" y="1961"/>
                  </a:lnTo>
                  <a:lnTo>
                    <a:pt x="2608914" y="294"/>
                  </a:lnTo>
                  <a:lnTo>
                    <a:pt x="2560376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9485" y="2376154"/>
              <a:ext cx="4245610" cy="46355"/>
            </a:xfrm>
            <a:custGeom>
              <a:avLst/>
              <a:gdLst/>
              <a:ahLst/>
              <a:cxnLst/>
              <a:rect l="l" t="t" r="r" b="b"/>
              <a:pathLst>
                <a:path w="4245610" h="46355">
                  <a:moveTo>
                    <a:pt x="228" y="20335"/>
                  </a:moveTo>
                  <a:lnTo>
                    <a:pt x="67222" y="14218"/>
                  </a:lnTo>
                  <a:lnTo>
                    <a:pt x="126992" y="9792"/>
                  </a:lnTo>
                  <a:lnTo>
                    <a:pt x="181158" y="6986"/>
                  </a:lnTo>
                  <a:lnTo>
                    <a:pt x="231342" y="5733"/>
                  </a:lnTo>
                  <a:lnTo>
                    <a:pt x="279164" y="5963"/>
                  </a:lnTo>
                  <a:lnTo>
                    <a:pt x="326244" y="7607"/>
                  </a:lnTo>
                  <a:lnTo>
                    <a:pt x="374202" y="10597"/>
                  </a:lnTo>
                  <a:lnTo>
                    <a:pt x="424658" y="14862"/>
                  </a:lnTo>
                  <a:lnTo>
                    <a:pt x="479234" y="20335"/>
                  </a:lnTo>
                  <a:lnTo>
                    <a:pt x="530894" y="24176"/>
                  </a:lnTo>
                  <a:lnTo>
                    <a:pt x="582729" y="25273"/>
                  </a:lnTo>
                  <a:lnTo>
                    <a:pt x="634360" y="24336"/>
                  </a:lnTo>
                  <a:lnTo>
                    <a:pt x="685406" y="22073"/>
                  </a:lnTo>
                  <a:lnTo>
                    <a:pt x="735490" y="19192"/>
                  </a:lnTo>
                  <a:lnTo>
                    <a:pt x="784231" y="16403"/>
                  </a:lnTo>
                  <a:lnTo>
                    <a:pt x="831251" y="14415"/>
                  </a:lnTo>
                  <a:lnTo>
                    <a:pt x="876170" y="13935"/>
                  </a:lnTo>
                  <a:lnTo>
                    <a:pt x="918609" y="15672"/>
                  </a:lnTo>
                  <a:lnTo>
                    <a:pt x="958189" y="20335"/>
                  </a:lnTo>
                  <a:lnTo>
                    <a:pt x="994961" y="25683"/>
                  </a:lnTo>
                  <a:lnTo>
                    <a:pt x="1035811" y="30120"/>
                  </a:lnTo>
                  <a:lnTo>
                    <a:pt x="1080345" y="33595"/>
                  </a:lnTo>
                  <a:lnTo>
                    <a:pt x="1128171" y="36053"/>
                  </a:lnTo>
                  <a:lnTo>
                    <a:pt x="1178894" y="37442"/>
                  </a:lnTo>
                  <a:lnTo>
                    <a:pt x="1232123" y="37708"/>
                  </a:lnTo>
                  <a:lnTo>
                    <a:pt x="1287462" y="36798"/>
                  </a:lnTo>
                  <a:lnTo>
                    <a:pt x="1344520" y="34659"/>
                  </a:lnTo>
                  <a:lnTo>
                    <a:pt x="1402903" y="31238"/>
                  </a:lnTo>
                  <a:lnTo>
                    <a:pt x="1462217" y="26481"/>
                  </a:lnTo>
                  <a:lnTo>
                    <a:pt x="1522069" y="20335"/>
                  </a:lnTo>
                  <a:lnTo>
                    <a:pt x="1569365" y="15276"/>
                  </a:lnTo>
                  <a:lnTo>
                    <a:pt x="1616937" y="10891"/>
                  </a:lnTo>
                  <a:lnTo>
                    <a:pt x="1664796" y="7208"/>
                  </a:lnTo>
                  <a:lnTo>
                    <a:pt x="1712952" y="4251"/>
                  </a:lnTo>
                  <a:lnTo>
                    <a:pt x="1761417" y="2047"/>
                  </a:lnTo>
                  <a:lnTo>
                    <a:pt x="1810202" y="621"/>
                  </a:lnTo>
                  <a:lnTo>
                    <a:pt x="1859318" y="0"/>
                  </a:lnTo>
                  <a:lnTo>
                    <a:pt x="1908776" y="208"/>
                  </a:lnTo>
                  <a:lnTo>
                    <a:pt x="1958587" y="1272"/>
                  </a:lnTo>
                  <a:lnTo>
                    <a:pt x="2008762" y="3218"/>
                  </a:lnTo>
                  <a:lnTo>
                    <a:pt x="2059313" y="6072"/>
                  </a:lnTo>
                  <a:lnTo>
                    <a:pt x="2110251" y="9858"/>
                  </a:lnTo>
                  <a:lnTo>
                    <a:pt x="2161586" y="14604"/>
                  </a:lnTo>
                  <a:lnTo>
                    <a:pt x="2213330" y="20335"/>
                  </a:lnTo>
                  <a:lnTo>
                    <a:pt x="2282144" y="27272"/>
                  </a:lnTo>
                  <a:lnTo>
                    <a:pt x="2343884" y="31040"/>
                  </a:lnTo>
                  <a:lnTo>
                    <a:pt x="2399815" y="32249"/>
                  </a:lnTo>
                  <a:lnTo>
                    <a:pt x="2451200" y="31509"/>
                  </a:lnTo>
                  <a:lnTo>
                    <a:pt x="2499302" y="29432"/>
                  </a:lnTo>
                  <a:lnTo>
                    <a:pt x="2545385" y="26626"/>
                  </a:lnTo>
                  <a:lnTo>
                    <a:pt x="2590712" y="23704"/>
                  </a:lnTo>
                  <a:lnTo>
                    <a:pt x="2636547" y="21274"/>
                  </a:lnTo>
                  <a:lnTo>
                    <a:pt x="2684152" y="19948"/>
                  </a:lnTo>
                  <a:lnTo>
                    <a:pt x="2734792" y="20335"/>
                  </a:lnTo>
                  <a:lnTo>
                    <a:pt x="2787709" y="21145"/>
                  </a:lnTo>
                  <a:lnTo>
                    <a:pt x="2841133" y="20896"/>
                  </a:lnTo>
                  <a:lnTo>
                    <a:pt x="2894810" y="19919"/>
                  </a:lnTo>
                  <a:lnTo>
                    <a:pt x="2948485" y="18543"/>
                  </a:lnTo>
                  <a:lnTo>
                    <a:pt x="3001905" y="17097"/>
                  </a:lnTo>
                  <a:lnTo>
                    <a:pt x="3054814" y="15910"/>
                  </a:lnTo>
                  <a:lnTo>
                    <a:pt x="3106958" y="15311"/>
                  </a:lnTo>
                  <a:lnTo>
                    <a:pt x="3158082" y="15629"/>
                  </a:lnTo>
                  <a:lnTo>
                    <a:pt x="3207932" y="17194"/>
                  </a:lnTo>
                  <a:lnTo>
                    <a:pt x="3256254" y="20335"/>
                  </a:lnTo>
                  <a:lnTo>
                    <a:pt x="3284528" y="22163"/>
                  </a:lnTo>
                  <a:lnTo>
                    <a:pt x="3318964" y="23436"/>
                  </a:lnTo>
                  <a:lnTo>
                    <a:pt x="3358941" y="24217"/>
                  </a:lnTo>
                  <a:lnTo>
                    <a:pt x="3403836" y="24568"/>
                  </a:lnTo>
                  <a:lnTo>
                    <a:pt x="3453027" y="24550"/>
                  </a:lnTo>
                  <a:lnTo>
                    <a:pt x="3505893" y="24226"/>
                  </a:lnTo>
                  <a:lnTo>
                    <a:pt x="3561812" y="23658"/>
                  </a:lnTo>
                  <a:lnTo>
                    <a:pt x="3620161" y="22907"/>
                  </a:lnTo>
                  <a:lnTo>
                    <a:pt x="3680319" y="22035"/>
                  </a:lnTo>
                  <a:lnTo>
                    <a:pt x="3741664" y="21105"/>
                  </a:lnTo>
                  <a:lnTo>
                    <a:pt x="3803575" y="20179"/>
                  </a:lnTo>
                  <a:lnTo>
                    <a:pt x="3865428" y="19318"/>
                  </a:lnTo>
                  <a:lnTo>
                    <a:pt x="3926602" y="18585"/>
                  </a:lnTo>
                  <a:lnTo>
                    <a:pt x="3986476" y="18041"/>
                  </a:lnTo>
                  <a:lnTo>
                    <a:pt x="4044428" y="17749"/>
                  </a:lnTo>
                  <a:lnTo>
                    <a:pt x="4099834" y="17770"/>
                  </a:lnTo>
                  <a:lnTo>
                    <a:pt x="4152074" y="18167"/>
                  </a:lnTo>
                  <a:lnTo>
                    <a:pt x="4200526" y="19002"/>
                  </a:lnTo>
                  <a:lnTo>
                    <a:pt x="4244568" y="20335"/>
                  </a:lnTo>
                  <a:lnTo>
                    <a:pt x="4245457" y="29352"/>
                  </a:lnTo>
                  <a:lnTo>
                    <a:pt x="4244060" y="29733"/>
                  </a:lnTo>
                  <a:lnTo>
                    <a:pt x="4244568" y="38623"/>
                  </a:lnTo>
                  <a:lnTo>
                    <a:pt x="4202478" y="40923"/>
                  </a:lnTo>
                  <a:lnTo>
                    <a:pt x="4161121" y="41996"/>
                  </a:lnTo>
                  <a:lnTo>
                    <a:pt x="4119944" y="42073"/>
                  </a:lnTo>
                  <a:lnTo>
                    <a:pt x="4078391" y="41383"/>
                  </a:lnTo>
                  <a:lnTo>
                    <a:pt x="4035905" y="40156"/>
                  </a:lnTo>
                  <a:lnTo>
                    <a:pt x="3991933" y="38623"/>
                  </a:lnTo>
                  <a:lnTo>
                    <a:pt x="3945919" y="37014"/>
                  </a:lnTo>
                  <a:lnTo>
                    <a:pt x="3897307" y="35557"/>
                  </a:lnTo>
                  <a:lnTo>
                    <a:pt x="3845543" y="34484"/>
                  </a:lnTo>
                  <a:lnTo>
                    <a:pt x="3790071" y="34024"/>
                  </a:lnTo>
                  <a:lnTo>
                    <a:pt x="3730335" y="34408"/>
                  </a:lnTo>
                  <a:lnTo>
                    <a:pt x="3665780" y="35864"/>
                  </a:lnTo>
                  <a:lnTo>
                    <a:pt x="3595852" y="38623"/>
                  </a:lnTo>
                  <a:lnTo>
                    <a:pt x="3524000" y="41374"/>
                  </a:lnTo>
                  <a:lnTo>
                    <a:pt x="3464753" y="42328"/>
                  </a:lnTo>
                  <a:lnTo>
                    <a:pt x="3415879" y="41874"/>
                  </a:lnTo>
                  <a:lnTo>
                    <a:pt x="3375145" y="40401"/>
                  </a:lnTo>
                  <a:lnTo>
                    <a:pt x="3340318" y="38299"/>
                  </a:lnTo>
                  <a:lnTo>
                    <a:pt x="3309165" y="35956"/>
                  </a:lnTo>
                  <a:lnTo>
                    <a:pt x="3279455" y="33762"/>
                  </a:lnTo>
                  <a:lnTo>
                    <a:pt x="3248954" y="32104"/>
                  </a:lnTo>
                  <a:lnTo>
                    <a:pt x="3215430" y="31372"/>
                  </a:lnTo>
                  <a:lnTo>
                    <a:pt x="3176649" y="31956"/>
                  </a:lnTo>
                  <a:lnTo>
                    <a:pt x="3130380" y="34243"/>
                  </a:lnTo>
                  <a:lnTo>
                    <a:pt x="3074390" y="38623"/>
                  </a:lnTo>
                  <a:lnTo>
                    <a:pt x="3011533" y="43264"/>
                  </a:lnTo>
                  <a:lnTo>
                    <a:pt x="2956391" y="45409"/>
                  </a:lnTo>
                  <a:lnTo>
                    <a:pt x="2907423" y="45583"/>
                  </a:lnTo>
                  <a:lnTo>
                    <a:pt x="2863087" y="44306"/>
                  </a:lnTo>
                  <a:lnTo>
                    <a:pt x="2821841" y="42101"/>
                  </a:lnTo>
                  <a:lnTo>
                    <a:pt x="2782144" y="39491"/>
                  </a:lnTo>
                  <a:lnTo>
                    <a:pt x="2742454" y="36996"/>
                  </a:lnTo>
                  <a:lnTo>
                    <a:pt x="2701230" y="35140"/>
                  </a:lnTo>
                  <a:lnTo>
                    <a:pt x="2656928" y="34445"/>
                  </a:lnTo>
                  <a:lnTo>
                    <a:pt x="2608008" y="35432"/>
                  </a:lnTo>
                  <a:lnTo>
                    <a:pt x="2552928" y="38623"/>
                  </a:lnTo>
                  <a:lnTo>
                    <a:pt x="2504234" y="41866"/>
                  </a:lnTo>
                  <a:lnTo>
                    <a:pt x="2457173" y="44113"/>
                  </a:lnTo>
                  <a:lnTo>
                    <a:pt x="2411243" y="45491"/>
                  </a:lnTo>
                  <a:lnTo>
                    <a:pt x="2365945" y="46121"/>
                  </a:lnTo>
                  <a:lnTo>
                    <a:pt x="2320777" y="46129"/>
                  </a:lnTo>
                  <a:lnTo>
                    <a:pt x="2275240" y="45637"/>
                  </a:lnTo>
                  <a:lnTo>
                    <a:pt x="2228832" y="44771"/>
                  </a:lnTo>
                  <a:lnTo>
                    <a:pt x="2181054" y="43653"/>
                  </a:lnTo>
                  <a:lnTo>
                    <a:pt x="2131405" y="42407"/>
                  </a:lnTo>
                  <a:lnTo>
                    <a:pt x="2079383" y="41157"/>
                  </a:lnTo>
                  <a:lnTo>
                    <a:pt x="2024490" y="40027"/>
                  </a:lnTo>
                  <a:lnTo>
                    <a:pt x="1966224" y="39142"/>
                  </a:lnTo>
                  <a:lnTo>
                    <a:pt x="1904085" y="38623"/>
                  </a:lnTo>
                  <a:lnTo>
                    <a:pt x="1847480" y="38472"/>
                  </a:lnTo>
                  <a:lnTo>
                    <a:pt x="1796261" y="38530"/>
                  </a:lnTo>
                  <a:lnTo>
                    <a:pt x="1749359" y="38752"/>
                  </a:lnTo>
                  <a:lnTo>
                    <a:pt x="1705707" y="39090"/>
                  </a:lnTo>
                  <a:lnTo>
                    <a:pt x="1664237" y="39498"/>
                  </a:lnTo>
                  <a:lnTo>
                    <a:pt x="1623880" y="39930"/>
                  </a:lnTo>
                  <a:lnTo>
                    <a:pt x="1583569" y="40338"/>
                  </a:lnTo>
                  <a:lnTo>
                    <a:pt x="1542235" y="40676"/>
                  </a:lnTo>
                  <a:lnTo>
                    <a:pt x="1498811" y="40898"/>
                  </a:lnTo>
                  <a:lnTo>
                    <a:pt x="1452228" y="40956"/>
                  </a:lnTo>
                  <a:lnTo>
                    <a:pt x="1401419" y="40804"/>
                  </a:lnTo>
                  <a:lnTo>
                    <a:pt x="1345315" y="40396"/>
                  </a:lnTo>
                  <a:lnTo>
                    <a:pt x="1282848" y="39685"/>
                  </a:lnTo>
                  <a:lnTo>
                    <a:pt x="1212951" y="38623"/>
                  </a:lnTo>
                  <a:lnTo>
                    <a:pt x="1119430" y="37132"/>
                  </a:lnTo>
                  <a:lnTo>
                    <a:pt x="1044051" y="36124"/>
                  </a:lnTo>
                  <a:lnTo>
                    <a:pt x="983814" y="35543"/>
                  </a:lnTo>
                  <a:lnTo>
                    <a:pt x="935715" y="35332"/>
                  </a:lnTo>
                  <a:lnTo>
                    <a:pt x="896753" y="35433"/>
                  </a:lnTo>
                  <a:lnTo>
                    <a:pt x="863925" y="35789"/>
                  </a:lnTo>
                  <a:lnTo>
                    <a:pt x="834228" y="36343"/>
                  </a:lnTo>
                  <a:lnTo>
                    <a:pt x="804661" y="37038"/>
                  </a:lnTo>
                  <a:lnTo>
                    <a:pt x="772222" y="37818"/>
                  </a:lnTo>
                  <a:lnTo>
                    <a:pt x="733907" y="38623"/>
                  </a:lnTo>
                  <a:lnTo>
                    <a:pt x="699797" y="39066"/>
                  </a:lnTo>
                  <a:lnTo>
                    <a:pt x="658549" y="39277"/>
                  </a:lnTo>
                  <a:lnTo>
                    <a:pt x="611245" y="39297"/>
                  </a:lnTo>
                  <a:lnTo>
                    <a:pt x="558963" y="39168"/>
                  </a:lnTo>
                  <a:lnTo>
                    <a:pt x="502787" y="38930"/>
                  </a:lnTo>
                  <a:lnTo>
                    <a:pt x="443795" y="38623"/>
                  </a:lnTo>
                  <a:lnTo>
                    <a:pt x="383070" y="38290"/>
                  </a:lnTo>
                  <a:lnTo>
                    <a:pt x="321691" y="37970"/>
                  </a:lnTo>
                  <a:lnTo>
                    <a:pt x="260740" y="37705"/>
                  </a:lnTo>
                  <a:lnTo>
                    <a:pt x="201298" y="37535"/>
                  </a:lnTo>
                  <a:lnTo>
                    <a:pt x="144444" y="37501"/>
                  </a:lnTo>
                  <a:lnTo>
                    <a:pt x="91261" y="37644"/>
                  </a:lnTo>
                  <a:lnTo>
                    <a:pt x="42829" y="38004"/>
                  </a:lnTo>
                  <a:lnTo>
                    <a:pt x="228" y="38623"/>
                  </a:lnTo>
                  <a:lnTo>
                    <a:pt x="0" y="34559"/>
                  </a:lnTo>
                  <a:lnTo>
                    <a:pt x="736" y="26177"/>
                  </a:lnTo>
                  <a:lnTo>
                    <a:pt x="228" y="20335"/>
                  </a:lnTo>
                  <a:close/>
                </a:path>
              </a:pathLst>
            </a:custGeom>
            <a:ln w="4127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252729" indent="-240029">
              <a:lnSpc>
                <a:spcPct val="100000"/>
              </a:lnSpc>
              <a:spcBef>
                <a:spcPts val="645"/>
              </a:spcBef>
              <a:buAutoNum type="arabicPeriod" startAt="2"/>
              <a:tabLst>
                <a:tab pos="252729" algn="l"/>
              </a:tabLst>
            </a:pPr>
            <a:r>
              <a:rPr dirty="0"/>
              <a:t>Problem</a:t>
            </a:r>
            <a:r>
              <a:rPr spc="-5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Lost</a:t>
            </a:r>
            <a:r>
              <a:rPr spc="-120" dirty="0"/>
              <a:t> </a:t>
            </a:r>
            <a:r>
              <a:rPr spc="-10" dirty="0"/>
              <a:t>Acknowledgement-</a:t>
            </a:r>
          </a:p>
          <a:p>
            <a:pPr marL="240665" marR="264160" lvl="1" indent="-228600">
              <a:lnSpc>
                <a:spcPct val="80000"/>
              </a:lnSpc>
              <a:spcBef>
                <a:spcPts val="994"/>
              </a:spcBef>
              <a:buFont typeface="Arial MT"/>
              <a:buChar char="•"/>
              <a:tabLst>
                <a:tab pos="240665" algn="l"/>
              </a:tabLst>
            </a:pPr>
            <a:r>
              <a:rPr sz="1900" dirty="0">
                <a:latin typeface="Times New Roman"/>
                <a:cs typeface="Times New Roman"/>
              </a:rPr>
              <a:t>Sequence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number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on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data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packets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help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to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solve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problem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of </a:t>
            </a:r>
            <a:r>
              <a:rPr sz="1900" dirty="0">
                <a:latin typeface="Times New Roman"/>
                <a:cs typeface="Times New Roman"/>
              </a:rPr>
              <a:t>delayed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acknowledgement.</a:t>
            </a:r>
            <a:endParaRPr sz="1900">
              <a:latin typeface="Times New Roman"/>
              <a:cs typeface="Times New Roman"/>
            </a:endParaRPr>
          </a:p>
          <a:p>
            <a:pPr marL="240665" lvl="1" indent="-227965">
              <a:lnSpc>
                <a:spcPct val="100000"/>
              </a:lnSpc>
              <a:spcBef>
                <a:spcPts val="555"/>
              </a:spcBef>
              <a:buFont typeface="Arial MT"/>
              <a:buChar char="•"/>
              <a:tabLst>
                <a:tab pos="240665" algn="l"/>
              </a:tabLst>
            </a:pPr>
            <a:r>
              <a:rPr sz="1900" dirty="0">
                <a:latin typeface="Times New Roman"/>
                <a:cs typeface="Times New Roman"/>
              </a:rPr>
              <a:t>Consider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acknowledgement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sent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by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receiver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gets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lost.</a:t>
            </a:r>
            <a:endParaRPr sz="1900">
              <a:latin typeface="Times New Roman"/>
              <a:cs typeface="Times New Roman"/>
            </a:endParaRPr>
          </a:p>
          <a:p>
            <a:pPr marL="240665" lvl="1" indent="-227965">
              <a:lnSpc>
                <a:spcPts val="2055"/>
              </a:lnSpc>
              <a:spcBef>
                <a:spcPts val="540"/>
              </a:spcBef>
              <a:buFont typeface="Arial MT"/>
              <a:buChar char="•"/>
              <a:tabLst>
                <a:tab pos="240665" algn="l"/>
              </a:tabLst>
            </a:pPr>
            <a:r>
              <a:rPr sz="1900" dirty="0">
                <a:latin typeface="Times New Roman"/>
                <a:cs typeface="Times New Roman"/>
              </a:rPr>
              <a:t>Then,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sender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retransmits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same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data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packet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after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its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timer </a:t>
            </a:r>
            <a:r>
              <a:rPr sz="1900" spc="-20" dirty="0">
                <a:latin typeface="Times New Roman"/>
                <a:cs typeface="Times New Roman"/>
              </a:rPr>
              <a:t>goes</a:t>
            </a:r>
            <a:endParaRPr sz="1900">
              <a:latin typeface="Times New Roman"/>
              <a:cs typeface="Times New Roman"/>
            </a:endParaRPr>
          </a:p>
          <a:p>
            <a:pPr marL="240665">
              <a:lnSpc>
                <a:spcPts val="2055"/>
              </a:lnSpc>
            </a:pPr>
            <a:r>
              <a:rPr b="0" spc="-20" dirty="0">
                <a:latin typeface="Times New Roman"/>
                <a:cs typeface="Times New Roman"/>
              </a:rPr>
              <a:t>off.</a:t>
            </a:r>
          </a:p>
          <a:p>
            <a:pPr marL="240665" lvl="1" indent="-227965">
              <a:lnSpc>
                <a:spcPct val="100000"/>
              </a:lnSpc>
              <a:spcBef>
                <a:spcPts val="540"/>
              </a:spcBef>
              <a:buFont typeface="Arial MT"/>
              <a:buChar char="•"/>
              <a:tabLst>
                <a:tab pos="240665" algn="l"/>
              </a:tabLst>
            </a:pPr>
            <a:r>
              <a:rPr sz="1900" dirty="0">
                <a:latin typeface="Times New Roman"/>
                <a:cs typeface="Times New Roman"/>
              </a:rPr>
              <a:t>This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prevents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occurrence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of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deadlock.</a:t>
            </a:r>
            <a:endParaRPr sz="1900">
              <a:latin typeface="Times New Roman"/>
              <a:cs typeface="Times New Roman"/>
            </a:endParaRPr>
          </a:p>
          <a:p>
            <a:pPr marL="240665" marR="373380" lvl="1" indent="-228600">
              <a:lnSpc>
                <a:spcPts val="1820"/>
              </a:lnSpc>
              <a:spcBef>
                <a:spcPts val="994"/>
              </a:spcBef>
              <a:buFont typeface="Arial MT"/>
              <a:buChar char="•"/>
              <a:tabLst>
                <a:tab pos="240665" algn="l"/>
              </a:tabLst>
            </a:pP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sequence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number</a:t>
            </a:r>
            <a:r>
              <a:rPr sz="1900" spc="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on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data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packet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helps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receiver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to </a:t>
            </a:r>
            <a:r>
              <a:rPr sz="1900" dirty="0">
                <a:latin typeface="Times New Roman"/>
                <a:cs typeface="Times New Roman"/>
              </a:rPr>
              <a:t>identify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duplicate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data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packet.</a:t>
            </a:r>
            <a:endParaRPr sz="1900">
              <a:latin typeface="Times New Roman"/>
              <a:cs typeface="Times New Roman"/>
            </a:endParaRPr>
          </a:p>
          <a:p>
            <a:pPr marL="240665" marR="429895" lvl="1" indent="-228600">
              <a:lnSpc>
                <a:spcPct val="80000"/>
              </a:lnSpc>
              <a:spcBef>
                <a:spcPts val="1020"/>
              </a:spcBef>
              <a:buFont typeface="Arial MT"/>
              <a:buChar char="•"/>
              <a:tabLst>
                <a:tab pos="240665" algn="l"/>
              </a:tabLst>
            </a:pPr>
            <a:r>
              <a:rPr sz="1900" dirty="0">
                <a:latin typeface="Times New Roman"/>
                <a:cs typeface="Times New Roman"/>
              </a:rPr>
              <a:t>Receiver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discards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duplicate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packet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and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re-sends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20" dirty="0">
                <a:latin typeface="Times New Roman"/>
                <a:cs typeface="Times New Roman"/>
              </a:rPr>
              <a:t> same </a:t>
            </a:r>
            <a:r>
              <a:rPr sz="1900" spc="-10" dirty="0">
                <a:latin typeface="Times New Roman"/>
                <a:cs typeface="Times New Roman"/>
              </a:rPr>
              <a:t>acknowledgement.</a:t>
            </a:r>
            <a:endParaRPr sz="19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70885" y="639748"/>
            <a:ext cx="3782283" cy="287182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4984" y="4109904"/>
            <a:ext cx="2773443" cy="213606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8819" y="415797"/>
            <a:ext cx="6628130" cy="164846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560"/>
              </a:spcBef>
            </a:pPr>
            <a:r>
              <a:rPr sz="3800" b="1" dirty="0">
                <a:latin typeface="Times New Roman"/>
                <a:cs typeface="Times New Roman"/>
              </a:rPr>
              <a:t>How</a:t>
            </a:r>
            <a:r>
              <a:rPr sz="3800" b="1" spc="-80" dirty="0">
                <a:latin typeface="Times New Roman"/>
                <a:cs typeface="Times New Roman"/>
              </a:rPr>
              <a:t> </a:t>
            </a:r>
            <a:r>
              <a:rPr sz="3800" b="1" dirty="0">
                <a:latin typeface="Times New Roman"/>
                <a:cs typeface="Times New Roman"/>
              </a:rPr>
              <a:t>Stop</a:t>
            </a:r>
            <a:r>
              <a:rPr sz="3800" b="1" spc="10" dirty="0">
                <a:latin typeface="Times New Roman"/>
                <a:cs typeface="Times New Roman"/>
              </a:rPr>
              <a:t> </a:t>
            </a:r>
            <a:r>
              <a:rPr sz="3800" b="1" dirty="0">
                <a:latin typeface="Times New Roman"/>
                <a:cs typeface="Times New Roman"/>
              </a:rPr>
              <a:t>and</a:t>
            </a:r>
            <a:r>
              <a:rPr sz="3800" b="1" spc="-75" dirty="0">
                <a:latin typeface="Times New Roman"/>
                <a:cs typeface="Times New Roman"/>
              </a:rPr>
              <a:t> </a:t>
            </a:r>
            <a:r>
              <a:rPr sz="3800" b="1" spc="-70" dirty="0">
                <a:latin typeface="Times New Roman"/>
                <a:cs typeface="Times New Roman"/>
              </a:rPr>
              <a:t>Wait</a:t>
            </a:r>
            <a:r>
              <a:rPr sz="3800" b="1" spc="-165" dirty="0">
                <a:latin typeface="Times New Roman"/>
                <a:cs typeface="Times New Roman"/>
              </a:rPr>
              <a:t> </a:t>
            </a:r>
            <a:r>
              <a:rPr sz="3800" b="1" dirty="0">
                <a:latin typeface="Times New Roman"/>
                <a:cs typeface="Times New Roman"/>
              </a:rPr>
              <a:t>ARQ</a:t>
            </a:r>
            <a:r>
              <a:rPr sz="3800" b="1" spc="10" dirty="0">
                <a:latin typeface="Times New Roman"/>
                <a:cs typeface="Times New Roman"/>
              </a:rPr>
              <a:t> </a:t>
            </a:r>
            <a:r>
              <a:rPr sz="3800" b="1" spc="-10" dirty="0">
                <a:latin typeface="Times New Roman"/>
                <a:cs typeface="Times New Roman"/>
              </a:rPr>
              <a:t>Solves </a:t>
            </a:r>
            <a:r>
              <a:rPr sz="3800" b="1" dirty="0">
                <a:latin typeface="Times New Roman"/>
                <a:cs typeface="Times New Roman"/>
              </a:rPr>
              <a:t>The</a:t>
            </a:r>
            <a:r>
              <a:rPr sz="3800" b="1" spc="-25" dirty="0">
                <a:latin typeface="Times New Roman"/>
                <a:cs typeface="Times New Roman"/>
              </a:rPr>
              <a:t> </a:t>
            </a:r>
            <a:r>
              <a:rPr sz="3800" b="1" dirty="0">
                <a:latin typeface="Times New Roman"/>
                <a:cs typeface="Times New Roman"/>
              </a:rPr>
              <a:t>Problems</a:t>
            </a:r>
            <a:r>
              <a:rPr sz="3800" b="1" spc="-50" dirty="0">
                <a:latin typeface="Times New Roman"/>
                <a:cs typeface="Times New Roman"/>
              </a:rPr>
              <a:t> </a:t>
            </a:r>
            <a:r>
              <a:rPr sz="3800" b="1" dirty="0">
                <a:latin typeface="Times New Roman"/>
                <a:cs typeface="Times New Roman"/>
              </a:rPr>
              <a:t>of</a:t>
            </a:r>
            <a:r>
              <a:rPr sz="3800" b="1" spc="-15" dirty="0">
                <a:latin typeface="Times New Roman"/>
                <a:cs typeface="Times New Roman"/>
              </a:rPr>
              <a:t> </a:t>
            </a:r>
            <a:r>
              <a:rPr sz="3800" b="1" dirty="0">
                <a:latin typeface="Times New Roman"/>
                <a:cs typeface="Times New Roman"/>
              </a:rPr>
              <a:t>Stop</a:t>
            </a:r>
            <a:r>
              <a:rPr sz="3800" b="1" spc="-40" dirty="0">
                <a:latin typeface="Times New Roman"/>
                <a:cs typeface="Times New Roman"/>
              </a:rPr>
              <a:t> </a:t>
            </a:r>
            <a:r>
              <a:rPr sz="3800" b="1" dirty="0">
                <a:latin typeface="Times New Roman"/>
                <a:cs typeface="Times New Roman"/>
              </a:rPr>
              <a:t>and</a:t>
            </a:r>
            <a:r>
              <a:rPr sz="3800" b="1" spc="-100" dirty="0">
                <a:latin typeface="Times New Roman"/>
                <a:cs typeface="Times New Roman"/>
              </a:rPr>
              <a:t> </a:t>
            </a:r>
            <a:r>
              <a:rPr sz="3800" b="1" spc="-20" dirty="0">
                <a:latin typeface="Times New Roman"/>
                <a:cs typeface="Times New Roman"/>
              </a:rPr>
              <a:t>Wait </a:t>
            </a:r>
            <a:r>
              <a:rPr sz="3800" b="1" dirty="0">
                <a:latin typeface="Times New Roman"/>
                <a:cs typeface="Times New Roman"/>
              </a:rPr>
              <a:t>Protocol</a:t>
            </a:r>
            <a:r>
              <a:rPr sz="3800" b="1" spc="-140" dirty="0">
                <a:latin typeface="Times New Roman"/>
                <a:cs typeface="Times New Roman"/>
              </a:rPr>
              <a:t> </a:t>
            </a:r>
            <a:r>
              <a:rPr sz="3800" b="1" spc="-50" dirty="0">
                <a:latin typeface="Times New Roman"/>
                <a:cs typeface="Times New Roman"/>
              </a:rPr>
              <a:t>?</a:t>
            </a:r>
            <a:endParaRPr sz="38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38847" y="2355516"/>
            <a:ext cx="4286885" cy="87630"/>
            <a:chOff x="738847" y="2355516"/>
            <a:chExt cx="4286885" cy="87630"/>
          </a:xfrm>
        </p:grpSpPr>
        <p:sp>
          <p:nvSpPr>
            <p:cNvPr id="4" name="object 4"/>
            <p:cNvSpPr/>
            <p:nvPr/>
          </p:nvSpPr>
          <p:spPr>
            <a:xfrm>
              <a:off x="759256" y="2382685"/>
              <a:ext cx="4244975" cy="48895"/>
            </a:xfrm>
            <a:custGeom>
              <a:avLst/>
              <a:gdLst/>
              <a:ahLst/>
              <a:cxnLst/>
              <a:rect l="l" t="t" r="r" b="b"/>
              <a:pathLst>
                <a:path w="4244975" h="48894">
                  <a:moveTo>
                    <a:pt x="2874048" y="21932"/>
                  </a:moveTo>
                  <a:lnTo>
                    <a:pt x="2039899" y="21932"/>
                  </a:lnTo>
                  <a:lnTo>
                    <a:pt x="2085390" y="23184"/>
                  </a:lnTo>
                  <a:lnTo>
                    <a:pt x="2144289" y="26529"/>
                  </a:lnTo>
                  <a:lnTo>
                    <a:pt x="2143840" y="26529"/>
                  </a:lnTo>
                  <a:lnTo>
                    <a:pt x="2277301" y="37472"/>
                  </a:lnTo>
                  <a:lnTo>
                    <a:pt x="2334813" y="41695"/>
                  </a:lnTo>
                  <a:lnTo>
                    <a:pt x="2387099" y="44843"/>
                  </a:lnTo>
                  <a:lnTo>
                    <a:pt x="2435166" y="46998"/>
                  </a:lnTo>
                  <a:lnTo>
                    <a:pt x="2483209" y="48332"/>
                  </a:lnTo>
                  <a:lnTo>
                    <a:pt x="2522659" y="48660"/>
                  </a:lnTo>
                  <a:lnTo>
                    <a:pt x="2564095" y="48332"/>
                  </a:lnTo>
                  <a:lnTo>
                    <a:pt x="2605330" y="47340"/>
                  </a:lnTo>
                  <a:lnTo>
                    <a:pt x="2691221" y="43699"/>
                  </a:lnTo>
                  <a:lnTo>
                    <a:pt x="2966766" y="29332"/>
                  </a:lnTo>
                  <a:lnTo>
                    <a:pt x="3024960" y="27517"/>
                  </a:lnTo>
                  <a:lnTo>
                    <a:pt x="3079689" y="26529"/>
                  </a:lnTo>
                  <a:lnTo>
                    <a:pt x="3776314" y="26238"/>
                  </a:lnTo>
                  <a:lnTo>
                    <a:pt x="3792349" y="25615"/>
                  </a:lnTo>
                  <a:lnTo>
                    <a:pt x="3770364" y="25615"/>
                  </a:lnTo>
                  <a:lnTo>
                    <a:pt x="3692717" y="24829"/>
                  </a:lnTo>
                  <a:lnTo>
                    <a:pt x="3704799" y="24829"/>
                  </a:lnTo>
                  <a:lnTo>
                    <a:pt x="3661715" y="23820"/>
                  </a:lnTo>
                  <a:lnTo>
                    <a:pt x="3659842" y="23820"/>
                  </a:lnTo>
                  <a:lnTo>
                    <a:pt x="3621082" y="22367"/>
                  </a:lnTo>
                  <a:lnTo>
                    <a:pt x="2892225" y="22367"/>
                  </a:lnTo>
                  <a:lnTo>
                    <a:pt x="2874048" y="21932"/>
                  </a:lnTo>
                  <a:close/>
                </a:path>
                <a:path w="4244975" h="48894">
                  <a:moveTo>
                    <a:pt x="817228" y="1961"/>
                  </a:moveTo>
                  <a:lnTo>
                    <a:pt x="765314" y="1961"/>
                  </a:lnTo>
                  <a:lnTo>
                    <a:pt x="718026" y="3333"/>
                  </a:lnTo>
                  <a:lnTo>
                    <a:pt x="663694" y="5806"/>
                  </a:lnTo>
                  <a:lnTo>
                    <a:pt x="449294" y="17864"/>
                  </a:lnTo>
                  <a:lnTo>
                    <a:pt x="343138" y="22736"/>
                  </a:lnTo>
                  <a:lnTo>
                    <a:pt x="380587" y="24118"/>
                  </a:lnTo>
                  <a:lnTo>
                    <a:pt x="448140" y="27517"/>
                  </a:lnTo>
                  <a:lnTo>
                    <a:pt x="587132" y="36116"/>
                  </a:lnTo>
                  <a:lnTo>
                    <a:pt x="643893" y="38872"/>
                  </a:lnTo>
                  <a:lnTo>
                    <a:pt x="694088" y="40514"/>
                  </a:lnTo>
                  <a:lnTo>
                    <a:pt x="740785" y="41214"/>
                  </a:lnTo>
                  <a:lnTo>
                    <a:pt x="774746" y="41214"/>
                  </a:lnTo>
                  <a:lnTo>
                    <a:pt x="824157" y="40301"/>
                  </a:lnTo>
                  <a:lnTo>
                    <a:pt x="1342906" y="26529"/>
                  </a:lnTo>
                  <a:lnTo>
                    <a:pt x="1340595" y="26529"/>
                  </a:lnTo>
                  <a:lnTo>
                    <a:pt x="1389766" y="25900"/>
                  </a:lnTo>
                  <a:lnTo>
                    <a:pt x="1383921" y="25900"/>
                  </a:lnTo>
                  <a:lnTo>
                    <a:pt x="1705011" y="25615"/>
                  </a:lnTo>
                  <a:lnTo>
                    <a:pt x="1657757" y="24599"/>
                  </a:lnTo>
                  <a:lnTo>
                    <a:pt x="1656185" y="24599"/>
                  </a:lnTo>
                  <a:lnTo>
                    <a:pt x="1609401" y="22367"/>
                  </a:lnTo>
                  <a:lnTo>
                    <a:pt x="1565213" y="18851"/>
                  </a:lnTo>
                  <a:lnTo>
                    <a:pt x="1560085" y="18248"/>
                  </a:lnTo>
                  <a:lnTo>
                    <a:pt x="1111492" y="18248"/>
                  </a:lnTo>
                  <a:lnTo>
                    <a:pt x="1060472" y="17464"/>
                  </a:lnTo>
                  <a:lnTo>
                    <a:pt x="1057167" y="17464"/>
                  </a:lnTo>
                  <a:lnTo>
                    <a:pt x="1000963" y="13804"/>
                  </a:lnTo>
                  <a:lnTo>
                    <a:pt x="943953" y="8732"/>
                  </a:lnTo>
                  <a:lnTo>
                    <a:pt x="894879" y="5075"/>
                  </a:lnTo>
                  <a:lnTo>
                    <a:pt x="850745" y="2769"/>
                  </a:lnTo>
                  <a:lnTo>
                    <a:pt x="817228" y="1961"/>
                  </a:lnTo>
                  <a:close/>
                </a:path>
                <a:path w="4244975" h="48894">
                  <a:moveTo>
                    <a:pt x="2660638" y="1961"/>
                  </a:moveTo>
                  <a:lnTo>
                    <a:pt x="2454296" y="1961"/>
                  </a:lnTo>
                  <a:lnTo>
                    <a:pt x="1848457" y="23501"/>
                  </a:lnTo>
                  <a:lnTo>
                    <a:pt x="1847868" y="23501"/>
                  </a:lnTo>
                  <a:lnTo>
                    <a:pt x="1798673" y="24829"/>
                  </a:lnTo>
                  <a:lnTo>
                    <a:pt x="1747186" y="25615"/>
                  </a:lnTo>
                  <a:lnTo>
                    <a:pt x="1537794" y="25900"/>
                  </a:lnTo>
                  <a:lnTo>
                    <a:pt x="1536898" y="25900"/>
                  </a:lnTo>
                  <a:lnTo>
                    <a:pt x="1631904" y="27964"/>
                  </a:lnTo>
                  <a:lnTo>
                    <a:pt x="1786803" y="33959"/>
                  </a:lnTo>
                  <a:lnTo>
                    <a:pt x="1828975" y="34120"/>
                  </a:lnTo>
                  <a:lnTo>
                    <a:pt x="1863390" y="32985"/>
                  </a:lnTo>
                  <a:lnTo>
                    <a:pt x="1892409" y="30963"/>
                  </a:lnTo>
                  <a:lnTo>
                    <a:pt x="1943700" y="25900"/>
                  </a:lnTo>
                  <a:lnTo>
                    <a:pt x="1968989" y="23820"/>
                  </a:lnTo>
                  <a:lnTo>
                    <a:pt x="1967725" y="23820"/>
                  </a:lnTo>
                  <a:lnTo>
                    <a:pt x="1998483" y="22367"/>
                  </a:lnTo>
                  <a:lnTo>
                    <a:pt x="1982709" y="22367"/>
                  </a:lnTo>
                  <a:lnTo>
                    <a:pt x="2874048" y="21932"/>
                  </a:lnTo>
                  <a:lnTo>
                    <a:pt x="2847201" y="21288"/>
                  </a:lnTo>
                  <a:lnTo>
                    <a:pt x="2811555" y="18610"/>
                  </a:lnTo>
                  <a:lnTo>
                    <a:pt x="2739779" y="8214"/>
                  </a:lnTo>
                  <a:lnTo>
                    <a:pt x="2698929" y="4220"/>
                  </a:lnTo>
                  <a:lnTo>
                    <a:pt x="2660638" y="1961"/>
                  </a:lnTo>
                  <a:close/>
                </a:path>
                <a:path w="4244975" h="48894">
                  <a:moveTo>
                    <a:pt x="3749679" y="27266"/>
                  </a:moveTo>
                  <a:lnTo>
                    <a:pt x="3230546" y="27266"/>
                  </a:lnTo>
                  <a:lnTo>
                    <a:pt x="3278139" y="28294"/>
                  </a:lnTo>
                  <a:lnTo>
                    <a:pt x="3277361" y="28294"/>
                  </a:lnTo>
                  <a:lnTo>
                    <a:pt x="3498053" y="32845"/>
                  </a:lnTo>
                  <a:lnTo>
                    <a:pt x="3541916" y="32845"/>
                  </a:lnTo>
                  <a:lnTo>
                    <a:pt x="3596081" y="32092"/>
                  </a:lnTo>
                  <a:lnTo>
                    <a:pt x="3749679" y="27266"/>
                  </a:lnTo>
                  <a:close/>
                </a:path>
                <a:path w="4244975" h="48894">
                  <a:moveTo>
                    <a:pt x="457" y="13804"/>
                  </a:moveTo>
                  <a:lnTo>
                    <a:pt x="340" y="15876"/>
                  </a:lnTo>
                  <a:lnTo>
                    <a:pt x="228" y="17864"/>
                  </a:lnTo>
                  <a:lnTo>
                    <a:pt x="107" y="20027"/>
                  </a:lnTo>
                  <a:lnTo>
                    <a:pt x="0" y="21932"/>
                  </a:lnTo>
                  <a:lnTo>
                    <a:pt x="1219" y="24599"/>
                  </a:lnTo>
                  <a:lnTo>
                    <a:pt x="1150" y="25270"/>
                  </a:lnTo>
                  <a:lnTo>
                    <a:pt x="1052" y="26238"/>
                  </a:lnTo>
                  <a:lnTo>
                    <a:pt x="947" y="27266"/>
                  </a:lnTo>
                  <a:lnTo>
                    <a:pt x="877" y="27964"/>
                  </a:lnTo>
                  <a:lnTo>
                    <a:pt x="771" y="29005"/>
                  </a:lnTo>
                  <a:lnTo>
                    <a:pt x="695" y="29748"/>
                  </a:lnTo>
                  <a:lnTo>
                    <a:pt x="572" y="30963"/>
                  </a:lnTo>
                  <a:lnTo>
                    <a:pt x="457" y="32092"/>
                  </a:lnTo>
                  <a:lnTo>
                    <a:pt x="36749" y="28294"/>
                  </a:lnTo>
                  <a:lnTo>
                    <a:pt x="36576" y="28294"/>
                  </a:lnTo>
                  <a:lnTo>
                    <a:pt x="73747" y="25270"/>
                  </a:lnTo>
                  <a:lnTo>
                    <a:pt x="72756" y="25270"/>
                  </a:lnTo>
                  <a:lnTo>
                    <a:pt x="111365" y="23028"/>
                  </a:lnTo>
                  <a:lnTo>
                    <a:pt x="85917" y="21646"/>
                  </a:lnTo>
                  <a:lnTo>
                    <a:pt x="43102" y="18248"/>
                  </a:lnTo>
                  <a:lnTo>
                    <a:pt x="457" y="13804"/>
                  </a:lnTo>
                  <a:close/>
                </a:path>
                <a:path w="4244975" h="48894">
                  <a:moveTo>
                    <a:pt x="4244797" y="13804"/>
                  </a:moveTo>
                  <a:lnTo>
                    <a:pt x="4199662" y="14646"/>
                  </a:lnTo>
                  <a:lnTo>
                    <a:pt x="4106793" y="17464"/>
                  </a:lnTo>
                  <a:lnTo>
                    <a:pt x="4107027" y="17464"/>
                  </a:lnTo>
                  <a:lnTo>
                    <a:pt x="4025256" y="20442"/>
                  </a:lnTo>
                  <a:lnTo>
                    <a:pt x="4045562" y="20442"/>
                  </a:lnTo>
                  <a:lnTo>
                    <a:pt x="4096051" y="21646"/>
                  </a:lnTo>
                  <a:lnTo>
                    <a:pt x="4095107" y="21646"/>
                  </a:lnTo>
                  <a:lnTo>
                    <a:pt x="4143239" y="23820"/>
                  </a:lnTo>
                  <a:lnTo>
                    <a:pt x="4193398" y="27266"/>
                  </a:lnTo>
                  <a:lnTo>
                    <a:pt x="4244797" y="32092"/>
                  </a:lnTo>
                  <a:lnTo>
                    <a:pt x="4244797" y="13804"/>
                  </a:lnTo>
                  <a:close/>
                </a:path>
                <a:path w="4244975" h="48894">
                  <a:moveTo>
                    <a:pt x="3776314" y="26238"/>
                  </a:moveTo>
                  <a:lnTo>
                    <a:pt x="3131270" y="26238"/>
                  </a:lnTo>
                  <a:lnTo>
                    <a:pt x="3184637" y="26529"/>
                  </a:lnTo>
                  <a:lnTo>
                    <a:pt x="3181947" y="26529"/>
                  </a:lnTo>
                  <a:lnTo>
                    <a:pt x="3231972" y="27266"/>
                  </a:lnTo>
                  <a:lnTo>
                    <a:pt x="3749861" y="27266"/>
                  </a:lnTo>
                  <a:lnTo>
                    <a:pt x="3776314" y="26238"/>
                  </a:lnTo>
                  <a:close/>
                </a:path>
                <a:path w="4244975" h="48894">
                  <a:moveTo>
                    <a:pt x="224892" y="20442"/>
                  </a:moveTo>
                  <a:lnTo>
                    <a:pt x="205466" y="20442"/>
                  </a:lnTo>
                  <a:lnTo>
                    <a:pt x="160337" y="21107"/>
                  </a:lnTo>
                  <a:lnTo>
                    <a:pt x="161309" y="21107"/>
                  </a:lnTo>
                  <a:lnTo>
                    <a:pt x="115653" y="22736"/>
                  </a:lnTo>
                  <a:lnTo>
                    <a:pt x="116400" y="22736"/>
                  </a:lnTo>
                  <a:lnTo>
                    <a:pt x="111365" y="23028"/>
                  </a:lnTo>
                  <a:lnTo>
                    <a:pt x="128322" y="23949"/>
                  </a:lnTo>
                  <a:lnTo>
                    <a:pt x="172728" y="25270"/>
                  </a:lnTo>
                  <a:lnTo>
                    <a:pt x="219549" y="25615"/>
                  </a:lnTo>
                  <a:lnTo>
                    <a:pt x="285184" y="24829"/>
                  </a:lnTo>
                  <a:lnTo>
                    <a:pt x="276365" y="24829"/>
                  </a:lnTo>
                  <a:lnTo>
                    <a:pt x="324100" y="23501"/>
                  </a:lnTo>
                  <a:lnTo>
                    <a:pt x="343138" y="22736"/>
                  </a:lnTo>
                  <a:lnTo>
                    <a:pt x="321363" y="21932"/>
                  </a:lnTo>
                  <a:lnTo>
                    <a:pt x="323221" y="21932"/>
                  </a:lnTo>
                  <a:lnTo>
                    <a:pt x="267171" y="20718"/>
                  </a:lnTo>
                  <a:lnTo>
                    <a:pt x="287131" y="20718"/>
                  </a:lnTo>
                  <a:lnTo>
                    <a:pt x="224892" y="20442"/>
                  </a:lnTo>
                  <a:close/>
                </a:path>
                <a:path w="4244975" h="48894">
                  <a:moveTo>
                    <a:pt x="3997503" y="20195"/>
                  </a:moveTo>
                  <a:lnTo>
                    <a:pt x="3947902" y="20718"/>
                  </a:lnTo>
                  <a:lnTo>
                    <a:pt x="3948821" y="20718"/>
                  </a:lnTo>
                  <a:lnTo>
                    <a:pt x="3895846" y="21932"/>
                  </a:lnTo>
                  <a:lnTo>
                    <a:pt x="3897450" y="21932"/>
                  </a:lnTo>
                  <a:lnTo>
                    <a:pt x="3858034" y="23184"/>
                  </a:lnTo>
                  <a:lnTo>
                    <a:pt x="3857343" y="23184"/>
                  </a:lnTo>
                  <a:lnTo>
                    <a:pt x="3801070" y="25270"/>
                  </a:lnTo>
                  <a:lnTo>
                    <a:pt x="3801212" y="25270"/>
                  </a:lnTo>
                  <a:lnTo>
                    <a:pt x="3792349" y="25615"/>
                  </a:lnTo>
                  <a:lnTo>
                    <a:pt x="3812217" y="25615"/>
                  </a:lnTo>
                  <a:lnTo>
                    <a:pt x="3918611" y="23820"/>
                  </a:lnTo>
                  <a:lnTo>
                    <a:pt x="3919555" y="23820"/>
                  </a:lnTo>
                  <a:lnTo>
                    <a:pt x="3969206" y="22367"/>
                  </a:lnTo>
                  <a:lnTo>
                    <a:pt x="4025256" y="20442"/>
                  </a:lnTo>
                  <a:lnTo>
                    <a:pt x="4045562" y="20442"/>
                  </a:lnTo>
                  <a:lnTo>
                    <a:pt x="3997503" y="20195"/>
                  </a:lnTo>
                  <a:close/>
                </a:path>
                <a:path w="4244975" h="48894">
                  <a:moveTo>
                    <a:pt x="3270595" y="6899"/>
                  </a:moveTo>
                  <a:lnTo>
                    <a:pt x="3211980" y="7750"/>
                  </a:lnTo>
                  <a:lnTo>
                    <a:pt x="3156736" y="9599"/>
                  </a:lnTo>
                  <a:lnTo>
                    <a:pt x="3102580" y="12197"/>
                  </a:lnTo>
                  <a:lnTo>
                    <a:pt x="3102909" y="12197"/>
                  </a:lnTo>
                  <a:lnTo>
                    <a:pt x="2965209" y="20027"/>
                  </a:lnTo>
                  <a:lnTo>
                    <a:pt x="2923901" y="21646"/>
                  </a:lnTo>
                  <a:lnTo>
                    <a:pt x="2871200" y="22367"/>
                  </a:lnTo>
                  <a:lnTo>
                    <a:pt x="3621082" y="22367"/>
                  </a:lnTo>
                  <a:lnTo>
                    <a:pt x="3596913" y="21461"/>
                  </a:lnTo>
                  <a:lnTo>
                    <a:pt x="3535223" y="18248"/>
                  </a:lnTo>
                  <a:lnTo>
                    <a:pt x="3535022" y="18248"/>
                  </a:lnTo>
                  <a:lnTo>
                    <a:pt x="3399090" y="9599"/>
                  </a:lnTo>
                  <a:lnTo>
                    <a:pt x="3399370" y="9599"/>
                  </a:lnTo>
                  <a:lnTo>
                    <a:pt x="3332783" y="7392"/>
                  </a:lnTo>
                  <a:lnTo>
                    <a:pt x="3270595" y="6899"/>
                  </a:lnTo>
                  <a:close/>
                </a:path>
                <a:path w="4244975" h="48894">
                  <a:moveTo>
                    <a:pt x="1473264" y="8732"/>
                  </a:moveTo>
                  <a:lnTo>
                    <a:pt x="1318063" y="8732"/>
                  </a:lnTo>
                  <a:lnTo>
                    <a:pt x="1214475" y="14646"/>
                  </a:lnTo>
                  <a:lnTo>
                    <a:pt x="1214099" y="14646"/>
                  </a:lnTo>
                  <a:lnTo>
                    <a:pt x="1163561" y="17036"/>
                  </a:lnTo>
                  <a:lnTo>
                    <a:pt x="1109485" y="18248"/>
                  </a:lnTo>
                  <a:lnTo>
                    <a:pt x="1560085" y="18248"/>
                  </a:lnTo>
                  <a:lnTo>
                    <a:pt x="1522298" y="13804"/>
                  </a:lnTo>
                  <a:lnTo>
                    <a:pt x="1473264" y="8732"/>
                  </a:lnTo>
                  <a:close/>
                </a:path>
                <a:path w="4244975" h="48894">
                  <a:moveTo>
                    <a:pt x="1421006" y="6452"/>
                  </a:moveTo>
                  <a:lnTo>
                    <a:pt x="1370260" y="6731"/>
                  </a:lnTo>
                  <a:lnTo>
                    <a:pt x="1317500" y="8732"/>
                  </a:lnTo>
                  <a:lnTo>
                    <a:pt x="1475665" y="8732"/>
                  </a:lnTo>
                  <a:lnTo>
                    <a:pt x="1421006" y="6452"/>
                  </a:lnTo>
                  <a:close/>
                </a:path>
                <a:path w="4244975" h="48894">
                  <a:moveTo>
                    <a:pt x="2560376" y="0"/>
                  </a:moveTo>
                  <a:lnTo>
                    <a:pt x="2509902" y="577"/>
                  </a:lnTo>
                  <a:lnTo>
                    <a:pt x="2453007" y="1961"/>
                  </a:lnTo>
                  <a:lnTo>
                    <a:pt x="2666227" y="1961"/>
                  </a:lnTo>
                  <a:lnTo>
                    <a:pt x="2608914" y="294"/>
                  </a:lnTo>
                  <a:lnTo>
                    <a:pt x="2560376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9485" y="2376154"/>
              <a:ext cx="4245610" cy="46355"/>
            </a:xfrm>
            <a:custGeom>
              <a:avLst/>
              <a:gdLst/>
              <a:ahLst/>
              <a:cxnLst/>
              <a:rect l="l" t="t" r="r" b="b"/>
              <a:pathLst>
                <a:path w="4245610" h="46355">
                  <a:moveTo>
                    <a:pt x="228" y="20335"/>
                  </a:moveTo>
                  <a:lnTo>
                    <a:pt x="67222" y="14218"/>
                  </a:lnTo>
                  <a:lnTo>
                    <a:pt x="126992" y="9792"/>
                  </a:lnTo>
                  <a:lnTo>
                    <a:pt x="181158" y="6986"/>
                  </a:lnTo>
                  <a:lnTo>
                    <a:pt x="231342" y="5733"/>
                  </a:lnTo>
                  <a:lnTo>
                    <a:pt x="279164" y="5963"/>
                  </a:lnTo>
                  <a:lnTo>
                    <a:pt x="326244" y="7607"/>
                  </a:lnTo>
                  <a:lnTo>
                    <a:pt x="374202" y="10597"/>
                  </a:lnTo>
                  <a:lnTo>
                    <a:pt x="424658" y="14862"/>
                  </a:lnTo>
                  <a:lnTo>
                    <a:pt x="479234" y="20335"/>
                  </a:lnTo>
                  <a:lnTo>
                    <a:pt x="530894" y="24176"/>
                  </a:lnTo>
                  <a:lnTo>
                    <a:pt x="582729" y="25273"/>
                  </a:lnTo>
                  <a:lnTo>
                    <a:pt x="634360" y="24336"/>
                  </a:lnTo>
                  <a:lnTo>
                    <a:pt x="685406" y="22073"/>
                  </a:lnTo>
                  <a:lnTo>
                    <a:pt x="735490" y="19192"/>
                  </a:lnTo>
                  <a:lnTo>
                    <a:pt x="784231" y="16403"/>
                  </a:lnTo>
                  <a:lnTo>
                    <a:pt x="831251" y="14415"/>
                  </a:lnTo>
                  <a:lnTo>
                    <a:pt x="876170" y="13935"/>
                  </a:lnTo>
                  <a:lnTo>
                    <a:pt x="918609" y="15672"/>
                  </a:lnTo>
                  <a:lnTo>
                    <a:pt x="958189" y="20335"/>
                  </a:lnTo>
                  <a:lnTo>
                    <a:pt x="994961" y="25683"/>
                  </a:lnTo>
                  <a:lnTo>
                    <a:pt x="1035811" y="30120"/>
                  </a:lnTo>
                  <a:lnTo>
                    <a:pt x="1080345" y="33595"/>
                  </a:lnTo>
                  <a:lnTo>
                    <a:pt x="1128171" y="36053"/>
                  </a:lnTo>
                  <a:lnTo>
                    <a:pt x="1178894" y="37442"/>
                  </a:lnTo>
                  <a:lnTo>
                    <a:pt x="1232123" y="37708"/>
                  </a:lnTo>
                  <a:lnTo>
                    <a:pt x="1287462" y="36798"/>
                  </a:lnTo>
                  <a:lnTo>
                    <a:pt x="1344520" y="34659"/>
                  </a:lnTo>
                  <a:lnTo>
                    <a:pt x="1402903" y="31238"/>
                  </a:lnTo>
                  <a:lnTo>
                    <a:pt x="1462217" y="26481"/>
                  </a:lnTo>
                  <a:lnTo>
                    <a:pt x="1522069" y="20335"/>
                  </a:lnTo>
                  <a:lnTo>
                    <a:pt x="1569365" y="15276"/>
                  </a:lnTo>
                  <a:lnTo>
                    <a:pt x="1616937" y="10891"/>
                  </a:lnTo>
                  <a:lnTo>
                    <a:pt x="1664796" y="7208"/>
                  </a:lnTo>
                  <a:lnTo>
                    <a:pt x="1712952" y="4251"/>
                  </a:lnTo>
                  <a:lnTo>
                    <a:pt x="1761417" y="2047"/>
                  </a:lnTo>
                  <a:lnTo>
                    <a:pt x="1810202" y="621"/>
                  </a:lnTo>
                  <a:lnTo>
                    <a:pt x="1859318" y="0"/>
                  </a:lnTo>
                  <a:lnTo>
                    <a:pt x="1908776" y="208"/>
                  </a:lnTo>
                  <a:lnTo>
                    <a:pt x="1958587" y="1272"/>
                  </a:lnTo>
                  <a:lnTo>
                    <a:pt x="2008762" y="3218"/>
                  </a:lnTo>
                  <a:lnTo>
                    <a:pt x="2059313" y="6072"/>
                  </a:lnTo>
                  <a:lnTo>
                    <a:pt x="2110251" y="9858"/>
                  </a:lnTo>
                  <a:lnTo>
                    <a:pt x="2161586" y="14604"/>
                  </a:lnTo>
                  <a:lnTo>
                    <a:pt x="2213330" y="20335"/>
                  </a:lnTo>
                  <a:lnTo>
                    <a:pt x="2282144" y="27272"/>
                  </a:lnTo>
                  <a:lnTo>
                    <a:pt x="2343884" y="31040"/>
                  </a:lnTo>
                  <a:lnTo>
                    <a:pt x="2399815" y="32249"/>
                  </a:lnTo>
                  <a:lnTo>
                    <a:pt x="2451200" y="31509"/>
                  </a:lnTo>
                  <a:lnTo>
                    <a:pt x="2499302" y="29432"/>
                  </a:lnTo>
                  <a:lnTo>
                    <a:pt x="2545385" y="26626"/>
                  </a:lnTo>
                  <a:lnTo>
                    <a:pt x="2590712" y="23704"/>
                  </a:lnTo>
                  <a:lnTo>
                    <a:pt x="2636547" y="21274"/>
                  </a:lnTo>
                  <a:lnTo>
                    <a:pt x="2684152" y="19948"/>
                  </a:lnTo>
                  <a:lnTo>
                    <a:pt x="2734792" y="20335"/>
                  </a:lnTo>
                  <a:lnTo>
                    <a:pt x="2787709" y="21145"/>
                  </a:lnTo>
                  <a:lnTo>
                    <a:pt x="2841133" y="20896"/>
                  </a:lnTo>
                  <a:lnTo>
                    <a:pt x="2894810" y="19919"/>
                  </a:lnTo>
                  <a:lnTo>
                    <a:pt x="2948485" y="18543"/>
                  </a:lnTo>
                  <a:lnTo>
                    <a:pt x="3001905" y="17097"/>
                  </a:lnTo>
                  <a:lnTo>
                    <a:pt x="3054814" y="15910"/>
                  </a:lnTo>
                  <a:lnTo>
                    <a:pt x="3106958" y="15311"/>
                  </a:lnTo>
                  <a:lnTo>
                    <a:pt x="3158082" y="15629"/>
                  </a:lnTo>
                  <a:lnTo>
                    <a:pt x="3207932" y="17194"/>
                  </a:lnTo>
                  <a:lnTo>
                    <a:pt x="3256254" y="20335"/>
                  </a:lnTo>
                  <a:lnTo>
                    <a:pt x="3284528" y="22163"/>
                  </a:lnTo>
                  <a:lnTo>
                    <a:pt x="3318964" y="23436"/>
                  </a:lnTo>
                  <a:lnTo>
                    <a:pt x="3358941" y="24217"/>
                  </a:lnTo>
                  <a:lnTo>
                    <a:pt x="3403836" y="24568"/>
                  </a:lnTo>
                  <a:lnTo>
                    <a:pt x="3453027" y="24550"/>
                  </a:lnTo>
                  <a:lnTo>
                    <a:pt x="3505893" y="24226"/>
                  </a:lnTo>
                  <a:lnTo>
                    <a:pt x="3561812" y="23658"/>
                  </a:lnTo>
                  <a:lnTo>
                    <a:pt x="3620161" y="22907"/>
                  </a:lnTo>
                  <a:lnTo>
                    <a:pt x="3680319" y="22035"/>
                  </a:lnTo>
                  <a:lnTo>
                    <a:pt x="3741664" y="21105"/>
                  </a:lnTo>
                  <a:lnTo>
                    <a:pt x="3803575" y="20179"/>
                  </a:lnTo>
                  <a:lnTo>
                    <a:pt x="3865428" y="19318"/>
                  </a:lnTo>
                  <a:lnTo>
                    <a:pt x="3926602" y="18585"/>
                  </a:lnTo>
                  <a:lnTo>
                    <a:pt x="3986476" y="18041"/>
                  </a:lnTo>
                  <a:lnTo>
                    <a:pt x="4044428" y="17749"/>
                  </a:lnTo>
                  <a:lnTo>
                    <a:pt x="4099834" y="17770"/>
                  </a:lnTo>
                  <a:lnTo>
                    <a:pt x="4152074" y="18167"/>
                  </a:lnTo>
                  <a:lnTo>
                    <a:pt x="4200526" y="19002"/>
                  </a:lnTo>
                  <a:lnTo>
                    <a:pt x="4244568" y="20335"/>
                  </a:lnTo>
                  <a:lnTo>
                    <a:pt x="4245457" y="29352"/>
                  </a:lnTo>
                  <a:lnTo>
                    <a:pt x="4244060" y="29733"/>
                  </a:lnTo>
                  <a:lnTo>
                    <a:pt x="4244568" y="38623"/>
                  </a:lnTo>
                  <a:lnTo>
                    <a:pt x="4202478" y="40923"/>
                  </a:lnTo>
                  <a:lnTo>
                    <a:pt x="4161121" y="41996"/>
                  </a:lnTo>
                  <a:lnTo>
                    <a:pt x="4119944" y="42073"/>
                  </a:lnTo>
                  <a:lnTo>
                    <a:pt x="4078391" y="41383"/>
                  </a:lnTo>
                  <a:lnTo>
                    <a:pt x="4035905" y="40156"/>
                  </a:lnTo>
                  <a:lnTo>
                    <a:pt x="3991933" y="38623"/>
                  </a:lnTo>
                  <a:lnTo>
                    <a:pt x="3945919" y="37014"/>
                  </a:lnTo>
                  <a:lnTo>
                    <a:pt x="3897307" y="35557"/>
                  </a:lnTo>
                  <a:lnTo>
                    <a:pt x="3845543" y="34484"/>
                  </a:lnTo>
                  <a:lnTo>
                    <a:pt x="3790071" y="34024"/>
                  </a:lnTo>
                  <a:lnTo>
                    <a:pt x="3730335" y="34408"/>
                  </a:lnTo>
                  <a:lnTo>
                    <a:pt x="3665780" y="35864"/>
                  </a:lnTo>
                  <a:lnTo>
                    <a:pt x="3595852" y="38623"/>
                  </a:lnTo>
                  <a:lnTo>
                    <a:pt x="3524000" y="41374"/>
                  </a:lnTo>
                  <a:lnTo>
                    <a:pt x="3464753" y="42328"/>
                  </a:lnTo>
                  <a:lnTo>
                    <a:pt x="3415879" y="41874"/>
                  </a:lnTo>
                  <a:lnTo>
                    <a:pt x="3375145" y="40401"/>
                  </a:lnTo>
                  <a:lnTo>
                    <a:pt x="3340318" y="38299"/>
                  </a:lnTo>
                  <a:lnTo>
                    <a:pt x="3309165" y="35956"/>
                  </a:lnTo>
                  <a:lnTo>
                    <a:pt x="3279455" y="33762"/>
                  </a:lnTo>
                  <a:lnTo>
                    <a:pt x="3248954" y="32104"/>
                  </a:lnTo>
                  <a:lnTo>
                    <a:pt x="3215430" y="31372"/>
                  </a:lnTo>
                  <a:lnTo>
                    <a:pt x="3176649" y="31956"/>
                  </a:lnTo>
                  <a:lnTo>
                    <a:pt x="3130380" y="34243"/>
                  </a:lnTo>
                  <a:lnTo>
                    <a:pt x="3074390" y="38623"/>
                  </a:lnTo>
                  <a:lnTo>
                    <a:pt x="3011533" y="43264"/>
                  </a:lnTo>
                  <a:lnTo>
                    <a:pt x="2956391" y="45409"/>
                  </a:lnTo>
                  <a:lnTo>
                    <a:pt x="2907423" y="45583"/>
                  </a:lnTo>
                  <a:lnTo>
                    <a:pt x="2863087" y="44306"/>
                  </a:lnTo>
                  <a:lnTo>
                    <a:pt x="2821841" y="42101"/>
                  </a:lnTo>
                  <a:lnTo>
                    <a:pt x="2782144" y="39491"/>
                  </a:lnTo>
                  <a:lnTo>
                    <a:pt x="2742454" y="36996"/>
                  </a:lnTo>
                  <a:lnTo>
                    <a:pt x="2701230" y="35140"/>
                  </a:lnTo>
                  <a:lnTo>
                    <a:pt x="2656928" y="34445"/>
                  </a:lnTo>
                  <a:lnTo>
                    <a:pt x="2608008" y="35432"/>
                  </a:lnTo>
                  <a:lnTo>
                    <a:pt x="2552928" y="38623"/>
                  </a:lnTo>
                  <a:lnTo>
                    <a:pt x="2504234" y="41866"/>
                  </a:lnTo>
                  <a:lnTo>
                    <a:pt x="2457173" y="44113"/>
                  </a:lnTo>
                  <a:lnTo>
                    <a:pt x="2411243" y="45491"/>
                  </a:lnTo>
                  <a:lnTo>
                    <a:pt x="2365945" y="46121"/>
                  </a:lnTo>
                  <a:lnTo>
                    <a:pt x="2320777" y="46129"/>
                  </a:lnTo>
                  <a:lnTo>
                    <a:pt x="2275240" y="45637"/>
                  </a:lnTo>
                  <a:lnTo>
                    <a:pt x="2228832" y="44771"/>
                  </a:lnTo>
                  <a:lnTo>
                    <a:pt x="2181054" y="43653"/>
                  </a:lnTo>
                  <a:lnTo>
                    <a:pt x="2131405" y="42407"/>
                  </a:lnTo>
                  <a:lnTo>
                    <a:pt x="2079383" y="41157"/>
                  </a:lnTo>
                  <a:lnTo>
                    <a:pt x="2024490" y="40027"/>
                  </a:lnTo>
                  <a:lnTo>
                    <a:pt x="1966224" y="39142"/>
                  </a:lnTo>
                  <a:lnTo>
                    <a:pt x="1904085" y="38623"/>
                  </a:lnTo>
                  <a:lnTo>
                    <a:pt x="1847480" y="38472"/>
                  </a:lnTo>
                  <a:lnTo>
                    <a:pt x="1796261" y="38530"/>
                  </a:lnTo>
                  <a:lnTo>
                    <a:pt x="1749359" y="38752"/>
                  </a:lnTo>
                  <a:lnTo>
                    <a:pt x="1705707" y="39090"/>
                  </a:lnTo>
                  <a:lnTo>
                    <a:pt x="1664237" y="39498"/>
                  </a:lnTo>
                  <a:lnTo>
                    <a:pt x="1623880" y="39930"/>
                  </a:lnTo>
                  <a:lnTo>
                    <a:pt x="1583569" y="40338"/>
                  </a:lnTo>
                  <a:lnTo>
                    <a:pt x="1542235" y="40676"/>
                  </a:lnTo>
                  <a:lnTo>
                    <a:pt x="1498811" y="40898"/>
                  </a:lnTo>
                  <a:lnTo>
                    <a:pt x="1452228" y="40956"/>
                  </a:lnTo>
                  <a:lnTo>
                    <a:pt x="1401419" y="40804"/>
                  </a:lnTo>
                  <a:lnTo>
                    <a:pt x="1345315" y="40396"/>
                  </a:lnTo>
                  <a:lnTo>
                    <a:pt x="1282848" y="39685"/>
                  </a:lnTo>
                  <a:lnTo>
                    <a:pt x="1212951" y="38623"/>
                  </a:lnTo>
                  <a:lnTo>
                    <a:pt x="1119430" y="37132"/>
                  </a:lnTo>
                  <a:lnTo>
                    <a:pt x="1044051" y="36124"/>
                  </a:lnTo>
                  <a:lnTo>
                    <a:pt x="983814" y="35543"/>
                  </a:lnTo>
                  <a:lnTo>
                    <a:pt x="935715" y="35332"/>
                  </a:lnTo>
                  <a:lnTo>
                    <a:pt x="896753" y="35433"/>
                  </a:lnTo>
                  <a:lnTo>
                    <a:pt x="863925" y="35789"/>
                  </a:lnTo>
                  <a:lnTo>
                    <a:pt x="834228" y="36343"/>
                  </a:lnTo>
                  <a:lnTo>
                    <a:pt x="804661" y="37038"/>
                  </a:lnTo>
                  <a:lnTo>
                    <a:pt x="772222" y="37818"/>
                  </a:lnTo>
                  <a:lnTo>
                    <a:pt x="733907" y="38623"/>
                  </a:lnTo>
                  <a:lnTo>
                    <a:pt x="699797" y="39066"/>
                  </a:lnTo>
                  <a:lnTo>
                    <a:pt x="658549" y="39277"/>
                  </a:lnTo>
                  <a:lnTo>
                    <a:pt x="611245" y="39297"/>
                  </a:lnTo>
                  <a:lnTo>
                    <a:pt x="558963" y="39168"/>
                  </a:lnTo>
                  <a:lnTo>
                    <a:pt x="502787" y="38930"/>
                  </a:lnTo>
                  <a:lnTo>
                    <a:pt x="443795" y="38623"/>
                  </a:lnTo>
                  <a:lnTo>
                    <a:pt x="383070" y="38290"/>
                  </a:lnTo>
                  <a:lnTo>
                    <a:pt x="321691" y="37970"/>
                  </a:lnTo>
                  <a:lnTo>
                    <a:pt x="260740" y="37705"/>
                  </a:lnTo>
                  <a:lnTo>
                    <a:pt x="201298" y="37535"/>
                  </a:lnTo>
                  <a:lnTo>
                    <a:pt x="144444" y="37501"/>
                  </a:lnTo>
                  <a:lnTo>
                    <a:pt x="91261" y="37644"/>
                  </a:lnTo>
                  <a:lnTo>
                    <a:pt x="42829" y="38004"/>
                  </a:lnTo>
                  <a:lnTo>
                    <a:pt x="228" y="38623"/>
                  </a:lnTo>
                  <a:lnTo>
                    <a:pt x="0" y="34559"/>
                  </a:lnTo>
                  <a:lnTo>
                    <a:pt x="736" y="26177"/>
                  </a:lnTo>
                  <a:lnTo>
                    <a:pt x="228" y="20335"/>
                  </a:lnTo>
                  <a:close/>
                </a:path>
              </a:pathLst>
            </a:custGeom>
            <a:ln w="4127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18819" y="2604640"/>
            <a:ext cx="6738620" cy="380682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265430" indent="-252729">
              <a:lnSpc>
                <a:spcPct val="100000"/>
              </a:lnSpc>
              <a:spcBef>
                <a:spcPts val="860"/>
              </a:spcBef>
              <a:buAutoNum type="arabicPeriod" startAt="3"/>
              <a:tabLst>
                <a:tab pos="265430" algn="l"/>
              </a:tabLst>
            </a:pPr>
            <a:r>
              <a:rPr sz="2000" b="1" dirty="0">
                <a:latin typeface="Times New Roman"/>
                <a:cs typeface="Times New Roman"/>
              </a:rPr>
              <a:t>Problem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Delayed</a:t>
            </a:r>
            <a:r>
              <a:rPr sz="2000" b="1" spc="-14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Acknowledgement/Data-</a:t>
            </a:r>
            <a:endParaRPr sz="2000">
              <a:latin typeface="Times New Roman"/>
              <a:cs typeface="Times New Roman"/>
            </a:endParaRPr>
          </a:p>
          <a:p>
            <a:pPr marL="240665" marR="6350" lvl="1" indent="-228600">
              <a:lnSpc>
                <a:spcPts val="2160"/>
              </a:lnSpc>
              <a:spcBef>
                <a:spcPts val="103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Times New Roman"/>
                <a:cs typeface="Times New Roman"/>
              </a:rPr>
              <a:t>Sequence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number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packets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help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solve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problem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of </a:t>
            </a:r>
            <a:r>
              <a:rPr sz="2000" dirty="0">
                <a:latin typeface="Times New Roman"/>
                <a:cs typeface="Times New Roman"/>
              </a:rPr>
              <a:t>delayed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acknowledgement.</a:t>
            </a:r>
            <a:endParaRPr sz="2000">
              <a:latin typeface="Times New Roman"/>
              <a:cs typeface="Times New Roman"/>
            </a:endParaRPr>
          </a:p>
          <a:p>
            <a:pPr marL="240665" lvl="1" indent="-227965">
              <a:lnSpc>
                <a:spcPct val="100000"/>
              </a:lnSpc>
              <a:spcBef>
                <a:spcPts val="73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Times New Roman"/>
                <a:cs typeface="Times New Roman"/>
              </a:rPr>
              <a:t>Consider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ack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receiver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gets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delayed.</a:t>
            </a:r>
            <a:endParaRPr sz="2000">
              <a:latin typeface="Times New Roman"/>
              <a:cs typeface="Times New Roman"/>
            </a:endParaRPr>
          </a:p>
          <a:p>
            <a:pPr marL="238760" marR="5715" lvl="1" indent="-226695" algn="just">
              <a:lnSpc>
                <a:spcPts val="2160"/>
              </a:lnSpc>
              <a:spcBef>
                <a:spcPts val="103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Times New Roman"/>
                <a:cs typeface="Times New Roman"/>
              </a:rPr>
              <a:t>Sender</a:t>
            </a:r>
            <a:r>
              <a:rPr sz="2000" spc="1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receives</a:t>
            </a:r>
            <a:r>
              <a:rPr sz="2000" spc="1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no</a:t>
            </a:r>
            <a:r>
              <a:rPr sz="2000" spc="1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ack</a:t>
            </a:r>
            <a:r>
              <a:rPr sz="2000" spc="13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1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out</a:t>
            </a:r>
            <a:r>
              <a:rPr sz="2000" spc="1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occurs,</a:t>
            </a:r>
            <a:r>
              <a:rPr sz="2000" spc="1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30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sender 	</a:t>
            </a:r>
            <a:r>
              <a:rPr sz="2000" dirty="0">
                <a:latin typeface="Times New Roman"/>
                <a:cs typeface="Times New Roman"/>
              </a:rPr>
              <a:t>retransmits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same data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packet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sequence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number-</a:t>
            </a:r>
            <a:r>
              <a:rPr sz="2000" spc="-25" dirty="0">
                <a:latin typeface="Times New Roman"/>
                <a:cs typeface="Times New Roman"/>
              </a:rPr>
              <a:t>0.</a:t>
            </a:r>
            <a:endParaRPr sz="2000">
              <a:latin typeface="Times New Roman"/>
              <a:cs typeface="Times New Roman"/>
            </a:endParaRPr>
          </a:p>
          <a:p>
            <a:pPr marL="238760" marR="5080" lvl="1" indent="-226695" algn="just">
              <a:lnSpc>
                <a:spcPts val="2160"/>
              </a:lnSpc>
              <a:spcBef>
                <a:spcPts val="994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Times New Roman"/>
                <a:cs typeface="Times New Roman"/>
              </a:rPr>
              <a:t>Receiver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receives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packet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discovers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duplicate 	</a:t>
            </a:r>
            <a:r>
              <a:rPr sz="2000" dirty="0">
                <a:latin typeface="Times New Roman"/>
                <a:cs typeface="Times New Roman"/>
              </a:rPr>
              <a:t>packet.</a:t>
            </a:r>
            <a:r>
              <a:rPr sz="2000" spc="10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9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discards</a:t>
            </a:r>
            <a:r>
              <a:rPr sz="2000" spc="10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0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duplicate</a:t>
            </a:r>
            <a:r>
              <a:rPr sz="2000" spc="9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10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packet</a:t>
            </a:r>
            <a:r>
              <a:rPr sz="2000" spc="10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00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re-sends 	acknowledgement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ACK-</a:t>
            </a:r>
            <a:r>
              <a:rPr sz="2000" spc="-25" dirty="0">
                <a:latin typeface="Times New Roman"/>
                <a:cs typeface="Times New Roman"/>
              </a:rPr>
              <a:t>1.</a:t>
            </a:r>
            <a:endParaRPr sz="2000">
              <a:latin typeface="Times New Roman"/>
              <a:cs typeface="Times New Roman"/>
            </a:endParaRPr>
          </a:p>
          <a:p>
            <a:pPr marL="238760" marR="5715" lvl="1" indent="-226695" algn="just">
              <a:lnSpc>
                <a:spcPts val="2160"/>
              </a:lnSpc>
              <a:spcBef>
                <a:spcPts val="101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Times New Roman"/>
                <a:cs typeface="Times New Roman"/>
              </a:rPr>
              <a:t>Sender</a:t>
            </a:r>
            <a:r>
              <a:rPr sz="2000" spc="3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receives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two</a:t>
            </a:r>
            <a:r>
              <a:rPr sz="2000" spc="3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acknowledgement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ACK1,</a:t>
            </a:r>
            <a:r>
              <a:rPr sz="2000" spc="3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hence,</a:t>
            </a:r>
            <a:r>
              <a:rPr sz="2000" spc="3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sender 	</a:t>
            </a:r>
            <a:r>
              <a:rPr sz="2000" dirty="0">
                <a:latin typeface="Times New Roman"/>
                <a:cs typeface="Times New Roman"/>
              </a:rPr>
              <a:t>rejects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duplicate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acknowledgement.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24374" y="370104"/>
            <a:ext cx="2624966" cy="337596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72406" y="4174885"/>
            <a:ext cx="2420423" cy="19503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2172" y="312877"/>
            <a:ext cx="10619105" cy="106870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90"/>
              </a:spcBef>
            </a:pPr>
            <a:r>
              <a:rPr b="1" dirty="0">
                <a:latin typeface="Times New Roman"/>
                <a:cs typeface="Times New Roman"/>
              </a:rPr>
              <a:t>How</a:t>
            </a:r>
            <a:r>
              <a:rPr b="1" spc="-1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Stop</a:t>
            </a:r>
            <a:r>
              <a:rPr b="1" spc="-1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and</a:t>
            </a:r>
            <a:r>
              <a:rPr b="1" spc="-75" dirty="0">
                <a:latin typeface="Times New Roman"/>
                <a:cs typeface="Times New Roman"/>
              </a:rPr>
              <a:t> </a:t>
            </a:r>
            <a:r>
              <a:rPr b="1" spc="-60" dirty="0">
                <a:latin typeface="Times New Roman"/>
                <a:cs typeface="Times New Roman"/>
              </a:rPr>
              <a:t>Wait</a:t>
            </a:r>
            <a:r>
              <a:rPr b="1" spc="-18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ARQ</a:t>
            </a:r>
            <a:r>
              <a:rPr b="1" spc="-2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Solves</a:t>
            </a:r>
            <a:r>
              <a:rPr b="1" spc="-6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The</a:t>
            </a:r>
            <a:r>
              <a:rPr b="1" spc="-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Problems</a:t>
            </a:r>
            <a:r>
              <a:rPr b="1" spc="-1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of</a:t>
            </a:r>
            <a:r>
              <a:rPr b="1" spc="5" dirty="0">
                <a:latin typeface="Times New Roman"/>
                <a:cs typeface="Times New Roman"/>
              </a:rPr>
              <a:t> </a:t>
            </a:r>
            <a:r>
              <a:rPr b="1" spc="-20" dirty="0">
                <a:latin typeface="Times New Roman"/>
                <a:cs typeface="Times New Roman"/>
              </a:rPr>
              <a:t>Stop </a:t>
            </a:r>
            <a:r>
              <a:rPr b="1" dirty="0">
                <a:latin typeface="Times New Roman"/>
                <a:cs typeface="Times New Roman"/>
              </a:rPr>
              <a:t>and</a:t>
            </a:r>
            <a:r>
              <a:rPr b="1" spc="-19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Wait</a:t>
            </a:r>
            <a:r>
              <a:rPr b="1" spc="-13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Protocol</a:t>
            </a:r>
            <a:r>
              <a:rPr b="1" spc="-135" dirty="0">
                <a:latin typeface="Times New Roman"/>
                <a:cs typeface="Times New Roman"/>
              </a:rPr>
              <a:t> </a:t>
            </a:r>
            <a:r>
              <a:rPr b="1" spc="-50" dirty="0">
                <a:latin typeface="Times New Roman"/>
                <a:cs typeface="Times New Roman"/>
              </a:rPr>
              <a:t>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2172" y="1680946"/>
            <a:ext cx="4998085" cy="2053589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266700" indent="-254000" algn="just">
              <a:lnSpc>
                <a:spcPct val="100000"/>
              </a:lnSpc>
              <a:spcBef>
                <a:spcPts val="855"/>
              </a:spcBef>
              <a:buAutoNum type="arabicPeriod" startAt="4"/>
              <a:tabLst>
                <a:tab pos="266700" algn="l"/>
              </a:tabLst>
            </a:pPr>
            <a:r>
              <a:rPr sz="2000" b="1" dirty="0">
                <a:latin typeface="Times New Roman"/>
                <a:cs typeface="Times New Roman"/>
              </a:rPr>
              <a:t>Problem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Damaged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Packet-</a:t>
            </a:r>
            <a:endParaRPr sz="2000">
              <a:latin typeface="Times New Roman"/>
              <a:cs typeface="Times New Roman"/>
            </a:endParaRPr>
          </a:p>
          <a:p>
            <a:pPr marL="238760" marR="5080" lvl="1" indent="-226695" algn="just">
              <a:lnSpc>
                <a:spcPts val="216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4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receiver</a:t>
            </a:r>
            <a:r>
              <a:rPr sz="2000" spc="4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receives</a:t>
            </a:r>
            <a:r>
              <a:rPr sz="2000" spc="4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4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corrupted</a:t>
            </a:r>
            <a:r>
              <a:rPr sz="2000" spc="4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packet 	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49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70" dirty="0">
                <a:latin typeface="Times New Roman"/>
                <a:cs typeface="Times New Roman"/>
              </a:rPr>
              <a:t>   </a:t>
            </a:r>
            <a:r>
              <a:rPr sz="2000" dirty="0">
                <a:latin typeface="Times New Roman"/>
                <a:cs typeface="Times New Roman"/>
              </a:rPr>
              <a:t>sender,</a:t>
            </a:r>
            <a:r>
              <a:rPr sz="2000" spc="170" dirty="0">
                <a:latin typeface="Times New Roman"/>
                <a:cs typeface="Times New Roman"/>
              </a:rPr>
              <a:t>  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165" dirty="0">
                <a:latin typeface="Times New Roman"/>
                <a:cs typeface="Times New Roman"/>
              </a:rPr>
              <a:t>   </a:t>
            </a:r>
            <a:r>
              <a:rPr sz="2000" dirty="0">
                <a:latin typeface="Times New Roman"/>
                <a:cs typeface="Times New Roman"/>
              </a:rPr>
              <a:t>sends</a:t>
            </a:r>
            <a:r>
              <a:rPr sz="2000" spc="170" dirty="0">
                <a:latin typeface="Times New Roman"/>
                <a:cs typeface="Times New Roman"/>
              </a:rPr>
              <a:t>  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70" dirty="0">
                <a:latin typeface="Times New Roman"/>
                <a:cs typeface="Times New Roman"/>
              </a:rPr>
              <a:t>   </a:t>
            </a:r>
            <a:r>
              <a:rPr sz="2000" spc="-10" dirty="0">
                <a:latin typeface="Times New Roman"/>
                <a:cs typeface="Times New Roman"/>
              </a:rPr>
              <a:t>negative 	</a:t>
            </a:r>
            <a:r>
              <a:rPr sz="2000" dirty="0">
                <a:latin typeface="Times New Roman"/>
                <a:cs typeface="Times New Roman"/>
              </a:rPr>
              <a:t>acknowledgement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(NAK)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sender.</a:t>
            </a:r>
            <a:endParaRPr sz="2000">
              <a:latin typeface="Times New Roman"/>
              <a:cs typeface="Times New Roman"/>
            </a:endParaRPr>
          </a:p>
          <a:p>
            <a:pPr marL="239395" lvl="1" indent="-226695" algn="just">
              <a:lnSpc>
                <a:spcPts val="2280"/>
              </a:lnSpc>
              <a:spcBef>
                <a:spcPts val="735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dirty="0">
                <a:latin typeface="Times New Roman"/>
                <a:cs typeface="Times New Roman"/>
              </a:rPr>
              <a:t>NAK</a:t>
            </a:r>
            <a:r>
              <a:rPr sz="2000" spc="4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requests</a:t>
            </a:r>
            <a:r>
              <a:rPr sz="2000" spc="3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sender</a:t>
            </a:r>
            <a:r>
              <a:rPr sz="2000" spc="4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5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send</a:t>
            </a:r>
            <a:r>
              <a:rPr sz="2000" spc="5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0" dirty="0">
                <a:latin typeface="Times New Roman"/>
                <a:cs typeface="Times New Roman"/>
              </a:rPr>
              <a:t>  </a:t>
            </a:r>
            <a:r>
              <a:rPr sz="2000" spc="-20" dirty="0">
                <a:latin typeface="Times New Roman"/>
                <a:cs typeface="Times New Roman"/>
              </a:rPr>
              <a:t>data</a:t>
            </a:r>
            <a:endParaRPr sz="2000">
              <a:latin typeface="Times New Roman"/>
              <a:cs typeface="Times New Roman"/>
            </a:endParaRPr>
          </a:p>
          <a:p>
            <a:pPr marL="241300" algn="just">
              <a:lnSpc>
                <a:spcPts val="2280"/>
              </a:lnSpc>
            </a:pPr>
            <a:r>
              <a:rPr sz="2000" dirty="0">
                <a:latin typeface="Times New Roman"/>
                <a:cs typeface="Times New Roman"/>
              </a:rPr>
              <a:t>packet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again.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4600955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370545"/>
                </a:moveTo>
                <a:lnTo>
                  <a:pt x="832510" y="1189012"/>
                </a:lnTo>
                <a:lnTo>
                  <a:pt x="1013460" y="1008888"/>
                </a:lnTo>
                <a:lnTo>
                  <a:pt x="0" y="0"/>
                </a:lnTo>
                <a:lnTo>
                  <a:pt x="0" y="2017776"/>
                </a:lnTo>
                <a:lnTo>
                  <a:pt x="488391" y="1531594"/>
                </a:lnTo>
                <a:lnTo>
                  <a:pt x="670699" y="1713890"/>
                </a:lnTo>
                <a:lnTo>
                  <a:pt x="1014056" y="137054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61935" y="1866690"/>
            <a:ext cx="3706965" cy="425020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1219307" y="0"/>
            <a:ext cx="972819" cy="1935480"/>
          </a:xfrm>
          <a:custGeom>
            <a:avLst/>
            <a:gdLst/>
            <a:ahLst/>
            <a:cxnLst/>
            <a:rect l="l" t="t" r="r" b="b"/>
            <a:pathLst>
              <a:path w="972820" h="1935480">
                <a:moveTo>
                  <a:pt x="972693" y="0"/>
                </a:moveTo>
                <a:lnTo>
                  <a:pt x="381" y="967740"/>
                </a:lnTo>
                <a:lnTo>
                  <a:pt x="177482" y="1144016"/>
                </a:lnTo>
                <a:lnTo>
                  <a:pt x="0" y="1321562"/>
                </a:lnTo>
                <a:lnTo>
                  <a:pt x="348615" y="1670177"/>
                </a:lnTo>
                <a:lnTo>
                  <a:pt x="526986" y="1491881"/>
                </a:lnTo>
                <a:lnTo>
                  <a:pt x="972693" y="1935480"/>
                </a:lnTo>
                <a:lnTo>
                  <a:pt x="972693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imes New Roman"/>
                <a:cs typeface="Times New Roman"/>
              </a:rPr>
              <a:t>Disadvantage</a:t>
            </a:r>
            <a:r>
              <a:rPr b="1" spc="-1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of</a:t>
            </a:r>
            <a:r>
              <a:rPr b="1" spc="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Stop and</a:t>
            </a:r>
            <a:r>
              <a:rPr b="1" spc="-65" dirty="0">
                <a:latin typeface="Times New Roman"/>
                <a:cs typeface="Times New Roman"/>
              </a:rPr>
              <a:t> </a:t>
            </a:r>
            <a:r>
              <a:rPr b="1" spc="-55" dirty="0">
                <a:latin typeface="Times New Roman"/>
                <a:cs typeface="Times New Roman"/>
              </a:rPr>
              <a:t>Wait</a:t>
            </a:r>
            <a:r>
              <a:rPr b="1" spc="-195" dirty="0">
                <a:latin typeface="Times New Roman"/>
                <a:cs typeface="Times New Roman"/>
              </a:rPr>
              <a:t> </a:t>
            </a:r>
            <a:r>
              <a:rPr b="1" spc="-25" dirty="0">
                <a:latin typeface="Times New Roman"/>
                <a:cs typeface="Times New Roman"/>
              </a:rPr>
              <a:t>ARQ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2172" y="1776730"/>
            <a:ext cx="10419715" cy="278066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38760" marR="5080" indent="-226695" algn="just">
              <a:lnSpc>
                <a:spcPct val="90000"/>
              </a:lnSpc>
              <a:spcBef>
                <a:spcPts val="34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Stop</a:t>
            </a:r>
            <a:r>
              <a:rPr sz="2000" spc="1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Wait</a:t>
            </a:r>
            <a:r>
              <a:rPr sz="2000" spc="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ARQ</a:t>
            </a:r>
            <a:r>
              <a:rPr sz="2000" spc="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may</a:t>
            </a:r>
            <a:r>
              <a:rPr sz="2000" spc="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cause</a:t>
            </a:r>
            <a:r>
              <a:rPr sz="2000" spc="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big</a:t>
            </a:r>
            <a:r>
              <a:rPr sz="2000" spc="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performance  issues</a:t>
            </a:r>
            <a:r>
              <a:rPr sz="2000" spc="1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sender</a:t>
            </a:r>
            <a:r>
              <a:rPr sz="2000" spc="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always</a:t>
            </a:r>
            <a:r>
              <a:rPr sz="2000" spc="1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waits</a:t>
            </a:r>
            <a:r>
              <a:rPr sz="2000" spc="5" dirty="0">
                <a:latin typeface="Times New Roman"/>
                <a:cs typeface="Times New Roman"/>
              </a:rPr>
              <a:t>  </a:t>
            </a:r>
            <a:r>
              <a:rPr sz="2000" spc="-25" dirty="0">
                <a:latin typeface="Times New Roman"/>
                <a:cs typeface="Times New Roman"/>
              </a:rPr>
              <a:t>for 	</a:t>
            </a:r>
            <a:r>
              <a:rPr sz="2000" dirty="0">
                <a:latin typeface="Times New Roman"/>
                <a:cs typeface="Times New Roman"/>
              </a:rPr>
              <a:t>acknowledgement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even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next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packet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ready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send.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Consider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situation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where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you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have 	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high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bandwidth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connection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propagation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delay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also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high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(you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connected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some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server 	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some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other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country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through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high-</a:t>
            </a:r>
            <a:r>
              <a:rPr sz="2000" dirty="0">
                <a:latin typeface="Times New Roman"/>
                <a:cs typeface="Times New Roman"/>
              </a:rPr>
              <a:t>speed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connection).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solve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problem,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send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more 	</a:t>
            </a:r>
            <a:r>
              <a:rPr sz="2000" dirty="0">
                <a:latin typeface="Times New Roman"/>
                <a:cs typeface="Times New Roman"/>
              </a:rPr>
              <a:t>than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packet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larger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sequence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number.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discussing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these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protocols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in 	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next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articles.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00"/>
              </a:spcBef>
              <a:buFont typeface="Arial MT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238760" marR="6350" indent="-226695" algn="just">
              <a:lnSpc>
                <a:spcPts val="2160"/>
              </a:lnSpc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Stop</a:t>
            </a:r>
            <a:r>
              <a:rPr sz="2000" spc="4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4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Wait</a:t>
            </a:r>
            <a:r>
              <a:rPr sz="2000" spc="4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ARQ</a:t>
            </a:r>
            <a:r>
              <a:rPr sz="2000" spc="4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may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work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fine</a:t>
            </a:r>
            <a:r>
              <a:rPr sz="2000" spc="4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where</a:t>
            </a:r>
            <a:r>
              <a:rPr sz="2000" spc="4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propagation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delay</a:t>
            </a:r>
            <a:r>
              <a:rPr sz="2000" spc="45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4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very</a:t>
            </a:r>
            <a:r>
              <a:rPr sz="2000" spc="4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less</a:t>
            </a:r>
            <a:r>
              <a:rPr sz="2000" spc="4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4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example</a:t>
            </a:r>
            <a:r>
              <a:rPr sz="2000" spc="48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LAN 	</a:t>
            </a:r>
            <a:r>
              <a:rPr sz="2000" dirty="0">
                <a:latin typeface="Times New Roman"/>
                <a:cs typeface="Times New Roman"/>
              </a:rPr>
              <a:t>connections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performs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badly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distant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connections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like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satellite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connections.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4600955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370545"/>
                </a:moveTo>
                <a:lnTo>
                  <a:pt x="832510" y="1189012"/>
                </a:lnTo>
                <a:lnTo>
                  <a:pt x="1013460" y="1008888"/>
                </a:lnTo>
                <a:lnTo>
                  <a:pt x="0" y="0"/>
                </a:lnTo>
                <a:lnTo>
                  <a:pt x="0" y="2017776"/>
                </a:lnTo>
                <a:lnTo>
                  <a:pt x="488391" y="1531594"/>
                </a:lnTo>
                <a:lnTo>
                  <a:pt x="670699" y="1713890"/>
                </a:lnTo>
                <a:lnTo>
                  <a:pt x="1014056" y="137054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219307" y="0"/>
            <a:ext cx="972819" cy="1935480"/>
          </a:xfrm>
          <a:custGeom>
            <a:avLst/>
            <a:gdLst/>
            <a:ahLst/>
            <a:cxnLst/>
            <a:rect l="l" t="t" r="r" b="b"/>
            <a:pathLst>
              <a:path w="972820" h="1935480">
                <a:moveTo>
                  <a:pt x="972693" y="0"/>
                </a:moveTo>
                <a:lnTo>
                  <a:pt x="381" y="967740"/>
                </a:lnTo>
                <a:lnTo>
                  <a:pt x="177482" y="1144016"/>
                </a:lnTo>
                <a:lnTo>
                  <a:pt x="0" y="1321562"/>
                </a:lnTo>
                <a:lnTo>
                  <a:pt x="348615" y="1670177"/>
                </a:lnTo>
                <a:lnTo>
                  <a:pt x="526986" y="1491881"/>
                </a:lnTo>
                <a:lnTo>
                  <a:pt x="972693" y="1935480"/>
                </a:lnTo>
                <a:lnTo>
                  <a:pt x="972693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imes New Roman"/>
                <a:cs typeface="Times New Roman"/>
              </a:rPr>
              <a:t>Self</a:t>
            </a:r>
            <a:r>
              <a:rPr b="1" spc="-6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Practice</a:t>
            </a:r>
            <a:r>
              <a:rPr b="1" spc="-45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Questions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2172" y="1776730"/>
            <a:ext cx="10420985" cy="223202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 indent="261620" algn="just">
              <a:lnSpc>
                <a:spcPts val="2160"/>
              </a:lnSpc>
              <a:spcBef>
                <a:spcPts val="375"/>
              </a:spcBef>
              <a:buAutoNum type="arabicPeriod"/>
              <a:tabLst>
                <a:tab pos="274320" algn="l"/>
              </a:tabLst>
            </a:pP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stop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wait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protocol,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sender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wants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transmit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packets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receiver.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Out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these </a:t>
            </a:r>
            <a:r>
              <a:rPr sz="2000" dirty="0">
                <a:latin typeface="Times New Roman"/>
                <a:cs typeface="Times New Roman"/>
              </a:rPr>
              <a:t>10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packets,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every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3rd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packet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lost.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How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many packets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sender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have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total?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35"/>
              </a:spcBef>
              <a:buFont typeface="Times New Roman"/>
              <a:buAutoNum type="arabicPeriod"/>
            </a:pPr>
            <a:endParaRPr sz="2000">
              <a:latin typeface="Times New Roman"/>
              <a:cs typeface="Times New Roman"/>
            </a:endParaRPr>
          </a:p>
          <a:p>
            <a:pPr marL="12700" marR="6350" indent="276860" algn="just">
              <a:lnSpc>
                <a:spcPct val="90000"/>
              </a:lnSpc>
              <a:buAutoNum type="arabicPeriod"/>
              <a:tabLst>
                <a:tab pos="289560" algn="l"/>
                <a:tab pos="6641465" algn="l"/>
              </a:tabLst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sender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uses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stop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wait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ARQ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protocol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reliable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transmission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frames.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Frames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of </a:t>
            </a:r>
            <a:r>
              <a:rPr sz="2000" dirty="0">
                <a:latin typeface="Times New Roman"/>
                <a:cs typeface="Times New Roman"/>
              </a:rPr>
              <a:t>size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1000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bytes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transmission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rate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sender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80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Kbps.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Size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acknowledgement 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100 </a:t>
            </a:r>
            <a:r>
              <a:rPr sz="2000" dirty="0">
                <a:latin typeface="Times New Roman"/>
                <a:cs typeface="Times New Roman"/>
              </a:rPr>
              <a:t>bytes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transmission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rate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receiver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8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Kbps.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way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propagation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delay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100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msec. </a:t>
            </a:r>
            <a:r>
              <a:rPr sz="2000" dirty="0">
                <a:latin typeface="Times New Roman"/>
                <a:cs typeface="Times New Roman"/>
              </a:rPr>
              <a:t>Assuming no frame is lost, the sender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throughput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bytes/sec.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4600955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370545"/>
                </a:moveTo>
                <a:lnTo>
                  <a:pt x="832510" y="1189012"/>
                </a:lnTo>
                <a:lnTo>
                  <a:pt x="1013460" y="1008888"/>
                </a:lnTo>
                <a:lnTo>
                  <a:pt x="0" y="0"/>
                </a:lnTo>
                <a:lnTo>
                  <a:pt x="0" y="2017776"/>
                </a:lnTo>
                <a:lnTo>
                  <a:pt x="488391" y="1531594"/>
                </a:lnTo>
                <a:lnTo>
                  <a:pt x="670699" y="1713890"/>
                </a:lnTo>
                <a:lnTo>
                  <a:pt x="1014056" y="137054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219307" y="0"/>
            <a:ext cx="972819" cy="1935480"/>
          </a:xfrm>
          <a:custGeom>
            <a:avLst/>
            <a:gdLst/>
            <a:ahLst/>
            <a:cxnLst/>
            <a:rect l="l" t="t" r="r" b="b"/>
            <a:pathLst>
              <a:path w="972820" h="1935480">
                <a:moveTo>
                  <a:pt x="972693" y="0"/>
                </a:moveTo>
                <a:lnTo>
                  <a:pt x="381" y="967740"/>
                </a:lnTo>
                <a:lnTo>
                  <a:pt x="177482" y="1144016"/>
                </a:lnTo>
                <a:lnTo>
                  <a:pt x="0" y="1321562"/>
                </a:lnTo>
                <a:lnTo>
                  <a:pt x="348615" y="1670177"/>
                </a:lnTo>
                <a:lnTo>
                  <a:pt x="526986" y="1491881"/>
                </a:lnTo>
                <a:lnTo>
                  <a:pt x="972693" y="1935480"/>
                </a:lnTo>
                <a:lnTo>
                  <a:pt x="972693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9677" y="1735810"/>
            <a:ext cx="8139430" cy="2053589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65"/>
              </a:spcBef>
              <a:buClr>
                <a:srgbClr val="000000"/>
              </a:buClr>
              <a:buFont typeface="Arial MT"/>
              <a:buChar char="•"/>
              <a:tabLst>
                <a:tab pos="240665" algn="l"/>
              </a:tabLst>
            </a:pPr>
            <a:r>
              <a:rPr sz="20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https://www.javatpoint.com/sliding-</a:t>
            </a:r>
            <a:r>
              <a:rPr sz="20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window-protocol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65"/>
              </a:spcBef>
              <a:buClr>
                <a:srgbClr val="000000"/>
              </a:buClr>
              <a:buFont typeface="Arial MT"/>
              <a:buChar char="•"/>
              <a:tabLst>
                <a:tab pos="240665" algn="l"/>
              </a:tabLst>
            </a:pPr>
            <a:r>
              <a:rPr sz="2000" u="sng" spc="-3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https://www.gatevidyalay.com/stop-</a:t>
            </a:r>
            <a:r>
              <a:rPr sz="20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and-</a:t>
            </a:r>
            <a:r>
              <a:rPr sz="20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wait-protocol-practice-</a:t>
            </a:r>
            <a:r>
              <a:rPr sz="20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problems/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54"/>
              </a:spcBef>
              <a:buClr>
                <a:srgbClr val="000000"/>
              </a:buClr>
              <a:buFont typeface="Arial MT"/>
              <a:buChar char="•"/>
              <a:tabLst>
                <a:tab pos="240665" algn="l"/>
              </a:tabLst>
            </a:pPr>
            <a:r>
              <a:rPr sz="2000" u="sng" spc="-3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https://www.gatevidyalay.com/stop-</a:t>
            </a:r>
            <a:r>
              <a:rPr sz="20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and-</a:t>
            </a:r>
            <a:r>
              <a:rPr sz="20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wait-arq-</a:t>
            </a:r>
            <a:r>
              <a:rPr sz="20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sliding-window-protocols/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65"/>
              </a:spcBef>
              <a:buClr>
                <a:srgbClr val="000000"/>
              </a:buClr>
              <a:buFont typeface="Arial MT"/>
              <a:buChar char="•"/>
              <a:tabLst>
                <a:tab pos="240665" algn="l"/>
              </a:tabLst>
            </a:pPr>
            <a:r>
              <a:rPr sz="2000" u="sng" spc="-2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https://www.geeksforgeeks.org/stop-</a:t>
            </a:r>
            <a:r>
              <a:rPr sz="20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and-</a:t>
            </a:r>
            <a:r>
              <a:rPr sz="20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wait-arq/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60"/>
              </a:spcBef>
              <a:buClr>
                <a:srgbClr val="000000"/>
              </a:buClr>
              <a:buFont typeface="Arial MT"/>
              <a:buChar char="•"/>
              <a:tabLst>
                <a:tab pos="240665" algn="l"/>
              </a:tabLst>
            </a:pPr>
            <a:r>
              <a:rPr sz="20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https://www.youtube.com/watch?v=n09DfvemnTQ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54"/>
              </a:spcBef>
              <a:buClr>
                <a:srgbClr val="000000"/>
              </a:buClr>
              <a:buFont typeface="Arial MT"/>
              <a:buChar char="•"/>
              <a:tabLst>
                <a:tab pos="240665" algn="l"/>
              </a:tabLst>
            </a:pPr>
            <a:r>
              <a:rPr sz="20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https://www.youtube.com/watch?v=vHrvhqHvwW8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18952" y="713231"/>
            <a:ext cx="1273175" cy="2533015"/>
          </a:xfrm>
          <a:custGeom>
            <a:avLst/>
            <a:gdLst/>
            <a:ahLst/>
            <a:cxnLst/>
            <a:rect l="l" t="t" r="r" b="b"/>
            <a:pathLst>
              <a:path w="1273175" h="2533015">
                <a:moveTo>
                  <a:pt x="1273048" y="0"/>
                </a:moveTo>
                <a:lnTo>
                  <a:pt x="508" y="1266444"/>
                </a:lnTo>
                <a:lnTo>
                  <a:pt x="232321" y="1497164"/>
                </a:lnTo>
                <a:lnTo>
                  <a:pt x="0" y="1729486"/>
                </a:lnTo>
                <a:lnTo>
                  <a:pt x="456311" y="2185797"/>
                </a:lnTo>
                <a:lnTo>
                  <a:pt x="689762" y="1952409"/>
                </a:lnTo>
                <a:lnTo>
                  <a:pt x="1273048" y="2532888"/>
                </a:lnTo>
                <a:lnTo>
                  <a:pt x="1273048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4600955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370545"/>
                </a:moveTo>
                <a:lnTo>
                  <a:pt x="832510" y="1189012"/>
                </a:lnTo>
                <a:lnTo>
                  <a:pt x="1013460" y="1008888"/>
                </a:lnTo>
                <a:lnTo>
                  <a:pt x="0" y="0"/>
                </a:lnTo>
                <a:lnTo>
                  <a:pt x="0" y="2017776"/>
                </a:lnTo>
                <a:lnTo>
                  <a:pt x="488391" y="1531594"/>
                </a:lnTo>
                <a:lnTo>
                  <a:pt x="670699" y="1713890"/>
                </a:lnTo>
                <a:lnTo>
                  <a:pt x="1014056" y="137054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</TotalTime>
  <Words>2253</Words>
  <Application>Microsoft Office PowerPoint</Application>
  <PresentationFormat>Widescreen</PresentationFormat>
  <Paragraphs>197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 MT</vt:lpstr>
      <vt:lpstr>Calibri</vt:lpstr>
      <vt:lpstr>Calibri Light</vt:lpstr>
      <vt:lpstr>Cambria Math</vt:lpstr>
      <vt:lpstr>Courier New</vt:lpstr>
      <vt:lpstr>Times New Roman</vt:lpstr>
      <vt:lpstr>Wingdings</vt:lpstr>
      <vt:lpstr>Office Theme</vt:lpstr>
      <vt:lpstr>Flow Control</vt:lpstr>
      <vt:lpstr>Delays</vt:lpstr>
      <vt:lpstr>Types of Delays</vt:lpstr>
      <vt:lpstr>Types of Delays</vt:lpstr>
      <vt:lpstr>Types of Delays</vt:lpstr>
      <vt:lpstr>Flow Control Protocols</vt:lpstr>
      <vt:lpstr>Stop and Wait</vt:lpstr>
      <vt:lpstr>Stop and Wait Transmission Process</vt:lpstr>
      <vt:lpstr>Stop and Wait Transmission Process II</vt:lpstr>
      <vt:lpstr>Stop and Wait : Advantage and Disadvantage</vt:lpstr>
      <vt:lpstr>Stop and Wait : Numerical Problems</vt:lpstr>
      <vt:lpstr>Stop and Wait : Numerical Problems</vt:lpstr>
      <vt:lpstr>Sliding Window protocol</vt:lpstr>
      <vt:lpstr>Stop and Wait ARQ (Automatic Repeat reQuest)</vt:lpstr>
      <vt:lpstr>Stop and Wait ARQ</vt:lpstr>
      <vt:lpstr>How Stop and Wait ARQ Solves The Problems of Stop and Wait Protocol ?</vt:lpstr>
      <vt:lpstr>How Stop and Wait ARQ Solves The Problems of Stop and Wait Protocol ?</vt:lpstr>
      <vt:lpstr>How Stop and Wait ARQ Solves The Problems of Stop and Wait Protocol ?</vt:lpstr>
      <vt:lpstr>How Stop and Wait ARQ Solves The Problems of Stop and Wait Protocol ?</vt:lpstr>
      <vt:lpstr>How Stop and Wait ARQ Solves The Problems of Stop and Wait Protocol ?</vt:lpstr>
      <vt:lpstr>Disadvantage of Stop and Wait ARQ</vt:lpstr>
      <vt:lpstr>Self Practice Questions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SUCHI KUMARI</dc:creator>
  <cp:lastModifiedBy>Gulshan Shrivastava</cp:lastModifiedBy>
  <cp:revision>6</cp:revision>
  <dcterms:created xsi:type="dcterms:W3CDTF">2026-02-03T09:25:56Z</dcterms:created>
  <dcterms:modified xsi:type="dcterms:W3CDTF">2026-02-13T04:51:05Z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2022-02-28T00:00:00Z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2026-02-03T00:00:00Z</vt:filetime>
  </property>
  <property fmtid="{D5CDD505-2E9C-101B-9397-08002B2CF9AE}" pid="5" name="Producer">
    <vt:lpwstr>Microsoft® PowerPoint® for Microsoft 365</vt:lpwstr>
  </property>
</Properties>
</file>