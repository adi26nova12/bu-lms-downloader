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FCBB3A-9D0E-4750-B087-056F638EF1C4}" v="7" dt="2026-02-17T08:03:45.99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968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lshan Shrivastava" userId="7b16fef2-b446-424e-8912-a65858c037d0" providerId="ADAL" clId="{DF50F7AD-2934-41EF-BC34-9E402FD459E8}"/>
    <pc:docChg chg="addSld delSld modSld">
      <pc:chgData name="Gulshan Shrivastava" userId="7b16fef2-b446-424e-8912-a65858c037d0" providerId="ADAL" clId="{DF50F7AD-2934-41EF-BC34-9E402FD459E8}" dt="2026-02-17T08:05:06.208" v="63" actId="1076"/>
      <pc:docMkLst>
        <pc:docMk/>
      </pc:docMkLst>
      <pc:sldChg chg="modSp mod">
        <pc:chgData name="Gulshan Shrivastava" userId="7b16fef2-b446-424e-8912-a65858c037d0" providerId="ADAL" clId="{DF50F7AD-2934-41EF-BC34-9E402FD459E8}" dt="2026-02-17T05:06:20.762" v="4" actId="1035"/>
        <pc:sldMkLst>
          <pc:docMk/>
          <pc:sldMk cId="0" sldId="264"/>
        </pc:sldMkLst>
        <pc:picChg chg="mod">
          <ac:chgData name="Gulshan Shrivastava" userId="7b16fef2-b446-424e-8912-a65858c037d0" providerId="ADAL" clId="{DF50F7AD-2934-41EF-BC34-9E402FD459E8}" dt="2026-02-17T05:06:20.762" v="4" actId="1035"/>
          <ac:picMkLst>
            <pc:docMk/>
            <pc:sldMk cId="0" sldId="264"/>
            <ac:picMk id="3" creationId="{00000000-0000-0000-0000-000000000000}"/>
          </ac:picMkLst>
        </pc:picChg>
      </pc:sldChg>
      <pc:sldChg chg="modSp mod">
        <pc:chgData name="Gulshan Shrivastava" userId="7b16fef2-b446-424e-8912-a65858c037d0" providerId="ADAL" clId="{DF50F7AD-2934-41EF-BC34-9E402FD459E8}" dt="2026-02-17T08:04:12.439" v="54" actId="6549"/>
        <pc:sldMkLst>
          <pc:docMk/>
          <pc:sldMk cId="0" sldId="267"/>
        </pc:sldMkLst>
        <pc:spChg chg="mod">
          <ac:chgData name="Gulshan Shrivastava" userId="7b16fef2-b446-424e-8912-a65858c037d0" providerId="ADAL" clId="{DF50F7AD-2934-41EF-BC34-9E402FD459E8}" dt="2026-02-17T08:04:12.439" v="54" actId="6549"/>
          <ac:spMkLst>
            <pc:docMk/>
            <pc:sldMk cId="0" sldId="267"/>
            <ac:spMk id="3" creationId="{00000000-0000-0000-0000-000000000000}"/>
          </ac:spMkLst>
        </pc:spChg>
      </pc:sldChg>
      <pc:sldChg chg="new del">
        <pc:chgData name="Gulshan Shrivastava" userId="7b16fef2-b446-424e-8912-a65858c037d0" providerId="ADAL" clId="{DF50F7AD-2934-41EF-BC34-9E402FD459E8}" dt="2026-02-17T08:02:17.942" v="11" actId="2696"/>
        <pc:sldMkLst>
          <pc:docMk/>
          <pc:sldMk cId="487389790" sldId="275"/>
        </pc:sldMkLst>
      </pc:sldChg>
      <pc:sldChg chg="modSp add mod">
        <pc:chgData name="Gulshan Shrivastava" userId="7b16fef2-b446-424e-8912-a65858c037d0" providerId="ADAL" clId="{DF50F7AD-2934-41EF-BC34-9E402FD459E8}" dt="2026-02-17T08:05:06.208" v="63" actId="1076"/>
        <pc:sldMkLst>
          <pc:docMk/>
          <pc:sldMk cId="1179827977" sldId="275"/>
        </pc:sldMkLst>
        <pc:spChg chg="mod">
          <ac:chgData name="Gulshan Shrivastava" userId="7b16fef2-b446-424e-8912-a65858c037d0" providerId="ADAL" clId="{DF50F7AD-2934-41EF-BC34-9E402FD459E8}" dt="2026-02-17T08:05:06.208" v="63" actId="1076"/>
          <ac:spMkLst>
            <pc:docMk/>
            <pc:sldMk cId="1179827977" sldId="275"/>
            <ac:spMk id="3" creationId="{4A7F056B-D86A-C793-57AC-99C2D0D3083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 u="sng">
                <a:solidFill>
                  <a:srgbClr val="0462C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 u="sng">
                <a:solidFill>
                  <a:srgbClr val="0462C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17804" y="1574291"/>
            <a:ext cx="3499485" cy="3333115"/>
          </a:xfrm>
          <a:custGeom>
            <a:avLst/>
            <a:gdLst/>
            <a:ahLst/>
            <a:cxnLst/>
            <a:rect l="l" t="t" r="r" b="b"/>
            <a:pathLst>
              <a:path w="3499485" h="3333115">
                <a:moveTo>
                  <a:pt x="2972943" y="0"/>
                </a:moveTo>
                <a:lnTo>
                  <a:pt x="0" y="0"/>
                </a:lnTo>
                <a:lnTo>
                  <a:pt x="0" y="3332988"/>
                </a:lnTo>
                <a:lnTo>
                  <a:pt x="2972943" y="3332988"/>
                </a:lnTo>
                <a:lnTo>
                  <a:pt x="3499104" y="1666494"/>
                </a:lnTo>
                <a:lnTo>
                  <a:pt x="2972943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2172" y="337769"/>
            <a:ext cx="9988753" cy="9349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9677" y="1735810"/>
            <a:ext cx="9302750" cy="2392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 u="sng">
                <a:solidFill>
                  <a:srgbClr val="0462C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atevidyalay.com/stop-and-wait-protocol-practice-problem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6427"/>
            <a:ext cx="12192000" cy="1028700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12192000" y="0"/>
                </a:moveTo>
                <a:lnTo>
                  <a:pt x="0" y="0"/>
                </a:lnTo>
                <a:lnTo>
                  <a:pt x="0" y="1028700"/>
                </a:lnTo>
                <a:lnTo>
                  <a:pt x="12192000" y="10287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1238" y="543255"/>
            <a:ext cx="3061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Flow</a:t>
            </a:r>
            <a:r>
              <a:rPr sz="4400" b="1" spc="-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4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9098" y="5481929"/>
            <a:ext cx="745172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ctr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latin typeface="Times New Roman"/>
                <a:cs typeface="Times New Roman"/>
              </a:rPr>
              <a:t>School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Computer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Science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Engineering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Technology </a:t>
            </a:r>
            <a:r>
              <a:rPr sz="2400" b="1" dirty="0">
                <a:latin typeface="Times New Roman"/>
                <a:cs typeface="Times New Roman"/>
              </a:rPr>
              <a:t>Bennett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University</a:t>
            </a:r>
            <a:endParaRPr sz="2400">
              <a:latin typeface="Times New Roman"/>
              <a:cs typeface="Times New Roman"/>
            </a:endParaRPr>
          </a:p>
          <a:p>
            <a:pPr marL="2540" algn="ctr">
              <a:lnSpc>
                <a:spcPts val="2555"/>
              </a:lnSpc>
            </a:pPr>
            <a:r>
              <a:rPr sz="2400" b="1" dirty="0">
                <a:latin typeface="Times New Roman"/>
                <a:cs typeface="Times New Roman"/>
              </a:rPr>
              <a:t>Greater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Noida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201310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3311" y="2284476"/>
            <a:ext cx="1985772" cy="2289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97927" y="746188"/>
            <a:ext cx="81915" cy="5452745"/>
            <a:chOff x="4297927" y="746188"/>
            <a:chExt cx="81915" cy="5452745"/>
          </a:xfrm>
        </p:grpSpPr>
        <p:sp>
          <p:nvSpPr>
            <p:cNvPr id="3" name="object 3"/>
            <p:cNvSpPr/>
            <p:nvPr/>
          </p:nvSpPr>
          <p:spPr>
            <a:xfrm>
              <a:off x="4312027" y="766699"/>
              <a:ext cx="46355" cy="5410835"/>
            </a:xfrm>
            <a:custGeom>
              <a:avLst/>
              <a:gdLst/>
              <a:ahLst/>
              <a:cxnLst/>
              <a:rect l="l" t="t" r="r" b="b"/>
              <a:pathLst>
                <a:path w="46354" h="5410835">
                  <a:moveTo>
                    <a:pt x="22863" y="0"/>
                  </a:moveTo>
                  <a:lnTo>
                    <a:pt x="19561" y="380"/>
                  </a:lnTo>
                  <a:lnTo>
                    <a:pt x="12322" y="635"/>
                  </a:lnTo>
                  <a:lnTo>
                    <a:pt x="15510" y="70714"/>
                  </a:lnTo>
                  <a:lnTo>
                    <a:pt x="17328" y="136905"/>
                  </a:lnTo>
                  <a:lnTo>
                    <a:pt x="17995" y="199491"/>
                  </a:lnTo>
                  <a:lnTo>
                    <a:pt x="17732" y="258755"/>
                  </a:lnTo>
                  <a:lnTo>
                    <a:pt x="16759" y="314980"/>
                  </a:lnTo>
                  <a:lnTo>
                    <a:pt x="15295" y="368451"/>
                  </a:lnTo>
                  <a:lnTo>
                    <a:pt x="10161" y="515162"/>
                  </a:lnTo>
                  <a:lnTo>
                    <a:pt x="8935" y="560443"/>
                  </a:lnTo>
                  <a:lnTo>
                    <a:pt x="8318" y="604386"/>
                  </a:lnTo>
                  <a:lnTo>
                    <a:pt x="8530" y="647273"/>
                  </a:lnTo>
                  <a:lnTo>
                    <a:pt x="9792" y="689387"/>
                  </a:lnTo>
                  <a:lnTo>
                    <a:pt x="12322" y="731012"/>
                  </a:lnTo>
                  <a:lnTo>
                    <a:pt x="15511" y="777252"/>
                  </a:lnTo>
                  <a:lnTo>
                    <a:pt x="18110" y="826306"/>
                  </a:lnTo>
                  <a:lnTo>
                    <a:pt x="20137" y="877669"/>
                  </a:lnTo>
                  <a:lnTo>
                    <a:pt x="21606" y="930837"/>
                  </a:lnTo>
                  <a:lnTo>
                    <a:pt x="22533" y="985304"/>
                  </a:lnTo>
                  <a:lnTo>
                    <a:pt x="22935" y="1040567"/>
                  </a:lnTo>
                  <a:lnTo>
                    <a:pt x="22825" y="1096121"/>
                  </a:lnTo>
                  <a:lnTo>
                    <a:pt x="22221" y="1151461"/>
                  </a:lnTo>
                  <a:lnTo>
                    <a:pt x="21138" y="1206082"/>
                  </a:lnTo>
                  <a:lnTo>
                    <a:pt x="19590" y="1259479"/>
                  </a:lnTo>
                  <a:lnTo>
                    <a:pt x="17595" y="1311149"/>
                  </a:lnTo>
                  <a:lnTo>
                    <a:pt x="15167" y="1360587"/>
                  </a:lnTo>
                  <a:lnTo>
                    <a:pt x="9011" y="1459459"/>
                  </a:lnTo>
                  <a:lnTo>
                    <a:pt x="6294" y="1509645"/>
                  </a:lnTo>
                  <a:lnTo>
                    <a:pt x="4195" y="1558471"/>
                  </a:lnTo>
                  <a:lnTo>
                    <a:pt x="2736" y="1606564"/>
                  </a:lnTo>
                  <a:lnTo>
                    <a:pt x="1940" y="1654551"/>
                  </a:lnTo>
                  <a:lnTo>
                    <a:pt x="1829" y="1703060"/>
                  </a:lnTo>
                  <a:lnTo>
                    <a:pt x="2424" y="1752716"/>
                  </a:lnTo>
                  <a:lnTo>
                    <a:pt x="3749" y="1804147"/>
                  </a:lnTo>
                  <a:lnTo>
                    <a:pt x="5825" y="1857980"/>
                  </a:lnTo>
                  <a:lnTo>
                    <a:pt x="8676" y="1914841"/>
                  </a:lnTo>
                  <a:lnTo>
                    <a:pt x="12322" y="1975358"/>
                  </a:lnTo>
                  <a:lnTo>
                    <a:pt x="14396" y="2018508"/>
                  </a:lnTo>
                  <a:lnTo>
                    <a:pt x="15187" y="2062010"/>
                  </a:lnTo>
                  <a:lnTo>
                    <a:pt x="14913" y="2105956"/>
                  </a:lnTo>
                  <a:lnTo>
                    <a:pt x="13787" y="2150439"/>
                  </a:lnTo>
                  <a:lnTo>
                    <a:pt x="12026" y="2195552"/>
                  </a:lnTo>
                  <a:lnTo>
                    <a:pt x="5083" y="2335593"/>
                  </a:lnTo>
                  <a:lnTo>
                    <a:pt x="2935" y="2384150"/>
                  </a:lnTo>
                  <a:lnTo>
                    <a:pt x="1227" y="2433800"/>
                  </a:lnTo>
                  <a:lnTo>
                    <a:pt x="177" y="2484636"/>
                  </a:lnTo>
                  <a:lnTo>
                    <a:pt x="0" y="2536749"/>
                  </a:lnTo>
                  <a:lnTo>
                    <a:pt x="910" y="2590233"/>
                  </a:lnTo>
                  <a:lnTo>
                    <a:pt x="3123" y="2645181"/>
                  </a:lnTo>
                  <a:lnTo>
                    <a:pt x="6856" y="2701684"/>
                  </a:lnTo>
                  <a:lnTo>
                    <a:pt x="17655" y="2817594"/>
                  </a:lnTo>
                  <a:lnTo>
                    <a:pt x="21021" y="2873018"/>
                  </a:lnTo>
                  <a:lnTo>
                    <a:pt x="22690" y="2926360"/>
                  </a:lnTo>
                  <a:lnTo>
                    <a:pt x="22931" y="2977870"/>
                  </a:lnTo>
                  <a:lnTo>
                    <a:pt x="22012" y="3027798"/>
                  </a:lnTo>
                  <a:lnTo>
                    <a:pt x="20203" y="3076396"/>
                  </a:lnTo>
                  <a:lnTo>
                    <a:pt x="17772" y="3123914"/>
                  </a:lnTo>
                  <a:lnTo>
                    <a:pt x="9443" y="3262492"/>
                  </a:lnTo>
                  <a:lnTo>
                    <a:pt x="7217" y="3308195"/>
                  </a:lnTo>
                  <a:lnTo>
                    <a:pt x="5715" y="3354071"/>
                  </a:lnTo>
                  <a:lnTo>
                    <a:pt x="5205" y="3400371"/>
                  </a:lnTo>
                  <a:lnTo>
                    <a:pt x="5957" y="3447344"/>
                  </a:lnTo>
                  <a:lnTo>
                    <a:pt x="8240" y="3495242"/>
                  </a:lnTo>
                  <a:lnTo>
                    <a:pt x="17331" y="3602576"/>
                  </a:lnTo>
                  <a:lnTo>
                    <a:pt x="20125" y="3655555"/>
                  </a:lnTo>
                  <a:lnTo>
                    <a:pt x="21078" y="3704219"/>
                  </a:lnTo>
                  <a:lnTo>
                    <a:pt x="20570" y="3749538"/>
                  </a:lnTo>
                  <a:lnTo>
                    <a:pt x="18975" y="3792478"/>
                  </a:lnTo>
                  <a:lnTo>
                    <a:pt x="16671" y="3834007"/>
                  </a:lnTo>
                  <a:lnTo>
                    <a:pt x="11442" y="3916703"/>
                  </a:lnTo>
                  <a:lnTo>
                    <a:pt x="9270" y="3959805"/>
                  </a:lnTo>
                  <a:lnTo>
                    <a:pt x="7895" y="4005367"/>
                  </a:lnTo>
                  <a:lnTo>
                    <a:pt x="7695" y="4054357"/>
                  </a:lnTo>
                  <a:lnTo>
                    <a:pt x="9045" y="4107741"/>
                  </a:lnTo>
                  <a:lnTo>
                    <a:pt x="15918" y="4227764"/>
                  </a:lnTo>
                  <a:lnTo>
                    <a:pt x="18118" y="4287997"/>
                  </a:lnTo>
                  <a:lnTo>
                    <a:pt x="19138" y="4347051"/>
                  </a:lnTo>
                  <a:lnTo>
                    <a:pt x="19196" y="4404790"/>
                  </a:lnTo>
                  <a:lnTo>
                    <a:pt x="18510" y="4461077"/>
                  </a:lnTo>
                  <a:lnTo>
                    <a:pt x="17297" y="4515776"/>
                  </a:lnTo>
                  <a:lnTo>
                    <a:pt x="12672" y="4668984"/>
                  </a:lnTo>
                  <a:lnTo>
                    <a:pt x="11526" y="4715970"/>
                  </a:lnTo>
                  <a:lnTo>
                    <a:pt x="10941" y="4760685"/>
                  </a:lnTo>
                  <a:lnTo>
                    <a:pt x="11134" y="4802995"/>
                  </a:lnTo>
                  <a:lnTo>
                    <a:pt x="13516" y="4887986"/>
                  </a:lnTo>
                  <a:lnTo>
                    <a:pt x="13219" y="4933081"/>
                  </a:lnTo>
                  <a:lnTo>
                    <a:pt x="11848" y="4978520"/>
                  </a:lnTo>
                  <a:lnTo>
                    <a:pt x="7556" y="5072308"/>
                  </a:lnTo>
                  <a:lnTo>
                    <a:pt x="5470" y="5121599"/>
                  </a:lnTo>
                  <a:lnTo>
                    <a:pt x="3979" y="5173114"/>
                  </a:lnTo>
                  <a:lnTo>
                    <a:pt x="3501" y="5227325"/>
                  </a:lnTo>
                  <a:lnTo>
                    <a:pt x="4455" y="5284702"/>
                  </a:lnTo>
                  <a:lnTo>
                    <a:pt x="7256" y="5345715"/>
                  </a:lnTo>
                  <a:lnTo>
                    <a:pt x="12322" y="5410835"/>
                  </a:lnTo>
                  <a:lnTo>
                    <a:pt x="18037" y="5410111"/>
                  </a:lnTo>
                  <a:lnTo>
                    <a:pt x="25149" y="5410149"/>
                  </a:lnTo>
                  <a:lnTo>
                    <a:pt x="30610" y="5410835"/>
                  </a:lnTo>
                  <a:lnTo>
                    <a:pt x="29400" y="5366139"/>
                  </a:lnTo>
                  <a:lnTo>
                    <a:pt x="28650" y="5319141"/>
                  </a:lnTo>
                  <a:lnTo>
                    <a:pt x="28300" y="5270163"/>
                  </a:lnTo>
                  <a:lnTo>
                    <a:pt x="28291" y="5219531"/>
                  </a:lnTo>
                  <a:lnTo>
                    <a:pt x="29058" y="5114594"/>
                  </a:lnTo>
                  <a:lnTo>
                    <a:pt x="33348" y="4793725"/>
                  </a:lnTo>
                  <a:lnTo>
                    <a:pt x="33852" y="4693381"/>
                  </a:lnTo>
                  <a:lnTo>
                    <a:pt x="33662" y="4645906"/>
                  </a:lnTo>
                  <a:lnTo>
                    <a:pt x="33098" y="4600660"/>
                  </a:lnTo>
                  <a:lnTo>
                    <a:pt x="32101" y="4557967"/>
                  </a:lnTo>
                  <a:lnTo>
                    <a:pt x="30610" y="4518152"/>
                  </a:lnTo>
                  <a:lnTo>
                    <a:pt x="28492" y="4469684"/>
                  </a:lnTo>
                  <a:lnTo>
                    <a:pt x="26959" y="4428990"/>
                  </a:lnTo>
                  <a:lnTo>
                    <a:pt x="25949" y="4394165"/>
                  </a:lnTo>
                  <a:lnTo>
                    <a:pt x="25398" y="4363307"/>
                  </a:lnTo>
                  <a:lnTo>
                    <a:pt x="25241" y="4334513"/>
                  </a:lnTo>
                  <a:lnTo>
                    <a:pt x="25417" y="4305879"/>
                  </a:lnTo>
                  <a:lnTo>
                    <a:pt x="29054" y="4098512"/>
                  </a:lnTo>
                  <a:lnTo>
                    <a:pt x="30610" y="3950080"/>
                  </a:lnTo>
                  <a:lnTo>
                    <a:pt x="30827" y="3881697"/>
                  </a:lnTo>
                  <a:lnTo>
                    <a:pt x="30501" y="3819105"/>
                  </a:lnTo>
                  <a:lnTo>
                    <a:pt x="29743" y="3761617"/>
                  </a:lnTo>
                  <a:lnTo>
                    <a:pt x="28664" y="3708544"/>
                  </a:lnTo>
                  <a:lnTo>
                    <a:pt x="22283" y="3485330"/>
                  </a:lnTo>
                  <a:lnTo>
                    <a:pt x="21580" y="3444299"/>
                  </a:lnTo>
                  <a:lnTo>
                    <a:pt x="21325" y="3402867"/>
                  </a:lnTo>
                  <a:lnTo>
                    <a:pt x="21627" y="3360346"/>
                  </a:lnTo>
                  <a:lnTo>
                    <a:pt x="22597" y="3316047"/>
                  </a:lnTo>
                  <a:lnTo>
                    <a:pt x="24344" y="3269282"/>
                  </a:lnTo>
                  <a:lnTo>
                    <a:pt x="26979" y="3219363"/>
                  </a:lnTo>
                  <a:lnTo>
                    <a:pt x="35653" y="3094070"/>
                  </a:lnTo>
                  <a:lnTo>
                    <a:pt x="39686" y="3028163"/>
                  </a:lnTo>
                  <a:lnTo>
                    <a:pt x="42737" y="2967267"/>
                  </a:lnTo>
                  <a:lnTo>
                    <a:pt x="44834" y="2910769"/>
                  </a:lnTo>
                  <a:lnTo>
                    <a:pt x="46006" y="2858054"/>
                  </a:lnTo>
                  <a:lnTo>
                    <a:pt x="46279" y="2808509"/>
                  </a:lnTo>
                  <a:lnTo>
                    <a:pt x="45682" y="2761520"/>
                  </a:lnTo>
                  <a:lnTo>
                    <a:pt x="44242" y="2716473"/>
                  </a:lnTo>
                  <a:lnTo>
                    <a:pt x="41987" y="2672754"/>
                  </a:lnTo>
                  <a:lnTo>
                    <a:pt x="38945" y="2629750"/>
                  </a:lnTo>
                  <a:lnTo>
                    <a:pt x="35143" y="2586846"/>
                  </a:lnTo>
                  <a:lnTo>
                    <a:pt x="30610" y="2543429"/>
                  </a:lnTo>
                  <a:lnTo>
                    <a:pt x="26691" y="2501168"/>
                  </a:lnTo>
                  <a:lnTo>
                    <a:pt x="24507" y="2461314"/>
                  </a:lnTo>
                  <a:lnTo>
                    <a:pt x="23752" y="2422622"/>
                  </a:lnTo>
                  <a:lnTo>
                    <a:pt x="24119" y="2383846"/>
                  </a:lnTo>
                  <a:lnTo>
                    <a:pt x="25301" y="2343742"/>
                  </a:lnTo>
                  <a:lnTo>
                    <a:pt x="28882" y="2254570"/>
                  </a:lnTo>
                  <a:lnTo>
                    <a:pt x="30667" y="2203012"/>
                  </a:lnTo>
                  <a:lnTo>
                    <a:pt x="32039" y="2145147"/>
                  </a:lnTo>
                  <a:lnTo>
                    <a:pt x="32692" y="2079729"/>
                  </a:lnTo>
                  <a:lnTo>
                    <a:pt x="32318" y="2005513"/>
                  </a:lnTo>
                  <a:lnTo>
                    <a:pt x="28975" y="1850058"/>
                  </a:lnTo>
                  <a:lnTo>
                    <a:pt x="27969" y="1780187"/>
                  </a:lnTo>
                  <a:lnTo>
                    <a:pt x="27502" y="1711958"/>
                  </a:lnTo>
                  <a:lnTo>
                    <a:pt x="27481" y="1645691"/>
                  </a:lnTo>
                  <a:lnTo>
                    <a:pt x="27816" y="1581700"/>
                  </a:lnTo>
                  <a:lnTo>
                    <a:pt x="28416" y="1520303"/>
                  </a:lnTo>
                  <a:lnTo>
                    <a:pt x="31626" y="1306999"/>
                  </a:lnTo>
                  <a:lnTo>
                    <a:pt x="32439" y="1224154"/>
                  </a:lnTo>
                  <a:lnTo>
                    <a:pt x="32328" y="1189792"/>
                  </a:lnTo>
                  <a:lnTo>
                    <a:pt x="31748" y="1160561"/>
                  </a:lnTo>
                  <a:lnTo>
                    <a:pt x="30610" y="1136777"/>
                  </a:lnTo>
                  <a:lnTo>
                    <a:pt x="29451" y="1103560"/>
                  </a:lnTo>
                  <a:lnTo>
                    <a:pt x="29964" y="1066682"/>
                  </a:lnTo>
                  <a:lnTo>
                    <a:pt x="31619" y="1025999"/>
                  </a:lnTo>
                  <a:lnTo>
                    <a:pt x="36230" y="932656"/>
                  </a:lnTo>
                  <a:lnTo>
                    <a:pt x="38127" y="879711"/>
                  </a:lnTo>
                  <a:lnTo>
                    <a:pt x="39044" y="822396"/>
                  </a:lnTo>
                  <a:lnTo>
                    <a:pt x="38450" y="760568"/>
                  </a:lnTo>
                  <a:lnTo>
                    <a:pt x="35816" y="694086"/>
                  </a:lnTo>
                  <a:lnTo>
                    <a:pt x="30610" y="622808"/>
                  </a:lnTo>
                  <a:lnTo>
                    <a:pt x="26036" y="564387"/>
                  </a:lnTo>
                  <a:lnTo>
                    <a:pt x="23237" y="511192"/>
                  </a:lnTo>
                  <a:lnTo>
                    <a:pt x="21931" y="462014"/>
                  </a:lnTo>
                  <a:lnTo>
                    <a:pt x="21833" y="415642"/>
                  </a:lnTo>
                  <a:lnTo>
                    <a:pt x="22662" y="370869"/>
                  </a:lnTo>
                  <a:lnTo>
                    <a:pt x="24133" y="326485"/>
                  </a:lnTo>
                  <a:lnTo>
                    <a:pt x="27873" y="234046"/>
                  </a:lnTo>
                  <a:lnTo>
                    <a:pt x="29575" y="183574"/>
                  </a:lnTo>
                  <a:lnTo>
                    <a:pt x="30787" y="128654"/>
                  </a:lnTo>
                  <a:lnTo>
                    <a:pt x="31227" y="68077"/>
                  </a:lnTo>
                  <a:lnTo>
                    <a:pt x="30610" y="635"/>
                  </a:lnTo>
                  <a:lnTo>
                    <a:pt x="22863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565" y="766826"/>
              <a:ext cx="40640" cy="5411470"/>
            </a:xfrm>
            <a:custGeom>
              <a:avLst/>
              <a:gdLst/>
              <a:ahLst/>
              <a:cxnLst/>
              <a:rect l="l" t="t" r="r" b="b"/>
              <a:pathLst>
                <a:path w="40639" h="5411470">
                  <a:moveTo>
                    <a:pt x="24072" y="508"/>
                  </a:moveTo>
                  <a:lnTo>
                    <a:pt x="28649" y="44885"/>
                  </a:lnTo>
                  <a:lnTo>
                    <a:pt x="32218" y="89371"/>
                  </a:lnTo>
                  <a:lnTo>
                    <a:pt x="34810" y="134414"/>
                  </a:lnTo>
                  <a:lnTo>
                    <a:pt x="36455" y="180461"/>
                  </a:lnTo>
                  <a:lnTo>
                    <a:pt x="37185" y="227961"/>
                  </a:lnTo>
                  <a:lnTo>
                    <a:pt x="37031" y="277363"/>
                  </a:lnTo>
                  <a:lnTo>
                    <a:pt x="36022" y="329114"/>
                  </a:lnTo>
                  <a:lnTo>
                    <a:pt x="34192" y="383662"/>
                  </a:lnTo>
                  <a:lnTo>
                    <a:pt x="31569" y="441457"/>
                  </a:lnTo>
                  <a:lnTo>
                    <a:pt x="28185" y="502947"/>
                  </a:lnTo>
                  <a:lnTo>
                    <a:pt x="24072" y="568578"/>
                  </a:lnTo>
                  <a:lnTo>
                    <a:pt x="21148" y="621140"/>
                  </a:lnTo>
                  <a:lnTo>
                    <a:pt x="19293" y="672405"/>
                  </a:lnTo>
                  <a:lnTo>
                    <a:pt x="18354" y="722682"/>
                  </a:lnTo>
                  <a:lnTo>
                    <a:pt x="18174" y="772281"/>
                  </a:lnTo>
                  <a:lnTo>
                    <a:pt x="18599" y="821511"/>
                  </a:lnTo>
                  <a:lnTo>
                    <a:pt x="19473" y="870680"/>
                  </a:lnTo>
                  <a:lnTo>
                    <a:pt x="20643" y="920099"/>
                  </a:lnTo>
                  <a:lnTo>
                    <a:pt x="21953" y="970075"/>
                  </a:lnTo>
                  <a:lnTo>
                    <a:pt x="23247" y="1020918"/>
                  </a:lnTo>
                  <a:lnTo>
                    <a:pt x="24372" y="1072937"/>
                  </a:lnTo>
                  <a:lnTo>
                    <a:pt x="25172" y="1126441"/>
                  </a:lnTo>
                  <a:lnTo>
                    <a:pt x="25492" y="1181740"/>
                  </a:lnTo>
                  <a:lnTo>
                    <a:pt x="25177" y="1239141"/>
                  </a:lnTo>
                  <a:lnTo>
                    <a:pt x="24072" y="1298956"/>
                  </a:lnTo>
                  <a:lnTo>
                    <a:pt x="22617" y="1365600"/>
                  </a:lnTo>
                  <a:lnTo>
                    <a:pt x="21797" y="1424021"/>
                  </a:lnTo>
                  <a:lnTo>
                    <a:pt x="21500" y="1475876"/>
                  </a:lnTo>
                  <a:lnTo>
                    <a:pt x="21617" y="1522828"/>
                  </a:lnTo>
                  <a:lnTo>
                    <a:pt x="22035" y="1566536"/>
                  </a:lnTo>
                  <a:lnTo>
                    <a:pt x="22643" y="1608661"/>
                  </a:lnTo>
                  <a:lnTo>
                    <a:pt x="23331" y="1650862"/>
                  </a:lnTo>
                  <a:lnTo>
                    <a:pt x="23987" y="1694800"/>
                  </a:lnTo>
                  <a:lnTo>
                    <a:pt x="24501" y="1742136"/>
                  </a:lnTo>
                  <a:lnTo>
                    <a:pt x="24760" y="1794529"/>
                  </a:lnTo>
                  <a:lnTo>
                    <a:pt x="24654" y="1853640"/>
                  </a:lnTo>
                  <a:lnTo>
                    <a:pt x="24072" y="1921128"/>
                  </a:lnTo>
                  <a:lnTo>
                    <a:pt x="23731" y="1996679"/>
                  </a:lnTo>
                  <a:lnTo>
                    <a:pt x="24376" y="2066046"/>
                  </a:lnTo>
                  <a:lnTo>
                    <a:pt x="25700" y="2129698"/>
                  </a:lnTo>
                  <a:lnTo>
                    <a:pt x="27398" y="2188101"/>
                  </a:lnTo>
                  <a:lnTo>
                    <a:pt x="29164" y="2241722"/>
                  </a:lnTo>
                  <a:lnTo>
                    <a:pt x="30693" y="2291029"/>
                  </a:lnTo>
                  <a:lnTo>
                    <a:pt x="31678" y="2336489"/>
                  </a:lnTo>
                  <a:lnTo>
                    <a:pt x="31815" y="2378569"/>
                  </a:lnTo>
                  <a:lnTo>
                    <a:pt x="30796" y="2417736"/>
                  </a:lnTo>
                  <a:lnTo>
                    <a:pt x="28317" y="2454457"/>
                  </a:lnTo>
                  <a:lnTo>
                    <a:pt x="24072" y="2489200"/>
                  </a:lnTo>
                  <a:lnTo>
                    <a:pt x="21162" y="2517730"/>
                  </a:lnTo>
                  <a:lnTo>
                    <a:pt x="19913" y="2552994"/>
                  </a:lnTo>
                  <a:lnTo>
                    <a:pt x="20037" y="2594103"/>
                  </a:lnTo>
                  <a:lnTo>
                    <a:pt x="21246" y="2640167"/>
                  </a:lnTo>
                  <a:lnTo>
                    <a:pt x="23254" y="2690297"/>
                  </a:lnTo>
                  <a:lnTo>
                    <a:pt x="25773" y="2743604"/>
                  </a:lnTo>
                  <a:lnTo>
                    <a:pt x="28516" y="2799198"/>
                  </a:lnTo>
                  <a:lnTo>
                    <a:pt x="31197" y="2856190"/>
                  </a:lnTo>
                  <a:lnTo>
                    <a:pt x="33527" y="2913691"/>
                  </a:lnTo>
                  <a:lnTo>
                    <a:pt x="35220" y="2970812"/>
                  </a:lnTo>
                  <a:lnTo>
                    <a:pt x="35988" y="3026662"/>
                  </a:lnTo>
                  <a:lnTo>
                    <a:pt x="35545" y="3080353"/>
                  </a:lnTo>
                  <a:lnTo>
                    <a:pt x="33602" y="3130995"/>
                  </a:lnTo>
                  <a:lnTo>
                    <a:pt x="29874" y="3177700"/>
                  </a:lnTo>
                  <a:lnTo>
                    <a:pt x="24072" y="3219577"/>
                  </a:lnTo>
                  <a:lnTo>
                    <a:pt x="16861" y="3265540"/>
                  </a:lnTo>
                  <a:lnTo>
                    <a:pt x="11173" y="3313013"/>
                  </a:lnTo>
                  <a:lnTo>
                    <a:pt x="6919" y="3361858"/>
                  </a:lnTo>
                  <a:lnTo>
                    <a:pt x="4013" y="3411941"/>
                  </a:lnTo>
                  <a:lnTo>
                    <a:pt x="2367" y="3463124"/>
                  </a:lnTo>
                  <a:lnTo>
                    <a:pt x="1894" y="3515272"/>
                  </a:lnTo>
                  <a:lnTo>
                    <a:pt x="2505" y="3568247"/>
                  </a:lnTo>
                  <a:lnTo>
                    <a:pt x="4115" y="3621914"/>
                  </a:lnTo>
                  <a:lnTo>
                    <a:pt x="6635" y="3676136"/>
                  </a:lnTo>
                  <a:lnTo>
                    <a:pt x="9978" y="3730777"/>
                  </a:lnTo>
                  <a:lnTo>
                    <a:pt x="14057" y="3785701"/>
                  </a:lnTo>
                  <a:lnTo>
                    <a:pt x="18784" y="3840771"/>
                  </a:lnTo>
                  <a:lnTo>
                    <a:pt x="24072" y="3895852"/>
                  </a:lnTo>
                  <a:lnTo>
                    <a:pt x="29112" y="3951227"/>
                  </a:lnTo>
                  <a:lnTo>
                    <a:pt x="33179" y="4007085"/>
                  </a:lnTo>
                  <a:lnTo>
                    <a:pt x="36308" y="4063142"/>
                  </a:lnTo>
                  <a:lnTo>
                    <a:pt x="38537" y="4119113"/>
                  </a:lnTo>
                  <a:lnTo>
                    <a:pt x="39902" y="4174714"/>
                  </a:lnTo>
                  <a:lnTo>
                    <a:pt x="40438" y="4229662"/>
                  </a:lnTo>
                  <a:lnTo>
                    <a:pt x="40183" y="4283671"/>
                  </a:lnTo>
                  <a:lnTo>
                    <a:pt x="39173" y="4336459"/>
                  </a:lnTo>
                  <a:lnTo>
                    <a:pt x="37445" y="4387741"/>
                  </a:lnTo>
                  <a:lnTo>
                    <a:pt x="35034" y="4437232"/>
                  </a:lnTo>
                  <a:lnTo>
                    <a:pt x="31977" y="4484650"/>
                  </a:lnTo>
                  <a:lnTo>
                    <a:pt x="28311" y="4529709"/>
                  </a:lnTo>
                  <a:lnTo>
                    <a:pt x="24072" y="4572127"/>
                  </a:lnTo>
                  <a:lnTo>
                    <a:pt x="21076" y="4606014"/>
                  </a:lnTo>
                  <a:lnTo>
                    <a:pt x="18926" y="4644600"/>
                  </a:lnTo>
                  <a:lnTo>
                    <a:pt x="17529" y="4687330"/>
                  </a:lnTo>
                  <a:lnTo>
                    <a:pt x="16789" y="4733651"/>
                  </a:lnTo>
                  <a:lnTo>
                    <a:pt x="16613" y="4783010"/>
                  </a:lnTo>
                  <a:lnTo>
                    <a:pt x="16906" y="4834852"/>
                  </a:lnTo>
                  <a:lnTo>
                    <a:pt x="17574" y="4888624"/>
                  </a:lnTo>
                  <a:lnTo>
                    <a:pt x="18522" y="4943773"/>
                  </a:lnTo>
                  <a:lnTo>
                    <a:pt x="19655" y="4999745"/>
                  </a:lnTo>
                  <a:lnTo>
                    <a:pt x="20880" y="5055986"/>
                  </a:lnTo>
                  <a:lnTo>
                    <a:pt x="22102" y="5111942"/>
                  </a:lnTo>
                  <a:lnTo>
                    <a:pt x="23225" y="5167061"/>
                  </a:lnTo>
                  <a:lnTo>
                    <a:pt x="24157" y="5220788"/>
                  </a:lnTo>
                  <a:lnTo>
                    <a:pt x="24802" y="5272569"/>
                  </a:lnTo>
                  <a:lnTo>
                    <a:pt x="25065" y="5321852"/>
                  </a:lnTo>
                  <a:lnTo>
                    <a:pt x="24854" y="5368083"/>
                  </a:lnTo>
                  <a:lnTo>
                    <a:pt x="24072" y="5410708"/>
                  </a:lnTo>
                  <a:lnTo>
                    <a:pt x="17087" y="5411241"/>
                  </a:lnTo>
                  <a:lnTo>
                    <a:pt x="11245" y="5411444"/>
                  </a:lnTo>
                  <a:lnTo>
                    <a:pt x="5784" y="5410708"/>
                  </a:lnTo>
                  <a:lnTo>
                    <a:pt x="8103" y="5342661"/>
                  </a:lnTo>
                  <a:lnTo>
                    <a:pt x="8973" y="5284869"/>
                  </a:lnTo>
                  <a:lnTo>
                    <a:pt x="8724" y="5235008"/>
                  </a:lnTo>
                  <a:lnTo>
                    <a:pt x="7684" y="5190751"/>
                  </a:lnTo>
                  <a:lnTo>
                    <a:pt x="6179" y="5149775"/>
                  </a:lnTo>
                  <a:lnTo>
                    <a:pt x="4539" y="5109756"/>
                  </a:lnTo>
                  <a:lnTo>
                    <a:pt x="3091" y="5068368"/>
                  </a:lnTo>
                  <a:lnTo>
                    <a:pt x="2164" y="5023286"/>
                  </a:lnTo>
                  <a:lnTo>
                    <a:pt x="2085" y="4972187"/>
                  </a:lnTo>
                  <a:lnTo>
                    <a:pt x="3182" y="4912745"/>
                  </a:lnTo>
                  <a:lnTo>
                    <a:pt x="5784" y="4842637"/>
                  </a:lnTo>
                  <a:lnTo>
                    <a:pt x="9107" y="4763564"/>
                  </a:lnTo>
                  <a:lnTo>
                    <a:pt x="11502" y="4693379"/>
                  </a:lnTo>
                  <a:lnTo>
                    <a:pt x="13041" y="4631055"/>
                  </a:lnTo>
                  <a:lnTo>
                    <a:pt x="13794" y="4575565"/>
                  </a:lnTo>
                  <a:lnTo>
                    <a:pt x="13833" y="4525883"/>
                  </a:lnTo>
                  <a:lnTo>
                    <a:pt x="13227" y="4480982"/>
                  </a:lnTo>
                  <a:lnTo>
                    <a:pt x="12049" y="4439837"/>
                  </a:lnTo>
                  <a:lnTo>
                    <a:pt x="10368" y="4401420"/>
                  </a:lnTo>
                  <a:lnTo>
                    <a:pt x="8256" y="4364706"/>
                  </a:lnTo>
                  <a:lnTo>
                    <a:pt x="5784" y="4328668"/>
                  </a:lnTo>
                  <a:lnTo>
                    <a:pt x="4104" y="4298142"/>
                  </a:lnTo>
                  <a:lnTo>
                    <a:pt x="2798" y="4258945"/>
                  </a:lnTo>
                  <a:lnTo>
                    <a:pt x="1839" y="4212411"/>
                  </a:lnTo>
                  <a:lnTo>
                    <a:pt x="1197" y="4159877"/>
                  </a:lnTo>
                  <a:lnTo>
                    <a:pt x="842" y="4102677"/>
                  </a:lnTo>
                  <a:lnTo>
                    <a:pt x="746" y="4042148"/>
                  </a:lnTo>
                  <a:lnTo>
                    <a:pt x="879" y="3979624"/>
                  </a:lnTo>
                  <a:lnTo>
                    <a:pt x="1212" y="3916441"/>
                  </a:lnTo>
                  <a:lnTo>
                    <a:pt x="1716" y="3853935"/>
                  </a:lnTo>
                  <a:lnTo>
                    <a:pt x="2363" y="3793440"/>
                  </a:lnTo>
                  <a:lnTo>
                    <a:pt x="3122" y="3736293"/>
                  </a:lnTo>
                  <a:lnTo>
                    <a:pt x="3965" y="3683829"/>
                  </a:lnTo>
                  <a:lnTo>
                    <a:pt x="4862" y="3637383"/>
                  </a:lnTo>
                  <a:lnTo>
                    <a:pt x="5784" y="3598291"/>
                  </a:lnTo>
                  <a:lnTo>
                    <a:pt x="6420" y="3554362"/>
                  </a:lnTo>
                  <a:lnTo>
                    <a:pt x="6145" y="3511101"/>
                  </a:lnTo>
                  <a:lnTo>
                    <a:pt x="5221" y="3467771"/>
                  </a:lnTo>
                  <a:lnTo>
                    <a:pt x="3909" y="3423635"/>
                  </a:lnTo>
                  <a:lnTo>
                    <a:pt x="2469" y="3377956"/>
                  </a:lnTo>
                  <a:lnTo>
                    <a:pt x="1164" y="3329997"/>
                  </a:lnTo>
                  <a:lnTo>
                    <a:pt x="254" y="3279022"/>
                  </a:lnTo>
                  <a:lnTo>
                    <a:pt x="0" y="3224293"/>
                  </a:lnTo>
                  <a:lnTo>
                    <a:pt x="662" y="3165075"/>
                  </a:lnTo>
                  <a:lnTo>
                    <a:pt x="2504" y="3100629"/>
                  </a:lnTo>
                  <a:lnTo>
                    <a:pt x="5784" y="3030220"/>
                  </a:lnTo>
                  <a:lnTo>
                    <a:pt x="8423" y="2974530"/>
                  </a:lnTo>
                  <a:lnTo>
                    <a:pt x="10023" y="2922634"/>
                  </a:lnTo>
                  <a:lnTo>
                    <a:pt x="10742" y="2873719"/>
                  </a:lnTo>
                  <a:lnTo>
                    <a:pt x="10738" y="2826972"/>
                  </a:lnTo>
                  <a:lnTo>
                    <a:pt x="10170" y="2781580"/>
                  </a:lnTo>
                  <a:lnTo>
                    <a:pt x="9196" y="2736728"/>
                  </a:lnTo>
                  <a:lnTo>
                    <a:pt x="7975" y="2691606"/>
                  </a:lnTo>
                  <a:lnTo>
                    <a:pt x="6664" y="2645398"/>
                  </a:lnTo>
                  <a:lnTo>
                    <a:pt x="5422" y="2597293"/>
                  </a:lnTo>
                  <a:lnTo>
                    <a:pt x="4407" y="2546477"/>
                  </a:lnTo>
                  <a:lnTo>
                    <a:pt x="3777" y="2492137"/>
                  </a:lnTo>
                  <a:lnTo>
                    <a:pt x="3691" y="2433460"/>
                  </a:lnTo>
                  <a:lnTo>
                    <a:pt x="4308" y="2369633"/>
                  </a:lnTo>
                  <a:lnTo>
                    <a:pt x="5784" y="2299843"/>
                  </a:lnTo>
                  <a:lnTo>
                    <a:pt x="7244" y="2234025"/>
                  </a:lnTo>
                  <a:lnTo>
                    <a:pt x="8038" y="2172548"/>
                  </a:lnTo>
                  <a:lnTo>
                    <a:pt x="8271" y="2114856"/>
                  </a:lnTo>
                  <a:lnTo>
                    <a:pt x="8049" y="2060393"/>
                  </a:lnTo>
                  <a:lnTo>
                    <a:pt x="7477" y="2008603"/>
                  </a:lnTo>
                  <a:lnTo>
                    <a:pt x="6662" y="1958930"/>
                  </a:lnTo>
                  <a:lnTo>
                    <a:pt x="5708" y="1910817"/>
                  </a:lnTo>
                  <a:lnTo>
                    <a:pt x="4722" y="1863708"/>
                  </a:lnTo>
                  <a:lnTo>
                    <a:pt x="3809" y="1817048"/>
                  </a:lnTo>
                  <a:lnTo>
                    <a:pt x="3075" y="1770281"/>
                  </a:lnTo>
                  <a:lnTo>
                    <a:pt x="2625" y="1722849"/>
                  </a:lnTo>
                  <a:lnTo>
                    <a:pt x="2565" y="1674198"/>
                  </a:lnTo>
                  <a:lnTo>
                    <a:pt x="3002" y="1623770"/>
                  </a:lnTo>
                  <a:lnTo>
                    <a:pt x="4039" y="1571011"/>
                  </a:lnTo>
                  <a:lnTo>
                    <a:pt x="5784" y="1515364"/>
                  </a:lnTo>
                  <a:lnTo>
                    <a:pt x="8476" y="1446223"/>
                  </a:lnTo>
                  <a:lnTo>
                    <a:pt x="11129" y="1381700"/>
                  </a:lnTo>
                  <a:lnTo>
                    <a:pt x="13606" y="1321351"/>
                  </a:lnTo>
                  <a:lnTo>
                    <a:pt x="15775" y="1264736"/>
                  </a:lnTo>
                  <a:lnTo>
                    <a:pt x="17498" y="1211412"/>
                  </a:lnTo>
                  <a:lnTo>
                    <a:pt x="18643" y="1160938"/>
                  </a:lnTo>
                  <a:lnTo>
                    <a:pt x="19073" y="1112872"/>
                  </a:lnTo>
                  <a:lnTo>
                    <a:pt x="18653" y="1066771"/>
                  </a:lnTo>
                  <a:lnTo>
                    <a:pt x="17250" y="1022195"/>
                  </a:lnTo>
                  <a:lnTo>
                    <a:pt x="14727" y="978700"/>
                  </a:lnTo>
                  <a:lnTo>
                    <a:pt x="10950" y="935846"/>
                  </a:lnTo>
                  <a:lnTo>
                    <a:pt x="5784" y="893190"/>
                  </a:lnTo>
                  <a:lnTo>
                    <a:pt x="2616" y="861472"/>
                  </a:lnTo>
                  <a:lnTo>
                    <a:pt x="855" y="823743"/>
                  </a:lnTo>
                  <a:lnTo>
                    <a:pt x="307" y="780737"/>
                  </a:lnTo>
                  <a:lnTo>
                    <a:pt x="779" y="733186"/>
                  </a:lnTo>
                  <a:lnTo>
                    <a:pt x="2077" y="681823"/>
                  </a:lnTo>
                  <a:lnTo>
                    <a:pt x="4006" y="627379"/>
                  </a:lnTo>
                  <a:lnTo>
                    <a:pt x="6373" y="570589"/>
                  </a:lnTo>
                  <a:lnTo>
                    <a:pt x="8983" y="512184"/>
                  </a:lnTo>
                  <a:lnTo>
                    <a:pt x="11642" y="452897"/>
                  </a:lnTo>
                  <a:lnTo>
                    <a:pt x="14157" y="393461"/>
                  </a:lnTo>
                  <a:lnTo>
                    <a:pt x="16333" y="334608"/>
                  </a:lnTo>
                  <a:lnTo>
                    <a:pt x="17976" y="277071"/>
                  </a:lnTo>
                  <a:lnTo>
                    <a:pt x="18893" y="221583"/>
                  </a:lnTo>
                  <a:lnTo>
                    <a:pt x="18889" y="168875"/>
                  </a:lnTo>
                  <a:lnTo>
                    <a:pt x="17770" y="119681"/>
                  </a:lnTo>
                  <a:lnTo>
                    <a:pt x="15342" y="74734"/>
                  </a:lnTo>
                  <a:lnTo>
                    <a:pt x="11411" y="34765"/>
                  </a:lnTo>
                  <a:lnTo>
                    <a:pt x="5784" y="508"/>
                  </a:lnTo>
                  <a:lnTo>
                    <a:pt x="14801" y="0"/>
                  </a:lnTo>
                  <a:lnTo>
                    <a:pt x="18992" y="635"/>
                  </a:lnTo>
                  <a:lnTo>
                    <a:pt x="24072" y="508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641850" y="1738629"/>
            <a:ext cx="6913880" cy="1572260"/>
            <a:chOff x="4641850" y="1738629"/>
            <a:chExt cx="6913880" cy="1572260"/>
          </a:xfrm>
        </p:grpSpPr>
        <p:sp>
          <p:nvSpPr>
            <p:cNvPr id="6" name="object 6"/>
            <p:cNvSpPr/>
            <p:nvPr/>
          </p:nvSpPr>
          <p:spPr>
            <a:xfrm>
              <a:off x="4648200" y="2321051"/>
              <a:ext cx="6901180" cy="982980"/>
            </a:xfrm>
            <a:custGeom>
              <a:avLst/>
              <a:gdLst/>
              <a:ahLst/>
              <a:cxnLst/>
              <a:rect l="l" t="t" r="r" b="b"/>
              <a:pathLst>
                <a:path w="6901180" h="982979">
                  <a:moveTo>
                    <a:pt x="0" y="982980"/>
                  </a:moveTo>
                  <a:lnTo>
                    <a:pt x="6900672" y="982980"/>
                  </a:lnTo>
                  <a:lnTo>
                    <a:pt x="6900672" y="0"/>
                  </a:lnTo>
                  <a:lnTo>
                    <a:pt x="0" y="0"/>
                  </a:lnTo>
                  <a:lnTo>
                    <a:pt x="0" y="982980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92624" y="1744979"/>
              <a:ext cx="4831080" cy="1152525"/>
            </a:xfrm>
            <a:custGeom>
              <a:avLst/>
              <a:gdLst/>
              <a:ahLst/>
              <a:cxnLst/>
              <a:rect l="l" t="t" r="r" b="b"/>
              <a:pathLst>
                <a:path w="4831080" h="1152525">
                  <a:moveTo>
                    <a:pt x="4639056" y="0"/>
                  </a:moveTo>
                  <a:lnTo>
                    <a:pt x="192024" y="0"/>
                  </a:ln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0" y="960120"/>
                  </a:lnTo>
                  <a:lnTo>
                    <a:pt x="5071" y="1004147"/>
                  </a:lnTo>
                  <a:lnTo>
                    <a:pt x="19518" y="1044564"/>
                  </a:lnTo>
                  <a:lnTo>
                    <a:pt x="42187" y="1080218"/>
                  </a:lnTo>
                  <a:lnTo>
                    <a:pt x="71925" y="1109956"/>
                  </a:lnTo>
                  <a:lnTo>
                    <a:pt x="107579" y="1132625"/>
                  </a:lnTo>
                  <a:lnTo>
                    <a:pt x="147996" y="1147072"/>
                  </a:lnTo>
                  <a:lnTo>
                    <a:pt x="192024" y="1152144"/>
                  </a:lnTo>
                  <a:lnTo>
                    <a:pt x="4639056" y="1152144"/>
                  </a:lnTo>
                  <a:lnTo>
                    <a:pt x="4683083" y="1147072"/>
                  </a:lnTo>
                  <a:lnTo>
                    <a:pt x="4723500" y="1132625"/>
                  </a:lnTo>
                  <a:lnTo>
                    <a:pt x="4759154" y="1109956"/>
                  </a:lnTo>
                  <a:lnTo>
                    <a:pt x="4788892" y="1080218"/>
                  </a:lnTo>
                  <a:lnTo>
                    <a:pt x="4811561" y="1044564"/>
                  </a:lnTo>
                  <a:lnTo>
                    <a:pt x="4826008" y="1004147"/>
                  </a:lnTo>
                  <a:lnTo>
                    <a:pt x="4831080" y="960120"/>
                  </a:lnTo>
                  <a:lnTo>
                    <a:pt x="4831080" y="192024"/>
                  </a:lnTo>
                  <a:lnTo>
                    <a:pt x="4826008" y="147996"/>
                  </a:lnTo>
                  <a:lnTo>
                    <a:pt x="4811561" y="107579"/>
                  </a:lnTo>
                  <a:lnTo>
                    <a:pt x="4788892" y="71925"/>
                  </a:lnTo>
                  <a:lnTo>
                    <a:pt x="4759154" y="42187"/>
                  </a:lnTo>
                  <a:lnTo>
                    <a:pt x="4723500" y="19518"/>
                  </a:lnTo>
                  <a:lnTo>
                    <a:pt x="4683083" y="5071"/>
                  </a:lnTo>
                  <a:lnTo>
                    <a:pt x="463905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92624" y="1744979"/>
              <a:ext cx="4831080" cy="1152525"/>
            </a:xfrm>
            <a:custGeom>
              <a:avLst/>
              <a:gdLst/>
              <a:ahLst/>
              <a:cxnLst/>
              <a:rect l="l" t="t" r="r" b="b"/>
              <a:pathLst>
                <a:path w="4831080" h="1152525">
                  <a:moveTo>
                    <a:pt x="0" y="192024"/>
                  </a:moveTo>
                  <a:lnTo>
                    <a:pt x="5071" y="147996"/>
                  </a:lnTo>
                  <a:lnTo>
                    <a:pt x="19518" y="107579"/>
                  </a:lnTo>
                  <a:lnTo>
                    <a:pt x="42187" y="71925"/>
                  </a:lnTo>
                  <a:lnTo>
                    <a:pt x="71925" y="42187"/>
                  </a:lnTo>
                  <a:lnTo>
                    <a:pt x="107579" y="19518"/>
                  </a:lnTo>
                  <a:lnTo>
                    <a:pt x="147996" y="5071"/>
                  </a:lnTo>
                  <a:lnTo>
                    <a:pt x="192024" y="0"/>
                  </a:lnTo>
                  <a:lnTo>
                    <a:pt x="4639056" y="0"/>
                  </a:lnTo>
                  <a:lnTo>
                    <a:pt x="4683083" y="5071"/>
                  </a:lnTo>
                  <a:lnTo>
                    <a:pt x="4723500" y="19518"/>
                  </a:lnTo>
                  <a:lnTo>
                    <a:pt x="4759154" y="42187"/>
                  </a:lnTo>
                  <a:lnTo>
                    <a:pt x="4788892" y="71925"/>
                  </a:lnTo>
                  <a:lnTo>
                    <a:pt x="4811561" y="107579"/>
                  </a:lnTo>
                  <a:lnTo>
                    <a:pt x="4826008" y="147996"/>
                  </a:lnTo>
                  <a:lnTo>
                    <a:pt x="4831080" y="192024"/>
                  </a:lnTo>
                  <a:lnTo>
                    <a:pt x="4831080" y="960120"/>
                  </a:lnTo>
                  <a:lnTo>
                    <a:pt x="4826008" y="1004147"/>
                  </a:lnTo>
                  <a:lnTo>
                    <a:pt x="4811561" y="1044564"/>
                  </a:lnTo>
                  <a:lnTo>
                    <a:pt x="4788892" y="1080218"/>
                  </a:lnTo>
                  <a:lnTo>
                    <a:pt x="4759154" y="1109956"/>
                  </a:lnTo>
                  <a:lnTo>
                    <a:pt x="4723500" y="1132625"/>
                  </a:lnTo>
                  <a:lnTo>
                    <a:pt x="4683083" y="1147072"/>
                  </a:lnTo>
                  <a:lnTo>
                    <a:pt x="4639056" y="1152144"/>
                  </a:lnTo>
                  <a:lnTo>
                    <a:pt x="192024" y="1152144"/>
                  </a:lnTo>
                  <a:lnTo>
                    <a:pt x="147996" y="1147072"/>
                  </a:lnTo>
                  <a:lnTo>
                    <a:pt x="107579" y="1132625"/>
                  </a:lnTo>
                  <a:lnTo>
                    <a:pt x="71925" y="1109956"/>
                  </a:lnTo>
                  <a:lnTo>
                    <a:pt x="42187" y="1080218"/>
                  </a:lnTo>
                  <a:lnTo>
                    <a:pt x="19518" y="1044564"/>
                  </a:lnTo>
                  <a:lnTo>
                    <a:pt x="5071" y="1004147"/>
                  </a:lnTo>
                  <a:lnTo>
                    <a:pt x="0" y="960120"/>
                  </a:lnTo>
                  <a:lnTo>
                    <a:pt x="0" y="1920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219827" y="1952320"/>
            <a:ext cx="3079750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3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900" dirty="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sz="3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9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900" spc="-25" dirty="0">
                <a:solidFill>
                  <a:srgbClr val="FFFFFF"/>
                </a:solidFill>
                <a:latin typeface="Calibri"/>
                <a:cs typeface="Calibri"/>
              </a:rPr>
              <a:t>ARQ</a:t>
            </a:r>
            <a:endParaRPr sz="39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41850" y="3507994"/>
            <a:ext cx="6913880" cy="1570355"/>
            <a:chOff x="4641850" y="3507994"/>
            <a:chExt cx="6913880" cy="1570355"/>
          </a:xfrm>
        </p:grpSpPr>
        <p:sp>
          <p:nvSpPr>
            <p:cNvPr id="11" name="object 11"/>
            <p:cNvSpPr/>
            <p:nvPr/>
          </p:nvSpPr>
          <p:spPr>
            <a:xfrm>
              <a:off x="4648200" y="4090416"/>
              <a:ext cx="6901180" cy="981710"/>
            </a:xfrm>
            <a:custGeom>
              <a:avLst/>
              <a:gdLst/>
              <a:ahLst/>
              <a:cxnLst/>
              <a:rect l="l" t="t" r="r" b="b"/>
              <a:pathLst>
                <a:path w="6901180" h="981710">
                  <a:moveTo>
                    <a:pt x="0" y="981455"/>
                  </a:moveTo>
                  <a:lnTo>
                    <a:pt x="6900672" y="981455"/>
                  </a:lnTo>
                  <a:lnTo>
                    <a:pt x="6900672" y="0"/>
                  </a:lnTo>
                  <a:lnTo>
                    <a:pt x="0" y="0"/>
                  </a:lnTo>
                  <a:lnTo>
                    <a:pt x="0" y="981455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92624" y="3514344"/>
              <a:ext cx="4831080" cy="1150620"/>
            </a:xfrm>
            <a:custGeom>
              <a:avLst/>
              <a:gdLst/>
              <a:ahLst/>
              <a:cxnLst/>
              <a:rect l="l" t="t" r="r" b="b"/>
              <a:pathLst>
                <a:path w="4831080" h="1150620">
                  <a:moveTo>
                    <a:pt x="4639309" y="0"/>
                  </a:moveTo>
                  <a:lnTo>
                    <a:pt x="191770" y="0"/>
                  </a:lnTo>
                  <a:lnTo>
                    <a:pt x="147796" y="5064"/>
                  </a:lnTo>
                  <a:lnTo>
                    <a:pt x="107431" y="19490"/>
                  </a:lnTo>
                  <a:lnTo>
                    <a:pt x="71824" y="42127"/>
                  </a:lnTo>
                  <a:lnTo>
                    <a:pt x="42127" y="71824"/>
                  </a:lnTo>
                  <a:lnTo>
                    <a:pt x="19490" y="107431"/>
                  </a:lnTo>
                  <a:lnTo>
                    <a:pt x="5064" y="147796"/>
                  </a:lnTo>
                  <a:lnTo>
                    <a:pt x="0" y="191769"/>
                  </a:lnTo>
                  <a:lnTo>
                    <a:pt x="0" y="958849"/>
                  </a:lnTo>
                  <a:lnTo>
                    <a:pt x="5064" y="1002823"/>
                  </a:lnTo>
                  <a:lnTo>
                    <a:pt x="19490" y="1043188"/>
                  </a:lnTo>
                  <a:lnTo>
                    <a:pt x="42127" y="1078795"/>
                  </a:lnTo>
                  <a:lnTo>
                    <a:pt x="71824" y="1108492"/>
                  </a:lnTo>
                  <a:lnTo>
                    <a:pt x="107431" y="1131129"/>
                  </a:lnTo>
                  <a:lnTo>
                    <a:pt x="147796" y="1145555"/>
                  </a:lnTo>
                  <a:lnTo>
                    <a:pt x="191770" y="1150619"/>
                  </a:lnTo>
                  <a:lnTo>
                    <a:pt x="4639309" y="1150619"/>
                  </a:lnTo>
                  <a:lnTo>
                    <a:pt x="4683283" y="1145555"/>
                  </a:lnTo>
                  <a:lnTo>
                    <a:pt x="4723648" y="1131129"/>
                  </a:lnTo>
                  <a:lnTo>
                    <a:pt x="4759255" y="1108492"/>
                  </a:lnTo>
                  <a:lnTo>
                    <a:pt x="4788952" y="1078795"/>
                  </a:lnTo>
                  <a:lnTo>
                    <a:pt x="4811589" y="1043188"/>
                  </a:lnTo>
                  <a:lnTo>
                    <a:pt x="4826015" y="1002823"/>
                  </a:lnTo>
                  <a:lnTo>
                    <a:pt x="4831080" y="958849"/>
                  </a:lnTo>
                  <a:lnTo>
                    <a:pt x="4831080" y="191769"/>
                  </a:lnTo>
                  <a:lnTo>
                    <a:pt x="4826015" y="147796"/>
                  </a:lnTo>
                  <a:lnTo>
                    <a:pt x="4811589" y="107431"/>
                  </a:lnTo>
                  <a:lnTo>
                    <a:pt x="4788952" y="71824"/>
                  </a:lnTo>
                  <a:lnTo>
                    <a:pt x="4759255" y="42127"/>
                  </a:lnTo>
                  <a:lnTo>
                    <a:pt x="4723648" y="19490"/>
                  </a:lnTo>
                  <a:lnTo>
                    <a:pt x="4683283" y="5064"/>
                  </a:lnTo>
                  <a:lnTo>
                    <a:pt x="4639309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92624" y="3514344"/>
              <a:ext cx="4831080" cy="1150620"/>
            </a:xfrm>
            <a:custGeom>
              <a:avLst/>
              <a:gdLst/>
              <a:ahLst/>
              <a:cxnLst/>
              <a:rect l="l" t="t" r="r" b="b"/>
              <a:pathLst>
                <a:path w="4831080" h="1150620">
                  <a:moveTo>
                    <a:pt x="0" y="191769"/>
                  </a:moveTo>
                  <a:lnTo>
                    <a:pt x="5064" y="147796"/>
                  </a:lnTo>
                  <a:lnTo>
                    <a:pt x="19490" y="107431"/>
                  </a:lnTo>
                  <a:lnTo>
                    <a:pt x="42127" y="71824"/>
                  </a:lnTo>
                  <a:lnTo>
                    <a:pt x="71824" y="42127"/>
                  </a:lnTo>
                  <a:lnTo>
                    <a:pt x="107431" y="19490"/>
                  </a:lnTo>
                  <a:lnTo>
                    <a:pt x="147796" y="5064"/>
                  </a:lnTo>
                  <a:lnTo>
                    <a:pt x="191770" y="0"/>
                  </a:lnTo>
                  <a:lnTo>
                    <a:pt x="4639309" y="0"/>
                  </a:lnTo>
                  <a:lnTo>
                    <a:pt x="4683283" y="5064"/>
                  </a:lnTo>
                  <a:lnTo>
                    <a:pt x="4723648" y="19490"/>
                  </a:lnTo>
                  <a:lnTo>
                    <a:pt x="4759255" y="42127"/>
                  </a:lnTo>
                  <a:lnTo>
                    <a:pt x="4788952" y="71824"/>
                  </a:lnTo>
                  <a:lnTo>
                    <a:pt x="4811589" y="107431"/>
                  </a:lnTo>
                  <a:lnTo>
                    <a:pt x="4826015" y="147796"/>
                  </a:lnTo>
                  <a:lnTo>
                    <a:pt x="4831080" y="191769"/>
                  </a:lnTo>
                  <a:lnTo>
                    <a:pt x="4831080" y="958849"/>
                  </a:lnTo>
                  <a:lnTo>
                    <a:pt x="4826015" y="1002823"/>
                  </a:lnTo>
                  <a:lnTo>
                    <a:pt x="4811589" y="1043188"/>
                  </a:lnTo>
                  <a:lnTo>
                    <a:pt x="4788952" y="1078795"/>
                  </a:lnTo>
                  <a:lnTo>
                    <a:pt x="4759255" y="1108492"/>
                  </a:lnTo>
                  <a:lnTo>
                    <a:pt x="4723648" y="1131129"/>
                  </a:lnTo>
                  <a:lnTo>
                    <a:pt x="4683283" y="1145555"/>
                  </a:lnTo>
                  <a:lnTo>
                    <a:pt x="4639309" y="1150619"/>
                  </a:lnTo>
                  <a:lnTo>
                    <a:pt x="191770" y="1150619"/>
                  </a:lnTo>
                  <a:lnTo>
                    <a:pt x="147796" y="1145555"/>
                  </a:lnTo>
                  <a:lnTo>
                    <a:pt x="107431" y="1131129"/>
                  </a:lnTo>
                  <a:lnTo>
                    <a:pt x="71824" y="1108492"/>
                  </a:lnTo>
                  <a:lnTo>
                    <a:pt x="42127" y="1078795"/>
                  </a:lnTo>
                  <a:lnTo>
                    <a:pt x="19490" y="1043188"/>
                  </a:lnTo>
                  <a:lnTo>
                    <a:pt x="5064" y="1002823"/>
                  </a:lnTo>
                  <a:lnTo>
                    <a:pt x="0" y="958849"/>
                  </a:lnTo>
                  <a:lnTo>
                    <a:pt x="0" y="19176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22172" y="2944825"/>
            <a:ext cx="883158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300"/>
              </a:lnSpc>
              <a:spcBef>
                <a:spcPts val="100"/>
              </a:spcBef>
            </a:pPr>
            <a:r>
              <a:rPr sz="5400" b="1" spc="-10" dirty="0">
                <a:latin typeface="Times New Roman"/>
                <a:cs typeface="Times New Roman"/>
              </a:rPr>
              <a:t>Outline</a:t>
            </a:r>
            <a:endParaRPr sz="5400">
              <a:latin typeface="Times New Roman"/>
              <a:cs typeface="Times New Roman"/>
            </a:endParaRPr>
          </a:p>
          <a:p>
            <a:pPr marL="4509770">
              <a:lnSpc>
                <a:spcPts val="4500"/>
              </a:lnSpc>
            </a:pPr>
            <a:r>
              <a:rPr sz="3900" dirty="0">
                <a:solidFill>
                  <a:srgbClr val="FFFFFF"/>
                </a:solidFill>
                <a:latin typeface="Calibri"/>
                <a:cs typeface="Calibri"/>
              </a:rPr>
              <a:t>Selective</a:t>
            </a:r>
            <a:r>
              <a:rPr sz="39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900" dirty="0">
                <a:solidFill>
                  <a:srgbClr val="FFFFFF"/>
                </a:solidFill>
                <a:latin typeface="Calibri"/>
                <a:cs typeface="Calibri"/>
              </a:rPr>
              <a:t>Repeat</a:t>
            </a:r>
            <a:r>
              <a:rPr sz="39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900" spc="-25" dirty="0">
                <a:solidFill>
                  <a:srgbClr val="FFFFFF"/>
                </a:solidFill>
                <a:latin typeface="Calibri"/>
                <a:cs typeface="Calibri"/>
              </a:rPr>
              <a:t>ARQ</a:t>
            </a:r>
            <a:endParaRPr sz="3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1890" y="337769"/>
            <a:ext cx="299783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imes New Roman"/>
                <a:cs typeface="Times New Roman"/>
              </a:rPr>
              <a:t>Go</a:t>
            </a:r>
            <a:r>
              <a:rPr sz="3300" b="1" spc="-10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Back</a:t>
            </a:r>
            <a:r>
              <a:rPr sz="3300" b="1" spc="-2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N</a:t>
            </a:r>
            <a:r>
              <a:rPr sz="3300" b="1" spc="-180" dirty="0">
                <a:latin typeface="Times New Roman"/>
                <a:cs typeface="Times New Roman"/>
              </a:rPr>
              <a:t> </a:t>
            </a:r>
            <a:r>
              <a:rPr sz="3300" b="1" spc="-25" dirty="0">
                <a:latin typeface="Times New Roman"/>
                <a:cs typeface="Times New Roman"/>
              </a:rPr>
              <a:t>ARQ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809" y="1082533"/>
            <a:ext cx="9925685" cy="4625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95" marR="5715" indent="-227329" algn="just">
              <a:lnSpc>
                <a:spcPct val="1069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10" dirty="0">
                <a:solidFill>
                  <a:srgbClr val="202429"/>
                </a:solidFill>
                <a:latin typeface="Times New Roman"/>
                <a:cs typeface="Times New Roman"/>
              </a:rPr>
              <a:t>Go-Back-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N</a:t>
            </a:r>
            <a:r>
              <a:rPr sz="2400" b="1" spc="114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ARQ</a:t>
            </a:r>
            <a:r>
              <a:rPr sz="2400" b="1" spc="1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is</a:t>
            </a:r>
            <a:r>
              <a:rPr sz="2400" spc="114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an</a:t>
            </a:r>
            <a:r>
              <a:rPr sz="2400" spc="1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Automatic</a:t>
            </a:r>
            <a:r>
              <a:rPr sz="2400" spc="1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Repeat</a:t>
            </a:r>
            <a:r>
              <a:rPr sz="2400" spc="1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Request</a:t>
            </a:r>
            <a:r>
              <a:rPr sz="2400" spc="114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(ARQ)</a:t>
            </a:r>
            <a:r>
              <a:rPr sz="2400" spc="1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protocol</a:t>
            </a:r>
            <a:r>
              <a:rPr sz="2400" spc="1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where</a:t>
            </a:r>
            <a:r>
              <a:rPr sz="2400" spc="1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02429"/>
                </a:solidFill>
                <a:latin typeface="Times New Roman"/>
                <a:cs typeface="Times New Roman"/>
              </a:rPr>
              <a:t>the 	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sending</a:t>
            </a:r>
            <a:r>
              <a:rPr sz="2400" spc="19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process</a:t>
            </a:r>
            <a:r>
              <a:rPr sz="2400" spc="19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continues</a:t>
            </a:r>
            <a:r>
              <a:rPr sz="2400" spc="20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to</a:t>
            </a:r>
            <a:r>
              <a:rPr sz="2400" spc="19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send</a:t>
            </a:r>
            <a:r>
              <a:rPr sz="2400" spc="19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several</a:t>
            </a:r>
            <a:r>
              <a:rPr sz="2400" spc="19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frames</a:t>
            </a:r>
            <a:r>
              <a:rPr sz="2400" spc="19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as</a:t>
            </a:r>
            <a:r>
              <a:rPr sz="2400" spc="19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specified</a:t>
            </a:r>
            <a:r>
              <a:rPr sz="2400" spc="18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by</a:t>
            </a:r>
            <a:r>
              <a:rPr sz="2400" spc="19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19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window 	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size</a:t>
            </a:r>
            <a:r>
              <a:rPr sz="24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even</a:t>
            </a:r>
            <a:r>
              <a:rPr sz="24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without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receiving</a:t>
            </a:r>
            <a:r>
              <a:rPr sz="2400" spc="-5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an</a:t>
            </a:r>
            <a:r>
              <a:rPr sz="24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ACK</a:t>
            </a:r>
            <a:r>
              <a:rPr sz="2400" b="1" spc="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packet</a:t>
            </a:r>
            <a:r>
              <a:rPr sz="2400" b="1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from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receiver.</a:t>
            </a:r>
            <a:endParaRPr sz="2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201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sender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keeps a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copy</a:t>
            </a:r>
            <a:r>
              <a:rPr sz="24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each</a:t>
            </a:r>
            <a:r>
              <a:rPr sz="24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frame</a:t>
            </a:r>
            <a:r>
              <a:rPr sz="2400" spc="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until</a:t>
            </a:r>
            <a:r>
              <a:rPr sz="24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arrival</a:t>
            </a:r>
            <a:r>
              <a:rPr sz="24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202429"/>
                </a:solidFill>
                <a:latin typeface="Times New Roman"/>
                <a:cs typeface="Times New Roman"/>
              </a:rPr>
              <a:t>ACK</a:t>
            </a:r>
            <a:r>
              <a:rPr sz="2400" spc="-20" dirty="0">
                <a:solidFill>
                  <a:srgbClr val="202429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0029" marR="5080" indent="-227965" algn="just">
              <a:lnSpc>
                <a:spcPct val="107100"/>
              </a:lnSpc>
              <a:spcBef>
                <a:spcPts val="17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In</a:t>
            </a:r>
            <a:r>
              <a:rPr sz="2400" spc="27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02429"/>
                </a:solidFill>
                <a:latin typeface="Times New Roman"/>
                <a:cs typeface="Times New Roman"/>
              </a:rPr>
              <a:t>Go-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Back-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N</a:t>
            </a:r>
            <a:r>
              <a:rPr sz="2400" spc="2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ARQ,</a:t>
            </a:r>
            <a:r>
              <a:rPr sz="2400" spc="28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28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size</a:t>
            </a:r>
            <a:r>
              <a:rPr sz="2400" spc="28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400" spc="2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28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sender</a:t>
            </a:r>
            <a:r>
              <a:rPr sz="2400" spc="2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is</a:t>
            </a:r>
            <a:r>
              <a:rPr sz="2400" spc="2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N</a:t>
            </a:r>
            <a:r>
              <a:rPr sz="2400" spc="2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and</a:t>
            </a:r>
            <a:r>
              <a:rPr sz="2400" spc="28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29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size</a:t>
            </a:r>
            <a:r>
              <a:rPr sz="2400" spc="27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400" spc="27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2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receiver 	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window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is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always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02429"/>
                </a:solidFill>
                <a:latin typeface="Times New Roman"/>
                <a:cs typeface="Times New Roman"/>
              </a:rPr>
              <a:t>1.</a:t>
            </a:r>
            <a:endParaRPr sz="2400">
              <a:latin typeface="Times New Roman"/>
              <a:cs typeface="Times New Roman"/>
            </a:endParaRPr>
          </a:p>
          <a:p>
            <a:pPr marL="240029" marR="5080" indent="-227965" algn="just">
              <a:lnSpc>
                <a:spcPct val="107100"/>
              </a:lnSpc>
              <a:spcBef>
                <a:spcPts val="1789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This</a:t>
            </a:r>
            <a:r>
              <a:rPr sz="2400" spc="35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receiver</a:t>
            </a:r>
            <a:r>
              <a:rPr sz="2400" spc="35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starts</a:t>
            </a:r>
            <a:r>
              <a:rPr sz="2400" spc="3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</a:t>
            </a:r>
            <a:r>
              <a:rPr sz="2400" spc="35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new</a:t>
            </a:r>
            <a:r>
              <a:rPr sz="2400" spc="3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ACK</a:t>
            </a:r>
            <a:r>
              <a:rPr sz="2400" spc="3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timer</a:t>
            </a:r>
            <a:r>
              <a:rPr sz="2400" spc="3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once</a:t>
            </a:r>
            <a:r>
              <a:rPr sz="2400" spc="3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it</a:t>
            </a:r>
            <a:r>
              <a:rPr sz="2400" spc="3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receives</a:t>
            </a:r>
            <a:r>
              <a:rPr sz="2400" spc="36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packets</a:t>
            </a:r>
            <a:r>
              <a:rPr sz="2400" spc="3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from</a:t>
            </a:r>
            <a:r>
              <a:rPr sz="2400" spc="3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sender. 	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When</a:t>
            </a:r>
            <a:r>
              <a:rPr sz="2400" spc="570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565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timer</a:t>
            </a:r>
            <a:r>
              <a:rPr sz="2400" spc="570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expires</a:t>
            </a:r>
            <a:r>
              <a:rPr sz="2400" spc="570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then</a:t>
            </a:r>
            <a:r>
              <a:rPr sz="2400" spc="565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560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receiver</a:t>
            </a:r>
            <a:r>
              <a:rPr sz="2400" spc="575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sends</a:t>
            </a:r>
            <a:r>
              <a:rPr sz="2400" spc="565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565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b="1" spc="-10" dirty="0">
                <a:solidFill>
                  <a:srgbClr val="202429"/>
                </a:solidFill>
                <a:latin typeface="Times New Roman"/>
                <a:cs typeface="Times New Roman"/>
              </a:rPr>
              <a:t>cumulative 	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acknowledgement</a:t>
            </a:r>
            <a:r>
              <a:rPr sz="2400" b="1" spc="1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for</a:t>
            </a:r>
            <a:r>
              <a:rPr sz="2400" spc="10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all</a:t>
            </a:r>
            <a:r>
              <a:rPr sz="2400" spc="10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10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frames</a:t>
            </a:r>
            <a:r>
              <a:rPr sz="2400" spc="1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that</a:t>
            </a:r>
            <a:r>
              <a:rPr sz="2400" spc="9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are</a:t>
            </a:r>
            <a:r>
              <a:rPr sz="2400" spc="10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unacknowledged</a:t>
            </a:r>
            <a:r>
              <a:rPr sz="2400" spc="1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by</a:t>
            </a:r>
            <a:r>
              <a:rPr sz="2400" spc="114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1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receiver 	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at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that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moment.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94720" y="0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79" h="1097280">
                <a:moveTo>
                  <a:pt x="1097280" y="0"/>
                </a:moveTo>
                <a:lnTo>
                  <a:pt x="0" y="0"/>
                </a:lnTo>
                <a:lnTo>
                  <a:pt x="178269" y="178282"/>
                </a:lnTo>
                <a:lnTo>
                  <a:pt x="0" y="356616"/>
                </a:lnTo>
                <a:lnTo>
                  <a:pt x="323723" y="680339"/>
                </a:lnTo>
                <a:lnTo>
                  <a:pt x="502056" y="502069"/>
                </a:lnTo>
                <a:lnTo>
                  <a:pt x="1097280" y="1097280"/>
                </a:lnTo>
                <a:lnTo>
                  <a:pt x="109728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7005" y="337769"/>
            <a:ext cx="342646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imes New Roman"/>
                <a:cs typeface="Times New Roman"/>
              </a:rPr>
              <a:t>Go</a:t>
            </a:r>
            <a:r>
              <a:rPr sz="3300" b="1" spc="-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Back</a:t>
            </a:r>
            <a:r>
              <a:rPr sz="3300" b="1" spc="-5" dirty="0">
                <a:latin typeface="Times New Roman"/>
                <a:cs typeface="Times New Roman"/>
              </a:rPr>
              <a:t> </a:t>
            </a:r>
            <a:r>
              <a:rPr sz="3300" b="1" spc="-30" dirty="0">
                <a:latin typeface="Times New Roman"/>
                <a:cs typeface="Times New Roman"/>
              </a:rPr>
              <a:t>N</a:t>
            </a:r>
            <a:r>
              <a:rPr sz="3300" b="1" spc="-18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ARQ </a:t>
            </a:r>
            <a:r>
              <a:rPr sz="3300" b="1" spc="-25" dirty="0">
                <a:latin typeface="Times New Roman"/>
                <a:cs typeface="Times New Roman"/>
              </a:rPr>
              <a:t>II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809" y="1082533"/>
            <a:ext cx="9926955" cy="4233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95" marR="6985" indent="-227329" algn="just">
              <a:lnSpc>
                <a:spcPct val="1069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If</a:t>
            </a:r>
            <a:r>
              <a:rPr sz="2400" spc="100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100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receiver</a:t>
            </a:r>
            <a:r>
              <a:rPr sz="2400" spc="100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receives</a:t>
            </a:r>
            <a:r>
              <a:rPr sz="2400" spc="105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</a:t>
            </a:r>
            <a:r>
              <a:rPr sz="2400" spc="100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corrupted</a:t>
            </a:r>
            <a:r>
              <a:rPr sz="2400" spc="105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frame,</a:t>
            </a:r>
            <a:r>
              <a:rPr sz="2400" spc="100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then</a:t>
            </a:r>
            <a:r>
              <a:rPr sz="2400" spc="95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it</a:t>
            </a:r>
            <a:r>
              <a:rPr sz="2400" spc="110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silently</a:t>
            </a:r>
            <a:r>
              <a:rPr sz="2400" spc="95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discards</a:t>
            </a:r>
            <a:r>
              <a:rPr sz="2400" spc="100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spc="-20" dirty="0">
                <a:solidFill>
                  <a:srgbClr val="202429"/>
                </a:solidFill>
                <a:latin typeface="Times New Roman"/>
                <a:cs typeface="Times New Roman"/>
              </a:rPr>
              <a:t>that 	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corrupted</a:t>
            </a:r>
            <a:r>
              <a:rPr sz="2400" spc="1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frame,</a:t>
            </a:r>
            <a:r>
              <a:rPr sz="2400" spc="1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and</a:t>
            </a:r>
            <a:r>
              <a:rPr sz="2400" spc="1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1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correct</a:t>
            </a:r>
            <a:r>
              <a:rPr sz="2400" spc="1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frame</a:t>
            </a:r>
            <a:r>
              <a:rPr sz="2400" spc="1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is</a:t>
            </a:r>
            <a:r>
              <a:rPr sz="2400" spc="1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retransmitted</a:t>
            </a:r>
            <a:r>
              <a:rPr sz="2400" spc="1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by</a:t>
            </a:r>
            <a:r>
              <a:rPr sz="2400" spc="1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1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sender</a:t>
            </a:r>
            <a:r>
              <a:rPr sz="2400" spc="1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after</a:t>
            </a:r>
            <a:r>
              <a:rPr sz="2400" spc="1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02429"/>
                </a:solidFill>
                <a:latin typeface="Times New Roman"/>
                <a:cs typeface="Times New Roman"/>
              </a:rPr>
              <a:t>the 	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timeout</a:t>
            </a:r>
            <a:r>
              <a:rPr sz="24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timer</a:t>
            </a:r>
            <a:r>
              <a:rPr sz="24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expires.</a:t>
            </a:r>
            <a:endParaRPr sz="2400">
              <a:latin typeface="Times New Roman"/>
              <a:cs typeface="Times New Roman"/>
            </a:endParaRPr>
          </a:p>
          <a:p>
            <a:pPr marL="240029" marR="8890" indent="-227965" algn="just">
              <a:lnSpc>
                <a:spcPct val="107100"/>
              </a:lnSpc>
              <a:spcBef>
                <a:spcPts val="18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If</a:t>
            </a:r>
            <a:r>
              <a:rPr sz="2400" spc="204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2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receiver</a:t>
            </a:r>
            <a:r>
              <a:rPr sz="2400" spc="2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receives</a:t>
            </a:r>
            <a:r>
              <a:rPr sz="2400" spc="2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2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out</a:t>
            </a:r>
            <a:r>
              <a:rPr sz="2400" spc="2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400" spc="2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order</a:t>
            </a:r>
            <a:r>
              <a:rPr sz="2400" spc="2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frame,</a:t>
            </a:r>
            <a:r>
              <a:rPr sz="2400" spc="2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then</a:t>
            </a:r>
            <a:r>
              <a:rPr sz="2400" spc="2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it</a:t>
            </a:r>
            <a:r>
              <a:rPr sz="2400" spc="2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simply</a:t>
            </a:r>
            <a:r>
              <a:rPr sz="2400" spc="2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discards</a:t>
            </a:r>
            <a:r>
              <a:rPr sz="2400" spc="2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all</a:t>
            </a:r>
            <a:r>
              <a:rPr sz="2400" spc="2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02429"/>
                </a:solidFill>
                <a:latin typeface="Times New Roman"/>
                <a:cs typeface="Times New Roman"/>
              </a:rPr>
              <a:t>the 	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frames.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20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If</a:t>
            </a:r>
            <a:r>
              <a:rPr sz="24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sender</a:t>
            </a:r>
            <a:r>
              <a:rPr sz="24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does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not</a:t>
            </a:r>
            <a:r>
              <a:rPr sz="24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receive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any</a:t>
            </a:r>
            <a:r>
              <a:rPr sz="24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acknowledgement,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then</a:t>
            </a:r>
            <a:r>
              <a:rPr sz="24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entire</a:t>
            </a:r>
            <a:r>
              <a:rPr sz="24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window</a:t>
            </a:r>
            <a:r>
              <a:rPr sz="2400" spc="-25" dirty="0">
                <a:solidFill>
                  <a:srgbClr val="202429"/>
                </a:solidFill>
                <a:latin typeface="Times New Roman"/>
                <a:cs typeface="Times New Roman"/>
              </a:rPr>
              <a:t> of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95"/>
              </a:spcBef>
            </a:pP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frame</a:t>
            </a:r>
            <a:r>
              <a:rPr sz="24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will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be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retransmitted</a:t>
            </a:r>
            <a:r>
              <a:rPr sz="2400" spc="-5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in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that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case.</a:t>
            </a:r>
            <a:endParaRPr sz="2400">
              <a:latin typeface="Times New Roman"/>
              <a:cs typeface="Times New Roman"/>
            </a:endParaRPr>
          </a:p>
          <a:p>
            <a:pPr marL="240029" marR="9525" indent="-227965" algn="just">
              <a:lnSpc>
                <a:spcPct val="107100"/>
              </a:lnSpc>
              <a:spcBef>
                <a:spcPts val="18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Using</a:t>
            </a:r>
            <a:r>
              <a:rPr sz="2400" spc="39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38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02429"/>
                </a:solidFill>
                <a:latin typeface="Times New Roman"/>
                <a:cs typeface="Times New Roman"/>
              </a:rPr>
              <a:t>Go-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Back-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N</a:t>
            </a:r>
            <a:r>
              <a:rPr sz="2400" spc="38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ARQ</a:t>
            </a:r>
            <a:r>
              <a:rPr sz="2400" spc="38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protocol</a:t>
            </a:r>
            <a:r>
              <a:rPr sz="2400" spc="39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leads</a:t>
            </a:r>
            <a:r>
              <a:rPr sz="2400" spc="38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to</a:t>
            </a:r>
            <a:r>
              <a:rPr sz="2400" spc="38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40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retransmission</a:t>
            </a:r>
            <a:r>
              <a:rPr sz="2400" spc="40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400" spc="38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40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202429"/>
                </a:solidFill>
                <a:latin typeface="Times New Roman"/>
                <a:cs typeface="Times New Roman"/>
              </a:rPr>
              <a:t>lost 	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frames</a:t>
            </a:r>
            <a:r>
              <a:rPr sz="24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after</a:t>
            </a:r>
            <a:r>
              <a:rPr sz="24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expiry</a:t>
            </a:r>
            <a:r>
              <a:rPr sz="24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timeout</a:t>
            </a:r>
            <a:r>
              <a:rPr sz="2400" b="1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02429"/>
                </a:solidFill>
                <a:latin typeface="Times New Roman"/>
                <a:cs typeface="Times New Roman"/>
              </a:rPr>
              <a:t>timer.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2809" y="5673038"/>
            <a:ext cx="8481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7978140" algn="l"/>
              </a:tabLst>
            </a:pPr>
            <a:r>
              <a:rPr sz="2400" dirty="0">
                <a:latin typeface="Times New Roman"/>
                <a:cs typeface="Times New Roman"/>
              </a:rPr>
              <a:t>Efficiency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Sender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Window </a:t>
            </a:r>
            <a:r>
              <a:rPr sz="2400" dirty="0">
                <a:latin typeface="Times New Roman"/>
                <a:cs typeface="Times New Roman"/>
              </a:rPr>
              <a:t>Size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Protocol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(1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2a)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where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Cambria Math"/>
                <a:cs typeface="Cambria Math"/>
              </a:rPr>
              <a:t>𝑎</a:t>
            </a:r>
            <a:r>
              <a:rPr sz="2400" spc="18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11563" y="5893104"/>
            <a:ext cx="233679" cy="20320"/>
          </a:xfrm>
          <a:custGeom>
            <a:avLst/>
            <a:gdLst/>
            <a:ahLst/>
            <a:cxnLst/>
            <a:rect l="l" t="t" r="r" b="b"/>
            <a:pathLst>
              <a:path w="233679" h="20320">
                <a:moveTo>
                  <a:pt x="233172" y="0"/>
                </a:moveTo>
                <a:lnTo>
                  <a:pt x="0" y="0"/>
                </a:lnTo>
                <a:lnTo>
                  <a:pt x="0" y="19812"/>
                </a:lnTo>
                <a:lnTo>
                  <a:pt x="233172" y="19812"/>
                </a:lnTo>
                <a:lnTo>
                  <a:pt x="2331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674606" y="5469127"/>
            <a:ext cx="299085" cy="73279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80"/>
              </a:spcBef>
            </a:pPr>
            <a:r>
              <a:rPr sz="1750" spc="95" dirty="0">
                <a:latin typeface="Cambria Math"/>
                <a:cs typeface="Cambria Math"/>
              </a:rPr>
              <a:t>𝑡</a:t>
            </a:r>
            <a:r>
              <a:rPr sz="2175" spc="142" baseline="-13409" dirty="0">
                <a:latin typeface="Cambria Math"/>
                <a:cs typeface="Cambria Math"/>
              </a:rPr>
              <a:t>𝑝</a:t>
            </a:r>
            <a:endParaRPr sz="2175" baseline="-13409">
              <a:latin typeface="Cambria Math"/>
              <a:cs typeface="Cambria Math"/>
            </a:endParaRPr>
          </a:p>
          <a:p>
            <a:pPr marL="57785">
              <a:lnSpc>
                <a:spcPct val="100000"/>
              </a:lnSpc>
              <a:spcBef>
                <a:spcPts val="685"/>
              </a:spcBef>
            </a:pPr>
            <a:r>
              <a:rPr sz="1750" spc="65" dirty="0">
                <a:latin typeface="Cambria Math"/>
                <a:cs typeface="Cambria Math"/>
              </a:rPr>
              <a:t>𝑡</a:t>
            </a:r>
            <a:r>
              <a:rPr sz="2175" spc="97" baseline="-13409" dirty="0">
                <a:latin typeface="Cambria Math"/>
                <a:cs typeface="Cambria Math"/>
              </a:rPr>
              <a:t>𝑡</a:t>
            </a:r>
            <a:endParaRPr sz="2175" baseline="-13409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094720" y="0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79" h="1097280">
                <a:moveTo>
                  <a:pt x="1097280" y="0"/>
                </a:moveTo>
                <a:lnTo>
                  <a:pt x="0" y="0"/>
                </a:lnTo>
                <a:lnTo>
                  <a:pt x="178269" y="178282"/>
                </a:lnTo>
                <a:lnTo>
                  <a:pt x="0" y="356616"/>
                </a:lnTo>
                <a:lnTo>
                  <a:pt x="323723" y="680339"/>
                </a:lnTo>
                <a:lnTo>
                  <a:pt x="502056" y="502069"/>
                </a:lnTo>
                <a:lnTo>
                  <a:pt x="1097280" y="1097280"/>
                </a:lnTo>
                <a:lnTo>
                  <a:pt x="109728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9170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imes New Roman"/>
                <a:cs typeface="Times New Roman"/>
              </a:rPr>
              <a:t>Need</a:t>
            </a:r>
            <a:r>
              <a:rPr sz="3300" b="1" spc="-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of</a:t>
            </a:r>
            <a:r>
              <a:rPr sz="3300" b="1" spc="-2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Go Back </a:t>
            </a:r>
            <a:r>
              <a:rPr sz="3300" b="1" spc="-30" dirty="0">
                <a:latin typeface="Times New Roman"/>
                <a:cs typeface="Times New Roman"/>
              </a:rPr>
              <a:t>N</a:t>
            </a:r>
            <a:r>
              <a:rPr sz="3300" b="1" spc="-185" dirty="0">
                <a:latin typeface="Times New Roman"/>
                <a:cs typeface="Times New Roman"/>
              </a:rPr>
              <a:t> </a:t>
            </a:r>
            <a:r>
              <a:rPr sz="3300" b="1" spc="-25" dirty="0">
                <a:latin typeface="Times New Roman"/>
                <a:cs typeface="Times New Roman"/>
              </a:rPr>
              <a:t>ARQ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809" y="1421637"/>
            <a:ext cx="9333865" cy="18224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5080" indent="-229235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This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protocol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is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used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to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send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more</a:t>
            </a:r>
            <a:r>
              <a:rPr sz="22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than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one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frame</a:t>
            </a:r>
            <a:r>
              <a:rPr sz="22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at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time.</a:t>
            </a:r>
            <a:r>
              <a:rPr sz="2200" spc="-6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With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help</a:t>
            </a:r>
            <a:r>
              <a:rPr sz="22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Go-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Back-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N</a:t>
            </a:r>
            <a:r>
              <a:rPr sz="2200" spc="-1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ARQ,</a:t>
            </a:r>
            <a:r>
              <a:rPr sz="22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there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is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reduction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in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waiting</a:t>
            </a:r>
            <a:r>
              <a:rPr sz="22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time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sender.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45"/>
              </a:spcBef>
              <a:buClr>
                <a:srgbClr val="202429"/>
              </a:buClr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241300" marR="73025" indent="-229235">
              <a:lnSpc>
                <a:spcPts val="2380"/>
              </a:lnSpc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With</a:t>
            </a:r>
            <a:r>
              <a:rPr sz="2200" spc="-6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help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Go-Back-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N</a:t>
            </a:r>
            <a:r>
              <a:rPr sz="2200" spc="-1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ARQ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protocol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5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efficiency</a:t>
            </a:r>
            <a:r>
              <a:rPr sz="22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in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transmission increases.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94720" y="0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79" h="1097280">
                <a:moveTo>
                  <a:pt x="1097280" y="0"/>
                </a:moveTo>
                <a:lnTo>
                  <a:pt x="0" y="0"/>
                </a:lnTo>
                <a:lnTo>
                  <a:pt x="178269" y="178282"/>
                </a:lnTo>
                <a:lnTo>
                  <a:pt x="0" y="356616"/>
                </a:lnTo>
                <a:lnTo>
                  <a:pt x="323723" y="680339"/>
                </a:lnTo>
                <a:lnTo>
                  <a:pt x="502056" y="502069"/>
                </a:lnTo>
                <a:lnTo>
                  <a:pt x="1097280" y="1097280"/>
                </a:lnTo>
                <a:lnTo>
                  <a:pt x="109728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9676" y="1064717"/>
            <a:ext cx="4483735" cy="101028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555"/>
              </a:spcBef>
            </a:pPr>
            <a:r>
              <a:rPr sz="3400" b="1" dirty="0">
                <a:latin typeface="Times New Roman"/>
                <a:cs typeface="Times New Roman"/>
              </a:rPr>
              <a:t>Go</a:t>
            </a:r>
            <a:r>
              <a:rPr sz="3400" b="1" spc="-5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Back</a:t>
            </a:r>
            <a:r>
              <a:rPr sz="3400" b="1" spc="-4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N</a:t>
            </a:r>
            <a:r>
              <a:rPr sz="3400" b="1" spc="-21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ARQ</a:t>
            </a:r>
            <a:r>
              <a:rPr sz="3400" b="1" spc="-30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Sender </a:t>
            </a:r>
            <a:r>
              <a:rPr sz="3400" b="1" dirty="0">
                <a:latin typeface="Times New Roman"/>
                <a:cs typeface="Times New Roman"/>
              </a:rPr>
              <a:t>sliding</a:t>
            </a:r>
            <a:r>
              <a:rPr sz="3400" b="1" spc="-85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window</a:t>
            </a:r>
            <a:endParaRPr sz="3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4636" y="2338911"/>
            <a:ext cx="3293745" cy="85090"/>
            <a:chOff x="624636" y="2338911"/>
            <a:chExt cx="3293745" cy="85090"/>
          </a:xfrm>
        </p:grpSpPr>
        <p:sp>
          <p:nvSpPr>
            <p:cNvPr id="4" name="object 4"/>
            <p:cNvSpPr/>
            <p:nvPr/>
          </p:nvSpPr>
          <p:spPr>
            <a:xfrm>
              <a:off x="643889" y="2362818"/>
              <a:ext cx="3255645" cy="40005"/>
            </a:xfrm>
            <a:custGeom>
              <a:avLst/>
              <a:gdLst/>
              <a:ahLst/>
              <a:cxnLst/>
              <a:rect l="l" t="t" r="r" b="b"/>
              <a:pathLst>
                <a:path w="3255645" h="40005">
                  <a:moveTo>
                    <a:pt x="951941" y="23"/>
                  </a:moveTo>
                  <a:lnTo>
                    <a:pt x="910692" y="0"/>
                  </a:lnTo>
                  <a:lnTo>
                    <a:pt x="870783" y="747"/>
                  </a:lnTo>
                  <a:lnTo>
                    <a:pt x="830133" y="2115"/>
                  </a:lnTo>
                  <a:lnTo>
                    <a:pt x="682926" y="8452"/>
                  </a:lnTo>
                  <a:lnTo>
                    <a:pt x="558271" y="12970"/>
                  </a:lnTo>
                  <a:lnTo>
                    <a:pt x="409554" y="18911"/>
                  </a:lnTo>
                  <a:lnTo>
                    <a:pt x="365953" y="20334"/>
                  </a:lnTo>
                  <a:lnTo>
                    <a:pt x="322995" y="21289"/>
                  </a:lnTo>
                  <a:lnTo>
                    <a:pt x="279274" y="21661"/>
                  </a:lnTo>
                  <a:lnTo>
                    <a:pt x="233383" y="21338"/>
                  </a:lnTo>
                  <a:lnTo>
                    <a:pt x="183916" y="20205"/>
                  </a:lnTo>
                  <a:lnTo>
                    <a:pt x="129467" y="18149"/>
                  </a:lnTo>
                  <a:lnTo>
                    <a:pt x="68630" y="15056"/>
                  </a:lnTo>
                  <a:lnTo>
                    <a:pt x="0" y="10811"/>
                  </a:lnTo>
                  <a:lnTo>
                    <a:pt x="368" y="17669"/>
                  </a:lnTo>
                  <a:lnTo>
                    <a:pt x="838" y="20336"/>
                  </a:lnTo>
                  <a:lnTo>
                    <a:pt x="0" y="29099"/>
                  </a:lnTo>
                  <a:lnTo>
                    <a:pt x="45461" y="28816"/>
                  </a:lnTo>
                  <a:lnTo>
                    <a:pt x="90446" y="28905"/>
                  </a:lnTo>
                  <a:lnTo>
                    <a:pt x="135407" y="29276"/>
                  </a:lnTo>
                  <a:lnTo>
                    <a:pt x="375756" y="32283"/>
                  </a:lnTo>
                  <a:lnTo>
                    <a:pt x="430114" y="32495"/>
                  </a:lnTo>
                  <a:lnTo>
                    <a:pt x="487627" y="32372"/>
                  </a:lnTo>
                  <a:lnTo>
                    <a:pt x="548750" y="31823"/>
                  </a:lnTo>
                  <a:lnTo>
                    <a:pt x="613936" y="30762"/>
                  </a:lnTo>
                  <a:lnTo>
                    <a:pt x="752525" y="27588"/>
                  </a:lnTo>
                  <a:lnTo>
                    <a:pt x="815491" y="26932"/>
                  </a:lnTo>
                  <a:lnTo>
                    <a:pt x="873298" y="26966"/>
                  </a:lnTo>
                  <a:lnTo>
                    <a:pt x="926705" y="27526"/>
                  </a:lnTo>
                  <a:lnTo>
                    <a:pt x="976472" y="28447"/>
                  </a:lnTo>
                  <a:lnTo>
                    <a:pt x="1111518" y="31735"/>
                  </a:lnTo>
                  <a:lnTo>
                    <a:pt x="1154314" y="32458"/>
                  </a:lnTo>
                  <a:lnTo>
                    <a:pt x="1197265" y="32720"/>
                  </a:lnTo>
                  <a:lnTo>
                    <a:pt x="1241131" y="32357"/>
                  </a:lnTo>
                  <a:lnTo>
                    <a:pt x="1286670" y="31205"/>
                  </a:lnTo>
                  <a:lnTo>
                    <a:pt x="1389143" y="26494"/>
                  </a:lnTo>
                  <a:lnTo>
                    <a:pt x="1437057" y="24823"/>
                  </a:lnTo>
                  <a:lnTo>
                    <a:pt x="1480302" y="23947"/>
                  </a:lnTo>
                  <a:lnTo>
                    <a:pt x="1520795" y="23729"/>
                  </a:lnTo>
                  <a:lnTo>
                    <a:pt x="1560450" y="24033"/>
                  </a:lnTo>
                  <a:lnTo>
                    <a:pt x="1749023" y="27708"/>
                  </a:lnTo>
                  <a:lnTo>
                    <a:pt x="1813236" y="28555"/>
                  </a:lnTo>
                  <a:lnTo>
                    <a:pt x="1888109" y="29099"/>
                  </a:lnTo>
                  <a:lnTo>
                    <a:pt x="1951082" y="28991"/>
                  </a:lnTo>
                  <a:lnTo>
                    <a:pt x="2012907" y="28233"/>
                  </a:lnTo>
                  <a:lnTo>
                    <a:pt x="2073418" y="26991"/>
                  </a:lnTo>
                  <a:lnTo>
                    <a:pt x="2132445" y="25434"/>
                  </a:lnTo>
                  <a:lnTo>
                    <a:pt x="2298954" y="20527"/>
                  </a:lnTo>
                  <a:lnTo>
                    <a:pt x="2350372" y="19369"/>
                  </a:lnTo>
                  <a:lnTo>
                    <a:pt x="2399469" y="18727"/>
                  </a:lnTo>
                  <a:lnTo>
                    <a:pt x="2446077" y="18769"/>
                  </a:lnTo>
                  <a:lnTo>
                    <a:pt x="2490028" y="19660"/>
                  </a:lnTo>
                  <a:lnTo>
                    <a:pt x="2531154" y="21568"/>
                  </a:lnTo>
                  <a:lnTo>
                    <a:pt x="2569288" y="24659"/>
                  </a:lnTo>
                  <a:lnTo>
                    <a:pt x="2604262" y="29099"/>
                  </a:lnTo>
                  <a:lnTo>
                    <a:pt x="2643589" y="33817"/>
                  </a:lnTo>
                  <a:lnTo>
                    <a:pt x="2689040" y="36974"/>
                  </a:lnTo>
                  <a:lnTo>
                    <a:pt x="2739433" y="38781"/>
                  </a:lnTo>
                  <a:lnTo>
                    <a:pt x="2793586" y="39450"/>
                  </a:lnTo>
                  <a:lnTo>
                    <a:pt x="2850318" y="39192"/>
                  </a:lnTo>
                  <a:lnTo>
                    <a:pt x="2908448" y="38218"/>
                  </a:lnTo>
                  <a:lnTo>
                    <a:pt x="2966795" y="36740"/>
                  </a:lnTo>
                  <a:lnTo>
                    <a:pt x="3178718" y="30003"/>
                  </a:lnTo>
                  <a:lnTo>
                    <a:pt x="3220426" y="29170"/>
                  </a:lnTo>
                  <a:lnTo>
                    <a:pt x="3255264" y="29099"/>
                  </a:lnTo>
                  <a:lnTo>
                    <a:pt x="3255645" y="20336"/>
                  </a:lnTo>
                  <a:lnTo>
                    <a:pt x="3255010" y="15256"/>
                  </a:lnTo>
                  <a:lnTo>
                    <a:pt x="3255264" y="10811"/>
                  </a:lnTo>
                  <a:lnTo>
                    <a:pt x="3201583" y="15835"/>
                  </a:lnTo>
                  <a:lnTo>
                    <a:pt x="3146724" y="18950"/>
                  </a:lnTo>
                  <a:lnTo>
                    <a:pt x="3091083" y="20431"/>
                  </a:lnTo>
                  <a:lnTo>
                    <a:pt x="3035056" y="20552"/>
                  </a:lnTo>
                  <a:lnTo>
                    <a:pt x="2979039" y="19588"/>
                  </a:lnTo>
                  <a:lnTo>
                    <a:pt x="2923428" y="17816"/>
                  </a:lnTo>
                  <a:lnTo>
                    <a:pt x="2868620" y="15508"/>
                  </a:lnTo>
                  <a:lnTo>
                    <a:pt x="2712974" y="8130"/>
                  </a:lnTo>
                  <a:lnTo>
                    <a:pt x="2665338" y="6435"/>
                  </a:lnTo>
                  <a:lnTo>
                    <a:pt x="2620487" y="5581"/>
                  </a:lnTo>
                  <a:lnTo>
                    <a:pt x="2578816" y="5842"/>
                  </a:lnTo>
                  <a:lnTo>
                    <a:pt x="2540721" y="7494"/>
                  </a:lnTo>
                  <a:lnTo>
                    <a:pt x="2463528" y="15080"/>
                  </a:lnTo>
                  <a:lnTo>
                    <a:pt x="2415144" y="17496"/>
                  </a:lnTo>
                  <a:lnTo>
                    <a:pt x="2362579" y="18384"/>
                  </a:lnTo>
                  <a:lnTo>
                    <a:pt x="2306964" y="18064"/>
                  </a:lnTo>
                  <a:lnTo>
                    <a:pt x="2249432" y="16861"/>
                  </a:lnTo>
                  <a:lnTo>
                    <a:pt x="2191115" y="15097"/>
                  </a:lnTo>
                  <a:lnTo>
                    <a:pt x="2076652" y="11178"/>
                  </a:lnTo>
                  <a:lnTo>
                    <a:pt x="2022770" y="9668"/>
                  </a:lnTo>
                  <a:lnTo>
                    <a:pt x="1972631" y="8889"/>
                  </a:lnTo>
                  <a:lnTo>
                    <a:pt x="1927367" y="9162"/>
                  </a:lnTo>
                  <a:lnTo>
                    <a:pt x="1888109" y="10811"/>
                  </a:lnTo>
                  <a:lnTo>
                    <a:pt x="1854929" y="12896"/>
                  </a:lnTo>
                  <a:lnTo>
                    <a:pt x="1817241" y="14917"/>
                  </a:lnTo>
                  <a:lnTo>
                    <a:pt x="1775479" y="16809"/>
                  </a:lnTo>
                  <a:lnTo>
                    <a:pt x="1730080" y="18509"/>
                  </a:lnTo>
                  <a:lnTo>
                    <a:pt x="1681479" y="19952"/>
                  </a:lnTo>
                  <a:lnTo>
                    <a:pt x="1630114" y="21075"/>
                  </a:lnTo>
                  <a:lnTo>
                    <a:pt x="1576419" y="21813"/>
                  </a:lnTo>
                  <a:lnTo>
                    <a:pt x="1520830" y="22101"/>
                  </a:lnTo>
                  <a:lnTo>
                    <a:pt x="1463785" y="21877"/>
                  </a:lnTo>
                  <a:lnTo>
                    <a:pt x="1405718" y="21075"/>
                  </a:lnTo>
                  <a:lnTo>
                    <a:pt x="1347065" y="19632"/>
                  </a:lnTo>
                  <a:lnTo>
                    <a:pt x="1288263" y="17483"/>
                  </a:lnTo>
                  <a:lnTo>
                    <a:pt x="1229748" y="14564"/>
                  </a:lnTo>
                  <a:lnTo>
                    <a:pt x="1104537" y="6211"/>
                  </a:lnTo>
                  <a:lnTo>
                    <a:pt x="1046782" y="2979"/>
                  </a:lnTo>
                  <a:lnTo>
                    <a:pt x="996610" y="966"/>
                  </a:lnTo>
                  <a:lnTo>
                    <a:pt x="951941" y="23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3686" y="2357961"/>
              <a:ext cx="3255645" cy="46990"/>
            </a:xfrm>
            <a:custGeom>
              <a:avLst/>
              <a:gdLst/>
              <a:ahLst/>
              <a:cxnLst/>
              <a:rect l="l" t="t" r="r" b="b"/>
              <a:pathLst>
                <a:path w="3255645" h="46989">
                  <a:moveTo>
                    <a:pt x="203" y="15668"/>
                  </a:moveTo>
                  <a:lnTo>
                    <a:pt x="59845" y="10650"/>
                  </a:lnTo>
                  <a:lnTo>
                    <a:pt x="118558" y="6628"/>
                  </a:lnTo>
                  <a:lnTo>
                    <a:pt x="176179" y="3577"/>
                  </a:lnTo>
                  <a:lnTo>
                    <a:pt x="232544" y="1472"/>
                  </a:lnTo>
                  <a:lnTo>
                    <a:pt x="287492" y="288"/>
                  </a:lnTo>
                  <a:lnTo>
                    <a:pt x="340858" y="0"/>
                  </a:lnTo>
                  <a:lnTo>
                    <a:pt x="392479" y="581"/>
                  </a:lnTo>
                  <a:lnTo>
                    <a:pt x="442193" y="2009"/>
                  </a:lnTo>
                  <a:lnTo>
                    <a:pt x="489835" y="4256"/>
                  </a:lnTo>
                  <a:lnTo>
                    <a:pt x="535244" y="7298"/>
                  </a:lnTo>
                  <a:lnTo>
                    <a:pt x="578255" y="11111"/>
                  </a:lnTo>
                  <a:lnTo>
                    <a:pt x="618705" y="15668"/>
                  </a:lnTo>
                  <a:lnTo>
                    <a:pt x="655602" y="19572"/>
                  </a:lnTo>
                  <a:lnTo>
                    <a:pt x="694178" y="22295"/>
                  </a:lnTo>
                  <a:lnTo>
                    <a:pt x="734574" y="23982"/>
                  </a:lnTo>
                  <a:lnTo>
                    <a:pt x="776931" y="24777"/>
                  </a:lnTo>
                  <a:lnTo>
                    <a:pt x="821391" y="24825"/>
                  </a:lnTo>
                  <a:lnTo>
                    <a:pt x="868094" y="24270"/>
                  </a:lnTo>
                  <a:lnTo>
                    <a:pt x="917183" y="23258"/>
                  </a:lnTo>
                  <a:lnTo>
                    <a:pt x="968797" y="21932"/>
                  </a:lnTo>
                  <a:lnTo>
                    <a:pt x="1023078" y="20438"/>
                  </a:lnTo>
                  <a:lnTo>
                    <a:pt x="1080167" y="18920"/>
                  </a:lnTo>
                  <a:lnTo>
                    <a:pt x="1140206" y="17522"/>
                  </a:lnTo>
                  <a:lnTo>
                    <a:pt x="1203334" y="16390"/>
                  </a:lnTo>
                  <a:lnTo>
                    <a:pt x="1269695" y="15668"/>
                  </a:lnTo>
                  <a:lnTo>
                    <a:pt x="1335573" y="15443"/>
                  </a:lnTo>
                  <a:lnTo>
                    <a:pt x="1397479" y="15638"/>
                  </a:lnTo>
                  <a:lnTo>
                    <a:pt x="1455893" y="16147"/>
                  </a:lnTo>
                  <a:lnTo>
                    <a:pt x="1511294" y="16867"/>
                  </a:lnTo>
                  <a:lnTo>
                    <a:pt x="1564161" y="17694"/>
                  </a:lnTo>
                  <a:lnTo>
                    <a:pt x="1614972" y="18523"/>
                  </a:lnTo>
                  <a:lnTo>
                    <a:pt x="1664207" y="19252"/>
                  </a:lnTo>
                  <a:lnTo>
                    <a:pt x="1712345" y="19775"/>
                  </a:lnTo>
                  <a:lnTo>
                    <a:pt x="1759864" y="19988"/>
                  </a:lnTo>
                  <a:lnTo>
                    <a:pt x="1807243" y="19789"/>
                  </a:lnTo>
                  <a:lnTo>
                    <a:pt x="1854963" y="19071"/>
                  </a:lnTo>
                  <a:lnTo>
                    <a:pt x="1903500" y="17732"/>
                  </a:lnTo>
                  <a:lnTo>
                    <a:pt x="1953336" y="15668"/>
                  </a:lnTo>
                  <a:lnTo>
                    <a:pt x="2005009" y="13799"/>
                  </a:lnTo>
                  <a:lnTo>
                    <a:pt x="2058446" y="12982"/>
                  </a:lnTo>
                  <a:lnTo>
                    <a:pt x="2113210" y="13015"/>
                  </a:lnTo>
                  <a:lnTo>
                    <a:pt x="2168858" y="13695"/>
                  </a:lnTo>
                  <a:lnTo>
                    <a:pt x="2224952" y="14822"/>
                  </a:lnTo>
                  <a:lnTo>
                    <a:pt x="2281053" y="16193"/>
                  </a:lnTo>
                  <a:lnTo>
                    <a:pt x="2336719" y="17606"/>
                  </a:lnTo>
                  <a:lnTo>
                    <a:pt x="2391511" y="18859"/>
                  </a:lnTo>
                  <a:lnTo>
                    <a:pt x="2444991" y="19751"/>
                  </a:lnTo>
                  <a:lnTo>
                    <a:pt x="2496717" y="20080"/>
                  </a:lnTo>
                  <a:lnTo>
                    <a:pt x="2546249" y="19644"/>
                  </a:lnTo>
                  <a:lnTo>
                    <a:pt x="2593149" y="18240"/>
                  </a:lnTo>
                  <a:lnTo>
                    <a:pt x="2636977" y="15668"/>
                  </a:lnTo>
                  <a:lnTo>
                    <a:pt x="2684956" y="12838"/>
                  </a:lnTo>
                  <a:lnTo>
                    <a:pt x="2736916" y="11197"/>
                  </a:lnTo>
                  <a:lnTo>
                    <a:pt x="2791855" y="10542"/>
                  </a:lnTo>
                  <a:lnTo>
                    <a:pt x="2848775" y="10673"/>
                  </a:lnTo>
                  <a:lnTo>
                    <a:pt x="2906676" y="11385"/>
                  </a:lnTo>
                  <a:lnTo>
                    <a:pt x="2964557" y="12477"/>
                  </a:lnTo>
                  <a:lnTo>
                    <a:pt x="3021420" y="13747"/>
                  </a:lnTo>
                  <a:lnTo>
                    <a:pt x="3076265" y="14991"/>
                  </a:lnTo>
                  <a:lnTo>
                    <a:pt x="3128092" y="16007"/>
                  </a:lnTo>
                  <a:lnTo>
                    <a:pt x="3175901" y="16594"/>
                  </a:lnTo>
                  <a:lnTo>
                    <a:pt x="3218692" y="16549"/>
                  </a:lnTo>
                  <a:lnTo>
                    <a:pt x="3255467" y="15668"/>
                  </a:lnTo>
                  <a:lnTo>
                    <a:pt x="3254705" y="23796"/>
                  </a:lnTo>
                  <a:lnTo>
                    <a:pt x="3255086" y="27733"/>
                  </a:lnTo>
                  <a:lnTo>
                    <a:pt x="3255467" y="33956"/>
                  </a:lnTo>
                  <a:lnTo>
                    <a:pt x="3216374" y="34716"/>
                  </a:lnTo>
                  <a:lnTo>
                    <a:pt x="3171163" y="34943"/>
                  </a:lnTo>
                  <a:lnTo>
                    <a:pt x="3120898" y="34740"/>
                  </a:lnTo>
                  <a:lnTo>
                    <a:pt x="3066647" y="34212"/>
                  </a:lnTo>
                  <a:lnTo>
                    <a:pt x="3009474" y="33463"/>
                  </a:lnTo>
                  <a:lnTo>
                    <a:pt x="2950446" y="32597"/>
                  </a:lnTo>
                  <a:lnTo>
                    <a:pt x="2890627" y="31718"/>
                  </a:lnTo>
                  <a:lnTo>
                    <a:pt x="2831085" y="30930"/>
                  </a:lnTo>
                  <a:lnTo>
                    <a:pt x="2772885" y="30338"/>
                  </a:lnTo>
                  <a:lnTo>
                    <a:pt x="2717092" y="30046"/>
                  </a:lnTo>
                  <a:lnTo>
                    <a:pt x="2664773" y="30158"/>
                  </a:lnTo>
                  <a:lnTo>
                    <a:pt x="2616993" y="30777"/>
                  </a:lnTo>
                  <a:lnTo>
                    <a:pt x="2574818" y="32008"/>
                  </a:lnTo>
                  <a:lnTo>
                    <a:pt x="2539314" y="33956"/>
                  </a:lnTo>
                  <a:lnTo>
                    <a:pt x="2505914" y="35586"/>
                  </a:lnTo>
                  <a:lnTo>
                    <a:pt x="2429882" y="35335"/>
                  </a:lnTo>
                  <a:lnTo>
                    <a:pt x="2387439" y="33956"/>
                  </a:lnTo>
                  <a:lnTo>
                    <a:pt x="2342169" y="32075"/>
                  </a:lnTo>
                  <a:lnTo>
                    <a:pt x="2294169" y="29944"/>
                  </a:lnTo>
                  <a:lnTo>
                    <a:pt x="2243531" y="27812"/>
                  </a:lnTo>
                  <a:lnTo>
                    <a:pt x="2190350" y="25932"/>
                  </a:lnTo>
                  <a:lnTo>
                    <a:pt x="2134722" y="24553"/>
                  </a:lnTo>
                  <a:lnTo>
                    <a:pt x="2076739" y="23926"/>
                  </a:lnTo>
                  <a:lnTo>
                    <a:pt x="2016498" y="24302"/>
                  </a:lnTo>
                  <a:lnTo>
                    <a:pt x="1954091" y="25932"/>
                  </a:lnTo>
                  <a:lnTo>
                    <a:pt x="1889614" y="29066"/>
                  </a:lnTo>
                  <a:lnTo>
                    <a:pt x="1823161" y="33956"/>
                  </a:lnTo>
                  <a:lnTo>
                    <a:pt x="1755167" y="39361"/>
                  </a:lnTo>
                  <a:lnTo>
                    <a:pt x="1695419" y="43109"/>
                  </a:lnTo>
                  <a:lnTo>
                    <a:pt x="1642482" y="45407"/>
                  </a:lnTo>
                  <a:lnTo>
                    <a:pt x="1594923" y="46461"/>
                  </a:lnTo>
                  <a:lnTo>
                    <a:pt x="1551306" y="46477"/>
                  </a:lnTo>
                  <a:lnTo>
                    <a:pt x="1510197" y="45661"/>
                  </a:lnTo>
                  <a:lnTo>
                    <a:pt x="1470162" y="44219"/>
                  </a:lnTo>
                  <a:lnTo>
                    <a:pt x="1429765" y="42357"/>
                  </a:lnTo>
                  <a:lnTo>
                    <a:pt x="1387573" y="40280"/>
                  </a:lnTo>
                  <a:lnTo>
                    <a:pt x="1342151" y="38196"/>
                  </a:lnTo>
                  <a:lnTo>
                    <a:pt x="1292064" y="36310"/>
                  </a:lnTo>
                  <a:lnTo>
                    <a:pt x="1235878" y="34828"/>
                  </a:lnTo>
                  <a:lnTo>
                    <a:pt x="1172159" y="33956"/>
                  </a:lnTo>
                  <a:lnTo>
                    <a:pt x="1133587" y="33803"/>
                  </a:lnTo>
                  <a:lnTo>
                    <a:pt x="1094660" y="33886"/>
                  </a:lnTo>
                  <a:lnTo>
                    <a:pt x="1055269" y="34174"/>
                  </a:lnTo>
                  <a:lnTo>
                    <a:pt x="1015303" y="34634"/>
                  </a:lnTo>
                  <a:lnTo>
                    <a:pt x="974652" y="35236"/>
                  </a:lnTo>
                  <a:lnTo>
                    <a:pt x="933205" y="35946"/>
                  </a:lnTo>
                  <a:lnTo>
                    <a:pt x="890853" y="36734"/>
                  </a:lnTo>
                  <a:lnTo>
                    <a:pt x="847486" y="37567"/>
                  </a:lnTo>
                  <a:lnTo>
                    <a:pt x="802993" y="38415"/>
                  </a:lnTo>
                  <a:lnTo>
                    <a:pt x="757264" y="39244"/>
                  </a:lnTo>
                  <a:lnTo>
                    <a:pt x="710189" y="40024"/>
                  </a:lnTo>
                  <a:lnTo>
                    <a:pt x="661658" y="40723"/>
                  </a:lnTo>
                  <a:lnTo>
                    <a:pt x="611560" y="41308"/>
                  </a:lnTo>
                  <a:lnTo>
                    <a:pt x="559786" y="41749"/>
                  </a:lnTo>
                  <a:lnTo>
                    <a:pt x="506226" y="42013"/>
                  </a:lnTo>
                  <a:lnTo>
                    <a:pt x="450768" y="42068"/>
                  </a:lnTo>
                  <a:lnTo>
                    <a:pt x="393304" y="41884"/>
                  </a:lnTo>
                  <a:lnTo>
                    <a:pt x="333722" y="41427"/>
                  </a:lnTo>
                  <a:lnTo>
                    <a:pt x="271914" y="40667"/>
                  </a:lnTo>
                  <a:lnTo>
                    <a:pt x="207767" y="39572"/>
                  </a:lnTo>
                  <a:lnTo>
                    <a:pt x="141174" y="38110"/>
                  </a:lnTo>
                  <a:lnTo>
                    <a:pt x="72022" y="36248"/>
                  </a:lnTo>
                  <a:lnTo>
                    <a:pt x="203" y="33956"/>
                  </a:lnTo>
                  <a:lnTo>
                    <a:pt x="152" y="28114"/>
                  </a:lnTo>
                  <a:lnTo>
                    <a:pt x="0" y="22145"/>
                  </a:lnTo>
                  <a:lnTo>
                    <a:pt x="203" y="15668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09676" y="2654630"/>
            <a:ext cx="4667250" cy="325247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38760" marR="8890" indent="-226695" algn="just">
              <a:lnSpc>
                <a:spcPct val="89000"/>
              </a:lnSpc>
              <a:spcBef>
                <a:spcPts val="37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sliding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window: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imaginary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box 	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covers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transit.</a:t>
            </a:r>
            <a:endParaRPr sz="2000">
              <a:latin typeface="Times New Roman"/>
              <a:cs typeface="Times New Roman"/>
            </a:endParaRPr>
          </a:p>
          <a:p>
            <a:pPr marL="238760" marR="5080" indent="-226695" algn="just">
              <a:lnSpc>
                <a:spcPct val="89100"/>
              </a:lnSpc>
              <a:spcBef>
                <a:spcPts val="187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Whenever</a:t>
            </a:r>
            <a:r>
              <a:rPr sz="2000" spc="28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75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valid</a:t>
            </a:r>
            <a:r>
              <a:rPr sz="2000" spc="280" dirty="0">
                <a:latin typeface="Times New Roman"/>
                <a:cs typeface="Times New Roman"/>
              </a:rPr>
              <a:t>   </a:t>
            </a:r>
            <a:r>
              <a:rPr sz="2000" spc="-10" dirty="0">
                <a:latin typeface="Times New Roman"/>
                <a:cs typeface="Times New Roman"/>
              </a:rPr>
              <a:t>acknowledgement 	</a:t>
            </a:r>
            <a:r>
              <a:rPr sz="2000" dirty="0">
                <a:latin typeface="Times New Roman"/>
                <a:cs typeface="Times New Roman"/>
              </a:rPr>
              <a:t>arrives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window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slide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one 	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 </a:t>
            </a:r>
            <a:r>
              <a:rPr sz="2000" spc="-10" dirty="0">
                <a:latin typeface="Times New Roman"/>
                <a:cs typeface="Times New Roman"/>
              </a:rPr>
              <a:t>slots.</a:t>
            </a:r>
            <a:endParaRPr sz="2000">
              <a:latin typeface="Times New Roman"/>
              <a:cs typeface="Times New Roman"/>
            </a:endParaRPr>
          </a:p>
          <a:p>
            <a:pPr marL="238760" marR="9525" indent="-226695" algn="just">
              <a:lnSpc>
                <a:spcPct val="89400"/>
              </a:lnSpc>
              <a:spcBef>
                <a:spcPts val="186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window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must 	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greater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1.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equal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then 	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2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protocol</a:t>
            </a:r>
            <a:r>
              <a:rPr sz="2000" spc="2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becomes</a:t>
            </a:r>
            <a:r>
              <a:rPr sz="2000" spc="2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9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stop-and-</a:t>
            </a:r>
            <a:r>
              <a:rPr sz="2000" spc="-20" dirty="0">
                <a:latin typeface="Times New Roman"/>
                <a:cs typeface="Times New Roman"/>
              </a:rPr>
              <a:t>wait 	</a:t>
            </a:r>
            <a:r>
              <a:rPr sz="2000" spc="-10" dirty="0">
                <a:latin typeface="Times New Roman"/>
                <a:cs typeface="Times New Roman"/>
              </a:rPr>
              <a:t>protocol.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970532"/>
            <a:ext cx="5937503" cy="39684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6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Go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Back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N</a:t>
            </a:r>
            <a:r>
              <a:rPr b="1" spc="-2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ARQ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receiver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sliding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window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6095" y="1776730"/>
            <a:ext cx="5385435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Receive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window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imaginary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box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size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1.</a:t>
            </a:r>
            <a:endParaRPr sz="2000">
              <a:latin typeface="Times New Roman"/>
              <a:cs typeface="Times New Roman"/>
            </a:endParaRPr>
          </a:p>
          <a:p>
            <a:pPr marL="241300" marR="511175" indent="-228600">
              <a:lnSpc>
                <a:spcPts val="2160"/>
              </a:lnSpc>
              <a:spcBef>
                <a:spcPts val="183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Slides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slot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correct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frame arrives.</a:t>
            </a:r>
            <a:endParaRPr sz="2000">
              <a:latin typeface="Times New Roman"/>
              <a:cs typeface="Times New Roman"/>
            </a:endParaRPr>
          </a:p>
          <a:p>
            <a:pPr marL="239395" marR="5080" indent="-226695" algn="just">
              <a:lnSpc>
                <a:spcPct val="90000"/>
              </a:lnSpc>
              <a:spcBef>
                <a:spcPts val="1764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always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looks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specific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	</a:t>
            </a:r>
            <a:r>
              <a:rPr sz="2000" dirty="0">
                <a:latin typeface="Times New Roman"/>
                <a:cs typeface="Times New Roman"/>
              </a:rPr>
              <a:t>arrive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specific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order.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order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	</a:t>
            </a:r>
            <a:r>
              <a:rPr sz="2000" dirty="0">
                <a:latin typeface="Times New Roman"/>
                <a:cs typeface="Times New Roman"/>
              </a:rPr>
              <a:t>discarded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thus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resent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sender.</a:t>
            </a:r>
            <a:endParaRPr sz="2000">
              <a:latin typeface="Times New Roman"/>
              <a:cs typeface="Times New Roman"/>
            </a:endParaRPr>
          </a:p>
          <a:p>
            <a:pPr marL="241300" marR="440055" indent="-228600">
              <a:lnSpc>
                <a:spcPct val="90100"/>
              </a:lnSpc>
              <a:spcBef>
                <a:spcPts val="18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frame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arrives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safely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in- </a:t>
            </a:r>
            <a:r>
              <a:rPr sz="2000" dirty="0">
                <a:latin typeface="Times New Roman"/>
                <a:cs typeface="Times New Roman"/>
              </a:rPr>
              <a:t>order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ACK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back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sender.</a:t>
            </a:r>
            <a:endParaRPr sz="2000">
              <a:latin typeface="Times New Roman"/>
              <a:cs typeface="Times New Roman"/>
            </a:endParaRPr>
          </a:p>
          <a:p>
            <a:pPr marL="241300" marR="102870" indent="-228600">
              <a:lnSpc>
                <a:spcPts val="2160"/>
              </a:lnSpc>
              <a:spcBef>
                <a:spcPts val="183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silence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causes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unacknowledged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expire.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6835" y="2052827"/>
            <a:ext cx="5989320" cy="337381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9982" y="2650947"/>
            <a:ext cx="2330450" cy="10687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03505" marR="5080" indent="-91440">
              <a:lnSpc>
                <a:spcPts val="3890"/>
              </a:lnSpc>
              <a:spcBef>
                <a:spcPts val="590"/>
              </a:spcBef>
            </a:pPr>
            <a:r>
              <a:rPr spc="-20" dirty="0">
                <a:solidFill>
                  <a:srgbClr val="FFFFFF"/>
                </a:solidFill>
              </a:rPr>
              <a:t>Design</a:t>
            </a:r>
            <a:r>
              <a:rPr spc="-13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of</a:t>
            </a:r>
            <a:r>
              <a:rPr spc="-7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Go </a:t>
            </a:r>
            <a:r>
              <a:rPr dirty="0">
                <a:solidFill>
                  <a:srgbClr val="FFFFFF"/>
                </a:solidFill>
              </a:rPr>
              <a:t>Back</a:t>
            </a:r>
            <a:r>
              <a:rPr spc="-14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N</a:t>
            </a:r>
            <a:r>
              <a:rPr spc="-130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ARQ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5067" y="295513"/>
            <a:ext cx="6739128" cy="60732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6197" y="2650947"/>
            <a:ext cx="1539240" cy="10687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 indent="327660">
              <a:lnSpc>
                <a:spcPts val="3890"/>
              </a:lnSpc>
              <a:spcBef>
                <a:spcPts val="590"/>
              </a:spcBef>
            </a:pPr>
            <a:r>
              <a:rPr spc="-20" dirty="0">
                <a:solidFill>
                  <a:srgbClr val="FFFFFF"/>
                </a:solidFill>
              </a:rPr>
              <a:t>Flow </a:t>
            </a:r>
            <a:r>
              <a:rPr spc="-50" dirty="0">
                <a:solidFill>
                  <a:srgbClr val="FFFFFF"/>
                </a:solidFill>
              </a:rPr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57200"/>
            <a:ext cx="6722363" cy="5803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297" y="99861"/>
            <a:ext cx="5535429" cy="29958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8138" y="81463"/>
            <a:ext cx="5730849" cy="2977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7297" y="3430142"/>
            <a:ext cx="5535429" cy="3143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38138" y="3404289"/>
            <a:ext cx="5730849" cy="31489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2998" rIns="0" bIns="0" rtlCol="0">
            <a:spAutoFit/>
          </a:bodyPr>
          <a:lstStyle/>
          <a:p>
            <a:pPr marL="77660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Go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Back</a:t>
            </a:r>
            <a:r>
              <a:rPr b="1" spc="-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N</a:t>
            </a:r>
            <a:r>
              <a:rPr b="1" spc="-204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ARQ:</a:t>
            </a:r>
            <a:r>
              <a:rPr b="1" spc="-19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Advantages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&amp; </a:t>
            </a:r>
            <a:r>
              <a:rPr b="1" spc="-10" dirty="0">
                <a:latin typeface="Times New Roman"/>
                <a:cs typeface="Times New Roman"/>
              </a:rPr>
              <a:t>Disadvantages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5717" y="1545716"/>
            <a:ext cx="7739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46445" algn="l"/>
              </a:tabLst>
            </a:pPr>
            <a:r>
              <a:rPr sz="3600" b="1" spc="-15" baseline="1157" dirty="0">
                <a:solidFill>
                  <a:srgbClr val="202429"/>
                </a:solidFill>
                <a:latin typeface="Times New Roman"/>
                <a:cs typeface="Times New Roman"/>
              </a:rPr>
              <a:t>Advantages</a:t>
            </a:r>
            <a:r>
              <a:rPr sz="3600" b="1" baseline="1157" dirty="0">
                <a:solidFill>
                  <a:srgbClr val="202429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Disadvantages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5416" y="2107437"/>
            <a:ext cx="47320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SzPct val="45454"/>
              <a:buFont typeface="Symbol"/>
              <a:buChar char=""/>
              <a:tabLst>
                <a:tab pos="354965" algn="l"/>
              </a:tabLst>
            </a:pP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efficiency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this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protocol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is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more.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5416" y="2671089"/>
            <a:ext cx="500189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6800"/>
              </a:lnSpc>
              <a:spcBef>
                <a:spcPts val="100"/>
              </a:spcBef>
              <a:buSzPct val="45454"/>
              <a:buFont typeface="Symbol"/>
              <a:buChar char=""/>
              <a:tabLst>
                <a:tab pos="355600" algn="l"/>
              </a:tabLst>
            </a:pP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2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waiting</a:t>
            </a:r>
            <a:r>
              <a:rPr sz="2200" spc="28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time</a:t>
            </a:r>
            <a:r>
              <a:rPr sz="2200" spc="27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is</a:t>
            </a:r>
            <a:r>
              <a:rPr sz="2200" spc="2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pretty</a:t>
            </a:r>
            <a:r>
              <a:rPr sz="2200" spc="28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much</a:t>
            </a:r>
            <a:r>
              <a:rPr sz="2200" spc="27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low</a:t>
            </a:r>
            <a:r>
              <a:rPr sz="2200" spc="27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in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this</a:t>
            </a:r>
            <a:r>
              <a:rPr sz="22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protocol.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5416" y="3617239"/>
            <a:ext cx="4999355" cy="742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6900"/>
              </a:lnSpc>
              <a:spcBef>
                <a:spcPts val="100"/>
              </a:spcBef>
              <a:buSzPct val="45454"/>
              <a:buFont typeface="Symbol"/>
              <a:buChar char=""/>
              <a:tabLst>
                <a:tab pos="355600" algn="l"/>
              </a:tabLst>
            </a:pP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With</a:t>
            </a:r>
            <a:r>
              <a:rPr sz="2200" spc="19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1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help</a:t>
            </a:r>
            <a:r>
              <a:rPr sz="2200" spc="19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200" spc="18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this</a:t>
            </a:r>
            <a:r>
              <a:rPr sz="2200" spc="17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protocol,</a:t>
            </a:r>
            <a:r>
              <a:rPr sz="2200" spc="19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18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timer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can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be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set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for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many</a:t>
            </a:r>
            <a:r>
              <a:rPr sz="22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frames.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5416" y="4564151"/>
            <a:ext cx="4999990" cy="1688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6800"/>
              </a:lnSpc>
              <a:spcBef>
                <a:spcPts val="100"/>
              </a:spcBef>
              <a:buSzPct val="45454"/>
              <a:buFont typeface="Symbol"/>
              <a:buChar char=""/>
              <a:tabLst>
                <a:tab pos="355600" algn="l"/>
              </a:tabLst>
            </a:pP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Also,</a:t>
            </a:r>
            <a:r>
              <a:rPr sz="2200" spc="3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3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sender</a:t>
            </a:r>
            <a:r>
              <a:rPr sz="2200" spc="3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can</a:t>
            </a:r>
            <a:r>
              <a:rPr sz="2200" spc="3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send</a:t>
            </a:r>
            <a:r>
              <a:rPr sz="2200" spc="3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many</a:t>
            </a:r>
            <a:r>
              <a:rPr sz="2200" spc="3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frames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at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</a:t>
            </a:r>
            <a:r>
              <a:rPr sz="22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time.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6800"/>
              </a:lnSpc>
              <a:spcBef>
                <a:spcPts val="1814"/>
              </a:spcBef>
              <a:buSzPct val="45454"/>
              <a:buFont typeface="Symbol"/>
              <a:buChar char=""/>
              <a:tabLst>
                <a:tab pos="355600" algn="l"/>
              </a:tabLst>
            </a:pP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Only</a:t>
            </a:r>
            <a:r>
              <a:rPr sz="2200" spc="3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one</a:t>
            </a:r>
            <a:r>
              <a:rPr sz="2200" spc="3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ACK</a:t>
            </a:r>
            <a:r>
              <a:rPr sz="2200" spc="3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frame</a:t>
            </a:r>
            <a:r>
              <a:rPr sz="2200" spc="3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can</a:t>
            </a:r>
            <a:r>
              <a:rPr sz="2200" spc="3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acknowledge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more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than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one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frame.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90842" y="2073910"/>
            <a:ext cx="5026025" cy="6623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3535">
              <a:lnSpc>
                <a:spcPts val="2380"/>
              </a:lnSpc>
              <a:spcBef>
                <a:spcPts val="390"/>
              </a:spcBef>
              <a:buSzPct val="45454"/>
              <a:buFont typeface="Symbol"/>
              <a:buChar char=""/>
              <a:tabLst>
                <a:tab pos="355600" algn="l"/>
                <a:tab pos="1419225" algn="l"/>
                <a:tab pos="2743835" algn="l"/>
              </a:tabLst>
            </a:pP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Timeout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	timer</a:t>
            </a:r>
            <a:r>
              <a:rPr sz="2200" spc="39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runs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	at</a:t>
            </a:r>
            <a:r>
              <a:rPr sz="2200" spc="40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39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receiver</a:t>
            </a:r>
            <a:r>
              <a:rPr sz="2200" spc="40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side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only.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90842" y="2868294"/>
            <a:ext cx="5025390" cy="6623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3535">
              <a:lnSpc>
                <a:spcPts val="2380"/>
              </a:lnSpc>
              <a:spcBef>
                <a:spcPts val="390"/>
              </a:spcBef>
              <a:buSzPct val="45454"/>
              <a:buFont typeface="Symbol"/>
              <a:buChar char=""/>
              <a:tabLst>
                <a:tab pos="355600" algn="l"/>
              </a:tabLst>
            </a:pP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18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transmitter</a:t>
            </a:r>
            <a:r>
              <a:rPr sz="2200" spc="19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needs</a:t>
            </a:r>
            <a:r>
              <a:rPr sz="2200" spc="19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to</a:t>
            </a:r>
            <a:r>
              <a:rPr sz="2200" spc="19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store</a:t>
            </a:r>
            <a:r>
              <a:rPr sz="2200" spc="18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18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last</a:t>
            </a:r>
            <a:r>
              <a:rPr sz="2200" spc="19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N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packets.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90842" y="3662298"/>
            <a:ext cx="5024120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ts val="2510"/>
              </a:lnSpc>
              <a:spcBef>
                <a:spcPts val="95"/>
              </a:spcBef>
              <a:buSzPct val="45454"/>
              <a:buFont typeface="Symbol"/>
              <a:buChar char=""/>
              <a:tabLst>
                <a:tab pos="355600" algn="l"/>
                <a:tab pos="957580" algn="l"/>
                <a:tab pos="2754630" algn="l"/>
                <a:tab pos="3155315" algn="l"/>
                <a:tab pos="3944620" algn="l"/>
              </a:tabLst>
            </a:pP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retransmission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	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	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many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	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error-free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ts val="2510"/>
              </a:lnSpc>
            </a:pP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packets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follows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an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erroneous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packet.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914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imes New Roman"/>
                <a:cs typeface="Times New Roman"/>
              </a:rPr>
              <a:t>Go</a:t>
            </a:r>
            <a:r>
              <a:rPr sz="3300" b="1" spc="-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Back</a:t>
            </a:r>
            <a:r>
              <a:rPr sz="3300" b="1" spc="-5" dirty="0">
                <a:latin typeface="Times New Roman"/>
                <a:cs typeface="Times New Roman"/>
              </a:rPr>
              <a:t> </a:t>
            </a:r>
            <a:r>
              <a:rPr sz="3300" b="1" spc="-30" dirty="0">
                <a:latin typeface="Times New Roman"/>
                <a:cs typeface="Times New Roman"/>
              </a:rPr>
              <a:t>N</a:t>
            </a:r>
            <a:r>
              <a:rPr sz="3300" b="1" spc="-18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ARQ </a:t>
            </a:r>
            <a:r>
              <a:rPr sz="3300" b="1" spc="-10" dirty="0">
                <a:latin typeface="Times New Roman"/>
                <a:cs typeface="Times New Roman"/>
              </a:rPr>
              <a:t>Numerical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809" y="1456690"/>
            <a:ext cx="9925050" cy="4619854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algn="just">
              <a:lnSpc>
                <a:spcPts val="1939"/>
              </a:lnSpc>
              <a:spcBef>
                <a:spcPts val="345"/>
              </a:spcBef>
            </a:pP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A</a:t>
            </a:r>
            <a:r>
              <a:rPr sz="1800" b="1" spc="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20</a:t>
            </a:r>
            <a:r>
              <a:rPr sz="1800" b="1" spc="8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Kbps</a:t>
            </a:r>
            <a:r>
              <a:rPr sz="1800" b="1" spc="10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satellite</a:t>
            </a:r>
            <a:r>
              <a:rPr sz="1800" b="1" spc="1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link</a:t>
            </a:r>
            <a:r>
              <a:rPr sz="1800" b="1" spc="10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has</a:t>
            </a:r>
            <a:r>
              <a:rPr sz="1800" b="1" spc="10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a</a:t>
            </a:r>
            <a:r>
              <a:rPr sz="1800" b="1" spc="9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propagation</a:t>
            </a:r>
            <a:r>
              <a:rPr sz="1800" b="1" spc="10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delay</a:t>
            </a:r>
            <a:r>
              <a:rPr sz="1800" b="1" spc="10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1800" b="1" spc="10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400</a:t>
            </a:r>
            <a:r>
              <a:rPr sz="1800" b="1" spc="9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ms.</a:t>
            </a:r>
            <a:r>
              <a:rPr sz="1800" b="1" spc="10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1800" b="1" spc="1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transmitter</a:t>
            </a:r>
            <a:r>
              <a:rPr sz="1800" b="1" spc="6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employs</a:t>
            </a:r>
            <a:r>
              <a:rPr sz="1800" b="1" spc="9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1800" b="1" spc="10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“go</a:t>
            </a:r>
            <a:r>
              <a:rPr sz="1800" b="1" spc="1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back</a:t>
            </a:r>
            <a:r>
              <a:rPr sz="1800" b="1" spc="10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spc="-50" dirty="0">
                <a:solidFill>
                  <a:srgbClr val="202429"/>
                </a:solidFill>
                <a:latin typeface="Times New Roman"/>
                <a:cs typeface="Times New Roman"/>
              </a:rPr>
              <a:t>n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ARQ”</a:t>
            </a:r>
            <a:r>
              <a:rPr sz="1800" b="1" spc="2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scheme</a:t>
            </a:r>
            <a:r>
              <a:rPr sz="1800" b="1" spc="26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with</a:t>
            </a:r>
            <a:r>
              <a:rPr sz="1800" b="1" spc="254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n</a:t>
            </a:r>
            <a:r>
              <a:rPr sz="1800" b="1" spc="2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set</a:t>
            </a:r>
            <a:r>
              <a:rPr sz="1800" b="1" spc="2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to</a:t>
            </a:r>
            <a:r>
              <a:rPr sz="1800" b="1" spc="254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10.</a:t>
            </a:r>
            <a:r>
              <a:rPr sz="1800" b="1" spc="26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Assuming</a:t>
            </a:r>
            <a:r>
              <a:rPr sz="1800" b="1" spc="2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that</a:t>
            </a:r>
            <a:r>
              <a:rPr sz="1800" b="1" spc="2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each</a:t>
            </a:r>
            <a:r>
              <a:rPr sz="1800" b="1" spc="2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frame</a:t>
            </a:r>
            <a:r>
              <a:rPr sz="1800" b="1" spc="2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is</a:t>
            </a:r>
            <a:r>
              <a:rPr sz="1800" b="1" spc="2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100</a:t>
            </a:r>
            <a:r>
              <a:rPr sz="1800" b="1" spc="2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bytes</a:t>
            </a:r>
            <a:r>
              <a:rPr sz="1800" b="1" spc="254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long,</a:t>
            </a:r>
            <a:r>
              <a:rPr sz="1800" b="1" spc="2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what</a:t>
            </a:r>
            <a:r>
              <a:rPr sz="1800" b="1" spc="2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is</a:t>
            </a:r>
            <a:r>
              <a:rPr sz="1800" b="1" spc="2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1800" b="1" spc="254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202429"/>
                </a:solidFill>
                <a:latin typeface="Times New Roman"/>
                <a:cs typeface="Times New Roman"/>
              </a:rPr>
              <a:t>network throughput?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9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lvl="0"/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Sol:</a:t>
            </a:r>
            <a:r>
              <a:rPr sz="1800" spc="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/>
              <a:t>Bandwidth = 20 Kbps = 20,000 bits/sec</a:t>
            </a:r>
          </a:p>
          <a:p>
            <a:pPr lvl="0"/>
            <a:r>
              <a:rPr lang="en-US" sz="1800" dirty="0"/>
              <a:t>Propagation delay = 400 </a:t>
            </a:r>
            <a:r>
              <a:rPr lang="en-US" sz="1800" dirty="0" err="1"/>
              <a:t>ms</a:t>
            </a:r>
            <a:r>
              <a:rPr lang="en-US" sz="1800" dirty="0"/>
              <a:t> = 0.4 sec</a:t>
            </a:r>
          </a:p>
          <a:p>
            <a:pPr lvl="0"/>
            <a:r>
              <a:rPr lang="en-US" sz="1800" dirty="0"/>
              <a:t>Go-Back-N window size (n) = 10</a:t>
            </a:r>
          </a:p>
          <a:p>
            <a:pPr lvl="0"/>
            <a:r>
              <a:rPr lang="en-US" sz="1800" dirty="0"/>
              <a:t>Frame size = 100 bytes = 800 bits</a:t>
            </a:r>
          </a:p>
          <a:p>
            <a:pPr lvl="0"/>
            <a:endParaRPr lang="en-US" sz="1800" dirty="0"/>
          </a:p>
          <a:p>
            <a:r>
              <a:rPr lang="en-US" sz="1800" dirty="0"/>
              <a:t>Step 1: Transmission time of one frame</a:t>
            </a:r>
          </a:p>
          <a:p>
            <a:r>
              <a:rPr lang="en-US" sz="1800" dirty="0"/>
              <a:t>Transmission time (Tt) = Frame size / Bandwidth</a:t>
            </a:r>
          </a:p>
          <a:p>
            <a:r>
              <a:rPr lang="en-US" sz="1800" dirty="0"/>
              <a:t>Tt = 800 / 20000 = 0.04 sec = 40 </a:t>
            </a:r>
            <a:r>
              <a:rPr lang="en-US" sz="1800" dirty="0" err="1"/>
              <a:t>ms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Step 2: Round Trip Time (RTT)</a:t>
            </a:r>
          </a:p>
          <a:p>
            <a:r>
              <a:rPr lang="en-US" sz="1800" dirty="0"/>
              <a:t>RTT = 2 × Propagation delay = 2 × 0.4 = 0.8 sec</a:t>
            </a:r>
          </a:p>
          <a:p>
            <a:pPr lvl="0"/>
            <a:endParaRPr lang="en-US" sz="1800" dirty="0"/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94720" y="0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79" h="1097280">
                <a:moveTo>
                  <a:pt x="1097280" y="0"/>
                </a:moveTo>
                <a:lnTo>
                  <a:pt x="0" y="0"/>
                </a:lnTo>
                <a:lnTo>
                  <a:pt x="178269" y="178282"/>
                </a:lnTo>
                <a:lnTo>
                  <a:pt x="0" y="356616"/>
                </a:lnTo>
                <a:lnTo>
                  <a:pt x="323723" y="680339"/>
                </a:lnTo>
                <a:lnTo>
                  <a:pt x="502056" y="502069"/>
                </a:lnTo>
                <a:lnTo>
                  <a:pt x="1097280" y="1097280"/>
                </a:lnTo>
                <a:lnTo>
                  <a:pt x="109728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B29E446-A714-EFCD-50BA-00897B09B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5D48CAA-8FB3-F8FE-2DD4-1CE8434DFB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914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imes New Roman"/>
                <a:cs typeface="Times New Roman"/>
              </a:rPr>
              <a:t>Go</a:t>
            </a:r>
            <a:r>
              <a:rPr sz="3300" b="1" spc="-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Back</a:t>
            </a:r>
            <a:r>
              <a:rPr sz="3300" b="1" spc="-5" dirty="0">
                <a:latin typeface="Times New Roman"/>
                <a:cs typeface="Times New Roman"/>
              </a:rPr>
              <a:t> </a:t>
            </a:r>
            <a:r>
              <a:rPr sz="3300" b="1" spc="-30" dirty="0">
                <a:latin typeface="Times New Roman"/>
                <a:cs typeface="Times New Roman"/>
              </a:rPr>
              <a:t>N</a:t>
            </a:r>
            <a:r>
              <a:rPr sz="3300" b="1" spc="-18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ARQ </a:t>
            </a:r>
            <a:r>
              <a:rPr sz="3300" b="1" spc="-10" dirty="0">
                <a:latin typeface="Times New Roman"/>
                <a:cs typeface="Times New Roman"/>
              </a:rPr>
              <a:t>Numerical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A7F056B-D86A-C793-57AC-99C2D0D30833}"/>
              </a:ext>
            </a:extLst>
          </p:cNvPr>
          <p:cNvSpPr txBox="1"/>
          <p:nvPr/>
        </p:nvSpPr>
        <p:spPr>
          <a:xfrm>
            <a:off x="1133475" y="1104900"/>
            <a:ext cx="9925050" cy="586122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r>
              <a:rPr lang="en-US" sz="1800" dirty="0"/>
              <a:t>Step 3: Bandwidth-Delay Product (BDP)</a:t>
            </a:r>
          </a:p>
          <a:p>
            <a:r>
              <a:rPr lang="en-US" sz="1800" dirty="0"/>
              <a:t>BDP = Bandwidth × RTT = 20000 × 0.8 = 16000 bits</a:t>
            </a:r>
          </a:p>
          <a:p>
            <a:r>
              <a:rPr lang="en-US" sz="1800" dirty="0"/>
              <a:t>Number of frames that can fill the pipe: 16000 / 800 = 20 frames</a:t>
            </a:r>
          </a:p>
          <a:p>
            <a:r>
              <a:rPr lang="en-US" sz="1800" dirty="0"/>
              <a:t>So, to fully utilize the link, window size should be 20 frames.</a:t>
            </a:r>
            <a:br>
              <a:rPr lang="en-US" sz="1800" dirty="0"/>
            </a:br>
            <a:r>
              <a:rPr lang="en-US" sz="1800" dirty="0"/>
              <a:t>But given window size = 10 frames, which is smaller than required.</a:t>
            </a:r>
          </a:p>
          <a:p>
            <a:endParaRPr lang="en-US" sz="1800" dirty="0"/>
          </a:p>
          <a:p>
            <a:r>
              <a:rPr lang="en-US" sz="1800" dirty="0"/>
              <a:t>Step 4: Time to send 10 frames</a:t>
            </a:r>
          </a:p>
          <a:p>
            <a:r>
              <a:rPr lang="en-US" sz="1800" dirty="0"/>
              <a:t>Time to send 10 frames = 10 × 0.04 = 0.4 sec</a:t>
            </a:r>
          </a:p>
          <a:p>
            <a:r>
              <a:rPr lang="en-US" sz="1800" dirty="0"/>
              <a:t>After sending 10 frames, sender must wait for ACK.</a:t>
            </a:r>
          </a:p>
          <a:p>
            <a:r>
              <a:rPr lang="en-US" sz="1800" dirty="0"/>
              <a:t>ACK for first frame comes after:</a:t>
            </a:r>
          </a:p>
          <a:p>
            <a:r>
              <a:rPr lang="en-US" sz="1800" dirty="0"/>
              <a:t>Tt + RTT = 0.04 + 0.8 = 0.84 sec</a:t>
            </a:r>
          </a:p>
          <a:p>
            <a:r>
              <a:rPr lang="en-US" sz="1800" dirty="0"/>
              <a:t>So total cycle time = 0.84 sec</a:t>
            </a:r>
          </a:p>
          <a:p>
            <a:endParaRPr lang="en-US" sz="1800" dirty="0"/>
          </a:p>
          <a:p>
            <a:r>
              <a:rPr lang="en-US" sz="1800" dirty="0"/>
              <a:t>Step 5: Throughput Calculation</a:t>
            </a:r>
          </a:p>
          <a:p>
            <a:r>
              <a:rPr lang="en-US" sz="1800" dirty="0"/>
              <a:t>Data successfully sent in one cycle = 10 frames</a:t>
            </a:r>
            <a:br>
              <a:rPr lang="en-US" sz="1800" dirty="0"/>
            </a:br>
            <a:r>
              <a:rPr lang="en-US" sz="1800" dirty="0"/>
              <a:t>= 10 × 800 = 8000 bits</a:t>
            </a:r>
          </a:p>
          <a:p>
            <a:r>
              <a:rPr lang="en-US" sz="1800" dirty="0"/>
              <a:t>Throughput = Data / Total time = 8000 / 0.84</a:t>
            </a:r>
            <a:br>
              <a:rPr lang="en-US" sz="1800" dirty="0"/>
            </a:br>
            <a:r>
              <a:rPr lang="en-US" sz="1800" dirty="0"/>
              <a:t>Throughput ≈ 9523.8 bits/sec</a:t>
            </a:r>
          </a:p>
          <a:p>
            <a:r>
              <a:rPr lang="en-US" sz="1800" dirty="0"/>
              <a:t>≈ 9.52 Kbps</a:t>
            </a:r>
          </a:p>
          <a:p>
            <a:r>
              <a:rPr lang="en-US" sz="1800" dirty="0"/>
              <a:t>Network Throughput ≈ </a:t>
            </a:r>
            <a:r>
              <a:rPr lang="en-US" sz="1800" b="1" dirty="0"/>
              <a:t>9.52 Kbps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7621330-0F55-1E1E-3F3E-BB3D552C3A81}"/>
              </a:ext>
            </a:extLst>
          </p:cNvPr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CAF8F2A-009D-D255-F828-90A17E850A48}"/>
              </a:ext>
            </a:extLst>
          </p:cNvPr>
          <p:cNvSpPr/>
          <p:nvPr/>
        </p:nvSpPr>
        <p:spPr>
          <a:xfrm>
            <a:off x="11094720" y="0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79" h="1097280">
                <a:moveTo>
                  <a:pt x="1097280" y="0"/>
                </a:moveTo>
                <a:lnTo>
                  <a:pt x="0" y="0"/>
                </a:lnTo>
                <a:lnTo>
                  <a:pt x="178269" y="178282"/>
                </a:lnTo>
                <a:lnTo>
                  <a:pt x="0" y="356616"/>
                </a:lnTo>
                <a:lnTo>
                  <a:pt x="323723" y="680339"/>
                </a:lnTo>
                <a:lnTo>
                  <a:pt x="502056" y="502069"/>
                </a:lnTo>
                <a:lnTo>
                  <a:pt x="1097280" y="1097280"/>
                </a:lnTo>
                <a:lnTo>
                  <a:pt x="109728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9827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0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imes New Roman"/>
                <a:cs typeface="Times New Roman"/>
              </a:rPr>
              <a:t>Go</a:t>
            </a:r>
            <a:r>
              <a:rPr sz="3300" b="1" spc="-1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Back</a:t>
            </a:r>
            <a:r>
              <a:rPr sz="3300" b="1" spc="-10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N</a:t>
            </a:r>
            <a:r>
              <a:rPr sz="3300" b="1" spc="-17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ARQ</a:t>
            </a:r>
            <a:r>
              <a:rPr sz="3300" b="1" spc="-1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Self</a:t>
            </a:r>
            <a:r>
              <a:rPr sz="3300" b="1" spc="-10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Practice</a:t>
            </a:r>
            <a:r>
              <a:rPr sz="3300" b="1" spc="-30" dirty="0">
                <a:latin typeface="Times New Roman"/>
                <a:cs typeface="Times New Roman"/>
              </a:rPr>
              <a:t> </a:t>
            </a:r>
            <a:r>
              <a:rPr sz="3300" b="1" spc="-10" dirty="0">
                <a:latin typeface="Times New Roman"/>
                <a:cs typeface="Times New Roman"/>
              </a:rPr>
              <a:t>Numerical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809" y="1417065"/>
            <a:ext cx="9923145" cy="13792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85"/>
              </a:spcBef>
            </a:pP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Q.</a:t>
            </a:r>
            <a:r>
              <a:rPr sz="2400" b="1" spc="40" dirty="0">
                <a:solidFill>
                  <a:srgbClr val="202429"/>
                </a:solidFill>
                <a:latin typeface="Times New Roman"/>
                <a:cs typeface="Times New Roman"/>
              </a:rPr>
              <a:t> 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A</a:t>
            </a:r>
            <a:r>
              <a:rPr sz="2400" b="1" spc="-9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1</a:t>
            </a:r>
            <a:r>
              <a:rPr sz="2400" b="1" spc="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Mbps</a:t>
            </a:r>
            <a:r>
              <a:rPr sz="2400" b="1" spc="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satellite</a:t>
            </a:r>
            <a:r>
              <a:rPr sz="2400" b="1" spc="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link</a:t>
            </a:r>
            <a:r>
              <a:rPr sz="2400" b="1" spc="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connects</a:t>
            </a:r>
            <a:r>
              <a:rPr sz="2400" b="1" spc="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two</a:t>
            </a:r>
            <a:r>
              <a:rPr sz="2400" b="1" spc="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ground</a:t>
            </a:r>
            <a:r>
              <a:rPr sz="2400" b="1" spc="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stations.</a:t>
            </a:r>
            <a:r>
              <a:rPr sz="2400" b="1" spc="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b="1" spc="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altitude</a:t>
            </a:r>
            <a:r>
              <a:rPr sz="2400" b="1" spc="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400" b="1" spc="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202429"/>
                </a:solidFill>
                <a:latin typeface="Times New Roman"/>
                <a:cs typeface="Times New Roman"/>
              </a:rPr>
              <a:t>the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satellite</a:t>
            </a:r>
            <a:r>
              <a:rPr sz="2400" b="1" spc="1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is</a:t>
            </a:r>
            <a:r>
              <a:rPr sz="2400" b="1" spc="1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36504</a:t>
            </a:r>
            <a:r>
              <a:rPr sz="2400" b="1" spc="1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km</a:t>
            </a:r>
            <a:r>
              <a:rPr sz="2400" b="1" spc="17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and</a:t>
            </a:r>
            <a:r>
              <a:rPr sz="2400" b="1" spc="16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speed</a:t>
            </a:r>
            <a:r>
              <a:rPr sz="2400" b="1" spc="1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400" b="1" spc="1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b="1" spc="17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signal</a:t>
            </a:r>
            <a:r>
              <a:rPr sz="2400" b="1" spc="16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is</a:t>
            </a:r>
            <a:r>
              <a:rPr sz="2400" b="1" spc="16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3</a:t>
            </a:r>
            <a:r>
              <a:rPr sz="2400" b="1" spc="1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x</a:t>
            </a:r>
            <a:r>
              <a:rPr sz="2400" b="1" spc="1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108</a:t>
            </a:r>
            <a:r>
              <a:rPr sz="2400" b="1" spc="16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m/sec.</a:t>
            </a:r>
            <a:r>
              <a:rPr sz="2400" b="1" spc="1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What</a:t>
            </a:r>
            <a:r>
              <a:rPr sz="2400" b="1" spc="1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02429"/>
                </a:solidFill>
                <a:latin typeface="Times New Roman"/>
                <a:cs typeface="Times New Roman"/>
              </a:rPr>
              <a:t>should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be</a:t>
            </a:r>
            <a:r>
              <a:rPr sz="2400" b="1" spc="16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400" b="1" spc="16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packet</a:t>
            </a:r>
            <a:r>
              <a:rPr sz="2400" b="1" spc="16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size</a:t>
            </a:r>
            <a:r>
              <a:rPr sz="2400" b="1" spc="16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for</a:t>
            </a:r>
            <a:r>
              <a:rPr sz="2400" b="1" spc="1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a</a:t>
            </a:r>
            <a:r>
              <a:rPr sz="2400" b="1" spc="1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channel</a:t>
            </a:r>
            <a:r>
              <a:rPr sz="2400" b="1" spc="16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utilization</a:t>
            </a:r>
            <a:r>
              <a:rPr sz="2400" b="1" spc="1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400" b="1" spc="1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50%</a:t>
            </a:r>
            <a:r>
              <a:rPr sz="2400" b="1" spc="1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for</a:t>
            </a:r>
            <a:r>
              <a:rPr sz="2400" b="1" spc="1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a</a:t>
            </a:r>
            <a:r>
              <a:rPr sz="2400" b="1" spc="16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satellite</a:t>
            </a:r>
            <a:r>
              <a:rPr sz="2400" b="1" spc="15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link</a:t>
            </a:r>
            <a:r>
              <a:rPr sz="2400" b="1" spc="16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02429"/>
                </a:solidFill>
                <a:latin typeface="Times New Roman"/>
                <a:cs typeface="Times New Roman"/>
              </a:rPr>
              <a:t>using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go</a:t>
            </a:r>
            <a:r>
              <a:rPr sz="2400" b="1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back</a:t>
            </a:r>
            <a:r>
              <a:rPr sz="2400" b="1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254</a:t>
            </a:r>
            <a:r>
              <a:rPr sz="2400" b="1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sliding</a:t>
            </a:r>
            <a:r>
              <a:rPr sz="2400" b="1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02429"/>
                </a:solidFill>
                <a:latin typeface="Times New Roman"/>
                <a:cs typeface="Times New Roman"/>
              </a:rPr>
              <a:t>window</a:t>
            </a:r>
            <a:r>
              <a:rPr sz="2400" b="1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02429"/>
                </a:solidFill>
                <a:latin typeface="Times New Roman"/>
                <a:cs typeface="Times New Roman"/>
              </a:rPr>
              <a:t>protocol?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94720" y="0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79" h="1097280">
                <a:moveTo>
                  <a:pt x="1097280" y="0"/>
                </a:moveTo>
                <a:lnTo>
                  <a:pt x="0" y="0"/>
                </a:lnTo>
                <a:lnTo>
                  <a:pt x="178269" y="178282"/>
                </a:lnTo>
                <a:lnTo>
                  <a:pt x="0" y="356616"/>
                </a:lnTo>
                <a:lnTo>
                  <a:pt x="323723" y="680339"/>
                </a:lnTo>
                <a:lnTo>
                  <a:pt x="502056" y="502069"/>
                </a:lnTo>
                <a:lnTo>
                  <a:pt x="1097280" y="1097280"/>
                </a:lnTo>
                <a:lnTo>
                  <a:pt x="109728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imes New Roman"/>
                <a:cs typeface="Times New Roman"/>
              </a:rPr>
              <a:t>Selective</a:t>
            </a:r>
            <a:r>
              <a:rPr sz="3300" b="1" spc="-20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Repeat</a:t>
            </a:r>
            <a:r>
              <a:rPr sz="3300" b="1" spc="-195" dirty="0">
                <a:latin typeface="Times New Roman"/>
                <a:cs typeface="Times New Roman"/>
              </a:rPr>
              <a:t> </a:t>
            </a:r>
            <a:r>
              <a:rPr sz="3300" b="1" spc="-25" dirty="0">
                <a:latin typeface="Times New Roman"/>
                <a:cs typeface="Times New Roman"/>
              </a:rPr>
              <a:t>ARQ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2009" y="1421637"/>
            <a:ext cx="9916795" cy="446849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92100" marR="203200" indent="-229235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92100" algn="l"/>
              </a:tabLst>
            </a:pP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sender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window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size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always</a:t>
            </a:r>
            <a:r>
              <a:rPr sz="22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same as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receiver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window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size</a:t>
            </a:r>
            <a:r>
              <a:rPr sz="22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(</a:t>
            </a:r>
            <a:r>
              <a:rPr sz="2200" dirty="0">
                <a:solidFill>
                  <a:srgbClr val="202429"/>
                </a:solidFill>
                <a:latin typeface="Cambria Math"/>
                <a:cs typeface="Cambria Math"/>
              </a:rPr>
              <a:t>2</a:t>
            </a:r>
            <a:r>
              <a:rPr sz="2400" baseline="27777" dirty="0">
                <a:solidFill>
                  <a:srgbClr val="202429"/>
                </a:solidFill>
                <a:latin typeface="Cambria Math"/>
                <a:cs typeface="Cambria Math"/>
              </a:rPr>
              <a:t>𝑛</a:t>
            </a:r>
            <a:r>
              <a:rPr sz="2400" spc="337" baseline="27777" dirty="0">
                <a:solidFill>
                  <a:srgbClr val="202429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202429"/>
                </a:solidFill>
                <a:latin typeface="Cambria Math"/>
                <a:cs typeface="Cambria Math"/>
              </a:rPr>
              <a:t>−</a:t>
            </a:r>
            <a:r>
              <a:rPr sz="2200" spc="-10" dirty="0">
                <a:solidFill>
                  <a:srgbClr val="202429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202429"/>
                </a:solidFill>
                <a:latin typeface="Cambria Math"/>
                <a:cs typeface="Cambria Math"/>
              </a:rPr>
              <a:t>1,</a:t>
            </a:r>
            <a:r>
              <a:rPr sz="2200" spc="-15" dirty="0">
                <a:solidFill>
                  <a:srgbClr val="202429"/>
                </a:solidFill>
                <a:latin typeface="Cambria Math"/>
                <a:cs typeface="Cambria Math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where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02429"/>
                </a:solidFill>
                <a:latin typeface="Times New Roman"/>
                <a:cs typeface="Times New Roman"/>
              </a:rPr>
              <a:t>n</a:t>
            </a:r>
            <a:r>
              <a:rPr sz="2200" i="1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is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number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bits</a:t>
            </a:r>
            <a:r>
              <a:rPr sz="2200" spc="-6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available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for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sequence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number).</a:t>
            </a:r>
            <a:endParaRPr sz="2200">
              <a:latin typeface="Times New Roman"/>
              <a:cs typeface="Times New Roman"/>
            </a:endParaRPr>
          </a:p>
          <a:p>
            <a:pPr marL="292100" indent="-228600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92100" algn="l"/>
              </a:tabLst>
            </a:pP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Receiver</a:t>
            </a:r>
            <a:r>
              <a:rPr sz="2200" spc="-5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acknowledges</a:t>
            </a:r>
            <a:r>
              <a:rPr sz="2200" spc="-7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each</a:t>
            </a:r>
            <a:r>
              <a:rPr sz="2200" spc="-5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frame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independently</a:t>
            </a:r>
            <a:r>
              <a:rPr sz="2200" spc="-6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to</a:t>
            </a:r>
            <a:r>
              <a:rPr sz="2200" spc="-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sender.</a:t>
            </a:r>
            <a:endParaRPr sz="2200">
              <a:latin typeface="Times New Roman"/>
              <a:cs typeface="Times New Roman"/>
            </a:endParaRPr>
          </a:p>
          <a:p>
            <a:pPr marL="292100" indent="-228600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92100" algn="l"/>
              </a:tabLst>
            </a:pP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It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does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not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accept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corrupted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frames</a:t>
            </a:r>
            <a:r>
              <a:rPr sz="22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but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does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not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silently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discard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them.</a:t>
            </a:r>
            <a:endParaRPr sz="2200">
              <a:latin typeface="Times New Roman"/>
              <a:cs typeface="Times New Roman"/>
            </a:endParaRPr>
          </a:p>
          <a:p>
            <a:pPr marL="749300" lvl="1" indent="-22860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749300" algn="l"/>
              </a:tabLst>
            </a:pP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Receiver</a:t>
            </a:r>
            <a:r>
              <a:rPr sz="18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handles</a:t>
            </a:r>
            <a:r>
              <a:rPr sz="18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situation</a:t>
            </a:r>
            <a:r>
              <a:rPr sz="18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efficiently</a:t>
            </a:r>
            <a:r>
              <a:rPr sz="1800" spc="-5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by</a:t>
            </a:r>
            <a:r>
              <a:rPr sz="18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sending</a:t>
            </a:r>
            <a:r>
              <a:rPr sz="18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a</a:t>
            </a:r>
            <a:r>
              <a:rPr sz="18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negative</a:t>
            </a:r>
            <a:r>
              <a:rPr sz="18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02429"/>
                </a:solidFill>
                <a:latin typeface="Times New Roman"/>
                <a:cs typeface="Times New Roman"/>
              </a:rPr>
              <a:t>acknowledgement</a:t>
            </a:r>
            <a:r>
              <a:rPr sz="18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02429"/>
                </a:solidFill>
                <a:latin typeface="Times New Roman"/>
                <a:cs typeface="Times New Roman"/>
              </a:rPr>
              <a:t>(NACK).</a:t>
            </a:r>
            <a:endParaRPr sz="1800">
              <a:latin typeface="Times New Roman"/>
              <a:cs typeface="Times New Roman"/>
            </a:endParaRPr>
          </a:p>
          <a:p>
            <a:pPr marL="749300" lvl="1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749300" algn="l"/>
              </a:tabLst>
            </a:pP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NACK</a:t>
            </a:r>
            <a:r>
              <a:rPr sz="18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allows</a:t>
            </a:r>
            <a:r>
              <a:rPr sz="18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early</a:t>
            </a:r>
            <a:r>
              <a:rPr sz="18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retransmission</a:t>
            </a:r>
            <a:r>
              <a:rPr sz="18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18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corrupted</a:t>
            </a:r>
            <a:r>
              <a:rPr sz="18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02429"/>
                </a:solidFill>
                <a:latin typeface="Times New Roman"/>
                <a:cs typeface="Times New Roman"/>
              </a:rPr>
              <a:t>frame.</a:t>
            </a:r>
            <a:endParaRPr sz="1800">
              <a:latin typeface="Times New Roman"/>
              <a:cs typeface="Times New Roman"/>
            </a:endParaRPr>
          </a:p>
          <a:p>
            <a:pPr marL="749300" lvl="1" indent="-2286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749300" algn="l"/>
              </a:tabLst>
            </a:pP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It</a:t>
            </a:r>
            <a:r>
              <a:rPr sz="18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also</a:t>
            </a:r>
            <a:r>
              <a:rPr sz="18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avoids</a:t>
            </a:r>
            <a:r>
              <a:rPr sz="18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waiting</a:t>
            </a:r>
            <a:r>
              <a:rPr sz="18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for</a:t>
            </a:r>
            <a:r>
              <a:rPr sz="18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time</a:t>
            </a:r>
            <a:r>
              <a:rPr sz="18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out</a:t>
            </a:r>
            <a:r>
              <a:rPr sz="18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timer</a:t>
            </a:r>
            <a:r>
              <a:rPr sz="18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to</a:t>
            </a:r>
            <a:r>
              <a:rPr sz="18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expire</a:t>
            </a:r>
            <a:r>
              <a:rPr sz="18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at</a:t>
            </a:r>
            <a:r>
              <a:rPr sz="18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18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sender</a:t>
            </a:r>
            <a:r>
              <a:rPr sz="18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side</a:t>
            </a:r>
            <a:r>
              <a:rPr sz="18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to retransmit</a:t>
            </a:r>
            <a:r>
              <a:rPr sz="18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02429"/>
                </a:solidFill>
                <a:latin typeface="Times New Roman"/>
                <a:cs typeface="Times New Roman"/>
              </a:rPr>
              <a:t>frame.</a:t>
            </a:r>
            <a:endParaRPr sz="1800">
              <a:latin typeface="Times New Roman"/>
              <a:cs typeface="Times New Roman"/>
            </a:endParaRPr>
          </a:p>
          <a:p>
            <a:pPr marL="292100" marR="1054100" indent="-229235">
              <a:lnSpc>
                <a:spcPts val="2380"/>
              </a:lnSpc>
              <a:spcBef>
                <a:spcPts val="1010"/>
              </a:spcBef>
              <a:buFont typeface="Arial MT"/>
              <a:buChar char="•"/>
              <a:tabLst>
                <a:tab pos="292100" algn="l"/>
              </a:tabLst>
            </a:pP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It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accepts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out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order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frames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and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sort</a:t>
            </a:r>
            <a:r>
              <a:rPr sz="22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frames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in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correct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order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at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receiver’s</a:t>
            </a:r>
            <a:r>
              <a:rPr sz="2200" spc="-1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side.</a:t>
            </a:r>
            <a:endParaRPr sz="2200">
              <a:latin typeface="Times New Roman"/>
              <a:cs typeface="Times New Roman"/>
            </a:endParaRPr>
          </a:p>
          <a:p>
            <a:pPr marL="292100" indent="-228600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92100" algn="l"/>
              </a:tabLst>
            </a:pP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It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requires</a:t>
            </a:r>
            <a:r>
              <a:rPr sz="22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searching</a:t>
            </a:r>
            <a:r>
              <a:rPr sz="22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at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sender’s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side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for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sending</a:t>
            </a:r>
            <a:r>
              <a:rPr sz="2200" spc="-5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missing</a:t>
            </a:r>
            <a:r>
              <a:rPr sz="22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frame</a:t>
            </a:r>
            <a:r>
              <a:rPr sz="22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to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receiver.</a:t>
            </a:r>
            <a:endParaRPr sz="2200">
              <a:latin typeface="Times New Roman"/>
              <a:cs typeface="Times New Roman"/>
            </a:endParaRPr>
          </a:p>
          <a:p>
            <a:pPr marL="292100" indent="-228600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92100" algn="l"/>
              </a:tabLst>
            </a:pP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Retransmission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lost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frames</a:t>
            </a:r>
            <a:r>
              <a:rPr sz="22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after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expiry</a:t>
            </a:r>
            <a:r>
              <a:rPr sz="22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time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out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timer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at</a:t>
            </a:r>
            <a:r>
              <a:rPr sz="22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sender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end.</a:t>
            </a:r>
            <a:endParaRPr sz="2200">
              <a:latin typeface="Times New Roman"/>
              <a:cs typeface="Times New Roman"/>
            </a:endParaRPr>
          </a:p>
          <a:p>
            <a:pPr marL="292100" indent="-228600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92100" algn="l"/>
                <a:tab pos="1590675" algn="l"/>
              </a:tabLst>
            </a:pP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Efficiency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	=</a:t>
            </a:r>
            <a:r>
              <a:rPr sz="22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N</a:t>
            </a:r>
            <a:r>
              <a:rPr sz="22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/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(1</a:t>
            </a:r>
            <a:r>
              <a:rPr sz="22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+</a:t>
            </a:r>
            <a:r>
              <a:rPr sz="22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2a)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94720" y="0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79" h="1097280">
                <a:moveTo>
                  <a:pt x="1097280" y="0"/>
                </a:moveTo>
                <a:lnTo>
                  <a:pt x="0" y="0"/>
                </a:lnTo>
                <a:lnTo>
                  <a:pt x="178269" y="178282"/>
                </a:lnTo>
                <a:lnTo>
                  <a:pt x="0" y="356616"/>
                </a:lnTo>
                <a:lnTo>
                  <a:pt x="323723" y="680339"/>
                </a:lnTo>
                <a:lnTo>
                  <a:pt x="502056" y="502069"/>
                </a:lnTo>
                <a:lnTo>
                  <a:pt x="1097280" y="1097280"/>
                </a:lnTo>
                <a:lnTo>
                  <a:pt x="109728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2355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imes New Roman"/>
                <a:cs typeface="Times New Roman"/>
              </a:rPr>
              <a:t>Selective</a:t>
            </a:r>
            <a:r>
              <a:rPr sz="3300" b="1" spc="-30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Repeat</a:t>
            </a:r>
            <a:r>
              <a:rPr sz="3300" b="1" spc="-195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ARQ: Retransmission</a:t>
            </a:r>
            <a:r>
              <a:rPr sz="3300" b="1" spc="-5" dirty="0">
                <a:latin typeface="Times New Roman"/>
                <a:cs typeface="Times New Roman"/>
              </a:rPr>
              <a:t> </a:t>
            </a:r>
            <a:r>
              <a:rPr sz="3300" b="1" spc="-10" dirty="0">
                <a:latin typeface="Times New Roman"/>
                <a:cs typeface="Times New Roman"/>
              </a:rPr>
              <a:t>Request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809" y="1421637"/>
            <a:ext cx="9924415" cy="21240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5080" indent="-229235" algn="just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solidFill>
                  <a:srgbClr val="202429"/>
                </a:solidFill>
                <a:latin typeface="Times New Roman"/>
                <a:cs typeface="Times New Roman"/>
              </a:rPr>
              <a:t>Implicit</a:t>
            </a:r>
            <a:r>
              <a:rPr sz="2200" b="1" spc="38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429"/>
                </a:solidFill>
                <a:latin typeface="Times New Roman"/>
                <a:cs typeface="Times New Roman"/>
              </a:rPr>
              <a:t>Retransmission</a:t>
            </a:r>
            <a:r>
              <a:rPr sz="2200" b="1" spc="40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429"/>
                </a:solidFill>
                <a:latin typeface="Times New Roman"/>
                <a:cs typeface="Times New Roman"/>
              </a:rPr>
              <a:t>request:</a:t>
            </a:r>
            <a:r>
              <a:rPr sz="2200" b="1" spc="39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It's</a:t>
            </a:r>
            <a:r>
              <a:rPr sz="2200" spc="40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37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receiver's</a:t>
            </a:r>
            <a:r>
              <a:rPr sz="2200" spc="39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duty</a:t>
            </a:r>
            <a:r>
              <a:rPr sz="2200" spc="40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to</a:t>
            </a:r>
            <a:r>
              <a:rPr sz="2200" spc="38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acknowledge</a:t>
            </a:r>
            <a:r>
              <a:rPr sz="2200" spc="38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or</a:t>
            </a:r>
            <a:r>
              <a:rPr sz="2200" spc="38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give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positive</a:t>
            </a:r>
            <a:r>
              <a:rPr sz="22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feedback of received data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packet</a:t>
            </a:r>
            <a:r>
              <a:rPr sz="22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and</a:t>
            </a:r>
            <a:r>
              <a:rPr sz="2200" spc="-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negative feedback for those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which 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were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lost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or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damaged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during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transmission,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and</a:t>
            </a:r>
            <a:r>
              <a:rPr sz="2200" spc="-3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that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too</a:t>
            </a:r>
            <a:r>
              <a:rPr sz="2200" spc="-4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before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expiry</a:t>
            </a:r>
            <a:r>
              <a:rPr sz="2200" spc="-2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200" spc="-4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time</a:t>
            </a:r>
            <a:r>
              <a:rPr sz="2200" spc="-2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out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timer.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9"/>
              </a:spcBef>
              <a:buClr>
                <a:srgbClr val="202429"/>
              </a:buClr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241300" marR="93980" indent="-229235" algn="just">
              <a:lnSpc>
                <a:spcPts val="2380"/>
              </a:lnSpc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solidFill>
                  <a:srgbClr val="202429"/>
                </a:solidFill>
                <a:latin typeface="Times New Roman"/>
                <a:cs typeface="Times New Roman"/>
              </a:rPr>
              <a:t>Explicit</a:t>
            </a:r>
            <a:r>
              <a:rPr sz="2200" b="1" spc="-8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429"/>
                </a:solidFill>
                <a:latin typeface="Times New Roman"/>
                <a:cs typeface="Times New Roman"/>
              </a:rPr>
              <a:t>Retransmission</a:t>
            </a:r>
            <a:r>
              <a:rPr sz="2200" b="1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429"/>
                </a:solidFill>
                <a:latin typeface="Times New Roman"/>
                <a:cs typeface="Times New Roman"/>
              </a:rPr>
              <a:t>request:</a:t>
            </a:r>
            <a:r>
              <a:rPr sz="2200" b="1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In</a:t>
            </a:r>
            <a:r>
              <a:rPr sz="2200" spc="-7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explicit</a:t>
            </a:r>
            <a:r>
              <a:rPr sz="2200" spc="-8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retransmission,</a:t>
            </a:r>
            <a:r>
              <a:rPr sz="2200" spc="-6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the</a:t>
            </a:r>
            <a:r>
              <a:rPr sz="2200" spc="-8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receiver</a:t>
            </a:r>
            <a:r>
              <a:rPr sz="2200" spc="-6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can</a:t>
            </a:r>
            <a:r>
              <a:rPr sz="2200" spc="-8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request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retransmission</a:t>
            </a:r>
            <a:r>
              <a:rPr sz="2200" spc="-1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of</a:t>
            </a:r>
            <a:r>
              <a:rPr sz="2200" spc="-35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just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429"/>
                </a:solidFill>
                <a:latin typeface="Times New Roman"/>
                <a:cs typeface="Times New Roman"/>
              </a:rPr>
              <a:t>one</a:t>
            </a:r>
            <a:r>
              <a:rPr sz="2200" spc="-50" dirty="0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02429"/>
                </a:solidFill>
                <a:latin typeface="Times New Roman"/>
                <a:cs typeface="Times New Roman"/>
              </a:rPr>
              <a:t>packet.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94720" y="0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79" h="1097280">
                <a:moveTo>
                  <a:pt x="1097280" y="0"/>
                </a:moveTo>
                <a:lnTo>
                  <a:pt x="0" y="0"/>
                </a:lnTo>
                <a:lnTo>
                  <a:pt x="178269" y="178282"/>
                </a:lnTo>
                <a:lnTo>
                  <a:pt x="0" y="356616"/>
                </a:lnTo>
                <a:lnTo>
                  <a:pt x="323723" y="680339"/>
                </a:lnTo>
                <a:lnTo>
                  <a:pt x="502056" y="502069"/>
                </a:lnTo>
                <a:lnTo>
                  <a:pt x="1097280" y="1097280"/>
                </a:lnTo>
                <a:lnTo>
                  <a:pt x="109728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973320" cy="6858000"/>
          </a:xfrm>
          <a:custGeom>
            <a:avLst/>
            <a:gdLst/>
            <a:ahLst/>
            <a:cxnLst/>
            <a:rect l="l" t="t" r="r" b="b"/>
            <a:pathLst>
              <a:path w="4973320" h="6858000">
                <a:moveTo>
                  <a:pt x="4972812" y="0"/>
                </a:moveTo>
                <a:lnTo>
                  <a:pt x="0" y="0"/>
                </a:lnTo>
                <a:lnTo>
                  <a:pt x="0" y="6858000"/>
                </a:lnTo>
                <a:lnTo>
                  <a:pt x="4972812" y="6858000"/>
                </a:lnTo>
                <a:lnTo>
                  <a:pt x="497281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0097" y="2885313"/>
            <a:ext cx="2860040" cy="13919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Design</a:t>
            </a:r>
            <a:r>
              <a:rPr sz="32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Selective</a:t>
            </a:r>
            <a:r>
              <a:rPr sz="32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Repeat </a:t>
            </a:r>
            <a:r>
              <a:rPr sz="3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ARQ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4296" y="55"/>
            <a:ext cx="7537577" cy="68578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804" y="952500"/>
            <a:ext cx="3342640" cy="2200910"/>
          </a:xfrm>
          <a:custGeom>
            <a:avLst/>
            <a:gdLst/>
            <a:ahLst/>
            <a:cxnLst/>
            <a:rect l="l" t="t" r="r" b="b"/>
            <a:pathLst>
              <a:path w="3342640" h="2200910">
                <a:moveTo>
                  <a:pt x="2994660" y="0"/>
                </a:moveTo>
                <a:lnTo>
                  <a:pt x="0" y="0"/>
                </a:lnTo>
                <a:lnTo>
                  <a:pt x="0" y="2200655"/>
                </a:lnTo>
                <a:lnTo>
                  <a:pt x="2994660" y="2200655"/>
                </a:lnTo>
                <a:lnTo>
                  <a:pt x="3342132" y="1100327"/>
                </a:lnTo>
                <a:lnTo>
                  <a:pt x="29946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5870" y="1361694"/>
            <a:ext cx="2228215" cy="13919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Selective </a:t>
            </a:r>
            <a:r>
              <a:rPr sz="3200" b="1" dirty="0">
                <a:solidFill>
                  <a:srgbClr val="FFFFFF"/>
                </a:solidFill>
                <a:latin typeface="Times New Roman"/>
                <a:cs typeface="Times New Roman"/>
              </a:rPr>
              <a:t>Repeat</a:t>
            </a:r>
            <a:r>
              <a:rPr sz="3200" b="1" spc="-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ARQ </a:t>
            </a:r>
            <a:r>
              <a:rPr sz="3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777" y="363603"/>
            <a:ext cx="7412806" cy="60126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600955"/>
            <a:ext cx="1013460" cy="2018030"/>
          </a:xfrm>
          <a:custGeom>
            <a:avLst/>
            <a:gdLst/>
            <a:ahLst/>
            <a:cxnLst/>
            <a:rect l="l" t="t" r="r" b="b"/>
            <a:pathLst>
              <a:path w="1013460" h="2018029">
                <a:moveTo>
                  <a:pt x="0" y="0"/>
                </a:moveTo>
                <a:lnTo>
                  <a:pt x="0" y="2017776"/>
                </a:lnTo>
                <a:lnTo>
                  <a:pt x="1013460" y="1008888"/>
                </a:lnTo>
                <a:lnTo>
                  <a:pt x="0" y="0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27355" y="5628144"/>
            <a:ext cx="687070" cy="687070"/>
          </a:xfrm>
          <a:custGeom>
            <a:avLst/>
            <a:gdLst/>
            <a:ahLst/>
            <a:cxnLst/>
            <a:rect l="l" t="t" r="r" b="b"/>
            <a:pathLst>
              <a:path w="687069" h="687070">
                <a:moveTo>
                  <a:pt x="343344" y="0"/>
                </a:moveTo>
                <a:lnTo>
                  <a:pt x="0" y="343357"/>
                </a:lnTo>
                <a:lnTo>
                  <a:pt x="343344" y="686701"/>
                </a:lnTo>
                <a:lnTo>
                  <a:pt x="686701" y="343357"/>
                </a:lnTo>
                <a:lnTo>
                  <a:pt x="343344" y="0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19307" y="0"/>
            <a:ext cx="972819" cy="1935480"/>
          </a:xfrm>
          <a:custGeom>
            <a:avLst/>
            <a:gdLst/>
            <a:ahLst/>
            <a:cxnLst/>
            <a:rect l="l" t="t" r="r" b="b"/>
            <a:pathLst>
              <a:path w="972820" h="1935480">
                <a:moveTo>
                  <a:pt x="972693" y="0"/>
                </a:moveTo>
                <a:lnTo>
                  <a:pt x="381" y="967740"/>
                </a:lnTo>
                <a:lnTo>
                  <a:pt x="177482" y="1144016"/>
                </a:lnTo>
                <a:lnTo>
                  <a:pt x="0" y="1321562"/>
                </a:lnTo>
                <a:lnTo>
                  <a:pt x="348615" y="1670177"/>
                </a:lnTo>
                <a:lnTo>
                  <a:pt x="526986" y="1491881"/>
                </a:lnTo>
                <a:lnTo>
                  <a:pt x="972693" y="1935480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48928" y="525957"/>
            <a:ext cx="3243580" cy="1814195"/>
          </a:xfrm>
          <a:custGeom>
            <a:avLst/>
            <a:gdLst/>
            <a:ahLst/>
            <a:cxnLst/>
            <a:rect l="l" t="t" r="r" b="b"/>
            <a:pathLst>
              <a:path w="3243579" h="1814195">
                <a:moveTo>
                  <a:pt x="3243072" y="465912"/>
                </a:moveTo>
                <a:lnTo>
                  <a:pt x="0" y="465912"/>
                </a:lnTo>
                <a:lnTo>
                  <a:pt x="0" y="1813890"/>
                </a:lnTo>
                <a:lnTo>
                  <a:pt x="3243072" y="1813890"/>
                </a:lnTo>
                <a:lnTo>
                  <a:pt x="3243072" y="465912"/>
                </a:lnTo>
                <a:close/>
              </a:path>
              <a:path w="3243579" h="1814195">
                <a:moveTo>
                  <a:pt x="3243072" y="0"/>
                </a:moveTo>
                <a:lnTo>
                  <a:pt x="0" y="0"/>
                </a:lnTo>
                <a:lnTo>
                  <a:pt x="0" y="465785"/>
                </a:lnTo>
                <a:lnTo>
                  <a:pt x="3243072" y="465785"/>
                </a:lnTo>
                <a:lnTo>
                  <a:pt x="32430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431334"/>
            <a:ext cx="1530350" cy="2058035"/>
          </a:xfrm>
          <a:custGeom>
            <a:avLst/>
            <a:gdLst/>
            <a:ahLst/>
            <a:cxnLst/>
            <a:rect l="l" t="t" r="r" b="b"/>
            <a:pathLst>
              <a:path w="1530350" h="2058035">
                <a:moveTo>
                  <a:pt x="1530223" y="931545"/>
                </a:moveTo>
                <a:lnTo>
                  <a:pt x="0" y="931545"/>
                </a:lnTo>
                <a:lnTo>
                  <a:pt x="0" y="1592237"/>
                </a:lnTo>
                <a:lnTo>
                  <a:pt x="0" y="2058022"/>
                </a:lnTo>
                <a:lnTo>
                  <a:pt x="1530223" y="2058022"/>
                </a:lnTo>
                <a:lnTo>
                  <a:pt x="1530223" y="1592237"/>
                </a:lnTo>
                <a:lnTo>
                  <a:pt x="1530223" y="931545"/>
                </a:lnTo>
                <a:close/>
              </a:path>
              <a:path w="1530350" h="2058035">
                <a:moveTo>
                  <a:pt x="1530223" y="0"/>
                </a:moveTo>
                <a:lnTo>
                  <a:pt x="0" y="0"/>
                </a:lnTo>
                <a:lnTo>
                  <a:pt x="0" y="465709"/>
                </a:lnTo>
                <a:lnTo>
                  <a:pt x="0" y="931494"/>
                </a:lnTo>
                <a:lnTo>
                  <a:pt x="1530223" y="931494"/>
                </a:lnTo>
                <a:lnTo>
                  <a:pt x="1530223" y="465785"/>
                </a:lnTo>
                <a:lnTo>
                  <a:pt x="15302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0" y="109601"/>
          <a:ext cx="12191363" cy="637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3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1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42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sz="13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b="1" spc="-30" dirty="0">
                          <a:latin typeface="Times New Roman"/>
                          <a:cs typeface="Times New Roman"/>
                        </a:rPr>
                        <a:t> Wait</a:t>
                      </a:r>
                      <a:r>
                        <a:rPr sz="13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25" dirty="0">
                          <a:latin typeface="Times New Roman"/>
                          <a:cs typeface="Times New Roman"/>
                        </a:rPr>
                        <a:t>ARQ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Go</a:t>
                      </a: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back</a:t>
                      </a: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Selective</a:t>
                      </a:r>
                      <a:r>
                        <a:rPr sz="13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Repeat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555"/>
                        </a:lnSpc>
                      </a:pP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Remarks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Efficiency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(1+2a)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(1+2a)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(1+2a)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Go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back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Selective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Repeat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gives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better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efficiency</a:t>
                      </a:r>
                      <a:r>
                        <a:rPr sz="13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Wait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ARQ.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8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sz="13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Size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8415" marR="1206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Sender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Receiver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= 1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8161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772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Sender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731520">
                        <a:lnSpc>
                          <a:spcPct val="10000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Receiver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4108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Sender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47980">
                        <a:lnSpc>
                          <a:spcPct val="10000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Receiver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Buffer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Selective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Repeat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very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large.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8415" marR="10795" algn="ctr">
                        <a:lnSpc>
                          <a:spcPct val="10000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does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lots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memory,</a:t>
                      </a:r>
                      <a:r>
                        <a:rPr sz="13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then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choose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Go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back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8255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695">
                <a:tc>
                  <a:txBody>
                    <a:bodyPr/>
                    <a:lstStyle/>
                    <a:p>
                      <a:pPr marL="22225" marR="158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Minimum</a:t>
                      </a:r>
                      <a:r>
                        <a:rPr sz="13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3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sequence</a:t>
                      </a:r>
                      <a:r>
                        <a:rPr sz="13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numbers required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N+1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5344" marR="4445" indent="-84328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Selective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Repeat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bits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sequence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field.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096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695">
                <a:tc>
                  <a:txBody>
                    <a:bodyPr/>
                    <a:lstStyle/>
                    <a:p>
                      <a:pPr marL="74295" marR="66040" indent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Retransmissions required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3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packet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 lost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8305" marR="97155" indent="-3048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lost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packet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retransmitted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entire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retransmitted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lost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packet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retransmitted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0380" marR="40005" indent="-451484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Selective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Repeat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far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Go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back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in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terms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retransmissions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required.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50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305435" marR="297180" indent="68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Bandwidth Requirement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615315" marR="53975" indent="-5537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Bandwidth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requirement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Low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marR="59055"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Bandwidth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requirement is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because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even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if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packet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lost,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entire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be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retransmitted.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Bandwidth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moderate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4414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1020" marR="153670" indent="-3797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Selective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Repeat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Go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back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terms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bandwidth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requirement.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CPU</a:t>
                      </a: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usage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29539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Low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29539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Moderate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29539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 marR="71755" indent="546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searching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sorting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required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sender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receiver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side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165" marR="152400" indent="-7778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Go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back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Selective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Repeat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terms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CPU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usage.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marL="203835" marR="43180" indent="-1524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b="1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3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difficulty</a:t>
                      </a:r>
                      <a:r>
                        <a:rPr sz="13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Implementation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Low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29539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Moderate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29539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5765" marR="128270" indent="-2717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Complex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extra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logic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sorting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searching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0" marR="152400" indent="-3079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Go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back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Selective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Repeat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terms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implementation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difficulty.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Acknowledgements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3189" marR="116839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independent acknowledgement</a:t>
                      </a:r>
                      <a:r>
                        <a:rPr sz="13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packet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 marR="93345" indent="-4889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cumulative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acknowledgements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(but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may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independent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acknowledgements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well)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7395" marR="41275" indent="-69977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independent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acknowledgement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packet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marR="10160" indent="20955" algn="just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Sending</a:t>
                      </a:r>
                      <a:r>
                        <a:rPr sz="13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cumulative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acknowledgements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reduces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traffic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lost,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ACKs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corresponding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packets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lost.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3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13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spc="-10" dirty="0">
                          <a:latin typeface="Times New Roman"/>
                          <a:cs typeface="Times New Roman"/>
                        </a:rPr>
                        <a:t>Transmission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3017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Half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duplex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3017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duplex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3017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duplex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3017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3280" marR="129539" indent="-70612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Go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back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Selective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Repeat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terms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channel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usage.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0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65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pc="-25" dirty="0">
                <a:hlinkClick r:id="rId2"/>
              </a:rPr>
              <a:t>https://www.javatpoint.com/go-</a:t>
            </a:r>
            <a:r>
              <a:rPr spc="-10" dirty="0">
                <a:hlinkClick r:id="rId2"/>
              </a:rPr>
              <a:t>back-n-</a:t>
            </a:r>
            <a:r>
              <a:rPr spc="-25" dirty="0">
                <a:hlinkClick r:id="rId2"/>
              </a:rPr>
              <a:t>arq</a:t>
            </a:r>
          </a:p>
          <a:p>
            <a:pPr marL="240665" indent="-227965">
              <a:lnSpc>
                <a:spcPct val="100000"/>
              </a:lnSpc>
              <a:spcBef>
                <a:spcPts val="265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pc="-20" dirty="0">
                <a:hlinkClick r:id="rId2"/>
              </a:rPr>
              <a:t>https://www.studytonight.com/computer-</a:t>
            </a:r>
            <a:r>
              <a:rPr spc="-10" dirty="0">
                <a:hlinkClick r:id="rId2"/>
              </a:rPr>
              <a:t>networks/gobackn-</a:t>
            </a:r>
            <a:r>
              <a:rPr spc="-20" dirty="0">
                <a:hlinkClick r:id="rId2"/>
              </a:rPr>
              <a:t>automatic-</a:t>
            </a:r>
            <a:r>
              <a:rPr spc="-25" dirty="0">
                <a:hlinkClick r:id="rId2"/>
              </a:rPr>
              <a:t>repeat-</a:t>
            </a:r>
            <a:r>
              <a:rPr spc="-10" dirty="0">
                <a:hlinkClick r:id="rId2"/>
              </a:rPr>
              <a:t>request</a:t>
            </a: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pc="-20" dirty="0">
                <a:hlinkClick r:id="rId2"/>
              </a:rPr>
              <a:t>https://www.geeksforgeeks.org/sliding-</a:t>
            </a:r>
            <a:r>
              <a:rPr spc="-10" dirty="0">
                <a:hlinkClick r:id="rId2"/>
              </a:rPr>
              <a:t>window-</a:t>
            </a:r>
            <a:r>
              <a:rPr spc="-20" dirty="0">
                <a:hlinkClick r:id="rId2"/>
              </a:rPr>
              <a:t>protocol-set-</a:t>
            </a:r>
            <a:r>
              <a:rPr spc="-10" dirty="0">
                <a:hlinkClick r:id="rId2"/>
              </a:rPr>
              <a:t>2-</a:t>
            </a:r>
            <a:r>
              <a:rPr spc="-25" dirty="0">
                <a:hlinkClick r:id="rId2"/>
              </a:rPr>
              <a:t>receiver-</a:t>
            </a:r>
            <a:r>
              <a:rPr spc="-10" dirty="0">
                <a:hlinkClick r:id="rId2"/>
              </a:rPr>
              <a:t>side/</a:t>
            </a:r>
          </a:p>
          <a:p>
            <a:pPr marL="240665" indent="-227965">
              <a:lnSpc>
                <a:spcPct val="100000"/>
              </a:lnSpc>
              <a:spcBef>
                <a:spcPts val="265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pc="-10" dirty="0">
                <a:hlinkClick r:id="rId2"/>
              </a:rPr>
              <a:t>https://www.youtube.com/watch?v=ZLtkhsgQp8U&amp;t=2488s</a:t>
            </a:r>
          </a:p>
          <a:p>
            <a:pPr marL="240665" indent="-227965">
              <a:lnSpc>
                <a:spcPct val="100000"/>
              </a:lnSpc>
              <a:spcBef>
                <a:spcPts val="260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pc="-10" dirty="0">
                <a:hlinkClick r:id="rId2"/>
              </a:rPr>
              <a:t>https://www.youtube.com/watch?v=Oipm5DdYYAs</a:t>
            </a:r>
          </a:p>
          <a:p>
            <a:pPr marL="240665" indent="-227965">
              <a:lnSpc>
                <a:spcPct val="100000"/>
              </a:lnSpc>
              <a:spcBef>
                <a:spcPts val="254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pc="-10" dirty="0">
                <a:hlinkClick r:id="rId2"/>
              </a:rPr>
              <a:t>https://www.youtube.com/watch?v=WfIhQ3o2xow</a:t>
            </a:r>
          </a:p>
          <a:p>
            <a:pPr marL="240665" indent="-227965">
              <a:lnSpc>
                <a:spcPct val="100000"/>
              </a:lnSpc>
              <a:spcBef>
                <a:spcPts val="265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pc="-10" dirty="0">
                <a:hlinkClick r:id="rId2"/>
              </a:rPr>
              <a:t>https://www.youtube.com/watch?v=QD3oCelHJ20</a:t>
            </a:r>
          </a:p>
        </p:txBody>
      </p:sp>
      <p:sp>
        <p:nvSpPr>
          <p:cNvPr id="4" name="object 4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</TotalTime>
  <Words>1649</Words>
  <Application>Microsoft Office PowerPoint</Application>
  <PresentationFormat>Widescreen</PresentationFormat>
  <Paragraphs>179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 MT</vt:lpstr>
      <vt:lpstr>Calibri</vt:lpstr>
      <vt:lpstr>Calibri Light</vt:lpstr>
      <vt:lpstr>Cambria Math</vt:lpstr>
      <vt:lpstr>Symbol</vt:lpstr>
      <vt:lpstr>Times New Roman</vt:lpstr>
      <vt:lpstr>Office Theme</vt:lpstr>
      <vt:lpstr>Flow Control</vt:lpstr>
      <vt:lpstr>Go Back N ARQ</vt:lpstr>
      <vt:lpstr>Go Back N ARQ</vt:lpstr>
      <vt:lpstr>Go Back N ARQ II</vt:lpstr>
      <vt:lpstr>Need of Go Back N ARQ</vt:lpstr>
      <vt:lpstr>Go Back N ARQ Sender sliding window</vt:lpstr>
      <vt:lpstr>Go Back N ARQ receiver sliding window</vt:lpstr>
      <vt:lpstr>Design of Go Back N ARQ</vt:lpstr>
      <vt:lpstr>Flow Diagram</vt:lpstr>
      <vt:lpstr>PowerPoint Presentation</vt:lpstr>
      <vt:lpstr>Go Back N ARQ: Advantages &amp; Disadvantages</vt:lpstr>
      <vt:lpstr>Go Back N ARQ Numerical</vt:lpstr>
      <vt:lpstr>Go Back N ARQ Numerical</vt:lpstr>
      <vt:lpstr>Go Back N ARQ Self Practice Numerical</vt:lpstr>
      <vt:lpstr>Selective Repeat ARQ</vt:lpstr>
      <vt:lpstr>Selective Repeat ARQ: Retransmission Request</vt:lpstr>
      <vt:lpstr>PowerPoint Presentation</vt:lpstr>
      <vt:lpstr>Selective Repeat ARQ Example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SUCHI KUMARI</dc:creator>
  <cp:lastModifiedBy>Gulshan Shrivastava</cp:lastModifiedBy>
  <cp:revision>1</cp:revision>
  <dcterms:created xsi:type="dcterms:W3CDTF">2026-02-11T11:36:28Z</dcterms:created>
  <dcterms:modified xsi:type="dcterms:W3CDTF">2026-02-17T08:05:12Z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2022-02-28T00:00:00Z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2026-02-11T00:00:00Z</vt:filetime>
  </property>
  <property fmtid="{D5CDD505-2E9C-101B-9397-08002B2CF9AE}" pid="5" name="Producer">
    <vt:lpwstr>Microsoft® PowerPoint® for Microsoft 365</vt:lpwstr>
  </property>
</Properties>
</file>