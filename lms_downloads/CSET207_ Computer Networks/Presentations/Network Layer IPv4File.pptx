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098DA2BA-5106-4006-88B6-17B237100216}"/>
    <pc:docChg chg="modSld">
      <pc:chgData name="Abuzar Sayeed" userId="f3c20014-5dab-44db-87de-ec699cb07e88" providerId="ADAL" clId="{098DA2BA-5106-4006-88B6-17B237100216}" dt="2026-02-22T05:34:21.770" v="0" actId="207"/>
      <pc:docMkLst>
        <pc:docMk/>
      </pc:docMkLst>
      <pc:sldChg chg="modSp mod">
        <pc:chgData name="Abuzar Sayeed" userId="f3c20014-5dab-44db-87de-ec699cb07e88" providerId="ADAL" clId="{098DA2BA-5106-4006-88B6-17B237100216}" dt="2026-02-22T05:34:21.770" v="0" actId="207"/>
        <pc:sldMkLst>
          <pc:docMk/>
          <pc:sldMk cId="0" sldId="258"/>
        </pc:sldMkLst>
        <pc:picChg chg="mod">
          <ac:chgData name="Abuzar Sayeed" userId="f3c20014-5dab-44db-87de-ec699cb07e88" providerId="ADAL" clId="{098DA2BA-5106-4006-88B6-17B237100216}" dt="2026-02-22T05:34:21.770" v="0" actId="207"/>
          <ac:picMkLst>
            <pc:docMk/>
            <pc:sldMk cId="0" sldId="258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73456"/>
            <a:ext cx="10358120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4848" y="3220973"/>
            <a:ext cx="5801995" cy="1599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664" rIns="0" bIns="0" rtlCol="0">
            <a:spAutoFit/>
          </a:bodyPr>
          <a:lstStyle/>
          <a:p>
            <a:pPr marL="1708150">
              <a:lnSpc>
                <a:spcPct val="100000"/>
              </a:lnSpc>
              <a:spcBef>
                <a:spcPts val="95"/>
              </a:spcBef>
            </a:pPr>
            <a:r>
              <a:rPr sz="4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4000" b="1" spc="-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Layer:</a:t>
            </a:r>
            <a:r>
              <a:rPr sz="4000" b="1" spc="-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40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0810" y="5128386"/>
            <a:ext cx="7451725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60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8323" y="2137367"/>
            <a:ext cx="2401106" cy="2733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" y="11422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" y="10416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" y="939546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" y="8374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0"/>
            <a:ext cx="4265803" cy="6168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075688"/>
            <a:ext cx="6096000" cy="4783455"/>
            <a:chOff x="0" y="2075688"/>
            <a:chExt cx="6096000" cy="478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75688"/>
              <a:ext cx="4642231" cy="35603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556630"/>
              <a:ext cx="6096000" cy="130241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09676" y="2879547"/>
            <a:ext cx="1988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Outline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10073" y="2447289"/>
            <a:ext cx="6266180" cy="846455"/>
            <a:chOff x="4910073" y="2447289"/>
            <a:chExt cx="6266180" cy="846455"/>
          </a:xfrm>
        </p:grpSpPr>
        <p:sp>
          <p:nvSpPr>
            <p:cNvPr id="13" name="object 13"/>
            <p:cNvSpPr/>
            <p:nvPr/>
          </p:nvSpPr>
          <p:spPr>
            <a:xfrm>
              <a:off x="4916423" y="2708147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6252972" y="0"/>
                  </a:moveTo>
                  <a:lnTo>
                    <a:pt x="0" y="0"/>
                  </a:lnTo>
                  <a:lnTo>
                    <a:pt x="0" y="579120"/>
                  </a:lnTo>
                  <a:lnTo>
                    <a:pt x="6252972" y="579120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6423" y="2708147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0" y="579120"/>
                  </a:moveTo>
                  <a:lnTo>
                    <a:pt x="6252972" y="579120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57912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77027" y="2453639"/>
              <a:ext cx="4378960" cy="588645"/>
            </a:xfrm>
            <a:custGeom>
              <a:avLst/>
              <a:gdLst/>
              <a:ahLst/>
              <a:cxnLst/>
              <a:rect l="l" t="t" r="r" b="b"/>
              <a:pathLst>
                <a:path w="4378959" h="588644">
                  <a:moveTo>
                    <a:pt x="4280408" y="0"/>
                  </a:moveTo>
                  <a:lnTo>
                    <a:pt x="98044" y="0"/>
                  </a:lnTo>
                  <a:lnTo>
                    <a:pt x="59900" y="7711"/>
                  </a:lnTo>
                  <a:lnTo>
                    <a:pt x="28733" y="28733"/>
                  </a:lnTo>
                  <a:lnTo>
                    <a:pt x="7711" y="59900"/>
                  </a:lnTo>
                  <a:lnTo>
                    <a:pt x="0" y="98044"/>
                  </a:lnTo>
                  <a:lnTo>
                    <a:pt x="0" y="490220"/>
                  </a:lnTo>
                  <a:lnTo>
                    <a:pt x="7711" y="528363"/>
                  </a:lnTo>
                  <a:lnTo>
                    <a:pt x="28733" y="559530"/>
                  </a:lnTo>
                  <a:lnTo>
                    <a:pt x="59900" y="580552"/>
                  </a:lnTo>
                  <a:lnTo>
                    <a:pt x="98044" y="588263"/>
                  </a:lnTo>
                  <a:lnTo>
                    <a:pt x="4280408" y="588263"/>
                  </a:lnTo>
                  <a:lnTo>
                    <a:pt x="4318551" y="580552"/>
                  </a:lnTo>
                  <a:lnTo>
                    <a:pt x="4349718" y="559530"/>
                  </a:lnTo>
                  <a:lnTo>
                    <a:pt x="4370740" y="528363"/>
                  </a:lnTo>
                  <a:lnTo>
                    <a:pt x="4378452" y="490220"/>
                  </a:lnTo>
                  <a:lnTo>
                    <a:pt x="4378452" y="98044"/>
                  </a:lnTo>
                  <a:lnTo>
                    <a:pt x="4370740" y="59900"/>
                  </a:lnTo>
                  <a:lnTo>
                    <a:pt x="4349718" y="28733"/>
                  </a:lnTo>
                  <a:lnTo>
                    <a:pt x="4318551" y="7711"/>
                  </a:lnTo>
                  <a:lnTo>
                    <a:pt x="4280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77027" y="2453639"/>
              <a:ext cx="4378960" cy="588645"/>
            </a:xfrm>
            <a:custGeom>
              <a:avLst/>
              <a:gdLst/>
              <a:ahLst/>
              <a:cxnLst/>
              <a:rect l="l" t="t" r="r" b="b"/>
              <a:pathLst>
                <a:path w="4378959" h="588644">
                  <a:moveTo>
                    <a:pt x="0" y="98044"/>
                  </a:moveTo>
                  <a:lnTo>
                    <a:pt x="7711" y="59900"/>
                  </a:lnTo>
                  <a:lnTo>
                    <a:pt x="28733" y="28733"/>
                  </a:lnTo>
                  <a:lnTo>
                    <a:pt x="59900" y="7711"/>
                  </a:lnTo>
                  <a:lnTo>
                    <a:pt x="98044" y="0"/>
                  </a:lnTo>
                  <a:lnTo>
                    <a:pt x="4280408" y="0"/>
                  </a:lnTo>
                  <a:lnTo>
                    <a:pt x="4318551" y="7711"/>
                  </a:lnTo>
                  <a:lnTo>
                    <a:pt x="4349718" y="28733"/>
                  </a:lnTo>
                  <a:lnTo>
                    <a:pt x="4370740" y="59900"/>
                  </a:lnTo>
                  <a:lnTo>
                    <a:pt x="4378452" y="98044"/>
                  </a:lnTo>
                  <a:lnTo>
                    <a:pt x="4378452" y="490220"/>
                  </a:lnTo>
                  <a:lnTo>
                    <a:pt x="4370740" y="528363"/>
                  </a:lnTo>
                  <a:lnTo>
                    <a:pt x="4349718" y="559530"/>
                  </a:lnTo>
                  <a:lnTo>
                    <a:pt x="4318551" y="580552"/>
                  </a:lnTo>
                  <a:lnTo>
                    <a:pt x="4280408" y="588263"/>
                  </a:lnTo>
                  <a:lnTo>
                    <a:pt x="98044" y="588263"/>
                  </a:lnTo>
                  <a:lnTo>
                    <a:pt x="59900" y="580552"/>
                  </a:lnTo>
                  <a:lnTo>
                    <a:pt x="28733" y="559530"/>
                  </a:lnTo>
                  <a:lnTo>
                    <a:pt x="7711" y="528363"/>
                  </a:lnTo>
                  <a:lnTo>
                    <a:pt x="0" y="490220"/>
                  </a:lnTo>
                  <a:lnTo>
                    <a:pt x="0" y="980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0" y="2524760"/>
            <a:ext cx="32092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Internet</a:t>
            </a:r>
            <a:r>
              <a:rPr sz="23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Protocol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3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10073" y="3387597"/>
            <a:ext cx="6266180" cy="949960"/>
            <a:chOff x="4910073" y="3387597"/>
            <a:chExt cx="6266180" cy="949960"/>
          </a:xfrm>
        </p:grpSpPr>
        <p:sp>
          <p:nvSpPr>
            <p:cNvPr id="19" name="object 19"/>
            <p:cNvSpPr/>
            <p:nvPr/>
          </p:nvSpPr>
          <p:spPr>
            <a:xfrm>
              <a:off x="4916423" y="3752087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6252972" y="0"/>
                  </a:moveTo>
                  <a:lnTo>
                    <a:pt x="0" y="0"/>
                  </a:lnTo>
                  <a:lnTo>
                    <a:pt x="0" y="579119"/>
                  </a:lnTo>
                  <a:lnTo>
                    <a:pt x="6252972" y="579119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6423" y="3752087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0" y="579119"/>
                  </a:moveTo>
                  <a:lnTo>
                    <a:pt x="6252972" y="579119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579119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77027" y="3393947"/>
              <a:ext cx="4695825" cy="678180"/>
            </a:xfrm>
            <a:custGeom>
              <a:avLst/>
              <a:gdLst/>
              <a:ahLst/>
              <a:cxnLst/>
              <a:rect l="l" t="t" r="r" b="b"/>
              <a:pathLst>
                <a:path w="4695825" h="678179">
                  <a:moveTo>
                    <a:pt x="4582414" y="0"/>
                  </a:moveTo>
                  <a:lnTo>
                    <a:pt x="113030" y="0"/>
                  </a:lnTo>
                  <a:lnTo>
                    <a:pt x="69008" y="8874"/>
                  </a:lnTo>
                  <a:lnTo>
                    <a:pt x="33083" y="33083"/>
                  </a:lnTo>
                  <a:lnTo>
                    <a:pt x="8874" y="69008"/>
                  </a:lnTo>
                  <a:lnTo>
                    <a:pt x="0" y="113029"/>
                  </a:lnTo>
                  <a:lnTo>
                    <a:pt x="0" y="565150"/>
                  </a:lnTo>
                  <a:lnTo>
                    <a:pt x="8874" y="609171"/>
                  </a:lnTo>
                  <a:lnTo>
                    <a:pt x="33083" y="645096"/>
                  </a:lnTo>
                  <a:lnTo>
                    <a:pt x="69008" y="669305"/>
                  </a:lnTo>
                  <a:lnTo>
                    <a:pt x="113030" y="678179"/>
                  </a:lnTo>
                  <a:lnTo>
                    <a:pt x="4582414" y="678179"/>
                  </a:lnTo>
                  <a:lnTo>
                    <a:pt x="4626435" y="669305"/>
                  </a:lnTo>
                  <a:lnTo>
                    <a:pt x="4662360" y="645096"/>
                  </a:lnTo>
                  <a:lnTo>
                    <a:pt x="4686569" y="609171"/>
                  </a:lnTo>
                  <a:lnTo>
                    <a:pt x="4695444" y="565150"/>
                  </a:lnTo>
                  <a:lnTo>
                    <a:pt x="4695444" y="113029"/>
                  </a:lnTo>
                  <a:lnTo>
                    <a:pt x="4686569" y="69008"/>
                  </a:lnTo>
                  <a:lnTo>
                    <a:pt x="4662360" y="33083"/>
                  </a:lnTo>
                  <a:lnTo>
                    <a:pt x="4626435" y="8874"/>
                  </a:lnTo>
                  <a:lnTo>
                    <a:pt x="458241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7027" y="3393947"/>
              <a:ext cx="4695825" cy="678180"/>
            </a:xfrm>
            <a:custGeom>
              <a:avLst/>
              <a:gdLst/>
              <a:ahLst/>
              <a:cxnLst/>
              <a:rect l="l" t="t" r="r" b="b"/>
              <a:pathLst>
                <a:path w="4695825" h="678179">
                  <a:moveTo>
                    <a:pt x="0" y="113029"/>
                  </a:moveTo>
                  <a:lnTo>
                    <a:pt x="8874" y="69008"/>
                  </a:lnTo>
                  <a:lnTo>
                    <a:pt x="33083" y="33083"/>
                  </a:lnTo>
                  <a:lnTo>
                    <a:pt x="69008" y="8874"/>
                  </a:lnTo>
                  <a:lnTo>
                    <a:pt x="113030" y="0"/>
                  </a:lnTo>
                  <a:lnTo>
                    <a:pt x="4582414" y="0"/>
                  </a:lnTo>
                  <a:lnTo>
                    <a:pt x="4626435" y="8874"/>
                  </a:lnTo>
                  <a:lnTo>
                    <a:pt x="4662360" y="33083"/>
                  </a:lnTo>
                  <a:lnTo>
                    <a:pt x="4686569" y="69008"/>
                  </a:lnTo>
                  <a:lnTo>
                    <a:pt x="4695444" y="113029"/>
                  </a:lnTo>
                  <a:lnTo>
                    <a:pt x="4695444" y="565150"/>
                  </a:lnTo>
                  <a:lnTo>
                    <a:pt x="4686569" y="609171"/>
                  </a:lnTo>
                  <a:lnTo>
                    <a:pt x="4662360" y="645096"/>
                  </a:lnTo>
                  <a:lnTo>
                    <a:pt x="4626435" y="669305"/>
                  </a:lnTo>
                  <a:lnTo>
                    <a:pt x="4582414" y="678179"/>
                  </a:lnTo>
                  <a:lnTo>
                    <a:pt x="113030" y="678179"/>
                  </a:lnTo>
                  <a:lnTo>
                    <a:pt x="69008" y="669305"/>
                  </a:lnTo>
                  <a:lnTo>
                    <a:pt x="33083" y="645096"/>
                  </a:lnTo>
                  <a:lnTo>
                    <a:pt x="8874" y="609171"/>
                  </a:lnTo>
                  <a:lnTo>
                    <a:pt x="0" y="565150"/>
                  </a:lnTo>
                  <a:lnTo>
                    <a:pt x="0" y="11302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63717" y="3510229"/>
            <a:ext cx="398589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Datagram</a:t>
            </a:r>
            <a:r>
              <a:rPr sz="23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Format,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Fragmentation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"/>
            <a:ext cx="12192000" cy="685796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object 3"/>
          <p:cNvSpPr txBox="1"/>
          <p:nvPr/>
        </p:nvSpPr>
        <p:spPr>
          <a:xfrm>
            <a:off x="1200708" y="2500706"/>
            <a:ext cx="2872740" cy="173291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1195705" algn="r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solidFill>
                  <a:srgbClr val="FFFFFF"/>
                </a:solidFill>
                <a:latin typeface="Calibri Light"/>
                <a:cs typeface="Calibri Light"/>
              </a:rPr>
              <a:t>Internet </a:t>
            </a:r>
            <a:r>
              <a:rPr sz="4000" spc="-10" dirty="0">
                <a:solidFill>
                  <a:srgbClr val="FFFFFF"/>
                </a:solidFill>
                <a:latin typeface="Calibri Light"/>
                <a:cs typeface="Calibri Light"/>
              </a:rPr>
              <a:t>Protocol: </a:t>
            </a:r>
            <a:r>
              <a:rPr sz="4000" spc="-25" dirty="0">
                <a:solidFill>
                  <a:srgbClr val="FFFFFF"/>
                </a:solidFill>
                <a:latin typeface="Calibri Light"/>
                <a:cs typeface="Calibri Light"/>
              </a:rPr>
              <a:t>Requirements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4685" y="1023665"/>
            <a:ext cx="3823335" cy="13963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825"/>
              </a:spcBef>
              <a:buClr>
                <a:srgbClr val="FFFFFF"/>
              </a:buClr>
              <a:buSzPct val="83333"/>
              <a:buFont typeface="Wingdings"/>
              <a:buChar char=""/>
              <a:tabLst>
                <a:tab pos="297180" algn="l"/>
              </a:tabLst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  <a:p>
            <a:pPr marL="353695" marR="5080">
              <a:lnSpc>
                <a:spcPct val="124600"/>
              </a:lnSpc>
              <a:spcBef>
                <a:spcPts val="1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routing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info.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DL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routing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info.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685" y="2852166"/>
            <a:ext cx="5983605" cy="30911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3+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NIC’s,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deliver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packet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links.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hop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Responsibility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Host-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host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delivery</a:t>
            </a:r>
            <a:endParaRPr sz="2400">
              <a:latin typeface="Calibri"/>
              <a:cs typeface="Calibri"/>
            </a:endParaRPr>
          </a:p>
          <a:p>
            <a:pPr marL="240029" marR="443230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routing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packets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and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switches.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33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3336" y="2179446"/>
            <a:ext cx="1900555" cy="15621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0"/>
              </a:spcBef>
            </a:pPr>
            <a:r>
              <a:rPr sz="3600" spc="-10" dirty="0">
                <a:solidFill>
                  <a:srgbClr val="FFFFFF"/>
                </a:solidFill>
              </a:rPr>
              <a:t>Links Between </a:t>
            </a:r>
            <a:r>
              <a:rPr sz="3600" spc="-20" dirty="0">
                <a:solidFill>
                  <a:srgbClr val="FFFFFF"/>
                </a:solidFill>
              </a:rPr>
              <a:t>Two</a:t>
            </a:r>
            <a:r>
              <a:rPr sz="3600" spc="-165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Hosts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429768" y="438912"/>
            <a:ext cx="8252459" cy="5849620"/>
            <a:chOff x="429768" y="438912"/>
            <a:chExt cx="8252459" cy="5849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438912"/>
              <a:ext cx="8252459" cy="5849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3776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8129016" y="0"/>
                  </a:moveTo>
                  <a:lnTo>
                    <a:pt x="0" y="0"/>
                  </a:lnTo>
                  <a:lnTo>
                    <a:pt x="0" y="5724144"/>
                  </a:lnTo>
                  <a:lnTo>
                    <a:pt x="8129016" y="5724144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776" y="484632"/>
              <a:ext cx="8129270" cy="5724525"/>
            </a:xfrm>
            <a:custGeom>
              <a:avLst/>
              <a:gdLst/>
              <a:ahLst/>
              <a:cxnLst/>
              <a:rect l="l" t="t" r="r" b="b"/>
              <a:pathLst>
                <a:path w="8129270" h="5724525">
                  <a:moveTo>
                    <a:pt x="0" y="5724144"/>
                  </a:moveTo>
                  <a:lnTo>
                    <a:pt x="8129016" y="5724144"/>
                  </a:lnTo>
                  <a:lnTo>
                    <a:pt x="8129016" y="0"/>
                  </a:lnTo>
                  <a:lnTo>
                    <a:pt x="0" y="0"/>
                  </a:lnTo>
                  <a:lnTo>
                    <a:pt x="0" y="5724144"/>
                  </a:lnTo>
                  <a:close/>
                </a:path>
              </a:pathLst>
            </a:custGeom>
            <a:ln w="9525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884" y="941857"/>
              <a:ext cx="7162800" cy="48096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11101070" cy="1801495"/>
          </a:xfrm>
          <a:custGeom>
            <a:avLst/>
            <a:gdLst/>
            <a:ahLst/>
            <a:cxnLst/>
            <a:rect l="l" t="t" r="r" b="b"/>
            <a:pathLst>
              <a:path w="11101070" h="1801495">
                <a:moveTo>
                  <a:pt x="11100816" y="0"/>
                </a:moveTo>
                <a:lnTo>
                  <a:pt x="0" y="0"/>
                </a:lnTo>
                <a:lnTo>
                  <a:pt x="0" y="1801367"/>
                </a:lnTo>
                <a:lnTo>
                  <a:pt x="11100816" y="1801367"/>
                </a:lnTo>
                <a:lnTo>
                  <a:pt x="11100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0204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Network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Layer</a:t>
            </a:r>
            <a:r>
              <a:rPr spc="-1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Internetwork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986" y="2632360"/>
            <a:ext cx="6226117" cy="36404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664663"/>
            <a:ext cx="1955164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Network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Layer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6660" y="404876"/>
            <a:ext cx="938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2100" algn="l"/>
              </a:tabLst>
            </a:pPr>
            <a:r>
              <a:rPr sz="1800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6660" y="680089"/>
            <a:ext cx="6176645" cy="21424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upper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header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contains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destination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addresses.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Checking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(eg.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Outgoing interface,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hop)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MTU,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Note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L4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segmentation/reassembly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6660" y="3171317"/>
            <a:ext cx="6609715" cy="101981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880"/>
              </a:spcBef>
              <a:buFont typeface="Wingdings"/>
              <a:buChar char=""/>
              <a:tabLst>
                <a:tab pos="292100" algn="l"/>
              </a:tabLst>
            </a:pPr>
            <a:r>
              <a:rPr sz="1800" spc="-10" dirty="0">
                <a:latin typeface="Calibri"/>
                <a:cs typeface="Calibri"/>
              </a:rPr>
              <a:t>Router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Routing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consulting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incoming packet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i/f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6660" y="4539619"/>
            <a:ext cx="6547484" cy="13938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885"/>
              </a:spcBef>
              <a:buFont typeface="Wingdings"/>
              <a:buChar char=""/>
              <a:tabLst>
                <a:tab pos="292735" algn="l"/>
              </a:tabLst>
            </a:pPr>
            <a:r>
              <a:rPr sz="1800" spc="-10" dirty="0">
                <a:latin typeface="Calibri"/>
                <a:cs typeface="Calibri"/>
              </a:rPr>
              <a:t>Destination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verification.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frames,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fragmentations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reassemble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delivering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upper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Network</a:t>
            </a:r>
            <a:r>
              <a:rPr sz="4000" spc="-95" dirty="0"/>
              <a:t> </a:t>
            </a:r>
            <a:r>
              <a:rPr sz="4000" dirty="0"/>
              <a:t>layer</a:t>
            </a:r>
            <a:r>
              <a:rPr sz="4000" spc="-90" dirty="0"/>
              <a:t> </a:t>
            </a:r>
            <a:r>
              <a:rPr sz="4000" dirty="0"/>
              <a:t>at</a:t>
            </a:r>
            <a:r>
              <a:rPr sz="4000" spc="-85" dirty="0"/>
              <a:t> </a:t>
            </a:r>
            <a:r>
              <a:rPr sz="4000" dirty="0"/>
              <a:t>the</a:t>
            </a:r>
            <a:r>
              <a:rPr sz="4000" spc="-95" dirty="0"/>
              <a:t> </a:t>
            </a:r>
            <a:r>
              <a:rPr sz="4000" dirty="0"/>
              <a:t>Source,</a:t>
            </a:r>
            <a:r>
              <a:rPr sz="4000" spc="-90" dirty="0"/>
              <a:t> </a:t>
            </a:r>
            <a:r>
              <a:rPr sz="4000" spc="-55" dirty="0"/>
              <a:t>Router,</a:t>
            </a:r>
            <a:r>
              <a:rPr sz="4000" spc="-85" dirty="0"/>
              <a:t> </a:t>
            </a:r>
            <a:r>
              <a:rPr sz="4000" spc="-25" dirty="0"/>
              <a:t>and </a:t>
            </a:r>
            <a:r>
              <a:rPr sz="4000" spc="-10" dirty="0"/>
              <a:t>Destination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90800"/>
            <a:ext cx="5899404" cy="30240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2943" y="2273807"/>
            <a:ext cx="4084320" cy="3665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2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IPv4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755" y="2098548"/>
            <a:ext cx="8476488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42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170" dirty="0"/>
              <a:t> </a:t>
            </a:r>
            <a:r>
              <a:rPr spc="-65" dirty="0"/>
              <a:t>Datagram</a:t>
            </a:r>
            <a:r>
              <a:rPr spc="-180" dirty="0"/>
              <a:t> </a:t>
            </a:r>
            <a:r>
              <a:rPr spc="-20" dirty="0"/>
              <a:t>Format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707" y="1838805"/>
            <a:ext cx="7415783" cy="4614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225" dirty="0"/>
              <a:t> </a:t>
            </a:r>
            <a:r>
              <a:rPr spc="-45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6740"/>
            <a:ext cx="7617459" cy="18332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20" dirty="0">
                <a:latin typeface="Calibri"/>
                <a:cs typeface="Calibri"/>
              </a:rPr>
              <a:t>Version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(4-</a:t>
            </a:r>
            <a:r>
              <a:rPr sz="2200" b="1" dirty="0">
                <a:latin typeface="Calibri"/>
                <a:cs typeface="Calibri"/>
              </a:rPr>
              <a:t>bit):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currently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4.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alibri"/>
                <a:cs typeface="Calibri"/>
              </a:rPr>
              <a:t>Header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length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(4-</a:t>
            </a:r>
            <a:r>
              <a:rPr sz="2200" b="1" dirty="0">
                <a:latin typeface="Calibri"/>
                <a:cs typeface="Calibri"/>
              </a:rPr>
              <a:t>bit):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length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IP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header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4-byte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unit.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alibri"/>
                <a:cs typeface="Calibri"/>
              </a:rPr>
              <a:t>Type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Services(TOS):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field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earlier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lack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standard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200" dirty="0">
                <a:latin typeface="Calibri"/>
                <a:cs typeface="Calibri"/>
              </a:rPr>
              <a:t>DiffServ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field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differentiate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packet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types.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912795"/>
            <a:ext cx="8268970" cy="11093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35" dirty="0">
                <a:latin typeface="Calibri"/>
                <a:cs typeface="Calibri"/>
              </a:rPr>
              <a:t>Total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length: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95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length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datagram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header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spc="-10" dirty="0">
                <a:latin typeface="Calibri"/>
                <a:cs typeface="Calibri"/>
              </a:rPr>
              <a:t>16-</a:t>
            </a:r>
            <a:r>
              <a:rPr sz="2200" dirty="0">
                <a:latin typeface="Calibri"/>
                <a:cs typeface="Calibri"/>
              </a:rPr>
              <a:t>bit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number,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maximum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IP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216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bytes,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64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Kbytes.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3707891"/>
            <a:ext cx="6626352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70" dirty="0"/>
              <a:t> </a:t>
            </a:r>
            <a:r>
              <a:rPr dirty="0"/>
              <a:t>Format:</a:t>
            </a:r>
            <a:r>
              <a:rPr spc="-90" dirty="0"/>
              <a:t> </a:t>
            </a:r>
            <a:r>
              <a:rPr dirty="0"/>
              <a:t>Fields</a:t>
            </a:r>
            <a:r>
              <a:rPr spc="-65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1373"/>
            <a:ext cx="8611235" cy="44919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Calibri"/>
                <a:cs typeface="Calibri"/>
              </a:rPr>
              <a:t>Identification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Calibri"/>
              <a:cs typeface="Calibri"/>
            </a:endParaRPr>
          </a:p>
          <a:p>
            <a:pPr marL="12700" marR="7158355" indent="228600">
              <a:lnSpc>
                <a:spcPct val="1161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Flags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(3-bits) </a:t>
            </a:r>
            <a:r>
              <a:rPr sz="1800" b="1" dirty="0">
                <a:latin typeface="Calibri"/>
                <a:cs typeface="Calibri"/>
              </a:rPr>
              <a:t>Unused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bit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b="1" dirty="0">
                <a:latin typeface="Calibri"/>
                <a:cs typeface="Calibri"/>
              </a:rPr>
              <a:t>DF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(Don’t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Fragment)</a:t>
            </a:r>
            <a:endParaRPr sz="1800">
              <a:latin typeface="Calibri"/>
              <a:cs typeface="Calibri"/>
            </a:endParaRPr>
          </a:p>
          <a:p>
            <a:pPr marL="64135" marR="5080" indent="-52069">
              <a:lnSpc>
                <a:spcPct val="116100"/>
              </a:lnSpc>
              <a:spcBef>
                <a:spcPts val="1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length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greater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MTU,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discard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00" b="1" dirty="0">
                <a:latin typeface="Calibri"/>
                <a:cs typeface="Calibri"/>
              </a:rPr>
              <a:t>MF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(More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Fragment)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destination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whether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10" dirty="0">
                <a:latin typeface="Calibri"/>
                <a:cs typeface="Calibri"/>
              </a:rPr>
              <a:t> fragments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1800" b="1" spc="-10" dirty="0">
                <a:latin typeface="Calibri"/>
                <a:cs typeface="Calibri"/>
              </a:rPr>
              <a:t>Offset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Calibri"/>
                <a:cs typeface="Calibri"/>
              </a:rPr>
              <a:t>Unit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8-</a:t>
            </a:r>
            <a:r>
              <a:rPr sz="1800" dirty="0">
                <a:latin typeface="Calibri"/>
                <a:cs typeface="Calibri"/>
              </a:rPr>
              <a:t>byte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(why?)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beginning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50365"/>
            <a:ext cx="26676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IPv4</a:t>
            </a:r>
            <a:r>
              <a:rPr spc="-220" dirty="0"/>
              <a:t> </a:t>
            </a:r>
            <a:r>
              <a:rPr spc="-40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821" y="2337943"/>
            <a:ext cx="6407785" cy="411099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alibri"/>
                <a:cs typeface="Calibri"/>
              </a:rPr>
              <a:t>Time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to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Live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20" dirty="0">
                <a:latin typeface="Calibri"/>
                <a:cs typeface="Calibri"/>
              </a:rPr>
              <a:t>(TTL)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packet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limited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lifetime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network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avoid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zombie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packets.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  <a:spcBef>
                <a:spcPts val="1010"/>
              </a:spcBef>
            </a:pPr>
            <a:r>
              <a:rPr sz="1500" spc="-10" dirty="0">
                <a:latin typeface="Calibri"/>
                <a:cs typeface="Calibri"/>
              </a:rPr>
              <a:t>Designed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hold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timestamp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decreased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router.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packet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discarded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router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TTL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zero.</a:t>
            </a:r>
            <a:endParaRPr sz="1500">
              <a:latin typeface="Calibri"/>
              <a:cs typeface="Calibri"/>
            </a:endParaRPr>
          </a:p>
          <a:p>
            <a:pPr marL="12700" marR="488950">
              <a:lnSpc>
                <a:spcPct val="80000"/>
              </a:lnSpc>
              <a:spcBef>
                <a:spcPts val="994"/>
              </a:spcBef>
            </a:pPr>
            <a:r>
              <a:rPr sz="1500" spc="-10" dirty="0">
                <a:latin typeface="Calibri"/>
                <a:cs typeface="Calibri"/>
              </a:rPr>
              <a:t>Revised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hold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maximum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hops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packet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travel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thru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network.</a:t>
            </a:r>
            <a:r>
              <a:rPr sz="1500" spc="2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router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decrements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one.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500" b="1" spc="-10" dirty="0">
                <a:latin typeface="Calibri"/>
                <a:cs typeface="Calibri"/>
              </a:rPr>
              <a:t>Protocol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500" spc="-75" dirty="0">
                <a:latin typeface="Calibri"/>
                <a:cs typeface="Calibri"/>
              </a:rPr>
              <a:t>To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define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payload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protocol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type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latin typeface="Calibri"/>
                <a:cs typeface="Calibri"/>
              </a:rPr>
              <a:t>1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ICMP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500" dirty="0">
                <a:latin typeface="Calibri"/>
                <a:cs typeface="Calibri"/>
              </a:rPr>
              <a:t>2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IGMP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500" dirty="0">
                <a:latin typeface="Calibri"/>
                <a:cs typeface="Calibri"/>
              </a:rPr>
              <a:t>6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TCP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latin typeface="Calibri"/>
                <a:cs typeface="Calibri"/>
              </a:rPr>
              <a:t>17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UDP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500" dirty="0">
                <a:latin typeface="Calibri"/>
                <a:cs typeface="Calibri"/>
              </a:rPr>
              <a:t>89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OSPF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36007" cy="68578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08C5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827405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85" dirty="0"/>
              <a:t> </a:t>
            </a:r>
            <a:r>
              <a:rPr spc="-10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32279" y="2074900"/>
            <a:ext cx="9188450" cy="42449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Header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Checksum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dirty="0">
                <a:latin typeface="Calibri"/>
                <a:cs typeface="Calibri"/>
              </a:rPr>
              <a:t>An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IP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header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slightly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modified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router.</a:t>
            </a:r>
            <a:r>
              <a:rPr sz="1700" spc="2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least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TTL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field.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835"/>
              </a:lnSpc>
              <a:spcBef>
                <a:spcPts val="600"/>
              </a:spcBef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checksum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re-</a:t>
            </a:r>
            <a:r>
              <a:rPr sz="1700" dirty="0">
                <a:latin typeface="Calibri"/>
                <a:cs typeface="Calibri"/>
              </a:rPr>
              <a:t>calculated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routers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kind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computers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more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one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835"/>
              </a:lnSpc>
            </a:pPr>
            <a:r>
              <a:rPr sz="1700" dirty="0">
                <a:latin typeface="Calibri"/>
                <a:cs typeface="Calibri"/>
              </a:rPr>
              <a:t>network</a:t>
            </a:r>
            <a:r>
              <a:rPr sz="1700" spc="-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interface.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checksum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efficiently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calculated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need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special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hardware.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Source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IP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address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and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Destination</a:t>
            </a:r>
            <a:r>
              <a:rPr sz="1700" b="1" spc="-6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IP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address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 MT"/>
              <a:buChar char="•"/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spc="-10" dirty="0">
                <a:latin typeface="Calibri"/>
                <a:cs typeface="Calibri"/>
              </a:rPr>
              <a:t>Options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Calibri"/>
                <a:cs typeface="Calibri"/>
              </a:rPr>
              <a:t>For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new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protocols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700" b="1" spc="-10" dirty="0">
                <a:latin typeface="Calibri"/>
                <a:cs typeface="Calibri"/>
              </a:rPr>
              <a:t>Padding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spc="-8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make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header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multiple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32-bit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words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814006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IPv4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shown: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b="1" spc="-10" dirty="0">
                <a:solidFill>
                  <a:srgbClr val="538235"/>
                </a:solidFill>
                <a:latin typeface="Calibri"/>
                <a:cs typeface="Calibri"/>
              </a:rPr>
              <a:t>01000010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discards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packet.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Why?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24770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leftmost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(0100)</a:t>
            </a:r>
            <a:r>
              <a:rPr sz="2800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show</a:t>
            </a:r>
            <a:r>
              <a:rPr sz="2800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538235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version,</a:t>
            </a:r>
            <a:r>
              <a:rPr sz="2800" spc="-6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which</a:t>
            </a:r>
            <a:r>
              <a:rPr sz="2800" spc="-6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is</a:t>
            </a:r>
            <a:r>
              <a:rPr sz="2800" spc="-8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correct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(0010)</a:t>
            </a:r>
            <a:r>
              <a:rPr sz="2800" spc="-4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show</a:t>
            </a:r>
            <a:r>
              <a:rPr sz="2800" spc="-6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an</a:t>
            </a:r>
            <a:r>
              <a:rPr sz="2800" spc="-7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invalid</a:t>
            </a:r>
            <a:r>
              <a:rPr sz="2800" spc="-7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38235"/>
                </a:solidFill>
                <a:latin typeface="Calibri"/>
                <a:cs typeface="Calibri"/>
              </a:rPr>
              <a:t>header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length</a:t>
            </a:r>
            <a:r>
              <a:rPr sz="2800" spc="-2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(2</a:t>
            </a:r>
            <a:r>
              <a:rPr sz="2800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×</a:t>
            </a:r>
            <a:r>
              <a:rPr sz="28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4</a:t>
            </a:r>
            <a:r>
              <a:rPr sz="28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=</a:t>
            </a:r>
            <a:r>
              <a:rPr sz="2800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8).</a:t>
            </a:r>
            <a:r>
              <a:rPr sz="2800" spc="-1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minimum number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header</a:t>
            </a:r>
            <a:r>
              <a:rPr sz="2800" spc="-3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38235"/>
                </a:solidFill>
                <a:latin typeface="Calibri"/>
                <a:cs typeface="Calibri"/>
              </a:rPr>
              <a:t>must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be</a:t>
            </a:r>
            <a:r>
              <a:rPr sz="2800" spc="-6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38235"/>
                </a:solidFill>
                <a:latin typeface="Calibri"/>
                <a:cs typeface="Calibri"/>
              </a:rPr>
              <a:t>20.</a:t>
            </a:r>
            <a:r>
              <a:rPr sz="2800" spc="-4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corrupted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93189"/>
            <a:ext cx="1376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305938"/>
            <a:ext cx="1019365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IPv4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HLEN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1000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binary.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carried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153650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HLEN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header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×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32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header,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302875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IPv4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HLEN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total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0x0028.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carried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spc="-10" dirty="0">
                <a:latin typeface="Calibri"/>
                <a:cs typeface="Calibri"/>
              </a:rPr>
              <a:t>packet?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9893300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HLEN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header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×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(no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options).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bytes,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carrying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(40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−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20).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183495" cy="2840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69469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IPv4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hexadecimal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shown.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800" spc="-10" dirty="0">
                <a:solidFill>
                  <a:srgbClr val="385622"/>
                </a:solidFill>
                <a:latin typeface="Calibri"/>
                <a:cs typeface="Calibri"/>
              </a:rPr>
              <a:t>0x45000028000100000102</a:t>
            </a:r>
            <a:r>
              <a:rPr sz="2800" spc="3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5622"/>
                </a:solidFill>
                <a:latin typeface="Calibri"/>
                <a:cs typeface="Calibri"/>
              </a:rPr>
              <a:t>.</a:t>
            </a:r>
            <a:r>
              <a:rPr sz="2800" spc="-2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5622"/>
                </a:solidFill>
                <a:latin typeface="Calibri"/>
                <a:cs typeface="Calibri"/>
              </a:rPr>
              <a:t>.</a:t>
            </a:r>
            <a:r>
              <a:rPr sz="2800" spc="-1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85622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45"/>
              </a:spcBef>
            </a:pPr>
            <a:r>
              <a:rPr sz="2800" dirty="0">
                <a:latin typeface="Calibri"/>
                <a:cs typeface="Calibri"/>
              </a:rPr>
              <a:t>How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hops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travel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dropped?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dirty="0">
                <a:latin typeface="Calibri"/>
                <a:cs typeface="Calibri"/>
              </a:rPr>
              <a:t>belong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upper-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037445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time-</a:t>
            </a:r>
            <a:r>
              <a:rPr sz="2800" spc="-3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live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skip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time-</a:t>
            </a:r>
            <a:r>
              <a:rPr sz="2800" spc="-3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live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ninth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01.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travel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</a:t>
            </a:r>
            <a:r>
              <a:rPr sz="2800" dirty="0">
                <a:latin typeface="Calibri"/>
                <a:cs typeface="Calibri"/>
              </a:rPr>
              <a:t>hop.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protocol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(02),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upper-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IGMP.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40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IPv4:</a:t>
            </a:r>
            <a:r>
              <a:rPr spc="-60" dirty="0"/>
              <a:t> </a:t>
            </a:r>
            <a:r>
              <a:rPr spc="-1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333"/>
            <a:ext cx="9789160" cy="320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ts val="2740"/>
              </a:lnSpc>
              <a:spcBef>
                <a:spcPts val="100"/>
              </a:spcBef>
              <a:buFont typeface="Wingdings"/>
              <a:buChar char="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packet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using</a:t>
            </a:r>
            <a:endParaRPr sz="2400">
              <a:latin typeface="Calibri"/>
              <a:cs typeface="Calibri"/>
            </a:endParaRPr>
          </a:p>
          <a:p>
            <a:pPr marL="378460">
              <a:lnSpc>
                <a:spcPts val="2740"/>
              </a:lnSpc>
            </a:pP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layers).</a:t>
            </a:r>
            <a:endParaRPr sz="2400">
              <a:latin typeface="Calibri"/>
              <a:cs typeface="Calibri"/>
            </a:endParaRPr>
          </a:p>
          <a:p>
            <a:pPr marL="351155" marR="1766570" indent="-339090">
              <a:lnSpc>
                <a:spcPts val="2590"/>
              </a:lnSpc>
              <a:spcBef>
                <a:spcPts val="1050"/>
              </a:spcBef>
              <a:buFont typeface="Wingdings"/>
              <a:buChar char=""/>
              <a:tabLst>
                <a:tab pos="37846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source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 	</a:t>
            </a:r>
            <a:r>
              <a:rPr sz="2400" spc="-10" dirty="0">
                <a:latin typeface="Calibri"/>
                <a:cs typeface="Calibri"/>
              </a:rPr>
              <a:t>packets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25" dirty="0">
                <a:latin typeface="Calibri"/>
                <a:cs typeface="Calibri"/>
              </a:rPr>
              <a:t>MTU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limitation.</a:t>
            </a:r>
            <a:endParaRPr sz="2400">
              <a:latin typeface="Calibri"/>
              <a:cs typeface="Calibri"/>
            </a:endParaRPr>
          </a:p>
          <a:p>
            <a:pPr marL="240029" marR="5080" indent="-227965">
              <a:lnSpc>
                <a:spcPts val="2590"/>
              </a:lnSpc>
              <a:spcBef>
                <a:spcPts val="1050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software,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hardware,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standards.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5145023"/>
            <a:ext cx="5504688" cy="13106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4040124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8936" y="2721610"/>
            <a:ext cx="2565400" cy="1009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875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</a:rPr>
              <a:t>IPv4:</a:t>
            </a:r>
            <a:endParaRPr sz="3400"/>
          </a:p>
          <a:p>
            <a:pPr marL="12700">
              <a:lnSpc>
                <a:spcPts val="3875"/>
              </a:lnSpc>
            </a:pPr>
            <a:r>
              <a:rPr sz="3400" spc="-10" dirty="0">
                <a:solidFill>
                  <a:srgbClr val="FFFFFF"/>
                </a:solidFill>
              </a:rPr>
              <a:t>Fragmentation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738936" y="1647189"/>
            <a:ext cx="213423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MTUs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known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networks.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5913" y="884212"/>
            <a:ext cx="6370297" cy="50788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50365"/>
            <a:ext cx="4537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IPv4:</a:t>
            </a:r>
            <a:r>
              <a:rPr spc="-85" dirty="0"/>
              <a:t> </a:t>
            </a:r>
            <a:r>
              <a:rPr spc="-1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4821" y="2435479"/>
            <a:ext cx="6348730" cy="33528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215265" indent="-228600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source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usually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fragment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packet.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Instead,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L4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 </a:t>
            </a:r>
            <a:r>
              <a:rPr sz="1600" dirty="0">
                <a:latin typeface="Calibri"/>
                <a:cs typeface="Calibri"/>
              </a:rPr>
              <a:t>segment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L2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source.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5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241300" marR="426084" indent="-228600">
              <a:lnSpc>
                <a:spcPts val="1730"/>
              </a:lnSpc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But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possibility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thru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MTU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smaller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source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node.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Then,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fragmented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forward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next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hop.</a:t>
            </a:r>
            <a:endParaRPr sz="1600">
              <a:latin typeface="Calibri"/>
              <a:cs typeface="Calibri"/>
            </a:endParaRPr>
          </a:p>
          <a:p>
            <a:pPr marL="241300" marR="439420" indent="-228600">
              <a:lnSpc>
                <a:spcPts val="1730"/>
              </a:lnSpc>
              <a:spcBef>
                <a:spcPts val="1035"/>
              </a:spcBef>
              <a:buFont typeface="Wingdings"/>
              <a:buChar char=""/>
              <a:tabLst>
                <a:tab pos="241300" algn="l"/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	Each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fragment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own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repeated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original packet.</a:t>
            </a:r>
            <a:endParaRPr sz="1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775"/>
              </a:spcBef>
              <a:buFont typeface="Wingdings"/>
              <a:buChar char=""/>
              <a:tabLst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fragmented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packet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further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fragmented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packet.</a:t>
            </a:r>
            <a:endParaRPr sz="1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805"/>
              </a:spcBef>
              <a:buFont typeface="Wingdings"/>
              <a:buChar char=""/>
              <a:tabLst>
                <a:tab pos="286385" algn="l"/>
              </a:tabLst>
            </a:pPr>
            <a:r>
              <a:rPr sz="1600" spc="-10" dirty="0">
                <a:latin typeface="Calibri"/>
                <a:cs typeface="Calibri"/>
              </a:rPr>
              <a:t>Fragmented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packets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re-</a:t>
            </a:r>
            <a:r>
              <a:rPr sz="1600" dirty="0">
                <a:latin typeface="Calibri"/>
                <a:cs typeface="Calibri"/>
              </a:rPr>
              <a:t>assembled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destination.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Why?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36007" cy="68578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C191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804" y="1574291"/>
            <a:ext cx="3499485" cy="3333115"/>
          </a:xfrm>
          <a:custGeom>
            <a:avLst/>
            <a:gdLst/>
            <a:ahLst/>
            <a:cxnLst/>
            <a:rect l="l" t="t" r="r" b="b"/>
            <a:pathLst>
              <a:path w="3499485" h="3333115">
                <a:moveTo>
                  <a:pt x="2972943" y="0"/>
                </a:moveTo>
                <a:lnTo>
                  <a:pt x="0" y="0"/>
                </a:lnTo>
                <a:lnTo>
                  <a:pt x="0" y="3332988"/>
                </a:lnTo>
                <a:lnTo>
                  <a:pt x="2972943" y="3332988"/>
                </a:lnTo>
                <a:lnTo>
                  <a:pt x="3499104" y="1666494"/>
                </a:lnTo>
                <a:lnTo>
                  <a:pt x="2972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3886" y="2731719"/>
            <a:ext cx="2337435" cy="9232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692150" marR="5080" indent="-680085">
              <a:lnSpc>
                <a:spcPts val="3350"/>
              </a:lnSpc>
              <a:spcBef>
                <a:spcPts val="515"/>
              </a:spcBef>
            </a:pPr>
            <a:r>
              <a:rPr sz="3100" spc="-25" dirty="0">
                <a:solidFill>
                  <a:srgbClr val="FFFFFF"/>
                </a:solidFill>
              </a:rPr>
              <a:t>Fragmentation </a:t>
            </a:r>
            <a:r>
              <a:rPr sz="3100" spc="-10" dirty="0">
                <a:solidFill>
                  <a:srgbClr val="FFFFFF"/>
                </a:solidFill>
              </a:rPr>
              <a:t>Offset</a:t>
            </a:r>
            <a:endParaRPr sz="31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255" y="1967483"/>
            <a:ext cx="7586716" cy="28907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Multilevel</a:t>
            </a:r>
            <a:r>
              <a:rPr spc="-140" dirty="0"/>
              <a:t> </a:t>
            </a:r>
            <a:r>
              <a:rPr spc="-10" dirty="0"/>
              <a:t>Fragmentation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655" y="1825751"/>
            <a:ext cx="7755635" cy="46609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52710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fragment?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was </a:t>
            </a:r>
            <a:r>
              <a:rPr sz="2800" spc="-10" dirty="0">
                <a:latin typeface="Calibri"/>
                <a:cs typeface="Calibri"/>
              </a:rPr>
              <a:t>fragmented?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85095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fragments;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fragment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However,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fragmented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non-</a:t>
            </a:r>
            <a:r>
              <a:rPr sz="2800" dirty="0">
                <a:latin typeface="Calibri"/>
                <a:cs typeface="Calibri"/>
              </a:rPr>
              <a:t>fragmented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last </a:t>
            </a:r>
            <a:r>
              <a:rPr sz="2800" spc="-10" dirty="0">
                <a:latin typeface="Calibri"/>
                <a:cs typeface="Calibri"/>
              </a:rPr>
              <a:t>fragment.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52710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fragment?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was </a:t>
            </a:r>
            <a:r>
              <a:rPr sz="2800" spc="-10" dirty="0">
                <a:latin typeface="Calibri"/>
                <a:cs typeface="Calibri"/>
              </a:rPr>
              <a:t>fragmented?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41915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spc="-10" dirty="0">
                <a:latin typeface="Calibri"/>
                <a:cs typeface="Calibri"/>
              </a:rPr>
              <a:t>fragment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 </a:t>
            </a:r>
            <a:r>
              <a:rPr sz="2800" dirty="0">
                <a:latin typeface="Calibri"/>
                <a:cs typeface="Calibri"/>
              </a:rPr>
              <a:t>don’t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one;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fragmentation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offset).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9462135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fragmentation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93189"/>
            <a:ext cx="1351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305938"/>
            <a:ext cx="986599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one.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fragment.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93189"/>
            <a:ext cx="1376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305938"/>
            <a:ext cx="970407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byte?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77475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spc="-114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8.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800.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determine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unless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length.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215245" cy="18192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packet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arrived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HLEN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100.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numbers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064750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×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800.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(5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×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80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datagram.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800,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byte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879.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359390" cy="33559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spcBef>
                <a:spcPts val="1015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1440-</a:t>
            </a:r>
            <a:r>
              <a:rPr sz="2800" dirty="0">
                <a:latin typeface="Calibri"/>
                <a:cs typeface="Calibri"/>
              </a:rPr>
              <a:t>byte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routed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interface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dirty="0">
                <a:latin typeface="Calibri"/>
                <a:cs typeface="Calibri"/>
              </a:rPr>
              <a:t>MTU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576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(the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hosts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prepared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accept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comply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RFC).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We’ll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smallest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possible </a:t>
            </a:r>
            <a:r>
              <a:rPr sz="2800" dirty="0">
                <a:latin typeface="Calibri"/>
                <a:cs typeface="Calibri"/>
              </a:rPr>
              <a:t>IP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header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packet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1420 </a:t>
            </a:r>
            <a:r>
              <a:rPr sz="2800" dirty="0">
                <a:latin typeface="Calibri"/>
                <a:cs typeface="Calibri"/>
              </a:rPr>
              <a:t>bytes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data.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Evaluate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fragments,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MF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</a:t>
            </a:r>
            <a:r>
              <a:rPr sz="2800" dirty="0">
                <a:latin typeface="Calibri"/>
                <a:cs typeface="Calibri"/>
              </a:rPr>
              <a:t>fragment,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fragment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offset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fragment.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93189"/>
            <a:ext cx="1351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12948" y="3220973"/>
          <a:ext cx="5801995" cy="1599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5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Fragment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Identificati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Flags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Fragment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Offset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Length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One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XXX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Two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XXX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Three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XXX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138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06841"/>
            <a:ext cx="10360660" cy="22034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An</a:t>
            </a:r>
            <a:r>
              <a:rPr sz="2800" spc="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IP</a:t>
            </a:r>
            <a:r>
              <a:rPr sz="2800" spc="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router</a:t>
            </a:r>
            <a:r>
              <a:rPr sz="2800" spc="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2800" spc="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a</a:t>
            </a:r>
            <a:r>
              <a:rPr sz="2800" spc="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Maximum</a:t>
            </a:r>
            <a:r>
              <a:rPr sz="2800" spc="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Calibri"/>
                <a:cs typeface="Calibri"/>
              </a:rPr>
              <a:t>Transmission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Unit</a:t>
            </a:r>
            <a:r>
              <a:rPr sz="2800" spc="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(MTU)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800" spc="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1500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Calibri"/>
                <a:cs typeface="Calibri"/>
              </a:rPr>
              <a:t>bytes 	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has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received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an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IP</a:t>
            </a:r>
            <a:r>
              <a:rPr sz="2800" spc="4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packet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size</a:t>
            </a:r>
            <a:r>
              <a:rPr sz="2800" spc="4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4404</a:t>
            </a:r>
            <a:r>
              <a:rPr sz="2800" spc="4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bytes</a:t>
            </a:r>
            <a:r>
              <a:rPr sz="2800" spc="459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an</a:t>
            </a:r>
            <a:r>
              <a:rPr sz="2800" spc="459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IP</a:t>
            </a:r>
            <a:r>
              <a:rPr sz="2800" spc="459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header</a:t>
            </a:r>
            <a:r>
              <a:rPr sz="2800" spc="4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73139"/>
                </a:solidFill>
                <a:latin typeface="Calibri"/>
                <a:cs typeface="Calibri"/>
              </a:rPr>
              <a:t>of 	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length</a:t>
            </a:r>
            <a:r>
              <a:rPr sz="2800" spc="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20</a:t>
            </a:r>
            <a:r>
              <a:rPr sz="2800" spc="8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bytes.</a:t>
            </a:r>
            <a:r>
              <a:rPr sz="2800" spc="8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800" spc="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values</a:t>
            </a:r>
            <a:r>
              <a:rPr sz="2800" spc="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800" spc="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800" spc="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relevant</a:t>
            </a:r>
            <a:r>
              <a:rPr sz="2800" spc="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fields</a:t>
            </a:r>
            <a:r>
              <a:rPr sz="2800" spc="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in</a:t>
            </a:r>
            <a:r>
              <a:rPr sz="2800" spc="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header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800" spc="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73139"/>
                </a:solidFill>
                <a:latin typeface="Calibri"/>
                <a:cs typeface="Calibri"/>
              </a:rPr>
              <a:t>the 	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third</a:t>
            </a:r>
            <a:r>
              <a:rPr sz="2800" spc="-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IP</a:t>
            </a:r>
            <a:r>
              <a:rPr sz="2800" spc="-8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Calibri"/>
                <a:cs typeface="Calibri"/>
              </a:rPr>
              <a:t>fragment</a:t>
            </a:r>
            <a:r>
              <a:rPr sz="2800" spc="-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Calibri"/>
                <a:cs typeface="Calibri"/>
              </a:rPr>
              <a:t>generated</a:t>
            </a:r>
            <a:r>
              <a:rPr sz="2800" spc="-9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by</a:t>
            </a:r>
            <a:r>
              <a:rPr sz="2800" spc="-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800" spc="-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router</a:t>
            </a:r>
            <a:r>
              <a:rPr sz="2800" spc="-7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for</a:t>
            </a:r>
            <a:r>
              <a:rPr sz="2800" spc="-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this</a:t>
            </a:r>
            <a:r>
              <a:rPr sz="2800" spc="-8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73139"/>
                </a:solidFill>
                <a:latin typeface="Calibri"/>
                <a:cs typeface="Calibri"/>
              </a:rPr>
              <a:t>packet</a:t>
            </a:r>
            <a:r>
              <a:rPr sz="2800" spc="-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73139"/>
                </a:solidFill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4580661"/>
          <a:ext cx="10473690" cy="150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4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76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660"/>
                        </a:lnSpc>
                      </a:pPr>
                      <a:r>
                        <a:rPr sz="2800" b="1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(A)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266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MF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0" algn="r">
                        <a:lnSpc>
                          <a:spcPts val="2660"/>
                        </a:lnSpc>
                      </a:pPr>
                      <a:r>
                        <a:rPr sz="2800" spc="-2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bit: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ts val="266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0,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266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Datagram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266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Length: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66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1444;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266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Offset: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6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370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31750">
                        <a:lnSpc>
                          <a:spcPts val="2770"/>
                        </a:lnSpc>
                      </a:pPr>
                      <a:r>
                        <a:rPr sz="2800" b="1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(B)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MF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2770"/>
                        </a:lnSpc>
                      </a:pPr>
                      <a:r>
                        <a:rPr sz="2800" spc="-2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bit: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Datagram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Length: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1424;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Offset: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185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31750">
                        <a:lnSpc>
                          <a:spcPts val="2770"/>
                        </a:lnSpc>
                      </a:pPr>
                      <a:r>
                        <a:rPr sz="2800" b="1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(C)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MF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2770"/>
                        </a:lnSpc>
                      </a:pPr>
                      <a:r>
                        <a:rPr sz="2800" spc="-2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bit: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4629" algn="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Datagram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Length: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1500;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Offset: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37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770"/>
                        </a:lnSpc>
                      </a:pPr>
                      <a:r>
                        <a:rPr sz="2800" b="1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(D)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MF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2770"/>
                        </a:lnSpc>
                      </a:pPr>
                      <a:r>
                        <a:rPr sz="2800" spc="-2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bit: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4310" algn="r">
                        <a:lnSpc>
                          <a:spcPts val="2770"/>
                        </a:lnSpc>
                      </a:pPr>
                      <a:r>
                        <a:rPr sz="2800" spc="-25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0,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5580" algn="r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Datagram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Length: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1424;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2770"/>
                        </a:lnSpc>
                      </a:pPr>
                      <a:r>
                        <a:rPr sz="2800" spc="-1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Offset: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2770"/>
                        </a:lnSpc>
                      </a:pPr>
                      <a:r>
                        <a:rPr sz="2800" spc="-20" dirty="0">
                          <a:solidFill>
                            <a:srgbClr val="273139"/>
                          </a:solidFill>
                          <a:latin typeface="Calibri"/>
                          <a:cs typeface="Calibri"/>
                        </a:rPr>
                        <a:t>2960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6250"/>
            <a:ext cx="10360025" cy="409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 Light"/>
                <a:cs typeface="Calibri Light"/>
              </a:rPr>
              <a:t>Solution: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Number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packet</a:t>
            </a:r>
            <a:r>
              <a:rPr sz="2400" spc="-8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fragments</a:t>
            </a:r>
            <a:r>
              <a:rPr sz="2400" spc="-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mbria Math"/>
                <a:cs typeface="Cambria Math"/>
              </a:rPr>
              <a:t>⌈</a:t>
            </a:r>
            <a:r>
              <a:rPr sz="2400" spc="-60" dirty="0">
                <a:solidFill>
                  <a:srgbClr val="273139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(total</a:t>
            </a:r>
            <a:r>
              <a:rPr sz="2400" spc="-8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size</a:t>
            </a:r>
            <a:r>
              <a:rPr sz="2400" spc="-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packet)/(MTU)</a:t>
            </a:r>
            <a:r>
              <a:rPr sz="2400" spc="-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273139"/>
                </a:solidFill>
                <a:latin typeface="Cambria Math"/>
                <a:cs typeface="Cambria Math"/>
              </a:rPr>
              <a:t>⌉</a:t>
            </a:r>
            <a:endParaRPr sz="2400">
              <a:latin typeface="Cambria Math"/>
              <a:cs typeface="Cambria Math"/>
            </a:endParaRPr>
          </a:p>
          <a:p>
            <a:pPr marL="185547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mbria Math"/>
                <a:cs typeface="Cambria Math"/>
              </a:rPr>
              <a:t>⌈</a:t>
            </a:r>
            <a:r>
              <a:rPr sz="2400" spc="-5" dirty="0">
                <a:solidFill>
                  <a:srgbClr val="273139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4404/1500</a:t>
            </a:r>
            <a:r>
              <a:rPr sz="24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273139"/>
                </a:solidFill>
                <a:latin typeface="Cambria Math"/>
                <a:cs typeface="Cambria Math"/>
              </a:rPr>
              <a:t>⌉</a:t>
            </a:r>
            <a:endParaRPr sz="2400">
              <a:latin typeface="Cambria Math"/>
              <a:cs typeface="Cambria Math"/>
            </a:endParaRPr>
          </a:p>
          <a:p>
            <a:pPr marL="185547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mbria Math"/>
                <a:cs typeface="Cambria Math"/>
              </a:rPr>
              <a:t>⌈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2.936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273139"/>
                </a:solidFill>
                <a:latin typeface="Cambria Math"/>
                <a:cs typeface="Cambria Math"/>
              </a:rPr>
              <a:t>⌉</a:t>
            </a:r>
            <a:endParaRPr sz="2400">
              <a:latin typeface="Cambria Math"/>
              <a:cs typeface="Cambria Math"/>
            </a:endParaRPr>
          </a:p>
          <a:p>
            <a:pPr marL="185547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27313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So,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datagram</a:t>
            </a:r>
            <a:r>
              <a:rPr sz="2400" spc="-6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with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data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4404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fragmented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into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3</a:t>
            </a:r>
            <a:r>
              <a:rPr sz="2400" spc="-5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fragments.</a:t>
            </a:r>
            <a:endParaRPr sz="240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first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frame</a:t>
            </a:r>
            <a:r>
              <a:rPr sz="2400" spc="1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carries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bytes</a:t>
            </a:r>
            <a:r>
              <a:rPr sz="2400" spc="1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0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to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1479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(because</a:t>
            </a:r>
            <a:r>
              <a:rPr sz="2400" spc="1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MTU</a:t>
            </a:r>
            <a:r>
              <a:rPr sz="2400" spc="12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2400" spc="1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1500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bytes</a:t>
            </a:r>
            <a:r>
              <a:rPr sz="2400" spc="1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and</a:t>
            </a:r>
            <a:r>
              <a:rPr sz="2400" spc="1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HLEN</a:t>
            </a:r>
            <a:r>
              <a:rPr sz="2400" spc="1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is 	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20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 so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 total</a:t>
            </a:r>
            <a:r>
              <a:rPr sz="24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bytes in</a:t>
            </a:r>
            <a:r>
              <a:rPr sz="24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fragments is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maximum</a:t>
            </a:r>
            <a:r>
              <a:rPr sz="2400" spc="-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1500-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20=1480).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offset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for 	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this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datagram</a:t>
            </a:r>
            <a:r>
              <a:rPr sz="2400" spc="-6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0/8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-1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0.</a:t>
            </a:r>
            <a:endParaRPr sz="24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second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fragment</a:t>
            </a:r>
            <a:r>
              <a:rPr sz="2400" spc="20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carries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1480</a:t>
            </a:r>
            <a:r>
              <a:rPr sz="2400" spc="2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to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2959.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offset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for</a:t>
            </a:r>
            <a:r>
              <a:rPr sz="2400" spc="21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this</a:t>
            </a:r>
            <a:r>
              <a:rPr sz="2400" spc="20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datagram</a:t>
            </a:r>
            <a:r>
              <a:rPr sz="2400" spc="204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is 	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1480/8</a:t>
            </a:r>
            <a:r>
              <a:rPr sz="2400" spc="28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=</a:t>
            </a:r>
            <a:r>
              <a:rPr sz="2400" spc="2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185.finally</a:t>
            </a:r>
            <a:r>
              <a:rPr sz="2400" spc="30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29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third</a:t>
            </a:r>
            <a:r>
              <a:rPr sz="2400" spc="28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fragment</a:t>
            </a:r>
            <a:r>
              <a:rPr sz="2400" spc="29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carries</a:t>
            </a:r>
            <a:r>
              <a:rPr sz="2400" spc="2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byte</a:t>
            </a:r>
            <a:r>
              <a:rPr sz="2400" spc="30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2960</a:t>
            </a:r>
            <a:r>
              <a:rPr sz="2400" spc="27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to</a:t>
            </a:r>
            <a:r>
              <a:rPr sz="2400" spc="28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4404.the</a:t>
            </a:r>
            <a:r>
              <a:rPr sz="2400" spc="29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offset</a:t>
            </a:r>
            <a:r>
              <a:rPr sz="2400" spc="29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is 	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370.and</a:t>
            </a:r>
            <a:r>
              <a:rPr sz="2400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for</a:t>
            </a:r>
            <a:r>
              <a:rPr sz="2400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all</a:t>
            </a:r>
            <a:r>
              <a:rPr sz="2400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fragments</a:t>
            </a:r>
            <a:r>
              <a:rPr sz="24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3139"/>
                </a:solidFill>
                <a:latin typeface="Calibri"/>
                <a:cs typeface="Calibri"/>
              </a:rPr>
              <a:t>except</a:t>
            </a:r>
            <a:r>
              <a:rPr sz="2400" spc="-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last</a:t>
            </a:r>
            <a:r>
              <a:rPr sz="24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M</a:t>
            </a:r>
            <a:r>
              <a:rPr sz="24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bit</a:t>
            </a:r>
            <a:r>
              <a:rPr sz="2400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1.so</a:t>
            </a:r>
            <a:r>
              <a:rPr sz="24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third</a:t>
            </a:r>
            <a:r>
              <a:rPr sz="2400" spc="-40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bit</a:t>
            </a:r>
            <a:r>
              <a:rPr sz="2400" spc="-4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M</a:t>
            </a:r>
            <a:r>
              <a:rPr sz="2400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3139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27313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3139"/>
                </a:solidFill>
                <a:latin typeface="Calibri"/>
                <a:cs typeface="Calibri"/>
              </a:rPr>
              <a:t>0..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50" dirty="0"/>
              <a:t> </a:t>
            </a:r>
            <a:r>
              <a:rPr spc="-10" dirty="0"/>
              <a:t>Checksum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213340" cy="29686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775"/>
              </a:spcBef>
              <a:buFont typeface="Wingdings"/>
              <a:buChar char=""/>
              <a:tabLst>
                <a:tab pos="410209" algn="l"/>
              </a:tabLst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header,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payload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header,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payload.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used.</a:t>
            </a:r>
            <a:endParaRPr sz="2800">
              <a:latin typeface="Calibri"/>
              <a:cs typeface="Calibri"/>
            </a:endParaRPr>
          </a:p>
          <a:p>
            <a:pPr marL="410209" indent="-397510">
              <a:lnSpc>
                <a:spcPct val="100000"/>
              </a:lnSpc>
              <a:spcBef>
                <a:spcPts val="665"/>
              </a:spcBef>
              <a:buFont typeface="Wingdings"/>
              <a:buChar char=""/>
              <a:tabLst>
                <a:tab pos="410209" algn="l"/>
              </a:tabLst>
            </a:pPr>
            <a:r>
              <a:rPr sz="2800" spc="-10" dirty="0">
                <a:latin typeface="Calibri"/>
                <a:cs typeface="Calibri"/>
              </a:rPr>
              <a:t>Computationally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efficient.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55"/>
              </a:spcBef>
              <a:buFont typeface="Wingdings"/>
              <a:buChar char=""/>
              <a:tabLst>
                <a:tab pos="241300" algn="l"/>
                <a:tab pos="409575" algn="l"/>
              </a:tabLst>
            </a:pPr>
            <a:r>
              <a:rPr sz="2800" dirty="0">
                <a:latin typeface="Calibri"/>
                <a:cs typeface="Calibri"/>
              </a:rPr>
              <a:t>	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upper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integrity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payload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own </a:t>
            </a:r>
            <a:r>
              <a:rPr sz="2800" spc="-10" dirty="0">
                <a:latin typeface="Calibri"/>
                <a:cs typeface="Calibri"/>
              </a:rPr>
              <a:t>schemes.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IPv4</a:t>
            </a:r>
            <a:r>
              <a:rPr spc="-60" dirty="0"/>
              <a:t> </a:t>
            </a:r>
            <a:r>
              <a:rPr dirty="0"/>
              <a:t>Checksum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679448"/>
            <a:ext cx="4572000" cy="476349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7952"/>
            <a:ext cx="5649595" cy="5422265"/>
            <a:chOff x="0" y="377952"/>
            <a:chExt cx="5649595" cy="5422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3674"/>
              <a:ext cx="5649277" cy="53564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7952"/>
              <a:ext cx="1862455" cy="277495"/>
            </a:xfrm>
            <a:custGeom>
              <a:avLst/>
              <a:gdLst/>
              <a:ahLst/>
              <a:cxnLst/>
              <a:rect l="l" t="t" r="r" b="b"/>
              <a:pathLst>
                <a:path w="1862455" h="277495">
                  <a:moveTo>
                    <a:pt x="1613662" y="0"/>
                  </a:moveTo>
                  <a:lnTo>
                    <a:pt x="1374902" y="238378"/>
                  </a:lnTo>
                  <a:lnTo>
                    <a:pt x="1136040" y="0"/>
                  </a:lnTo>
                  <a:lnTo>
                    <a:pt x="896975" y="238378"/>
                  </a:lnTo>
                  <a:lnTo>
                    <a:pt x="658152" y="0"/>
                  </a:lnTo>
                  <a:lnTo>
                    <a:pt x="419328" y="238378"/>
                  </a:lnTo>
                  <a:lnTo>
                    <a:pt x="180505" y="0"/>
                  </a:lnTo>
                  <a:lnTo>
                    <a:pt x="0" y="180212"/>
                  </a:lnTo>
                  <a:lnTo>
                    <a:pt x="0" y="218948"/>
                  </a:lnTo>
                  <a:lnTo>
                    <a:pt x="180505" y="38988"/>
                  </a:lnTo>
                  <a:lnTo>
                    <a:pt x="419328" y="277368"/>
                  </a:lnTo>
                  <a:lnTo>
                    <a:pt x="658152" y="38988"/>
                  </a:lnTo>
                  <a:lnTo>
                    <a:pt x="896975" y="277368"/>
                  </a:lnTo>
                  <a:lnTo>
                    <a:pt x="1136040" y="38988"/>
                  </a:lnTo>
                  <a:lnTo>
                    <a:pt x="1374902" y="277368"/>
                  </a:lnTo>
                  <a:lnTo>
                    <a:pt x="1613662" y="38988"/>
                  </a:lnTo>
                  <a:lnTo>
                    <a:pt x="1842897" y="267588"/>
                  </a:lnTo>
                  <a:lnTo>
                    <a:pt x="1862327" y="248158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14313" y="1098245"/>
            <a:ext cx="150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11512" y="6140196"/>
            <a:ext cx="1054735" cy="469900"/>
          </a:xfrm>
          <a:custGeom>
            <a:avLst/>
            <a:gdLst/>
            <a:ahLst/>
            <a:cxnLst/>
            <a:rect l="l" t="t" r="r" b="b"/>
            <a:pathLst>
              <a:path w="1054734" h="469900">
                <a:moveTo>
                  <a:pt x="356616" y="0"/>
                </a:moveTo>
                <a:lnTo>
                  <a:pt x="320167" y="0"/>
                </a:lnTo>
                <a:lnTo>
                  <a:pt x="0" y="469392"/>
                </a:lnTo>
                <a:lnTo>
                  <a:pt x="36449" y="469392"/>
                </a:lnTo>
                <a:lnTo>
                  <a:pt x="356616" y="0"/>
                </a:lnTo>
                <a:close/>
              </a:path>
              <a:path w="1054734" h="469900">
                <a:moveTo>
                  <a:pt x="530352" y="0"/>
                </a:moveTo>
                <a:lnTo>
                  <a:pt x="494030" y="0"/>
                </a:lnTo>
                <a:lnTo>
                  <a:pt x="175260" y="469392"/>
                </a:lnTo>
                <a:lnTo>
                  <a:pt x="211582" y="469392"/>
                </a:lnTo>
                <a:lnTo>
                  <a:pt x="530352" y="0"/>
                </a:lnTo>
                <a:close/>
              </a:path>
              <a:path w="1054734" h="469900">
                <a:moveTo>
                  <a:pt x="705612" y="0"/>
                </a:moveTo>
                <a:lnTo>
                  <a:pt x="669290" y="0"/>
                </a:lnTo>
                <a:lnTo>
                  <a:pt x="350520" y="469392"/>
                </a:lnTo>
                <a:lnTo>
                  <a:pt x="386715" y="469392"/>
                </a:lnTo>
                <a:lnTo>
                  <a:pt x="705612" y="0"/>
                </a:lnTo>
                <a:close/>
              </a:path>
              <a:path w="1054734" h="469900">
                <a:moveTo>
                  <a:pt x="880872" y="0"/>
                </a:moveTo>
                <a:lnTo>
                  <a:pt x="844550" y="0"/>
                </a:lnTo>
                <a:lnTo>
                  <a:pt x="525780" y="469392"/>
                </a:lnTo>
                <a:lnTo>
                  <a:pt x="561975" y="469392"/>
                </a:lnTo>
                <a:lnTo>
                  <a:pt x="880872" y="0"/>
                </a:lnTo>
                <a:close/>
              </a:path>
              <a:path w="1054734" h="469900">
                <a:moveTo>
                  <a:pt x="1054608" y="0"/>
                </a:moveTo>
                <a:lnTo>
                  <a:pt x="1018286" y="0"/>
                </a:lnTo>
                <a:lnTo>
                  <a:pt x="699516" y="469392"/>
                </a:lnTo>
                <a:lnTo>
                  <a:pt x="735711" y="469392"/>
                </a:lnTo>
                <a:lnTo>
                  <a:pt x="1054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1969</Words>
  <Application>Microsoft Office PowerPoint</Application>
  <PresentationFormat>Widescreen</PresentationFormat>
  <Paragraphs>222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 MT</vt:lpstr>
      <vt:lpstr>Calibri</vt:lpstr>
      <vt:lpstr>Calibri Light</vt:lpstr>
      <vt:lpstr>Cambria Math</vt:lpstr>
      <vt:lpstr>Times New Roman</vt:lpstr>
      <vt:lpstr>Wingdings</vt:lpstr>
      <vt:lpstr>Office Theme</vt:lpstr>
      <vt:lpstr>Network Layer: Internet Protocol</vt:lpstr>
      <vt:lpstr>Outline</vt:lpstr>
      <vt:lpstr>PowerPoint Presentation</vt:lpstr>
      <vt:lpstr>Links Between Two Hosts</vt:lpstr>
      <vt:lpstr>Network Layer in an Internetwork</vt:lpstr>
      <vt:lpstr>PowerPoint Presentation</vt:lpstr>
      <vt:lpstr>Network layer at the Source, Router, and Destination</vt:lpstr>
      <vt:lpstr>IPv4</vt:lpstr>
      <vt:lpstr>IPv4 Datagram Format</vt:lpstr>
      <vt:lpstr>IPv4 Format</vt:lpstr>
      <vt:lpstr>IPv4 Format: Fields for Fragmentation</vt:lpstr>
      <vt:lpstr>IPv4 Format</vt:lpstr>
      <vt:lpstr>IPv4 Format</vt:lpstr>
      <vt:lpstr>PowerPoint Presentation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IPv4: Fragmentation</vt:lpstr>
      <vt:lpstr>IPv4: Fragmentation</vt:lpstr>
      <vt:lpstr>IPv4: Fragmentation</vt:lpstr>
      <vt:lpstr>Fragmentation Offset</vt:lpstr>
      <vt:lpstr>Multilevel Fragmentation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Solution:</vt:lpstr>
      <vt:lpstr>Example:</vt:lpstr>
      <vt:lpstr>PowerPoint Presentation</vt:lpstr>
      <vt:lpstr>PowerPoint Presentation</vt:lpstr>
      <vt:lpstr>PowerPoint Presentation</vt:lpstr>
      <vt:lpstr>PowerPoint Presentation</vt:lpstr>
      <vt:lpstr>Solution:</vt:lpstr>
      <vt:lpstr>PowerPoint Presentation</vt:lpstr>
      <vt:lpstr>PowerPoint Presentation</vt:lpstr>
      <vt:lpstr>IPv4 Checksum</vt:lpstr>
      <vt:lpstr>IPv4 Checksum 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Abuzar Sayeed</cp:lastModifiedBy>
  <cp:revision>1</cp:revision>
  <dcterms:created xsi:type="dcterms:W3CDTF">2026-02-22T05:32:23Z</dcterms:created>
  <dcterms:modified xsi:type="dcterms:W3CDTF">2026-02-22T05:34:28Z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2026-02-22T00:00:00Z</vt:filetime>
  </property>
  <property fmtid="{D5CDD505-2E9C-101B-9397-08002B2CF9AE}" pid="5" name="Producer">
    <vt:lpwstr>Microsoft® PowerPoint® for Microsoft 365</vt:lpwstr>
  </property>
</Properties>
</file>