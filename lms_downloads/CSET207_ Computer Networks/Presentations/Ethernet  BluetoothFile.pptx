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0"/>
  </p:normalViewPr>
  <p:slideViewPr>
    <p:cSldViewPr>
      <p:cViewPr varScale="1">
        <p:scale>
          <a:sx n="64" d="100"/>
          <a:sy n="64" d="100"/>
        </p:scale>
        <p:origin x="87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uzar Sayeed" userId="f3c20014-5dab-44db-87de-ec699cb07e88" providerId="ADAL" clId="{61956C59-D951-4DA5-9E1F-6B726B5E4FB3}"/>
    <pc:docChg chg="modSld">
      <pc:chgData name="Abuzar Sayeed" userId="f3c20014-5dab-44db-87de-ec699cb07e88" providerId="ADAL" clId="{61956C59-D951-4DA5-9E1F-6B726B5E4FB3}" dt="2023-06-20T08:57:21.103" v="0"/>
      <pc:docMkLst>
        <pc:docMk/>
      </pc:docMkLst>
      <pc:sldChg chg="addSp">
        <pc:chgData name="Abuzar Sayeed" userId="f3c20014-5dab-44db-87de-ec699cb07e88" providerId="ADAL" clId="{61956C59-D951-4DA5-9E1F-6B726B5E4FB3}" dt="2023-06-20T08:57:21.103" v="0"/>
        <pc:sldMkLst>
          <pc:docMk/>
          <pc:sldMk cId="0" sldId="260"/>
        </pc:sldMkLst>
        <pc:inkChg chg="add">
          <ac:chgData name="Abuzar Sayeed" userId="f3c20014-5dab-44db-87de-ec699cb07e88" providerId="ADAL" clId="{61956C59-D951-4DA5-9E1F-6B726B5E4FB3}" dt="2023-06-20T08:57:21.103" v="0"/>
          <ac:inkMkLst>
            <pc:docMk/>
            <pc:sldMk cId="0" sldId="260"/>
            <ac:inkMk id="8" creationId="{CE3CB7B1-4432-4C70-B6BF-103BBF79531E}"/>
          </ac:inkMkLst>
        </pc:inkChg>
      </pc:sldChg>
      <pc:sldChg chg="addSp">
        <pc:chgData name="Abuzar Sayeed" userId="f3c20014-5dab-44db-87de-ec699cb07e88" providerId="ADAL" clId="{61956C59-D951-4DA5-9E1F-6B726B5E4FB3}" dt="2023-06-20T08:57:21.103" v="0"/>
        <pc:sldMkLst>
          <pc:docMk/>
          <pc:sldMk cId="0" sldId="261"/>
        </pc:sldMkLst>
        <pc:inkChg chg="add">
          <ac:chgData name="Abuzar Sayeed" userId="f3c20014-5dab-44db-87de-ec699cb07e88" providerId="ADAL" clId="{61956C59-D951-4DA5-9E1F-6B726B5E4FB3}" dt="2023-06-20T08:57:21.103" v="0"/>
          <ac:inkMkLst>
            <pc:docMk/>
            <pc:sldMk cId="0" sldId="261"/>
            <ac:inkMk id="10" creationId="{228FD6D9-01CD-4C3A-986E-F7B16E972A07}"/>
          </ac:inkMkLst>
        </pc:inkChg>
      </pc:sldChg>
      <pc:sldChg chg="addSp">
        <pc:chgData name="Abuzar Sayeed" userId="f3c20014-5dab-44db-87de-ec699cb07e88" providerId="ADAL" clId="{61956C59-D951-4DA5-9E1F-6B726B5E4FB3}" dt="2023-06-20T08:57:21.103" v="0"/>
        <pc:sldMkLst>
          <pc:docMk/>
          <pc:sldMk cId="0" sldId="262"/>
        </pc:sldMkLst>
        <pc:inkChg chg="add">
          <ac:chgData name="Abuzar Sayeed" userId="f3c20014-5dab-44db-87de-ec699cb07e88" providerId="ADAL" clId="{61956C59-D951-4DA5-9E1F-6B726B5E4FB3}" dt="2023-06-20T08:57:21.103" v="0"/>
          <ac:inkMkLst>
            <pc:docMk/>
            <pc:sldMk cId="0" sldId="262"/>
            <ac:inkMk id="42" creationId="{1FF5CF4B-1478-4B26-A0D8-1F5F06720E4A}"/>
          </ac:inkMkLst>
        </pc:inkChg>
      </pc:sldChg>
      <pc:sldChg chg="addSp">
        <pc:chgData name="Abuzar Sayeed" userId="f3c20014-5dab-44db-87de-ec699cb07e88" providerId="ADAL" clId="{61956C59-D951-4DA5-9E1F-6B726B5E4FB3}" dt="2023-06-20T08:57:21.103" v="0"/>
        <pc:sldMkLst>
          <pc:docMk/>
          <pc:sldMk cId="0" sldId="263"/>
        </pc:sldMkLst>
        <pc:inkChg chg="add">
          <ac:chgData name="Abuzar Sayeed" userId="f3c20014-5dab-44db-87de-ec699cb07e88" providerId="ADAL" clId="{61956C59-D951-4DA5-9E1F-6B726B5E4FB3}" dt="2023-06-20T08:57:21.103" v="0"/>
          <ac:inkMkLst>
            <pc:docMk/>
            <pc:sldMk cId="0" sldId="263"/>
            <ac:inkMk id="6" creationId="{3F2DA63A-F182-4820-BC0C-0AA07002E4C6}"/>
          </ac:inkMkLst>
        </pc:inkChg>
      </pc:sldChg>
      <pc:sldChg chg="addSp">
        <pc:chgData name="Abuzar Sayeed" userId="f3c20014-5dab-44db-87de-ec699cb07e88" providerId="ADAL" clId="{61956C59-D951-4DA5-9E1F-6B726B5E4FB3}" dt="2023-06-20T08:57:21.103" v="0"/>
        <pc:sldMkLst>
          <pc:docMk/>
          <pc:sldMk cId="0" sldId="264"/>
        </pc:sldMkLst>
        <pc:inkChg chg="add">
          <ac:chgData name="Abuzar Sayeed" userId="f3c20014-5dab-44db-87de-ec699cb07e88" providerId="ADAL" clId="{61956C59-D951-4DA5-9E1F-6B726B5E4FB3}" dt="2023-06-20T08:57:21.103" v="0"/>
          <ac:inkMkLst>
            <pc:docMk/>
            <pc:sldMk cId="0" sldId="264"/>
            <ac:inkMk id="6" creationId="{FDACD236-01BF-40A3-B4AF-6A841744C22E}"/>
          </ac:inkMkLst>
        </pc:inkChg>
      </pc:sldChg>
      <pc:sldChg chg="addSp">
        <pc:chgData name="Abuzar Sayeed" userId="f3c20014-5dab-44db-87de-ec699cb07e88" providerId="ADAL" clId="{61956C59-D951-4DA5-9E1F-6B726B5E4FB3}" dt="2023-06-20T08:57:21.103" v="0"/>
        <pc:sldMkLst>
          <pc:docMk/>
          <pc:sldMk cId="0" sldId="268"/>
        </pc:sldMkLst>
        <pc:inkChg chg="add">
          <ac:chgData name="Abuzar Sayeed" userId="f3c20014-5dab-44db-87de-ec699cb07e88" providerId="ADAL" clId="{61956C59-D951-4DA5-9E1F-6B726B5E4FB3}" dt="2023-06-20T08:57:21.103" v="0"/>
          <ac:inkMkLst>
            <pc:docMk/>
            <pc:sldMk cId="0" sldId="268"/>
            <ac:inkMk id="6" creationId="{D2974EA4-0E7E-485B-B9B8-F0B388936FD7}"/>
          </ac:inkMkLst>
        </pc:inkChg>
      </pc:sldChg>
      <pc:sldChg chg="addSp">
        <pc:chgData name="Abuzar Sayeed" userId="f3c20014-5dab-44db-87de-ec699cb07e88" providerId="ADAL" clId="{61956C59-D951-4DA5-9E1F-6B726B5E4FB3}" dt="2023-06-20T08:57:21.103" v="0"/>
        <pc:sldMkLst>
          <pc:docMk/>
          <pc:sldMk cId="0" sldId="270"/>
        </pc:sldMkLst>
        <pc:inkChg chg="add">
          <ac:chgData name="Abuzar Sayeed" userId="f3c20014-5dab-44db-87de-ec699cb07e88" providerId="ADAL" clId="{61956C59-D951-4DA5-9E1F-6B726B5E4FB3}" dt="2023-06-20T08:57:21.103" v="0"/>
          <ac:inkMkLst>
            <pc:docMk/>
            <pc:sldMk cId="0" sldId="270"/>
            <ac:inkMk id="8" creationId="{D7454539-4437-40E2-98F9-A42CFC601061}"/>
          </ac:inkMkLst>
        </pc:inkChg>
      </pc:sldChg>
    </pc:docChg>
  </pc:docChgLst>
  <pc:docChgLst>
    <pc:chgData name="Abuzar Sayeed" userId="f3c20014-5dab-44db-87de-ec699cb07e88" providerId="ADAL" clId="{CB081991-3E6F-48A2-8206-7C01C980942C}"/>
    <pc:docChg chg="custSel modSld">
      <pc:chgData name="Abuzar Sayeed" userId="f3c20014-5dab-44db-87de-ec699cb07e88" providerId="ADAL" clId="{CB081991-3E6F-48A2-8206-7C01C980942C}" dt="2026-01-11T15:31:23.263" v="14" actId="478"/>
      <pc:docMkLst>
        <pc:docMk/>
      </pc:docMkLst>
      <pc:sldChg chg="modSp mod">
        <pc:chgData name="Abuzar Sayeed" userId="f3c20014-5dab-44db-87de-ec699cb07e88" providerId="ADAL" clId="{CB081991-3E6F-48A2-8206-7C01C980942C}" dt="2026-01-11T15:28:54.017" v="0" actId="207"/>
        <pc:sldMkLst>
          <pc:docMk/>
          <pc:sldMk cId="0" sldId="256"/>
        </pc:sldMkLst>
        <pc:spChg chg="mod">
          <ac:chgData name="Abuzar Sayeed" userId="f3c20014-5dab-44db-87de-ec699cb07e88" providerId="ADAL" clId="{CB081991-3E6F-48A2-8206-7C01C980942C}" dt="2026-01-11T15:28:54.017" v="0" actId="207"/>
          <ac:spMkLst>
            <pc:docMk/>
            <pc:sldMk cId="0" sldId="256"/>
            <ac:spMk id="2" creationId="{00000000-0000-0000-0000-000000000000}"/>
          </ac:spMkLst>
        </pc:spChg>
      </pc:sldChg>
      <pc:sldChg chg="delSp mod">
        <pc:chgData name="Abuzar Sayeed" userId="f3c20014-5dab-44db-87de-ec699cb07e88" providerId="ADAL" clId="{CB081991-3E6F-48A2-8206-7C01C980942C}" dt="2026-01-11T15:29:09.818" v="1" actId="478"/>
        <pc:sldMkLst>
          <pc:docMk/>
          <pc:sldMk cId="0" sldId="260"/>
        </pc:sldMkLst>
        <pc:inkChg chg="del">
          <ac:chgData name="Abuzar Sayeed" userId="f3c20014-5dab-44db-87de-ec699cb07e88" providerId="ADAL" clId="{CB081991-3E6F-48A2-8206-7C01C980942C}" dt="2026-01-11T15:29:09.818" v="1" actId="478"/>
          <ac:inkMkLst>
            <pc:docMk/>
            <pc:sldMk cId="0" sldId="260"/>
            <ac:inkMk id="8" creationId="{CE3CB7B1-4432-4C70-B6BF-103BBF79531E}"/>
          </ac:inkMkLst>
        </pc:inkChg>
      </pc:sldChg>
      <pc:sldChg chg="delSp mod">
        <pc:chgData name="Abuzar Sayeed" userId="f3c20014-5dab-44db-87de-ec699cb07e88" providerId="ADAL" clId="{CB081991-3E6F-48A2-8206-7C01C980942C}" dt="2026-01-11T15:29:18.400" v="2" actId="478"/>
        <pc:sldMkLst>
          <pc:docMk/>
          <pc:sldMk cId="0" sldId="261"/>
        </pc:sldMkLst>
        <pc:inkChg chg="del">
          <ac:chgData name="Abuzar Sayeed" userId="f3c20014-5dab-44db-87de-ec699cb07e88" providerId="ADAL" clId="{CB081991-3E6F-48A2-8206-7C01C980942C}" dt="2026-01-11T15:29:18.400" v="2" actId="478"/>
          <ac:inkMkLst>
            <pc:docMk/>
            <pc:sldMk cId="0" sldId="261"/>
            <ac:inkMk id="10" creationId="{228FD6D9-01CD-4C3A-986E-F7B16E972A07}"/>
          </ac:inkMkLst>
        </pc:inkChg>
      </pc:sldChg>
      <pc:sldChg chg="delSp modSp mod">
        <pc:chgData name="Abuzar Sayeed" userId="f3c20014-5dab-44db-87de-ec699cb07e88" providerId="ADAL" clId="{CB081991-3E6F-48A2-8206-7C01C980942C}" dt="2026-01-11T15:29:34.318" v="4" actId="207"/>
        <pc:sldMkLst>
          <pc:docMk/>
          <pc:sldMk cId="0" sldId="262"/>
        </pc:sldMkLst>
        <pc:spChg chg="mod">
          <ac:chgData name="Abuzar Sayeed" userId="f3c20014-5dab-44db-87de-ec699cb07e88" providerId="ADAL" clId="{CB081991-3E6F-48A2-8206-7C01C980942C}" dt="2026-01-11T15:29:34.318" v="4" actId="207"/>
          <ac:spMkLst>
            <pc:docMk/>
            <pc:sldMk cId="0" sldId="262"/>
            <ac:spMk id="40" creationId="{00000000-0000-0000-0000-000000000000}"/>
          </ac:spMkLst>
        </pc:spChg>
        <pc:inkChg chg="del">
          <ac:chgData name="Abuzar Sayeed" userId="f3c20014-5dab-44db-87de-ec699cb07e88" providerId="ADAL" clId="{CB081991-3E6F-48A2-8206-7C01C980942C}" dt="2026-01-11T15:29:26.724" v="3" actId="478"/>
          <ac:inkMkLst>
            <pc:docMk/>
            <pc:sldMk cId="0" sldId="262"/>
            <ac:inkMk id="42" creationId="{1FF5CF4B-1478-4B26-A0D8-1F5F06720E4A}"/>
          </ac:inkMkLst>
        </pc:inkChg>
      </pc:sldChg>
      <pc:sldChg chg="delSp mod">
        <pc:chgData name="Abuzar Sayeed" userId="f3c20014-5dab-44db-87de-ec699cb07e88" providerId="ADAL" clId="{CB081991-3E6F-48A2-8206-7C01C980942C}" dt="2026-01-11T15:29:43.143" v="5" actId="478"/>
        <pc:sldMkLst>
          <pc:docMk/>
          <pc:sldMk cId="0" sldId="263"/>
        </pc:sldMkLst>
        <pc:inkChg chg="del">
          <ac:chgData name="Abuzar Sayeed" userId="f3c20014-5dab-44db-87de-ec699cb07e88" providerId="ADAL" clId="{CB081991-3E6F-48A2-8206-7C01C980942C}" dt="2026-01-11T15:29:43.143" v="5" actId="478"/>
          <ac:inkMkLst>
            <pc:docMk/>
            <pc:sldMk cId="0" sldId="263"/>
            <ac:inkMk id="6" creationId="{3F2DA63A-F182-4820-BC0C-0AA07002E4C6}"/>
          </ac:inkMkLst>
        </pc:inkChg>
      </pc:sldChg>
      <pc:sldChg chg="delSp mod">
        <pc:chgData name="Abuzar Sayeed" userId="f3c20014-5dab-44db-87de-ec699cb07e88" providerId="ADAL" clId="{CB081991-3E6F-48A2-8206-7C01C980942C}" dt="2026-01-11T15:29:49.551" v="6" actId="478"/>
        <pc:sldMkLst>
          <pc:docMk/>
          <pc:sldMk cId="0" sldId="264"/>
        </pc:sldMkLst>
        <pc:inkChg chg="del">
          <ac:chgData name="Abuzar Sayeed" userId="f3c20014-5dab-44db-87de-ec699cb07e88" providerId="ADAL" clId="{CB081991-3E6F-48A2-8206-7C01C980942C}" dt="2026-01-11T15:29:49.551" v="6" actId="478"/>
          <ac:inkMkLst>
            <pc:docMk/>
            <pc:sldMk cId="0" sldId="264"/>
            <ac:inkMk id="6" creationId="{FDACD236-01BF-40A3-B4AF-6A841744C22E}"/>
          </ac:inkMkLst>
        </pc:inkChg>
      </pc:sldChg>
      <pc:sldChg chg="modSp mod">
        <pc:chgData name="Abuzar Sayeed" userId="f3c20014-5dab-44db-87de-ec699cb07e88" providerId="ADAL" clId="{CB081991-3E6F-48A2-8206-7C01C980942C}" dt="2026-01-11T15:30:22.236" v="8" actId="207"/>
        <pc:sldMkLst>
          <pc:docMk/>
          <pc:sldMk cId="0" sldId="266"/>
        </pc:sldMkLst>
        <pc:spChg chg="mod">
          <ac:chgData name="Abuzar Sayeed" userId="f3c20014-5dab-44db-87de-ec699cb07e88" providerId="ADAL" clId="{CB081991-3E6F-48A2-8206-7C01C980942C}" dt="2026-01-11T15:30:06.395" v="7" actId="207"/>
          <ac:spMkLst>
            <pc:docMk/>
            <pc:sldMk cId="0" sldId="266"/>
            <ac:spMk id="2" creationId="{00000000-0000-0000-0000-000000000000}"/>
          </ac:spMkLst>
        </pc:spChg>
        <pc:spChg chg="mod">
          <ac:chgData name="Abuzar Sayeed" userId="f3c20014-5dab-44db-87de-ec699cb07e88" providerId="ADAL" clId="{CB081991-3E6F-48A2-8206-7C01C980942C}" dt="2026-01-11T15:30:22.236" v="8" actId="207"/>
          <ac:spMkLst>
            <pc:docMk/>
            <pc:sldMk cId="0" sldId="266"/>
            <ac:spMk id="3" creationId="{00000000-0000-0000-0000-000000000000}"/>
          </ac:spMkLst>
        </pc:spChg>
      </pc:sldChg>
      <pc:sldChg chg="delSp modSp mod">
        <pc:chgData name="Abuzar Sayeed" userId="f3c20014-5dab-44db-87de-ec699cb07e88" providerId="ADAL" clId="{CB081991-3E6F-48A2-8206-7C01C980942C}" dt="2026-01-11T15:31:03.155" v="11" actId="207"/>
        <pc:sldMkLst>
          <pc:docMk/>
          <pc:sldMk cId="0" sldId="268"/>
        </pc:sldMkLst>
        <pc:spChg chg="mod">
          <ac:chgData name="Abuzar Sayeed" userId="f3c20014-5dab-44db-87de-ec699cb07e88" providerId="ADAL" clId="{CB081991-3E6F-48A2-8206-7C01C980942C}" dt="2026-01-11T15:31:03.155" v="11" actId="207"/>
          <ac:spMkLst>
            <pc:docMk/>
            <pc:sldMk cId="0" sldId="268"/>
            <ac:spMk id="4" creationId="{00000000-0000-0000-0000-000000000000}"/>
          </ac:spMkLst>
        </pc:spChg>
        <pc:spChg chg="mod">
          <ac:chgData name="Abuzar Sayeed" userId="f3c20014-5dab-44db-87de-ec699cb07e88" providerId="ADAL" clId="{CB081991-3E6F-48A2-8206-7C01C980942C}" dt="2026-01-11T15:30:53.180" v="10" actId="207"/>
          <ac:spMkLst>
            <pc:docMk/>
            <pc:sldMk cId="0" sldId="268"/>
            <ac:spMk id="5" creationId="{00000000-0000-0000-0000-000000000000}"/>
          </ac:spMkLst>
        </pc:spChg>
        <pc:inkChg chg="del">
          <ac:chgData name="Abuzar Sayeed" userId="f3c20014-5dab-44db-87de-ec699cb07e88" providerId="ADAL" clId="{CB081991-3E6F-48A2-8206-7C01C980942C}" dt="2026-01-11T15:30:42.881" v="9" actId="478"/>
          <ac:inkMkLst>
            <pc:docMk/>
            <pc:sldMk cId="0" sldId="268"/>
            <ac:inkMk id="6" creationId="{D2974EA4-0E7E-485B-B9B8-F0B388936FD7}"/>
          </ac:inkMkLst>
        </pc:inkChg>
      </pc:sldChg>
      <pc:sldChg chg="modSp mod">
        <pc:chgData name="Abuzar Sayeed" userId="f3c20014-5dab-44db-87de-ec699cb07e88" providerId="ADAL" clId="{CB081991-3E6F-48A2-8206-7C01C980942C}" dt="2026-01-11T15:31:18.546" v="13" actId="207"/>
        <pc:sldMkLst>
          <pc:docMk/>
          <pc:sldMk cId="0" sldId="269"/>
        </pc:sldMkLst>
        <pc:spChg chg="mod">
          <ac:chgData name="Abuzar Sayeed" userId="f3c20014-5dab-44db-87de-ec699cb07e88" providerId="ADAL" clId="{CB081991-3E6F-48A2-8206-7C01C980942C}" dt="2026-01-11T15:31:18.546" v="13" actId="207"/>
          <ac:spMkLst>
            <pc:docMk/>
            <pc:sldMk cId="0" sldId="269"/>
            <ac:spMk id="15" creationId="{00000000-0000-0000-0000-000000000000}"/>
          </ac:spMkLst>
        </pc:spChg>
        <pc:spChg chg="mod">
          <ac:chgData name="Abuzar Sayeed" userId="f3c20014-5dab-44db-87de-ec699cb07e88" providerId="ADAL" clId="{CB081991-3E6F-48A2-8206-7C01C980942C}" dt="2026-01-11T15:31:13.643" v="12" actId="207"/>
          <ac:spMkLst>
            <pc:docMk/>
            <pc:sldMk cId="0" sldId="269"/>
            <ac:spMk id="16" creationId="{00000000-0000-0000-0000-000000000000}"/>
          </ac:spMkLst>
        </pc:spChg>
      </pc:sldChg>
      <pc:sldChg chg="delSp mod">
        <pc:chgData name="Abuzar Sayeed" userId="f3c20014-5dab-44db-87de-ec699cb07e88" providerId="ADAL" clId="{CB081991-3E6F-48A2-8206-7C01C980942C}" dt="2026-01-11T15:31:23.263" v="14" actId="478"/>
        <pc:sldMkLst>
          <pc:docMk/>
          <pc:sldMk cId="0" sldId="270"/>
        </pc:sldMkLst>
        <pc:inkChg chg="del">
          <ac:chgData name="Abuzar Sayeed" userId="f3c20014-5dab-44db-87de-ec699cb07e88" providerId="ADAL" clId="{CB081991-3E6F-48A2-8206-7C01C980942C}" dt="2026-01-11T15:31:23.263" v="14" actId="478"/>
          <ac:inkMkLst>
            <pc:docMk/>
            <pc:sldMk cId="0" sldId="270"/>
            <ac:inkMk id="8" creationId="{D7454539-4437-40E2-98F9-A42CFC601061}"/>
          </ac:inkMkLst>
        </pc:ink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33874" y="515493"/>
            <a:ext cx="252425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65957" y="2757995"/>
            <a:ext cx="5810250" cy="30664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etspotapp.com/blog/wifi-security/wifi-encryption-and-security.html#%3A~%3Atext%3DWiFi%20routers%20support%20a%20variety%2Cneeds%20to%20protect%20your%20network" TargetMode="External"/><Relationship Id="rId3" Type="http://schemas.openxmlformats.org/officeDocument/2006/relationships/hyperlink" Target="https://ecomputernotes.com/computernetworkingnotes/communication-networks/ethernet" TargetMode="External"/><Relationship Id="rId7" Type="http://schemas.openxmlformats.org/officeDocument/2006/relationships/hyperlink" Target="https://www.youtube.com/watch?v=t3FVP5wuG4g" TargetMode="External"/><Relationship Id="rId2" Type="http://schemas.openxmlformats.org/officeDocument/2006/relationships/hyperlink" Target="https://www.elprocus.com/what-is-ethernet-and-different-types-of-ethernet-network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ixY0Cau4mBM" TargetMode="External"/><Relationship Id="rId5" Type="http://schemas.openxmlformats.org/officeDocument/2006/relationships/hyperlink" Target="https://www.youtube.com/watch?v=jzxZUJmOu3o&amp;t=525s" TargetMode="External"/><Relationship Id="rId4" Type="http://schemas.openxmlformats.org/officeDocument/2006/relationships/hyperlink" Target="https://www.javatpoint.com/what-is-ethern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7214" y="571322"/>
            <a:ext cx="49714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E</a:t>
            </a:r>
            <a:r>
              <a:rPr spc="-105" dirty="0"/>
              <a:t>t</a:t>
            </a:r>
            <a:r>
              <a:rPr spc="-100" dirty="0"/>
              <a:t>hern</a:t>
            </a:r>
            <a:r>
              <a:rPr spc="-110" dirty="0"/>
              <a:t>e</a:t>
            </a:r>
            <a:r>
              <a:rPr dirty="0"/>
              <a:t>t</a:t>
            </a:r>
            <a:r>
              <a:rPr spc="-245" dirty="0"/>
              <a:t> </a:t>
            </a:r>
            <a:r>
              <a:rPr spc="5" dirty="0"/>
              <a:t>&amp;</a:t>
            </a:r>
            <a:r>
              <a:rPr spc="-210" dirty="0"/>
              <a:t> </a:t>
            </a:r>
            <a:r>
              <a:rPr spc="-100" dirty="0"/>
              <a:t>Blue</a:t>
            </a:r>
            <a:r>
              <a:rPr spc="-105" dirty="0"/>
              <a:t>t</a:t>
            </a:r>
            <a:r>
              <a:rPr spc="-95" dirty="0"/>
              <a:t>o</a:t>
            </a:r>
            <a:r>
              <a:rPr spc="-105" dirty="0"/>
              <a:t>ot</a:t>
            </a:r>
            <a:r>
              <a:rPr dirty="0"/>
              <a:t>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89098" y="5481929"/>
            <a:ext cx="7451725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algn="ctr">
              <a:lnSpc>
                <a:spcPts val="2590"/>
              </a:lnSpc>
              <a:spcBef>
                <a:spcPts val="425"/>
              </a:spcBef>
            </a:pPr>
            <a:r>
              <a:rPr sz="2400" b="1" spc="-5" dirty="0">
                <a:latin typeface="Times New Roman"/>
                <a:cs typeface="Times New Roman"/>
              </a:rPr>
              <a:t>School </a:t>
            </a:r>
            <a:r>
              <a:rPr sz="2400" b="1" dirty="0">
                <a:latin typeface="Times New Roman"/>
                <a:cs typeface="Times New Roman"/>
              </a:rPr>
              <a:t>of </a:t>
            </a:r>
            <a:r>
              <a:rPr sz="2400" b="1" spc="-5" dirty="0">
                <a:latin typeface="Times New Roman"/>
                <a:cs typeface="Times New Roman"/>
              </a:rPr>
              <a:t>Computer Science Engineering and </a:t>
            </a:r>
            <a:r>
              <a:rPr sz="2400" b="1" spc="-25" dirty="0">
                <a:latin typeface="Times New Roman"/>
                <a:cs typeface="Times New Roman"/>
              </a:rPr>
              <a:t>Technology </a:t>
            </a:r>
            <a:r>
              <a:rPr sz="2400" b="1" spc="-58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Bennett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University</a:t>
            </a:r>
            <a:endParaRPr sz="2400">
              <a:latin typeface="Times New Roman"/>
              <a:cs typeface="Times New Roman"/>
            </a:endParaRPr>
          </a:p>
          <a:p>
            <a:pPr marL="2540" algn="ctr">
              <a:lnSpc>
                <a:spcPts val="2555"/>
              </a:lnSpc>
            </a:pPr>
            <a:r>
              <a:rPr sz="2400" b="1" spc="-10" dirty="0">
                <a:latin typeface="Times New Roman"/>
                <a:cs typeface="Times New Roman"/>
              </a:rPr>
              <a:t>Greater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Noida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201310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3371" y="4027932"/>
            <a:ext cx="1280159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89460" cy="6855459"/>
          </a:xfrm>
          <a:custGeom>
            <a:avLst/>
            <a:gdLst/>
            <a:ahLst/>
            <a:cxnLst/>
            <a:rect l="l" t="t" r="r" b="b"/>
            <a:pathLst>
              <a:path w="12189460" h="6855459">
                <a:moveTo>
                  <a:pt x="0" y="6854951"/>
                </a:moveTo>
                <a:lnTo>
                  <a:pt x="12188952" y="6854951"/>
                </a:lnTo>
                <a:lnTo>
                  <a:pt x="12188952" y="0"/>
                </a:lnTo>
                <a:lnTo>
                  <a:pt x="0" y="0"/>
                </a:lnTo>
                <a:lnTo>
                  <a:pt x="0" y="6854951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1" y="12953"/>
            <a:ext cx="0" cy="6844030"/>
          </a:xfrm>
          <a:custGeom>
            <a:avLst/>
            <a:gdLst/>
            <a:ahLst/>
            <a:cxnLst/>
            <a:rect l="l" t="t" r="r" b="b"/>
            <a:pathLst>
              <a:path h="6844030">
                <a:moveTo>
                  <a:pt x="0" y="0"/>
                </a:moveTo>
                <a:lnTo>
                  <a:pt x="1" y="6843984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-8763" y="0"/>
            <a:ext cx="12058015" cy="6877050"/>
            <a:chOff x="-8763" y="0"/>
            <a:chExt cx="12058015" cy="6877050"/>
          </a:xfrm>
        </p:grpSpPr>
        <p:sp>
          <p:nvSpPr>
            <p:cNvPr id="5" name="object 5"/>
            <p:cNvSpPr/>
            <p:nvPr/>
          </p:nvSpPr>
          <p:spPr>
            <a:xfrm>
              <a:off x="1719833" y="8382"/>
              <a:ext cx="0" cy="6844030"/>
            </a:xfrm>
            <a:custGeom>
              <a:avLst/>
              <a:gdLst/>
              <a:ahLst/>
              <a:cxnLst/>
              <a:rect l="l" t="t" r="r" b="b"/>
              <a:pathLst>
                <a:path h="6844030">
                  <a:moveTo>
                    <a:pt x="0" y="0"/>
                  </a:moveTo>
                  <a:lnTo>
                    <a:pt x="0" y="6843984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1" y="6739890"/>
              <a:ext cx="12038965" cy="0"/>
            </a:xfrm>
            <a:custGeom>
              <a:avLst/>
              <a:gdLst/>
              <a:ahLst/>
              <a:cxnLst/>
              <a:rect l="l" t="t" r="r" b="b"/>
              <a:pathLst>
                <a:path w="12038965">
                  <a:moveTo>
                    <a:pt x="12038457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1" y="3428"/>
              <a:ext cx="12038965" cy="19050"/>
            </a:xfrm>
            <a:custGeom>
              <a:avLst/>
              <a:gdLst/>
              <a:ahLst/>
              <a:cxnLst/>
              <a:rect l="l" t="t" r="r" b="b"/>
              <a:pathLst>
                <a:path w="12038965" h="19050">
                  <a:moveTo>
                    <a:pt x="0" y="19050"/>
                  </a:moveTo>
                  <a:lnTo>
                    <a:pt x="12038457" y="19050"/>
                  </a:lnTo>
                  <a:lnTo>
                    <a:pt x="12038457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1" y="1742694"/>
              <a:ext cx="12038965" cy="0"/>
            </a:xfrm>
            <a:custGeom>
              <a:avLst/>
              <a:gdLst/>
              <a:ahLst/>
              <a:cxnLst/>
              <a:rect l="l" t="t" r="r" b="b"/>
              <a:pathLst>
                <a:path w="12038965">
                  <a:moveTo>
                    <a:pt x="12038457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1" y="4953"/>
              <a:ext cx="12038965" cy="19050"/>
            </a:xfrm>
            <a:custGeom>
              <a:avLst/>
              <a:gdLst/>
              <a:ahLst/>
              <a:cxnLst/>
              <a:rect l="l" t="t" r="r" b="b"/>
              <a:pathLst>
                <a:path w="12038965" h="19050">
                  <a:moveTo>
                    <a:pt x="0" y="19050"/>
                  </a:moveTo>
                  <a:lnTo>
                    <a:pt x="12038457" y="19050"/>
                  </a:lnTo>
                  <a:lnTo>
                    <a:pt x="12038457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1" y="133349"/>
              <a:ext cx="12038965" cy="6724015"/>
            </a:xfrm>
            <a:custGeom>
              <a:avLst/>
              <a:gdLst/>
              <a:ahLst/>
              <a:cxnLst/>
              <a:rect l="l" t="t" r="r" b="b"/>
              <a:pathLst>
                <a:path w="12038965" h="6724015">
                  <a:moveTo>
                    <a:pt x="12038457" y="6723887"/>
                  </a:moveTo>
                  <a:lnTo>
                    <a:pt x="0" y="6723888"/>
                  </a:lnTo>
                </a:path>
                <a:path w="12038965" h="6724015">
                  <a:moveTo>
                    <a:pt x="12038457" y="5010912"/>
                  </a:moveTo>
                  <a:lnTo>
                    <a:pt x="0" y="5010912"/>
                  </a:lnTo>
                </a:path>
                <a:path w="12038965" h="6724015">
                  <a:moveTo>
                    <a:pt x="12038457" y="0"/>
                  </a:moveTo>
                  <a:lnTo>
                    <a:pt x="0" y="0"/>
                  </a:lnTo>
                </a:path>
                <a:path w="12038965" h="6724015">
                  <a:moveTo>
                    <a:pt x="12038457" y="3302508"/>
                  </a:moveTo>
                  <a:lnTo>
                    <a:pt x="0" y="3302508"/>
                  </a:lnTo>
                </a:path>
                <a:path w="12038965" h="6724015">
                  <a:moveTo>
                    <a:pt x="12038457" y="1711452"/>
                  </a:moveTo>
                  <a:lnTo>
                    <a:pt x="0" y="1711452"/>
                  </a:lnTo>
                </a:path>
                <a:path w="12038965" h="6724015">
                  <a:moveTo>
                    <a:pt x="12038457" y="3418332"/>
                  </a:moveTo>
                  <a:lnTo>
                    <a:pt x="0" y="3418332"/>
                  </a:lnTo>
                </a:path>
                <a:path w="12038965" h="6724015">
                  <a:moveTo>
                    <a:pt x="12038457" y="5119116"/>
                  </a:moveTo>
                  <a:lnTo>
                    <a:pt x="0" y="5119116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29561" y="8382"/>
              <a:ext cx="0" cy="6844030"/>
            </a:xfrm>
            <a:custGeom>
              <a:avLst/>
              <a:gdLst/>
              <a:ahLst/>
              <a:cxnLst/>
              <a:rect l="l" t="t" r="r" b="b"/>
              <a:pathLst>
                <a:path h="6844030">
                  <a:moveTo>
                    <a:pt x="0" y="0"/>
                  </a:moveTo>
                  <a:lnTo>
                    <a:pt x="0" y="6843984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40429" y="12954"/>
              <a:ext cx="1719580" cy="6844030"/>
            </a:xfrm>
            <a:custGeom>
              <a:avLst/>
              <a:gdLst/>
              <a:ahLst/>
              <a:cxnLst/>
              <a:rect l="l" t="t" r="r" b="b"/>
              <a:pathLst>
                <a:path w="1719579" h="6844030">
                  <a:moveTo>
                    <a:pt x="0" y="0"/>
                  </a:moveTo>
                  <a:lnTo>
                    <a:pt x="0" y="6843984"/>
                  </a:lnTo>
                </a:path>
                <a:path w="1719579" h="6844030">
                  <a:moveTo>
                    <a:pt x="1719072" y="0"/>
                  </a:moveTo>
                  <a:lnTo>
                    <a:pt x="1719072" y="6843984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80097" y="762"/>
              <a:ext cx="0" cy="6844030"/>
            </a:xfrm>
            <a:custGeom>
              <a:avLst/>
              <a:gdLst/>
              <a:ahLst/>
              <a:cxnLst/>
              <a:rect l="l" t="t" r="r" b="b"/>
              <a:pathLst>
                <a:path h="6844030">
                  <a:moveTo>
                    <a:pt x="0" y="0"/>
                  </a:moveTo>
                  <a:lnTo>
                    <a:pt x="0" y="6843984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599169" y="762"/>
              <a:ext cx="3439795" cy="6856730"/>
            </a:xfrm>
            <a:custGeom>
              <a:avLst/>
              <a:gdLst/>
              <a:ahLst/>
              <a:cxnLst/>
              <a:rect l="l" t="t" r="r" b="b"/>
              <a:pathLst>
                <a:path w="3439795" h="6856730">
                  <a:moveTo>
                    <a:pt x="0" y="0"/>
                  </a:moveTo>
                  <a:lnTo>
                    <a:pt x="0" y="6843984"/>
                  </a:lnTo>
                </a:path>
                <a:path w="3439795" h="6856730">
                  <a:moveTo>
                    <a:pt x="3439668" y="12192"/>
                  </a:moveTo>
                  <a:lnTo>
                    <a:pt x="3439668" y="6856176"/>
                  </a:lnTo>
                </a:path>
                <a:path w="3439795" h="6856730">
                  <a:moveTo>
                    <a:pt x="1720596" y="12192"/>
                  </a:moveTo>
                  <a:lnTo>
                    <a:pt x="1720596" y="6856176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50158" y="8382"/>
              <a:ext cx="0" cy="6844030"/>
            </a:xfrm>
            <a:custGeom>
              <a:avLst/>
              <a:gdLst/>
              <a:ahLst/>
              <a:cxnLst/>
              <a:rect l="l" t="t" r="r" b="b"/>
              <a:pathLst>
                <a:path h="6844030">
                  <a:moveTo>
                    <a:pt x="0" y="0"/>
                  </a:moveTo>
                  <a:lnTo>
                    <a:pt x="0" y="6843984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72278" y="14478"/>
              <a:ext cx="0" cy="6844030"/>
            </a:xfrm>
            <a:custGeom>
              <a:avLst/>
              <a:gdLst/>
              <a:ahLst/>
              <a:cxnLst/>
              <a:rect l="l" t="t" r="r" b="b"/>
              <a:pathLst>
                <a:path h="6844030">
                  <a:moveTo>
                    <a:pt x="0" y="0"/>
                  </a:moveTo>
                  <a:lnTo>
                    <a:pt x="0" y="6843984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991350" y="762"/>
              <a:ext cx="0" cy="6844030"/>
            </a:xfrm>
            <a:custGeom>
              <a:avLst/>
              <a:gdLst/>
              <a:ahLst/>
              <a:cxnLst/>
              <a:rect l="l" t="t" r="r" b="b"/>
              <a:pathLst>
                <a:path h="6844030">
                  <a:moveTo>
                    <a:pt x="0" y="0"/>
                  </a:moveTo>
                  <a:lnTo>
                    <a:pt x="0" y="6843984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4206" y="762"/>
              <a:ext cx="11791315" cy="6851650"/>
            </a:xfrm>
            <a:custGeom>
              <a:avLst/>
              <a:gdLst/>
              <a:ahLst/>
              <a:cxnLst/>
              <a:rect l="l" t="t" r="r" b="b"/>
              <a:pathLst>
                <a:path w="11791315" h="6851650">
                  <a:moveTo>
                    <a:pt x="8592312" y="0"/>
                  </a:moveTo>
                  <a:lnTo>
                    <a:pt x="8592312" y="6843984"/>
                  </a:lnTo>
                </a:path>
                <a:path w="11791315" h="6851650">
                  <a:moveTo>
                    <a:pt x="10312908" y="0"/>
                  </a:moveTo>
                  <a:lnTo>
                    <a:pt x="10312908" y="6843984"/>
                  </a:lnTo>
                </a:path>
                <a:path w="11791315" h="6851650">
                  <a:moveTo>
                    <a:pt x="11791188" y="7620"/>
                  </a:moveTo>
                  <a:lnTo>
                    <a:pt x="11791188" y="6851604"/>
                  </a:lnTo>
                </a:path>
                <a:path w="11791315" h="6851650">
                  <a:moveTo>
                    <a:pt x="0" y="0"/>
                  </a:moveTo>
                  <a:lnTo>
                    <a:pt x="1" y="6843984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14949" y="4398340"/>
            <a:ext cx="701040" cy="19894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5340"/>
              </a:lnSpc>
            </a:pPr>
            <a:r>
              <a:rPr sz="4800" b="1" dirty="0">
                <a:latin typeface="Times New Roman"/>
                <a:cs typeface="Times New Roman"/>
              </a:rPr>
              <a:t>Out</a:t>
            </a:r>
            <a:r>
              <a:rPr sz="4800" b="1" spc="-15" dirty="0">
                <a:latin typeface="Times New Roman"/>
                <a:cs typeface="Times New Roman"/>
              </a:rPr>
              <a:t>l</a:t>
            </a:r>
            <a:r>
              <a:rPr sz="4800" b="1" dirty="0">
                <a:latin typeface="Times New Roman"/>
                <a:cs typeface="Times New Roman"/>
              </a:rPr>
              <a:t>ine</a:t>
            </a:r>
            <a:endParaRPr sz="48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546094" y="135889"/>
            <a:ext cx="8501380" cy="6612255"/>
            <a:chOff x="3546094" y="135889"/>
            <a:chExt cx="8501380" cy="6612255"/>
          </a:xfrm>
        </p:grpSpPr>
        <p:sp>
          <p:nvSpPr>
            <p:cNvPr id="21" name="object 21"/>
            <p:cNvSpPr/>
            <p:nvPr/>
          </p:nvSpPr>
          <p:spPr>
            <a:xfrm>
              <a:off x="3571494" y="163829"/>
              <a:ext cx="0" cy="6543040"/>
            </a:xfrm>
            <a:custGeom>
              <a:avLst/>
              <a:gdLst/>
              <a:ahLst/>
              <a:cxnLst/>
              <a:rect l="l" t="t" r="r" b="b"/>
              <a:pathLst>
                <a:path h="6543040">
                  <a:moveTo>
                    <a:pt x="0" y="6542963"/>
                  </a:moveTo>
                  <a:lnTo>
                    <a:pt x="0" y="0"/>
                  </a:lnTo>
                </a:path>
              </a:pathLst>
            </a:custGeom>
            <a:ln w="508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8832" y="160019"/>
              <a:ext cx="6503034" cy="6565900"/>
            </a:xfrm>
            <a:custGeom>
              <a:avLst/>
              <a:gdLst/>
              <a:ahLst/>
              <a:cxnLst/>
              <a:rect l="l" t="t" r="r" b="b"/>
              <a:pathLst>
                <a:path w="6503034" h="6565900">
                  <a:moveTo>
                    <a:pt x="6502908" y="0"/>
                  </a:moveTo>
                  <a:lnTo>
                    <a:pt x="0" y="0"/>
                  </a:lnTo>
                  <a:lnTo>
                    <a:pt x="0" y="6565392"/>
                  </a:lnTo>
                  <a:lnTo>
                    <a:pt x="6502908" y="6565392"/>
                  </a:lnTo>
                  <a:lnTo>
                    <a:pt x="6502908" y="0"/>
                  </a:lnTo>
                  <a:close/>
                </a:path>
              </a:pathLst>
            </a:custGeom>
            <a:solidFill>
              <a:srgbClr val="E7E6E6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348465" y="148589"/>
              <a:ext cx="685800" cy="6586855"/>
            </a:xfrm>
            <a:custGeom>
              <a:avLst/>
              <a:gdLst/>
              <a:ahLst/>
              <a:cxnLst/>
              <a:rect l="l" t="t" r="r" b="b"/>
              <a:pathLst>
                <a:path w="685800" h="6586855">
                  <a:moveTo>
                    <a:pt x="0" y="6586728"/>
                  </a:moveTo>
                  <a:lnTo>
                    <a:pt x="685800" y="6586728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6586728"/>
                  </a:lnTo>
                  <a:close/>
                </a:path>
              </a:pathLst>
            </a:custGeom>
            <a:ln w="254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688080" y="2104644"/>
              <a:ext cx="4215765" cy="1103630"/>
            </a:xfrm>
            <a:custGeom>
              <a:avLst/>
              <a:gdLst/>
              <a:ahLst/>
              <a:cxnLst/>
              <a:rect l="l" t="t" r="r" b="b"/>
              <a:pathLst>
                <a:path w="4215765" h="1103630">
                  <a:moveTo>
                    <a:pt x="4215383" y="0"/>
                  </a:moveTo>
                  <a:lnTo>
                    <a:pt x="0" y="0"/>
                  </a:lnTo>
                  <a:lnTo>
                    <a:pt x="0" y="1103376"/>
                  </a:lnTo>
                  <a:lnTo>
                    <a:pt x="4215383" y="1103376"/>
                  </a:lnTo>
                  <a:lnTo>
                    <a:pt x="4215383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39540" y="2231135"/>
              <a:ext cx="3523615" cy="833755"/>
            </a:xfrm>
            <a:custGeom>
              <a:avLst/>
              <a:gdLst/>
              <a:ahLst/>
              <a:cxnLst/>
              <a:rect l="l" t="t" r="r" b="b"/>
              <a:pathLst>
                <a:path w="3523615" h="833755">
                  <a:moveTo>
                    <a:pt x="3384550" y="0"/>
                  </a:moveTo>
                  <a:lnTo>
                    <a:pt x="138937" y="0"/>
                  </a:lnTo>
                  <a:lnTo>
                    <a:pt x="95032" y="7085"/>
                  </a:lnTo>
                  <a:lnTo>
                    <a:pt x="56893" y="26814"/>
                  </a:lnTo>
                  <a:lnTo>
                    <a:pt x="26814" y="56893"/>
                  </a:lnTo>
                  <a:lnTo>
                    <a:pt x="7085" y="95032"/>
                  </a:lnTo>
                  <a:lnTo>
                    <a:pt x="0" y="138937"/>
                  </a:lnTo>
                  <a:lnTo>
                    <a:pt x="0" y="694689"/>
                  </a:lnTo>
                  <a:lnTo>
                    <a:pt x="7085" y="738595"/>
                  </a:lnTo>
                  <a:lnTo>
                    <a:pt x="26814" y="776734"/>
                  </a:lnTo>
                  <a:lnTo>
                    <a:pt x="56893" y="806813"/>
                  </a:lnTo>
                  <a:lnTo>
                    <a:pt x="95032" y="826542"/>
                  </a:lnTo>
                  <a:lnTo>
                    <a:pt x="138937" y="833627"/>
                  </a:lnTo>
                  <a:lnTo>
                    <a:pt x="3384550" y="833627"/>
                  </a:lnTo>
                  <a:lnTo>
                    <a:pt x="3428455" y="826542"/>
                  </a:lnTo>
                  <a:lnTo>
                    <a:pt x="3466594" y="806813"/>
                  </a:lnTo>
                  <a:lnTo>
                    <a:pt x="3496673" y="776734"/>
                  </a:lnTo>
                  <a:lnTo>
                    <a:pt x="3516402" y="738595"/>
                  </a:lnTo>
                  <a:lnTo>
                    <a:pt x="3523488" y="694689"/>
                  </a:lnTo>
                  <a:lnTo>
                    <a:pt x="3523488" y="138937"/>
                  </a:lnTo>
                  <a:lnTo>
                    <a:pt x="3516402" y="95032"/>
                  </a:lnTo>
                  <a:lnTo>
                    <a:pt x="3496673" y="56893"/>
                  </a:lnTo>
                  <a:lnTo>
                    <a:pt x="3466594" y="26814"/>
                  </a:lnTo>
                  <a:lnTo>
                    <a:pt x="3428455" y="7085"/>
                  </a:lnTo>
                  <a:lnTo>
                    <a:pt x="33845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939540" y="2231135"/>
              <a:ext cx="3523615" cy="833755"/>
            </a:xfrm>
            <a:custGeom>
              <a:avLst/>
              <a:gdLst/>
              <a:ahLst/>
              <a:cxnLst/>
              <a:rect l="l" t="t" r="r" b="b"/>
              <a:pathLst>
                <a:path w="3523615" h="833755">
                  <a:moveTo>
                    <a:pt x="0" y="138937"/>
                  </a:moveTo>
                  <a:lnTo>
                    <a:pt x="7085" y="95032"/>
                  </a:lnTo>
                  <a:lnTo>
                    <a:pt x="26814" y="56893"/>
                  </a:lnTo>
                  <a:lnTo>
                    <a:pt x="56893" y="26814"/>
                  </a:lnTo>
                  <a:lnTo>
                    <a:pt x="95032" y="7085"/>
                  </a:lnTo>
                  <a:lnTo>
                    <a:pt x="138937" y="0"/>
                  </a:lnTo>
                  <a:lnTo>
                    <a:pt x="3384550" y="0"/>
                  </a:lnTo>
                  <a:lnTo>
                    <a:pt x="3428455" y="7085"/>
                  </a:lnTo>
                  <a:lnTo>
                    <a:pt x="3466594" y="26814"/>
                  </a:lnTo>
                  <a:lnTo>
                    <a:pt x="3496673" y="56893"/>
                  </a:lnTo>
                  <a:lnTo>
                    <a:pt x="3516402" y="95032"/>
                  </a:lnTo>
                  <a:lnTo>
                    <a:pt x="3523488" y="138937"/>
                  </a:lnTo>
                  <a:lnTo>
                    <a:pt x="3523488" y="694689"/>
                  </a:lnTo>
                  <a:lnTo>
                    <a:pt x="3516402" y="738595"/>
                  </a:lnTo>
                  <a:lnTo>
                    <a:pt x="3496673" y="776734"/>
                  </a:lnTo>
                  <a:lnTo>
                    <a:pt x="3466594" y="806813"/>
                  </a:lnTo>
                  <a:lnTo>
                    <a:pt x="3428455" y="826542"/>
                  </a:lnTo>
                  <a:lnTo>
                    <a:pt x="3384550" y="833627"/>
                  </a:lnTo>
                  <a:lnTo>
                    <a:pt x="138937" y="833627"/>
                  </a:lnTo>
                  <a:lnTo>
                    <a:pt x="95032" y="826542"/>
                  </a:lnTo>
                  <a:lnTo>
                    <a:pt x="56893" y="806813"/>
                  </a:lnTo>
                  <a:lnTo>
                    <a:pt x="26814" y="776734"/>
                  </a:lnTo>
                  <a:lnTo>
                    <a:pt x="7085" y="738595"/>
                  </a:lnTo>
                  <a:lnTo>
                    <a:pt x="0" y="694689"/>
                  </a:lnTo>
                  <a:lnTo>
                    <a:pt x="0" y="1389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3688079" y="2104644"/>
            <a:ext cx="4215765" cy="1103630"/>
          </a:xfrm>
          <a:prstGeom prst="rect">
            <a:avLst/>
          </a:prstGeom>
          <a:ln w="12700">
            <a:solidFill>
              <a:srgbClr val="4471C4"/>
            </a:solidFill>
          </a:ln>
        </p:spPr>
        <p:txBody>
          <a:bodyPr vert="horz" wrap="square" lIns="0" tIns="224790" rIns="0" bIns="0" rtlCol="0">
            <a:spAutoFit/>
          </a:bodyPr>
          <a:lstStyle/>
          <a:p>
            <a:pPr marL="426084">
              <a:lnSpc>
                <a:spcPct val="100000"/>
              </a:lnSpc>
              <a:spcBef>
                <a:spcPts val="1770"/>
              </a:spcBef>
            </a:pPr>
            <a:r>
              <a:rPr sz="3600" b="0" spc="-5" dirty="0">
                <a:latin typeface="Times New Roman"/>
                <a:cs typeface="Times New Roman"/>
              </a:rPr>
              <a:t>Ethernet</a:t>
            </a:r>
            <a:endParaRPr sz="36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681729" y="3459226"/>
            <a:ext cx="4205605" cy="1242695"/>
            <a:chOff x="3681729" y="3459226"/>
            <a:chExt cx="4205605" cy="1242695"/>
          </a:xfrm>
        </p:grpSpPr>
        <p:sp>
          <p:nvSpPr>
            <p:cNvPr id="29" name="object 29"/>
            <p:cNvSpPr/>
            <p:nvPr/>
          </p:nvSpPr>
          <p:spPr>
            <a:xfrm>
              <a:off x="3688079" y="3465576"/>
              <a:ext cx="4192904" cy="1229995"/>
            </a:xfrm>
            <a:custGeom>
              <a:avLst/>
              <a:gdLst/>
              <a:ahLst/>
              <a:cxnLst/>
              <a:rect l="l" t="t" r="r" b="b"/>
              <a:pathLst>
                <a:path w="4192904" h="1229995">
                  <a:moveTo>
                    <a:pt x="4192524" y="0"/>
                  </a:moveTo>
                  <a:lnTo>
                    <a:pt x="0" y="0"/>
                  </a:lnTo>
                  <a:lnTo>
                    <a:pt x="0" y="1229868"/>
                  </a:lnTo>
                  <a:lnTo>
                    <a:pt x="4192524" y="1229868"/>
                  </a:lnTo>
                  <a:lnTo>
                    <a:pt x="419252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688079" y="3465576"/>
              <a:ext cx="4192904" cy="1229995"/>
            </a:xfrm>
            <a:custGeom>
              <a:avLst/>
              <a:gdLst/>
              <a:ahLst/>
              <a:cxnLst/>
              <a:rect l="l" t="t" r="r" b="b"/>
              <a:pathLst>
                <a:path w="4192904" h="1229995">
                  <a:moveTo>
                    <a:pt x="0" y="1229868"/>
                  </a:moveTo>
                  <a:lnTo>
                    <a:pt x="4192524" y="1229868"/>
                  </a:lnTo>
                  <a:lnTo>
                    <a:pt x="4192524" y="0"/>
                  </a:lnTo>
                  <a:lnTo>
                    <a:pt x="0" y="0"/>
                  </a:lnTo>
                  <a:lnTo>
                    <a:pt x="0" y="1229868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939539" y="3560064"/>
              <a:ext cx="3523615" cy="905510"/>
            </a:xfrm>
            <a:custGeom>
              <a:avLst/>
              <a:gdLst/>
              <a:ahLst/>
              <a:cxnLst/>
              <a:rect l="l" t="t" r="r" b="b"/>
              <a:pathLst>
                <a:path w="3523615" h="905510">
                  <a:moveTo>
                    <a:pt x="3372612" y="0"/>
                  </a:moveTo>
                  <a:lnTo>
                    <a:pt x="150875" y="0"/>
                  </a:lnTo>
                  <a:lnTo>
                    <a:pt x="103193" y="7693"/>
                  </a:lnTo>
                  <a:lnTo>
                    <a:pt x="61776" y="29114"/>
                  </a:lnTo>
                  <a:lnTo>
                    <a:pt x="29114" y="61776"/>
                  </a:lnTo>
                  <a:lnTo>
                    <a:pt x="7693" y="103193"/>
                  </a:lnTo>
                  <a:lnTo>
                    <a:pt x="0" y="150875"/>
                  </a:lnTo>
                  <a:lnTo>
                    <a:pt x="0" y="754380"/>
                  </a:lnTo>
                  <a:lnTo>
                    <a:pt x="7693" y="802062"/>
                  </a:lnTo>
                  <a:lnTo>
                    <a:pt x="29114" y="843479"/>
                  </a:lnTo>
                  <a:lnTo>
                    <a:pt x="61776" y="876141"/>
                  </a:lnTo>
                  <a:lnTo>
                    <a:pt x="103193" y="897562"/>
                  </a:lnTo>
                  <a:lnTo>
                    <a:pt x="150875" y="905256"/>
                  </a:lnTo>
                  <a:lnTo>
                    <a:pt x="3372612" y="905256"/>
                  </a:lnTo>
                  <a:lnTo>
                    <a:pt x="3420294" y="897562"/>
                  </a:lnTo>
                  <a:lnTo>
                    <a:pt x="3461711" y="876141"/>
                  </a:lnTo>
                  <a:lnTo>
                    <a:pt x="3494373" y="843479"/>
                  </a:lnTo>
                  <a:lnTo>
                    <a:pt x="3515794" y="802062"/>
                  </a:lnTo>
                  <a:lnTo>
                    <a:pt x="3523488" y="754380"/>
                  </a:lnTo>
                  <a:lnTo>
                    <a:pt x="3523488" y="150875"/>
                  </a:lnTo>
                  <a:lnTo>
                    <a:pt x="3515794" y="103193"/>
                  </a:lnTo>
                  <a:lnTo>
                    <a:pt x="3494373" y="61776"/>
                  </a:lnTo>
                  <a:lnTo>
                    <a:pt x="3461711" y="29114"/>
                  </a:lnTo>
                  <a:lnTo>
                    <a:pt x="3420294" y="7693"/>
                  </a:lnTo>
                  <a:lnTo>
                    <a:pt x="337261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939539" y="3560064"/>
              <a:ext cx="3523615" cy="905510"/>
            </a:xfrm>
            <a:custGeom>
              <a:avLst/>
              <a:gdLst/>
              <a:ahLst/>
              <a:cxnLst/>
              <a:rect l="l" t="t" r="r" b="b"/>
              <a:pathLst>
                <a:path w="3523615" h="905510">
                  <a:moveTo>
                    <a:pt x="0" y="150875"/>
                  </a:moveTo>
                  <a:lnTo>
                    <a:pt x="7693" y="103193"/>
                  </a:lnTo>
                  <a:lnTo>
                    <a:pt x="29114" y="61776"/>
                  </a:lnTo>
                  <a:lnTo>
                    <a:pt x="61776" y="29114"/>
                  </a:lnTo>
                  <a:lnTo>
                    <a:pt x="103193" y="7693"/>
                  </a:lnTo>
                  <a:lnTo>
                    <a:pt x="150875" y="0"/>
                  </a:lnTo>
                  <a:lnTo>
                    <a:pt x="3372612" y="0"/>
                  </a:lnTo>
                  <a:lnTo>
                    <a:pt x="3420294" y="7693"/>
                  </a:lnTo>
                  <a:lnTo>
                    <a:pt x="3461711" y="29114"/>
                  </a:lnTo>
                  <a:lnTo>
                    <a:pt x="3494373" y="61776"/>
                  </a:lnTo>
                  <a:lnTo>
                    <a:pt x="3515794" y="103193"/>
                  </a:lnTo>
                  <a:lnTo>
                    <a:pt x="3523488" y="150875"/>
                  </a:lnTo>
                  <a:lnTo>
                    <a:pt x="3523488" y="754380"/>
                  </a:lnTo>
                  <a:lnTo>
                    <a:pt x="3515794" y="802062"/>
                  </a:lnTo>
                  <a:lnTo>
                    <a:pt x="3494373" y="843479"/>
                  </a:lnTo>
                  <a:lnTo>
                    <a:pt x="3461711" y="876141"/>
                  </a:lnTo>
                  <a:lnTo>
                    <a:pt x="3420294" y="897562"/>
                  </a:lnTo>
                  <a:lnTo>
                    <a:pt x="3372612" y="905256"/>
                  </a:lnTo>
                  <a:lnTo>
                    <a:pt x="150875" y="905256"/>
                  </a:lnTo>
                  <a:lnTo>
                    <a:pt x="103193" y="897562"/>
                  </a:lnTo>
                  <a:lnTo>
                    <a:pt x="61776" y="876141"/>
                  </a:lnTo>
                  <a:lnTo>
                    <a:pt x="29114" y="843479"/>
                  </a:lnTo>
                  <a:lnTo>
                    <a:pt x="7693" y="802062"/>
                  </a:lnTo>
                  <a:lnTo>
                    <a:pt x="0" y="754380"/>
                  </a:lnTo>
                  <a:lnTo>
                    <a:pt x="0" y="1508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105402" y="3682110"/>
            <a:ext cx="18275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Times New Roman"/>
                <a:cs typeface="Times New Roman"/>
              </a:rPr>
              <a:t>Bluetooth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18904" y="5486400"/>
            <a:ext cx="2673350" cy="1371600"/>
          </a:xfrm>
          <a:custGeom>
            <a:avLst/>
            <a:gdLst/>
            <a:ahLst/>
            <a:cxnLst/>
            <a:rect l="l" t="t" r="r" b="b"/>
            <a:pathLst>
              <a:path w="2673350" h="1371600">
                <a:moveTo>
                  <a:pt x="1721866" y="0"/>
                </a:moveTo>
                <a:lnTo>
                  <a:pt x="1671394" y="706"/>
                </a:lnTo>
                <a:lnTo>
                  <a:pt x="1621272" y="2813"/>
                </a:lnTo>
                <a:lnTo>
                  <a:pt x="1571520" y="6302"/>
                </a:lnTo>
                <a:lnTo>
                  <a:pt x="1522156" y="11153"/>
                </a:lnTo>
                <a:lnTo>
                  <a:pt x="1473198" y="17349"/>
                </a:lnTo>
                <a:lnTo>
                  <a:pt x="1424666" y="24870"/>
                </a:lnTo>
                <a:lnTo>
                  <a:pt x="1376578" y="33697"/>
                </a:lnTo>
                <a:lnTo>
                  <a:pt x="1328953" y="43813"/>
                </a:lnTo>
                <a:lnTo>
                  <a:pt x="1281811" y="55197"/>
                </a:lnTo>
                <a:lnTo>
                  <a:pt x="1235169" y="67831"/>
                </a:lnTo>
                <a:lnTo>
                  <a:pt x="1189046" y="81696"/>
                </a:lnTo>
                <a:lnTo>
                  <a:pt x="1143462" y="96774"/>
                </a:lnTo>
                <a:lnTo>
                  <a:pt x="1098435" y="113045"/>
                </a:lnTo>
                <a:lnTo>
                  <a:pt x="1053984" y="130491"/>
                </a:lnTo>
                <a:lnTo>
                  <a:pt x="1010128" y="149093"/>
                </a:lnTo>
                <a:lnTo>
                  <a:pt x="966885" y="168833"/>
                </a:lnTo>
                <a:lnTo>
                  <a:pt x="924274" y="189691"/>
                </a:lnTo>
                <a:lnTo>
                  <a:pt x="882315" y="211648"/>
                </a:lnTo>
                <a:lnTo>
                  <a:pt x="841026" y="234686"/>
                </a:lnTo>
                <a:lnTo>
                  <a:pt x="800425" y="258787"/>
                </a:lnTo>
                <a:lnTo>
                  <a:pt x="760532" y="283930"/>
                </a:lnTo>
                <a:lnTo>
                  <a:pt x="721366" y="310098"/>
                </a:lnTo>
                <a:lnTo>
                  <a:pt x="682944" y="337271"/>
                </a:lnTo>
                <a:lnTo>
                  <a:pt x="645287" y="365431"/>
                </a:lnTo>
                <a:lnTo>
                  <a:pt x="608412" y="394560"/>
                </a:lnTo>
                <a:lnTo>
                  <a:pt x="572339" y="424637"/>
                </a:lnTo>
                <a:lnTo>
                  <a:pt x="537087" y="455645"/>
                </a:lnTo>
                <a:lnTo>
                  <a:pt x="502673" y="487564"/>
                </a:lnTo>
                <a:lnTo>
                  <a:pt x="469118" y="520376"/>
                </a:lnTo>
                <a:lnTo>
                  <a:pt x="436439" y="554062"/>
                </a:lnTo>
                <a:lnTo>
                  <a:pt x="404656" y="588603"/>
                </a:lnTo>
                <a:lnTo>
                  <a:pt x="373787" y="623980"/>
                </a:lnTo>
                <a:lnTo>
                  <a:pt x="343852" y="660175"/>
                </a:lnTo>
                <a:lnTo>
                  <a:pt x="314869" y="697169"/>
                </a:lnTo>
                <a:lnTo>
                  <a:pt x="286856" y="734942"/>
                </a:lnTo>
                <a:lnTo>
                  <a:pt x="259833" y="773477"/>
                </a:lnTo>
                <a:lnTo>
                  <a:pt x="233818" y="812754"/>
                </a:lnTo>
                <a:lnTo>
                  <a:pt x="208831" y="852754"/>
                </a:lnTo>
                <a:lnTo>
                  <a:pt x="184890" y="893459"/>
                </a:lnTo>
                <a:lnTo>
                  <a:pt x="162013" y="934850"/>
                </a:lnTo>
                <a:lnTo>
                  <a:pt x="140221" y="976908"/>
                </a:lnTo>
                <a:lnTo>
                  <a:pt x="119530" y="1019614"/>
                </a:lnTo>
                <a:lnTo>
                  <a:pt x="99961" y="1062950"/>
                </a:lnTo>
                <a:lnTo>
                  <a:pt x="81532" y="1106897"/>
                </a:lnTo>
                <a:lnTo>
                  <a:pt x="64262" y="1151435"/>
                </a:lnTo>
                <a:lnTo>
                  <a:pt x="48170" y="1196546"/>
                </a:lnTo>
                <a:lnTo>
                  <a:pt x="33274" y="1242212"/>
                </a:lnTo>
                <a:lnTo>
                  <a:pt x="0" y="1371599"/>
                </a:lnTo>
                <a:lnTo>
                  <a:pt x="2673096" y="1371599"/>
                </a:lnTo>
                <a:lnTo>
                  <a:pt x="2673096" y="279247"/>
                </a:lnTo>
                <a:lnTo>
                  <a:pt x="2564638" y="213385"/>
                </a:lnTo>
                <a:lnTo>
                  <a:pt x="2520064" y="189991"/>
                </a:lnTo>
                <a:lnTo>
                  <a:pt x="2474752" y="167838"/>
                </a:lnTo>
                <a:lnTo>
                  <a:pt x="2428723" y="146949"/>
                </a:lnTo>
                <a:lnTo>
                  <a:pt x="2382001" y="127347"/>
                </a:lnTo>
                <a:lnTo>
                  <a:pt x="2334607" y="109055"/>
                </a:lnTo>
                <a:lnTo>
                  <a:pt x="2286566" y="92096"/>
                </a:lnTo>
                <a:lnTo>
                  <a:pt x="2237900" y="76492"/>
                </a:lnTo>
                <a:lnTo>
                  <a:pt x="2188631" y="62265"/>
                </a:lnTo>
                <a:lnTo>
                  <a:pt x="2138783" y="49440"/>
                </a:lnTo>
                <a:lnTo>
                  <a:pt x="2088377" y="38038"/>
                </a:lnTo>
                <a:lnTo>
                  <a:pt x="2037438" y="28083"/>
                </a:lnTo>
                <a:lnTo>
                  <a:pt x="1985988" y="19597"/>
                </a:lnTo>
                <a:lnTo>
                  <a:pt x="1934049" y="12603"/>
                </a:lnTo>
                <a:lnTo>
                  <a:pt x="1881644" y="7123"/>
                </a:lnTo>
                <a:lnTo>
                  <a:pt x="1828797" y="3181"/>
                </a:lnTo>
                <a:lnTo>
                  <a:pt x="1775530" y="799"/>
                </a:lnTo>
                <a:lnTo>
                  <a:pt x="172186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302250" y="587870"/>
            <a:ext cx="6811645" cy="4232275"/>
            <a:chOff x="5302250" y="587870"/>
            <a:chExt cx="6811645" cy="4232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6420" y="1909422"/>
              <a:ext cx="4487461" cy="291022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65750" y="651370"/>
              <a:ext cx="2225040" cy="1494155"/>
            </a:xfrm>
            <a:custGeom>
              <a:avLst/>
              <a:gdLst/>
              <a:ahLst/>
              <a:cxnLst/>
              <a:rect l="l" t="t" r="r" b="b"/>
              <a:pathLst>
                <a:path w="2225040" h="1494155">
                  <a:moveTo>
                    <a:pt x="0" y="191274"/>
                  </a:moveTo>
                  <a:lnTo>
                    <a:pt x="42528" y="168284"/>
                  </a:lnTo>
                  <a:lnTo>
                    <a:pt x="85466" y="146808"/>
                  </a:lnTo>
                  <a:lnTo>
                    <a:pt x="128782" y="126835"/>
                  </a:lnTo>
                  <a:lnTo>
                    <a:pt x="172444" y="108357"/>
                  </a:lnTo>
                  <a:lnTo>
                    <a:pt x="216420" y="91365"/>
                  </a:lnTo>
                  <a:lnTo>
                    <a:pt x="260680" y="75850"/>
                  </a:lnTo>
                  <a:lnTo>
                    <a:pt x="305191" y="61804"/>
                  </a:lnTo>
                  <a:lnTo>
                    <a:pt x="349922" y="49217"/>
                  </a:lnTo>
                  <a:lnTo>
                    <a:pt x="394841" y="38081"/>
                  </a:lnTo>
                  <a:lnTo>
                    <a:pt x="439917" y="28387"/>
                  </a:lnTo>
                  <a:lnTo>
                    <a:pt x="485119" y="20125"/>
                  </a:lnTo>
                  <a:lnTo>
                    <a:pt x="530414" y="13288"/>
                  </a:lnTo>
                  <a:lnTo>
                    <a:pt x="575771" y="7865"/>
                  </a:lnTo>
                  <a:lnTo>
                    <a:pt x="621158" y="3849"/>
                  </a:lnTo>
                  <a:lnTo>
                    <a:pt x="666544" y="1230"/>
                  </a:lnTo>
                  <a:lnTo>
                    <a:pt x="711898" y="0"/>
                  </a:lnTo>
                  <a:lnTo>
                    <a:pt x="757188" y="149"/>
                  </a:lnTo>
                  <a:lnTo>
                    <a:pt x="802381" y="1668"/>
                  </a:lnTo>
                  <a:lnTo>
                    <a:pt x="847448" y="4550"/>
                  </a:lnTo>
                  <a:lnTo>
                    <a:pt x="892355" y="8784"/>
                  </a:lnTo>
                  <a:lnTo>
                    <a:pt x="937072" y="14363"/>
                  </a:lnTo>
                  <a:lnTo>
                    <a:pt x="981567" y="21276"/>
                  </a:lnTo>
                  <a:lnTo>
                    <a:pt x="1025808" y="29516"/>
                  </a:lnTo>
                  <a:lnTo>
                    <a:pt x="1069764" y="39074"/>
                  </a:lnTo>
                  <a:lnTo>
                    <a:pt x="1113403" y="49940"/>
                  </a:lnTo>
                  <a:lnTo>
                    <a:pt x="1156694" y="62105"/>
                  </a:lnTo>
                  <a:lnTo>
                    <a:pt x="1199604" y="75561"/>
                  </a:lnTo>
                  <a:lnTo>
                    <a:pt x="1242104" y="90299"/>
                  </a:lnTo>
                  <a:lnTo>
                    <a:pt x="1284160" y="106310"/>
                  </a:lnTo>
                  <a:lnTo>
                    <a:pt x="1325741" y="123586"/>
                  </a:lnTo>
                  <a:lnTo>
                    <a:pt x="1366817" y="142116"/>
                  </a:lnTo>
                  <a:lnTo>
                    <a:pt x="1407354" y="161893"/>
                  </a:lnTo>
                  <a:lnTo>
                    <a:pt x="1447322" y="182907"/>
                  </a:lnTo>
                  <a:lnTo>
                    <a:pt x="1486690" y="205150"/>
                  </a:lnTo>
                  <a:lnTo>
                    <a:pt x="1525424" y="228613"/>
                  </a:lnTo>
                  <a:lnTo>
                    <a:pt x="1563495" y="253286"/>
                  </a:lnTo>
                  <a:lnTo>
                    <a:pt x="1600870" y="279161"/>
                  </a:lnTo>
                  <a:lnTo>
                    <a:pt x="1637518" y="306230"/>
                  </a:lnTo>
                  <a:lnTo>
                    <a:pt x="1673407" y="334482"/>
                  </a:lnTo>
                  <a:lnTo>
                    <a:pt x="1708505" y="363910"/>
                  </a:lnTo>
                  <a:lnTo>
                    <a:pt x="1742782" y="394505"/>
                  </a:lnTo>
                  <a:lnTo>
                    <a:pt x="1776205" y="426256"/>
                  </a:lnTo>
                  <a:lnTo>
                    <a:pt x="1808743" y="459157"/>
                  </a:lnTo>
                  <a:lnTo>
                    <a:pt x="1840365" y="493197"/>
                  </a:lnTo>
                  <a:lnTo>
                    <a:pt x="1871038" y="528368"/>
                  </a:lnTo>
                  <a:lnTo>
                    <a:pt x="1900731" y="564662"/>
                  </a:lnTo>
                  <a:lnTo>
                    <a:pt x="1929413" y="602068"/>
                  </a:lnTo>
                  <a:lnTo>
                    <a:pt x="1957052" y="640579"/>
                  </a:lnTo>
                  <a:lnTo>
                    <a:pt x="1983617" y="680185"/>
                  </a:lnTo>
                  <a:lnTo>
                    <a:pt x="2009076" y="720877"/>
                  </a:lnTo>
                  <a:lnTo>
                    <a:pt x="2033397" y="762647"/>
                  </a:lnTo>
                  <a:lnTo>
                    <a:pt x="2057670" y="807673"/>
                  </a:lnTo>
                  <a:lnTo>
                    <a:pt x="2080345" y="853414"/>
                  </a:lnTo>
                  <a:lnTo>
                    <a:pt x="2101409" y="899827"/>
                  </a:lnTo>
                  <a:lnTo>
                    <a:pt x="2120851" y="946871"/>
                  </a:lnTo>
                  <a:lnTo>
                    <a:pt x="2138661" y="994502"/>
                  </a:lnTo>
                  <a:lnTo>
                    <a:pt x="2154827" y="1042677"/>
                  </a:lnTo>
                  <a:lnTo>
                    <a:pt x="2169338" y="1091353"/>
                  </a:lnTo>
                  <a:lnTo>
                    <a:pt x="2182184" y="1140488"/>
                  </a:lnTo>
                  <a:lnTo>
                    <a:pt x="2193352" y="1190038"/>
                  </a:lnTo>
                  <a:lnTo>
                    <a:pt x="2202833" y="1239960"/>
                  </a:lnTo>
                  <a:lnTo>
                    <a:pt x="2210615" y="1290212"/>
                  </a:lnTo>
                  <a:lnTo>
                    <a:pt x="2216687" y="1340751"/>
                  </a:lnTo>
                  <a:lnTo>
                    <a:pt x="2221038" y="1391534"/>
                  </a:lnTo>
                  <a:lnTo>
                    <a:pt x="2223656" y="1442517"/>
                  </a:lnTo>
                  <a:lnTo>
                    <a:pt x="2224531" y="1493659"/>
                  </a:lnTo>
                </a:path>
              </a:pathLst>
            </a:custGeom>
            <a:ln w="127000">
              <a:solidFill>
                <a:srgbClr val="FFC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741426"/>
            <a:ext cx="49942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Ethernet</a:t>
            </a:r>
            <a:r>
              <a:rPr spc="-6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: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Definition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6412" y="1796033"/>
            <a:ext cx="7028180" cy="474408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1300" marR="5080" indent="-228600" algn="just">
              <a:lnSpc>
                <a:spcPts val="2380"/>
              </a:lnSpc>
              <a:spcBef>
                <a:spcPts val="39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Ethernet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type</a:t>
            </a:r>
            <a:r>
              <a:rPr sz="2200" dirty="0">
                <a:latin typeface="Times New Roman"/>
                <a:cs typeface="Times New Roman"/>
              </a:rPr>
              <a:t> of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communication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technology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that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created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Xerox </a:t>
            </a:r>
            <a:r>
              <a:rPr sz="2200" b="1" spc="-45" dirty="0">
                <a:latin typeface="Times New Roman"/>
                <a:cs typeface="Times New Roman"/>
              </a:rPr>
              <a:t>PARC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in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1973</a:t>
            </a:r>
            <a:r>
              <a:rPr sz="2200" b="1" spc="-5" dirty="0">
                <a:latin typeface="Times New Roman"/>
                <a:cs typeface="Times New Roman"/>
              </a:rPr>
              <a:t> by Robert</a:t>
            </a:r>
            <a:r>
              <a:rPr sz="2200" b="1" spc="1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Metcalfe</a:t>
            </a:r>
            <a:r>
              <a:rPr sz="2200" spc="-5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241300" indent="-228600" algn="just">
              <a:lnSpc>
                <a:spcPts val="2510"/>
              </a:lnSpc>
              <a:spcBef>
                <a:spcPts val="69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Ethernet</a:t>
            </a:r>
            <a:r>
              <a:rPr sz="2200" spc="45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4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45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45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connect</a:t>
            </a:r>
            <a:r>
              <a:rPr sz="2200" spc="45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several</a:t>
            </a:r>
            <a:r>
              <a:rPr sz="2200" spc="45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computers</a:t>
            </a:r>
            <a:r>
              <a:rPr sz="2200" spc="45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46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make</a:t>
            </a:r>
            <a:r>
              <a:rPr sz="2200" spc="4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endParaRPr sz="2200">
              <a:latin typeface="Times New Roman"/>
              <a:cs typeface="Times New Roman"/>
            </a:endParaRPr>
          </a:p>
          <a:p>
            <a:pPr marL="241300">
              <a:lnSpc>
                <a:spcPts val="2510"/>
              </a:lnSpc>
            </a:pPr>
            <a:r>
              <a:rPr sz="2200" spc="-5" dirty="0">
                <a:latin typeface="Times New Roman"/>
                <a:cs typeface="Times New Roman"/>
              </a:rPr>
              <a:t>LAN.</a:t>
            </a:r>
            <a:endParaRPr sz="2200">
              <a:latin typeface="Times New Roman"/>
              <a:cs typeface="Times New Roman"/>
            </a:endParaRPr>
          </a:p>
          <a:p>
            <a:pPr marL="241300" marR="6985" indent="-228600" algn="just">
              <a:lnSpc>
                <a:spcPts val="2380"/>
              </a:lnSpc>
              <a:spcBef>
                <a:spcPts val="1040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It is a widely used LAN protocol that connects computers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within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LAN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65" dirty="0">
                <a:latin typeface="Times New Roman"/>
                <a:cs typeface="Times New Roman"/>
              </a:rPr>
              <a:t>WAN.</a:t>
            </a:r>
            <a:endParaRPr sz="22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69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simple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user interface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connect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various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devices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easily.</a:t>
            </a:r>
            <a:endParaRPr sz="22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73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Devices </a:t>
            </a:r>
            <a:r>
              <a:rPr sz="2200" spc="-10" dirty="0">
                <a:latin typeface="Times New Roman"/>
                <a:cs typeface="Times New Roman"/>
              </a:rPr>
              <a:t>can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 </a:t>
            </a:r>
            <a:r>
              <a:rPr sz="2200" spc="-5" dirty="0">
                <a:latin typeface="Times New Roman"/>
                <a:cs typeface="Times New Roman"/>
              </a:rPr>
              <a:t>connected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using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Ethernet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port.</a:t>
            </a:r>
            <a:endParaRPr sz="2200">
              <a:latin typeface="Times New Roman"/>
              <a:cs typeface="Times New Roman"/>
            </a:endParaRPr>
          </a:p>
          <a:p>
            <a:pPr marL="241300" marR="8255" indent="-228600" algn="just">
              <a:lnSpc>
                <a:spcPct val="90100"/>
              </a:lnSpc>
              <a:spcBef>
                <a:spcPts val="100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wireless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networks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replaced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Ethernet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many</a:t>
            </a:r>
            <a:r>
              <a:rPr sz="2200" spc="-5" dirty="0">
                <a:latin typeface="Times New Roman"/>
                <a:cs typeface="Times New Roman"/>
              </a:rPr>
              <a:t> areas;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however,</a:t>
            </a:r>
            <a:r>
              <a:rPr sz="2200" spc="5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Ethernet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still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more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common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wired </a:t>
            </a:r>
            <a:r>
              <a:rPr sz="2200" dirty="0">
                <a:latin typeface="Times New Roman"/>
                <a:cs typeface="Times New Roman"/>
              </a:rPr>
              <a:t> networking.</a:t>
            </a:r>
            <a:endParaRPr sz="2200">
              <a:latin typeface="Times New Roman"/>
              <a:cs typeface="Times New Roman"/>
            </a:endParaRPr>
          </a:p>
          <a:p>
            <a:pPr marL="241300" marR="7620" indent="-228600" algn="just">
              <a:lnSpc>
                <a:spcPts val="2380"/>
              </a:lnSpc>
              <a:spcBef>
                <a:spcPts val="1025"/>
              </a:spcBef>
              <a:buSzPct val="95454"/>
              <a:buFont typeface="Wingdings"/>
              <a:buChar char=""/>
              <a:tabLst>
                <a:tab pos="241300" algn="l"/>
              </a:tabLst>
            </a:pPr>
            <a:r>
              <a:rPr sz="2200" spc="-20" dirty="0">
                <a:latin typeface="Times New Roman"/>
                <a:cs typeface="Times New Roman"/>
              </a:rPr>
              <a:t>Wired </a:t>
            </a:r>
            <a:r>
              <a:rPr sz="2200" spc="-5" dirty="0">
                <a:latin typeface="Times New Roman"/>
                <a:cs typeface="Times New Roman"/>
              </a:rPr>
              <a:t>connections are </a:t>
            </a:r>
            <a:r>
              <a:rPr sz="2200" b="1" spc="-15" dirty="0">
                <a:latin typeface="Times New Roman"/>
                <a:cs typeface="Times New Roman"/>
              </a:rPr>
              <a:t>more secure </a:t>
            </a:r>
            <a:r>
              <a:rPr sz="2200" b="1" spc="-5" dirty="0">
                <a:latin typeface="Times New Roman"/>
                <a:cs typeface="Times New Roman"/>
              </a:rPr>
              <a:t>and </a:t>
            </a:r>
            <a:r>
              <a:rPr sz="2200" b="1" spc="-15" dirty="0">
                <a:latin typeface="Times New Roman"/>
                <a:cs typeface="Times New Roman"/>
              </a:rPr>
              <a:t>are </a:t>
            </a:r>
            <a:r>
              <a:rPr sz="2200" b="1" spc="-5" dirty="0">
                <a:latin typeface="Times New Roman"/>
                <a:cs typeface="Times New Roman"/>
              </a:rPr>
              <a:t>less </a:t>
            </a:r>
            <a:r>
              <a:rPr sz="2200" b="1" spc="-10" dirty="0">
                <a:latin typeface="Times New Roman"/>
                <a:cs typeface="Times New Roman"/>
              </a:rPr>
              <a:t>prone </a:t>
            </a:r>
            <a:r>
              <a:rPr sz="2200" b="1" spc="-5" dirty="0">
                <a:latin typeface="Times New Roman"/>
                <a:cs typeface="Times New Roman"/>
              </a:rPr>
              <a:t>to </a:t>
            </a:r>
            <a:r>
              <a:rPr sz="2200" b="1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interference</a:t>
            </a:r>
            <a:r>
              <a:rPr sz="2200" spc="-1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759" y="2681427"/>
            <a:ext cx="2461260" cy="130111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z="4400" b="1" dirty="0">
                <a:solidFill>
                  <a:srgbClr val="FFFFFF"/>
                </a:solidFill>
                <a:latin typeface="Times New Roman"/>
                <a:cs typeface="Times New Roman"/>
              </a:rPr>
              <a:t>Ethernet</a:t>
            </a:r>
            <a:r>
              <a:rPr sz="44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400" b="1" dirty="0">
                <a:solidFill>
                  <a:srgbClr val="FFFFFF"/>
                </a:solidFill>
                <a:latin typeface="Times New Roman"/>
                <a:cs typeface="Times New Roman"/>
              </a:rPr>
              <a:t>: </a:t>
            </a:r>
            <a:r>
              <a:rPr sz="4400" b="1" spc="-10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Features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92818" y="4498085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2159"/>
                </a:moveTo>
                <a:lnTo>
                  <a:pt x="48205" y="2041602"/>
                </a:lnTo>
                <a:lnTo>
                  <a:pt x="96136" y="2039937"/>
                </a:lnTo>
                <a:lnTo>
                  <a:pt x="143781" y="2037177"/>
                </a:lnTo>
                <a:lnTo>
                  <a:pt x="191128" y="2033334"/>
                </a:lnTo>
                <a:lnTo>
                  <a:pt x="238165" y="2028420"/>
                </a:lnTo>
                <a:lnTo>
                  <a:pt x="284878" y="2022449"/>
                </a:lnTo>
                <a:lnTo>
                  <a:pt x="331257" y="2015431"/>
                </a:lnTo>
                <a:lnTo>
                  <a:pt x="377288" y="2007379"/>
                </a:lnTo>
                <a:lnTo>
                  <a:pt x="422959" y="1998307"/>
                </a:lnTo>
                <a:lnTo>
                  <a:pt x="468258" y="1988224"/>
                </a:lnTo>
                <a:lnTo>
                  <a:pt x="513174" y="1977145"/>
                </a:lnTo>
                <a:lnTo>
                  <a:pt x="557693" y="1965081"/>
                </a:lnTo>
                <a:lnTo>
                  <a:pt x="601803" y="1952045"/>
                </a:lnTo>
                <a:lnTo>
                  <a:pt x="645493" y="1938048"/>
                </a:lnTo>
                <a:lnTo>
                  <a:pt x="688749" y="1923104"/>
                </a:lnTo>
                <a:lnTo>
                  <a:pt x="731560" y="1907224"/>
                </a:lnTo>
                <a:lnTo>
                  <a:pt x="773913" y="1890420"/>
                </a:lnTo>
                <a:lnTo>
                  <a:pt x="815796" y="1872705"/>
                </a:lnTo>
                <a:lnTo>
                  <a:pt x="857198" y="1854092"/>
                </a:lnTo>
                <a:lnTo>
                  <a:pt x="898104" y="1834591"/>
                </a:lnTo>
                <a:lnTo>
                  <a:pt x="938504" y="1814216"/>
                </a:lnTo>
                <a:lnTo>
                  <a:pt x="978385" y="1792979"/>
                </a:lnTo>
                <a:lnTo>
                  <a:pt x="1017735" y="1770893"/>
                </a:lnTo>
                <a:lnTo>
                  <a:pt x="1056541" y="1747968"/>
                </a:lnTo>
                <a:lnTo>
                  <a:pt x="1094792" y="1724219"/>
                </a:lnTo>
                <a:lnTo>
                  <a:pt x="1132475" y="1699656"/>
                </a:lnTo>
                <a:lnTo>
                  <a:pt x="1169577" y="1674292"/>
                </a:lnTo>
                <a:lnTo>
                  <a:pt x="1206087" y="1648140"/>
                </a:lnTo>
                <a:lnTo>
                  <a:pt x="1241992" y="1621211"/>
                </a:lnTo>
                <a:lnTo>
                  <a:pt x="1277280" y="1593518"/>
                </a:lnTo>
                <a:lnTo>
                  <a:pt x="1311939" y="1565074"/>
                </a:lnTo>
                <a:lnTo>
                  <a:pt x="1345957" y="1535890"/>
                </a:lnTo>
                <a:lnTo>
                  <a:pt x="1379320" y="1505978"/>
                </a:lnTo>
                <a:lnTo>
                  <a:pt x="1412018" y="1475352"/>
                </a:lnTo>
                <a:lnTo>
                  <a:pt x="1444037" y="1444023"/>
                </a:lnTo>
                <a:lnTo>
                  <a:pt x="1475366" y="1412003"/>
                </a:lnTo>
                <a:lnTo>
                  <a:pt x="1505992" y="1379305"/>
                </a:lnTo>
                <a:lnTo>
                  <a:pt x="1535903" y="1345941"/>
                </a:lnTo>
                <a:lnTo>
                  <a:pt x="1565086" y="1311924"/>
                </a:lnTo>
                <a:lnTo>
                  <a:pt x="1593530" y="1277264"/>
                </a:lnTo>
                <a:lnTo>
                  <a:pt x="1621223" y="1241976"/>
                </a:lnTo>
                <a:lnTo>
                  <a:pt x="1648151" y="1206071"/>
                </a:lnTo>
                <a:lnTo>
                  <a:pt x="1674302" y="1169560"/>
                </a:lnTo>
                <a:lnTo>
                  <a:pt x="1699666" y="1132458"/>
                </a:lnTo>
                <a:lnTo>
                  <a:pt x="1724228" y="1094775"/>
                </a:lnTo>
                <a:lnTo>
                  <a:pt x="1747977" y="1056524"/>
                </a:lnTo>
                <a:lnTo>
                  <a:pt x="1770901" y="1017718"/>
                </a:lnTo>
                <a:lnTo>
                  <a:pt x="1792987" y="978368"/>
                </a:lnTo>
                <a:lnTo>
                  <a:pt x="1814224" y="938487"/>
                </a:lnTo>
                <a:lnTo>
                  <a:pt x="1834598" y="898088"/>
                </a:lnTo>
                <a:lnTo>
                  <a:pt x="1854098" y="857181"/>
                </a:lnTo>
                <a:lnTo>
                  <a:pt x="1872711" y="815780"/>
                </a:lnTo>
                <a:lnTo>
                  <a:pt x="1890425" y="773897"/>
                </a:lnTo>
                <a:lnTo>
                  <a:pt x="1907228" y="731544"/>
                </a:lnTo>
                <a:lnTo>
                  <a:pt x="1923108" y="688734"/>
                </a:lnTo>
                <a:lnTo>
                  <a:pt x="1938052" y="645478"/>
                </a:lnTo>
                <a:lnTo>
                  <a:pt x="1952048" y="601789"/>
                </a:lnTo>
                <a:lnTo>
                  <a:pt x="1965084" y="557679"/>
                </a:lnTo>
                <a:lnTo>
                  <a:pt x="1977148" y="513161"/>
                </a:lnTo>
                <a:lnTo>
                  <a:pt x="1988226" y="468247"/>
                </a:lnTo>
                <a:lnTo>
                  <a:pt x="1998308" y="422948"/>
                </a:lnTo>
                <a:lnTo>
                  <a:pt x="2007381" y="377277"/>
                </a:lnTo>
                <a:lnTo>
                  <a:pt x="2015432" y="331247"/>
                </a:lnTo>
                <a:lnTo>
                  <a:pt x="2022449" y="284870"/>
                </a:lnTo>
                <a:lnTo>
                  <a:pt x="2028421" y="238158"/>
                </a:lnTo>
                <a:lnTo>
                  <a:pt x="2033334" y="191122"/>
                </a:lnTo>
                <a:lnTo>
                  <a:pt x="2037177" y="143777"/>
                </a:lnTo>
                <a:lnTo>
                  <a:pt x="2039937" y="96133"/>
                </a:lnTo>
                <a:lnTo>
                  <a:pt x="2041602" y="48203"/>
                </a:lnTo>
                <a:lnTo>
                  <a:pt x="2042159" y="0"/>
                </a:lnTo>
              </a:path>
            </a:pathLst>
          </a:custGeom>
          <a:ln w="127000">
            <a:solidFill>
              <a:srgbClr val="FFC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26660" y="1361313"/>
            <a:ext cx="6750050" cy="13792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5080" indent="-228600" algn="just">
              <a:lnSpc>
                <a:spcPts val="2590"/>
              </a:lnSpc>
              <a:spcBef>
                <a:spcPts val="425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organizations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local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networks,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organizations</a:t>
            </a:r>
            <a:r>
              <a:rPr sz="2400" dirty="0">
                <a:latin typeface="Times New Roman"/>
                <a:cs typeface="Times New Roman"/>
              </a:rPr>
              <a:t> such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school</a:t>
            </a:r>
            <a:r>
              <a:rPr sz="2400" spc="5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campuses </a:t>
            </a:r>
            <a:r>
              <a:rPr sz="2400" dirty="0">
                <a:latin typeface="Times New Roman"/>
                <a:cs typeface="Times New Roman"/>
              </a:rPr>
              <a:t> and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hospitals,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company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offices,</a:t>
            </a:r>
            <a:r>
              <a:rPr sz="2400" spc="-5" dirty="0">
                <a:latin typeface="Times New Roman"/>
                <a:cs typeface="Times New Roman"/>
              </a:rPr>
              <a:t> etc.</a:t>
            </a:r>
            <a:r>
              <a:rPr sz="2400" dirty="0">
                <a:latin typeface="Times New Roman"/>
                <a:cs typeface="Times New Roman"/>
              </a:rPr>
              <a:t> for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its</a:t>
            </a:r>
            <a:r>
              <a:rPr sz="2400" dirty="0">
                <a:latin typeface="Times New Roman"/>
                <a:cs typeface="Times New Roman"/>
              </a:rPr>
              <a:t> high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speed,</a:t>
            </a:r>
            <a:r>
              <a:rPr sz="2400" spc="-20" dirty="0">
                <a:latin typeface="Times New Roman"/>
                <a:cs typeface="Times New Roman"/>
              </a:rPr>
              <a:t> security,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reliability.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26660" y="3262121"/>
            <a:ext cx="3255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270" indent="-243204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dirty="0">
                <a:latin typeface="Times New Roman"/>
                <a:cs typeface="Times New Roman"/>
              </a:rPr>
              <a:t>Ethernet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low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price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26660" y="4173728"/>
            <a:ext cx="674941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5080" indent="-228600">
              <a:lnSpc>
                <a:spcPts val="2590"/>
              </a:lnSpc>
              <a:spcBef>
                <a:spcPts val="425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Times New Roman"/>
                <a:cs typeface="Times New Roman"/>
              </a:rPr>
              <a:t>Ethernet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delivers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higher</a:t>
            </a:r>
            <a:r>
              <a:rPr sz="2400" spc="2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levels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performance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maintaining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backward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compatibility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2279" y="531113"/>
            <a:ext cx="39789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Ethernet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:</a:t>
            </a:r>
            <a:r>
              <a:rPr spc="-120" dirty="0">
                <a:solidFill>
                  <a:srgbClr val="000000"/>
                </a:solidFill>
              </a:rPr>
              <a:t> </a:t>
            </a:r>
            <a:r>
              <a:rPr spc="-65" dirty="0">
                <a:solidFill>
                  <a:srgbClr val="000000"/>
                </a:solidFill>
              </a:rPr>
              <a:t>Types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765300" cy="1557655"/>
          </a:xfrm>
          <a:custGeom>
            <a:avLst/>
            <a:gdLst/>
            <a:ahLst/>
            <a:cxnLst/>
            <a:rect l="l" t="t" r="r" b="b"/>
            <a:pathLst>
              <a:path w="1765300" h="1557655">
                <a:moveTo>
                  <a:pt x="1764792" y="0"/>
                </a:moveTo>
                <a:lnTo>
                  <a:pt x="0" y="0"/>
                </a:lnTo>
                <a:lnTo>
                  <a:pt x="0" y="1557527"/>
                </a:lnTo>
                <a:lnTo>
                  <a:pt x="1042492" y="1557527"/>
                </a:lnTo>
                <a:lnTo>
                  <a:pt x="176479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1691639"/>
            <a:ext cx="12192000" cy="5166360"/>
            <a:chOff x="0" y="1691639"/>
            <a:chExt cx="12192000" cy="5166360"/>
          </a:xfrm>
        </p:grpSpPr>
        <p:sp>
          <p:nvSpPr>
            <p:cNvPr id="5" name="object 5"/>
            <p:cNvSpPr/>
            <p:nvPr/>
          </p:nvSpPr>
          <p:spPr>
            <a:xfrm>
              <a:off x="0" y="1691639"/>
              <a:ext cx="12192000" cy="5166360"/>
            </a:xfrm>
            <a:custGeom>
              <a:avLst/>
              <a:gdLst/>
              <a:ahLst/>
              <a:cxnLst/>
              <a:rect l="l" t="t" r="r" b="b"/>
              <a:pathLst>
                <a:path w="12192000" h="5166359">
                  <a:moveTo>
                    <a:pt x="12192000" y="0"/>
                  </a:moveTo>
                  <a:lnTo>
                    <a:pt x="0" y="0"/>
                  </a:lnTo>
                  <a:lnTo>
                    <a:pt x="0" y="888"/>
                  </a:lnTo>
                  <a:lnTo>
                    <a:pt x="1206385" y="888"/>
                  </a:lnTo>
                  <a:lnTo>
                    <a:pt x="862736" y="742569"/>
                  </a:lnTo>
                  <a:lnTo>
                    <a:pt x="0" y="742569"/>
                  </a:lnTo>
                  <a:lnTo>
                    <a:pt x="0" y="743331"/>
                  </a:lnTo>
                  <a:lnTo>
                    <a:pt x="862342" y="743331"/>
                  </a:lnTo>
                  <a:lnTo>
                    <a:pt x="0" y="2604389"/>
                  </a:lnTo>
                  <a:lnTo>
                    <a:pt x="0" y="5166359"/>
                  </a:lnTo>
                  <a:lnTo>
                    <a:pt x="12192000" y="516635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691639"/>
              <a:ext cx="972819" cy="2097405"/>
            </a:xfrm>
            <a:custGeom>
              <a:avLst/>
              <a:gdLst/>
              <a:ahLst/>
              <a:cxnLst/>
              <a:rect l="l" t="t" r="r" b="b"/>
              <a:pathLst>
                <a:path w="972819" h="2097404">
                  <a:moveTo>
                    <a:pt x="972312" y="0"/>
                  </a:moveTo>
                  <a:lnTo>
                    <a:pt x="0" y="0"/>
                  </a:lnTo>
                  <a:lnTo>
                    <a:pt x="0" y="2097024"/>
                  </a:lnTo>
                  <a:lnTo>
                    <a:pt x="97231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50442" y="1658874"/>
            <a:ext cx="10562590" cy="462534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40665" marR="11430" indent="-228600" algn="just">
              <a:lnSpc>
                <a:spcPct val="80000"/>
              </a:lnSpc>
              <a:spcBef>
                <a:spcPts val="58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b="1" dirty="0">
                <a:latin typeface="Times New Roman"/>
                <a:cs typeface="Times New Roman"/>
              </a:rPr>
              <a:t>Fast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Ethernet: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twisted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pair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Times New Roman"/>
                <a:cs typeface="Times New Roman"/>
              </a:rPr>
              <a:t>CAT5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cable,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 transfer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around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100 </a:t>
            </a:r>
            <a:r>
              <a:rPr sz="2000" spc="-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Mbps.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100BASE-TX,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100BASE-FX,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100BASE-T4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 three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categories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Fast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Ethernet.</a:t>
            </a:r>
            <a:endParaRPr sz="2000">
              <a:latin typeface="Times New Roman"/>
              <a:cs typeface="Times New Roman"/>
            </a:endParaRPr>
          </a:p>
          <a:p>
            <a:pPr marL="240665" indent="-228600" algn="just">
              <a:lnSpc>
                <a:spcPts val="2160"/>
              </a:lnSpc>
              <a:spcBef>
                <a:spcPts val="51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b="1" dirty="0">
                <a:latin typeface="Times New Roman"/>
                <a:cs typeface="Times New Roman"/>
              </a:rPr>
              <a:t>Gigabit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Ethernet: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fiber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optic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twisted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pair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communication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endParaRPr sz="2000">
              <a:latin typeface="Times New Roman"/>
              <a:cs typeface="Times New Roman"/>
            </a:endParaRPr>
          </a:p>
          <a:p>
            <a:pPr marL="240665" algn="just">
              <a:lnSpc>
                <a:spcPts val="2160"/>
              </a:lnSpc>
            </a:pPr>
            <a:r>
              <a:rPr sz="2000" dirty="0">
                <a:latin typeface="Times New Roman"/>
                <a:cs typeface="Times New Roman"/>
              </a:rPr>
              <a:t>transfer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1000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Mbps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1Gbps.</a:t>
            </a:r>
            <a:endParaRPr sz="2000">
              <a:latin typeface="Times New Roman"/>
              <a:cs typeface="Times New Roman"/>
            </a:endParaRPr>
          </a:p>
          <a:p>
            <a:pPr marL="240665" marR="219075" indent="-228600" algn="just">
              <a:lnSpc>
                <a:spcPts val="1920"/>
              </a:lnSpc>
              <a:spcBef>
                <a:spcPts val="990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b="1" dirty="0">
                <a:latin typeface="Times New Roman"/>
                <a:cs typeface="Times New Roman"/>
              </a:rPr>
              <a:t>10-Gigabit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Ethernet: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transmit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rate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10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Gigabit/second,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45" dirty="0">
                <a:latin typeface="Times New Roman"/>
                <a:cs typeface="Times New Roman"/>
              </a:rPr>
              <a:t>CAT6a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 </a:t>
            </a:r>
            <a:r>
              <a:rPr sz="2000" spc="-490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Times New Roman"/>
                <a:cs typeface="Times New Roman"/>
              </a:rPr>
              <a:t>CAT7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twisted-pair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fiber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optic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well.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 be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expended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nearly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10,000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meters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with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 help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fiber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optic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cable.</a:t>
            </a:r>
            <a:endParaRPr sz="2000">
              <a:latin typeface="Times New Roman"/>
              <a:cs typeface="Times New Roman"/>
            </a:endParaRPr>
          </a:p>
          <a:p>
            <a:pPr marL="240665" indent="-228600" algn="just">
              <a:lnSpc>
                <a:spcPct val="100000"/>
              </a:lnSpc>
              <a:spcBef>
                <a:spcPts val="535"/>
              </a:spcBef>
              <a:buFont typeface="Wingdings"/>
              <a:buChar char=""/>
              <a:tabLst>
                <a:tab pos="241300" algn="l"/>
              </a:tabLst>
            </a:pPr>
            <a:r>
              <a:rPr sz="2000" b="1" dirty="0">
                <a:latin typeface="Times New Roman"/>
                <a:cs typeface="Times New Roman"/>
              </a:rPr>
              <a:t>Switch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Ethernet:</a:t>
            </a:r>
            <a:endParaRPr sz="200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ct val="80000"/>
              </a:lnSpc>
              <a:spcBef>
                <a:spcPts val="505"/>
              </a:spcBef>
              <a:buFont typeface="Wingdings"/>
              <a:buChar char=""/>
              <a:tabLst>
                <a:tab pos="699135" algn="l"/>
              </a:tabLst>
            </a:pPr>
            <a:r>
              <a:rPr sz="2000" dirty="0">
                <a:latin typeface="Times New Roman"/>
                <a:cs typeface="Times New Roman"/>
              </a:rPr>
              <a:t>The network involves adding switches or hubs, which helps to </a:t>
            </a:r>
            <a:r>
              <a:rPr sz="2000" spc="-5" dirty="0">
                <a:latin typeface="Times New Roman"/>
                <a:cs typeface="Times New Roman"/>
              </a:rPr>
              <a:t>improve </a:t>
            </a:r>
            <a:r>
              <a:rPr sz="2000" dirty="0">
                <a:latin typeface="Times New Roman"/>
                <a:cs typeface="Times New Roman"/>
              </a:rPr>
              <a:t>network throughput as 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workstation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own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dedicated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 Mbps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instead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sharing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medium.</a:t>
            </a:r>
            <a:endParaRPr sz="2000">
              <a:latin typeface="Times New Roman"/>
              <a:cs typeface="Times New Roman"/>
            </a:endParaRPr>
          </a:p>
          <a:p>
            <a:pPr marL="698500" marR="441325" lvl="1" indent="-228600">
              <a:lnSpc>
                <a:spcPct val="80000"/>
              </a:lnSpc>
              <a:spcBef>
                <a:spcPts val="495"/>
              </a:spcBef>
              <a:buFont typeface="Wingdings"/>
              <a:buChar char=""/>
              <a:tabLst>
                <a:tab pos="699135" algn="l"/>
              </a:tabLst>
            </a:pPr>
            <a:r>
              <a:rPr sz="2000" dirty="0">
                <a:latin typeface="Times New Roman"/>
                <a:cs typeface="Times New Roman"/>
              </a:rPr>
              <a:t>Instead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crossover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regular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switch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used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network.</a:t>
            </a:r>
            <a:endParaRPr sz="200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ct val="80000"/>
              </a:lnSpc>
              <a:spcBef>
                <a:spcPts val="505"/>
              </a:spcBef>
              <a:buFont typeface="Wingdings"/>
              <a:buChar char=""/>
              <a:tabLst>
                <a:tab pos="699135" algn="l"/>
              </a:tabLst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main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task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 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switch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transfer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one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another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same</a:t>
            </a:r>
            <a:r>
              <a:rPr sz="2000" dirty="0">
                <a:latin typeface="Times New Roman"/>
                <a:cs typeface="Times New Roman"/>
              </a:rPr>
              <a:t> network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without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affecting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devices.</a:t>
            </a:r>
            <a:endParaRPr sz="2000">
              <a:latin typeface="Times New Roman"/>
              <a:cs typeface="Times New Roman"/>
            </a:endParaRPr>
          </a:p>
          <a:p>
            <a:pPr marL="698500" marR="192405" lvl="1" indent="-228600">
              <a:lnSpc>
                <a:spcPts val="1920"/>
              </a:lnSpc>
              <a:spcBef>
                <a:spcPts val="489"/>
              </a:spcBef>
              <a:buFont typeface="Wingdings"/>
              <a:buChar char=""/>
              <a:tabLst>
                <a:tab pos="699135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1000Mbps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Gbps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latest </a:t>
            </a:r>
            <a:r>
              <a:rPr sz="2000" dirty="0">
                <a:latin typeface="Times New Roman"/>
                <a:cs typeface="Times New Roman"/>
              </a:rPr>
              <a:t>Ethernet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10Mbps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100Mbps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fast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Ethernet.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type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Ethernet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makes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use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star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topology.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77053" y="1208659"/>
            <a:ext cx="558546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75585" algn="l"/>
                <a:tab pos="5038725" algn="l"/>
              </a:tabLst>
            </a:pPr>
            <a:r>
              <a:rPr sz="5400" spc="-5" dirty="0">
                <a:solidFill>
                  <a:srgbClr val="000000"/>
                </a:solidFill>
              </a:rPr>
              <a:t>Ethern</a:t>
            </a:r>
            <a:r>
              <a:rPr sz="5400" spc="10" dirty="0">
                <a:solidFill>
                  <a:srgbClr val="000000"/>
                </a:solidFill>
              </a:rPr>
              <a:t>e</a:t>
            </a:r>
            <a:r>
              <a:rPr sz="5400" spc="-5" dirty="0">
                <a:solidFill>
                  <a:srgbClr val="000000"/>
                </a:solidFill>
              </a:rPr>
              <a:t>t	:</a:t>
            </a:r>
            <a:r>
              <a:rPr sz="5400" spc="-95" dirty="0">
                <a:solidFill>
                  <a:srgbClr val="000000"/>
                </a:solidFill>
              </a:rPr>
              <a:t> </a:t>
            </a:r>
            <a:r>
              <a:rPr sz="5400" spc="-400" dirty="0">
                <a:solidFill>
                  <a:srgbClr val="000000"/>
                </a:solidFill>
              </a:rPr>
              <a:t>T</a:t>
            </a:r>
            <a:r>
              <a:rPr sz="5400" spc="-5" dirty="0">
                <a:solidFill>
                  <a:srgbClr val="000000"/>
                </a:solidFill>
              </a:rPr>
              <a:t>ypes	II</a:t>
            </a:r>
            <a:endParaRPr sz="5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57289" cy="685799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275707" y="2332593"/>
            <a:ext cx="4290060" cy="90805"/>
            <a:chOff x="5275707" y="2332593"/>
            <a:chExt cx="4290060" cy="90805"/>
          </a:xfrm>
        </p:grpSpPr>
        <p:sp>
          <p:nvSpPr>
            <p:cNvPr id="5" name="object 5"/>
            <p:cNvSpPr/>
            <p:nvPr/>
          </p:nvSpPr>
          <p:spPr>
            <a:xfrm>
              <a:off x="5297798" y="2361349"/>
              <a:ext cx="4244975" cy="48895"/>
            </a:xfrm>
            <a:custGeom>
              <a:avLst/>
              <a:gdLst/>
              <a:ahLst/>
              <a:cxnLst/>
              <a:rect l="l" t="t" r="r" b="b"/>
              <a:pathLst>
                <a:path w="4244975" h="48894">
                  <a:moveTo>
                    <a:pt x="2873151" y="21912"/>
                  </a:moveTo>
                  <a:lnTo>
                    <a:pt x="2039108" y="21912"/>
                  </a:lnTo>
                  <a:lnTo>
                    <a:pt x="2085321" y="23184"/>
                  </a:lnTo>
                  <a:lnTo>
                    <a:pt x="2142661" y="26441"/>
                  </a:lnTo>
                  <a:lnTo>
                    <a:pt x="2178907" y="29332"/>
                  </a:lnTo>
                  <a:lnTo>
                    <a:pt x="2277231" y="37472"/>
                  </a:lnTo>
                  <a:lnTo>
                    <a:pt x="2334743" y="41695"/>
                  </a:lnTo>
                  <a:lnTo>
                    <a:pt x="2387030" y="44843"/>
                  </a:lnTo>
                  <a:lnTo>
                    <a:pt x="2435096" y="46998"/>
                  </a:lnTo>
                  <a:lnTo>
                    <a:pt x="2479948" y="48243"/>
                  </a:lnTo>
                  <a:lnTo>
                    <a:pt x="2522589" y="48660"/>
                  </a:lnTo>
                  <a:lnTo>
                    <a:pt x="2564025" y="48332"/>
                  </a:lnTo>
                  <a:lnTo>
                    <a:pt x="2605261" y="47340"/>
                  </a:lnTo>
                  <a:lnTo>
                    <a:pt x="2691152" y="43699"/>
                  </a:lnTo>
                  <a:lnTo>
                    <a:pt x="2966915" y="29323"/>
                  </a:lnTo>
                  <a:lnTo>
                    <a:pt x="3025031" y="27513"/>
                  </a:lnTo>
                  <a:lnTo>
                    <a:pt x="3079620" y="26529"/>
                  </a:lnTo>
                  <a:lnTo>
                    <a:pt x="3776244" y="26238"/>
                  </a:lnTo>
                  <a:lnTo>
                    <a:pt x="3792643" y="25600"/>
                  </a:lnTo>
                  <a:lnTo>
                    <a:pt x="3768901" y="25600"/>
                  </a:lnTo>
                  <a:lnTo>
                    <a:pt x="3713931" y="25044"/>
                  </a:lnTo>
                  <a:lnTo>
                    <a:pt x="3656658" y="23704"/>
                  </a:lnTo>
                  <a:lnTo>
                    <a:pt x="3616125" y="22184"/>
                  </a:lnTo>
                  <a:lnTo>
                    <a:pt x="2884512" y="22184"/>
                  </a:lnTo>
                  <a:lnTo>
                    <a:pt x="2873151" y="21912"/>
                  </a:lnTo>
                  <a:close/>
                </a:path>
                <a:path w="4244975" h="48894">
                  <a:moveTo>
                    <a:pt x="808486" y="1752"/>
                  </a:moveTo>
                  <a:lnTo>
                    <a:pt x="765245" y="1961"/>
                  </a:lnTo>
                  <a:lnTo>
                    <a:pt x="717956" y="3333"/>
                  </a:lnTo>
                  <a:lnTo>
                    <a:pt x="405447" y="20027"/>
                  </a:lnTo>
                  <a:lnTo>
                    <a:pt x="370791" y="21621"/>
                  </a:lnTo>
                  <a:lnTo>
                    <a:pt x="343063" y="22736"/>
                  </a:lnTo>
                  <a:lnTo>
                    <a:pt x="380505" y="24118"/>
                  </a:lnTo>
                  <a:lnTo>
                    <a:pt x="448064" y="27517"/>
                  </a:lnTo>
                  <a:lnTo>
                    <a:pt x="587063" y="36116"/>
                  </a:lnTo>
                  <a:lnTo>
                    <a:pt x="643824" y="38872"/>
                  </a:lnTo>
                  <a:lnTo>
                    <a:pt x="694019" y="40514"/>
                  </a:lnTo>
                  <a:lnTo>
                    <a:pt x="739536" y="41197"/>
                  </a:lnTo>
                  <a:lnTo>
                    <a:pt x="782263" y="41074"/>
                  </a:lnTo>
                  <a:lnTo>
                    <a:pt x="824087" y="40301"/>
                  </a:lnTo>
                  <a:lnTo>
                    <a:pt x="1349262" y="26417"/>
                  </a:lnTo>
                  <a:lnTo>
                    <a:pt x="1699272" y="25493"/>
                  </a:lnTo>
                  <a:lnTo>
                    <a:pt x="1654826" y="24537"/>
                  </a:lnTo>
                  <a:lnTo>
                    <a:pt x="1609332" y="22367"/>
                  </a:lnTo>
                  <a:lnTo>
                    <a:pt x="1565144" y="18851"/>
                  </a:lnTo>
                  <a:lnTo>
                    <a:pt x="1559860" y="18229"/>
                  </a:lnTo>
                  <a:lnTo>
                    <a:pt x="1110232" y="18229"/>
                  </a:lnTo>
                  <a:lnTo>
                    <a:pt x="1056076" y="17397"/>
                  </a:lnTo>
                  <a:lnTo>
                    <a:pt x="1000893" y="13804"/>
                  </a:lnTo>
                  <a:lnTo>
                    <a:pt x="943884" y="8732"/>
                  </a:lnTo>
                  <a:lnTo>
                    <a:pt x="894810" y="5075"/>
                  </a:lnTo>
                  <a:lnTo>
                    <a:pt x="850676" y="2769"/>
                  </a:lnTo>
                  <a:lnTo>
                    <a:pt x="808486" y="1752"/>
                  </a:lnTo>
                  <a:close/>
                </a:path>
                <a:path w="4244975" h="48894">
                  <a:moveTo>
                    <a:pt x="1699272" y="25493"/>
                  </a:moveTo>
                  <a:lnTo>
                    <a:pt x="1443069" y="25493"/>
                  </a:lnTo>
                  <a:lnTo>
                    <a:pt x="1535985" y="25886"/>
                  </a:lnTo>
                  <a:lnTo>
                    <a:pt x="1631835" y="27964"/>
                  </a:lnTo>
                  <a:lnTo>
                    <a:pt x="1786734" y="33959"/>
                  </a:lnTo>
                  <a:lnTo>
                    <a:pt x="1828906" y="34120"/>
                  </a:lnTo>
                  <a:lnTo>
                    <a:pt x="1863321" y="32985"/>
                  </a:lnTo>
                  <a:lnTo>
                    <a:pt x="1892339" y="30963"/>
                  </a:lnTo>
                  <a:lnTo>
                    <a:pt x="1909397" y="29323"/>
                  </a:lnTo>
                  <a:lnTo>
                    <a:pt x="1930216" y="27259"/>
                  </a:lnTo>
                  <a:lnTo>
                    <a:pt x="1943630" y="25900"/>
                  </a:lnTo>
                  <a:lnTo>
                    <a:pt x="1947622" y="25572"/>
                  </a:lnTo>
                  <a:lnTo>
                    <a:pt x="1749869" y="25572"/>
                  </a:lnTo>
                  <a:lnTo>
                    <a:pt x="1701660" y="25544"/>
                  </a:lnTo>
                  <a:lnTo>
                    <a:pt x="1699272" y="25493"/>
                  </a:lnTo>
                  <a:close/>
                </a:path>
                <a:path w="4244975" h="48894">
                  <a:moveTo>
                    <a:pt x="3776244" y="26238"/>
                  </a:moveTo>
                  <a:lnTo>
                    <a:pt x="3131201" y="26238"/>
                  </a:lnTo>
                  <a:lnTo>
                    <a:pt x="3180294" y="26506"/>
                  </a:lnTo>
                  <a:lnTo>
                    <a:pt x="3497984" y="32845"/>
                  </a:lnTo>
                  <a:lnTo>
                    <a:pt x="3545901" y="32788"/>
                  </a:lnTo>
                  <a:lnTo>
                    <a:pt x="3596011" y="32092"/>
                  </a:lnTo>
                  <a:lnTo>
                    <a:pt x="3742982" y="27513"/>
                  </a:lnTo>
                  <a:lnTo>
                    <a:pt x="3776244" y="26238"/>
                  </a:lnTo>
                  <a:close/>
                </a:path>
                <a:path w="4244975" h="48894">
                  <a:moveTo>
                    <a:pt x="387" y="13804"/>
                  </a:moveTo>
                  <a:lnTo>
                    <a:pt x="112" y="18200"/>
                  </a:lnTo>
                  <a:lnTo>
                    <a:pt x="0" y="22184"/>
                  </a:lnTo>
                  <a:lnTo>
                    <a:pt x="1120" y="24537"/>
                  </a:lnTo>
                  <a:lnTo>
                    <a:pt x="1128" y="24805"/>
                  </a:lnTo>
                  <a:lnTo>
                    <a:pt x="387" y="32092"/>
                  </a:lnTo>
                  <a:lnTo>
                    <a:pt x="37277" y="28231"/>
                  </a:lnTo>
                  <a:lnTo>
                    <a:pt x="76138" y="25069"/>
                  </a:lnTo>
                  <a:lnTo>
                    <a:pt x="111297" y="23027"/>
                  </a:lnTo>
                  <a:lnTo>
                    <a:pt x="85368" y="21619"/>
                  </a:lnTo>
                  <a:lnTo>
                    <a:pt x="43044" y="18248"/>
                  </a:lnTo>
                  <a:lnTo>
                    <a:pt x="387" y="13804"/>
                  </a:lnTo>
                  <a:close/>
                </a:path>
                <a:path w="4244975" h="48894">
                  <a:moveTo>
                    <a:pt x="4244727" y="13804"/>
                  </a:moveTo>
                  <a:lnTo>
                    <a:pt x="4199592" y="14646"/>
                  </a:lnTo>
                  <a:lnTo>
                    <a:pt x="4027697" y="20351"/>
                  </a:lnTo>
                  <a:lnTo>
                    <a:pt x="4045493" y="20442"/>
                  </a:lnTo>
                  <a:lnTo>
                    <a:pt x="4094493" y="21621"/>
                  </a:lnTo>
                  <a:lnTo>
                    <a:pt x="4143170" y="23820"/>
                  </a:lnTo>
                  <a:lnTo>
                    <a:pt x="4193328" y="27266"/>
                  </a:lnTo>
                  <a:lnTo>
                    <a:pt x="4244727" y="32092"/>
                  </a:lnTo>
                  <a:lnTo>
                    <a:pt x="4244600" y="25615"/>
                  </a:lnTo>
                  <a:lnTo>
                    <a:pt x="4244241" y="20351"/>
                  </a:lnTo>
                  <a:lnTo>
                    <a:pt x="4244368" y="18200"/>
                  </a:lnTo>
                  <a:lnTo>
                    <a:pt x="4244727" y="13804"/>
                  </a:lnTo>
                  <a:close/>
                </a:path>
                <a:path w="4244975" h="48894">
                  <a:moveTo>
                    <a:pt x="209874" y="20376"/>
                  </a:moveTo>
                  <a:lnTo>
                    <a:pt x="161905" y="21082"/>
                  </a:lnTo>
                  <a:lnTo>
                    <a:pt x="117504" y="22666"/>
                  </a:lnTo>
                  <a:lnTo>
                    <a:pt x="111297" y="23027"/>
                  </a:lnTo>
                  <a:lnTo>
                    <a:pt x="128273" y="23949"/>
                  </a:lnTo>
                  <a:lnTo>
                    <a:pt x="172676" y="25270"/>
                  </a:lnTo>
                  <a:lnTo>
                    <a:pt x="219494" y="25615"/>
                  </a:lnTo>
                  <a:lnTo>
                    <a:pt x="269641" y="25014"/>
                  </a:lnTo>
                  <a:lnTo>
                    <a:pt x="324035" y="23501"/>
                  </a:lnTo>
                  <a:lnTo>
                    <a:pt x="343063" y="22736"/>
                  </a:lnTo>
                  <a:lnTo>
                    <a:pt x="318642" y="21834"/>
                  </a:lnTo>
                  <a:lnTo>
                    <a:pt x="261942" y="20607"/>
                  </a:lnTo>
                  <a:lnTo>
                    <a:pt x="209874" y="20376"/>
                  </a:lnTo>
                  <a:close/>
                </a:path>
                <a:path w="4244975" h="48894">
                  <a:moveTo>
                    <a:pt x="3793996" y="25548"/>
                  </a:moveTo>
                  <a:lnTo>
                    <a:pt x="3768901" y="25600"/>
                  </a:lnTo>
                  <a:lnTo>
                    <a:pt x="3792643" y="25600"/>
                  </a:lnTo>
                  <a:lnTo>
                    <a:pt x="3793996" y="25548"/>
                  </a:lnTo>
                  <a:close/>
                </a:path>
                <a:path w="4244975" h="48894">
                  <a:moveTo>
                    <a:pt x="2560306" y="0"/>
                  </a:moveTo>
                  <a:lnTo>
                    <a:pt x="2509832" y="577"/>
                  </a:lnTo>
                  <a:lnTo>
                    <a:pt x="2457736" y="1844"/>
                  </a:lnTo>
                  <a:lnTo>
                    <a:pt x="1903078" y="21621"/>
                  </a:lnTo>
                  <a:lnTo>
                    <a:pt x="1799485" y="24805"/>
                  </a:lnTo>
                  <a:lnTo>
                    <a:pt x="1749869" y="25572"/>
                  </a:lnTo>
                  <a:lnTo>
                    <a:pt x="1947622" y="25572"/>
                  </a:lnTo>
                  <a:lnTo>
                    <a:pt x="1970623" y="23680"/>
                  </a:lnTo>
                  <a:lnTo>
                    <a:pt x="2001663" y="22214"/>
                  </a:lnTo>
                  <a:lnTo>
                    <a:pt x="2873151" y="21912"/>
                  </a:lnTo>
                  <a:lnTo>
                    <a:pt x="2847132" y="21288"/>
                  </a:lnTo>
                  <a:lnTo>
                    <a:pt x="2811485" y="18610"/>
                  </a:lnTo>
                  <a:lnTo>
                    <a:pt x="2739709" y="8214"/>
                  </a:lnTo>
                  <a:lnTo>
                    <a:pt x="2698859" y="4220"/>
                  </a:lnTo>
                  <a:lnTo>
                    <a:pt x="2655133" y="1640"/>
                  </a:lnTo>
                  <a:lnTo>
                    <a:pt x="2608844" y="294"/>
                  </a:lnTo>
                  <a:lnTo>
                    <a:pt x="2560306" y="0"/>
                  </a:lnTo>
                  <a:close/>
                </a:path>
                <a:path w="4244975" h="48894">
                  <a:moveTo>
                    <a:pt x="3997434" y="20195"/>
                  </a:moveTo>
                  <a:lnTo>
                    <a:pt x="3949535" y="20700"/>
                  </a:lnTo>
                  <a:lnTo>
                    <a:pt x="3901525" y="21800"/>
                  </a:lnTo>
                  <a:lnTo>
                    <a:pt x="3793996" y="25548"/>
                  </a:lnTo>
                  <a:lnTo>
                    <a:pt x="3821808" y="25490"/>
                  </a:lnTo>
                  <a:lnTo>
                    <a:pt x="3922395" y="23735"/>
                  </a:lnTo>
                  <a:lnTo>
                    <a:pt x="3991250" y="21619"/>
                  </a:lnTo>
                  <a:lnTo>
                    <a:pt x="4027697" y="20351"/>
                  </a:lnTo>
                  <a:lnTo>
                    <a:pt x="3997434" y="20195"/>
                  </a:lnTo>
                  <a:close/>
                </a:path>
                <a:path w="4244975" h="48894">
                  <a:moveTo>
                    <a:pt x="3270526" y="6899"/>
                  </a:moveTo>
                  <a:lnTo>
                    <a:pt x="3211911" y="7750"/>
                  </a:lnTo>
                  <a:lnTo>
                    <a:pt x="3156666" y="9599"/>
                  </a:lnTo>
                  <a:lnTo>
                    <a:pt x="2965295" y="20021"/>
                  </a:lnTo>
                  <a:lnTo>
                    <a:pt x="2923832" y="21646"/>
                  </a:lnTo>
                  <a:lnTo>
                    <a:pt x="2884512" y="22184"/>
                  </a:lnTo>
                  <a:lnTo>
                    <a:pt x="3616125" y="22184"/>
                  </a:lnTo>
                  <a:lnTo>
                    <a:pt x="3596844" y="21461"/>
                  </a:lnTo>
                  <a:lnTo>
                    <a:pt x="3534248" y="18200"/>
                  </a:lnTo>
                  <a:lnTo>
                    <a:pt x="3398681" y="9578"/>
                  </a:lnTo>
                  <a:lnTo>
                    <a:pt x="3332714" y="7392"/>
                  </a:lnTo>
                  <a:lnTo>
                    <a:pt x="3270526" y="6899"/>
                  </a:lnTo>
                  <a:close/>
                </a:path>
                <a:path w="4244975" h="48894">
                  <a:moveTo>
                    <a:pt x="1420936" y="6452"/>
                  </a:moveTo>
                  <a:lnTo>
                    <a:pt x="1370191" y="6731"/>
                  </a:lnTo>
                  <a:lnTo>
                    <a:pt x="1319205" y="8665"/>
                  </a:lnTo>
                  <a:lnTo>
                    <a:pt x="1215987" y="14553"/>
                  </a:lnTo>
                  <a:lnTo>
                    <a:pt x="1163492" y="17036"/>
                  </a:lnTo>
                  <a:lnTo>
                    <a:pt x="1110232" y="18229"/>
                  </a:lnTo>
                  <a:lnTo>
                    <a:pt x="1559860" y="18229"/>
                  </a:lnTo>
                  <a:lnTo>
                    <a:pt x="1522228" y="13804"/>
                  </a:lnTo>
                  <a:lnTo>
                    <a:pt x="1471572" y="8564"/>
                  </a:lnTo>
                  <a:lnTo>
                    <a:pt x="1420936" y="6452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97932" y="2354818"/>
              <a:ext cx="4245610" cy="46355"/>
            </a:xfrm>
            <a:custGeom>
              <a:avLst/>
              <a:gdLst/>
              <a:ahLst/>
              <a:cxnLst/>
              <a:rect l="l" t="t" r="r" b="b"/>
              <a:pathLst>
                <a:path w="4245609" h="46355">
                  <a:moveTo>
                    <a:pt x="253" y="20335"/>
                  </a:moveTo>
                  <a:lnTo>
                    <a:pt x="67260" y="14218"/>
                  </a:lnTo>
                  <a:lnTo>
                    <a:pt x="127036" y="9792"/>
                  </a:lnTo>
                  <a:lnTo>
                    <a:pt x="181205" y="6986"/>
                  </a:lnTo>
                  <a:lnTo>
                    <a:pt x="231388" y="5733"/>
                  </a:lnTo>
                  <a:lnTo>
                    <a:pt x="279208" y="5963"/>
                  </a:lnTo>
                  <a:lnTo>
                    <a:pt x="326286" y="7607"/>
                  </a:lnTo>
                  <a:lnTo>
                    <a:pt x="374246" y="10597"/>
                  </a:lnTo>
                  <a:lnTo>
                    <a:pt x="424709" y="14862"/>
                  </a:lnTo>
                  <a:lnTo>
                    <a:pt x="479297" y="20335"/>
                  </a:lnTo>
                  <a:lnTo>
                    <a:pt x="530947" y="24176"/>
                  </a:lnTo>
                  <a:lnTo>
                    <a:pt x="582774" y="25273"/>
                  </a:lnTo>
                  <a:lnTo>
                    <a:pt x="634398" y="24336"/>
                  </a:lnTo>
                  <a:lnTo>
                    <a:pt x="685440" y="22073"/>
                  </a:lnTo>
                  <a:lnTo>
                    <a:pt x="735520" y="19192"/>
                  </a:lnTo>
                  <a:lnTo>
                    <a:pt x="784259" y="16403"/>
                  </a:lnTo>
                  <a:lnTo>
                    <a:pt x="831277" y="14415"/>
                  </a:lnTo>
                  <a:lnTo>
                    <a:pt x="876196" y="13935"/>
                  </a:lnTo>
                  <a:lnTo>
                    <a:pt x="918635" y="15672"/>
                  </a:lnTo>
                  <a:lnTo>
                    <a:pt x="958214" y="20335"/>
                  </a:lnTo>
                  <a:lnTo>
                    <a:pt x="994986" y="25683"/>
                  </a:lnTo>
                  <a:lnTo>
                    <a:pt x="1035836" y="30120"/>
                  </a:lnTo>
                  <a:lnTo>
                    <a:pt x="1080370" y="33595"/>
                  </a:lnTo>
                  <a:lnTo>
                    <a:pt x="1128196" y="36053"/>
                  </a:lnTo>
                  <a:lnTo>
                    <a:pt x="1178920" y="37442"/>
                  </a:lnTo>
                  <a:lnTo>
                    <a:pt x="1232148" y="37708"/>
                  </a:lnTo>
                  <a:lnTo>
                    <a:pt x="1287488" y="36798"/>
                  </a:lnTo>
                  <a:lnTo>
                    <a:pt x="1344546" y="34659"/>
                  </a:lnTo>
                  <a:lnTo>
                    <a:pt x="1402928" y="31238"/>
                  </a:lnTo>
                  <a:lnTo>
                    <a:pt x="1462242" y="26481"/>
                  </a:lnTo>
                  <a:lnTo>
                    <a:pt x="1522094" y="20335"/>
                  </a:lnTo>
                  <a:lnTo>
                    <a:pt x="1569391" y="15276"/>
                  </a:lnTo>
                  <a:lnTo>
                    <a:pt x="1616963" y="10891"/>
                  </a:lnTo>
                  <a:lnTo>
                    <a:pt x="1664821" y="7208"/>
                  </a:lnTo>
                  <a:lnTo>
                    <a:pt x="1712977" y="4251"/>
                  </a:lnTo>
                  <a:lnTo>
                    <a:pt x="1761442" y="2047"/>
                  </a:lnTo>
                  <a:lnTo>
                    <a:pt x="1810227" y="621"/>
                  </a:lnTo>
                  <a:lnTo>
                    <a:pt x="1859343" y="0"/>
                  </a:lnTo>
                  <a:lnTo>
                    <a:pt x="1908801" y="208"/>
                  </a:lnTo>
                  <a:lnTo>
                    <a:pt x="1958612" y="1272"/>
                  </a:lnTo>
                  <a:lnTo>
                    <a:pt x="2008788" y="3218"/>
                  </a:lnTo>
                  <a:lnTo>
                    <a:pt x="2059339" y="6072"/>
                  </a:lnTo>
                  <a:lnTo>
                    <a:pt x="2110276" y="9858"/>
                  </a:lnTo>
                  <a:lnTo>
                    <a:pt x="2161612" y="14604"/>
                  </a:lnTo>
                  <a:lnTo>
                    <a:pt x="2213356" y="20335"/>
                  </a:lnTo>
                  <a:lnTo>
                    <a:pt x="2282169" y="27272"/>
                  </a:lnTo>
                  <a:lnTo>
                    <a:pt x="2343909" y="31040"/>
                  </a:lnTo>
                  <a:lnTo>
                    <a:pt x="2399841" y="32249"/>
                  </a:lnTo>
                  <a:lnTo>
                    <a:pt x="2451225" y="31509"/>
                  </a:lnTo>
                  <a:lnTo>
                    <a:pt x="2499328" y="29432"/>
                  </a:lnTo>
                  <a:lnTo>
                    <a:pt x="2545411" y="26626"/>
                  </a:lnTo>
                  <a:lnTo>
                    <a:pt x="2590738" y="23704"/>
                  </a:lnTo>
                  <a:lnTo>
                    <a:pt x="2636572" y="21274"/>
                  </a:lnTo>
                  <a:lnTo>
                    <a:pt x="2684178" y="19948"/>
                  </a:lnTo>
                  <a:lnTo>
                    <a:pt x="2734817" y="20335"/>
                  </a:lnTo>
                  <a:lnTo>
                    <a:pt x="2787734" y="21145"/>
                  </a:lnTo>
                  <a:lnTo>
                    <a:pt x="2841158" y="20896"/>
                  </a:lnTo>
                  <a:lnTo>
                    <a:pt x="2894835" y="19919"/>
                  </a:lnTo>
                  <a:lnTo>
                    <a:pt x="2948511" y="18543"/>
                  </a:lnTo>
                  <a:lnTo>
                    <a:pt x="3001930" y="17097"/>
                  </a:lnTo>
                  <a:lnTo>
                    <a:pt x="3054839" y="15910"/>
                  </a:lnTo>
                  <a:lnTo>
                    <a:pt x="3106983" y="15311"/>
                  </a:lnTo>
                  <a:lnTo>
                    <a:pt x="3158107" y="15629"/>
                  </a:lnTo>
                  <a:lnTo>
                    <a:pt x="3207958" y="17194"/>
                  </a:lnTo>
                  <a:lnTo>
                    <a:pt x="3256279" y="20335"/>
                  </a:lnTo>
                  <a:lnTo>
                    <a:pt x="3284553" y="22163"/>
                  </a:lnTo>
                  <a:lnTo>
                    <a:pt x="3318990" y="23436"/>
                  </a:lnTo>
                  <a:lnTo>
                    <a:pt x="3358966" y="24217"/>
                  </a:lnTo>
                  <a:lnTo>
                    <a:pt x="3403861" y="24568"/>
                  </a:lnTo>
                  <a:lnTo>
                    <a:pt x="3453052" y="24550"/>
                  </a:lnTo>
                  <a:lnTo>
                    <a:pt x="3505918" y="24226"/>
                  </a:lnTo>
                  <a:lnTo>
                    <a:pt x="3561837" y="23658"/>
                  </a:lnTo>
                  <a:lnTo>
                    <a:pt x="3620186" y="22907"/>
                  </a:lnTo>
                  <a:lnTo>
                    <a:pt x="3680345" y="22035"/>
                  </a:lnTo>
                  <a:lnTo>
                    <a:pt x="3741690" y="21105"/>
                  </a:lnTo>
                  <a:lnTo>
                    <a:pt x="3803600" y="20179"/>
                  </a:lnTo>
                  <a:lnTo>
                    <a:pt x="3865453" y="19318"/>
                  </a:lnTo>
                  <a:lnTo>
                    <a:pt x="3926628" y="18585"/>
                  </a:lnTo>
                  <a:lnTo>
                    <a:pt x="3986502" y="18041"/>
                  </a:lnTo>
                  <a:lnTo>
                    <a:pt x="4044453" y="17749"/>
                  </a:lnTo>
                  <a:lnTo>
                    <a:pt x="4099860" y="17770"/>
                  </a:lnTo>
                  <a:lnTo>
                    <a:pt x="4152100" y="18167"/>
                  </a:lnTo>
                  <a:lnTo>
                    <a:pt x="4200552" y="19002"/>
                  </a:lnTo>
                  <a:lnTo>
                    <a:pt x="4244594" y="20335"/>
                  </a:lnTo>
                  <a:lnTo>
                    <a:pt x="4245483" y="29352"/>
                  </a:lnTo>
                  <a:lnTo>
                    <a:pt x="4244086" y="29733"/>
                  </a:lnTo>
                  <a:lnTo>
                    <a:pt x="4244594" y="38623"/>
                  </a:lnTo>
                  <a:lnTo>
                    <a:pt x="4202503" y="40923"/>
                  </a:lnTo>
                  <a:lnTo>
                    <a:pt x="4161147" y="41996"/>
                  </a:lnTo>
                  <a:lnTo>
                    <a:pt x="4119970" y="42073"/>
                  </a:lnTo>
                  <a:lnTo>
                    <a:pt x="4078416" y="41383"/>
                  </a:lnTo>
                  <a:lnTo>
                    <a:pt x="4035931" y="40156"/>
                  </a:lnTo>
                  <a:lnTo>
                    <a:pt x="3991959" y="38623"/>
                  </a:lnTo>
                  <a:lnTo>
                    <a:pt x="3945945" y="37014"/>
                  </a:lnTo>
                  <a:lnTo>
                    <a:pt x="3897333" y="35557"/>
                  </a:lnTo>
                  <a:lnTo>
                    <a:pt x="3845568" y="34484"/>
                  </a:lnTo>
                  <a:lnTo>
                    <a:pt x="3790096" y="34024"/>
                  </a:lnTo>
                  <a:lnTo>
                    <a:pt x="3730360" y="34408"/>
                  </a:lnTo>
                  <a:lnTo>
                    <a:pt x="3665806" y="35864"/>
                  </a:lnTo>
                  <a:lnTo>
                    <a:pt x="3595877" y="38623"/>
                  </a:lnTo>
                  <a:lnTo>
                    <a:pt x="3524026" y="41374"/>
                  </a:lnTo>
                  <a:lnTo>
                    <a:pt x="3464779" y="42328"/>
                  </a:lnTo>
                  <a:lnTo>
                    <a:pt x="3415905" y="41874"/>
                  </a:lnTo>
                  <a:lnTo>
                    <a:pt x="3375170" y="40401"/>
                  </a:lnTo>
                  <a:lnTo>
                    <a:pt x="3340343" y="38299"/>
                  </a:lnTo>
                  <a:lnTo>
                    <a:pt x="3309191" y="35956"/>
                  </a:lnTo>
                  <a:lnTo>
                    <a:pt x="3279480" y="33762"/>
                  </a:lnTo>
                  <a:lnTo>
                    <a:pt x="3248979" y="32104"/>
                  </a:lnTo>
                  <a:lnTo>
                    <a:pt x="3215455" y="31372"/>
                  </a:lnTo>
                  <a:lnTo>
                    <a:pt x="3176675" y="31956"/>
                  </a:lnTo>
                  <a:lnTo>
                    <a:pt x="3130406" y="34243"/>
                  </a:lnTo>
                  <a:lnTo>
                    <a:pt x="3074416" y="38623"/>
                  </a:lnTo>
                  <a:lnTo>
                    <a:pt x="3011558" y="43264"/>
                  </a:lnTo>
                  <a:lnTo>
                    <a:pt x="2956416" y="45409"/>
                  </a:lnTo>
                  <a:lnTo>
                    <a:pt x="2907448" y="45583"/>
                  </a:lnTo>
                  <a:lnTo>
                    <a:pt x="2863112" y="44306"/>
                  </a:lnTo>
                  <a:lnTo>
                    <a:pt x="2821867" y="42101"/>
                  </a:lnTo>
                  <a:lnTo>
                    <a:pt x="2782170" y="39491"/>
                  </a:lnTo>
                  <a:lnTo>
                    <a:pt x="2742480" y="36996"/>
                  </a:lnTo>
                  <a:lnTo>
                    <a:pt x="2701255" y="35140"/>
                  </a:lnTo>
                  <a:lnTo>
                    <a:pt x="2656953" y="34445"/>
                  </a:lnTo>
                  <a:lnTo>
                    <a:pt x="2608034" y="35432"/>
                  </a:lnTo>
                  <a:lnTo>
                    <a:pt x="2552953" y="38623"/>
                  </a:lnTo>
                  <a:lnTo>
                    <a:pt x="2504260" y="41866"/>
                  </a:lnTo>
                  <a:lnTo>
                    <a:pt x="2457199" y="44113"/>
                  </a:lnTo>
                  <a:lnTo>
                    <a:pt x="2411269" y="45491"/>
                  </a:lnTo>
                  <a:lnTo>
                    <a:pt x="2365970" y="46121"/>
                  </a:lnTo>
                  <a:lnTo>
                    <a:pt x="2320803" y="46129"/>
                  </a:lnTo>
                  <a:lnTo>
                    <a:pt x="2275265" y="45637"/>
                  </a:lnTo>
                  <a:lnTo>
                    <a:pt x="2228858" y="44771"/>
                  </a:lnTo>
                  <a:lnTo>
                    <a:pt x="2181079" y="43653"/>
                  </a:lnTo>
                  <a:lnTo>
                    <a:pt x="2131430" y="42407"/>
                  </a:lnTo>
                  <a:lnTo>
                    <a:pt x="2079409" y="41157"/>
                  </a:lnTo>
                  <a:lnTo>
                    <a:pt x="2024516" y="40027"/>
                  </a:lnTo>
                  <a:lnTo>
                    <a:pt x="1966250" y="39142"/>
                  </a:lnTo>
                  <a:lnTo>
                    <a:pt x="1904111" y="38623"/>
                  </a:lnTo>
                  <a:lnTo>
                    <a:pt x="1847506" y="38472"/>
                  </a:lnTo>
                  <a:lnTo>
                    <a:pt x="1796286" y="38530"/>
                  </a:lnTo>
                  <a:lnTo>
                    <a:pt x="1749385" y="38752"/>
                  </a:lnTo>
                  <a:lnTo>
                    <a:pt x="1705733" y="39090"/>
                  </a:lnTo>
                  <a:lnTo>
                    <a:pt x="1664262" y="39498"/>
                  </a:lnTo>
                  <a:lnTo>
                    <a:pt x="1623906" y="39930"/>
                  </a:lnTo>
                  <a:lnTo>
                    <a:pt x="1583594" y="40338"/>
                  </a:lnTo>
                  <a:lnTo>
                    <a:pt x="1542260" y="40676"/>
                  </a:lnTo>
                  <a:lnTo>
                    <a:pt x="1498836" y="40898"/>
                  </a:lnTo>
                  <a:lnTo>
                    <a:pt x="1452253" y="40956"/>
                  </a:lnTo>
                  <a:lnTo>
                    <a:pt x="1401444" y="40804"/>
                  </a:lnTo>
                  <a:lnTo>
                    <a:pt x="1345340" y="40396"/>
                  </a:lnTo>
                  <a:lnTo>
                    <a:pt x="1282874" y="39685"/>
                  </a:lnTo>
                  <a:lnTo>
                    <a:pt x="1212976" y="38623"/>
                  </a:lnTo>
                  <a:lnTo>
                    <a:pt x="1119455" y="37132"/>
                  </a:lnTo>
                  <a:lnTo>
                    <a:pt x="1044077" y="36124"/>
                  </a:lnTo>
                  <a:lnTo>
                    <a:pt x="983839" y="35543"/>
                  </a:lnTo>
                  <a:lnTo>
                    <a:pt x="935741" y="35332"/>
                  </a:lnTo>
                  <a:lnTo>
                    <a:pt x="896778" y="35433"/>
                  </a:lnTo>
                  <a:lnTo>
                    <a:pt x="863950" y="35789"/>
                  </a:lnTo>
                  <a:lnTo>
                    <a:pt x="834254" y="36343"/>
                  </a:lnTo>
                  <a:lnTo>
                    <a:pt x="804687" y="37038"/>
                  </a:lnTo>
                  <a:lnTo>
                    <a:pt x="772247" y="37818"/>
                  </a:lnTo>
                  <a:lnTo>
                    <a:pt x="733932" y="38623"/>
                  </a:lnTo>
                  <a:lnTo>
                    <a:pt x="699823" y="39066"/>
                  </a:lnTo>
                  <a:lnTo>
                    <a:pt x="658575" y="39277"/>
                  </a:lnTo>
                  <a:lnTo>
                    <a:pt x="611270" y="39297"/>
                  </a:lnTo>
                  <a:lnTo>
                    <a:pt x="558989" y="39168"/>
                  </a:lnTo>
                  <a:lnTo>
                    <a:pt x="502812" y="38930"/>
                  </a:lnTo>
                  <a:lnTo>
                    <a:pt x="443820" y="38623"/>
                  </a:lnTo>
                  <a:lnTo>
                    <a:pt x="383095" y="38290"/>
                  </a:lnTo>
                  <a:lnTo>
                    <a:pt x="321716" y="37970"/>
                  </a:lnTo>
                  <a:lnTo>
                    <a:pt x="260765" y="37705"/>
                  </a:lnTo>
                  <a:lnTo>
                    <a:pt x="201323" y="37535"/>
                  </a:lnTo>
                  <a:lnTo>
                    <a:pt x="144470" y="37501"/>
                  </a:lnTo>
                  <a:lnTo>
                    <a:pt x="91287" y="37644"/>
                  </a:lnTo>
                  <a:lnTo>
                    <a:pt x="42854" y="38004"/>
                  </a:lnTo>
                  <a:lnTo>
                    <a:pt x="253" y="38623"/>
                  </a:lnTo>
                  <a:lnTo>
                    <a:pt x="0" y="34559"/>
                  </a:lnTo>
                  <a:lnTo>
                    <a:pt x="762" y="26177"/>
                  </a:lnTo>
                  <a:lnTo>
                    <a:pt x="253" y="20335"/>
                  </a:lnTo>
                  <a:close/>
                </a:path>
              </a:pathLst>
            </a:custGeom>
            <a:ln w="444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377053" y="2659507"/>
            <a:ext cx="31045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spc="-25" dirty="0">
                <a:latin typeface="Times New Roman"/>
                <a:cs typeface="Times New Roman"/>
              </a:rPr>
              <a:t>Various</a:t>
            </a:r>
            <a:r>
              <a:rPr sz="1700" b="1" spc="-50" dirty="0">
                <a:latin typeface="Times New Roman"/>
                <a:cs typeface="Times New Roman"/>
              </a:rPr>
              <a:t> </a:t>
            </a:r>
            <a:r>
              <a:rPr sz="1700" b="1" spc="-20" dirty="0">
                <a:latin typeface="Times New Roman"/>
                <a:cs typeface="Times New Roman"/>
              </a:rPr>
              <a:t>Types</a:t>
            </a:r>
            <a:r>
              <a:rPr sz="1700" b="1" spc="-5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of</a:t>
            </a:r>
            <a:r>
              <a:rPr sz="1700" b="1" spc="-1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Ethernet</a:t>
            </a:r>
            <a:r>
              <a:rPr sz="1700" b="1" spc="-4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Cables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24500" y="2980944"/>
            <a:ext cx="6289675" cy="1694814"/>
          </a:xfrm>
          <a:prstGeom prst="rect">
            <a:avLst/>
          </a:prstGeom>
          <a:ln w="12700">
            <a:solidFill>
              <a:srgbClr val="EC7C3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650">
              <a:latin typeface="Times New Roman"/>
              <a:cs typeface="Times New Roman"/>
            </a:endParaRPr>
          </a:p>
          <a:p>
            <a:pPr marL="551180" indent="-229235">
              <a:lnSpc>
                <a:spcPts val="1985"/>
              </a:lnSpc>
              <a:buFont typeface="Wingdings"/>
              <a:buChar char=""/>
              <a:tabLst>
                <a:tab pos="551815" algn="l"/>
              </a:tabLst>
            </a:pPr>
            <a:r>
              <a:rPr sz="1700" dirty="0">
                <a:latin typeface="Times New Roman"/>
                <a:cs typeface="Times New Roman"/>
              </a:rPr>
              <a:t>10Base2: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This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twisted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pair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coaxial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cable.</a:t>
            </a:r>
            <a:endParaRPr sz="1700">
              <a:latin typeface="Times New Roman"/>
              <a:cs typeface="Times New Roman"/>
            </a:endParaRPr>
          </a:p>
          <a:p>
            <a:pPr marL="551180" indent="-229235">
              <a:lnSpc>
                <a:spcPts val="1930"/>
              </a:lnSpc>
              <a:buFont typeface="Wingdings"/>
              <a:buChar char=""/>
              <a:tabLst>
                <a:tab pos="551815" algn="l"/>
              </a:tabLst>
            </a:pPr>
            <a:r>
              <a:rPr sz="1700" dirty="0">
                <a:latin typeface="Times New Roman"/>
                <a:cs typeface="Times New Roman"/>
              </a:rPr>
              <a:t>10Base5: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This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thick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twisted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pair </a:t>
            </a:r>
            <a:r>
              <a:rPr sz="1700" dirty="0">
                <a:latin typeface="Times New Roman"/>
                <a:cs typeface="Times New Roman"/>
              </a:rPr>
              <a:t>coaxial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cables.</a:t>
            </a:r>
            <a:endParaRPr sz="1700">
              <a:latin typeface="Times New Roman"/>
              <a:cs typeface="Times New Roman"/>
            </a:endParaRPr>
          </a:p>
          <a:p>
            <a:pPr marL="551180" marR="203200" indent="-228600">
              <a:lnSpc>
                <a:spcPct val="70000"/>
              </a:lnSpc>
              <a:spcBef>
                <a:spcPts val="560"/>
              </a:spcBef>
              <a:buFont typeface="Wingdings"/>
              <a:buChar char=""/>
              <a:tabLst>
                <a:tab pos="551815" algn="l"/>
              </a:tabLst>
            </a:pPr>
            <a:r>
              <a:rPr sz="1700" dirty="0">
                <a:latin typeface="Times New Roman"/>
                <a:cs typeface="Times New Roman"/>
              </a:rPr>
              <a:t>10Base</a:t>
            </a:r>
            <a:r>
              <a:rPr sz="1700" spc="135" dirty="0">
                <a:latin typeface="Times New Roman"/>
                <a:cs typeface="Times New Roman"/>
              </a:rPr>
              <a:t> </a:t>
            </a:r>
            <a:r>
              <a:rPr sz="1700" spc="-45" dirty="0">
                <a:latin typeface="Times New Roman"/>
                <a:cs typeface="Times New Roman"/>
              </a:rPr>
              <a:t>T:</a:t>
            </a:r>
            <a:r>
              <a:rPr sz="1700" spc="1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This</a:t>
            </a:r>
            <a:r>
              <a:rPr sz="1700" spc="1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1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twisted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pair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cable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which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offers</a:t>
            </a:r>
            <a:r>
              <a:rPr sz="1700" spc="1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speed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40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around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10</a:t>
            </a:r>
            <a:r>
              <a:rPr sz="1700" spc="-5" dirty="0">
                <a:latin typeface="Times New Roman"/>
                <a:cs typeface="Times New Roman"/>
              </a:rPr>
              <a:t> Mbps.</a:t>
            </a:r>
            <a:endParaRPr sz="1700">
              <a:latin typeface="Times New Roman"/>
              <a:cs typeface="Times New Roman"/>
            </a:endParaRPr>
          </a:p>
          <a:p>
            <a:pPr marL="551180" indent="-229235">
              <a:lnSpc>
                <a:spcPts val="1614"/>
              </a:lnSpc>
              <a:buFont typeface="Wingdings"/>
              <a:buChar char=""/>
              <a:tabLst>
                <a:tab pos="551815" algn="l"/>
              </a:tabLst>
            </a:pPr>
            <a:r>
              <a:rPr sz="1700" spc="-5" dirty="0">
                <a:latin typeface="Times New Roman"/>
                <a:cs typeface="Times New Roman"/>
              </a:rPr>
              <a:t>100BaseTX: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This</a:t>
            </a:r>
            <a:r>
              <a:rPr sz="1700" spc="2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is</a:t>
            </a:r>
            <a:r>
              <a:rPr sz="1700" spc="2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23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twisted</a:t>
            </a:r>
            <a:r>
              <a:rPr sz="1700" spc="2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pair</a:t>
            </a:r>
            <a:r>
              <a:rPr sz="1700" spc="23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cable</a:t>
            </a:r>
            <a:r>
              <a:rPr sz="1700" spc="2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and</a:t>
            </a:r>
            <a:r>
              <a:rPr sz="1700" spc="2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offer</a:t>
            </a:r>
            <a:r>
              <a:rPr sz="1700" spc="2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229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speed</a:t>
            </a:r>
            <a:r>
              <a:rPr sz="1700" spc="2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of</a:t>
            </a:r>
            <a:endParaRPr sz="1700">
              <a:latin typeface="Times New Roman"/>
              <a:cs typeface="Times New Roman"/>
            </a:endParaRPr>
          </a:p>
          <a:p>
            <a:pPr marL="551180">
              <a:lnSpc>
                <a:spcPts val="1735"/>
              </a:lnSpc>
            </a:pPr>
            <a:r>
              <a:rPr sz="1700" dirty="0">
                <a:latin typeface="Times New Roman"/>
                <a:cs typeface="Times New Roman"/>
              </a:rPr>
              <a:t>100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Mbps.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24500" y="4754879"/>
            <a:ext cx="6289675" cy="1696720"/>
          </a:xfrm>
          <a:prstGeom prst="rect">
            <a:avLst/>
          </a:prstGeom>
          <a:ln w="9525">
            <a:solidFill>
              <a:srgbClr val="4471C4"/>
            </a:solidFill>
          </a:ln>
        </p:spPr>
        <p:txBody>
          <a:bodyPr vert="horz" wrap="square" lIns="0" tIns="137160" rIns="0" bIns="0" rtlCol="0">
            <a:spAutoFit/>
          </a:bodyPr>
          <a:lstStyle/>
          <a:p>
            <a:pPr marL="551180" marR="203835" indent="-228600">
              <a:lnSpc>
                <a:spcPct val="70000"/>
              </a:lnSpc>
              <a:spcBef>
                <a:spcPts val="1080"/>
              </a:spcBef>
              <a:buFont typeface="Wingdings"/>
              <a:buChar char=""/>
              <a:tabLst>
                <a:tab pos="551815" algn="l"/>
              </a:tabLst>
            </a:pPr>
            <a:r>
              <a:rPr sz="1700" spc="-5" dirty="0">
                <a:latin typeface="Times New Roman"/>
                <a:cs typeface="Times New Roman"/>
              </a:rPr>
              <a:t>100Base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FX: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Fiber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optic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protocol</a:t>
            </a:r>
            <a:r>
              <a:rPr sz="1700" spc="14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which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offers</a:t>
            </a:r>
            <a:r>
              <a:rPr sz="1700" spc="1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speed</a:t>
            </a:r>
            <a:r>
              <a:rPr sz="1700" spc="1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100 </a:t>
            </a:r>
            <a:r>
              <a:rPr sz="1700" spc="-40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Mbps.</a:t>
            </a:r>
            <a:endParaRPr sz="1700">
              <a:latin typeface="Times New Roman"/>
              <a:cs typeface="Times New Roman"/>
            </a:endParaRPr>
          </a:p>
          <a:p>
            <a:pPr marL="551180" indent="-229235">
              <a:lnSpc>
                <a:spcPts val="1614"/>
              </a:lnSpc>
              <a:buFont typeface="Wingdings"/>
              <a:buChar char=""/>
              <a:tabLst>
                <a:tab pos="551815" algn="l"/>
              </a:tabLst>
            </a:pPr>
            <a:r>
              <a:rPr sz="1700" dirty="0">
                <a:latin typeface="Times New Roman"/>
                <a:cs typeface="Times New Roman"/>
              </a:rPr>
              <a:t>1000Base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SX: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Fiber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optic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protocol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which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utilizes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wavelength</a:t>
            </a:r>
            <a:endParaRPr sz="1700">
              <a:latin typeface="Times New Roman"/>
              <a:cs typeface="Times New Roman"/>
            </a:endParaRPr>
          </a:p>
          <a:p>
            <a:pPr marL="551180">
              <a:lnSpc>
                <a:spcPts val="1680"/>
              </a:lnSpc>
            </a:pP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850nm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for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multimode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networks.</a:t>
            </a:r>
            <a:endParaRPr sz="1700">
              <a:latin typeface="Times New Roman"/>
              <a:cs typeface="Times New Roman"/>
            </a:endParaRPr>
          </a:p>
          <a:p>
            <a:pPr marL="551180" indent="-229235">
              <a:lnSpc>
                <a:spcPts val="1680"/>
              </a:lnSpc>
              <a:buFont typeface="Wingdings"/>
              <a:buChar char=""/>
              <a:tabLst>
                <a:tab pos="551815" algn="l"/>
              </a:tabLst>
            </a:pPr>
            <a:r>
              <a:rPr sz="1700" dirty="0">
                <a:latin typeface="Times New Roman"/>
                <a:cs typeface="Times New Roman"/>
              </a:rPr>
              <a:t>1000Base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LX: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Fiber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optic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protocol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which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utilizes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wavelength</a:t>
            </a:r>
            <a:endParaRPr sz="1700">
              <a:latin typeface="Times New Roman"/>
              <a:cs typeface="Times New Roman"/>
            </a:endParaRPr>
          </a:p>
          <a:p>
            <a:pPr marL="551180" marR="204470">
              <a:lnSpc>
                <a:spcPct val="70000"/>
              </a:lnSpc>
              <a:spcBef>
                <a:spcPts val="305"/>
              </a:spcBef>
            </a:pP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2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1310</a:t>
            </a:r>
            <a:r>
              <a:rPr sz="1700" spc="33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nm,</a:t>
            </a:r>
            <a:r>
              <a:rPr sz="1700" spc="34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for</a:t>
            </a:r>
            <a:r>
              <a:rPr sz="1700" spc="3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multimode</a:t>
            </a:r>
            <a:r>
              <a:rPr sz="1700" spc="33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networks</a:t>
            </a:r>
            <a:r>
              <a:rPr sz="1700" spc="33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and</a:t>
            </a:r>
            <a:r>
              <a:rPr sz="1700" spc="33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up</a:t>
            </a:r>
            <a:r>
              <a:rPr sz="1700" spc="33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32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1550nm</a:t>
            </a:r>
            <a:r>
              <a:rPr sz="1700" spc="3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 </a:t>
            </a:r>
            <a:r>
              <a:rPr sz="1700" spc="-40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singlemode</a:t>
            </a:r>
            <a:r>
              <a:rPr sz="1700" dirty="0">
                <a:latin typeface="Times New Roman"/>
                <a:cs typeface="Times New Roman"/>
              </a:rPr>
              <a:t> networks.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41905" y="1668271"/>
            <a:ext cx="1430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Advantage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34695" y="2564892"/>
            <a:ext cx="5364480" cy="614680"/>
            <a:chOff x="234695" y="2564892"/>
            <a:chExt cx="5364480" cy="614680"/>
          </a:xfrm>
        </p:grpSpPr>
        <p:sp>
          <p:nvSpPr>
            <p:cNvPr id="4" name="object 4"/>
            <p:cNvSpPr/>
            <p:nvPr/>
          </p:nvSpPr>
          <p:spPr>
            <a:xfrm>
              <a:off x="234695" y="2564892"/>
              <a:ext cx="5364480" cy="614680"/>
            </a:xfrm>
            <a:custGeom>
              <a:avLst/>
              <a:gdLst/>
              <a:ahLst/>
              <a:cxnLst/>
              <a:rect l="l" t="t" r="r" b="b"/>
              <a:pathLst>
                <a:path w="5364480" h="614680">
                  <a:moveTo>
                    <a:pt x="5303012" y="0"/>
                  </a:moveTo>
                  <a:lnTo>
                    <a:pt x="61417" y="0"/>
                  </a:lnTo>
                  <a:lnTo>
                    <a:pt x="37510" y="4835"/>
                  </a:lnTo>
                  <a:lnTo>
                    <a:pt x="17987" y="18018"/>
                  </a:lnTo>
                  <a:lnTo>
                    <a:pt x="4826" y="37558"/>
                  </a:lnTo>
                  <a:lnTo>
                    <a:pt x="0" y="61468"/>
                  </a:lnTo>
                  <a:lnTo>
                    <a:pt x="0" y="552704"/>
                  </a:lnTo>
                  <a:lnTo>
                    <a:pt x="4826" y="576613"/>
                  </a:lnTo>
                  <a:lnTo>
                    <a:pt x="17987" y="596153"/>
                  </a:lnTo>
                  <a:lnTo>
                    <a:pt x="37510" y="609336"/>
                  </a:lnTo>
                  <a:lnTo>
                    <a:pt x="61417" y="614172"/>
                  </a:lnTo>
                  <a:lnTo>
                    <a:pt x="5303012" y="614172"/>
                  </a:lnTo>
                  <a:lnTo>
                    <a:pt x="5326921" y="609336"/>
                  </a:lnTo>
                  <a:lnTo>
                    <a:pt x="5346461" y="596153"/>
                  </a:lnTo>
                  <a:lnTo>
                    <a:pt x="5359644" y="576613"/>
                  </a:lnTo>
                  <a:lnTo>
                    <a:pt x="5364480" y="552704"/>
                  </a:lnTo>
                  <a:lnTo>
                    <a:pt x="5364480" y="61468"/>
                  </a:lnTo>
                  <a:lnTo>
                    <a:pt x="5359644" y="37558"/>
                  </a:lnTo>
                  <a:lnTo>
                    <a:pt x="5346461" y="18018"/>
                  </a:lnTo>
                  <a:lnTo>
                    <a:pt x="5326921" y="4835"/>
                  </a:lnTo>
                  <a:lnTo>
                    <a:pt x="5303012" y="0"/>
                  </a:lnTo>
                  <a:close/>
                </a:path>
              </a:pathLst>
            </a:custGeom>
            <a:solidFill>
              <a:srgbClr val="CFD4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7373" y="2763638"/>
              <a:ext cx="295910" cy="220979"/>
            </a:xfrm>
            <a:custGeom>
              <a:avLst/>
              <a:gdLst/>
              <a:ahLst/>
              <a:cxnLst/>
              <a:rect l="l" t="t" r="r" b="b"/>
              <a:pathLst>
                <a:path w="295909" h="220980">
                  <a:moveTo>
                    <a:pt x="36092" y="0"/>
                  </a:moveTo>
                  <a:lnTo>
                    <a:pt x="32969" y="2775"/>
                  </a:lnTo>
                  <a:lnTo>
                    <a:pt x="34010" y="5551"/>
                  </a:lnTo>
                  <a:lnTo>
                    <a:pt x="47891" y="44761"/>
                  </a:lnTo>
                  <a:lnTo>
                    <a:pt x="27069" y="76684"/>
                  </a:lnTo>
                  <a:lnTo>
                    <a:pt x="25334" y="78072"/>
                  </a:lnTo>
                  <a:lnTo>
                    <a:pt x="22905" y="78766"/>
                  </a:lnTo>
                  <a:lnTo>
                    <a:pt x="10412" y="81889"/>
                  </a:lnTo>
                  <a:lnTo>
                    <a:pt x="4165" y="83277"/>
                  </a:lnTo>
                  <a:lnTo>
                    <a:pt x="0" y="88829"/>
                  </a:lnTo>
                  <a:lnTo>
                    <a:pt x="113" y="128884"/>
                  </a:lnTo>
                  <a:lnTo>
                    <a:pt x="4165" y="134284"/>
                  </a:lnTo>
                  <a:lnTo>
                    <a:pt x="10412" y="136019"/>
                  </a:lnTo>
                  <a:lnTo>
                    <a:pt x="23252" y="139142"/>
                  </a:lnTo>
                  <a:lnTo>
                    <a:pt x="25334" y="139836"/>
                  </a:lnTo>
                  <a:lnTo>
                    <a:pt x="27069" y="141224"/>
                  </a:lnTo>
                  <a:lnTo>
                    <a:pt x="33104" y="153184"/>
                  </a:lnTo>
                  <a:lnTo>
                    <a:pt x="39172" y="162477"/>
                  </a:lnTo>
                  <a:lnTo>
                    <a:pt x="46216" y="171119"/>
                  </a:lnTo>
                  <a:lnTo>
                    <a:pt x="55179" y="180087"/>
                  </a:lnTo>
                  <a:lnTo>
                    <a:pt x="56220" y="181475"/>
                  </a:lnTo>
                  <a:lnTo>
                    <a:pt x="56567" y="183210"/>
                  </a:lnTo>
                  <a:lnTo>
                    <a:pt x="61773" y="214786"/>
                  </a:lnTo>
                  <a:lnTo>
                    <a:pt x="62467" y="218256"/>
                  </a:lnTo>
                  <a:lnTo>
                    <a:pt x="65243" y="220685"/>
                  </a:lnTo>
                  <a:lnTo>
                    <a:pt x="95088" y="220685"/>
                  </a:lnTo>
                  <a:lnTo>
                    <a:pt x="97864" y="218256"/>
                  </a:lnTo>
                  <a:lnTo>
                    <a:pt x="98558" y="214786"/>
                  </a:lnTo>
                  <a:lnTo>
                    <a:pt x="100294" y="203682"/>
                  </a:lnTo>
                  <a:lnTo>
                    <a:pt x="150444" y="203682"/>
                  </a:lnTo>
                  <a:lnTo>
                    <a:pt x="153390" y="202988"/>
                  </a:lnTo>
                  <a:lnTo>
                    <a:pt x="194202" y="202988"/>
                  </a:lnTo>
                  <a:lnTo>
                    <a:pt x="197463" y="183210"/>
                  </a:lnTo>
                  <a:lnTo>
                    <a:pt x="197810" y="181475"/>
                  </a:lnTo>
                  <a:lnTo>
                    <a:pt x="198504" y="180087"/>
                  </a:lnTo>
                  <a:lnTo>
                    <a:pt x="199892" y="179046"/>
                  </a:lnTo>
                  <a:lnTo>
                    <a:pt x="214462" y="164191"/>
                  </a:lnTo>
                  <a:lnTo>
                    <a:pt x="225876" y="147383"/>
                  </a:lnTo>
                  <a:lnTo>
                    <a:pt x="233321" y="128884"/>
                  </a:lnTo>
                  <a:lnTo>
                    <a:pt x="235984" y="108954"/>
                  </a:lnTo>
                  <a:lnTo>
                    <a:pt x="235897" y="102362"/>
                  </a:lnTo>
                  <a:lnTo>
                    <a:pt x="235290" y="97504"/>
                  </a:lnTo>
                  <a:lnTo>
                    <a:pt x="233902" y="91952"/>
                  </a:lnTo>
                  <a:lnTo>
                    <a:pt x="238066" y="90564"/>
                  </a:lnTo>
                  <a:lnTo>
                    <a:pt x="242577" y="89523"/>
                  </a:lnTo>
                  <a:lnTo>
                    <a:pt x="281766" y="89523"/>
                  </a:lnTo>
                  <a:lnTo>
                    <a:pt x="277281" y="85359"/>
                  </a:lnTo>
                  <a:lnTo>
                    <a:pt x="280751" y="84665"/>
                  </a:lnTo>
                  <a:lnTo>
                    <a:pt x="283875" y="84318"/>
                  </a:lnTo>
                  <a:lnTo>
                    <a:pt x="292117" y="84318"/>
                  </a:lnTo>
                  <a:lnTo>
                    <a:pt x="294286" y="82583"/>
                  </a:lnTo>
                  <a:lnTo>
                    <a:pt x="294980" y="78766"/>
                  </a:lnTo>
                  <a:lnTo>
                    <a:pt x="229737" y="78766"/>
                  </a:lnTo>
                  <a:lnTo>
                    <a:pt x="212532" y="51907"/>
                  </a:lnTo>
                  <a:lnTo>
                    <a:pt x="208166" y="48231"/>
                  </a:lnTo>
                  <a:lnTo>
                    <a:pt x="162066" y="48231"/>
                  </a:lnTo>
                  <a:lnTo>
                    <a:pt x="161024" y="47884"/>
                  </a:lnTo>
                  <a:lnTo>
                    <a:pt x="160330" y="47537"/>
                  </a:lnTo>
                  <a:lnTo>
                    <a:pt x="151739" y="44067"/>
                  </a:lnTo>
                  <a:lnTo>
                    <a:pt x="149316" y="43373"/>
                  </a:lnTo>
                  <a:lnTo>
                    <a:pt x="102029" y="43373"/>
                  </a:lnTo>
                  <a:lnTo>
                    <a:pt x="98211" y="41291"/>
                  </a:lnTo>
                  <a:lnTo>
                    <a:pt x="96129" y="33658"/>
                  </a:lnTo>
                  <a:lnTo>
                    <a:pt x="98211" y="29841"/>
                  </a:lnTo>
                  <a:lnTo>
                    <a:pt x="109663" y="26718"/>
                  </a:lnTo>
                  <a:lnTo>
                    <a:pt x="117645" y="25677"/>
                  </a:lnTo>
                  <a:lnTo>
                    <a:pt x="176439" y="25677"/>
                  </a:lnTo>
                  <a:lnTo>
                    <a:pt x="167404" y="21513"/>
                  </a:lnTo>
                  <a:lnTo>
                    <a:pt x="81554" y="21513"/>
                  </a:lnTo>
                  <a:lnTo>
                    <a:pt x="38868" y="1387"/>
                  </a:lnTo>
                  <a:lnTo>
                    <a:pt x="36092" y="0"/>
                  </a:lnTo>
                  <a:close/>
                </a:path>
                <a:path w="295909" h="220980">
                  <a:moveTo>
                    <a:pt x="194202" y="202988"/>
                  </a:moveTo>
                  <a:lnTo>
                    <a:pt x="153390" y="202988"/>
                  </a:lnTo>
                  <a:lnTo>
                    <a:pt x="155472" y="214786"/>
                  </a:lnTo>
                  <a:lnTo>
                    <a:pt x="156166" y="218256"/>
                  </a:lnTo>
                  <a:lnTo>
                    <a:pt x="158942" y="220685"/>
                  </a:lnTo>
                  <a:lnTo>
                    <a:pt x="188787" y="220685"/>
                  </a:lnTo>
                  <a:lnTo>
                    <a:pt x="191563" y="218256"/>
                  </a:lnTo>
                  <a:lnTo>
                    <a:pt x="192258" y="214786"/>
                  </a:lnTo>
                  <a:lnTo>
                    <a:pt x="194202" y="202988"/>
                  </a:lnTo>
                  <a:close/>
                </a:path>
                <a:path w="295909" h="220980">
                  <a:moveTo>
                    <a:pt x="150444" y="203682"/>
                  </a:moveTo>
                  <a:lnTo>
                    <a:pt x="100294" y="203682"/>
                  </a:lnTo>
                  <a:lnTo>
                    <a:pt x="108275" y="205764"/>
                  </a:lnTo>
                  <a:lnTo>
                    <a:pt x="116604" y="206805"/>
                  </a:lnTo>
                  <a:lnTo>
                    <a:pt x="125280" y="206805"/>
                  </a:lnTo>
                  <a:lnTo>
                    <a:pt x="132356" y="206550"/>
                  </a:lnTo>
                  <a:lnTo>
                    <a:pt x="139465" y="205808"/>
                  </a:lnTo>
                  <a:lnTo>
                    <a:pt x="146509" y="204609"/>
                  </a:lnTo>
                  <a:lnTo>
                    <a:pt x="150444" y="203682"/>
                  </a:lnTo>
                  <a:close/>
                </a:path>
                <a:path w="295909" h="220980">
                  <a:moveTo>
                    <a:pt x="281766" y="89523"/>
                  </a:moveTo>
                  <a:lnTo>
                    <a:pt x="246742" y="89523"/>
                  </a:lnTo>
                  <a:lnTo>
                    <a:pt x="244313" y="93340"/>
                  </a:lnTo>
                  <a:lnTo>
                    <a:pt x="242925" y="97504"/>
                  </a:lnTo>
                  <a:lnTo>
                    <a:pt x="242872" y="103055"/>
                  </a:lnTo>
                  <a:lnTo>
                    <a:pt x="242577" y="108954"/>
                  </a:lnTo>
                  <a:lnTo>
                    <a:pt x="263747" y="126651"/>
                  </a:lnTo>
                  <a:lnTo>
                    <a:pt x="271831" y="124759"/>
                  </a:lnTo>
                  <a:lnTo>
                    <a:pt x="278452" y="119581"/>
                  </a:lnTo>
                  <a:lnTo>
                    <a:pt x="282602" y="112424"/>
                  </a:lnTo>
                  <a:lnTo>
                    <a:pt x="262011" y="112424"/>
                  </a:lnTo>
                  <a:lnTo>
                    <a:pt x="260623" y="111383"/>
                  </a:lnTo>
                  <a:lnTo>
                    <a:pt x="257847" y="108607"/>
                  </a:lnTo>
                  <a:lnTo>
                    <a:pt x="256806" y="105484"/>
                  </a:lnTo>
                  <a:lnTo>
                    <a:pt x="256806" y="97851"/>
                  </a:lnTo>
                  <a:lnTo>
                    <a:pt x="259929" y="94381"/>
                  </a:lnTo>
                  <a:lnTo>
                    <a:pt x="262705" y="92299"/>
                  </a:lnTo>
                  <a:lnTo>
                    <a:pt x="263052" y="91952"/>
                  </a:lnTo>
                  <a:lnTo>
                    <a:pt x="282997" y="91952"/>
                  </a:lnTo>
                  <a:lnTo>
                    <a:pt x="282139" y="89870"/>
                  </a:lnTo>
                  <a:lnTo>
                    <a:pt x="281766" y="89523"/>
                  </a:lnTo>
                  <a:close/>
                </a:path>
                <a:path w="295909" h="220980">
                  <a:moveTo>
                    <a:pt x="282997" y="91952"/>
                  </a:moveTo>
                  <a:lnTo>
                    <a:pt x="263052" y="91952"/>
                  </a:lnTo>
                  <a:lnTo>
                    <a:pt x="269646" y="95422"/>
                  </a:lnTo>
                  <a:lnTo>
                    <a:pt x="270687" y="98892"/>
                  </a:lnTo>
                  <a:lnTo>
                    <a:pt x="270687" y="107566"/>
                  </a:lnTo>
                  <a:lnTo>
                    <a:pt x="267564" y="112424"/>
                  </a:lnTo>
                  <a:lnTo>
                    <a:pt x="282602" y="112424"/>
                  </a:lnTo>
                  <a:lnTo>
                    <a:pt x="282926" y="111866"/>
                  </a:lnTo>
                  <a:lnTo>
                    <a:pt x="284449" y="103056"/>
                  </a:lnTo>
                  <a:lnTo>
                    <a:pt x="284569" y="95769"/>
                  </a:lnTo>
                  <a:lnTo>
                    <a:pt x="282997" y="91952"/>
                  </a:lnTo>
                  <a:close/>
                </a:path>
                <a:path w="295909" h="220980">
                  <a:moveTo>
                    <a:pt x="292117" y="84318"/>
                  </a:moveTo>
                  <a:lnTo>
                    <a:pt x="283875" y="84318"/>
                  </a:lnTo>
                  <a:lnTo>
                    <a:pt x="286998" y="84665"/>
                  </a:lnTo>
                  <a:lnTo>
                    <a:pt x="290815" y="85359"/>
                  </a:lnTo>
                  <a:lnTo>
                    <a:pt x="292117" y="84318"/>
                  </a:lnTo>
                  <a:close/>
                </a:path>
                <a:path w="295909" h="220980">
                  <a:moveTo>
                    <a:pt x="246525" y="75643"/>
                  </a:moveTo>
                  <a:lnTo>
                    <a:pt x="238180" y="76587"/>
                  </a:lnTo>
                  <a:lnTo>
                    <a:pt x="229737" y="78766"/>
                  </a:lnTo>
                  <a:lnTo>
                    <a:pt x="294980" y="78766"/>
                  </a:lnTo>
                  <a:lnTo>
                    <a:pt x="295169" y="76684"/>
                  </a:lnTo>
                  <a:lnTo>
                    <a:pt x="260970" y="76684"/>
                  </a:lnTo>
                  <a:lnTo>
                    <a:pt x="254284" y="75741"/>
                  </a:lnTo>
                  <a:lnTo>
                    <a:pt x="246525" y="75643"/>
                  </a:lnTo>
                  <a:close/>
                </a:path>
                <a:path w="295909" h="220980">
                  <a:moveTo>
                    <a:pt x="282248" y="70439"/>
                  </a:moveTo>
                  <a:lnTo>
                    <a:pt x="275025" y="71393"/>
                  </a:lnTo>
                  <a:lnTo>
                    <a:pt x="267803" y="73518"/>
                  </a:lnTo>
                  <a:lnTo>
                    <a:pt x="260970" y="76684"/>
                  </a:lnTo>
                  <a:lnTo>
                    <a:pt x="295169" y="76684"/>
                  </a:lnTo>
                  <a:lnTo>
                    <a:pt x="295327" y="74949"/>
                  </a:lnTo>
                  <a:lnTo>
                    <a:pt x="292897" y="71480"/>
                  </a:lnTo>
                  <a:lnTo>
                    <a:pt x="289080" y="70786"/>
                  </a:lnTo>
                  <a:lnTo>
                    <a:pt x="282248" y="70439"/>
                  </a:lnTo>
                  <a:close/>
                </a:path>
                <a:path w="295909" h="220980">
                  <a:moveTo>
                    <a:pt x="176439" y="25677"/>
                  </a:moveTo>
                  <a:lnTo>
                    <a:pt x="125280" y="25677"/>
                  </a:lnTo>
                  <a:lnTo>
                    <a:pt x="135328" y="26257"/>
                  </a:lnTo>
                  <a:lnTo>
                    <a:pt x="145538" y="27976"/>
                  </a:lnTo>
                  <a:lnTo>
                    <a:pt x="155683" y="30800"/>
                  </a:lnTo>
                  <a:lnTo>
                    <a:pt x="165536" y="34699"/>
                  </a:lnTo>
                  <a:lnTo>
                    <a:pt x="169353" y="36433"/>
                  </a:lnTo>
                  <a:lnTo>
                    <a:pt x="171088" y="40597"/>
                  </a:lnTo>
                  <a:lnTo>
                    <a:pt x="169342" y="44094"/>
                  </a:lnTo>
                  <a:lnTo>
                    <a:pt x="168312" y="46496"/>
                  </a:lnTo>
                  <a:lnTo>
                    <a:pt x="165536" y="48231"/>
                  </a:lnTo>
                  <a:lnTo>
                    <a:pt x="208166" y="48231"/>
                  </a:lnTo>
                  <a:lnTo>
                    <a:pt x="187356" y="30708"/>
                  </a:lnTo>
                  <a:lnTo>
                    <a:pt x="176439" y="25677"/>
                  </a:lnTo>
                  <a:close/>
                </a:path>
                <a:path w="295909" h="220980">
                  <a:moveTo>
                    <a:pt x="125627" y="39556"/>
                  </a:moveTo>
                  <a:lnTo>
                    <a:pt x="119033" y="39556"/>
                  </a:lnTo>
                  <a:lnTo>
                    <a:pt x="112440" y="40597"/>
                  </a:lnTo>
                  <a:lnTo>
                    <a:pt x="102029" y="43373"/>
                  </a:lnTo>
                  <a:lnTo>
                    <a:pt x="149316" y="43373"/>
                  </a:lnTo>
                  <a:lnTo>
                    <a:pt x="143109" y="41595"/>
                  </a:lnTo>
                  <a:lnTo>
                    <a:pt x="134319" y="40071"/>
                  </a:lnTo>
                  <a:lnTo>
                    <a:pt x="125627" y="39556"/>
                  </a:lnTo>
                  <a:close/>
                </a:path>
                <a:path w="295909" h="220980">
                  <a:moveTo>
                    <a:pt x="124933" y="11797"/>
                  </a:moveTo>
                  <a:lnTo>
                    <a:pt x="113763" y="12437"/>
                  </a:lnTo>
                  <a:lnTo>
                    <a:pt x="102723" y="14313"/>
                  </a:lnTo>
                  <a:lnTo>
                    <a:pt x="91943" y="17360"/>
                  </a:lnTo>
                  <a:lnTo>
                    <a:pt x="81554" y="21513"/>
                  </a:lnTo>
                  <a:lnTo>
                    <a:pt x="167404" y="21513"/>
                  </a:lnTo>
                  <a:lnTo>
                    <a:pt x="157169" y="16796"/>
                  </a:lnTo>
                  <a:lnTo>
                    <a:pt x="124933" y="11797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7373" y="2763638"/>
              <a:ext cx="295910" cy="220979"/>
            </a:xfrm>
            <a:custGeom>
              <a:avLst/>
              <a:gdLst/>
              <a:ahLst/>
              <a:cxnLst/>
              <a:rect l="l" t="t" r="r" b="b"/>
              <a:pathLst>
                <a:path w="295909" h="220980">
                  <a:moveTo>
                    <a:pt x="263747" y="112424"/>
                  </a:moveTo>
                  <a:lnTo>
                    <a:pt x="262011" y="112424"/>
                  </a:lnTo>
                  <a:lnTo>
                    <a:pt x="260623" y="111383"/>
                  </a:lnTo>
                  <a:lnTo>
                    <a:pt x="259582" y="110342"/>
                  </a:lnTo>
                  <a:lnTo>
                    <a:pt x="257847" y="108607"/>
                  </a:lnTo>
                  <a:lnTo>
                    <a:pt x="256806" y="105484"/>
                  </a:lnTo>
                  <a:lnTo>
                    <a:pt x="256806" y="102362"/>
                  </a:lnTo>
                  <a:lnTo>
                    <a:pt x="256806" y="97851"/>
                  </a:lnTo>
                  <a:lnTo>
                    <a:pt x="259929" y="94381"/>
                  </a:lnTo>
                  <a:lnTo>
                    <a:pt x="262705" y="92299"/>
                  </a:lnTo>
                  <a:lnTo>
                    <a:pt x="263052" y="91952"/>
                  </a:lnTo>
                  <a:lnTo>
                    <a:pt x="269646" y="95422"/>
                  </a:lnTo>
                  <a:lnTo>
                    <a:pt x="270687" y="98892"/>
                  </a:lnTo>
                  <a:lnTo>
                    <a:pt x="270687" y="102015"/>
                  </a:lnTo>
                  <a:lnTo>
                    <a:pt x="270687" y="107566"/>
                  </a:lnTo>
                  <a:lnTo>
                    <a:pt x="267564" y="112424"/>
                  </a:lnTo>
                  <a:lnTo>
                    <a:pt x="263747" y="112424"/>
                  </a:lnTo>
                  <a:close/>
                </a:path>
                <a:path w="295909" h="220980">
                  <a:moveTo>
                    <a:pt x="169353" y="44067"/>
                  </a:moveTo>
                  <a:lnTo>
                    <a:pt x="168312" y="46496"/>
                  </a:lnTo>
                  <a:lnTo>
                    <a:pt x="165536" y="48231"/>
                  </a:lnTo>
                  <a:lnTo>
                    <a:pt x="163107" y="48231"/>
                  </a:lnTo>
                  <a:lnTo>
                    <a:pt x="162066" y="48231"/>
                  </a:lnTo>
                  <a:lnTo>
                    <a:pt x="161024" y="47884"/>
                  </a:lnTo>
                  <a:lnTo>
                    <a:pt x="160330" y="47537"/>
                  </a:lnTo>
                  <a:lnTo>
                    <a:pt x="151833" y="44094"/>
                  </a:lnTo>
                  <a:lnTo>
                    <a:pt x="143109" y="41595"/>
                  </a:lnTo>
                  <a:lnTo>
                    <a:pt x="134319" y="40071"/>
                  </a:lnTo>
                  <a:lnTo>
                    <a:pt x="125627" y="39556"/>
                  </a:lnTo>
                  <a:lnTo>
                    <a:pt x="119033" y="39556"/>
                  </a:lnTo>
                  <a:lnTo>
                    <a:pt x="112440" y="40597"/>
                  </a:lnTo>
                  <a:lnTo>
                    <a:pt x="105846" y="42332"/>
                  </a:lnTo>
                  <a:lnTo>
                    <a:pt x="102029" y="43373"/>
                  </a:lnTo>
                  <a:lnTo>
                    <a:pt x="98211" y="41291"/>
                  </a:lnTo>
                  <a:lnTo>
                    <a:pt x="97170" y="37474"/>
                  </a:lnTo>
                  <a:lnTo>
                    <a:pt x="96129" y="33658"/>
                  </a:lnTo>
                  <a:lnTo>
                    <a:pt x="98211" y="29841"/>
                  </a:lnTo>
                  <a:lnTo>
                    <a:pt x="102029" y="28800"/>
                  </a:lnTo>
                  <a:lnTo>
                    <a:pt x="109663" y="26718"/>
                  </a:lnTo>
                  <a:lnTo>
                    <a:pt x="117645" y="25677"/>
                  </a:lnTo>
                  <a:lnTo>
                    <a:pt x="125280" y="25677"/>
                  </a:lnTo>
                  <a:lnTo>
                    <a:pt x="135328" y="26257"/>
                  </a:lnTo>
                  <a:lnTo>
                    <a:pt x="171088" y="40597"/>
                  </a:lnTo>
                  <a:lnTo>
                    <a:pt x="169353" y="44067"/>
                  </a:lnTo>
                  <a:close/>
                </a:path>
                <a:path w="295909" h="220980">
                  <a:moveTo>
                    <a:pt x="289080" y="70786"/>
                  </a:moveTo>
                  <a:lnTo>
                    <a:pt x="282248" y="70439"/>
                  </a:lnTo>
                  <a:lnTo>
                    <a:pt x="275025" y="71393"/>
                  </a:lnTo>
                  <a:lnTo>
                    <a:pt x="267803" y="73518"/>
                  </a:lnTo>
                  <a:lnTo>
                    <a:pt x="260970" y="76684"/>
                  </a:lnTo>
                  <a:lnTo>
                    <a:pt x="254284" y="75741"/>
                  </a:lnTo>
                  <a:lnTo>
                    <a:pt x="246525" y="75643"/>
                  </a:lnTo>
                  <a:lnTo>
                    <a:pt x="238180" y="76587"/>
                  </a:lnTo>
                  <a:lnTo>
                    <a:pt x="229737" y="78766"/>
                  </a:lnTo>
                  <a:lnTo>
                    <a:pt x="212532" y="51907"/>
                  </a:lnTo>
                  <a:lnTo>
                    <a:pt x="187356" y="30708"/>
                  </a:lnTo>
                  <a:lnTo>
                    <a:pt x="157169" y="16796"/>
                  </a:lnTo>
                  <a:lnTo>
                    <a:pt x="124933" y="11797"/>
                  </a:lnTo>
                  <a:lnTo>
                    <a:pt x="113763" y="12437"/>
                  </a:lnTo>
                  <a:lnTo>
                    <a:pt x="102723" y="14313"/>
                  </a:lnTo>
                  <a:lnTo>
                    <a:pt x="91943" y="17360"/>
                  </a:lnTo>
                  <a:lnTo>
                    <a:pt x="81554" y="21513"/>
                  </a:lnTo>
                  <a:lnTo>
                    <a:pt x="38868" y="1387"/>
                  </a:lnTo>
                  <a:lnTo>
                    <a:pt x="36092" y="0"/>
                  </a:lnTo>
                  <a:lnTo>
                    <a:pt x="32969" y="2775"/>
                  </a:lnTo>
                  <a:lnTo>
                    <a:pt x="34010" y="5551"/>
                  </a:lnTo>
                  <a:lnTo>
                    <a:pt x="47891" y="44761"/>
                  </a:lnTo>
                  <a:lnTo>
                    <a:pt x="27069" y="76684"/>
                  </a:lnTo>
                  <a:lnTo>
                    <a:pt x="25334" y="78072"/>
                  </a:lnTo>
                  <a:lnTo>
                    <a:pt x="22905" y="78766"/>
                  </a:lnTo>
                  <a:lnTo>
                    <a:pt x="10412" y="81889"/>
                  </a:lnTo>
                  <a:lnTo>
                    <a:pt x="4165" y="83277"/>
                  </a:lnTo>
                  <a:lnTo>
                    <a:pt x="0" y="88829"/>
                  </a:lnTo>
                  <a:lnTo>
                    <a:pt x="0" y="95421"/>
                  </a:lnTo>
                  <a:lnTo>
                    <a:pt x="0" y="122487"/>
                  </a:lnTo>
                  <a:lnTo>
                    <a:pt x="0" y="128732"/>
                  </a:lnTo>
                  <a:lnTo>
                    <a:pt x="4165" y="134284"/>
                  </a:lnTo>
                  <a:lnTo>
                    <a:pt x="10412" y="136019"/>
                  </a:lnTo>
                  <a:lnTo>
                    <a:pt x="23252" y="139142"/>
                  </a:lnTo>
                  <a:lnTo>
                    <a:pt x="25334" y="139836"/>
                  </a:lnTo>
                  <a:lnTo>
                    <a:pt x="27069" y="141224"/>
                  </a:lnTo>
                  <a:lnTo>
                    <a:pt x="28110" y="143306"/>
                  </a:lnTo>
                  <a:lnTo>
                    <a:pt x="33104" y="153184"/>
                  </a:lnTo>
                  <a:lnTo>
                    <a:pt x="39172" y="162477"/>
                  </a:lnTo>
                  <a:lnTo>
                    <a:pt x="46216" y="171119"/>
                  </a:lnTo>
                  <a:lnTo>
                    <a:pt x="54138" y="179046"/>
                  </a:lnTo>
                  <a:lnTo>
                    <a:pt x="55179" y="180087"/>
                  </a:lnTo>
                  <a:lnTo>
                    <a:pt x="56220" y="181475"/>
                  </a:lnTo>
                  <a:lnTo>
                    <a:pt x="56567" y="183210"/>
                  </a:lnTo>
                  <a:lnTo>
                    <a:pt x="61773" y="214786"/>
                  </a:lnTo>
                  <a:lnTo>
                    <a:pt x="62467" y="218256"/>
                  </a:lnTo>
                  <a:lnTo>
                    <a:pt x="65243" y="220685"/>
                  </a:lnTo>
                  <a:lnTo>
                    <a:pt x="68713" y="220685"/>
                  </a:lnTo>
                  <a:lnTo>
                    <a:pt x="91618" y="220685"/>
                  </a:lnTo>
                  <a:lnTo>
                    <a:pt x="95088" y="220685"/>
                  </a:lnTo>
                  <a:lnTo>
                    <a:pt x="97864" y="218256"/>
                  </a:lnTo>
                  <a:lnTo>
                    <a:pt x="98558" y="214786"/>
                  </a:lnTo>
                  <a:lnTo>
                    <a:pt x="100294" y="203682"/>
                  </a:lnTo>
                  <a:lnTo>
                    <a:pt x="108275" y="205764"/>
                  </a:lnTo>
                  <a:lnTo>
                    <a:pt x="116604" y="206805"/>
                  </a:lnTo>
                  <a:lnTo>
                    <a:pt x="125280" y="206805"/>
                  </a:lnTo>
                  <a:lnTo>
                    <a:pt x="132356" y="206550"/>
                  </a:lnTo>
                  <a:lnTo>
                    <a:pt x="139465" y="205808"/>
                  </a:lnTo>
                  <a:lnTo>
                    <a:pt x="146509" y="204609"/>
                  </a:lnTo>
                  <a:lnTo>
                    <a:pt x="153390" y="202988"/>
                  </a:lnTo>
                  <a:lnTo>
                    <a:pt x="155472" y="214786"/>
                  </a:lnTo>
                  <a:lnTo>
                    <a:pt x="156166" y="218256"/>
                  </a:lnTo>
                  <a:lnTo>
                    <a:pt x="158942" y="220685"/>
                  </a:lnTo>
                  <a:lnTo>
                    <a:pt x="162413" y="220685"/>
                  </a:lnTo>
                  <a:lnTo>
                    <a:pt x="185317" y="220685"/>
                  </a:lnTo>
                  <a:lnTo>
                    <a:pt x="188787" y="220685"/>
                  </a:lnTo>
                  <a:lnTo>
                    <a:pt x="191563" y="218256"/>
                  </a:lnTo>
                  <a:lnTo>
                    <a:pt x="192258" y="214786"/>
                  </a:lnTo>
                  <a:lnTo>
                    <a:pt x="197463" y="183210"/>
                  </a:lnTo>
                  <a:lnTo>
                    <a:pt x="197810" y="181475"/>
                  </a:lnTo>
                  <a:lnTo>
                    <a:pt x="198504" y="180087"/>
                  </a:lnTo>
                  <a:lnTo>
                    <a:pt x="199892" y="179046"/>
                  </a:lnTo>
                  <a:lnTo>
                    <a:pt x="214462" y="164191"/>
                  </a:lnTo>
                  <a:lnTo>
                    <a:pt x="225876" y="147383"/>
                  </a:lnTo>
                  <a:lnTo>
                    <a:pt x="233321" y="128884"/>
                  </a:lnTo>
                  <a:lnTo>
                    <a:pt x="235984" y="108954"/>
                  </a:lnTo>
                  <a:lnTo>
                    <a:pt x="235984" y="103055"/>
                  </a:lnTo>
                  <a:lnTo>
                    <a:pt x="235290" y="97504"/>
                  </a:lnTo>
                  <a:lnTo>
                    <a:pt x="233902" y="91952"/>
                  </a:lnTo>
                  <a:lnTo>
                    <a:pt x="238066" y="90564"/>
                  </a:lnTo>
                  <a:lnTo>
                    <a:pt x="242577" y="89523"/>
                  </a:lnTo>
                  <a:lnTo>
                    <a:pt x="246742" y="89523"/>
                  </a:lnTo>
                  <a:lnTo>
                    <a:pt x="244313" y="93340"/>
                  </a:lnTo>
                  <a:lnTo>
                    <a:pt x="242925" y="97504"/>
                  </a:lnTo>
                  <a:lnTo>
                    <a:pt x="242925" y="102015"/>
                  </a:lnTo>
                  <a:lnTo>
                    <a:pt x="242577" y="108954"/>
                  </a:lnTo>
                  <a:lnTo>
                    <a:pt x="245354" y="115547"/>
                  </a:lnTo>
                  <a:lnTo>
                    <a:pt x="249865" y="120405"/>
                  </a:lnTo>
                  <a:lnTo>
                    <a:pt x="253683" y="124222"/>
                  </a:lnTo>
                  <a:lnTo>
                    <a:pt x="258541" y="126651"/>
                  </a:lnTo>
                  <a:lnTo>
                    <a:pt x="263747" y="126651"/>
                  </a:lnTo>
                  <a:lnTo>
                    <a:pt x="271831" y="124759"/>
                  </a:lnTo>
                  <a:lnTo>
                    <a:pt x="278452" y="119581"/>
                  </a:lnTo>
                  <a:lnTo>
                    <a:pt x="282926" y="111866"/>
                  </a:lnTo>
                  <a:lnTo>
                    <a:pt x="284569" y="102362"/>
                  </a:lnTo>
                  <a:lnTo>
                    <a:pt x="284569" y="95769"/>
                  </a:lnTo>
                  <a:lnTo>
                    <a:pt x="282139" y="89870"/>
                  </a:lnTo>
                  <a:lnTo>
                    <a:pt x="277281" y="85359"/>
                  </a:lnTo>
                  <a:lnTo>
                    <a:pt x="280751" y="84665"/>
                  </a:lnTo>
                  <a:lnTo>
                    <a:pt x="283875" y="84318"/>
                  </a:lnTo>
                  <a:lnTo>
                    <a:pt x="286998" y="84665"/>
                  </a:lnTo>
                  <a:lnTo>
                    <a:pt x="290815" y="85359"/>
                  </a:lnTo>
                  <a:lnTo>
                    <a:pt x="294286" y="82583"/>
                  </a:lnTo>
                  <a:lnTo>
                    <a:pt x="294980" y="78766"/>
                  </a:lnTo>
                  <a:lnTo>
                    <a:pt x="295327" y="74949"/>
                  </a:lnTo>
                  <a:lnTo>
                    <a:pt x="292897" y="71480"/>
                  </a:lnTo>
                  <a:lnTo>
                    <a:pt x="289080" y="70786"/>
                  </a:lnTo>
                  <a:close/>
                </a:path>
              </a:pathLst>
            </a:custGeom>
            <a:ln w="4048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0623" y="2703576"/>
              <a:ext cx="337185" cy="337185"/>
            </a:xfrm>
            <a:custGeom>
              <a:avLst/>
              <a:gdLst/>
              <a:ahLst/>
              <a:cxnLst/>
              <a:rect l="l" t="t" r="r" b="b"/>
              <a:pathLst>
                <a:path w="337184" h="337185">
                  <a:moveTo>
                    <a:pt x="0" y="336803"/>
                  </a:moveTo>
                  <a:lnTo>
                    <a:pt x="336804" y="336803"/>
                  </a:lnTo>
                  <a:lnTo>
                    <a:pt x="336804" y="0"/>
                  </a:lnTo>
                  <a:lnTo>
                    <a:pt x="0" y="0"/>
                  </a:lnTo>
                  <a:lnTo>
                    <a:pt x="0" y="33680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95273" y="2734436"/>
            <a:ext cx="20516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alibri"/>
                <a:cs typeface="Calibri"/>
              </a:rPr>
              <a:t>It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relatively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inexpensive.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4695" y="3331464"/>
            <a:ext cx="5364480" cy="612775"/>
            <a:chOff x="234695" y="3331464"/>
            <a:chExt cx="5364480" cy="612775"/>
          </a:xfrm>
        </p:grpSpPr>
        <p:sp>
          <p:nvSpPr>
            <p:cNvPr id="10" name="object 10"/>
            <p:cNvSpPr/>
            <p:nvPr/>
          </p:nvSpPr>
          <p:spPr>
            <a:xfrm>
              <a:off x="234695" y="3331464"/>
              <a:ext cx="5364480" cy="612775"/>
            </a:xfrm>
            <a:custGeom>
              <a:avLst/>
              <a:gdLst/>
              <a:ahLst/>
              <a:cxnLst/>
              <a:rect l="l" t="t" r="r" b="b"/>
              <a:pathLst>
                <a:path w="5364480" h="612775">
                  <a:moveTo>
                    <a:pt x="5303266" y="0"/>
                  </a:moveTo>
                  <a:lnTo>
                    <a:pt x="61264" y="0"/>
                  </a:lnTo>
                  <a:lnTo>
                    <a:pt x="37418" y="4814"/>
                  </a:lnTo>
                  <a:lnTo>
                    <a:pt x="17945" y="17938"/>
                  </a:lnTo>
                  <a:lnTo>
                    <a:pt x="4814" y="37397"/>
                  </a:lnTo>
                  <a:lnTo>
                    <a:pt x="0" y="61213"/>
                  </a:lnTo>
                  <a:lnTo>
                    <a:pt x="0" y="551434"/>
                  </a:lnTo>
                  <a:lnTo>
                    <a:pt x="4814" y="575250"/>
                  </a:lnTo>
                  <a:lnTo>
                    <a:pt x="17945" y="594709"/>
                  </a:lnTo>
                  <a:lnTo>
                    <a:pt x="37418" y="607833"/>
                  </a:lnTo>
                  <a:lnTo>
                    <a:pt x="61264" y="612648"/>
                  </a:lnTo>
                  <a:lnTo>
                    <a:pt x="5303266" y="612648"/>
                  </a:lnTo>
                  <a:lnTo>
                    <a:pt x="5327082" y="607833"/>
                  </a:lnTo>
                  <a:lnTo>
                    <a:pt x="5346541" y="594709"/>
                  </a:lnTo>
                  <a:lnTo>
                    <a:pt x="5359665" y="575250"/>
                  </a:lnTo>
                  <a:lnTo>
                    <a:pt x="5364480" y="551434"/>
                  </a:lnTo>
                  <a:lnTo>
                    <a:pt x="5364480" y="61213"/>
                  </a:lnTo>
                  <a:lnTo>
                    <a:pt x="5359665" y="37397"/>
                  </a:lnTo>
                  <a:lnTo>
                    <a:pt x="5346541" y="17938"/>
                  </a:lnTo>
                  <a:lnTo>
                    <a:pt x="5327082" y="4814"/>
                  </a:lnTo>
                  <a:lnTo>
                    <a:pt x="5303266" y="0"/>
                  </a:lnTo>
                  <a:close/>
                </a:path>
              </a:pathLst>
            </a:custGeom>
            <a:solidFill>
              <a:srgbClr val="CFD4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3794" y="3519457"/>
              <a:ext cx="211725" cy="23941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20623" y="3470148"/>
              <a:ext cx="337185" cy="337185"/>
            </a:xfrm>
            <a:custGeom>
              <a:avLst/>
              <a:gdLst/>
              <a:ahLst/>
              <a:cxnLst/>
              <a:rect l="l" t="t" r="r" b="b"/>
              <a:pathLst>
                <a:path w="337184" h="337185">
                  <a:moveTo>
                    <a:pt x="0" y="336803"/>
                  </a:moveTo>
                  <a:lnTo>
                    <a:pt x="336804" y="336803"/>
                  </a:lnTo>
                  <a:lnTo>
                    <a:pt x="336804" y="0"/>
                  </a:lnTo>
                  <a:lnTo>
                    <a:pt x="0" y="0"/>
                  </a:lnTo>
                  <a:lnTo>
                    <a:pt x="0" y="33680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95273" y="3384245"/>
            <a:ext cx="4142740" cy="488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alibri"/>
                <a:cs typeface="Calibri"/>
              </a:rPr>
              <a:t>It </a:t>
            </a:r>
            <a:r>
              <a:rPr sz="1500" spc="-10" dirty="0">
                <a:latin typeface="Calibri"/>
                <a:cs typeface="Calibri"/>
              </a:rPr>
              <a:t>provides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high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security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for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data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 </a:t>
            </a:r>
            <a:r>
              <a:rPr sz="1500" spc="-5" dirty="0">
                <a:latin typeface="Calibri"/>
                <a:cs typeface="Calibri"/>
              </a:rPr>
              <a:t>uses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firewalls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500" spc="-5" dirty="0">
                <a:latin typeface="Calibri"/>
                <a:cs typeface="Calibri"/>
              </a:rPr>
              <a:t>terms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of </a:t>
            </a:r>
            <a:r>
              <a:rPr sz="1500" spc="-10" dirty="0">
                <a:latin typeface="Calibri"/>
                <a:cs typeface="Calibri"/>
              </a:rPr>
              <a:t>data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security.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34695" y="4098035"/>
            <a:ext cx="5364480" cy="612775"/>
            <a:chOff x="234695" y="4098035"/>
            <a:chExt cx="5364480" cy="612775"/>
          </a:xfrm>
        </p:grpSpPr>
        <p:sp>
          <p:nvSpPr>
            <p:cNvPr id="15" name="object 15"/>
            <p:cNvSpPr/>
            <p:nvPr/>
          </p:nvSpPr>
          <p:spPr>
            <a:xfrm>
              <a:off x="234695" y="4098035"/>
              <a:ext cx="5364480" cy="612775"/>
            </a:xfrm>
            <a:custGeom>
              <a:avLst/>
              <a:gdLst/>
              <a:ahLst/>
              <a:cxnLst/>
              <a:rect l="l" t="t" r="r" b="b"/>
              <a:pathLst>
                <a:path w="5364480" h="612775">
                  <a:moveTo>
                    <a:pt x="5303266" y="0"/>
                  </a:moveTo>
                  <a:lnTo>
                    <a:pt x="61264" y="0"/>
                  </a:lnTo>
                  <a:lnTo>
                    <a:pt x="37418" y="4814"/>
                  </a:lnTo>
                  <a:lnTo>
                    <a:pt x="17945" y="17938"/>
                  </a:lnTo>
                  <a:lnTo>
                    <a:pt x="4814" y="37397"/>
                  </a:lnTo>
                  <a:lnTo>
                    <a:pt x="0" y="61213"/>
                  </a:lnTo>
                  <a:lnTo>
                    <a:pt x="0" y="551433"/>
                  </a:lnTo>
                  <a:lnTo>
                    <a:pt x="4814" y="575250"/>
                  </a:lnTo>
                  <a:lnTo>
                    <a:pt x="17945" y="594709"/>
                  </a:lnTo>
                  <a:lnTo>
                    <a:pt x="37418" y="607833"/>
                  </a:lnTo>
                  <a:lnTo>
                    <a:pt x="61264" y="612647"/>
                  </a:lnTo>
                  <a:lnTo>
                    <a:pt x="5303266" y="612647"/>
                  </a:lnTo>
                  <a:lnTo>
                    <a:pt x="5327082" y="607833"/>
                  </a:lnTo>
                  <a:lnTo>
                    <a:pt x="5346541" y="594709"/>
                  </a:lnTo>
                  <a:lnTo>
                    <a:pt x="5359665" y="575250"/>
                  </a:lnTo>
                  <a:lnTo>
                    <a:pt x="5364480" y="551433"/>
                  </a:lnTo>
                  <a:lnTo>
                    <a:pt x="5364480" y="61213"/>
                  </a:lnTo>
                  <a:lnTo>
                    <a:pt x="5359665" y="37397"/>
                  </a:lnTo>
                  <a:lnTo>
                    <a:pt x="5346541" y="17938"/>
                  </a:lnTo>
                  <a:lnTo>
                    <a:pt x="5327082" y="4814"/>
                  </a:lnTo>
                  <a:lnTo>
                    <a:pt x="5303266" y="0"/>
                  </a:lnTo>
                  <a:close/>
                </a:path>
              </a:pathLst>
            </a:custGeom>
            <a:solidFill>
              <a:srgbClr val="CFD4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9231" y="4305827"/>
              <a:ext cx="257383" cy="20877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20623" y="4236719"/>
              <a:ext cx="337185" cy="337185"/>
            </a:xfrm>
            <a:custGeom>
              <a:avLst/>
              <a:gdLst/>
              <a:ahLst/>
              <a:cxnLst/>
              <a:rect l="l" t="t" r="r" b="b"/>
              <a:pathLst>
                <a:path w="337184" h="337185">
                  <a:moveTo>
                    <a:pt x="0" y="336803"/>
                  </a:moveTo>
                  <a:lnTo>
                    <a:pt x="336804" y="336803"/>
                  </a:lnTo>
                  <a:lnTo>
                    <a:pt x="336804" y="0"/>
                  </a:lnTo>
                  <a:lnTo>
                    <a:pt x="0" y="0"/>
                  </a:lnTo>
                  <a:lnTo>
                    <a:pt x="0" y="33680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95273" y="4267580"/>
            <a:ext cx="35001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alibri"/>
                <a:cs typeface="Calibri"/>
              </a:rPr>
              <a:t>It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can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transmit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data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at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speed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of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1-100Gbps.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4695" y="4864608"/>
            <a:ext cx="5364480" cy="612775"/>
            <a:chOff x="234695" y="4864608"/>
            <a:chExt cx="5364480" cy="612775"/>
          </a:xfrm>
        </p:grpSpPr>
        <p:sp>
          <p:nvSpPr>
            <p:cNvPr id="20" name="object 20"/>
            <p:cNvSpPr/>
            <p:nvPr/>
          </p:nvSpPr>
          <p:spPr>
            <a:xfrm>
              <a:off x="234695" y="4864608"/>
              <a:ext cx="5364480" cy="612775"/>
            </a:xfrm>
            <a:custGeom>
              <a:avLst/>
              <a:gdLst/>
              <a:ahLst/>
              <a:cxnLst/>
              <a:rect l="l" t="t" r="r" b="b"/>
              <a:pathLst>
                <a:path w="5364480" h="612775">
                  <a:moveTo>
                    <a:pt x="5303266" y="0"/>
                  </a:moveTo>
                  <a:lnTo>
                    <a:pt x="61264" y="0"/>
                  </a:lnTo>
                  <a:lnTo>
                    <a:pt x="37418" y="4814"/>
                  </a:lnTo>
                  <a:lnTo>
                    <a:pt x="17945" y="17938"/>
                  </a:lnTo>
                  <a:lnTo>
                    <a:pt x="4814" y="37397"/>
                  </a:lnTo>
                  <a:lnTo>
                    <a:pt x="0" y="61214"/>
                  </a:lnTo>
                  <a:lnTo>
                    <a:pt x="0" y="551434"/>
                  </a:lnTo>
                  <a:lnTo>
                    <a:pt x="4814" y="575250"/>
                  </a:lnTo>
                  <a:lnTo>
                    <a:pt x="17945" y="594709"/>
                  </a:lnTo>
                  <a:lnTo>
                    <a:pt x="37418" y="607833"/>
                  </a:lnTo>
                  <a:lnTo>
                    <a:pt x="61264" y="612648"/>
                  </a:lnTo>
                  <a:lnTo>
                    <a:pt x="5303266" y="612648"/>
                  </a:lnTo>
                  <a:lnTo>
                    <a:pt x="5327082" y="607833"/>
                  </a:lnTo>
                  <a:lnTo>
                    <a:pt x="5346541" y="594709"/>
                  </a:lnTo>
                  <a:lnTo>
                    <a:pt x="5359665" y="575250"/>
                  </a:lnTo>
                  <a:lnTo>
                    <a:pt x="5364480" y="551434"/>
                  </a:lnTo>
                  <a:lnTo>
                    <a:pt x="5364480" y="61214"/>
                  </a:lnTo>
                  <a:lnTo>
                    <a:pt x="5359665" y="37397"/>
                  </a:lnTo>
                  <a:lnTo>
                    <a:pt x="5346541" y="17938"/>
                  </a:lnTo>
                  <a:lnTo>
                    <a:pt x="5327082" y="4814"/>
                  </a:lnTo>
                  <a:lnTo>
                    <a:pt x="5303266" y="0"/>
                  </a:lnTo>
                  <a:close/>
                </a:path>
              </a:pathLst>
            </a:custGeom>
            <a:solidFill>
              <a:srgbClr val="CFD4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2693" y="5040536"/>
              <a:ext cx="253930" cy="26201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20623" y="5001768"/>
              <a:ext cx="337185" cy="338455"/>
            </a:xfrm>
            <a:custGeom>
              <a:avLst/>
              <a:gdLst/>
              <a:ahLst/>
              <a:cxnLst/>
              <a:rect l="l" t="t" r="r" b="b"/>
              <a:pathLst>
                <a:path w="337184" h="338454">
                  <a:moveTo>
                    <a:pt x="0" y="338327"/>
                  </a:moveTo>
                  <a:lnTo>
                    <a:pt x="336804" y="338327"/>
                  </a:lnTo>
                  <a:lnTo>
                    <a:pt x="336804" y="0"/>
                  </a:lnTo>
                  <a:lnTo>
                    <a:pt x="0" y="0"/>
                  </a:lnTo>
                  <a:lnTo>
                    <a:pt x="0" y="33832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95273" y="5034153"/>
            <a:ext cx="360870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Calibri"/>
                <a:cs typeface="Calibri"/>
              </a:rPr>
              <a:t>The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quality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of</a:t>
            </a:r>
            <a:r>
              <a:rPr sz="1500" dirty="0">
                <a:latin typeface="Calibri"/>
                <a:cs typeface="Calibri"/>
              </a:rPr>
              <a:t> the</a:t>
            </a:r>
            <a:r>
              <a:rPr sz="1500" spc="-10" dirty="0">
                <a:latin typeface="Calibri"/>
                <a:cs typeface="Calibri"/>
              </a:rPr>
              <a:t> data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transfer</a:t>
            </a:r>
            <a:r>
              <a:rPr sz="1500" spc="-5" dirty="0">
                <a:latin typeface="Calibri"/>
                <a:cs typeface="Calibri"/>
              </a:rPr>
              <a:t> does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maintain.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34695" y="5631179"/>
            <a:ext cx="5364480" cy="612775"/>
            <a:chOff x="234695" y="5631179"/>
            <a:chExt cx="5364480" cy="612775"/>
          </a:xfrm>
        </p:grpSpPr>
        <p:sp>
          <p:nvSpPr>
            <p:cNvPr id="25" name="object 25"/>
            <p:cNvSpPr/>
            <p:nvPr/>
          </p:nvSpPr>
          <p:spPr>
            <a:xfrm>
              <a:off x="234695" y="5631179"/>
              <a:ext cx="5364480" cy="612775"/>
            </a:xfrm>
            <a:custGeom>
              <a:avLst/>
              <a:gdLst/>
              <a:ahLst/>
              <a:cxnLst/>
              <a:rect l="l" t="t" r="r" b="b"/>
              <a:pathLst>
                <a:path w="5364480" h="612775">
                  <a:moveTo>
                    <a:pt x="5303266" y="0"/>
                  </a:moveTo>
                  <a:lnTo>
                    <a:pt x="61264" y="0"/>
                  </a:lnTo>
                  <a:lnTo>
                    <a:pt x="37418" y="4814"/>
                  </a:lnTo>
                  <a:lnTo>
                    <a:pt x="17945" y="17945"/>
                  </a:lnTo>
                  <a:lnTo>
                    <a:pt x="4814" y="37418"/>
                  </a:lnTo>
                  <a:lnTo>
                    <a:pt x="0" y="61264"/>
                  </a:lnTo>
                  <a:lnTo>
                    <a:pt x="0" y="551383"/>
                  </a:lnTo>
                  <a:lnTo>
                    <a:pt x="4814" y="575229"/>
                  </a:lnTo>
                  <a:lnTo>
                    <a:pt x="17945" y="594702"/>
                  </a:lnTo>
                  <a:lnTo>
                    <a:pt x="37418" y="607833"/>
                  </a:lnTo>
                  <a:lnTo>
                    <a:pt x="61264" y="612648"/>
                  </a:lnTo>
                  <a:lnTo>
                    <a:pt x="5303266" y="612648"/>
                  </a:lnTo>
                  <a:lnTo>
                    <a:pt x="5327082" y="607833"/>
                  </a:lnTo>
                  <a:lnTo>
                    <a:pt x="5346541" y="594702"/>
                  </a:lnTo>
                  <a:lnTo>
                    <a:pt x="5359665" y="575229"/>
                  </a:lnTo>
                  <a:lnTo>
                    <a:pt x="5364480" y="551383"/>
                  </a:lnTo>
                  <a:lnTo>
                    <a:pt x="5364480" y="61264"/>
                  </a:lnTo>
                  <a:lnTo>
                    <a:pt x="5359665" y="37418"/>
                  </a:lnTo>
                  <a:lnTo>
                    <a:pt x="5346541" y="17945"/>
                  </a:lnTo>
                  <a:lnTo>
                    <a:pt x="5327082" y="4814"/>
                  </a:lnTo>
                  <a:lnTo>
                    <a:pt x="5303266" y="0"/>
                  </a:lnTo>
                  <a:close/>
                </a:path>
              </a:pathLst>
            </a:custGeom>
            <a:solidFill>
              <a:srgbClr val="CFD4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54955" y="6007833"/>
              <a:ext cx="69850" cy="48895"/>
            </a:xfrm>
            <a:custGeom>
              <a:avLst/>
              <a:gdLst/>
              <a:ahLst/>
              <a:cxnLst/>
              <a:rect l="l" t="t" r="r" b="b"/>
              <a:pathLst>
                <a:path w="69850" h="48895">
                  <a:moveTo>
                    <a:pt x="69406" y="0"/>
                  </a:moveTo>
                  <a:lnTo>
                    <a:pt x="0" y="0"/>
                  </a:lnTo>
                  <a:lnTo>
                    <a:pt x="0" y="48798"/>
                  </a:lnTo>
                  <a:lnTo>
                    <a:pt x="69406" y="48798"/>
                  </a:lnTo>
                  <a:lnTo>
                    <a:pt x="6940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54955" y="6007833"/>
              <a:ext cx="69850" cy="48895"/>
            </a:xfrm>
            <a:custGeom>
              <a:avLst/>
              <a:gdLst/>
              <a:ahLst/>
              <a:cxnLst/>
              <a:rect l="l" t="t" r="r" b="b"/>
              <a:pathLst>
                <a:path w="69850" h="48895">
                  <a:moveTo>
                    <a:pt x="0" y="48798"/>
                  </a:moveTo>
                  <a:lnTo>
                    <a:pt x="69406" y="48798"/>
                  </a:lnTo>
                  <a:lnTo>
                    <a:pt x="69406" y="0"/>
                  </a:lnTo>
                  <a:lnTo>
                    <a:pt x="0" y="0"/>
                  </a:lnTo>
                  <a:lnTo>
                    <a:pt x="0" y="48798"/>
                  </a:lnTo>
                  <a:close/>
                </a:path>
              </a:pathLst>
            </a:custGeom>
            <a:ln w="406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4955" y="5819609"/>
              <a:ext cx="69850" cy="48895"/>
            </a:xfrm>
            <a:custGeom>
              <a:avLst/>
              <a:gdLst/>
              <a:ahLst/>
              <a:cxnLst/>
              <a:rect l="l" t="t" r="r" b="b"/>
              <a:pathLst>
                <a:path w="69850" h="48895">
                  <a:moveTo>
                    <a:pt x="69406" y="0"/>
                  </a:moveTo>
                  <a:lnTo>
                    <a:pt x="0" y="0"/>
                  </a:lnTo>
                  <a:lnTo>
                    <a:pt x="0" y="48798"/>
                  </a:lnTo>
                  <a:lnTo>
                    <a:pt x="69406" y="48798"/>
                  </a:lnTo>
                  <a:lnTo>
                    <a:pt x="6940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54955" y="5819609"/>
              <a:ext cx="69850" cy="48895"/>
            </a:xfrm>
            <a:custGeom>
              <a:avLst/>
              <a:gdLst/>
              <a:ahLst/>
              <a:cxnLst/>
              <a:rect l="l" t="t" r="r" b="b"/>
              <a:pathLst>
                <a:path w="69850" h="48895">
                  <a:moveTo>
                    <a:pt x="0" y="48798"/>
                  </a:moveTo>
                  <a:lnTo>
                    <a:pt x="69406" y="48798"/>
                  </a:lnTo>
                  <a:lnTo>
                    <a:pt x="69406" y="0"/>
                  </a:lnTo>
                  <a:lnTo>
                    <a:pt x="0" y="0"/>
                  </a:lnTo>
                  <a:lnTo>
                    <a:pt x="0" y="48798"/>
                  </a:lnTo>
                  <a:close/>
                </a:path>
              </a:pathLst>
            </a:custGeom>
            <a:ln w="406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0844" y="6007833"/>
              <a:ext cx="69850" cy="48895"/>
            </a:xfrm>
            <a:custGeom>
              <a:avLst/>
              <a:gdLst/>
              <a:ahLst/>
              <a:cxnLst/>
              <a:rect l="l" t="t" r="r" b="b"/>
              <a:pathLst>
                <a:path w="69850" h="48895">
                  <a:moveTo>
                    <a:pt x="69406" y="0"/>
                  </a:moveTo>
                  <a:lnTo>
                    <a:pt x="0" y="0"/>
                  </a:lnTo>
                  <a:lnTo>
                    <a:pt x="0" y="48798"/>
                  </a:lnTo>
                  <a:lnTo>
                    <a:pt x="69406" y="48798"/>
                  </a:lnTo>
                  <a:lnTo>
                    <a:pt x="6940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50844" y="6007833"/>
              <a:ext cx="69850" cy="48895"/>
            </a:xfrm>
            <a:custGeom>
              <a:avLst/>
              <a:gdLst/>
              <a:ahLst/>
              <a:cxnLst/>
              <a:rect l="l" t="t" r="r" b="b"/>
              <a:pathLst>
                <a:path w="69850" h="48895">
                  <a:moveTo>
                    <a:pt x="0" y="48798"/>
                  </a:moveTo>
                  <a:lnTo>
                    <a:pt x="69406" y="48798"/>
                  </a:lnTo>
                  <a:lnTo>
                    <a:pt x="69406" y="0"/>
                  </a:lnTo>
                  <a:lnTo>
                    <a:pt x="0" y="0"/>
                  </a:lnTo>
                  <a:lnTo>
                    <a:pt x="0" y="48798"/>
                  </a:lnTo>
                  <a:close/>
                </a:path>
              </a:pathLst>
            </a:custGeom>
            <a:ln w="406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59065" y="6007833"/>
              <a:ext cx="69850" cy="48895"/>
            </a:xfrm>
            <a:custGeom>
              <a:avLst/>
              <a:gdLst/>
              <a:ahLst/>
              <a:cxnLst/>
              <a:rect l="l" t="t" r="r" b="b"/>
              <a:pathLst>
                <a:path w="69850" h="48895">
                  <a:moveTo>
                    <a:pt x="69406" y="0"/>
                  </a:moveTo>
                  <a:lnTo>
                    <a:pt x="0" y="0"/>
                  </a:lnTo>
                  <a:lnTo>
                    <a:pt x="0" y="48798"/>
                  </a:lnTo>
                  <a:lnTo>
                    <a:pt x="69406" y="48798"/>
                  </a:lnTo>
                  <a:lnTo>
                    <a:pt x="6940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59065" y="6007833"/>
              <a:ext cx="69850" cy="48895"/>
            </a:xfrm>
            <a:custGeom>
              <a:avLst/>
              <a:gdLst/>
              <a:ahLst/>
              <a:cxnLst/>
              <a:rect l="l" t="t" r="r" b="b"/>
              <a:pathLst>
                <a:path w="69850" h="48895">
                  <a:moveTo>
                    <a:pt x="0" y="48798"/>
                  </a:moveTo>
                  <a:lnTo>
                    <a:pt x="69406" y="48798"/>
                  </a:lnTo>
                  <a:lnTo>
                    <a:pt x="69406" y="0"/>
                  </a:lnTo>
                  <a:lnTo>
                    <a:pt x="0" y="0"/>
                  </a:lnTo>
                  <a:lnTo>
                    <a:pt x="0" y="48798"/>
                  </a:lnTo>
                  <a:close/>
                </a:path>
              </a:pathLst>
            </a:custGeom>
            <a:ln w="406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8599" y="5882665"/>
              <a:ext cx="222250" cy="111125"/>
            </a:xfrm>
            <a:custGeom>
              <a:avLst/>
              <a:gdLst/>
              <a:ahLst/>
              <a:cxnLst/>
              <a:rect l="l" t="t" r="r" b="b"/>
              <a:pathLst>
                <a:path w="222250" h="111125">
                  <a:moveTo>
                    <a:pt x="222097" y="48361"/>
                  </a:moveTo>
                  <a:lnTo>
                    <a:pt x="117995" y="48361"/>
                  </a:lnTo>
                  <a:lnTo>
                    <a:pt x="117995" y="0"/>
                  </a:lnTo>
                  <a:lnTo>
                    <a:pt x="104114" y="0"/>
                  </a:lnTo>
                  <a:lnTo>
                    <a:pt x="104114" y="48361"/>
                  </a:lnTo>
                  <a:lnTo>
                    <a:pt x="0" y="48361"/>
                  </a:lnTo>
                  <a:lnTo>
                    <a:pt x="0" y="62369"/>
                  </a:lnTo>
                  <a:lnTo>
                    <a:pt x="0" y="110731"/>
                  </a:lnTo>
                  <a:lnTo>
                    <a:pt x="13881" y="110731"/>
                  </a:lnTo>
                  <a:lnTo>
                    <a:pt x="13881" y="62369"/>
                  </a:lnTo>
                  <a:lnTo>
                    <a:pt x="104114" y="62369"/>
                  </a:lnTo>
                  <a:lnTo>
                    <a:pt x="104114" y="110731"/>
                  </a:lnTo>
                  <a:lnTo>
                    <a:pt x="117995" y="110731"/>
                  </a:lnTo>
                  <a:lnTo>
                    <a:pt x="117995" y="62369"/>
                  </a:lnTo>
                  <a:lnTo>
                    <a:pt x="208216" y="62369"/>
                  </a:lnTo>
                  <a:lnTo>
                    <a:pt x="208216" y="110731"/>
                  </a:lnTo>
                  <a:lnTo>
                    <a:pt x="222097" y="110731"/>
                  </a:lnTo>
                  <a:lnTo>
                    <a:pt x="222097" y="62369"/>
                  </a:lnTo>
                  <a:lnTo>
                    <a:pt x="222097" y="48361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8607" y="5882350"/>
              <a:ext cx="222250" cy="111760"/>
            </a:xfrm>
            <a:custGeom>
              <a:avLst/>
              <a:gdLst/>
              <a:ahLst/>
              <a:cxnLst/>
              <a:rect l="l" t="t" r="r" b="b"/>
              <a:pathLst>
                <a:path w="222250" h="111760">
                  <a:moveTo>
                    <a:pt x="117991" y="48798"/>
                  </a:moveTo>
                  <a:lnTo>
                    <a:pt x="117991" y="0"/>
                  </a:lnTo>
                  <a:lnTo>
                    <a:pt x="104110" y="0"/>
                  </a:lnTo>
                  <a:lnTo>
                    <a:pt x="104110" y="48798"/>
                  </a:lnTo>
                  <a:lnTo>
                    <a:pt x="0" y="48798"/>
                  </a:lnTo>
                  <a:lnTo>
                    <a:pt x="0" y="111539"/>
                  </a:lnTo>
                  <a:lnTo>
                    <a:pt x="13881" y="111539"/>
                  </a:lnTo>
                  <a:lnTo>
                    <a:pt x="13881" y="62741"/>
                  </a:lnTo>
                  <a:lnTo>
                    <a:pt x="104110" y="62741"/>
                  </a:lnTo>
                  <a:lnTo>
                    <a:pt x="104110" y="111539"/>
                  </a:lnTo>
                  <a:lnTo>
                    <a:pt x="117991" y="111539"/>
                  </a:lnTo>
                  <a:lnTo>
                    <a:pt x="117991" y="62741"/>
                  </a:lnTo>
                  <a:lnTo>
                    <a:pt x="208220" y="62741"/>
                  </a:lnTo>
                  <a:lnTo>
                    <a:pt x="208220" y="111539"/>
                  </a:lnTo>
                  <a:lnTo>
                    <a:pt x="222101" y="111540"/>
                  </a:lnTo>
                  <a:lnTo>
                    <a:pt x="222101" y="48798"/>
                  </a:lnTo>
                  <a:lnTo>
                    <a:pt x="117991" y="48798"/>
                  </a:lnTo>
                  <a:close/>
                </a:path>
              </a:pathLst>
            </a:custGeom>
            <a:ln w="40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20623" y="5768339"/>
              <a:ext cx="337185" cy="338455"/>
            </a:xfrm>
            <a:custGeom>
              <a:avLst/>
              <a:gdLst/>
              <a:ahLst/>
              <a:cxnLst/>
              <a:rect l="l" t="t" r="r" b="b"/>
              <a:pathLst>
                <a:path w="337184" h="338454">
                  <a:moveTo>
                    <a:pt x="0" y="338328"/>
                  </a:moveTo>
                  <a:lnTo>
                    <a:pt x="336804" y="338328"/>
                  </a:lnTo>
                  <a:lnTo>
                    <a:pt x="336804" y="0"/>
                  </a:lnTo>
                  <a:lnTo>
                    <a:pt x="0" y="0"/>
                  </a:lnTo>
                  <a:lnTo>
                    <a:pt x="0" y="33832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95273" y="5800750"/>
            <a:ext cx="33877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Calibri"/>
                <a:cs typeface="Calibri"/>
              </a:rPr>
              <a:t>Administration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5" dirty="0">
                <a:latin typeface="Calibri"/>
                <a:cs typeface="Calibri"/>
              </a:rPr>
              <a:t> maintenance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are </a:t>
            </a:r>
            <a:r>
              <a:rPr sz="1500" spc="-25" dirty="0">
                <a:latin typeface="Calibri"/>
                <a:cs typeface="Calibri"/>
              </a:rPr>
              <a:t>easier.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871206" y="1693621"/>
            <a:ext cx="17875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Disadv</a:t>
            </a:r>
            <a:r>
              <a:rPr sz="2400" b="1" spc="-10" dirty="0">
                <a:latin typeface="Times New Roman"/>
                <a:cs typeface="Times New Roman"/>
              </a:rPr>
              <a:t>a</a:t>
            </a:r>
            <a:r>
              <a:rPr sz="2400" b="1" dirty="0">
                <a:latin typeface="Times New Roman"/>
                <a:cs typeface="Times New Roman"/>
              </a:rPr>
              <a:t>ntage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860541" y="2494025"/>
            <a:ext cx="5808980" cy="3576954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88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It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needs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deterministic</a:t>
            </a:r>
            <a:r>
              <a:rPr sz="2200" spc="18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service;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therefore,</a:t>
            </a:r>
            <a:r>
              <a:rPr sz="2200" spc="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it</a:t>
            </a:r>
            <a:r>
              <a:rPr sz="2200" spc="18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considered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 best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real-time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applications.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Restricts in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terms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distances.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ts val="2245"/>
              </a:lnSpc>
              <a:spcBef>
                <a:spcPts val="204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If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you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create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wired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ethernet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network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needs</a:t>
            </a:r>
            <a:endParaRPr sz="2200">
              <a:latin typeface="Times New Roman"/>
              <a:cs typeface="Times New Roman"/>
            </a:endParaRPr>
          </a:p>
          <a:p>
            <a:pPr marL="241300" marR="6985">
              <a:lnSpc>
                <a:spcPct val="70000"/>
              </a:lnSpc>
              <a:spcBef>
                <a:spcPts val="395"/>
              </a:spcBef>
            </a:pPr>
            <a:r>
              <a:rPr sz="2200" spc="-5" dirty="0">
                <a:latin typeface="Times New Roman"/>
                <a:cs typeface="Times New Roman"/>
              </a:rPr>
              <a:t>cables,</a:t>
            </a:r>
            <a:r>
              <a:rPr sz="2200" spc="2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hubs,</a:t>
            </a:r>
            <a:r>
              <a:rPr sz="2200" spc="204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switches,</a:t>
            </a:r>
            <a:r>
              <a:rPr sz="2200" spc="2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routers,</a:t>
            </a:r>
            <a:r>
              <a:rPr sz="2200" spc="2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they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increase</a:t>
            </a:r>
            <a:r>
              <a:rPr sz="2200" spc="2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cost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installation.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ts val="2245"/>
              </a:lnSpc>
              <a:spcBef>
                <a:spcPts val="220"/>
              </a:spcBef>
              <a:buFont typeface="Arial MT"/>
              <a:buChar char="•"/>
              <a:tabLst>
                <a:tab pos="240665" algn="l"/>
                <a:tab pos="241300" algn="l"/>
                <a:tab pos="975360" algn="l"/>
                <a:tab pos="1821180" algn="l"/>
                <a:tab pos="2652395" algn="l"/>
                <a:tab pos="3712845" algn="l"/>
                <a:tab pos="4140835" algn="l"/>
                <a:tab pos="4615180" algn="l"/>
              </a:tabLst>
            </a:pPr>
            <a:r>
              <a:rPr sz="2200" spc="-5" dirty="0">
                <a:latin typeface="Times New Roman"/>
                <a:cs typeface="Times New Roman"/>
              </a:rPr>
              <a:t>Data	needs	</a:t>
            </a:r>
            <a:r>
              <a:rPr sz="2200" dirty="0">
                <a:latin typeface="Times New Roman"/>
                <a:cs typeface="Times New Roman"/>
              </a:rPr>
              <a:t>quick	</a:t>
            </a:r>
            <a:r>
              <a:rPr sz="2200" spc="-5" dirty="0">
                <a:latin typeface="Times New Roman"/>
                <a:cs typeface="Times New Roman"/>
              </a:rPr>
              <a:t>transfer	in	an	interactive</a:t>
            </a:r>
            <a:endParaRPr sz="2200">
              <a:latin typeface="Times New Roman"/>
              <a:cs typeface="Times New Roman"/>
            </a:endParaRPr>
          </a:p>
          <a:p>
            <a:pPr marL="241300">
              <a:lnSpc>
                <a:spcPts val="2245"/>
              </a:lnSpc>
            </a:pPr>
            <a:r>
              <a:rPr sz="2200" dirty="0">
                <a:latin typeface="Times New Roman"/>
                <a:cs typeface="Times New Roman"/>
              </a:rPr>
              <a:t>application.</a:t>
            </a:r>
            <a:endParaRPr sz="2200">
              <a:latin typeface="Times New Roman"/>
              <a:cs typeface="Times New Roman"/>
            </a:endParaRPr>
          </a:p>
          <a:p>
            <a:pPr marL="241300" marR="6985" indent="-228600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  <a:tab pos="241300" algn="l"/>
                <a:tab pos="2011680" algn="l"/>
                <a:tab pos="2417445" algn="l"/>
                <a:tab pos="2995295" algn="l"/>
                <a:tab pos="3663950" algn="l"/>
                <a:tab pos="4163695" algn="l"/>
                <a:tab pos="5281295" algn="l"/>
              </a:tabLst>
            </a:pPr>
            <a:r>
              <a:rPr sz="2200" spc="-10" dirty="0">
                <a:latin typeface="Times New Roman"/>
                <a:cs typeface="Times New Roman"/>
              </a:rPr>
              <a:t>A</a:t>
            </a:r>
            <a:r>
              <a:rPr sz="2200" spc="-5" dirty="0">
                <a:latin typeface="Times New Roman"/>
                <a:cs typeface="Times New Roman"/>
              </a:rPr>
              <a:t>ck</a:t>
            </a:r>
            <a:r>
              <a:rPr sz="2200" dirty="0">
                <a:latin typeface="Times New Roman"/>
                <a:cs typeface="Times New Roman"/>
              </a:rPr>
              <a:t>n</a:t>
            </a:r>
            <a:r>
              <a:rPr sz="2200" spc="-5" dirty="0">
                <a:latin typeface="Times New Roman"/>
                <a:cs typeface="Times New Roman"/>
              </a:rPr>
              <a:t>owle</a:t>
            </a:r>
            <a:r>
              <a:rPr sz="2200" dirty="0">
                <a:latin typeface="Times New Roman"/>
                <a:cs typeface="Times New Roman"/>
              </a:rPr>
              <a:t>d</a:t>
            </a:r>
            <a:r>
              <a:rPr sz="2200" spc="-5" dirty="0">
                <a:latin typeface="Times New Roman"/>
                <a:cs typeface="Times New Roman"/>
              </a:rPr>
              <a:t>ge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	no</a:t>
            </a:r>
            <a:r>
              <a:rPr sz="2200" spc="-5" dirty="0">
                <a:latin typeface="Times New Roman"/>
                <a:cs typeface="Times New Roman"/>
              </a:rPr>
              <a:t>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" dirty="0">
                <a:latin typeface="Times New Roman"/>
                <a:cs typeface="Times New Roman"/>
              </a:rPr>
              <a:t>sent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5" dirty="0">
                <a:latin typeface="Times New Roman"/>
                <a:cs typeface="Times New Roman"/>
              </a:rPr>
              <a:t>b</a:t>
            </a:r>
            <a:r>
              <a:rPr sz="2200" spc="-5" dirty="0">
                <a:latin typeface="Times New Roman"/>
                <a:cs typeface="Times New Roman"/>
              </a:rPr>
              <a:t>y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" dirty="0">
                <a:latin typeface="Times New Roman"/>
                <a:cs typeface="Times New Roman"/>
              </a:rPr>
              <a:t>rec</a:t>
            </a:r>
            <a:r>
              <a:rPr sz="2200" spc="-15" dirty="0">
                <a:latin typeface="Times New Roman"/>
                <a:cs typeface="Times New Roman"/>
              </a:rPr>
              <a:t>e</a:t>
            </a:r>
            <a:r>
              <a:rPr sz="2200" spc="-5" dirty="0">
                <a:latin typeface="Times New Roman"/>
                <a:cs typeface="Times New Roman"/>
              </a:rPr>
              <a:t>iver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" dirty="0">
                <a:latin typeface="Times New Roman"/>
                <a:cs typeface="Times New Roman"/>
              </a:rPr>
              <a:t>aft</a:t>
            </a:r>
            <a:r>
              <a:rPr sz="2200" dirty="0">
                <a:latin typeface="Times New Roman"/>
                <a:cs typeface="Times New Roman"/>
              </a:rPr>
              <a:t>e</a:t>
            </a:r>
            <a:r>
              <a:rPr sz="2200" spc="-5" dirty="0">
                <a:latin typeface="Times New Roman"/>
                <a:cs typeface="Times New Roman"/>
              </a:rPr>
              <a:t>r  accepting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 packet.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ts val="2245"/>
              </a:lnSpc>
              <a:spcBef>
                <a:spcPts val="204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latin typeface="Times New Roman"/>
                <a:cs typeface="Times New Roman"/>
              </a:rPr>
              <a:t>It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easy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determine</a:t>
            </a:r>
            <a:r>
              <a:rPr sz="2200" spc="8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which</a:t>
            </a:r>
            <a:r>
              <a:rPr sz="2200" spc="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node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or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cable</a:t>
            </a:r>
            <a:r>
              <a:rPr sz="2200" spc="6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endParaRPr sz="2200">
              <a:latin typeface="Times New Roman"/>
              <a:cs typeface="Times New Roman"/>
            </a:endParaRPr>
          </a:p>
          <a:p>
            <a:pPr marL="241300">
              <a:lnSpc>
                <a:spcPts val="2245"/>
              </a:lnSpc>
            </a:pPr>
            <a:r>
              <a:rPr sz="2200" spc="-5" dirty="0">
                <a:latin typeface="Times New Roman"/>
                <a:cs typeface="Times New Roman"/>
              </a:rPr>
              <a:t>causing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problem.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1756029" y="515493"/>
            <a:ext cx="86944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E</a:t>
            </a:r>
            <a:r>
              <a:rPr spc="-100" dirty="0"/>
              <a:t>thern</a:t>
            </a:r>
            <a:r>
              <a:rPr spc="-110" dirty="0"/>
              <a:t>e</a:t>
            </a:r>
            <a:r>
              <a:rPr dirty="0"/>
              <a:t>t</a:t>
            </a:r>
            <a:r>
              <a:rPr spc="-240" dirty="0"/>
              <a:t> </a:t>
            </a:r>
            <a:r>
              <a:rPr dirty="0"/>
              <a:t>:</a:t>
            </a:r>
            <a:r>
              <a:rPr spc="-440" dirty="0"/>
              <a:t> </a:t>
            </a:r>
            <a:r>
              <a:rPr spc="-100" dirty="0"/>
              <a:t>Ad</a:t>
            </a:r>
            <a:r>
              <a:rPr spc="-90" dirty="0"/>
              <a:t>va</a:t>
            </a:r>
            <a:r>
              <a:rPr spc="-100" dirty="0"/>
              <a:t>n</a:t>
            </a:r>
            <a:r>
              <a:rPr spc="-114" dirty="0"/>
              <a:t>t</a:t>
            </a:r>
            <a:r>
              <a:rPr spc="-105" dirty="0"/>
              <a:t>ag</a:t>
            </a:r>
            <a:r>
              <a:rPr dirty="0"/>
              <a:t>e</a:t>
            </a:r>
            <a:r>
              <a:rPr spc="-235" dirty="0"/>
              <a:t> </a:t>
            </a:r>
            <a:r>
              <a:rPr dirty="0"/>
              <a:t>&amp;</a:t>
            </a:r>
            <a:r>
              <a:rPr spc="-215" dirty="0"/>
              <a:t> </a:t>
            </a:r>
            <a:r>
              <a:rPr spc="-100" dirty="0"/>
              <a:t>Di</a:t>
            </a:r>
            <a:r>
              <a:rPr spc="-95" dirty="0"/>
              <a:t>s</a:t>
            </a:r>
            <a:r>
              <a:rPr spc="-90" dirty="0"/>
              <a:t>a</a:t>
            </a:r>
            <a:r>
              <a:rPr spc="-100" dirty="0"/>
              <a:t>d</a:t>
            </a:r>
            <a:r>
              <a:rPr spc="-105" dirty="0"/>
              <a:t>va</a:t>
            </a:r>
            <a:r>
              <a:rPr spc="-100" dirty="0"/>
              <a:t>n</a:t>
            </a:r>
            <a:r>
              <a:rPr spc="-114" dirty="0"/>
              <a:t>t</a:t>
            </a:r>
            <a:r>
              <a:rPr spc="-105" dirty="0"/>
              <a:t>ag</a:t>
            </a:r>
            <a:r>
              <a:rPr dirty="0"/>
              <a:t>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172" y="559765"/>
            <a:ext cx="18300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solidFill>
                  <a:srgbClr val="000000"/>
                </a:solidFill>
                <a:latin typeface="Times New Roman"/>
                <a:cs typeface="Times New Roman"/>
              </a:rPr>
              <a:t>Bluetooth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2172" y="1356245"/>
            <a:ext cx="10695305" cy="433324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85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cable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replacement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technology</a:t>
            </a:r>
            <a:endParaRPr sz="20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spc="5" dirty="0">
                <a:latin typeface="Times New Roman"/>
                <a:cs typeface="Times New Roman"/>
              </a:rPr>
              <a:t>When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Bluetooth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b="1" spc="5" dirty="0">
                <a:latin typeface="Times New Roman"/>
                <a:cs typeface="Times New Roman"/>
              </a:rPr>
              <a:t>50m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range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other,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establish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together</a:t>
            </a:r>
            <a:endParaRPr sz="20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Uses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radio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waves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communication</a:t>
            </a:r>
            <a:endParaRPr sz="20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Ability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communicate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with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many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Times New Roman"/>
                <a:cs typeface="Times New Roman"/>
              </a:rPr>
              <a:t>different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devices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 once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without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interference</a:t>
            </a:r>
            <a:endParaRPr sz="2000">
              <a:latin typeface="Times New Roman"/>
              <a:cs typeface="Times New Roman"/>
            </a:endParaRPr>
          </a:p>
          <a:p>
            <a:pPr marL="241300" indent="-229235">
              <a:lnSpc>
                <a:spcPts val="228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Open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standard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short-range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transmission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digital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voice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point-to-point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ts val="2280"/>
              </a:lnSpc>
            </a:pPr>
            <a:r>
              <a:rPr sz="2000" spc="-5" dirty="0">
                <a:latin typeface="Times New Roman"/>
                <a:cs typeface="Times New Roman"/>
              </a:rPr>
              <a:t>multipoint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applications</a:t>
            </a:r>
            <a:endParaRPr sz="20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Operates</a:t>
            </a:r>
            <a:endParaRPr sz="2000">
              <a:latin typeface="Times New Roman"/>
              <a:cs typeface="Times New Roman"/>
            </a:endParaRPr>
          </a:p>
          <a:p>
            <a:pPr marL="698500" lvl="1" indent="-229235">
              <a:lnSpc>
                <a:spcPts val="2280"/>
              </a:lnSpc>
              <a:spcBef>
                <a:spcPts val="254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unlicensed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2.4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GHz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available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globally, </a:t>
            </a:r>
            <a:r>
              <a:rPr sz="2000" dirty="0">
                <a:latin typeface="Times New Roman"/>
                <a:cs typeface="Times New Roman"/>
              </a:rPr>
              <a:t>along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slight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variation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698500">
              <a:lnSpc>
                <a:spcPts val="2280"/>
              </a:lnSpc>
            </a:pPr>
            <a:r>
              <a:rPr sz="2000" spc="-5" dirty="0">
                <a:latin typeface="Times New Roman"/>
                <a:cs typeface="Times New Roman"/>
              </a:rPr>
              <a:t>location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width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apply</a:t>
            </a:r>
            <a:endParaRPr sz="20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latin typeface="Times New Roman"/>
                <a:cs typeface="Times New Roman"/>
              </a:rPr>
              <a:t>Frequency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Hopping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scheme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(1600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hops/sec)</a:t>
            </a:r>
            <a:endParaRPr sz="20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Mb/s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symbol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rate</a:t>
            </a:r>
            <a:endParaRPr sz="20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latin typeface="Times New Roman"/>
                <a:cs typeface="Times New Roman"/>
              </a:rPr>
              <a:t>Range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10+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meters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18952" y="713231"/>
            <a:ext cx="1273175" cy="2533015"/>
          </a:xfrm>
          <a:custGeom>
            <a:avLst/>
            <a:gdLst/>
            <a:ahLst/>
            <a:cxnLst/>
            <a:rect l="l" t="t" r="r" b="b"/>
            <a:pathLst>
              <a:path w="1273175" h="2533015">
                <a:moveTo>
                  <a:pt x="1273048" y="0"/>
                </a:moveTo>
                <a:lnTo>
                  <a:pt x="508" y="1266444"/>
                </a:lnTo>
                <a:lnTo>
                  <a:pt x="232321" y="1497164"/>
                </a:lnTo>
                <a:lnTo>
                  <a:pt x="0" y="1729486"/>
                </a:lnTo>
                <a:lnTo>
                  <a:pt x="456311" y="2185797"/>
                </a:lnTo>
                <a:lnTo>
                  <a:pt x="689762" y="1952409"/>
                </a:lnTo>
                <a:lnTo>
                  <a:pt x="1273048" y="2532888"/>
                </a:lnTo>
                <a:lnTo>
                  <a:pt x="1273048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172" y="559765"/>
            <a:ext cx="35972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solidFill>
                  <a:srgbClr val="000000"/>
                </a:solidFill>
                <a:latin typeface="Times New Roman"/>
                <a:cs typeface="Times New Roman"/>
              </a:rPr>
              <a:t>Bluetooth</a:t>
            </a:r>
            <a:r>
              <a:rPr sz="3600" b="0" spc="-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0" dirty="0">
                <a:solidFill>
                  <a:srgbClr val="000000"/>
                </a:solidFill>
                <a:latin typeface="Times New Roman"/>
                <a:cs typeface="Times New Roman"/>
              </a:rPr>
              <a:t>(Cont…)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2172" y="1743430"/>
            <a:ext cx="10343515" cy="38068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Bluetooth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supports</a:t>
            </a:r>
            <a:endParaRPr sz="20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latin typeface="Times New Roman"/>
                <a:cs typeface="Times New Roman"/>
              </a:rPr>
              <a:t>Synchronous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asynchronous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channels.</a:t>
            </a:r>
            <a:endParaRPr sz="20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Times New Roman"/>
                <a:cs typeface="Times New Roman"/>
              </a:rPr>
              <a:t>Three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simultaneous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synchronous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voice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channels,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endParaRPr sz="2000">
              <a:latin typeface="Times New Roman"/>
              <a:cs typeface="Times New Roman"/>
            </a:endParaRPr>
          </a:p>
          <a:p>
            <a:pPr marL="1155700" lvl="2" indent="-22923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5" dirty="0">
                <a:latin typeface="Times New Roman"/>
                <a:cs typeface="Times New Roman"/>
              </a:rPr>
              <a:t>One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channel,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asynchronous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synchronous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voice</a:t>
            </a:r>
            <a:endParaRPr sz="2000">
              <a:latin typeface="Times New Roman"/>
              <a:cs typeface="Times New Roman"/>
            </a:endParaRPr>
          </a:p>
          <a:p>
            <a:pPr marL="1612900" lvl="3" indent="-229235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1612900" algn="l"/>
                <a:tab pos="1613535" algn="l"/>
              </a:tabLst>
            </a:pPr>
            <a:r>
              <a:rPr sz="2000" dirty="0">
                <a:latin typeface="Times New Roman"/>
                <a:cs typeface="Times New Roman"/>
              </a:rPr>
              <a:t>Each voice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channel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64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kb/s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direction.</a:t>
            </a:r>
            <a:endParaRPr sz="2000">
              <a:latin typeface="Times New Roman"/>
              <a:cs typeface="Times New Roman"/>
            </a:endParaRPr>
          </a:p>
          <a:p>
            <a:pPr marL="698500" marR="5080" lvl="1" indent="-229235">
              <a:lnSpc>
                <a:spcPts val="2160"/>
              </a:lnSpc>
              <a:spcBef>
                <a:spcPts val="530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channel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support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maximal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723.2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kb/s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asymmetric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still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 to 57.6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kb/s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 the return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direction),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433.9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kb/s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symmetric.</a:t>
            </a:r>
            <a:endParaRPr sz="20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Bluetooth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endParaRPr sz="20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Times New Roman"/>
                <a:cs typeface="Times New Roman"/>
              </a:rPr>
              <a:t>point-to-point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(only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Bluetooth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involved),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endParaRPr sz="20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Times New Roman"/>
                <a:cs typeface="Times New Roman"/>
              </a:rPr>
              <a:t>point-to-multipoint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connection.</a:t>
            </a:r>
            <a:endParaRPr sz="20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Support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both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packet-switching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circuit-switching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18952" y="713231"/>
            <a:ext cx="1273175" cy="2533015"/>
          </a:xfrm>
          <a:custGeom>
            <a:avLst/>
            <a:gdLst/>
            <a:ahLst/>
            <a:cxnLst/>
            <a:rect l="l" t="t" r="r" b="b"/>
            <a:pathLst>
              <a:path w="1273175" h="2533015">
                <a:moveTo>
                  <a:pt x="1273048" y="0"/>
                </a:moveTo>
                <a:lnTo>
                  <a:pt x="508" y="1266444"/>
                </a:lnTo>
                <a:lnTo>
                  <a:pt x="232321" y="1497164"/>
                </a:lnTo>
                <a:lnTo>
                  <a:pt x="0" y="1729486"/>
                </a:lnTo>
                <a:lnTo>
                  <a:pt x="456311" y="2185797"/>
                </a:lnTo>
                <a:lnTo>
                  <a:pt x="689762" y="1952409"/>
                </a:lnTo>
                <a:lnTo>
                  <a:pt x="1273048" y="2532888"/>
                </a:lnTo>
                <a:lnTo>
                  <a:pt x="1273048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172" y="559765"/>
            <a:ext cx="35972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solidFill>
                  <a:srgbClr val="000000"/>
                </a:solidFill>
                <a:latin typeface="Times New Roman"/>
                <a:cs typeface="Times New Roman"/>
              </a:rPr>
              <a:t>Bluetooth</a:t>
            </a:r>
            <a:r>
              <a:rPr sz="3600" b="0" spc="-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0" dirty="0">
                <a:solidFill>
                  <a:srgbClr val="000000"/>
                </a:solidFill>
                <a:latin typeface="Times New Roman"/>
                <a:cs typeface="Times New Roman"/>
              </a:rPr>
              <a:t>(Cont…)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2172" y="2067585"/>
            <a:ext cx="10371455" cy="378269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880"/>
              </a:spcBef>
              <a:buChar char="•"/>
              <a:tabLst>
                <a:tab pos="241300" algn="l"/>
                <a:tab pos="241935" algn="l"/>
              </a:tabLst>
            </a:pPr>
            <a:r>
              <a:rPr sz="1900" spc="-5" dirty="0">
                <a:latin typeface="Times New Roman"/>
                <a:cs typeface="Times New Roman"/>
              </a:rPr>
              <a:t>Bluetooth Special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Interest Group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(SIG)</a:t>
            </a:r>
            <a:r>
              <a:rPr sz="1900" spc="5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founded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in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Spring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1998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by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Ericsson,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Intel,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IBM,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Nokia,</a:t>
            </a:r>
            <a:r>
              <a:rPr sz="1900" spc="-20" dirty="0">
                <a:latin typeface="Times New Roman"/>
                <a:cs typeface="Times New Roman"/>
              </a:rPr>
              <a:t> Toshiba;</a:t>
            </a:r>
            <a:endParaRPr sz="19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780"/>
              </a:spcBef>
              <a:buChar char="•"/>
              <a:tabLst>
                <a:tab pos="241300" algn="l"/>
                <a:tab pos="241935" algn="l"/>
              </a:tabLst>
            </a:pPr>
            <a:r>
              <a:rPr sz="1900" spc="-5" dirty="0">
                <a:latin typeface="Times New Roman"/>
                <a:cs typeface="Times New Roman"/>
              </a:rPr>
              <a:t>Now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more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than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2000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organizations </a:t>
            </a:r>
            <a:r>
              <a:rPr sz="1900" dirty="0">
                <a:latin typeface="Times New Roman"/>
                <a:cs typeface="Times New Roman"/>
              </a:rPr>
              <a:t>joint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the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SIG</a:t>
            </a:r>
            <a:endParaRPr sz="19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1900" spc="-5" dirty="0">
                <a:latin typeface="Times New Roman"/>
                <a:cs typeface="Times New Roman"/>
              </a:rPr>
              <a:t>Key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features:</a:t>
            </a:r>
            <a:endParaRPr sz="1900">
              <a:latin typeface="Times New Roman"/>
              <a:cs typeface="Times New Roman"/>
            </a:endParaRPr>
          </a:p>
          <a:p>
            <a:pPr marL="1155700" lvl="1" indent="-22923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900" spc="-5" dirty="0">
                <a:latin typeface="Times New Roman"/>
                <a:cs typeface="Times New Roman"/>
              </a:rPr>
              <a:t>Robustness</a:t>
            </a:r>
            <a:endParaRPr sz="1900">
              <a:latin typeface="Times New Roman"/>
              <a:cs typeface="Times New Roman"/>
            </a:endParaRPr>
          </a:p>
          <a:p>
            <a:pPr marL="1155700" lvl="1" indent="-22923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900" spc="-5" dirty="0">
                <a:latin typeface="Times New Roman"/>
                <a:cs typeface="Times New Roman"/>
              </a:rPr>
              <a:t>low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complexity</a:t>
            </a:r>
            <a:endParaRPr sz="1900">
              <a:latin typeface="Times New Roman"/>
              <a:cs typeface="Times New Roman"/>
            </a:endParaRPr>
          </a:p>
          <a:p>
            <a:pPr marL="1155700" marR="144145" lvl="1" indent="-228600">
              <a:lnSpc>
                <a:spcPts val="2050"/>
              </a:lnSpc>
              <a:spcBef>
                <a:spcPts val="53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900" spc="-5" dirty="0">
                <a:latin typeface="Times New Roman"/>
                <a:cs typeface="Times New Roman"/>
              </a:rPr>
              <a:t>low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power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consumption,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which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enables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maximum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performance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longevity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for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battery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powered </a:t>
            </a:r>
            <a:r>
              <a:rPr sz="1900" spc="-459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devices</a:t>
            </a:r>
            <a:endParaRPr sz="1900">
              <a:latin typeface="Times New Roman"/>
              <a:cs typeface="Times New Roman"/>
            </a:endParaRPr>
          </a:p>
          <a:p>
            <a:pPr marL="1155700" lvl="1" indent="-229235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900" spc="-5" dirty="0">
                <a:latin typeface="Times New Roman"/>
                <a:cs typeface="Times New Roman"/>
              </a:rPr>
              <a:t>low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cost</a:t>
            </a:r>
            <a:endParaRPr sz="19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770"/>
              </a:spcBef>
              <a:buChar char="•"/>
              <a:tabLst>
                <a:tab pos="241300" algn="l"/>
                <a:tab pos="241935" algn="l"/>
              </a:tabLst>
            </a:pPr>
            <a:r>
              <a:rPr sz="1900" spc="-5" dirty="0">
                <a:latin typeface="Times New Roman"/>
                <a:cs typeface="Times New Roman"/>
              </a:rPr>
              <a:t>Limitations:</a:t>
            </a:r>
            <a:endParaRPr sz="19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275"/>
              </a:spcBef>
              <a:buChar char="•"/>
              <a:tabLst>
                <a:tab pos="698500" algn="l"/>
                <a:tab pos="699135" algn="l"/>
              </a:tabLst>
            </a:pPr>
            <a:r>
              <a:rPr sz="1900" spc="-5" dirty="0">
                <a:latin typeface="Times New Roman"/>
                <a:cs typeface="Times New Roman"/>
              </a:rPr>
              <a:t>Security</a:t>
            </a:r>
            <a:endParaRPr sz="19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265"/>
              </a:spcBef>
              <a:buChar char="•"/>
              <a:tabLst>
                <a:tab pos="698500" algn="l"/>
                <a:tab pos="699135" algn="l"/>
              </a:tabLst>
            </a:pPr>
            <a:r>
              <a:rPr sz="1900" spc="-5" dirty="0">
                <a:latin typeface="Times New Roman"/>
                <a:cs typeface="Times New Roman"/>
              </a:rPr>
              <a:t>Interference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with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wireless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LANs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18952" y="713231"/>
            <a:ext cx="1273175" cy="2533015"/>
          </a:xfrm>
          <a:custGeom>
            <a:avLst/>
            <a:gdLst/>
            <a:ahLst/>
            <a:cxnLst/>
            <a:rect l="l" t="t" r="r" b="b"/>
            <a:pathLst>
              <a:path w="1273175" h="2533015">
                <a:moveTo>
                  <a:pt x="1273048" y="0"/>
                </a:moveTo>
                <a:lnTo>
                  <a:pt x="508" y="1266444"/>
                </a:lnTo>
                <a:lnTo>
                  <a:pt x="232321" y="1497164"/>
                </a:lnTo>
                <a:lnTo>
                  <a:pt x="0" y="1729486"/>
                </a:lnTo>
                <a:lnTo>
                  <a:pt x="456311" y="2185797"/>
                </a:lnTo>
                <a:lnTo>
                  <a:pt x="689762" y="1952409"/>
                </a:lnTo>
                <a:lnTo>
                  <a:pt x="1273048" y="2532888"/>
                </a:lnTo>
                <a:lnTo>
                  <a:pt x="1273048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09372"/>
            <a:ext cx="12192000" cy="960119"/>
          </a:xfrm>
          <a:custGeom>
            <a:avLst/>
            <a:gdLst/>
            <a:ahLst/>
            <a:cxnLst/>
            <a:rect l="l" t="t" r="r" b="b"/>
            <a:pathLst>
              <a:path w="12192000" h="960119">
                <a:moveTo>
                  <a:pt x="12192000" y="0"/>
                </a:moveTo>
                <a:lnTo>
                  <a:pt x="0" y="0"/>
                </a:lnTo>
                <a:lnTo>
                  <a:pt x="0" y="960119"/>
                </a:lnTo>
                <a:lnTo>
                  <a:pt x="12192000" y="960119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83204" y="388112"/>
            <a:ext cx="66306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Times New Roman"/>
                <a:cs typeface="Times New Roman"/>
              </a:rPr>
              <a:t>Application:</a:t>
            </a:r>
            <a:r>
              <a:rPr b="0" spc="-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Synchronization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723618"/>
            <a:ext cx="2782570" cy="323659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</a:t>
            </a:r>
            <a:r>
              <a:rPr sz="2000" spc="5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ints</a:t>
            </a:r>
            <a:endParaRPr sz="20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spc="-5" dirty="0">
                <a:latin typeface="Times New Roman"/>
                <a:cs typeface="Times New Roman"/>
              </a:rPr>
              <a:t>Synchronization</a:t>
            </a:r>
            <a:endParaRPr sz="20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Headset</a:t>
            </a:r>
            <a:endParaRPr sz="20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Conference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30" dirty="0">
                <a:latin typeface="Times New Roman"/>
                <a:cs typeface="Times New Roman"/>
              </a:rPr>
              <a:t>Table</a:t>
            </a:r>
            <a:endParaRPr sz="20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Cordless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Computer</a:t>
            </a:r>
            <a:endParaRPr sz="20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Business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Card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Exchange</a:t>
            </a:r>
            <a:endParaRPr sz="20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Instant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Postcard</a:t>
            </a:r>
            <a:endParaRPr sz="20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spc="-5" dirty="0">
                <a:latin typeface="Times New Roman"/>
                <a:cs typeface="Times New Roman"/>
              </a:rPr>
              <a:t>Computer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Speakerphone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121908" y="2334972"/>
            <a:ext cx="4517390" cy="2837815"/>
            <a:chOff x="6121908" y="2334972"/>
            <a:chExt cx="4517390" cy="283781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1908" y="3038167"/>
              <a:ext cx="2057399" cy="178639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147347" y="3255567"/>
              <a:ext cx="403225" cy="109220"/>
            </a:xfrm>
            <a:custGeom>
              <a:avLst/>
              <a:gdLst/>
              <a:ahLst/>
              <a:cxnLst/>
              <a:rect l="l" t="t" r="r" b="b"/>
              <a:pathLst>
                <a:path w="403225" h="109220">
                  <a:moveTo>
                    <a:pt x="403118" y="0"/>
                  </a:moveTo>
                  <a:lnTo>
                    <a:pt x="0" y="73900"/>
                  </a:lnTo>
                  <a:lnTo>
                    <a:pt x="142508" y="109072"/>
                  </a:lnTo>
                  <a:lnTo>
                    <a:pt x="271871" y="72451"/>
                  </a:lnTo>
                  <a:lnTo>
                    <a:pt x="40311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147347" y="3255567"/>
              <a:ext cx="403225" cy="109220"/>
            </a:xfrm>
            <a:custGeom>
              <a:avLst/>
              <a:gdLst/>
              <a:ahLst/>
              <a:cxnLst/>
              <a:rect l="l" t="t" r="r" b="b"/>
              <a:pathLst>
                <a:path w="403225" h="109220">
                  <a:moveTo>
                    <a:pt x="0" y="73900"/>
                  </a:moveTo>
                  <a:lnTo>
                    <a:pt x="403118" y="0"/>
                  </a:lnTo>
                </a:path>
                <a:path w="403225" h="109220">
                  <a:moveTo>
                    <a:pt x="271871" y="72451"/>
                  </a:moveTo>
                  <a:lnTo>
                    <a:pt x="142508" y="109072"/>
                  </a:lnTo>
                  <a:lnTo>
                    <a:pt x="0" y="73900"/>
                  </a:lnTo>
                </a:path>
              </a:pathLst>
            </a:custGeom>
            <a:ln w="348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83076" y="3448796"/>
              <a:ext cx="517525" cy="146685"/>
            </a:xfrm>
            <a:custGeom>
              <a:avLst/>
              <a:gdLst/>
              <a:ahLst/>
              <a:cxnLst/>
              <a:rect l="l" t="t" r="r" b="b"/>
              <a:pathLst>
                <a:path w="517525" h="146685">
                  <a:moveTo>
                    <a:pt x="517353" y="0"/>
                  </a:moveTo>
                  <a:lnTo>
                    <a:pt x="0" y="146451"/>
                  </a:lnTo>
                  <a:lnTo>
                    <a:pt x="380021" y="75810"/>
                  </a:lnTo>
                  <a:lnTo>
                    <a:pt x="51735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683076" y="3448796"/>
              <a:ext cx="517525" cy="146685"/>
            </a:xfrm>
            <a:custGeom>
              <a:avLst/>
              <a:gdLst/>
              <a:ahLst/>
              <a:cxnLst/>
              <a:rect l="l" t="t" r="r" b="b"/>
              <a:pathLst>
                <a:path w="517525" h="146685">
                  <a:moveTo>
                    <a:pt x="380021" y="75810"/>
                  </a:moveTo>
                  <a:lnTo>
                    <a:pt x="0" y="146451"/>
                  </a:lnTo>
                  <a:lnTo>
                    <a:pt x="517353" y="0"/>
                  </a:lnTo>
                </a:path>
              </a:pathLst>
            </a:custGeom>
            <a:ln w="384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2396" y="3315844"/>
              <a:ext cx="183884" cy="9833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831879" y="4638988"/>
              <a:ext cx="754380" cy="186055"/>
            </a:xfrm>
            <a:custGeom>
              <a:avLst/>
              <a:gdLst/>
              <a:ahLst/>
              <a:cxnLst/>
              <a:rect l="l" t="t" r="r" b="b"/>
              <a:pathLst>
                <a:path w="754379" h="186054">
                  <a:moveTo>
                    <a:pt x="140973" y="0"/>
                  </a:moveTo>
                  <a:lnTo>
                    <a:pt x="0" y="31273"/>
                  </a:lnTo>
                  <a:lnTo>
                    <a:pt x="753867" y="185664"/>
                  </a:lnTo>
                  <a:lnTo>
                    <a:pt x="14097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831879" y="4638988"/>
              <a:ext cx="754380" cy="186055"/>
            </a:xfrm>
            <a:custGeom>
              <a:avLst/>
              <a:gdLst/>
              <a:ahLst/>
              <a:cxnLst/>
              <a:rect l="l" t="t" r="r" b="b"/>
              <a:pathLst>
                <a:path w="754379" h="186054">
                  <a:moveTo>
                    <a:pt x="0" y="31273"/>
                  </a:moveTo>
                  <a:lnTo>
                    <a:pt x="753867" y="185664"/>
                  </a:lnTo>
                  <a:lnTo>
                    <a:pt x="140973" y="0"/>
                  </a:lnTo>
                  <a:lnTo>
                    <a:pt x="0" y="31273"/>
                  </a:lnTo>
                  <a:close/>
                </a:path>
              </a:pathLst>
            </a:custGeom>
            <a:ln w="38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369129" y="4394693"/>
              <a:ext cx="755650" cy="187960"/>
            </a:xfrm>
            <a:custGeom>
              <a:avLst/>
              <a:gdLst/>
              <a:ahLst/>
              <a:cxnLst/>
              <a:rect l="l" t="t" r="r" b="b"/>
              <a:pathLst>
                <a:path w="755650" h="187960">
                  <a:moveTo>
                    <a:pt x="0" y="0"/>
                  </a:moveTo>
                  <a:lnTo>
                    <a:pt x="612919" y="187621"/>
                  </a:lnTo>
                  <a:lnTo>
                    <a:pt x="755415" y="156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369129" y="4394693"/>
              <a:ext cx="755650" cy="187960"/>
            </a:xfrm>
            <a:custGeom>
              <a:avLst/>
              <a:gdLst/>
              <a:ahLst/>
              <a:cxnLst/>
              <a:rect l="l" t="t" r="r" b="b"/>
              <a:pathLst>
                <a:path w="755650" h="187960">
                  <a:moveTo>
                    <a:pt x="755415" y="156348"/>
                  </a:moveTo>
                  <a:lnTo>
                    <a:pt x="0" y="0"/>
                  </a:lnTo>
                  <a:lnTo>
                    <a:pt x="612919" y="187621"/>
                  </a:lnTo>
                  <a:lnTo>
                    <a:pt x="755415" y="156348"/>
                  </a:lnTo>
                  <a:close/>
                </a:path>
              </a:pathLst>
            </a:custGeom>
            <a:ln w="385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827288" y="4549084"/>
              <a:ext cx="294640" cy="135255"/>
            </a:xfrm>
            <a:custGeom>
              <a:avLst/>
              <a:gdLst/>
              <a:ahLst/>
              <a:cxnLst/>
              <a:rect l="l" t="t" r="r" b="b"/>
              <a:pathLst>
                <a:path w="294640" h="135254">
                  <a:moveTo>
                    <a:pt x="294187" y="0"/>
                  </a:moveTo>
                  <a:lnTo>
                    <a:pt x="0" y="119219"/>
                  </a:lnTo>
                  <a:lnTo>
                    <a:pt x="90401" y="134863"/>
                  </a:lnTo>
                  <a:lnTo>
                    <a:pt x="29418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827288" y="4549084"/>
              <a:ext cx="294640" cy="135255"/>
            </a:xfrm>
            <a:custGeom>
              <a:avLst/>
              <a:gdLst/>
              <a:ahLst/>
              <a:cxnLst/>
              <a:rect l="l" t="t" r="r" b="b"/>
              <a:pathLst>
                <a:path w="294640" h="135254">
                  <a:moveTo>
                    <a:pt x="90401" y="134863"/>
                  </a:moveTo>
                  <a:lnTo>
                    <a:pt x="0" y="119219"/>
                  </a:lnTo>
                  <a:lnTo>
                    <a:pt x="294187" y="0"/>
                  </a:lnTo>
                  <a:lnTo>
                    <a:pt x="90401" y="134863"/>
                  </a:lnTo>
                  <a:close/>
                </a:path>
              </a:pathLst>
            </a:custGeom>
            <a:ln w="376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828822" y="4535414"/>
              <a:ext cx="294640" cy="135255"/>
            </a:xfrm>
            <a:custGeom>
              <a:avLst/>
              <a:gdLst/>
              <a:ahLst/>
              <a:cxnLst/>
              <a:rect l="l" t="t" r="r" b="b"/>
              <a:pathLst>
                <a:path w="294640" h="135254">
                  <a:moveTo>
                    <a:pt x="203786" y="0"/>
                  </a:moveTo>
                  <a:lnTo>
                    <a:pt x="0" y="134847"/>
                  </a:lnTo>
                  <a:lnTo>
                    <a:pt x="294187" y="15628"/>
                  </a:lnTo>
                  <a:lnTo>
                    <a:pt x="20378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828822" y="4535414"/>
              <a:ext cx="294640" cy="135255"/>
            </a:xfrm>
            <a:custGeom>
              <a:avLst/>
              <a:gdLst/>
              <a:ahLst/>
              <a:cxnLst/>
              <a:rect l="l" t="t" r="r" b="b"/>
              <a:pathLst>
                <a:path w="294640" h="135254">
                  <a:moveTo>
                    <a:pt x="203786" y="0"/>
                  </a:moveTo>
                  <a:lnTo>
                    <a:pt x="294187" y="15628"/>
                  </a:lnTo>
                  <a:lnTo>
                    <a:pt x="0" y="134847"/>
                  </a:lnTo>
                  <a:lnTo>
                    <a:pt x="203786" y="0"/>
                  </a:lnTo>
                  <a:close/>
                </a:path>
              </a:pathLst>
            </a:custGeom>
            <a:ln w="376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50608" y="2805684"/>
              <a:ext cx="1828800" cy="2002789"/>
            </a:xfrm>
            <a:custGeom>
              <a:avLst/>
              <a:gdLst/>
              <a:ahLst/>
              <a:cxnLst/>
              <a:rect l="l" t="t" r="r" b="b"/>
              <a:pathLst>
                <a:path w="1828800" h="2002789">
                  <a:moveTo>
                    <a:pt x="914400" y="0"/>
                  </a:moveTo>
                  <a:lnTo>
                    <a:pt x="886968" y="850138"/>
                  </a:lnTo>
                  <a:lnTo>
                    <a:pt x="564515" y="76200"/>
                  </a:lnTo>
                  <a:lnTo>
                    <a:pt x="836168" y="873124"/>
                  </a:lnTo>
                  <a:lnTo>
                    <a:pt x="267843" y="293242"/>
                  </a:lnTo>
                  <a:lnTo>
                    <a:pt x="797433" y="915669"/>
                  </a:lnTo>
                  <a:lnTo>
                    <a:pt x="69596" y="618108"/>
                  </a:lnTo>
                  <a:lnTo>
                    <a:pt x="776351" y="971168"/>
                  </a:lnTo>
                  <a:lnTo>
                    <a:pt x="0" y="1001267"/>
                  </a:lnTo>
                  <a:lnTo>
                    <a:pt x="776351" y="1031366"/>
                  </a:lnTo>
                  <a:lnTo>
                    <a:pt x="69596" y="1384427"/>
                  </a:lnTo>
                  <a:lnTo>
                    <a:pt x="797433" y="1086865"/>
                  </a:lnTo>
                  <a:lnTo>
                    <a:pt x="267843" y="1709292"/>
                  </a:lnTo>
                  <a:lnTo>
                    <a:pt x="836168" y="1129410"/>
                  </a:lnTo>
                  <a:lnTo>
                    <a:pt x="564515" y="1926335"/>
                  </a:lnTo>
                  <a:lnTo>
                    <a:pt x="886968" y="1152397"/>
                  </a:lnTo>
                  <a:lnTo>
                    <a:pt x="914400" y="2002535"/>
                  </a:lnTo>
                  <a:lnTo>
                    <a:pt x="941832" y="1152397"/>
                  </a:lnTo>
                  <a:lnTo>
                    <a:pt x="1264285" y="1926335"/>
                  </a:lnTo>
                  <a:lnTo>
                    <a:pt x="992632" y="1129410"/>
                  </a:lnTo>
                  <a:lnTo>
                    <a:pt x="1560957" y="1709292"/>
                  </a:lnTo>
                  <a:lnTo>
                    <a:pt x="1031367" y="1086865"/>
                  </a:lnTo>
                  <a:lnTo>
                    <a:pt x="1759203" y="1384427"/>
                  </a:lnTo>
                  <a:lnTo>
                    <a:pt x="1052449" y="1031366"/>
                  </a:lnTo>
                  <a:lnTo>
                    <a:pt x="1828800" y="1001267"/>
                  </a:lnTo>
                  <a:lnTo>
                    <a:pt x="1052449" y="971168"/>
                  </a:lnTo>
                  <a:lnTo>
                    <a:pt x="1759203" y="618108"/>
                  </a:lnTo>
                  <a:lnTo>
                    <a:pt x="1031367" y="915669"/>
                  </a:lnTo>
                  <a:lnTo>
                    <a:pt x="1560957" y="293242"/>
                  </a:lnTo>
                  <a:lnTo>
                    <a:pt x="992632" y="873124"/>
                  </a:lnTo>
                  <a:lnTo>
                    <a:pt x="1264285" y="76200"/>
                  </a:lnTo>
                  <a:lnTo>
                    <a:pt x="941832" y="850138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50608" y="2805684"/>
              <a:ext cx="1828800" cy="2002789"/>
            </a:xfrm>
            <a:custGeom>
              <a:avLst/>
              <a:gdLst/>
              <a:ahLst/>
              <a:cxnLst/>
              <a:rect l="l" t="t" r="r" b="b"/>
              <a:pathLst>
                <a:path w="1828800" h="2002789">
                  <a:moveTo>
                    <a:pt x="0" y="1001267"/>
                  </a:moveTo>
                  <a:lnTo>
                    <a:pt x="776351" y="971168"/>
                  </a:lnTo>
                  <a:lnTo>
                    <a:pt x="69596" y="618108"/>
                  </a:lnTo>
                  <a:lnTo>
                    <a:pt x="797433" y="915669"/>
                  </a:lnTo>
                  <a:lnTo>
                    <a:pt x="267843" y="293242"/>
                  </a:lnTo>
                  <a:lnTo>
                    <a:pt x="836168" y="873124"/>
                  </a:lnTo>
                  <a:lnTo>
                    <a:pt x="564515" y="76200"/>
                  </a:lnTo>
                  <a:lnTo>
                    <a:pt x="886968" y="850138"/>
                  </a:lnTo>
                  <a:lnTo>
                    <a:pt x="914400" y="0"/>
                  </a:lnTo>
                  <a:lnTo>
                    <a:pt x="941832" y="850138"/>
                  </a:lnTo>
                  <a:lnTo>
                    <a:pt x="1264285" y="76200"/>
                  </a:lnTo>
                  <a:lnTo>
                    <a:pt x="992632" y="873124"/>
                  </a:lnTo>
                  <a:lnTo>
                    <a:pt x="1560957" y="293242"/>
                  </a:lnTo>
                  <a:lnTo>
                    <a:pt x="1031367" y="915669"/>
                  </a:lnTo>
                  <a:lnTo>
                    <a:pt x="1759203" y="618108"/>
                  </a:lnTo>
                  <a:lnTo>
                    <a:pt x="1052449" y="971168"/>
                  </a:lnTo>
                  <a:lnTo>
                    <a:pt x="1828800" y="1001267"/>
                  </a:lnTo>
                  <a:lnTo>
                    <a:pt x="1052449" y="1031366"/>
                  </a:lnTo>
                  <a:lnTo>
                    <a:pt x="1759203" y="1384427"/>
                  </a:lnTo>
                  <a:lnTo>
                    <a:pt x="1031367" y="1086865"/>
                  </a:lnTo>
                  <a:lnTo>
                    <a:pt x="1560957" y="1709292"/>
                  </a:lnTo>
                  <a:lnTo>
                    <a:pt x="992632" y="1129410"/>
                  </a:lnTo>
                  <a:lnTo>
                    <a:pt x="1264285" y="1926335"/>
                  </a:lnTo>
                  <a:lnTo>
                    <a:pt x="941832" y="1152397"/>
                  </a:lnTo>
                  <a:lnTo>
                    <a:pt x="914400" y="2002535"/>
                  </a:lnTo>
                  <a:lnTo>
                    <a:pt x="886968" y="1152397"/>
                  </a:lnTo>
                  <a:lnTo>
                    <a:pt x="564515" y="1926335"/>
                  </a:lnTo>
                  <a:lnTo>
                    <a:pt x="836168" y="1129410"/>
                  </a:lnTo>
                  <a:lnTo>
                    <a:pt x="267843" y="1709292"/>
                  </a:lnTo>
                  <a:lnTo>
                    <a:pt x="797433" y="1086865"/>
                  </a:lnTo>
                  <a:lnTo>
                    <a:pt x="69596" y="1384427"/>
                  </a:lnTo>
                  <a:lnTo>
                    <a:pt x="776351" y="1031366"/>
                  </a:lnTo>
                  <a:lnTo>
                    <a:pt x="0" y="1001267"/>
                  </a:lnTo>
                  <a:close/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147347" y="4498062"/>
              <a:ext cx="754380" cy="186055"/>
            </a:xfrm>
            <a:custGeom>
              <a:avLst/>
              <a:gdLst/>
              <a:ahLst/>
              <a:cxnLst/>
              <a:rect l="l" t="t" r="r" b="b"/>
              <a:pathLst>
                <a:path w="754379" h="186054">
                  <a:moveTo>
                    <a:pt x="140973" y="0"/>
                  </a:moveTo>
                  <a:lnTo>
                    <a:pt x="0" y="31329"/>
                  </a:lnTo>
                  <a:lnTo>
                    <a:pt x="753867" y="185998"/>
                  </a:lnTo>
                  <a:lnTo>
                    <a:pt x="14097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147347" y="4498062"/>
              <a:ext cx="754380" cy="186055"/>
            </a:xfrm>
            <a:custGeom>
              <a:avLst/>
              <a:gdLst/>
              <a:ahLst/>
              <a:cxnLst/>
              <a:rect l="l" t="t" r="r" b="b"/>
              <a:pathLst>
                <a:path w="754379" h="186054">
                  <a:moveTo>
                    <a:pt x="0" y="31329"/>
                  </a:moveTo>
                  <a:lnTo>
                    <a:pt x="753867" y="185998"/>
                  </a:lnTo>
                  <a:lnTo>
                    <a:pt x="140973" y="0"/>
                  </a:lnTo>
                  <a:lnTo>
                    <a:pt x="0" y="31329"/>
                  </a:lnTo>
                  <a:close/>
                </a:path>
              </a:pathLst>
            </a:custGeom>
            <a:ln w="386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684598" y="4253327"/>
              <a:ext cx="755650" cy="187960"/>
            </a:xfrm>
            <a:custGeom>
              <a:avLst/>
              <a:gdLst/>
              <a:ahLst/>
              <a:cxnLst/>
              <a:rect l="l" t="t" r="r" b="b"/>
              <a:pathLst>
                <a:path w="755650" h="187960">
                  <a:moveTo>
                    <a:pt x="0" y="0"/>
                  </a:moveTo>
                  <a:lnTo>
                    <a:pt x="612919" y="187959"/>
                  </a:lnTo>
                  <a:lnTo>
                    <a:pt x="755415" y="156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684598" y="4253327"/>
              <a:ext cx="755650" cy="187960"/>
            </a:xfrm>
            <a:custGeom>
              <a:avLst/>
              <a:gdLst/>
              <a:ahLst/>
              <a:cxnLst/>
              <a:rect l="l" t="t" r="r" b="b"/>
              <a:pathLst>
                <a:path w="755650" h="187960">
                  <a:moveTo>
                    <a:pt x="755415" y="156630"/>
                  </a:moveTo>
                  <a:lnTo>
                    <a:pt x="0" y="0"/>
                  </a:lnTo>
                  <a:lnTo>
                    <a:pt x="612919" y="187959"/>
                  </a:lnTo>
                  <a:lnTo>
                    <a:pt x="755415" y="156630"/>
                  </a:lnTo>
                  <a:close/>
                </a:path>
              </a:pathLst>
            </a:custGeom>
            <a:ln w="386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142756" y="4407996"/>
              <a:ext cx="294640" cy="135255"/>
            </a:xfrm>
            <a:custGeom>
              <a:avLst/>
              <a:gdLst/>
              <a:ahLst/>
              <a:cxnLst/>
              <a:rect l="l" t="t" r="r" b="b"/>
              <a:pathLst>
                <a:path w="294640" h="135254">
                  <a:moveTo>
                    <a:pt x="294187" y="0"/>
                  </a:moveTo>
                  <a:lnTo>
                    <a:pt x="0" y="119433"/>
                  </a:lnTo>
                  <a:lnTo>
                    <a:pt x="90401" y="135106"/>
                  </a:lnTo>
                  <a:lnTo>
                    <a:pt x="29418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142756" y="4407996"/>
              <a:ext cx="294640" cy="135255"/>
            </a:xfrm>
            <a:custGeom>
              <a:avLst/>
              <a:gdLst/>
              <a:ahLst/>
              <a:cxnLst/>
              <a:rect l="l" t="t" r="r" b="b"/>
              <a:pathLst>
                <a:path w="294640" h="135254">
                  <a:moveTo>
                    <a:pt x="90401" y="135106"/>
                  </a:moveTo>
                  <a:lnTo>
                    <a:pt x="0" y="119433"/>
                  </a:lnTo>
                  <a:lnTo>
                    <a:pt x="294187" y="0"/>
                  </a:lnTo>
                  <a:lnTo>
                    <a:pt x="90401" y="135106"/>
                  </a:lnTo>
                  <a:close/>
                </a:path>
              </a:pathLst>
            </a:custGeom>
            <a:ln w="376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144290" y="4394301"/>
              <a:ext cx="294640" cy="135255"/>
            </a:xfrm>
            <a:custGeom>
              <a:avLst/>
              <a:gdLst/>
              <a:ahLst/>
              <a:cxnLst/>
              <a:rect l="l" t="t" r="r" b="b"/>
              <a:pathLst>
                <a:path w="294640" h="135254">
                  <a:moveTo>
                    <a:pt x="203786" y="0"/>
                  </a:moveTo>
                  <a:lnTo>
                    <a:pt x="0" y="135090"/>
                  </a:lnTo>
                  <a:lnTo>
                    <a:pt x="294187" y="15656"/>
                  </a:lnTo>
                  <a:lnTo>
                    <a:pt x="20378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144290" y="4394301"/>
              <a:ext cx="294640" cy="135255"/>
            </a:xfrm>
            <a:custGeom>
              <a:avLst/>
              <a:gdLst/>
              <a:ahLst/>
              <a:cxnLst/>
              <a:rect l="l" t="t" r="r" b="b"/>
              <a:pathLst>
                <a:path w="294640" h="135254">
                  <a:moveTo>
                    <a:pt x="203786" y="0"/>
                  </a:moveTo>
                  <a:lnTo>
                    <a:pt x="294187" y="15656"/>
                  </a:lnTo>
                  <a:lnTo>
                    <a:pt x="0" y="135090"/>
                  </a:lnTo>
                  <a:lnTo>
                    <a:pt x="203786" y="0"/>
                  </a:lnTo>
                  <a:close/>
                </a:path>
              </a:pathLst>
            </a:custGeom>
            <a:ln w="376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856854" y="3062688"/>
              <a:ext cx="758190" cy="173990"/>
            </a:xfrm>
            <a:custGeom>
              <a:avLst/>
              <a:gdLst/>
              <a:ahLst/>
              <a:cxnLst/>
              <a:rect l="l" t="t" r="r" b="b"/>
              <a:pathLst>
                <a:path w="758190" h="173989">
                  <a:moveTo>
                    <a:pt x="757657" y="0"/>
                  </a:moveTo>
                  <a:lnTo>
                    <a:pt x="0" y="138762"/>
                  </a:lnTo>
                  <a:lnTo>
                    <a:pt x="142644" y="173934"/>
                  </a:lnTo>
                  <a:lnTo>
                    <a:pt x="75765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856854" y="3062688"/>
              <a:ext cx="758190" cy="173990"/>
            </a:xfrm>
            <a:custGeom>
              <a:avLst/>
              <a:gdLst/>
              <a:ahLst/>
              <a:cxnLst/>
              <a:rect l="l" t="t" r="r" b="b"/>
              <a:pathLst>
                <a:path w="758190" h="173989">
                  <a:moveTo>
                    <a:pt x="0" y="138762"/>
                  </a:moveTo>
                  <a:lnTo>
                    <a:pt x="757657" y="0"/>
                  </a:lnTo>
                  <a:lnTo>
                    <a:pt x="142644" y="173934"/>
                  </a:lnTo>
                  <a:lnTo>
                    <a:pt x="0" y="138762"/>
                  </a:lnTo>
                  <a:close/>
                </a:path>
              </a:pathLst>
            </a:custGeom>
            <a:ln w="386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392141" y="3293296"/>
              <a:ext cx="758190" cy="173990"/>
            </a:xfrm>
            <a:custGeom>
              <a:avLst/>
              <a:gdLst/>
              <a:ahLst/>
              <a:cxnLst/>
              <a:rect l="l" t="t" r="r" b="b"/>
              <a:pathLst>
                <a:path w="758190" h="173989">
                  <a:moveTo>
                    <a:pt x="615026" y="0"/>
                  </a:moveTo>
                  <a:lnTo>
                    <a:pt x="0" y="173934"/>
                  </a:lnTo>
                  <a:lnTo>
                    <a:pt x="757657" y="33230"/>
                  </a:lnTo>
                  <a:lnTo>
                    <a:pt x="61502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392141" y="3293296"/>
              <a:ext cx="758190" cy="173990"/>
            </a:xfrm>
            <a:custGeom>
              <a:avLst/>
              <a:gdLst/>
              <a:ahLst/>
              <a:cxnLst/>
              <a:rect l="l" t="t" r="r" b="b"/>
              <a:pathLst>
                <a:path w="758190" h="173989">
                  <a:moveTo>
                    <a:pt x="757657" y="33230"/>
                  </a:moveTo>
                  <a:lnTo>
                    <a:pt x="0" y="173934"/>
                  </a:lnTo>
                  <a:lnTo>
                    <a:pt x="615026" y="0"/>
                  </a:lnTo>
                  <a:lnTo>
                    <a:pt x="757657" y="33230"/>
                  </a:lnTo>
                  <a:close/>
                </a:path>
              </a:pathLst>
            </a:custGeom>
            <a:ln w="386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853794" y="3189722"/>
              <a:ext cx="291465" cy="139065"/>
            </a:xfrm>
            <a:custGeom>
              <a:avLst/>
              <a:gdLst/>
              <a:ahLst/>
              <a:cxnLst/>
              <a:rect l="l" t="t" r="r" b="b"/>
              <a:pathLst>
                <a:path w="291465" h="139064">
                  <a:moveTo>
                    <a:pt x="88950" y="0"/>
                  </a:moveTo>
                  <a:lnTo>
                    <a:pt x="0" y="13670"/>
                  </a:lnTo>
                  <a:lnTo>
                    <a:pt x="291407" y="138762"/>
                  </a:lnTo>
                  <a:lnTo>
                    <a:pt x="889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853794" y="3189722"/>
              <a:ext cx="291465" cy="139065"/>
            </a:xfrm>
            <a:custGeom>
              <a:avLst/>
              <a:gdLst/>
              <a:ahLst/>
              <a:cxnLst/>
              <a:rect l="l" t="t" r="r" b="b"/>
              <a:pathLst>
                <a:path w="291465" h="139064">
                  <a:moveTo>
                    <a:pt x="88950" y="0"/>
                  </a:moveTo>
                  <a:lnTo>
                    <a:pt x="0" y="13670"/>
                  </a:lnTo>
                  <a:lnTo>
                    <a:pt x="291407" y="138762"/>
                  </a:lnTo>
                  <a:lnTo>
                    <a:pt x="88950" y="0"/>
                  </a:lnTo>
                  <a:close/>
                </a:path>
              </a:pathLst>
            </a:custGeom>
            <a:ln w="375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855318" y="3201451"/>
              <a:ext cx="291465" cy="139065"/>
            </a:xfrm>
            <a:custGeom>
              <a:avLst/>
              <a:gdLst/>
              <a:ahLst/>
              <a:cxnLst/>
              <a:rect l="l" t="t" r="r" b="b"/>
              <a:pathLst>
                <a:path w="291465" h="139064">
                  <a:moveTo>
                    <a:pt x="0" y="0"/>
                  </a:moveTo>
                  <a:lnTo>
                    <a:pt x="202456" y="138746"/>
                  </a:lnTo>
                  <a:lnTo>
                    <a:pt x="291407" y="125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855318" y="3201451"/>
              <a:ext cx="291465" cy="139065"/>
            </a:xfrm>
            <a:custGeom>
              <a:avLst/>
              <a:gdLst/>
              <a:ahLst/>
              <a:cxnLst/>
              <a:rect l="l" t="t" r="r" b="b"/>
              <a:pathLst>
                <a:path w="291465" h="139064">
                  <a:moveTo>
                    <a:pt x="202456" y="138746"/>
                  </a:moveTo>
                  <a:lnTo>
                    <a:pt x="291407" y="125075"/>
                  </a:lnTo>
                  <a:lnTo>
                    <a:pt x="0" y="0"/>
                  </a:lnTo>
                  <a:lnTo>
                    <a:pt x="202456" y="138746"/>
                  </a:lnTo>
                  <a:close/>
                </a:path>
              </a:pathLst>
            </a:custGeom>
            <a:ln w="375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70097" y="2334972"/>
              <a:ext cx="678871" cy="100326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94164" y="3921252"/>
              <a:ext cx="944879" cy="12512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172" y="559765"/>
            <a:ext cx="368490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solidFill>
                  <a:srgbClr val="000000"/>
                </a:solidFill>
                <a:latin typeface="Times New Roman"/>
                <a:cs typeface="Times New Roman"/>
              </a:rPr>
              <a:t>Bluetooth</a:t>
            </a:r>
            <a:r>
              <a:rPr sz="3600" b="0" spc="-1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600" b="0" spc="-35" dirty="0">
                <a:solidFill>
                  <a:srgbClr val="000000"/>
                </a:solidFill>
                <a:latin typeface="Times New Roman"/>
                <a:cs typeface="Times New Roman"/>
              </a:rPr>
              <a:t>Topology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54665" y="2834513"/>
            <a:ext cx="763905" cy="22860"/>
          </a:xfrm>
          <a:custGeom>
            <a:avLst/>
            <a:gdLst/>
            <a:ahLst/>
            <a:cxnLst/>
            <a:rect l="l" t="t" r="r" b="b"/>
            <a:pathLst>
              <a:path w="763904" h="22860">
                <a:moveTo>
                  <a:pt x="763524" y="0"/>
                </a:moveTo>
                <a:lnTo>
                  <a:pt x="0" y="0"/>
                </a:lnTo>
                <a:lnTo>
                  <a:pt x="0" y="22860"/>
                </a:lnTo>
                <a:lnTo>
                  <a:pt x="763524" y="22860"/>
                </a:lnTo>
                <a:lnTo>
                  <a:pt x="763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22172" y="1681251"/>
            <a:ext cx="10741025" cy="442976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1900" spc="-5" dirty="0">
                <a:latin typeface="Times New Roman"/>
                <a:cs typeface="Times New Roman"/>
              </a:rPr>
              <a:t>Bluetooth-enabled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devices can automatically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locate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each other</a:t>
            </a:r>
            <a:endParaRPr sz="19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1900" spc="-20" dirty="0">
                <a:latin typeface="Times New Roman"/>
                <a:cs typeface="Times New Roman"/>
              </a:rPr>
              <a:t>Topology</a:t>
            </a:r>
            <a:r>
              <a:rPr sz="1900" spc="-5" dirty="0">
                <a:latin typeface="Times New Roman"/>
                <a:cs typeface="Times New Roman"/>
              </a:rPr>
              <a:t> is established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on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temporary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and random basis</a:t>
            </a:r>
            <a:endParaRPr sz="19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1900" spc="-5" dirty="0">
                <a:latin typeface="Times New Roman"/>
                <a:cs typeface="Times New Roman"/>
              </a:rPr>
              <a:t>Up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to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eight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Bluetooth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devices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15" dirty="0">
                <a:latin typeface="Times New Roman"/>
                <a:cs typeface="Times New Roman"/>
              </a:rPr>
              <a:t>may</a:t>
            </a:r>
            <a:r>
              <a:rPr sz="1900" spc="3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be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networked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together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in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master-slave</a:t>
            </a:r>
            <a:r>
              <a:rPr sz="1900" b="1" spc="5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relationship</a:t>
            </a:r>
            <a:r>
              <a:rPr sz="1900" b="1" spc="25" dirty="0">
                <a:latin typeface="Times New Roman"/>
                <a:cs typeface="Times New Roman"/>
              </a:rPr>
              <a:t> </a:t>
            </a:r>
            <a:r>
              <a:rPr sz="1900" b="1" spc="-5" dirty="0">
                <a:latin typeface="Times New Roman"/>
                <a:cs typeface="Times New Roman"/>
              </a:rPr>
              <a:t>to</a:t>
            </a:r>
            <a:r>
              <a:rPr sz="1900" b="1" spc="15" dirty="0">
                <a:latin typeface="Times New Roman"/>
                <a:cs typeface="Times New Roman"/>
              </a:rPr>
              <a:t> </a:t>
            </a:r>
            <a:r>
              <a:rPr sz="1900" b="1" spc="-5" dirty="0">
                <a:latin typeface="Times New Roman"/>
                <a:cs typeface="Times New Roman"/>
              </a:rPr>
              <a:t>form</a:t>
            </a:r>
            <a:r>
              <a:rPr sz="1900" b="1" spc="15" dirty="0">
                <a:latin typeface="Times New Roman"/>
                <a:cs typeface="Times New Roman"/>
              </a:rPr>
              <a:t> </a:t>
            </a:r>
            <a:r>
              <a:rPr sz="1900" b="1" spc="-5" dirty="0">
                <a:latin typeface="Times New Roman"/>
                <a:cs typeface="Times New Roman"/>
              </a:rPr>
              <a:t>a</a:t>
            </a:r>
            <a:r>
              <a:rPr sz="1900" b="1" spc="30" dirty="0">
                <a:latin typeface="Times New Roman"/>
                <a:cs typeface="Times New Roman"/>
              </a:rPr>
              <a:t> </a:t>
            </a:r>
            <a:r>
              <a:rPr sz="1900" b="1" spc="-5" dirty="0">
                <a:latin typeface="Times New Roman"/>
                <a:cs typeface="Times New Roman"/>
              </a:rPr>
              <a:t>Piconet</a:t>
            </a:r>
            <a:endParaRPr sz="1900">
              <a:latin typeface="Times New Roman"/>
              <a:cs typeface="Times New Roman"/>
            </a:endParaRPr>
          </a:p>
          <a:p>
            <a:pPr marL="241300" indent="-229235">
              <a:lnSpc>
                <a:spcPts val="2165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1900" spc="-5" dirty="0">
                <a:latin typeface="Times New Roman"/>
                <a:cs typeface="Times New Roman"/>
              </a:rPr>
              <a:t>Piconet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is an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ad-hoc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computer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network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of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devices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using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Bluetooth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technology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protocols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to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allow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b="1" spc="-5" dirty="0">
                <a:latin typeface="Times New Roman"/>
                <a:cs typeface="Times New Roman"/>
              </a:rPr>
              <a:t>one</a:t>
            </a:r>
            <a:r>
              <a:rPr sz="1900" b="1" spc="10" dirty="0">
                <a:latin typeface="Times New Roman"/>
                <a:cs typeface="Times New Roman"/>
              </a:rPr>
              <a:t> </a:t>
            </a:r>
            <a:r>
              <a:rPr sz="1900" b="1" i="1" spc="-5" dirty="0">
                <a:latin typeface="Times New Roman"/>
                <a:cs typeface="Times New Roman"/>
              </a:rPr>
              <a:t>master</a:t>
            </a:r>
            <a:endParaRPr sz="1900">
              <a:latin typeface="Times New Roman"/>
              <a:cs typeface="Times New Roman"/>
            </a:endParaRPr>
          </a:p>
          <a:p>
            <a:pPr marL="241300">
              <a:lnSpc>
                <a:spcPts val="2165"/>
              </a:lnSpc>
            </a:pPr>
            <a:r>
              <a:rPr sz="1900" spc="-5" dirty="0">
                <a:latin typeface="Times New Roman"/>
                <a:cs typeface="Times New Roman"/>
              </a:rPr>
              <a:t>device to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interconnect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with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up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to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b="1" spc="-5" dirty="0">
                <a:latin typeface="Times New Roman"/>
                <a:cs typeface="Times New Roman"/>
              </a:rPr>
              <a:t>seven</a:t>
            </a:r>
            <a:r>
              <a:rPr sz="1900" b="1" spc="5" dirty="0">
                <a:latin typeface="Times New Roman"/>
                <a:cs typeface="Times New Roman"/>
              </a:rPr>
              <a:t> </a:t>
            </a:r>
            <a:r>
              <a:rPr sz="1900" b="1" spc="-5" dirty="0">
                <a:latin typeface="Times New Roman"/>
                <a:cs typeface="Times New Roman"/>
              </a:rPr>
              <a:t>active</a:t>
            </a:r>
            <a:r>
              <a:rPr sz="1900" b="1" dirty="0">
                <a:latin typeface="Times New Roman"/>
                <a:cs typeface="Times New Roman"/>
              </a:rPr>
              <a:t> </a:t>
            </a:r>
            <a:r>
              <a:rPr sz="1900" b="1" i="1" spc="-5" dirty="0">
                <a:latin typeface="Times New Roman"/>
                <a:cs typeface="Times New Roman"/>
              </a:rPr>
              <a:t>slave</a:t>
            </a:r>
            <a:r>
              <a:rPr sz="1900" b="1" i="1" spc="5" dirty="0">
                <a:latin typeface="Times New Roman"/>
                <a:cs typeface="Times New Roman"/>
              </a:rPr>
              <a:t> </a:t>
            </a:r>
            <a:r>
              <a:rPr sz="1900" b="1" spc="-5" dirty="0">
                <a:latin typeface="Times New Roman"/>
                <a:cs typeface="Times New Roman"/>
              </a:rPr>
              <a:t>devices</a:t>
            </a:r>
            <a:endParaRPr sz="19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1900" b="1" spc="-5" dirty="0">
                <a:latin typeface="Times New Roman"/>
                <a:cs typeface="Times New Roman"/>
              </a:rPr>
              <a:t>Adhoc</a:t>
            </a:r>
            <a:r>
              <a:rPr sz="1900" b="1" spc="-10" dirty="0">
                <a:latin typeface="Times New Roman"/>
                <a:cs typeface="Times New Roman"/>
              </a:rPr>
              <a:t> </a:t>
            </a:r>
            <a:r>
              <a:rPr sz="1900" b="1" spc="-5" dirty="0">
                <a:latin typeface="Times New Roman"/>
                <a:cs typeface="Times New Roman"/>
              </a:rPr>
              <a:t>network:</a:t>
            </a:r>
            <a:endParaRPr sz="19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1900" spc="-5" dirty="0">
                <a:latin typeface="Times New Roman"/>
                <a:cs typeface="Times New Roman"/>
              </a:rPr>
              <a:t>is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network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connection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method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which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is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most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often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associated with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wireless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devices.</a:t>
            </a:r>
            <a:endParaRPr sz="19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1900" spc="-5" dirty="0">
                <a:latin typeface="Times New Roman"/>
                <a:cs typeface="Times New Roman"/>
              </a:rPr>
              <a:t>The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connection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is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established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for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the duration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of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one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session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and requires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b="1" spc="-5" dirty="0">
                <a:latin typeface="Times New Roman"/>
                <a:cs typeface="Times New Roman"/>
              </a:rPr>
              <a:t>no</a:t>
            </a:r>
            <a:r>
              <a:rPr sz="1900" b="1" spc="10" dirty="0">
                <a:latin typeface="Times New Roman"/>
                <a:cs typeface="Times New Roman"/>
              </a:rPr>
              <a:t> </a:t>
            </a:r>
            <a:r>
              <a:rPr sz="1900" b="1" spc="-5" dirty="0">
                <a:latin typeface="Times New Roman"/>
                <a:cs typeface="Times New Roman"/>
              </a:rPr>
              <a:t>base</a:t>
            </a:r>
            <a:r>
              <a:rPr sz="1900" b="1" spc="15" dirty="0">
                <a:latin typeface="Times New Roman"/>
                <a:cs typeface="Times New Roman"/>
              </a:rPr>
              <a:t> </a:t>
            </a:r>
            <a:r>
              <a:rPr sz="1900" b="1" spc="-5" dirty="0">
                <a:latin typeface="Times New Roman"/>
                <a:cs typeface="Times New Roman"/>
              </a:rPr>
              <a:t>station</a:t>
            </a:r>
            <a:r>
              <a:rPr sz="1900" spc="-5" dirty="0"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1900" spc="-5" dirty="0">
                <a:latin typeface="Times New Roman"/>
                <a:cs typeface="Times New Roman"/>
              </a:rPr>
              <a:t>Instead,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devices discover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others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within</a:t>
            </a:r>
            <a:r>
              <a:rPr sz="1900" dirty="0">
                <a:latin typeface="Times New Roman"/>
                <a:cs typeface="Times New Roman"/>
              </a:rPr>
              <a:t> range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to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form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 network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for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those computers.</a:t>
            </a:r>
            <a:endParaRPr sz="1900">
              <a:latin typeface="Times New Roman"/>
              <a:cs typeface="Times New Roman"/>
            </a:endParaRPr>
          </a:p>
          <a:p>
            <a:pPr marL="698500" marR="173355" lvl="1" indent="-229235">
              <a:lnSpc>
                <a:spcPts val="2050"/>
              </a:lnSpc>
              <a:spcBef>
                <a:spcPts val="540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1900" spc="-5" dirty="0">
                <a:latin typeface="Times New Roman"/>
                <a:cs typeface="Times New Roman"/>
              </a:rPr>
              <a:t>Devices </a:t>
            </a:r>
            <a:r>
              <a:rPr sz="1900" spc="-15" dirty="0">
                <a:latin typeface="Times New Roman"/>
                <a:cs typeface="Times New Roman"/>
              </a:rPr>
              <a:t>may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search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for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target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nodes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that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are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out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of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range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by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flooding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the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network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with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broadcasts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that </a:t>
            </a:r>
            <a:r>
              <a:rPr sz="1900" spc="-459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are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forwarded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by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each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node.</a:t>
            </a:r>
            <a:endParaRPr sz="19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1900" spc="-5" dirty="0">
                <a:latin typeface="Times New Roman"/>
                <a:cs typeface="Times New Roman"/>
              </a:rPr>
              <a:t>Connections are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possible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over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multiple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nodes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(multihop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ad hoc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network).</a:t>
            </a:r>
            <a:endParaRPr sz="1900">
              <a:latin typeface="Times New Roman"/>
              <a:cs typeface="Times New Roman"/>
            </a:endParaRPr>
          </a:p>
          <a:p>
            <a:pPr marL="698500" lvl="1" indent="-22923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98500" algn="l"/>
                <a:tab pos="699135" algn="l"/>
              </a:tabLst>
            </a:pPr>
            <a:r>
              <a:rPr sz="1900" spc="-5" dirty="0">
                <a:latin typeface="Times New Roman"/>
                <a:cs typeface="Times New Roman"/>
              </a:rPr>
              <a:t>Routing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protocols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then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provide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stable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connections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even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if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nodes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are</a:t>
            </a:r>
            <a:r>
              <a:rPr sz="19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moving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around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918952" y="713231"/>
            <a:ext cx="1273175" cy="2533015"/>
          </a:xfrm>
          <a:custGeom>
            <a:avLst/>
            <a:gdLst/>
            <a:ahLst/>
            <a:cxnLst/>
            <a:rect l="l" t="t" r="r" b="b"/>
            <a:pathLst>
              <a:path w="1273175" h="2533015">
                <a:moveTo>
                  <a:pt x="1273048" y="0"/>
                </a:moveTo>
                <a:lnTo>
                  <a:pt x="508" y="1266444"/>
                </a:lnTo>
                <a:lnTo>
                  <a:pt x="232321" y="1497164"/>
                </a:lnTo>
                <a:lnTo>
                  <a:pt x="0" y="1729486"/>
                </a:lnTo>
                <a:lnTo>
                  <a:pt x="456311" y="2185797"/>
                </a:lnTo>
                <a:lnTo>
                  <a:pt x="689762" y="1952409"/>
                </a:lnTo>
                <a:lnTo>
                  <a:pt x="1273048" y="2532888"/>
                </a:lnTo>
                <a:lnTo>
                  <a:pt x="1273048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9661" y="1811477"/>
            <a:ext cx="5652770" cy="431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ts val="2735"/>
              </a:lnSpc>
              <a:spcBef>
                <a:spcPts val="10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5" dirty="0">
                <a:latin typeface="Times New Roman"/>
                <a:cs typeface="Times New Roman"/>
              </a:rPr>
              <a:t>One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master,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which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controls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setup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ts val="2735"/>
              </a:lnSpc>
            </a:pPr>
            <a:r>
              <a:rPr sz="2400" spc="-5" dirty="0">
                <a:latin typeface="Times New Roman"/>
                <a:cs typeface="Times New Roman"/>
              </a:rPr>
              <a:t>network</a:t>
            </a:r>
            <a:endParaRPr sz="2400">
              <a:latin typeface="Times New Roman"/>
              <a:cs typeface="Times New Roman"/>
            </a:endParaRPr>
          </a:p>
          <a:p>
            <a:pPr marL="241300" marR="6350" indent="-229235" algn="just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5" dirty="0">
                <a:latin typeface="Times New Roman"/>
                <a:cs typeface="Times New Roman"/>
              </a:rPr>
              <a:t>All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devices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operate</a:t>
            </a:r>
            <a:r>
              <a:rPr sz="2400" dirty="0">
                <a:latin typeface="Times New Roman"/>
                <a:cs typeface="Times New Roman"/>
              </a:rPr>
              <a:t> on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same</a:t>
            </a:r>
            <a:r>
              <a:rPr sz="2400" spc="5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channel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follow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same</a:t>
            </a:r>
            <a:r>
              <a:rPr sz="2400" dirty="0">
                <a:latin typeface="Times New Roman"/>
                <a:cs typeface="Times New Roman"/>
              </a:rPr>
              <a:t> frequency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hopping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sequence</a:t>
            </a:r>
            <a:endParaRPr sz="2400">
              <a:latin typeface="Times New Roman"/>
              <a:cs typeface="Times New Roman"/>
            </a:endParaRPr>
          </a:p>
          <a:p>
            <a:pPr marL="241300" marR="5080" indent="-229235" algn="just">
              <a:lnSpc>
                <a:spcPts val="2590"/>
              </a:lnSpc>
              <a:spcBef>
                <a:spcPts val="102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60" dirty="0">
                <a:latin typeface="Times New Roman"/>
                <a:cs typeface="Times New Roman"/>
              </a:rPr>
              <a:t>Two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more piconet interconnected </a:t>
            </a:r>
            <a:r>
              <a:rPr sz="2400" dirty="0">
                <a:latin typeface="Times New Roman"/>
                <a:cs typeface="Times New Roman"/>
              </a:rPr>
              <a:t>to form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scatter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net</a:t>
            </a:r>
            <a:endParaRPr sz="2400">
              <a:latin typeface="Times New Roman"/>
              <a:cs typeface="Times New Roman"/>
            </a:endParaRPr>
          </a:p>
          <a:p>
            <a:pPr marL="241300" indent="-229235" algn="just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5" dirty="0">
                <a:latin typeface="Times New Roman"/>
                <a:cs typeface="Times New Roman"/>
              </a:rPr>
              <a:t>Only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one master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piconet</a:t>
            </a:r>
            <a:endParaRPr sz="2400">
              <a:latin typeface="Times New Roman"/>
              <a:cs typeface="Times New Roman"/>
            </a:endParaRPr>
          </a:p>
          <a:p>
            <a:pPr marL="241300" indent="-229235" algn="just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device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can’t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masters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two </a:t>
            </a:r>
            <a:r>
              <a:rPr sz="2400" dirty="0">
                <a:latin typeface="Times New Roman"/>
                <a:cs typeface="Times New Roman"/>
              </a:rPr>
              <a:t>piconets</a:t>
            </a:r>
            <a:endParaRPr sz="2400">
              <a:latin typeface="Times New Roman"/>
              <a:cs typeface="Times New Roman"/>
            </a:endParaRPr>
          </a:p>
          <a:p>
            <a:pPr marL="241300" marR="5715" indent="-229235" algn="just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dirty="0">
                <a:latin typeface="Times New Roman"/>
                <a:cs typeface="Times New Roman"/>
              </a:rPr>
              <a:t>The slave of one piconet can </a:t>
            </a:r>
            <a:r>
              <a:rPr sz="2400" spc="-10" dirty="0">
                <a:latin typeface="Times New Roman"/>
                <a:cs typeface="Times New Roman"/>
              </a:rPr>
              <a:t>be </a:t>
            </a:r>
            <a:r>
              <a:rPr sz="2400" spc="-5" dirty="0">
                <a:latin typeface="Times New Roman"/>
                <a:cs typeface="Times New Roman"/>
              </a:rPr>
              <a:t>the master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another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piconet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00" y="2167127"/>
            <a:ext cx="5518404" cy="400964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275843"/>
            <a:ext cx="12192000" cy="962025"/>
          </a:xfrm>
          <a:custGeom>
            <a:avLst/>
            <a:gdLst/>
            <a:ahLst/>
            <a:cxnLst/>
            <a:rect l="l" t="t" r="r" b="b"/>
            <a:pathLst>
              <a:path w="12192000" h="962025">
                <a:moveTo>
                  <a:pt x="12192000" y="0"/>
                </a:moveTo>
                <a:lnTo>
                  <a:pt x="0" y="0"/>
                </a:lnTo>
                <a:lnTo>
                  <a:pt x="0" y="961643"/>
                </a:lnTo>
                <a:lnTo>
                  <a:pt x="12192000" y="961643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99385" y="355853"/>
            <a:ext cx="67932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Times New Roman"/>
                <a:cs typeface="Times New Roman"/>
              </a:rPr>
              <a:t>Bluetooth</a:t>
            </a:r>
            <a:r>
              <a:rPr b="0" spc="-114" dirty="0">
                <a:latin typeface="Times New Roman"/>
                <a:cs typeface="Times New Roman"/>
              </a:rPr>
              <a:t> </a:t>
            </a:r>
            <a:r>
              <a:rPr b="0" spc="-40" dirty="0">
                <a:latin typeface="Times New Roman"/>
                <a:cs typeface="Times New Roman"/>
              </a:rPr>
              <a:t>Topology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(Cont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…)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8008" y="1811477"/>
            <a:ext cx="6584315" cy="3168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 algn="just">
              <a:lnSpc>
                <a:spcPts val="2735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Bluetooth</a:t>
            </a:r>
            <a:r>
              <a:rPr sz="2400" spc="5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standard</a:t>
            </a:r>
            <a:r>
              <a:rPr sz="2400" spc="5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spc="55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tiny,</a:t>
            </a:r>
            <a:r>
              <a:rPr sz="2400" spc="5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radio</a:t>
            </a:r>
            <a:r>
              <a:rPr sz="2400" spc="5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frequency</a:t>
            </a:r>
            <a:endParaRPr sz="2400">
              <a:latin typeface="Times New Roman"/>
              <a:cs typeface="Times New Roman"/>
            </a:endParaRPr>
          </a:p>
          <a:p>
            <a:pPr marL="241300" algn="just">
              <a:lnSpc>
                <a:spcPts val="2735"/>
              </a:lnSpc>
            </a:pPr>
            <a:r>
              <a:rPr sz="2400" spc="-5" dirty="0">
                <a:latin typeface="Times New Roman"/>
                <a:cs typeface="Times New Roman"/>
              </a:rPr>
              <a:t>chips that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can be plugged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5" dirty="0">
                <a:latin typeface="Times New Roman"/>
                <a:cs typeface="Times New Roman"/>
              </a:rPr>
              <a:t> your</a:t>
            </a:r>
            <a:r>
              <a:rPr sz="2400" dirty="0">
                <a:latin typeface="Times New Roman"/>
                <a:cs typeface="Times New Roman"/>
              </a:rPr>
              <a:t> devices</a:t>
            </a:r>
            <a:endParaRPr sz="24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chips</a:t>
            </a:r>
            <a:r>
              <a:rPr sz="2400" dirty="0">
                <a:latin typeface="Times New Roman"/>
                <a:cs typeface="Times New Roman"/>
              </a:rPr>
              <a:t> were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designed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take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all</a:t>
            </a:r>
            <a:r>
              <a:rPr sz="2400" dirty="0">
                <a:latin typeface="Times New Roman"/>
                <a:cs typeface="Times New Roman"/>
              </a:rPr>
              <a:t> 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information</a:t>
            </a:r>
            <a:r>
              <a:rPr sz="2400" dirty="0">
                <a:latin typeface="Times New Roman"/>
                <a:cs typeface="Times New Roman"/>
              </a:rPr>
              <a:t> that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wires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normally</a:t>
            </a:r>
            <a:r>
              <a:rPr sz="2400" dirty="0">
                <a:latin typeface="Times New Roman"/>
                <a:cs typeface="Times New Roman"/>
              </a:rPr>
              <a:t> send,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transmit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it</a:t>
            </a:r>
            <a:r>
              <a:rPr sz="2400" dirty="0">
                <a:latin typeface="Times New Roman"/>
                <a:cs typeface="Times New Roman"/>
              </a:rPr>
              <a:t> at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special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frequency</a:t>
            </a:r>
            <a:r>
              <a:rPr sz="2400" dirty="0">
                <a:latin typeface="Times New Roman"/>
                <a:cs typeface="Times New Roman"/>
              </a:rPr>
              <a:t> to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something </a:t>
            </a:r>
            <a:r>
              <a:rPr sz="2400" dirty="0">
                <a:latin typeface="Times New Roman"/>
                <a:cs typeface="Times New Roman"/>
              </a:rPr>
              <a:t> called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receiver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Bluetooth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chip</a:t>
            </a:r>
            <a:endParaRPr sz="24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information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then</a:t>
            </a:r>
            <a:r>
              <a:rPr sz="2400" spc="-5" dirty="0">
                <a:latin typeface="Times New Roman"/>
                <a:cs typeface="Times New Roman"/>
              </a:rPr>
              <a:t> transmitted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your device</a:t>
            </a:r>
            <a:endParaRPr sz="2400">
              <a:latin typeface="Times New Roman"/>
              <a:cs typeface="Times New Roman"/>
            </a:endParaRPr>
          </a:p>
          <a:p>
            <a:pPr marL="3767454">
              <a:lnSpc>
                <a:spcPct val="100000"/>
              </a:lnSpc>
              <a:spcBef>
                <a:spcPts val="465"/>
              </a:spcBef>
            </a:pPr>
            <a:r>
              <a:rPr sz="3200" dirty="0">
                <a:latin typeface="Times New Roman"/>
                <a:cs typeface="Times New Roman"/>
              </a:rPr>
              <a:t>Bluetooth</a:t>
            </a:r>
            <a:r>
              <a:rPr sz="3200" spc="-2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Chip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31613" y="1600923"/>
            <a:ext cx="2553071" cy="14474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29828" y="3667979"/>
            <a:ext cx="2422251" cy="120272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081782" y="5343397"/>
            <a:ext cx="5941695" cy="1325880"/>
            <a:chOff x="3081782" y="5343397"/>
            <a:chExt cx="5941695" cy="1325880"/>
          </a:xfrm>
        </p:grpSpPr>
        <p:sp>
          <p:nvSpPr>
            <p:cNvPr id="6" name="object 6"/>
            <p:cNvSpPr/>
            <p:nvPr/>
          </p:nvSpPr>
          <p:spPr>
            <a:xfrm>
              <a:off x="3094482" y="5356097"/>
              <a:ext cx="5916295" cy="1300480"/>
            </a:xfrm>
            <a:custGeom>
              <a:avLst/>
              <a:gdLst/>
              <a:ahLst/>
              <a:cxnLst/>
              <a:rect l="l" t="t" r="r" b="b"/>
              <a:pathLst>
                <a:path w="5916295" h="1300479">
                  <a:moveTo>
                    <a:pt x="5916168" y="0"/>
                  </a:moveTo>
                  <a:lnTo>
                    <a:pt x="0" y="0"/>
                  </a:lnTo>
                  <a:lnTo>
                    <a:pt x="0" y="1299971"/>
                  </a:lnTo>
                  <a:lnTo>
                    <a:pt x="5916168" y="1299971"/>
                  </a:lnTo>
                  <a:lnTo>
                    <a:pt x="591616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94482" y="5356097"/>
              <a:ext cx="5916295" cy="1300480"/>
            </a:xfrm>
            <a:custGeom>
              <a:avLst/>
              <a:gdLst/>
              <a:ahLst/>
              <a:cxnLst/>
              <a:rect l="l" t="t" r="r" b="b"/>
              <a:pathLst>
                <a:path w="5916295" h="1300479">
                  <a:moveTo>
                    <a:pt x="0" y="1299971"/>
                  </a:moveTo>
                  <a:lnTo>
                    <a:pt x="5916168" y="1299971"/>
                  </a:lnTo>
                  <a:lnTo>
                    <a:pt x="5916168" y="0"/>
                  </a:lnTo>
                  <a:lnTo>
                    <a:pt x="0" y="0"/>
                  </a:lnTo>
                  <a:lnTo>
                    <a:pt x="0" y="129997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85744" y="5679947"/>
            <a:ext cx="1158240" cy="76390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143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90"/>
              </a:spcBef>
            </a:pPr>
            <a:r>
              <a:rPr sz="4400" spc="-5" dirty="0">
                <a:latin typeface="Calibri"/>
                <a:cs typeface="Calibri"/>
              </a:rPr>
              <a:t>RF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8032" y="5679947"/>
            <a:ext cx="1609725" cy="7804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2384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sz="1800" spc="-5" dirty="0">
                <a:latin typeface="Calibri"/>
                <a:cs typeface="Calibri"/>
              </a:rPr>
              <a:t>Baseband</a:t>
            </a:r>
            <a:endParaRPr sz="18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Calibri"/>
                <a:cs typeface="Calibri"/>
              </a:rPr>
              <a:t>Controller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58940" y="5679947"/>
            <a:ext cx="1801495" cy="7804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2384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sz="1800" spc="-5" dirty="0">
                <a:latin typeface="Calibri"/>
                <a:cs typeface="Calibri"/>
              </a:rPr>
              <a:t>Link</a:t>
            </a:r>
            <a:endParaRPr sz="18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Calibri"/>
                <a:cs typeface="Calibri"/>
              </a:rPr>
              <a:t>Manager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02661" y="5551170"/>
            <a:ext cx="7061200" cy="558165"/>
            <a:chOff x="2502661" y="5551170"/>
            <a:chExt cx="7061200" cy="558165"/>
          </a:xfrm>
        </p:grpSpPr>
        <p:sp>
          <p:nvSpPr>
            <p:cNvPr id="12" name="object 12"/>
            <p:cNvSpPr/>
            <p:nvPr/>
          </p:nvSpPr>
          <p:spPr>
            <a:xfrm>
              <a:off x="2515361" y="6032754"/>
              <a:ext cx="579120" cy="76200"/>
            </a:xfrm>
            <a:custGeom>
              <a:avLst/>
              <a:gdLst/>
              <a:ahLst/>
              <a:cxnLst/>
              <a:rect l="l" t="t" r="r" b="b"/>
              <a:pathLst>
                <a:path w="579119" h="76200">
                  <a:moveTo>
                    <a:pt x="502919" y="0"/>
                  </a:moveTo>
                  <a:lnTo>
                    <a:pt x="502919" y="76200"/>
                  </a:lnTo>
                  <a:lnTo>
                    <a:pt x="553719" y="50800"/>
                  </a:lnTo>
                  <a:lnTo>
                    <a:pt x="515619" y="50800"/>
                  </a:lnTo>
                  <a:lnTo>
                    <a:pt x="515619" y="25400"/>
                  </a:lnTo>
                  <a:lnTo>
                    <a:pt x="553719" y="25400"/>
                  </a:lnTo>
                  <a:lnTo>
                    <a:pt x="502919" y="0"/>
                  </a:lnTo>
                  <a:close/>
                </a:path>
                <a:path w="579119" h="76200">
                  <a:moveTo>
                    <a:pt x="502919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502919" y="50800"/>
                  </a:lnTo>
                  <a:lnTo>
                    <a:pt x="502919" y="25400"/>
                  </a:lnTo>
                  <a:close/>
                </a:path>
                <a:path w="579119" h="76200">
                  <a:moveTo>
                    <a:pt x="553719" y="25400"/>
                  </a:moveTo>
                  <a:lnTo>
                    <a:pt x="515619" y="25400"/>
                  </a:lnTo>
                  <a:lnTo>
                    <a:pt x="515619" y="50800"/>
                  </a:lnTo>
                  <a:lnTo>
                    <a:pt x="553719" y="50800"/>
                  </a:lnTo>
                  <a:lnTo>
                    <a:pt x="579119" y="38100"/>
                  </a:lnTo>
                  <a:lnTo>
                    <a:pt x="553719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15361" y="5551170"/>
              <a:ext cx="7010400" cy="520065"/>
            </a:xfrm>
            <a:custGeom>
              <a:avLst/>
              <a:gdLst/>
              <a:ahLst/>
              <a:cxnLst/>
              <a:rect l="l" t="t" r="r" b="b"/>
              <a:pathLst>
                <a:path w="7010400" h="520064">
                  <a:moveTo>
                    <a:pt x="0" y="519683"/>
                  </a:moveTo>
                  <a:lnTo>
                    <a:pt x="0" y="0"/>
                  </a:lnTo>
                </a:path>
                <a:path w="7010400" h="520064">
                  <a:moveTo>
                    <a:pt x="6495288" y="519683"/>
                  </a:moveTo>
                  <a:lnTo>
                    <a:pt x="7010400" y="51968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487661" y="5551170"/>
              <a:ext cx="76200" cy="520065"/>
            </a:xfrm>
            <a:custGeom>
              <a:avLst/>
              <a:gdLst/>
              <a:ahLst/>
              <a:cxnLst/>
              <a:rect l="l" t="t" r="r" b="b"/>
              <a:pathLst>
                <a:path w="76200" h="520064">
                  <a:moveTo>
                    <a:pt x="50800" y="63499"/>
                  </a:moveTo>
                  <a:lnTo>
                    <a:pt x="25400" y="63499"/>
                  </a:lnTo>
                  <a:lnTo>
                    <a:pt x="25400" y="519683"/>
                  </a:lnTo>
                  <a:lnTo>
                    <a:pt x="50800" y="519683"/>
                  </a:lnTo>
                  <a:lnTo>
                    <a:pt x="50800" y="63499"/>
                  </a:lnTo>
                  <a:close/>
                </a:path>
                <a:path w="76200" h="520064">
                  <a:moveTo>
                    <a:pt x="38100" y="0"/>
                  </a:moveTo>
                  <a:lnTo>
                    <a:pt x="0" y="76199"/>
                  </a:lnTo>
                  <a:lnTo>
                    <a:pt x="25400" y="76199"/>
                  </a:lnTo>
                  <a:lnTo>
                    <a:pt x="25400" y="63499"/>
                  </a:lnTo>
                  <a:lnTo>
                    <a:pt x="69850" y="63499"/>
                  </a:lnTo>
                  <a:lnTo>
                    <a:pt x="38100" y="0"/>
                  </a:lnTo>
                  <a:close/>
                </a:path>
                <a:path w="76200" h="520064">
                  <a:moveTo>
                    <a:pt x="69850" y="63499"/>
                  </a:moveTo>
                  <a:lnTo>
                    <a:pt x="50800" y="63499"/>
                  </a:lnTo>
                  <a:lnTo>
                    <a:pt x="50800" y="76199"/>
                  </a:lnTo>
                  <a:lnTo>
                    <a:pt x="76200" y="76199"/>
                  </a:lnTo>
                  <a:lnTo>
                    <a:pt x="69850" y="63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0" y="265175"/>
            <a:ext cx="12192000" cy="960119"/>
          </a:xfrm>
          <a:custGeom>
            <a:avLst/>
            <a:gdLst/>
            <a:ahLst/>
            <a:cxnLst/>
            <a:rect l="l" t="t" r="r" b="b"/>
            <a:pathLst>
              <a:path w="12192000" h="960119">
                <a:moveTo>
                  <a:pt x="12192000" y="0"/>
                </a:moveTo>
                <a:lnTo>
                  <a:pt x="0" y="0"/>
                </a:lnTo>
                <a:lnTo>
                  <a:pt x="0" y="960120"/>
                </a:lnTo>
                <a:lnTo>
                  <a:pt x="12192000" y="960120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943350" y="344170"/>
            <a:ext cx="43040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Times New Roman"/>
                <a:cs typeface="Times New Roman"/>
              </a:rPr>
              <a:t>Bluetooth</a:t>
            </a:r>
            <a:r>
              <a:rPr b="0" spc="-165" dirty="0">
                <a:latin typeface="Times New Roman"/>
                <a:cs typeface="Times New Roman"/>
              </a:rPr>
              <a:t> </a:t>
            </a:r>
            <a:r>
              <a:rPr b="0" spc="-50" dirty="0">
                <a:latin typeface="Times New Roman"/>
                <a:cs typeface="Times New Roman"/>
              </a:rPr>
              <a:t>Working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172" y="546049"/>
            <a:ext cx="27374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5" dirty="0">
                <a:solidFill>
                  <a:srgbClr val="000000"/>
                </a:solidFill>
                <a:latin typeface="Calibri Light"/>
                <a:cs typeface="Calibri Light"/>
              </a:rPr>
              <a:t>IEEE</a:t>
            </a:r>
            <a:r>
              <a:rPr sz="3600" b="0" spc="-3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3600" b="0" spc="-15" dirty="0">
                <a:solidFill>
                  <a:srgbClr val="000000"/>
                </a:solidFill>
                <a:latin typeface="Calibri Light"/>
                <a:cs typeface="Calibri Light"/>
              </a:rPr>
              <a:t>Standards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2172" y="1776730"/>
            <a:ext cx="10276840" cy="10064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marR="5080" indent="-229235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305435" algn="l"/>
                <a:tab pos="306070" algn="l"/>
              </a:tabLst>
            </a:pPr>
            <a:r>
              <a:rPr dirty="0"/>
              <a:t>	</a:t>
            </a:r>
            <a:r>
              <a:rPr sz="2000" spc="-5" dirty="0">
                <a:latin typeface="Times New Roman"/>
                <a:cs typeface="Times New Roman"/>
              </a:rPr>
              <a:t>Institute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Electrical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Electronics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Engineers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(IEEE)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organization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composed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engineers,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scientists,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standards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computer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electronics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industry.</a:t>
            </a:r>
            <a:endParaRPr sz="20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000" spc="-30" dirty="0">
                <a:latin typeface="Times New Roman"/>
                <a:cs typeface="Times New Roman"/>
              </a:rPr>
              <a:t>Various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standards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are-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9677" y="2757995"/>
            <a:ext cx="1669414" cy="306641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40665" algn="l"/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IEEE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802</a:t>
            </a:r>
            <a:endParaRPr sz="20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240665" algn="l"/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IEEE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802.1</a:t>
            </a:r>
            <a:endParaRPr sz="20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240665" algn="l"/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IEEE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802.1x</a:t>
            </a:r>
            <a:endParaRPr sz="20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240665" algn="l"/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IEEE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802.2</a:t>
            </a:r>
            <a:endParaRPr sz="20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240665" algn="l"/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IEEE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802.3</a:t>
            </a:r>
            <a:endParaRPr sz="20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240665" algn="l"/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IEEE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802.3ae</a:t>
            </a:r>
            <a:endParaRPr sz="20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240665" algn="l"/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IEEE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802.8</a:t>
            </a:r>
            <a:endParaRPr sz="20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240665" algn="l"/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IEEE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802.11</a:t>
            </a:r>
            <a:endParaRPr sz="20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240665" algn="l"/>
                <a:tab pos="241935" algn="l"/>
              </a:tabLst>
            </a:pPr>
            <a:r>
              <a:rPr sz="2000" dirty="0">
                <a:latin typeface="Times New Roman"/>
                <a:cs typeface="Times New Roman"/>
              </a:rPr>
              <a:t>IEEE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802.15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842770">
              <a:lnSpc>
                <a:spcPct val="110900"/>
              </a:lnSpc>
              <a:spcBef>
                <a:spcPts val="95"/>
              </a:spcBef>
            </a:pPr>
            <a:r>
              <a:rPr dirty="0"/>
              <a:t>LAN/MAN</a:t>
            </a:r>
            <a:r>
              <a:rPr spc="-20" dirty="0"/>
              <a:t> </a:t>
            </a:r>
            <a:r>
              <a:rPr dirty="0"/>
              <a:t>Overview</a:t>
            </a:r>
            <a:r>
              <a:rPr spc="-4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architecture </a:t>
            </a:r>
            <a:r>
              <a:rPr spc="-484" dirty="0"/>
              <a:t> </a:t>
            </a:r>
            <a:r>
              <a:rPr dirty="0"/>
              <a:t>LAN/MAN</a:t>
            </a:r>
            <a:r>
              <a:rPr spc="-15" dirty="0"/>
              <a:t> </a:t>
            </a:r>
            <a:r>
              <a:rPr dirty="0"/>
              <a:t>Bridging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5" dirty="0"/>
              <a:t>management </a:t>
            </a:r>
            <a:r>
              <a:rPr spc="-484" dirty="0"/>
              <a:t> </a:t>
            </a:r>
            <a:r>
              <a:rPr dirty="0"/>
              <a:t>Port-based network </a:t>
            </a:r>
            <a:r>
              <a:rPr spc="-5" dirty="0"/>
              <a:t>access </a:t>
            </a:r>
            <a:r>
              <a:rPr dirty="0"/>
              <a:t>control </a:t>
            </a:r>
            <a:r>
              <a:rPr spc="5" dirty="0"/>
              <a:t> </a:t>
            </a:r>
            <a:r>
              <a:rPr dirty="0"/>
              <a:t>Logical</a:t>
            </a:r>
            <a:r>
              <a:rPr spc="-30" dirty="0"/>
              <a:t> </a:t>
            </a:r>
            <a:r>
              <a:rPr dirty="0"/>
              <a:t>Link</a:t>
            </a:r>
            <a:r>
              <a:rPr spc="-20" dirty="0"/>
              <a:t> </a:t>
            </a:r>
            <a:r>
              <a:rPr dirty="0"/>
              <a:t>Control</a:t>
            </a:r>
            <a:r>
              <a:rPr spc="-35" dirty="0"/>
              <a:t> </a:t>
            </a:r>
            <a:r>
              <a:rPr dirty="0"/>
              <a:t>(LLC)</a:t>
            </a: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/>
              <a:t>Ethernet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/>
              <a:t>10</a:t>
            </a:r>
            <a:r>
              <a:rPr spc="-35" dirty="0"/>
              <a:t> </a:t>
            </a:r>
            <a:r>
              <a:rPr dirty="0"/>
              <a:t>Gigabit</a:t>
            </a:r>
            <a:r>
              <a:rPr spc="-45" dirty="0"/>
              <a:t> </a:t>
            </a:r>
            <a:r>
              <a:rPr dirty="0"/>
              <a:t>Ethernet</a:t>
            </a:r>
          </a:p>
          <a:p>
            <a:pPr marL="12700" marR="4624705">
              <a:lnSpc>
                <a:spcPct val="111000"/>
              </a:lnSpc>
            </a:pPr>
            <a:r>
              <a:rPr dirty="0"/>
              <a:t>Fiber</a:t>
            </a:r>
            <a:r>
              <a:rPr spc="-100" dirty="0"/>
              <a:t> </a:t>
            </a:r>
            <a:r>
              <a:rPr dirty="0"/>
              <a:t>Optic </a:t>
            </a:r>
            <a:r>
              <a:rPr spc="-484" dirty="0"/>
              <a:t> </a:t>
            </a:r>
            <a:r>
              <a:rPr spc="-15" dirty="0"/>
              <a:t>Wi-Fi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pc="-10" dirty="0"/>
              <a:t>Wireless</a:t>
            </a:r>
            <a:r>
              <a:rPr spc="-45" dirty="0"/>
              <a:t> </a:t>
            </a:r>
            <a:r>
              <a:rPr dirty="0"/>
              <a:t>Personal</a:t>
            </a:r>
            <a:r>
              <a:rPr spc="-140" dirty="0"/>
              <a:t> </a:t>
            </a:r>
            <a:r>
              <a:rPr dirty="0"/>
              <a:t>Area</a:t>
            </a:r>
            <a:r>
              <a:rPr spc="-20" dirty="0"/>
              <a:t> </a:t>
            </a:r>
            <a:r>
              <a:rPr dirty="0"/>
              <a:t>Network</a:t>
            </a:r>
            <a:r>
              <a:rPr spc="-25" dirty="0"/>
              <a:t> (WPAN)</a:t>
            </a:r>
            <a:r>
              <a:rPr spc="-35" dirty="0"/>
              <a:t> </a:t>
            </a:r>
            <a:r>
              <a:rPr dirty="0"/>
              <a:t>e.g.,</a:t>
            </a:r>
            <a:r>
              <a:rPr spc="10" dirty="0"/>
              <a:t> </a:t>
            </a:r>
            <a:r>
              <a:rPr spc="-5" dirty="0"/>
              <a:t>bluetooth</a:t>
            </a:r>
          </a:p>
        </p:txBody>
      </p:sp>
      <p:sp>
        <p:nvSpPr>
          <p:cNvPr id="6" name="object 6"/>
          <p:cNvSpPr/>
          <p:nvPr/>
        </p:nvSpPr>
        <p:spPr>
          <a:xfrm>
            <a:off x="10918952" y="713231"/>
            <a:ext cx="1273175" cy="2533015"/>
          </a:xfrm>
          <a:custGeom>
            <a:avLst/>
            <a:gdLst/>
            <a:ahLst/>
            <a:cxnLst/>
            <a:rect l="l" t="t" r="r" b="b"/>
            <a:pathLst>
              <a:path w="1273175" h="2533015">
                <a:moveTo>
                  <a:pt x="1273048" y="0"/>
                </a:moveTo>
                <a:lnTo>
                  <a:pt x="508" y="1266444"/>
                </a:lnTo>
                <a:lnTo>
                  <a:pt x="232321" y="1497164"/>
                </a:lnTo>
                <a:lnTo>
                  <a:pt x="0" y="1729486"/>
                </a:lnTo>
                <a:lnTo>
                  <a:pt x="456311" y="2185797"/>
                </a:lnTo>
                <a:lnTo>
                  <a:pt x="689762" y="1952409"/>
                </a:lnTo>
                <a:lnTo>
                  <a:pt x="1273048" y="2532888"/>
                </a:lnTo>
                <a:lnTo>
                  <a:pt x="1273048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4600955"/>
            <a:ext cx="1014094" cy="2018030"/>
          </a:xfrm>
          <a:custGeom>
            <a:avLst/>
            <a:gdLst/>
            <a:ahLst/>
            <a:cxnLst/>
            <a:rect l="l" t="t" r="r" b="b"/>
            <a:pathLst>
              <a:path w="1014094" h="2018029">
                <a:moveTo>
                  <a:pt x="1014056" y="1370545"/>
                </a:moveTo>
                <a:lnTo>
                  <a:pt x="832510" y="1189012"/>
                </a:lnTo>
                <a:lnTo>
                  <a:pt x="1013460" y="1008888"/>
                </a:lnTo>
                <a:lnTo>
                  <a:pt x="0" y="0"/>
                </a:lnTo>
                <a:lnTo>
                  <a:pt x="0" y="2017776"/>
                </a:lnTo>
                <a:lnTo>
                  <a:pt x="488391" y="1531594"/>
                </a:lnTo>
                <a:lnTo>
                  <a:pt x="670699" y="1713890"/>
                </a:lnTo>
                <a:lnTo>
                  <a:pt x="1014056" y="1370545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992883"/>
            <a:ext cx="11492230" cy="4370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Font typeface="Wingdings"/>
              <a:buChar char=""/>
              <a:tabLst>
                <a:tab pos="241300" algn="l"/>
              </a:tabLst>
            </a:pPr>
            <a:r>
              <a:rPr sz="20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https://www.elprocus.com/what-is-ethernet-and-different-types-of-ethernet-networks/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5"/>
              </a:spcBef>
              <a:buClr>
                <a:srgbClr val="000000"/>
              </a:buClr>
              <a:buFont typeface="Wingdings"/>
              <a:buChar char=""/>
              <a:tabLst>
                <a:tab pos="241300" algn="l"/>
              </a:tabLst>
            </a:pPr>
            <a:r>
              <a:rPr sz="20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3"/>
              </a:rPr>
              <a:t>https://ecomputernotes.com/computernetworkingnotes/communication-networks/ethernet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689"/>
              </a:spcBef>
              <a:buClr>
                <a:srgbClr val="000000"/>
              </a:buClr>
              <a:buFont typeface="Wingdings"/>
              <a:buChar char=""/>
              <a:tabLst>
                <a:tab pos="241300" algn="l"/>
              </a:tabLst>
            </a:pPr>
            <a:r>
              <a:rPr sz="20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https://www.javatpoint.com/what-is-ethernet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5"/>
              </a:spcBef>
              <a:buClr>
                <a:srgbClr val="000000"/>
              </a:buClr>
              <a:buFont typeface="Wingdings"/>
              <a:buChar char=""/>
              <a:tabLst>
                <a:tab pos="241300" algn="l"/>
              </a:tabLst>
            </a:pPr>
            <a:r>
              <a:rPr sz="20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5"/>
              </a:rPr>
              <a:t>https://www.youtube.com/watch?v=jzxZUJmOu3o&amp;t=525s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705"/>
              </a:spcBef>
              <a:buClr>
                <a:srgbClr val="000000"/>
              </a:buClr>
              <a:buFont typeface="Wingdings"/>
              <a:buChar char=""/>
              <a:tabLst>
                <a:tab pos="241300" algn="l"/>
              </a:tabLst>
            </a:pPr>
            <a:r>
              <a:rPr sz="20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6"/>
              </a:rPr>
              <a:t>https://www.youtube.com/watch?v=ixY0Cau4mBM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695"/>
              </a:spcBef>
              <a:buClr>
                <a:srgbClr val="000000"/>
              </a:buClr>
              <a:buFont typeface="Wingdings"/>
              <a:buChar char=""/>
              <a:tabLst>
                <a:tab pos="241300" algn="l"/>
              </a:tabLst>
            </a:pPr>
            <a:r>
              <a:rPr sz="20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7"/>
              </a:rPr>
              <a:t>https://www.youtube.com/watch?v=t3FVP5wuG4g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50000"/>
              </a:lnSpc>
              <a:spcBef>
                <a:spcPts val="505"/>
              </a:spcBef>
              <a:buClr>
                <a:srgbClr val="000000"/>
              </a:buClr>
              <a:buFont typeface="Wingdings"/>
              <a:buChar char=""/>
              <a:tabLst>
                <a:tab pos="241300" algn="l"/>
              </a:tabLst>
            </a:pPr>
            <a:r>
              <a:rPr sz="20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8"/>
              </a:rPr>
              <a:t>https://www.netspotapp.com/blog/wifi-security/wifi-encryption-and- </a:t>
            </a:r>
            <a:r>
              <a:rPr sz="2000" dirty="0">
                <a:solidFill>
                  <a:srgbClr val="0462C1"/>
                </a:solidFill>
                <a:latin typeface="Times New Roman"/>
                <a:cs typeface="Times New Roman"/>
                <a:hlinkClick r:id="rId8"/>
              </a:rPr>
              <a:t> </a:t>
            </a: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8"/>
              </a:rPr>
              <a:t>security.html#:~:text=WiFi%20routers%20support%20a%20variety,needs%20to%20protect%20your%20netw </a:t>
            </a:r>
            <a:r>
              <a:rPr sz="2000" spc="-484" dirty="0">
                <a:solidFill>
                  <a:srgbClr val="0462C1"/>
                </a:solidFill>
                <a:latin typeface="Times New Roman"/>
                <a:cs typeface="Times New Roman"/>
                <a:hlinkClick r:id="rId8"/>
              </a:rPr>
              <a:t> </a:t>
            </a:r>
            <a:r>
              <a:rPr sz="20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8"/>
              </a:rPr>
              <a:t>ork</a:t>
            </a:r>
            <a:r>
              <a:rPr sz="2000" dirty="0">
                <a:latin typeface="Times New Roman"/>
                <a:cs typeface="Times New Roman"/>
                <a:hlinkClick r:id="rId8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Refe</a:t>
            </a:r>
            <a:r>
              <a:rPr spc="-185" dirty="0"/>
              <a:t>r</a:t>
            </a:r>
            <a:r>
              <a:rPr spc="-110" dirty="0"/>
              <a:t>e</a:t>
            </a:r>
            <a:r>
              <a:rPr spc="-100" dirty="0"/>
              <a:t>n</a:t>
            </a:r>
            <a:r>
              <a:rPr spc="-110" dirty="0"/>
              <a:t>ce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1437</Words>
  <Application>Microsoft Office PowerPoint</Application>
  <PresentationFormat>Widescreen</PresentationFormat>
  <Paragraphs>161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 MT</vt:lpstr>
      <vt:lpstr>Calibri</vt:lpstr>
      <vt:lpstr>Calibri Light</vt:lpstr>
      <vt:lpstr>Times New Roman</vt:lpstr>
      <vt:lpstr>Wingdings</vt:lpstr>
      <vt:lpstr>Office Theme</vt:lpstr>
      <vt:lpstr>Ethernet &amp; Bluetooth</vt:lpstr>
      <vt:lpstr>Ethernet</vt:lpstr>
      <vt:lpstr>Ethernet : Definition</vt:lpstr>
      <vt:lpstr>PowerPoint Presentation</vt:lpstr>
      <vt:lpstr>Ethernet : Types</vt:lpstr>
      <vt:lpstr>Ethernet : Types II</vt:lpstr>
      <vt:lpstr>Ethernet : Advantage &amp; Disadvantage</vt:lpstr>
      <vt:lpstr>Bluetooth</vt:lpstr>
      <vt:lpstr>Bluetooth (Cont…)</vt:lpstr>
      <vt:lpstr>Bluetooth (Cont…)</vt:lpstr>
      <vt:lpstr>Application: Synchronization</vt:lpstr>
      <vt:lpstr>Bluetooth Topology</vt:lpstr>
      <vt:lpstr>Bluetooth Topology (Cont …)</vt:lpstr>
      <vt:lpstr>Bluetooth Working</vt:lpstr>
      <vt:lpstr>IEEE Standards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SUCHI KUMARI</dc:creator>
  <cp:lastModifiedBy>Abuzar Sayeed</cp:lastModifiedBy>
  <cp:revision>1</cp:revision>
  <dcterms:created xsi:type="dcterms:W3CDTF">2023-06-20T06:26:14Z</dcterms:created>
  <dcterms:modified xsi:type="dcterms:W3CDTF">2026-01-11T15:31:31Z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2023-06-20T00:00:00Z</vt:filetime>
  </property>
</Properties>
</file>