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99" autoAdjust="0"/>
  </p:normalViewPr>
  <p:slideViewPr>
    <p:cSldViewPr>
      <p:cViewPr varScale="1">
        <p:scale>
          <a:sx n="59" d="100"/>
          <a:sy n="59" d="100"/>
        </p:scale>
        <p:origin x="93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55B72D06-70B9-4CF0-82B2-21F0D5A0517F}"/>
    <pc:docChg chg="modSld">
      <pc:chgData name="Abuzar Sayeed" userId="f3c20014-5dab-44db-87de-ec699cb07e88" providerId="ADAL" clId="{55B72D06-70B9-4CF0-82B2-21F0D5A0517F}" dt="2026-01-24T09:00:52.059" v="2" actId="1035"/>
      <pc:docMkLst>
        <pc:docMk/>
      </pc:docMkLst>
      <pc:sldChg chg="modSp mod">
        <pc:chgData name="Abuzar Sayeed" userId="f3c20014-5dab-44db-87de-ec699cb07e88" providerId="ADAL" clId="{55B72D06-70B9-4CF0-82B2-21F0D5A0517F}" dt="2026-01-24T09:00:52.059" v="2" actId="1035"/>
        <pc:sldMkLst>
          <pc:docMk/>
          <pc:sldMk cId="0" sldId="281"/>
        </pc:sldMkLst>
        <pc:spChg chg="mod">
          <ac:chgData name="Abuzar Sayeed" userId="f3c20014-5dab-44db-87de-ec699cb07e88" providerId="ADAL" clId="{55B72D06-70B9-4CF0-82B2-21F0D5A0517F}" dt="2026-01-24T09:00:52.059" v="2" actId="1035"/>
          <ac:spMkLst>
            <pc:docMk/>
            <pc:sldMk cId="0" sldId="28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7E3DD-99BF-4F36-9757-D6D12B0D404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59482-64F8-44B3-95E2-F773269D3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Unacknowledged Connectionless Service</a:t>
            </a:r>
          </a:p>
          <a:p>
            <a:r>
              <a:rPr lang="en-US" dirty="0"/>
              <a:t>Frames are sent </a:t>
            </a:r>
            <a:r>
              <a:rPr lang="en-US" b="1" dirty="0"/>
              <a:t>independently</a:t>
            </a:r>
            <a:r>
              <a:rPr lang="en-US" dirty="0"/>
              <a:t>, without any prior connection.</a:t>
            </a:r>
          </a:p>
          <a:p>
            <a:r>
              <a:rPr lang="en-US" b="1" dirty="0"/>
              <a:t>No acknowledgements</a:t>
            </a:r>
            <a:r>
              <a:rPr lang="en-US" dirty="0"/>
              <a:t> are sent back for received frames.</a:t>
            </a:r>
          </a:p>
          <a:p>
            <a:r>
              <a:rPr lang="en-US" dirty="0"/>
              <a:t>It assumes the </a:t>
            </a:r>
            <a:r>
              <a:rPr lang="en-US" b="1" dirty="0"/>
              <a:t>error rate is very low</a:t>
            </a:r>
            <a:r>
              <a:rPr lang="en-US" dirty="0"/>
              <a:t>.</a:t>
            </a:r>
          </a:p>
          <a:p>
            <a:r>
              <a:rPr lang="en-US" dirty="0"/>
              <a:t>If a frame is lost or corrupted, </a:t>
            </a:r>
            <a:r>
              <a:rPr lang="en-US" b="1" dirty="0"/>
              <a:t>no recovery is done at this layer</a:t>
            </a:r>
            <a:r>
              <a:rPr lang="en-US" dirty="0"/>
              <a:t>.</a:t>
            </a:r>
          </a:p>
          <a:p>
            <a:r>
              <a:rPr lang="en-US" b="1" dirty="0"/>
              <a:t>Error recovery is handled by higher layers</a:t>
            </a:r>
            <a:r>
              <a:rPr lang="en-US" dirty="0"/>
              <a:t> (usually the Transport Layer).</a:t>
            </a:r>
          </a:p>
          <a:p>
            <a:r>
              <a:rPr lang="en-US" dirty="0"/>
              <a:t>Commonly </a:t>
            </a:r>
            <a:r>
              <a:rPr lang="en-US" b="1" dirty="0"/>
              <a:t>used in LANs</a:t>
            </a:r>
            <a:r>
              <a:rPr lang="en-US" dirty="0"/>
              <a:t> where transmission is reliable.</a:t>
            </a:r>
          </a:p>
          <a:p>
            <a:r>
              <a:rPr lang="en-US" b="1" dirty="0"/>
              <a:t>Example idea:</a:t>
            </a:r>
            <a:br>
              <a:rPr lang="en-US" dirty="0"/>
            </a:br>
            <a:r>
              <a:rPr lang="en-US" dirty="0"/>
              <a:t>Ethernet does not resend frames if one is lost. It simply sends the next frame.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Acknowledged Connectionless Service</a:t>
            </a:r>
          </a:p>
          <a:p>
            <a:r>
              <a:rPr lang="en-US" dirty="0"/>
              <a:t>Still </a:t>
            </a:r>
            <a:r>
              <a:rPr lang="en-US" b="1" dirty="0"/>
              <a:t>no connection setup</a:t>
            </a:r>
            <a:r>
              <a:rPr lang="en-US" dirty="0"/>
              <a:t>, but:</a:t>
            </a:r>
          </a:p>
          <a:p>
            <a:r>
              <a:rPr lang="en-US" b="1" dirty="0"/>
              <a:t>Each frame is individually acknowledged</a:t>
            </a:r>
            <a:r>
              <a:rPr lang="en-US" dirty="0"/>
              <a:t>.</a:t>
            </a:r>
          </a:p>
          <a:p>
            <a:r>
              <a:rPr lang="en-US" dirty="0"/>
              <a:t>If an acknowledgement is not received, the </a:t>
            </a:r>
            <a:r>
              <a:rPr lang="en-US" b="1" dirty="0"/>
              <a:t>frame is resent</a:t>
            </a:r>
            <a:r>
              <a:rPr lang="en-US" dirty="0"/>
              <a:t>.</a:t>
            </a:r>
          </a:p>
          <a:p>
            <a:r>
              <a:rPr lang="en-US" dirty="0"/>
              <a:t>Improves reliability compared to unacknowledged service.</a:t>
            </a:r>
          </a:p>
          <a:p>
            <a:r>
              <a:rPr lang="en-US" dirty="0"/>
              <a:t>Acknowledgement here is mainly an </a:t>
            </a:r>
            <a:r>
              <a:rPr lang="en-US" b="1" dirty="0"/>
              <a:t>optimization</a:t>
            </a:r>
            <a:r>
              <a:rPr lang="en-US" dirty="0"/>
              <a:t>, because: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Transport Layer can also handle errors and retransmissions</a:t>
            </a:r>
            <a:r>
              <a:rPr lang="en-US" dirty="0"/>
              <a:t>.</a:t>
            </a:r>
          </a:p>
          <a:p>
            <a:r>
              <a:rPr lang="en-US" b="1" dirty="0"/>
              <a:t>Example idea:</a:t>
            </a:r>
            <a:br>
              <a:rPr lang="en-US" dirty="0"/>
            </a:br>
            <a:r>
              <a:rPr lang="en-US" dirty="0"/>
              <a:t>Useful on links where errors are more common, such as wireless links.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59482-64F8-44B3-95E2-F773269D33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52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</a:t>
            </a:r>
          </a:p>
          <a:p>
            <a:r>
              <a:rPr lang="en-US" dirty="0"/>
              <a:t>Framing is the process of </a:t>
            </a:r>
            <a:r>
              <a:rPr lang="en-US" b="1" dirty="0"/>
              <a:t>converting a raw bit stream into frames</a:t>
            </a:r>
            <a:r>
              <a:rPr lang="en-US" dirty="0"/>
              <a:t>.</a:t>
            </a:r>
          </a:p>
          <a:p>
            <a:r>
              <a:rPr lang="en-US" dirty="0"/>
              <a:t>Each frame consists of:</a:t>
            </a:r>
          </a:p>
          <a:p>
            <a:pPr lvl="1"/>
            <a:r>
              <a:rPr lang="en-US" b="1" dirty="0"/>
              <a:t>Header</a:t>
            </a:r>
            <a:r>
              <a:rPr lang="en-US" dirty="0"/>
              <a:t> (control and addressing information)</a:t>
            </a:r>
          </a:p>
          <a:p>
            <a:pPr lvl="1"/>
            <a:r>
              <a:rPr lang="en-US" b="1" dirty="0"/>
              <a:t>Data (packet)</a:t>
            </a:r>
            <a:r>
              <a:rPr lang="en-US" dirty="0"/>
              <a:t> from the Network Layer</a:t>
            </a:r>
          </a:p>
          <a:p>
            <a:pPr lvl="1"/>
            <a:r>
              <a:rPr lang="en-US" b="1" dirty="0"/>
              <a:t>Trailer</a:t>
            </a:r>
            <a:r>
              <a:rPr lang="en-US" dirty="0"/>
              <a:t> (error detection information)</a:t>
            </a:r>
          </a:p>
          <a:p>
            <a:r>
              <a:rPr lang="en-US" dirty="0"/>
              <a:t>Framing helps the receiver identify the </a:t>
            </a:r>
            <a:r>
              <a:rPr lang="en-US" b="1" dirty="0"/>
              <a:t>start and end of a frame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Physical Addressing</a:t>
            </a:r>
          </a:p>
          <a:p>
            <a:r>
              <a:rPr lang="en-US" dirty="0"/>
              <a:t>The Data Link Layer adds </a:t>
            </a:r>
            <a:r>
              <a:rPr lang="en-US" b="1" dirty="0"/>
              <a:t>physical (MAC) addresses</a:t>
            </a:r>
            <a:r>
              <a:rPr lang="en-US" dirty="0"/>
              <a:t> to the frame.</a:t>
            </a:r>
          </a:p>
          <a:p>
            <a:r>
              <a:rPr lang="en-US" dirty="0"/>
              <a:t>It provides:</a:t>
            </a:r>
          </a:p>
          <a:p>
            <a:pPr lvl="1"/>
            <a:r>
              <a:rPr lang="en-US" b="1" dirty="0"/>
              <a:t>Source address</a:t>
            </a:r>
            <a:endParaRPr lang="en-US" dirty="0"/>
          </a:p>
          <a:p>
            <a:pPr lvl="1"/>
            <a:r>
              <a:rPr lang="en-US" b="1" dirty="0"/>
              <a:t>Destination address</a:t>
            </a:r>
            <a:endParaRPr lang="en-US" dirty="0"/>
          </a:p>
          <a:p>
            <a:r>
              <a:rPr lang="en-US" dirty="0"/>
              <a:t>These addresses are used for </a:t>
            </a:r>
            <a:r>
              <a:rPr lang="en-US" b="1" dirty="0"/>
              <a:t>node-to-node delivery</a:t>
            </a:r>
            <a:r>
              <a:rPr lang="en-US" dirty="0"/>
              <a:t> on the same network.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Flow Control</a:t>
            </a:r>
          </a:p>
          <a:p>
            <a:r>
              <a:rPr lang="en-US" dirty="0"/>
              <a:t>Flow control is a technique to </a:t>
            </a:r>
            <a:r>
              <a:rPr lang="en-US" b="1" dirty="0"/>
              <a:t>regulate the rate of data transmission</a:t>
            </a:r>
            <a:r>
              <a:rPr lang="en-US" dirty="0"/>
              <a:t>.</a:t>
            </a:r>
          </a:p>
          <a:p>
            <a:r>
              <a:rPr lang="en-US" dirty="0"/>
              <a:t>It ensures that the sender does not transmit data </a:t>
            </a:r>
            <a:r>
              <a:rPr lang="en-US" b="1" dirty="0"/>
              <a:t>faster than the receiver can process</a:t>
            </a:r>
            <a:r>
              <a:rPr lang="en-US" dirty="0"/>
              <a:t>.</a:t>
            </a:r>
          </a:p>
          <a:p>
            <a:r>
              <a:rPr lang="en-US" dirty="0"/>
              <a:t>This prevents </a:t>
            </a:r>
            <a:r>
              <a:rPr lang="en-US" b="1" dirty="0"/>
              <a:t>buffer overflow and data loss</a:t>
            </a:r>
            <a:r>
              <a:rPr lang="en-US" dirty="0"/>
              <a:t> at the receiver.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Error Control</a:t>
            </a:r>
          </a:p>
          <a:p>
            <a:r>
              <a:rPr lang="en-US" dirty="0"/>
              <a:t>Error control ensures </a:t>
            </a:r>
            <a:r>
              <a:rPr lang="en-US" b="1" dirty="0"/>
              <a:t>reliable transmission of frames</a:t>
            </a:r>
            <a:r>
              <a:rPr lang="en-US" dirty="0"/>
              <a:t>.</a:t>
            </a:r>
          </a:p>
          <a:p>
            <a:r>
              <a:rPr lang="en-US" dirty="0"/>
              <a:t>It is achieved by adding a </a:t>
            </a:r>
            <a:r>
              <a:rPr lang="en-US" b="1" dirty="0"/>
              <a:t>Cyclic Redundancy Check (CRC)</a:t>
            </a:r>
            <a:r>
              <a:rPr lang="en-US" dirty="0"/>
              <a:t> value in the trailer.</a:t>
            </a:r>
          </a:p>
          <a:p>
            <a:r>
              <a:rPr lang="en-US" dirty="0"/>
              <a:t>The receiver checks the CRC to </a:t>
            </a:r>
            <a:r>
              <a:rPr lang="en-US" b="1" dirty="0"/>
              <a:t>detect transmission errors</a:t>
            </a:r>
            <a:r>
              <a:rPr lang="en-US" dirty="0"/>
              <a:t>.</a:t>
            </a:r>
          </a:p>
          <a:p>
            <a:r>
              <a:rPr lang="en-US" dirty="0"/>
              <a:t>If an error is detected, the frame may be </a:t>
            </a:r>
            <a:r>
              <a:rPr lang="en-US" b="1" dirty="0"/>
              <a:t>discarded or retransmitted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Access Control</a:t>
            </a:r>
          </a:p>
          <a:p>
            <a:r>
              <a:rPr lang="en-US" dirty="0"/>
              <a:t>Access control determines </a:t>
            </a:r>
            <a:r>
              <a:rPr lang="en-US" b="1" dirty="0"/>
              <a:t>which device can use the shared communication medium</a:t>
            </a:r>
            <a:r>
              <a:rPr lang="en-US" dirty="0"/>
              <a:t> at a given time.</a:t>
            </a:r>
          </a:p>
          <a:p>
            <a:r>
              <a:rPr lang="en-US" dirty="0"/>
              <a:t>It is required in </a:t>
            </a:r>
            <a:r>
              <a:rPr lang="en-US" b="1" dirty="0"/>
              <a:t>shared or broadcast networks</a:t>
            </a:r>
            <a:r>
              <a:rPr lang="en-US" dirty="0"/>
              <a:t>.</a:t>
            </a:r>
          </a:p>
          <a:p>
            <a:r>
              <a:rPr lang="en-US" dirty="0"/>
              <a:t>Prevents data collision between multiple transmitting devices.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59482-64F8-44B3-95E2-F773269D33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9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</a:t>
            </a:r>
          </a:p>
          <a:p>
            <a:r>
              <a:rPr lang="en-US" b="1" dirty="0"/>
              <a:t>Framing</a:t>
            </a:r>
            <a:r>
              <a:rPr lang="en-US" dirty="0"/>
              <a:t> is the process of </a:t>
            </a:r>
            <a:r>
              <a:rPr lang="en-US" b="1" dirty="0"/>
              <a:t>breaking a continuous stream of bits into discrete frames</a:t>
            </a:r>
            <a:r>
              <a:rPr lang="en-US" dirty="0"/>
              <a:t> so that the receiver can correctly identify the beginning and end of each frame.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Methods of Framing</a:t>
            </a:r>
          </a:p>
          <a:p>
            <a:r>
              <a:rPr lang="en-US" b="1" dirty="0"/>
              <a:t>1. Use of Time Gap</a:t>
            </a:r>
          </a:p>
          <a:p>
            <a:r>
              <a:rPr lang="en-US" dirty="0"/>
              <a:t>Frames are separated by </a:t>
            </a:r>
            <a:r>
              <a:rPr lang="en-US" b="1" dirty="0"/>
              <a:t>time intervals (silence)</a:t>
            </a:r>
            <a:r>
              <a:rPr lang="en-US" dirty="0"/>
              <a:t>.</a:t>
            </a:r>
          </a:p>
          <a:p>
            <a:r>
              <a:rPr lang="en-US" dirty="0"/>
              <a:t>If no data is received for a specific duration, it indicates a new frame.</a:t>
            </a:r>
          </a:p>
          <a:p>
            <a:r>
              <a:rPr lang="en-US" b="1" dirty="0"/>
              <a:t>Unacceptable method</a:t>
            </a:r>
            <a:r>
              <a:rPr lang="en-US" dirty="0"/>
              <a:t> because:</a:t>
            </a:r>
          </a:p>
          <a:p>
            <a:pPr lvl="1"/>
            <a:r>
              <a:rPr lang="en-US" dirty="0"/>
              <a:t>Network delays are unpredictable.</a:t>
            </a:r>
          </a:p>
          <a:p>
            <a:pPr lvl="1"/>
            <a:r>
              <a:rPr lang="en-US" dirty="0"/>
              <a:t>A delay may be mistaken as a frame boundary.</a:t>
            </a:r>
          </a:p>
          <a:p>
            <a:r>
              <a:rPr lang="en-US" dirty="0"/>
              <a:t>Hence, it is </a:t>
            </a:r>
            <a:r>
              <a:rPr lang="en-US" b="1" dirty="0"/>
              <a:t>too risky</a:t>
            </a:r>
            <a:r>
              <a:rPr lang="en-US" dirty="0"/>
              <a:t> for reliable communication.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Character Count</a:t>
            </a:r>
          </a:p>
          <a:p>
            <a:r>
              <a:rPr lang="en-US" dirty="0"/>
              <a:t>The </a:t>
            </a:r>
            <a:r>
              <a:rPr lang="en-US" b="1" dirty="0"/>
              <a:t>header contains a field</a:t>
            </a:r>
            <a:r>
              <a:rPr lang="en-US" dirty="0"/>
              <a:t> that specifies the number of characters (bytes) in the frame.</a:t>
            </a:r>
          </a:p>
          <a:p>
            <a:r>
              <a:rPr lang="en-US" dirty="0"/>
              <a:t>The receiver counts characters to determine the </a:t>
            </a:r>
            <a:r>
              <a:rPr lang="en-US" b="1" dirty="0"/>
              <a:t>end of the frame</a:t>
            </a:r>
            <a:r>
              <a:rPr lang="en-US" dirty="0"/>
              <a:t>.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pPr lvl="1"/>
            <a:r>
              <a:rPr lang="en-US" dirty="0"/>
              <a:t>If the count field is corrupted, </a:t>
            </a:r>
            <a:r>
              <a:rPr lang="en-US" b="1" dirty="0"/>
              <a:t>frame synchronization is lost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Starting and Ending Characters (Character Stuffing)</a:t>
            </a:r>
          </a:p>
          <a:p>
            <a:r>
              <a:rPr lang="en-US" dirty="0"/>
              <a:t>Special characters are used to mark:</a:t>
            </a:r>
          </a:p>
          <a:p>
            <a:pPr lvl="1"/>
            <a:r>
              <a:rPr lang="en-US" b="1" dirty="0"/>
              <a:t>Start of frame</a:t>
            </a:r>
            <a:endParaRPr lang="en-US" dirty="0"/>
          </a:p>
          <a:p>
            <a:pPr lvl="1"/>
            <a:r>
              <a:rPr lang="en-US" b="1" dirty="0"/>
              <a:t>End of frame</a:t>
            </a:r>
            <a:endParaRPr lang="en-US" dirty="0"/>
          </a:p>
          <a:p>
            <a:r>
              <a:rPr lang="en-US" dirty="0"/>
              <a:t>If the same character appears in the data, an </a:t>
            </a:r>
            <a:r>
              <a:rPr lang="en-US" b="1" dirty="0"/>
              <a:t>escape character</a:t>
            </a:r>
            <a:r>
              <a:rPr lang="en-US" dirty="0"/>
              <a:t> is inserted before it.</a:t>
            </a:r>
          </a:p>
          <a:p>
            <a:r>
              <a:rPr lang="en-US" dirty="0"/>
              <a:t>The receiver removes the escape character during reception.</a:t>
            </a:r>
          </a:p>
          <a:p>
            <a:r>
              <a:rPr lang="en-US" dirty="0"/>
              <a:t>Used in </a:t>
            </a:r>
            <a:r>
              <a:rPr lang="en-US" b="1" dirty="0"/>
              <a:t>byte-oriented protocols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Starting and Ending Flags (Bit Stuffing)</a:t>
            </a:r>
          </a:p>
          <a:p>
            <a:r>
              <a:rPr lang="en-US" dirty="0"/>
              <a:t>Frames are delimited using a </a:t>
            </a:r>
            <a:r>
              <a:rPr lang="en-US" b="1" dirty="0"/>
              <a:t>special bit pattern (flag)</a:t>
            </a:r>
            <a:r>
              <a:rPr lang="en-US" dirty="0"/>
              <a:t>, usually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01111110</a:t>
            </a:r>
            <a:r>
              <a:rPr lang="en-US" dirty="0"/>
              <a:t>.</a:t>
            </a:r>
          </a:p>
          <a:p>
            <a:r>
              <a:rPr lang="en-US" dirty="0"/>
              <a:t>If the same pattern appears in data:</a:t>
            </a:r>
          </a:p>
          <a:p>
            <a:pPr lvl="1"/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 is inserted after </a:t>
            </a:r>
            <a:r>
              <a:rPr lang="en-US" b="1" dirty="0"/>
              <a:t>five consecutive 1s</a:t>
            </a:r>
            <a:r>
              <a:rPr lang="en-US" dirty="0"/>
              <a:t>.</a:t>
            </a:r>
          </a:p>
          <a:p>
            <a:r>
              <a:rPr lang="en-US" dirty="0"/>
              <a:t>The receiver removes the extra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.</a:t>
            </a:r>
          </a:p>
          <a:p>
            <a:r>
              <a:rPr lang="en-US" dirty="0"/>
              <a:t>Used in </a:t>
            </a:r>
            <a:r>
              <a:rPr lang="en-US" b="1" dirty="0"/>
              <a:t>bit-oriented protocols</a:t>
            </a:r>
            <a:r>
              <a:rPr lang="en-US" dirty="0"/>
              <a:t> like HDLC.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Physical Layer Coding Violations</a:t>
            </a:r>
          </a:p>
          <a:p>
            <a:r>
              <a:rPr lang="en-US" dirty="0"/>
              <a:t>Certain </a:t>
            </a:r>
            <a:r>
              <a:rPr lang="en-US" b="1" dirty="0"/>
              <a:t>unused or illegal signal patterns</a:t>
            </a:r>
            <a:r>
              <a:rPr lang="en-US" dirty="0"/>
              <a:t> at the Physical Layer are used to indicate:</a:t>
            </a:r>
          </a:p>
          <a:p>
            <a:pPr lvl="1"/>
            <a:r>
              <a:rPr lang="en-US" dirty="0"/>
              <a:t>Start of frame</a:t>
            </a:r>
          </a:p>
          <a:p>
            <a:pPr lvl="1"/>
            <a:r>
              <a:rPr lang="en-US" dirty="0"/>
              <a:t>End of frame</a:t>
            </a:r>
          </a:p>
          <a:p>
            <a:r>
              <a:rPr lang="en-US" dirty="0"/>
              <a:t>These patterns do not appear in normal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59482-64F8-44B3-95E2-F773269D33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94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Physical Address (Link Address)</a:t>
            </a:r>
          </a:p>
          <a:p>
            <a:r>
              <a:rPr lang="en-US" dirty="0"/>
              <a:t>A </a:t>
            </a:r>
            <a:r>
              <a:rPr lang="en-US" b="1" dirty="0"/>
              <a:t>physical address</a:t>
            </a:r>
            <a:r>
              <a:rPr lang="en-US" dirty="0"/>
              <a:t>, also called a </a:t>
            </a:r>
            <a:r>
              <a:rPr lang="en-US" b="1" dirty="0"/>
              <a:t>link address</a:t>
            </a:r>
            <a:r>
              <a:rPr lang="en-US" dirty="0"/>
              <a:t>, is the address of a node as defined by its </a:t>
            </a:r>
            <a:r>
              <a:rPr lang="en-US" b="1" dirty="0"/>
              <a:t>LAN or WAN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b="1" dirty="0"/>
              <a:t>included in the frame</a:t>
            </a:r>
            <a:r>
              <a:rPr lang="en-US" dirty="0"/>
              <a:t> created by the </a:t>
            </a:r>
            <a:r>
              <a:rPr lang="en-US" b="1" dirty="0"/>
              <a:t>Data Link Layer</a:t>
            </a:r>
            <a:r>
              <a:rPr lang="en-US" dirty="0"/>
              <a:t>.</a:t>
            </a:r>
          </a:p>
          <a:p>
            <a:r>
              <a:rPr lang="en-US" dirty="0"/>
              <a:t>This address is used for </a:t>
            </a:r>
            <a:r>
              <a:rPr lang="en-US" b="1" dirty="0"/>
              <a:t>node-to-node delivery</a:t>
            </a:r>
            <a:r>
              <a:rPr lang="en-US" dirty="0"/>
              <a:t> within the same network.</a:t>
            </a:r>
          </a:p>
          <a:p>
            <a:r>
              <a:rPr lang="en-US" dirty="0"/>
              <a:t>It is the </a:t>
            </a:r>
            <a:r>
              <a:rPr lang="en-US" b="1" dirty="0"/>
              <a:t>lowest-level address</a:t>
            </a:r>
            <a:r>
              <a:rPr lang="en-US" dirty="0"/>
              <a:t> in the networking hierarchy.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Characteristics of Physical Address</a:t>
            </a:r>
          </a:p>
          <a:p>
            <a:r>
              <a:rPr lang="en-US" dirty="0"/>
              <a:t>The </a:t>
            </a:r>
            <a:r>
              <a:rPr lang="en-US" b="1" dirty="0"/>
              <a:t>size and format</a:t>
            </a:r>
            <a:r>
              <a:rPr lang="en-US" dirty="0"/>
              <a:t> of physical addresses </a:t>
            </a:r>
            <a:r>
              <a:rPr lang="en-US" b="1" dirty="0"/>
              <a:t>vary from one network technology to another</a:t>
            </a:r>
            <a:r>
              <a:rPr lang="en-US" dirty="0"/>
              <a:t>.</a:t>
            </a:r>
          </a:p>
          <a:p>
            <a:r>
              <a:rPr lang="en-US" dirty="0"/>
              <a:t>Physical addresses are </a:t>
            </a:r>
            <a:r>
              <a:rPr lang="en-US" b="1" dirty="0"/>
              <a:t>hardware-based</a:t>
            </a:r>
            <a:r>
              <a:rPr lang="en-US" dirty="0"/>
              <a:t>, not logical.</a:t>
            </a:r>
          </a:p>
          <a:p>
            <a:r>
              <a:rPr lang="en-US" dirty="0"/>
              <a:t>They are typically </a:t>
            </a:r>
            <a:r>
              <a:rPr lang="en-US" b="1" dirty="0"/>
              <a:t>assigned by the manufacturer</a:t>
            </a:r>
            <a:r>
              <a:rPr lang="en-US" dirty="0"/>
              <a:t> of the network interface.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Example: Ethernet Physical Address</a:t>
            </a:r>
          </a:p>
          <a:p>
            <a:r>
              <a:rPr lang="en-US" dirty="0"/>
              <a:t>Ethernet uses a </a:t>
            </a:r>
            <a:r>
              <a:rPr lang="en-US" b="1" dirty="0"/>
              <a:t>6-byte (48-bit)</a:t>
            </a:r>
            <a:r>
              <a:rPr lang="en-US" dirty="0"/>
              <a:t> physical address.</a:t>
            </a:r>
          </a:p>
          <a:p>
            <a:r>
              <a:rPr lang="en-US" dirty="0"/>
              <a:t>It is represented as </a:t>
            </a:r>
            <a:r>
              <a:rPr lang="en-US" b="1" dirty="0"/>
              <a:t>12 hexadecimal digits</a:t>
            </a:r>
            <a:br>
              <a:rPr lang="en-US" dirty="0"/>
            </a:br>
            <a:r>
              <a:rPr lang="en-US" dirty="0"/>
              <a:t>Example format: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AA-BB-CC-DD-EE-FF</a:t>
            </a:r>
            <a:endParaRPr lang="en-US" dirty="0"/>
          </a:p>
          <a:p>
            <a:r>
              <a:rPr lang="en-US" dirty="0"/>
              <a:t>This address is </a:t>
            </a:r>
            <a:r>
              <a:rPr lang="en-US" b="1" dirty="0"/>
              <a:t>imprinted on the Network Interface Card (NIC)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Point for Exams</a:t>
            </a:r>
          </a:p>
          <a:p>
            <a:r>
              <a:rPr lang="en-US" dirty="0"/>
              <a:t>Physical addresses operate at the </a:t>
            </a:r>
            <a:r>
              <a:rPr lang="en-US" b="1" dirty="0"/>
              <a:t>Data Link Layer</a:t>
            </a:r>
            <a:r>
              <a:rPr lang="en-US" dirty="0"/>
              <a:t> and are different from </a:t>
            </a:r>
            <a:r>
              <a:rPr lang="en-US" b="1" dirty="0"/>
              <a:t>logical (IP) addresses</a:t>
            </a:r>
            <a:r>
              <a:rPr lang="en-US" dirty="0"/>
              <a:t>, which operate at the Network Layer.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59482-64F8-44B3-95E2-F773269D33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4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Example: Physical Addressing at Data Link Layer</a:t>
            </a:r>
          </a:p>
          <a:p>
            <a:r>
              <a:rPr lang="en-US" dirty="0"/>
              <a:t>A node with </a:t>
            </a:r>
            <a:r>
              <a:rPr lang="en-US" b="1" dirty="0"/>
              <a:t>physical address 10</a:t>
            </a:r>
            <a:r>
              <a:rPr lang="en-US" dirty="0"/>
              <a:t> sends a frame to a node with </a:t>
            </a:r>
            <a:r>
              <a:rPr lang="en-US" b="1" dirty="0"/>
              <a:t>physical address 87</a:t>
            </a:r>
            <a:r>
              <a:rPr lang="en-US" dirty="0"/>
              <a:t>.</a:t>
            </a:r>
          </a:p>
          <a:p>
            <a:r>
              <a:rPr lang="en-US" dirty="0"/>
              <a:t>At the </a:t>
            </a:r>
            <a:r>
              <a:rPr lang="en-US" b="1" dirty="0"/>
              <a:t>Data Link Layer</a:t>
            </a:r>
            <a:r>
              <a:rPr lang="en-US" dirty="0"/>
              <a:t>, the frame header contains:</a:t>
            </a:r>
          </a:p>
          <a:p>
            <a:pPr lvl="1"/>
            <a:r>
              <a:rPr lang="en-US" b="1" dirty="0"/>
              <a:t>Source physical address:</a:t>
            </a:r>
            <a:r>
              <a:rPr lang="en-US" dirty="0"/>
              <a:t> 10</a:t>
            </a:r>
          </a:p>
          <a:p>
            <a:pPr lvl="1"/>
            <a:r>
              <a:rPr lang="en-US" b="1" dirty="0"/>
              <a:t>Destination physical address:</a:t>
            </a:r>
            <a:r>
              <a:rPr lang="en-US" dirty="0"/>
              <a:t> 87</a:t>
            </a:r>
          </a:p>
          <a:p>
            <a:r>
              <a:rPr lang="en-US" dirty="0"/>
              <a:t>The </a:t>
            </a:r>
            <a:r>
              <a:rPr lang="en-US" b="1" dirty="0"/>
              <a:t>data field</a:t>
            </a:r>
            <a:r>
              <a:rPr lang="en-US" dirty="0"/>
              <a:t> carries the packet received from the Network Layer.</a:t>
            </a:r>
          </a:p>
          <a:p>
            <a:r>
              <a:rPr lang="en-US" dirty="0"/>
              <a:t>The </a:t>
            </a:r>
            <a:r>
              <a:rPr lang="en-US" b="1" dirty="0"/>
              <a:t>trailer</a:t>
            </a:r>
            <a:r>
              <a:rPr lang="en-US" dirty="0"/>
              <a:t> usually contains </a:t>
            </a:r>
            <a:r>
              <a:rPr lang="en-US" b="1" dirty="0"/>
              <a:t>extra bits for error detection</a:t>
            </a:r>
            <a:r>
              <a:rPr lang="en-US" dirty="0"/>
              <a:t>, such as CRC.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59482-64F8-44B3-95E2-F773269D33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08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Error Control (Data Link Layer)</a:t>
            </a:r>
          </a:p>
          <a:p>
            <a:r>
              <a:rPr lang="en-US" b="1" dirty="0"/>
              <a:t>Error control</a:t>
            </a:r>
            <a:r>
              <a:rPr lang="en-US" dirty="0"/>
              <a:t> ensures that frames are </a:t>
            </a:r>
            <a:r>
              <a:rPr lang="en-US" b="1" dirty="0"/>
              <a:t>delivered correctly, in order, and without duplication</a:t>
            </a:r>
            <a:r>
              <a:rPr lang="en-US" dirty="0"/>
              <a:t> between two directly connected nodes.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How does the sender know that packets are correctly received?</a:t>
            </a:r>
          </a:p>
          <a:p>
            <a:r>
              <a:rPr lang="en-US" dirty="0"/>
              <a:t>The receiver sends an </a:t>
            </a:r>
            <a:r>
              <a:rPr lang="en-US" b="1" dirty="0"/>
              <a:t>ACK (Acknowledgement) packet</a:t>
            </a:r>
            <a:r>
              <a:rPr lang="en-US" dirty="0"/>
              <a:t> for each correctly received frame.</a:t>
            </a:r>
          </a:p>
          <a:p>
            <a:r>
              <a:rPr lang="en-US" dirty="0"/>
              <a:t>Receiving an ACK confirms </a:t>
            </a:r>
            <a:r>
              <a:rPr lang="en-US" b="1" dirty="0"/>
              <a:t>successful delivery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What if a packet is lost or not recognized by the receiver?</a:t>
            </a:r>
          </a:p>
          <a:p>
            <a:r>
              <a:rPr lang="en-US" dirty="0"/>
              <a:t>The sender starts a </a:t>
            </a:r>
            <a:r>
              <a:rPr lang="en-US" b="1" dirty="0"/>
              <a:t>timer</a:t>
            </a:r>
            <a:r>
              <a:rPr lang="en-US" dirty="0"/>
              <a:t> after transmitting a frame.</a:t>
            </a:r>
          </a:p>
          <a:p>
            <a:r>
              <a:rPr lang="en-US" dirty="0"/>
              <a:t>If an </a:t>
            </a:r>
            <a:r>
              <a:rPr lang="en-US" b="1" dirty="0"/>
              <a:t>ACK is not received before the timer expires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sender assumes the frame is </a:t>
            </a:r>
            <a:r>
              <a:rPr lang="en-US" b="1" dirty="0"/>
              <a:t>lost or corrupted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sender </a:t>
            </a:r>
            <a:r>
              <a:rPr lang="en-US" b="1" dirty="0"/>
              <a:t>resends the packet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How are duplicate or out-of-order packets handled?</a:t>
            </a:r>
          </a:p>
          <a:p>
            <a:r>
              <a:rPr lang="en-US" dirty="0"/>
              <a:t>Each packet is assigned a </a:t>
            </a:r>
            <a:r>
              <a:rPr lang="en-US" b="1" dirty="0"/>
              <a:t>sequence number</a:t>
            </a:r>
            <a:r>
              <a:rPr lang="en-US" dirty="0"/>
              <a:t>.</a:t>
            </a:r>
          </a:p>
          <a:p>
            <a:r>
              <a:rPr lang="en-US" dirty="0"/>
              <a:t>Sequence numbers are included in: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data packet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ACK packet</a:t>
            </a:r>
            <a:endParaRPr lang="en-US" dirty="0"/>
          </a:p>
          <a:p>
            <a:r>
              <a:rPr lang="en-US" dirty="0"/>
              <a:t>This allows the receiver to:</a:t>
            </a:r>
          </a:p>
          <a:p>
            <a:pPr lvl="1"/>
            <a:r>
              <a:rPr lang="en-US" dirty="0"/>
              <a:t>Detect </a:t>
            </a:r>
            <a:r>
              <a:rPr lang="en-US" b="1" dirty="0"/>
              <a:t>duplicate frames</a:t>
            </a:r>
            <a:endParaRPr lang="en-US" dirty="0"/>
          </a:p>
          <a:p>
            <a:pPr lvl="1"/>
            <a:r>
              <a:rPr lang="en-US" dirty="0"/>
              <a:t>Restore the </a:t>
            </a:r>
            <a:r>
              <a:rPr lang="en-US" b="1" dirty="0"/>
              <a:t>correct order</a:t>
            </a:r>
            <a:r>
              <a:rPr lang="en-US" dirty="0"/>
              <a:t> of packets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Optimization Using NACK</a:t>
            </a:r>
          </a:p>
          <a:p>
            <a:r>
              <a:rPr lang="en-US" dirty="0"/>
              <a:t>Instead of waiting for a timeout, the receiver may send a </a:t>
            </a:r>
            <a:r>
              <a:rPr lang="en-US" b="1" dirty="0"/>
              <a:t>NACK (Negative Acknowledgement)</a:t>
            </a:r>
            <a:r>
              <a:rPr lang="en-US" dirty="0"/>
              <a:t>.</a:t>
            </a:r>
          </a:p>
          <a:p>
            <a:r>
              <a:rPr lang="en-US" dirty="0"/>
              <a:t>A NACK informs the sender that:</a:t>
            </a:r>
          </a:p>
          <a:p>
            <a:pPr lvl="1"/>
            <a:r>
              <a:rPr lang="en-US" dirty="0"/>
              <a:t>A specific packet was </a:t>
            </a:r>
            <a:r>
              <a:rPr lang="en-US" b="1" dirty="0"/>
              <a:t>not received correctly</a:t>
            </a:r>
            <a:endParaRPr lang="en-US" dirty="0"/>
          </a:p>
          <a:p>
            <a:pPr lvl="1"/>
            <a:r>
              <a:rPr lang="en-US" dirty="0"/>
              <a:t>Or </a:t>
            </a:r>
            <a:r>
              <a:rPr lang="en-US" b="1" dirty="0"/>
              <a:t>something unusual occurred</a:t>
            </a:r>
            <a:endParaRPr lang="en-US" dirty="0"/>
          </a:p>
          <a:p>
            <a:r>
              <a:rPr lang="en-US" dirty="0"/>
              <a:t>This allows </a:t>
            </a:r>
            <a:r>
              <a:rPr lang="en-US" b="1" dirty="0"/>
              <a:t>faster retransmission</a:t>
            </a:r>
            <a:r>
              <a:rPr lang="en-US" dirty="0"/>
              <a:t> and improves efficiency.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Exam Point</a:t>
            </a:r>
          </a:p>
          <a:p>
            <a:r>
              <a:rPr lang="en-US" dirty="0"/>
              <a:t>Error control at the Data Link Layer provides </a:t>
            </a:r>
            <a:r>
              <a:rPr lang="en-US" b="1" dirty="0"/>
              <a:t>hop-to-hop reliability</a:t>
            </a:r>
            <a:r>
              <a:rPr lang="en-US" dirty="0"/>
              <a:t>, while end-to-end reliability is handled by the Transport Layer.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59482-64F8-44B3-95E2-F773269D33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9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172" y="559765"/>
            <a:ext cx="912749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34814" y="1185418"/>
            <a:ext cx="6367145" cy="1585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types-of-switches-in-computer-network/?ref=lbp" TargetMode="External"/><Relationship Id="rId2" Type="http://schemas.openxmlformats.org/officeDocument/2006/relationships/hyperlink" Target="https://www.geeksforgeeks.org/switch-functions-at-layer-2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427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3473" y="543255"/>
            <a:ext cx="3857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4400" b="1" spc="-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440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9098" y="5481929"/>
            <a:ext cx="745172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55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3311" y="2284476"/>
            <a:ext cx="1985772" cy="2289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3943" y="2944825"/>
            <a:ext cx="22371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latin typeface="Times New Roman"/>
                <a:cs typeface="Times New Roman"/>
              </a:rPr>
              <a:t>Outline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97927" y="746188"/>
            <a:ext cx="81915" cy="5452745"/>
            <a:chOff x="4297927" y="746188"/>
            <a:chExt cx="81915" cy="5452745"/>
          </a:xfrm>
        </p:grpSpPr>
        <p:sp>
          <p:nvSpPr>
            <p:cNvPr id="4" name="object 4"/>
            <p:cNvSpPr/>
            <p:nvPr/>
          </p:nvSpPr>
          <p:spPr>
            <a:xfrm>
              <a:off x="4312027" y="766699"/>
              <a:ext cx="46355" cy="5410835"/>
            </a:xfrm>
            <a:custGeom>
              <a:avLst/>
              <a:gdLst/>
              <a:ahLst/>
              <a:cxnLst/>
              <a:rect l="l" t="t" r="r" b="b"/>
              <a:pathLst>
                <a:path w="46354" h="5410835">
                  <a:moveTo>
                    <a:pt x="22863" y="0"/>
                  </a:moveTo>
                  <a:lnTo>
                    <a:pt x="19561" y="380"/>
                  </a:lnTo>
                  <a:lnTo>
                    <a:pt x="12322" y="635"/>
                  </a:lnTo>
                  <a:lnTo>
                    <a:pt x="15510" y="70714"/>
                  </a:lnTo>
                  <a:lnTo>
                    <a:pt x="17328" y="136905"/>
                  </a:lnTo>
                  <a:lnTo>
                    <a:pt x="17995" y="199491"/>
                  </a:lnTo>
                  <a:lnTo>
                    <a:pt x="17732" y="258755"/>
                  </a:lnTo>
                  <a:lnTo>
                    <a:pt x="16759" y="314980"/>
                  </a:lnTo>
                  <a:lnTo>
                    <a:pt x="15295" y="368451"/>
                  </a:lnTo>
                  <a:lnTo>
                    <a:pt x="10161" y="515162"/>
                  </a:lnTo>
                  <a:lnTo>
                    <a:pt x="8935" y="560443"/>
                  </a:lnTo>
                  <a:lnTo>
                    <a:pt x="8318" y="604386"/>
                  </a:lnTo>
                  <a:lnTo>
                    <a:pt x="8530" y="647273"/>
                  </a:lnTo>
                  <a:lnTo>
                    <a:pt x="9792" y="689387"/>
                  </a:lnTo>
                  <a:lnTo>
                    <a:pt x="12322" y="731012"/>
                  </a:lnTo>
                  <a:lnTo>
                    <a:pt x="15511" y="777252"/>
                  </a:lnTo>
                  <a:lnTo>
                    <a:pt x="18110" y="826306"/>
                  </a:lnTo>
                  <a:lnTo>
                    <a:pt x="20137" y="877669"/>
                  </a:lnTo>
                  <a:lnTo>
                    <a:pt x="21606" y="930837"/>
                  </a:lnTo>
                  <a:lnTo>
                    <a:pt x="22533" y="985304"/>
                  </a:lnTo>
                  <a:lnTo>
                    <a:pt x="22935" y="1040567"/>
                  </a:lnTo>
                  <a:lnTo>
                    <a:pt x="22825" y="1096121"/>
                  </a:lnTo>
                  <a:lnTo>
                    <a:pt x="22221" y="1151461"/>
                  </a:lnTo>
                  <a:lnTo>
                    <a:pt x="21138" y="1206082"/>
                  </a:lnTo>
                  <a:lnTo>
                    <a:pt x="19590" y="1259479"/>
                  </a:lnTo>
                  <a:lnTo>
                    <a:pt x="17595" y="1311149"/>
                  </a:lnTo>
                  <a:lnTo>
                    <a:pt x="15167" y="1360587"/>
                  </a:lnTo>
                  <a:lnTo>
                    <a:pt x="9011" y="1459459"/>
                  </a:lnTo>
                  <a:lnTo>
                    <a:pt x="6294" y="1509645"/>
                  </a:lnTo>
                  <a:lnTo>
                    <a:pt x="4195" y="1558471"/>
                  </a:lnTo>
                  <a:lnTo>
                    <a:pt x="2736" y="1606564"/>
                  </a:lnTo>
                  <a:lnTo>
                    <a:pt x="1940" y="1654551"/>
                  </a:lnTo>
                  <a:lnTo>
                    <a:pt x="1829" y="1703060"/>
                  </a:lnTo>
                  <a:lnTo>
                    <a:pt x="2424" y="1752716"/>
                  </a:lnTo>
                  <a:lnTo>
                    <a:pt x="3749" y="1804147"/>
                  </a:lnTo>
                  <a:lnTo>
                    <a:pt x="5825" y="1857980"/>
                  </a:lnTo>
                  <a:lnTo>
                    <a:pt x="8676" y="1914841"/>
                  </a:lnTo>
                  <a:lnTo>
                    <a:pt x="12322" y="1975358"/>
                  </a:lnTo>
                  <a:lnTo>
                    <a:pt x="14396" y="2018508"/>
                  </a:lnTo>
                  <a:lnTo>
                    <a:pt x="15187" y="2062010"/>
                  </a:lnTo>
                  <a:lnTo>
                    <a:pt x="14913" y="2105956"/>
                  </a:lnTo>
                  <a:lnTo>
                    <a:pt x="13787" y="2150439"/>
                  </a:lnTo>
                  <a:lnTo>
                    <a:pt x="12026" y="2195552"/>
                  </a:lnTo>
                  <a:lnTo>
                    <a:pt x="5083" y="2335593"/>
                  </a:lnTo>
                  <a:lnTo>
                    <a:pt x="2935" y="2384150"/>
                  </a:lnTo>
                  <a:lnTo>
                    <a:pt x="1227" y="2433800"/>
                  </a:lnTo>
                  <a:lnTo>
                    <a:pt x="177" y="2484636"/>
                  </a:lnTo>
                  <a:lnTo>
                    <a:pt x="0" y="2536749"/>
                  </a:lnTo>
                  <a:lnTo>
                    <a:pt x="910" y="2590233"/>
                  </a:lnTo>
                  <a:lnTo>
                    <a:pt x="3123" y="2645181"/>
                  </a:lnTo>
                  <a:lnTo>
                    <a:pt x="6856" y="2701684"/>
                  </a:lnTo>
                  <a:lnTo>
                    <a:pt x="17655" y="2817594"/>
                  </a:lnTo>
                  <a:lnTo>
                    <a:pt x="21021" y="2873018"/>
                  </a:lnTo>
                  <a:lnTo>
                    <a:pt x="22690" y="2926360"/>
                  </a:lnTo>
                  <a:lnTo>
                    <a:pt x="22931" y="2977870"/>
                  </a:lnTo>
                  <a:lnTo>
                    <a:pt x="22012" y="3027798"/>
                  </a:lnTo>
                  <a:lnTo>
                    <a:pt x="20203" y="3076396"/>
                  </a:lnTo>
                  <a:lnTo>
                    <a:pt x="17772" y="3123914"/>
                  </a:lnTo>
                  <a:lnTo>
                    <a:pt x="9443" y="3262492"/>
                  </a:lnTo>
                  <a:lnTo>
                    <a:pt x="7217" y="3308195"/>
                  </a:lnTo>
                  <a:lnTo>
                    <a:pt x="5715" y="3354071"/>
                  </a:lnTo>
                  <a:lnTo>
                    <a:pt x="5205" y="3400371"/>
                  </a:lnTo>
                  <a:lnTo>
                    <a:pt x="5957" y="3447344"/>
                  </a:lnTo>
                  <a:lnTo>
                    <a:pt x="8240" y="3495242"/>
                  </a:lnTo>
                  <a:lnTo>
                    <a:pt x="17331" y="3602576"/>
                  </a:lnTo>
                  <a:lnTo>
                    <a:pt x="20125" y="3655555"/>
                  </a:lnTo>
                  <a:lnTo>
                    <a:pt x="21078" y="3704219"/>
                  </a:lnTo>
                  <a:lnTo>
                    <a:pt x="20570" y="3749538"/>
                  </a:lnTo>
                  <a:lnTo>
                    <a:pt x="18975" y="3792478"/>
                  </a:lnTo>
                  <a:lnTo>
                    <a:pt x="16671" y="3834007"/>
                  </a:lnTo>
                  <a:lnTo>
                    <a:pt x="11442" y="3916703"/>
                  </a:lnTo>
                  <a:lnTo>
                    <a:pt x="9270" y="3959805"/>
                  </a:lnTo>
                  <a:lnTo>
                    <a:pt x="7895" y="4005367"/>
                  </a:lnTo>
                  <a:lnTo>
                    <a:pt x="7695" y="4054357"/>
                  </a:lnTo>
                  <a:lnTo>
                    <a:pt x="9045" y="4107741"/>
                  </a:lnTo>
                  <a:lnTo>
                    <a:pt x="15918" y="4227764"/>
                  </a:lnTo>
                  <a:lnTo>
                    <a:pt x="18118" y="4287997"/>
                  </a:lnTo>
                  <a:lnTo>
                    <a:pt x="19138" y="4347051"/>
                  </a:lnTo>
                  <a:lnTo>
                    <a:pt x="19196" y="4404790"/>
                  </a:lnTo>
                  <a:lnTo>
                    <a:pt x="18510" y="4461077"/>
                  </a:lnTo>
                  <a:lnTo>
                    <a:pt x="17297" y="4515776"/>
                  </a:lnTo>
                  <a:lnTo>
                    <a:pt x="12672" y="4668984"/>
                  </a:lnTo>
                  <a:lnTo>
                    <a:pt x="11526" y="4715970"/>
                  </a:lnTo>
                  <a:lnTo>
                    <a:pt x="10941" y="4760685"/>
                  </a:lnTo>
                  <a:lnTo>
                    <a:pt x="11134" y="4802995"/>
                  </a:lnTo>
                  <a:lnTo>
                    <a:pt x="13516" y="4887986"/>
                  </a:lnTo>
                  <a:lnTo>
                    <a:pt x="13219" y="4933081"/>
                  </a:lnTo>
                  <a:lnTo>
                    <a:pt x="11848" y="4978520"/>
                  </a:lnTo>
                  <a:lnTo>
                    <a:pt x="7556" y="5072308"/>
                  </a:lnTo>
                  <a:lnTo>
                    <a:pt x="5470" y="5121599"/>
                  </a:lnTo>
                  <a:lnTo>
                    <a:pt x="3979" y="5173114"/>
                  </a:lnTo>
                  <a:lnTo>
                    <a:pt x="3501" y="5227325"/>
                  </a:lnTo>
                  <a:lnTo>
                    <a:pt x="4455" y="5284702"/>
                  </a:lnTo>
                  <a:lnTo>
                    <a:pt x="7256" y="5345715"/>
                  </a:lnTo>
                  <a:lnTo>
                    <a:pt x="12322" y="5410835"/>
                  </a:lnTo>
                  <a:lnTo>
                    <a:pt x="18037" y="5410111"/>
                  </a:lnTo>
                  <a:lnTo>
                    <a:pt x="25149" y="5410149"/>
                  </a:lnTo>
                  <a:lnTo>
                    <a:pt x="30610" y="5410835"/>
                  </a:lnTo>
                  <a:lnTo>
                    <a:pt x="29400" y="5366139"/>
                  </a:lnTo>
                  <a:lnTo>
                    <a:pt x="28650" y="5319141"/>
                  </a:lnTo>
                  <a:lnTo>
                    <a:pt x="28300" y="5270163"/>
                  </a:lnTo>
                  <a:lnTo>
                    <a:pt x="28291" y="5219531"/>
                  </a:lnTo>
                  <a:lnTo>
                    <a:pt x="29058" y="5114594"/>
                  </a:lnTo>
                  <a:lnTo>
                    <a:pt x="33348" y="4793725"/>
                  </a:lnTo>
                  <a:lnTo>
                    <a:pt x="33852" y="4693381"/>
                  </a:lnTo>
                  <a:lnTo>
                    <a:pt x="33662" y="4645906"/>
                  </a:lnTo>
                  <a:lnTo>
                    <a:pt x="33098" y="4600660"/>
                  </a:lnTo>
                  <a:lnTo>
                    <a:pt x="32101" y="4557967"/>
                  </a:lnTo>
                  <a:lnTo>
                    <a:pt x="30610" y="4518152"/>
                  </a:lnTo>
                  <a:lnTo>
                    <a:pt x="28492" y="4469684"/>
                  </a:lnTo>
                  <a:lnTo>
                    <a:pt x="26959" y="4428990"/>
                  </a:lnTo>
                  <a:lnTo>
                    <a:pt x="25949" y="4394165"/>
                  </a:lnTo>
                  <a:lnTo>
                    <a:pt x="25398" y="4363307"/>
                  </a:lnTo>
                  <a:lnTo>
                    <a:pt x="25241" y="4334513"/>
                  </a:lnTo>
                  <a:lnTo>
                    <a:pt x="25417" y="4305879"/>
                  </a:lnTo>
                  <a:lnTo>
                    <a:pt x="29054" y="4098512"/>
                  </a:lnTo>
                  <a:lnTo>
                    <a:pt x="30610" y="3950080"/>
                  </a:lnTo>
                  <a:lnTo>
                    <a:pt x="30827" y="3881697"/>
                  </a:lnTo>
                  <a:lnTo>
                    <a:pt x="30501" y="3819105"/>
                  </a:lnTo>
                  <a:lnTo>
                    <a:pt x="29743" y="3761617"/>
                  </a:lnTo>
                  <a:lnTo>
                    <a:pt x="28664" y="3708544"/>
                  </a:lnTo>
                  <a:lnTo>
                    <a:pt x="22283" y="3485330"/>
                  </a:lnTo>
                  <a:lnTo>
                    <a:pt x="21580" y="3444299"/>
                  </a:lnTo>
                  <a:lnTo>
                    <a:pt x="21325" y="3402867"/>
                  </a:lnTo>
                  <a:lnTo>
                    <a:pt x="21627" y="3360346"/>
                  </a:lnTo>
                  <a:lnTo>
                    <a:pt x="22597" y="3316047"/>
                  </a:lnTo>
                  <a:lnTo>
                    <a:pt x="24344" y="3269282"/>
                  </a:lnTo>
                  <a:lnTo>
                    <a:pt x="26979" y="3219363"/>
                  </a:lnTo>
                  <a:lnTo>
                    <a:pt x="35653" y="3094070"/>
                  </a:lnTo>
                  <a:lnTo>
                    <a:pt x="39686" y="3028163"/>
                  </a:lnTo>
                  <a:lnTo>
                    <a:pt x="42737" y="2967267"/>
                  </a:lnTo>
                  <a:lnTo>
                    <a:pt x="44834" y="2910769"/>
                  </a:lnTo>
                  <a:lnTo>
                    <a:pt x="46006" y="2858054"/>
                  </a:lnTo>
                  <a:lnTo>
                    <a:pt x="46279" y="2808509"/>
                  </a:lnTo>
                  <a:lnTo>
                    <a:pt x="45682" y="2761520"/>
                  </a:lnTo>
                  <a:lnTo>
                    <a:pt x="44242" y="2716473"/>
                  </a:lnTo>
                  <a:lnTo>
                    <a:pt x="41987" y="2672754"/>
                  </a:lnTo>
                  <a:lnTo>
                    <a:pt x="38945" y="2629750"/>
                  </a:lnTo>
                  <a:lnTo>
                    <a:pt x="35143" y="2586846"/>
                  </a:lnTo>
                  <a:lnTo>
                    <a:pt x="30610" y="2543429"/>
                  </a:lnTo>
                  <a:lnTo>
                    <a:pt x="26691" y="2501168"/>
                  </a:lnTo>
                  <a:lnTo>
                    <a:pt x="24507" y="2461314"/>
                  </a:lnTo>
                  <a:lnTo>
                    <a:pt x="23752" y="2422622"/>
                  </a:lnTo>
                  <a:lnTo>
                    <a:pt x="24119" y="2383846"/>
                  </a:lnTo>
                  <a:lnTo>
                    <a:pt x="25301" y="2343742"/>
                  </a:lnTo>
                  <a:lnTo>
                    <a:pt x="28882" y="2254570"/>
                  </a:lnTo>
                  <a:lnTo>
                    <a:pt x="30667" y="2203012"/>
                  </a:lnTo>
                  <a:lnTo>
                    <a:pt x="32039" y="2145147"/>
                  </a:lnTo>
                  <a:lnTo>
                    <a:pt x="32692" y="2079729"/>
                  </a:lnTo>
                  <a:lnTo>
                    <a:pt x="32318" y="2005513"/>
                  </a:lnTo>
                  <a:lnTo>
                    <a:pt x="28975" y="1850058"/>
                  </a:lnTo>
                  <a:lnTo>
                    <a:pt x="27969" y="1780187"/>
                  </a:lnTo>
                  <a:lnTo>
                    <a:pt x="27502" y="1711958"/>
                  </a:lnTo>
                  <a:lnTo>
                    <a:pt x="27481" y="1645691"/>
                  </a:lnTo>
                  <a:lnTo>
                    <a:pt x="27816" y="1581700"/>
                  </a:lnTo>
                  <a:lnTo>
                    <a:pt x="28416" y="1520303"/>
                  </a:lnTo>
                  <a:lnTo>
                    <a:pt x="31626" y="1306999"/>
                  </a:lnTo>
                  <a:lnTo>
                    <a:pt x="32439" y="1224154"/>
                  </a:lnTo>
                  <a:lnTo>
                    <a:pt x="32328" y="1189792"/>
                  </a:lnTo>
                  <a:lnTo>
                    <a:pt x="31748" y="1160561"/>
                  </a:lnTo>
                  <a:lnTo>
                    <a:pt x="30610" y="1136777"/>
                  </a:lnTo>
                  <a:lnTo>
                    <a:pt x="29451" y="1103560"/>
                  </a:lnTo>
                  <a:lnTo>
                    <a:pt x="29964" y="1066682"/>
                  </a:lnTo>
                  <a:lnTo>
                    <a:pt x="31619" y="1025999"/>
                  </a:lnTo>
                  <a:lnTo>
                    <a:pt x="36230" y="932656"/>
                  </a:lnTo>
                  <a:lnTo>
                    <a:pt x="38127" y="879711"/>
                  </a:lnTo>
                  <a:lnTo>
                    <a:pt x="39044" y="822396"/>
                  </a:lnTo>
                  <a:lnTo>
                    <a:pt x="38450" y="760568"/>
                  </a:lnTo>
                  <a:lnTo>
                    <a:pt x="35816" y="694086"/>
                  </a:lnTo>
                  <a:lnTo>
                    <a:pt x="30610" y="622808"/>
                  </a:lnTo>
                  <a:lnTo>
                    <a:pt x="26036" y="564387"/>
                  </a:lnTo>
                  <a:lnTo>
                    <a:pt x="23237" y="511192"/>
                  </a:lnTo>
                  <a:lnTo>
                    <a:pt x="21931" y="462014"/>
                  </a:lnTo>
                  <a:lnTo>
                    <a:pt x="21833" y="415642"/>
                  </a:lnTo>
                  <a:lnTo>
                    <a:pt x="22662" y="370869"/>
                  </a:lnTo>
                  <a:lnTo>
                    <a:pt x="24133" y="326485"/>
                  </a:lnTo>
                  <a:lnTo>
                    <a:pt x="27873" y="234046"/>
                  </a:lnTo>
                  <a:lnTo>
                    <a:pt x="29575" y="183574"/>
                  </a:lnTo>
                  <a:lnTo>
                    <a:pt x="30787" y="128654"/>
                  </a:lnTo>
                  <a:lnTo>
                    <a:pt x="31227" y="68077"/>
                  </a:lnTo>
                  <a:lnTo>
                    <a:pt x="30610" y="635"/>
                  </a:lnTo>
                  <a:lnTo>
                    <a:pt x="2286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565" y="766826"/>
              <a:ext cx="40640" cy="5411470"/>
            </a:xfrm>
            <a:custGeom>
              <a:avLst/>
              <a:gdLst/>
              <a:ahLst/>
              <a:cxnLst/>
              <a:rect l="l" t="t" r="r" b="b"/>
              <a:pathLst>
                <a:path w="40639" h="5411470">
                  <a:moveTo>
                    <a:pt x="24072" y="508"/>
                  </a:moveTo>
                  <a:lnTo>
                    <a:pt x="28649" y="44885"/>
                  </a:lnTo>
                  <a:lnTo>
                    <a:pt x="32218" y="89371"/>
                  </a:lnTo>
                  <a:lnTo>
                    <a:pt x="34810" y="134414"/>
                  </a:lnTo>
                  <a:lnTo>
                    <a:pt x="36455" y="180461"/>
                  </a:lnTo>
                  <a:lnTo>
                    <a:pt x="37185" y="227961"/>
                  </a:lnTo>
                  <a:lnTo>
                    <a:pt x="37031" y="277363"/>
                  </a:lnTo>
                  <a:lnTo>
                    <a:pt x="36022" y="329114"/>
                  </a:lnTo>
                  <a:lnTo>
                    <a:pt x="34192" y="383662"/>
                  </a:lnTo>
                  <a:lnTo>
                    <a:pt x="31569" y="441457"/>
                  </a:lnTo>
                  <a:lnTo>
                    <a:pt x="28185" y="502947"/>
                  </a:lnTo>
                  <a:lnTo>
                    <a:pt x="24072" y="568578"/>
                  </a:lnTo>
                  <a:lnTo>
                    <a:pt x="21148" y="621140"/>
                  </a:lnTo>
                  <a:lnTo>
                    <a:pt x="19293" y="672405"/>
                  </a:lnTo>
                  <a:lnTo>
                    <a:pt x="18354" y="722682"/>
                  </a:lnTo>
                  <a:lnTo>
                    <a:pt x="18174" y="772281"/>
                  </a:lnTo>
                  <a:lnTo>
                    <a:pt x="18599" y="821511"/>
                  </a:lnTo>
                  <a:lnTo>
                    <a:pt x="19473" y="870680"/>
                  </a:lnTo>
                  <a:lnTo>
                    <a:pt x="20643" y="920099"/>
                  </a:lnTo>
                  <a:lnTo>
                    <a:pt x="21953" y="970075"/>
                  </a:lnTo>
                  <a:lnTo>
                    <a:pt x="23247" y="1020918"/>
                  </a:lnTo>
                  <a:lnTo>
                    <a:pt x="24372" y="1072937"/>
                  </a:lnTo>
                  <a:lnTo>
                    <a:pt x="25172" y="1126441"/>
                  </a:lnTo>
                  <a:lnTo>
                    <a:pt x="25492" y="1181740"/>
                  </a:lnTo>
                  <a:lnTo>
                    <a:pt x="25177" y="1239141"/>
                  </a:lnTo>
                  <a:lnTo>
                    <a:pt x="24072" y="1298956"/>
                  </a:lnTo>
                  <a:lnTo>
                    <a:pt x="22617" y="1365600"/>
                  </a:lnTo>
                  <a:lnTo>
                    <a:pt x="21797" y="1424021"/>
                  </a:lnTo>
                  <a:lnTo>
                    <a:pt x="21500" y="1475876"/>
                  </a:lnTo>
                  <a:lnTo>
                    <a:pt x="21617" y="1522828"/>
                  </a:lnTo>
                  <a:lnTo>
                    <a:pt x="22035" y="1566536"/>
                  </a:lnTo>
                  <a:lnTo>
                    <a:pt x="22643" y="1608661"/>
                  </a:lnTo>
                  <a:lnTo>
                    <a:pt x="23331" y="1650862"/>
                  </a:lnTo>
                  <a:lnTo>
                    <a:pt x="23987" y="1694800"/>
                  </a:lnTo>
                  <a:lnTo>
                    <a:pt x="24501" y="1742136"/>
                  </a:lnTo>
                  <a:lnTo>
                    <a:pt x="24760" y="1794529"/>
                  </a:lnTo>
                  <a:lnTo>
                    <a:pt x="24654" y="1853640"/>
                  </a:lnTo>
                  <a:lnTo>
                    <a:pt x="24072" y="1921128"/>
                  </a:lnTo>
                  <a:lnTo>
                    <a:pt x="23731" y="1996679"/>
                  </a:lnTo>
                  <a:lnTo>
                    <a:pt x="24376" y="2066046"/>
                  </a:lnTo>
                  <a:lnTo>
                    <a:pt x="25700" y="2129698"/>
                  </a:lnTo>
                  <a:lnTo>
                    <a:pt x="27398" y="2188101"/>
                  </a:lnTo>
                  <a:lnTo>
                    <a:pt x="29164" y="2241722"/>
                  </a:lnTo>
                  <a:lnTo>
                    <a:pt x="30693" y="2291029"/>
                  </a:lnTo>
                  <a:lnTo>
                    <a:pt x="31678" y="2336489"/>
                  </a:lnTo>
                  <a:lnTo>
                    <a:pt x="31815" y="2378569"/>
                  </a:lnTo>
                  <a:lnTo>
                    <a:pt x="30796" y="2417736"/>
                  </a:lnTo>
                  <a:lnTo>
                    <a:pt x="28317" y="2454457"/>
                  </a:lnTo>
                  <a:lnTo>
                    <a:pt x="24072" y="2489200"/>
                  </a:lnTo>
                  <a:lnTo>
                    <a:pt x="21162" y="2517730"/>
                  </a:lnTo>
                  <a:lnTo>
                    <a:pt x="19913" y="2552994"/>
                  </a:lnTo>
                  <a:lnTo>
                    <a:pt x="20037" y="2594103"/>
                  </a:lnTo>
                  <a:lnTo>
                    <a:pt x="21246" y="2640167"/>
                  </a:lnTo>
                  <a:lnTo>
                    <a:pt x="23254" y="2690297"/>
                  </a:lnTo>
                  <a:lnTo>
                    <a:pt x="25773" y="2743604"/>
                  </a:lnTo>
                  <a:lnTo>
                    <a:pt x="28516" y="2799198"/>
                  </a:lnTo>
                  <a:lnTo>
                    <a:pt x="31197" y="2856190"/>
                  </a:lnTo>
                  <a:lnTo>
                    <a:pt x="33527" y="2913691"/>
                  </a:lnTo>
                  <a:lnTo>
                    <a:pt x="35220" y="2970812"/>
                  </a:lnTo>
                  <a:lnTo>
                    <a:pt x="35988" y="3026662"/>
                  </a:lnTo>
                  <a:lnTo>
                    <a:pt x="35545" y="3080353"/>
                  </a:lnTo>
                  <a:lnTo>
                    <a:pt x="33602" y="3130995"/>
                  </a:lnTo>
                  <a:lnTo>
                    <a:pt x="29874" y="3177700"/>
                  </a:lnTo>
                  <a:lnTo>
                    <a:pt x="24072" y="3219577"/>
                  </a:lnTo>
                  <a:lnTo>
                    <a:pt x="16861" y="3265540"/>
                  </a:lnTo>
                  <a:lnTo>
                    <a:pt x="11173" y="3313013"/>
                  </a:lnTo>
                  <a:lnTo>
                    <a:pt x="6919" y="3361858"/>
                  </a:lnTo>
                  <a:lnTo>
                    <a:pt x="4013" y="3411941"/>
                  </a:lnTo>
                  <a:lnTo>
                    <a:pt x="2367" y="3463124"/>
                  </a:lnTo>
                  <a:lnTo>
                    <a:pt x="1894" y="3515272"/>
                  </a:lnTo>
                  <a:lnTo>
                    <a:pt x="2505" y="3568247"/>
                  </a:lnTo>
                  <a:lnTo>
                    <a:pt x="4115" y="3621914"/>
                  </a:lnTo>
                  <a:lnTo>
                    <a:pt x="6635" y="3676136"/>
                  </a:lnTo>
                  <a:lnTo>
                    <a:pt x="9978" y="3730777"/>
                  </a:lnTo>
                  <a:lnTo>
                    <a:pt x="14057" y="3785701"/>
                  </a:lnTo>
                  <a:lnTo>
                    <a:pt x="18784" y="3840771"/>
                  </a:lnTo>
                  <a:lnTo>
                    <a:pt x="24072" y="3895852"/>
                  </a:lnTo>
                  <a:lnTo>
                    <a:pt x="29112" y="3951227"/>
                  </a:lnTo>
                  <a:lnTo>
                    <a:pt x="33179" y="4007085"/>
                  </a:lnTo>
                  <a:lnTo>
                    <a:pt x="36308" y="4063142"/>
                  </a:lnTo>
                  <a:lnTo>
                    <a:pt x="38537" y="4119113"/>
                  </a:lnTo>
                  <a:lnTo>
                    <a:pt x="39902" y="4174714"/>
                  </a:lnTo>
                  <a:lnTo>
                    <a:pt x="40438" y="4229662"/>
                  </a:lnTo>
                  <a:lnTo>
                    <a:pt x="40183" y="4283671"/>
                  </a:lnTo>
                  <a:lnTo>
                    <a:pt x="39173" y="4336459"/>
                  </a:lnTo>
                  <a:lnTo>
                    <a:pt x="37445" y="4387741"/>
                  </a:lnTo>
                  <a:lnTo>
                    <a:pt x="35034" y="4437232"/>
                  </a:lnTo>
                  <a:lnTo>
                    <a:pt x="31977" y="4484650"/>
                  </a:lnTo>
                  <a:lnTo>
                    <a:pt x="28311" y="4529709"/>
                  </a:lnTo>
                  <a:lnTo>
                    <a:pt x="24072" y="4572127"/>
                  </a:lnTo>
                  <a:lnTo>
                    <a:pt x="21076" y="4606014"/>
                  </a:lnTo>
                  <a:lnTo>
                    <a:pt x="18926" y="4644600"/>
                  </a:lnTo>
                  <a:lnTo>
                    <a:pt x="17529" y="4687330"/>
                  </a:lnTo>
                  <a:lnTo>
                    <a:pt x="16789" y="4733651"/>
                  </a:lnTo>
                  <a:lnTo>
                    <a:pt x="16613" y="4783010"/>
                  </a:lnTo>
                  <a:lnTo>
                    <a:pt x="16906" y="4834852"/>
                  </a:lnTo>
                  <a:lnTo>
                    <a:pt x="17574" y="4888624"/>
                  </a:lnTo>
                  <a:lnTo>
                    <a:pt x="18522" y="4943773"/>
                  </a:lnTo>
                  <a:lnTo>
                    <a:pt x="19655" y="4999745"/>
                  </a:lnTo>
                  <a:lnTo>
                    <a:pt x="20880" y="5055986"/>
                  </a:lnTo>
                  <a:lnTo>
                    <a:pt x="22102" y="5111942"/>
                  </a:lnTo>
                  <a:lnTo>
                    <a:pt x="23225" y="5167061"/>
                  </a:lnTo>
                  <a:lnTo>
                    <a:pt x="24157" y="5220788"/>
                  </a:lnTo>
                  <a:lnTo>
                    <a:pt x="24802" y="5272569"/>
                  </a:lnTo>
                  <a:lnTo>
                    <a:pt x="25065" y="5321852"/>
                  </a:lnTo>
                  <a:lnTo>
                    <a:pt x="24854" y="5368083"/>
                  </a:lnTo>
                  <a:lnTo>
                    <a:pt x="24072" y="5410708"/>
                  </a:lnTo>
                  <a:lnTo>
                    <a:pt x="17087" y="5411241"/>
                  </a:lnTo>
                  <a:lnTo>
                    <a:pt x="11245" y="5411444"/>
                  </a:lnTo>
                  <a:lnTo>
                    <a:pt x="5784" y="5410708"/>
                  </a:lnTo>
                  <a:lnTo>
                    <a:pt x="8103" y="5342661"/>
                  </a:lnTo>
                  <a:lnTo>
                    <a:pt x="8973" y="5284869"/>
                  </a:lnTo>
                  <a:lnTo>
                    <a:pt x="8724" y="5235008"/>
                  </a:lnTo>
                  <a:lnTo>
                    <a:pt x="7684" y="5190751"/>
                  </a:lnTo>
                  <a:lnTo>
                    <a:pt x="6179" y="5149775"/>
                  </a:lnTo>
                  <a:lnTo>
                    <a:pt x="4539" y="5109756"/>
                  </a:lnTo>
                  <a:lnTo>
                    <a:pt x="3091" y="5068368"/>
                  </a:lnTo>
                  <a:lnTo>
                    <a:pt x="2164" y="5023286"/>
                  </a:lnTo>
                  <a:lnTo>
                    <a:pt x="2085" y="4972187"/>
                  </a:lnTo>
                  <a:lnTo>
                    <a:pt x="3182" y="4912745"/>
                  </a:lnTo>
                  <a:lnTo>
                    <a:pt x="5784" y="4842637"/>
                  </a:lnTo>
                  <a:lnTo>
                    <a:pt x="9107" y="4763564"/>
                  </a:lnTo>
                  <a:lnTo>
                    <a:pt x="11502" y="4693379"/>
                  </a:lnTo>
                  <a:lnTo>
                    <a:pt x="13041" y="4631055"/>
                  </a:lnTo>
                  <a:lnTo>
                    <a:pt x="13794" y="4575565"/>
                  </a:lnTo>
                  <a:lnTo>
                    <a:pt x="13833" y="4525883"/>
                  </a:lnTo>
                  <a:lnTo>
                    <a:pt x="13227" y="4480982"/>
                  </a:lnTo>
                  <a:lnTo>
                    <a:pt x="12049" y="4439837"/>
                  </a:lnTo>
                  <a:lnTo>
                    <a:pt x="10368" y="4401420"/>
                  </a:lnTo>
                  <a:lnTo>
                    <a:pt x="8256" y="4364706"/>
                  </a:lnTo>
                  <a:lnTo>
                    <a:pt x="5784" y="4328668"/>
                  </a:lnTo>
                  <a:lnTo>
                    <a:pt x="4104" y="4298142"/>
                  </a:lnTo>
                  <a:lnTo>
                    <a:pt x="2798" y="4258945"/>
                  </a:lnTo>
                  <a:lnTo>
                    <a:pt x="1839" y="4212411"/>
                  </a:lnTo>
                  <a:lnTo>
                    <a:pt x="1197" y="4159877"/>
                  </a:lnTo>
                  <a:lnTo>
                    <a:pt x="842" y="4102677"/>
                  </a:lnTo>
                  <a:lnTo>
                    <a:pt x="746" y="4042148"/>
                  </a:lnTo>
                  <a:lnTo>
                    <a:pt x="879" y="3979624"/>
                  </a:lnTo>
                  <a:lnTo>
                    <a:pt x="1212" y="3916441"/>
                  </a:lnTo>
                  <a:lnTo>
                    <a:pt x="1716" y="3853935"/>
                  </a:lnTo>
                  <a:lnTo>
                    <a:pt x="2363" y="3793440"/>
                  </a:lnTo>
                  <a:lnTo>
                    <a:pt x="3122" y="3736293"/>
                  </a:lnTo>
                  <a:lnTo>
                    <a:pt x="3965" y="3683829"/>
                  </a:lnTo>
                  <a:lnTo>
                    <a:pt x="4862" y="3637383"/>
                  </a:lnTo>
                  <a:lnTo>
                    <a:pt x="5784" y="3598291"/>
                  </a:lnTo>
                  <a:lnTo>
                    <a:pt x="6420" y="3554362"/>
                  </a:lnTo>
                  <a:lnTo>
                    <a:pt x="6145" y="3511101"/>
                  </a:lnTo>
                  <a:lnTo>
                    <a:pt x="5221" y="3467771"/>
                  </a:lnTo>
                  <a:lnTo>
                    <a:pt x="3909" y="3423635"/>
                  </a:lnTo>
                  <a:lnTo>
                    <a:pt x="2469" y="3377956"/>
                  </a:lnTo>
                  <a:lnTo>
                    <a:pt x="1164" y="3329997"/>
                  </a:lnTo>
                  <a:lnTo>
                    <a:pt x="254" y="3279022"/>
                  </a:lnTo>
                  <a:lnTo>
                    <a:pt x="0" y="3224293"/>
                  </a:lnTo>
                  <a:lnTo>
                    <a:pt x="662" y="3165075"/>
                  </a:lnTo>
                  <a:lnTo>
                    <a:pt x="2504" y="3100629"/>
                  </a:lnTo>
                  <a:lnTo>
                    <a:pt x="5784" y="3030220"/>
                  </a:lnTo>
                  <a:lnTo>
                    <a:pt x="8423" y="2974530"/>
                  </a:lnTo>
                  <a:lnTo>
                    <a:pt x="10023" y="2922634"/>
                  </a:lnTo>
                  <a:lnTo>
                    <a:pt x="10742" y="2873719"/>
                  </a:lnTo>
                  <a:lnTo>
                    <a:pt x="10738" y="2826972"/>
                  </a:lnTo>
                  <a:lnTo>
                    <a:pt x="10170" y="2781580"/>
                  </a:lnTo>
                  <a:lnTo>
                    <a:pt x="9196" y="2736728"/>
                  </a:lnTo>
                  <a:lnTo>
                    <a:pt x="7975" y="2691606"/>
                  </a:lnTo>
                  <a:lnTo>
                    <a:pt x="6664" y="2645398"/>
                  </a:lnTo>
                  <a:lnTo>
                    <a:pt x="5422" y="2597293"/>
                  </a:lnTo>
                  <a:lnTo>
                    <a:pt x="4407" y="2546477"/>
                  </a:lnTo>
                  <a:lnTo>
                    <a:pt x="3777" y="2492137"/>
                  </a:lnTo>
                  <a:lnTo>
                    <a:pt x="3691" y="2433460"/>
                  </a:lnTo>
                  <a:lnTo>
                    <a:pt x="4308" y="2369633"/>
                  </a:lnTo>
                  <a:lnTo>
                    <a:pt x="5784" y="2299843"/>
                  </a:lnTo>
                  <a:lnTo>
                    <a:pt x="7244" y="2234025"/>
                  </a:lnTo>
                  <a:lnTo>
                    <a:pt x="8038" y="2172548"/>
                  </a:lnTo>
                  <a:lnTo>
                    <a:pt x="8271" y="2114856"/>
                  </a:lnTo>
                  <a:lnTo>
                    <a:pt x="8049" y="2060393"/>
                  </a:lnTo>
                  <a:lnTo>
                    <a:pt x="7477" y="2008603"/>
                  </a:lnTo>
                  <a:lnTo>
                    <a:pt x="6662" y="1958930"/>
                  </a:lnTo>
                  <a:lnTo>
                    <a:pt x="5708" y="1910817"/>
                  </a:lnTo>
                  <a:lnTo>
                    <a:pt x="4722" y="1863708"/>
                  </a:lnTo>
                  <a:lnTo>
                    <a:pt x="3809" y="1817048"/>
                  </a:lnTo>
                  <a:lnTo>
                    <a:pt x="3075" y="1770281"/>
                  </a:lnTo>
                  <a:lnTo>
                    <a:pt x="2625" y="1722849"/>
                  </a:lnTo>
                  <a:lnTo>
                    <a:pt x="2565" y="1674198"/>
                  </a:lnTo>
                  <a:lnTo>
                    <a:pt x="3002" y="1623770"/>
                  </a:lnTo>
                  <a:lnTo>
                    <a:pt x="4039" y="1571011"/>
                  </a:lnTo>
                  <a:lnTo>
                    <a:pt x="5784" y="1515364"/>
                  </a:lnTo>
                  <a:lnTo>
                    <a:pt x="8476" y="1446223"/>
                  </a:lnTo>
                  <a:lnTo>
                    <a:pt x="11129" y="1381700"/>
                  </a:lnTo>
                  <a:lnTo>
                    <a:pt x="13606" y="1321351"/>
                  </a:lnTo>
                  <a:lnTo>
                    <a:pt x="15775" y="1264736"/>
                  </a:lnTo>
                  <a:lnTo>
                    <a:pt x="17498" y="1211412"/>
                  </a:lnTo>
                  <a:lnTo>
                    <a:pt x="18643" y="1160938"/>
                  </a:lnTo>
                  <a:lnTo>
                    <a:pt x="19073" y="1112872"/>
                  </a:lnTo>
                  <a:lnTo>
                    <a:pt x="18653" y="1066771"/>
                  </a:lnTo>
                  <a:lnTo>
                    <a:pt x="17250" y="1022195"/>
                  </a:lnTo>
                  <a:lnTo>
                    <a:pt x="14727" y="978700"/>
                  </a:lnTo>
                  <a:lnTo>
                    <a:pt x="10950" y="935846"/>
                  </a:lnTo>
                  <a:lnTo>
                    <a:pt x="5784" y="893190"/>
                  </a:lnTo>
                  <a:lnTo>
                    <a:pt x="2616" y="861472"/>
                  </a:lnTo>
                  <a:lnTo>
                    <a:pt x="855" y="823743"/>
                  </a:lnTo>
                  <a:lnTo>
                    <a:pt x="307" y="780737"/>
                  </a:lnTo>
                  <a:lnTo>
                    <a:pt x="779" y="733186"/>
                  </a:lnTo>
                  <a:lnTo>
                    <a:pt x="2077" y="681823"/>
                  </a:lnTo>
                  <a:lnTo>
                    <a:pt x="4006" y="627379"/>
                  </a:lnTo>
                  <a:lnTo>
                    <a:pt x="6373" y="570589"/>
                  </a:lnTo>
                  <a:lnTo>
                    <a:pt x="8983" y="512184"/>
                  </a:lnTo>
                  <a:lnTo>
                    <a:pt x="11642" y="452897"/>
                  </a:lnTo>
                  <a:lnTo>
                    <a:pt x="14157" y="393461"/>
                  </a:lnTo>
                  <a:lnTo>
                    <a:pt x="16333" y="334608"/>
                  </a:lnTo>
                  <a:lnTo>
                    <a:pt x="17976" y="277071"/>
                  </a:lnTo>
                  <a:lnTo>
                    <a:pt x="18893" y="221583"/>
                  </a:lnTo>
                  <a:lnTo>
                    <a:pt x="18889" y="168875"/>
                  </a:lnTo>
                  <a:lnTo>
                    <a:pt x="17770" y="119681"/>
                  </a:lnTo>
                  <a:lnTo>
                    <a:pt x="15342" y="74734"/>
                  </a:lnTo>
                  <a:lnTo>
                    <a:pt x="11411" y="34765"/>
                  </a:lnTo>
                  <a:lnTo>
                    <a:pt x="5784" y="508"/>
                  </a:lnTo>
                  <a:lnTo>
                    <a:pt x="14801" y="0"/>
                  </a:lnTo>
                  <a:lnTo>
                    <a:pt x="18992" y="635"/>
                  </a:lnTo>
                  <a:lnTo>
                    <a:pt x="24072" y="508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641850" y="1180846"/>
            <a:ext cx="6913880" cy="1372235"/>
            <a:chOff x="4641850" y="1180846"/>
            <a:chExt cx="6913880" cy="1372235"/>
          </a:xfrm>
        </p:grpSpPr>
        <p:sp>
          <p:nvSpPr>
            <p:cNvPr id="7" name="object 7"/>
            <p:cNvSpPr/>
            <p:nvPr/>
          </p:nvSpPr>
          <p:spPr>
            <a:xfrm>
              <a:off x="4648200" y="1688592"/>
              <a:ext cx="6901180" cy="858519"/>
            </a:xfrm>
            <a:custGeom>
              <a:avLst/>
              <a:gdLst/>
              <a:ahLst/>
              <a:cxnLst/>
              <a:rect l="l" t="t" r="r" b="b"/>
              <a:pathLst>
                <a:path w="6901180" h="858519">
                  <a:moveTo>
                    <a:pt x="0" y="858012"/>
                  </a:moveTo>
                  <a:lnTo>
                    <a:pt x="6900672" y="858012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858012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92624" y="1187196"/>
              <a:ext cx="4831080" cy="1004569"/>
            </a:xfrm>
            <a:custGeom>
              <a:avLst/>
              <a:gdLst/>
              <a:ahLst/>
              <a:cxnLst/>
              <a:rect l="l" t="t" r="r" b="b"/>
              <a:pathLst>
                <a:path w="4831080" h="1004569">
                  <a:moveTo>
                    <a:pt x="4663694" y="0"/>
                  </a:moveTo>
                  <a:lnTo>
                    <a:pt x="167386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29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3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6" y="1004315"/>
                  </a:lnTo>
                  <a:lnTo>
                    <a:pt x="4663694" y="1004315"/>
                  </a:lnTo>
                  <a:lnTo>
                    <a:pt x="4708195" y="998337"/>
                  </a:lnTo>
                  <a:lnTo>
                    <a:pt x="4748181" y="981465"/>
                  </a:lnTo>
                  <a:lnTo>
                    <a:pt x="4782058" y="955293"/>
                  </a:lnTo>
                  <a:lnTo>
                    <a:pt x="4808229" y="921417"/>
                  </a:lnTo>
                  <a:lnTo>
                    <a:pt x="4825101" y="881431"/>
                  </a:lnTo>
                  <a:lnTo>
                    <a:pt x="4831080" y="836929"/>
                  </a:lnTo>
                  <a:lnTo>
                    <a:pt x="4831080" y="167386"/>
                  </a:lnTo>
                  <a:lnTo>
                    <a:pt x="4825101" y="122884"/>
                  </a:lnTo>
                  <a:lnTo>
                    <a:pt x="4808229" y="82898"/>
                  </a:lnTo>
                  <a:lnTo>
                    <a:pt x="4782058" y="49022"/>
                  </a:lnTo>
                  <a:lnTo>
                    <a:pt x="4748181" y="22850"/>
                  </a:lnTo>
                  <a:lnTo>
                    <a:pt x="4708195" y="5978"/>
                  </a:lnTo>
                  <a:lnTo>
                    <a:pt x="46636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92624" y="1187196"/>
              <a:ext cx="4831080" cy="1004569"/>
            </a:xfrm>
            <a:custGeom>
              <a:avLst/>
              <a:gdLst/>
              <a:ahLst/>
              <a:cxnLst/>
              <a:rect l="l" t="t" r="r" b="b"/>
              <a:pathLst>
                <a:path w="483108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6" y="0"/>
                  </a:lnTo>
                  <a:lnTo>
                    <a:pt x="4663694" y="0"/>
                  </a:lnTo>
                  <a:lnTo>
                    <a:pt x="4708195" y="5978"/>
                  </a:lnTo>
                  <a:lnTo>
                    <a:pt x="4748181" y="22850"/>
                  </a:lnTo>
                  <a:lnTo>
                    <a:pt x="4782058" y="49022"/>
                  </a:lnTo>
                  <a:lnTo>
                    <a:pt x="4808229" y="82898"/>
                  </a:lnTo>
                  <a:lnTo>
                    <a:pt x="4825101" y="122884"/>
                  </a:lnTo>
                  <a:lnTo>
                    <a:pt x="4831080" y="167386"/>
                  </a:lnTo>
                  <a:lnTo>
                    <a:pt x="4831080" y="836929"/>
                  </a:lnTo>
                  <a:lnTo>
                    <a:pt x="4825101" y="881431"/>
                  </a:lnTo>
                  <a:lnTo>
                    <a:pt x="4808229" y="921417"/>
                  </a:lnTo>
                  <a:lnTo>
                    <a:pt x="4782058" y="955293"/>
                  </a:lnTo>
                  <a:lnTo>
                    <a:pt x="4748181" y="981465"/>
                  </a:lnTo>
                  <a:lnTo>
                    <a:pt x="4708195" y="998337"/>
                  </a:lnTo>
                  <a:lnTo>
                    <a:pt x="4663694" y="1004315"/>
                  </a:lnTo>
                  <a:lnTo>
                    <a:pt x="167386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3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29"/>
                  </a:lnTo>
                  <a:lnTo>
                    <a:pt x="0" y="1673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12460" y="1366519"/>
            <a:ext cx="43160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3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r>
              <a:rPr sz="3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Layer:</a:t>
            </a:r>
            <a:r>
              <a:rPr sz="3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41850" y="2723133"/>
            <a:ext cx="6913880" cy="1372235"/>
            <a:chOff x="4641850" y="2723133"/>
            <a:chExt cx="6913880" cy="1372235"/>
          </a:xfrm>
        </p:grpSpPr>
        <p:sp>
          <p:nvSpPr>
            <p:cNvPr id="12" name="object 12"/>
            <p:cNvSpPr/>
            <p:nvPr/>
          </p:nvSpPr>
          <p:spPr>
            <a:xfrm>
              <a:off x="4648200" y="3230879"/>
              <a:ext cx="6901180" cy="858519"/>
            </a:xfrm>
            <a:custGeom>
              <a:avLst/>
              <a:gdLst/>
              <a:ahLst/>
              <a:cxnLst/>
              <a:rect l="l" t="t" r="r" b="b"/>
              <a:pathLst>
                <a:path w="6901180" h="858520">
                  <a:moveTo>
                    <a:pt x="0" y="858012"/>
                  </a:moveTo>
                  <a:lnTo>
                    <a:pt x="6900672" y="858012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858012"/>
                  </a:lnTo>
                  <a:close/>
                </a:path>
              </a:pathLst>
            </a:custGeom>
            <a:ln w="12699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2624" y="2729483"/>
              <a:ext cx="4831080" cy="1004569"/>
            </a:xfrm>
            <a:custGeom>
              <a:avLst/>
              <a:gdLst/>
              <a:ahLst/>
              <a:cxnLst/>
              <a:rect l="l" t="t" r="r" b="b"/>
              <a:pathLst>
                <a:path w="4831080" h="1004570">
                  <a:moveTo>
                    <a:pt x="4663694" y="0"/>
                  </a:moveTo>
                  <a:lnTo>
                    <a:pt x="167386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29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6" y="1004315"/>
                  </a:lnTo>
                  <a:lnTo>
                    <a:pt x="4663694" y="1004315"/>
                  </a:lnTo>
                  <a:lnTo>
                    <a:pt x="4708195" y="998337"/>
                  </a:lnTo>
                  <a:lnTo>
                    <a:pt x="4748181" y="981465"/>
                  </a:lnTo>
                  <a:lnTo>
                    <a:pt x="4782058" y="955294"/>
                  </a:lnTo>
                  <a:lnTo>
                    <a:pt x="4808229" y="921417"/>
                  </a:lnTo>
                  <a:lnTo>
                    <a:pt x="4825101" y="881431"/>
                  </a:lnTo>
                  <a:lnTo>
                    <a:pt x="4831080" y="836929"/>
                  </a:lnTo>
                  <a:lnTo>
                    <a:pt x="4831080" y="167386"/>
                  </a:lnTo>
                  <a:lnTo>
                    <a:pt x="4825101" y="122884"/>
                  </a:lnTo>
                  <a:lnTo>
                    <a:pt x="4808229" y="82898"/>
                  </a:lnTo>
                  <a:lnTo>
                    <a:pt x="4782058" y="49022"/>
                  </a:lnTo>
                  <a:lnTo>
                    <a:pt x="4748181" y="22850"/>
                  </a:lnTo>
                  <a:lnTo>
                    <a:pt x="4708195" y="5978"/>
                  </a:lnTo>
                  <a:lnTo>
                    <a:pt x="4663694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92624" y="2729483"/>
              <a:ext cx="4831080" cy="1004569"/>
            </a:xfrm>
            <a:custGeom>
              <a:avLst/>
              <a:gdLst/>
              <a:ahLst/>
              <a:cxnLst/>
              <a:rect l="l" t="t" r="r" b="b"/>
              <a:pathLst>
                <a:path w="483108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6" y="0"/>
                  </a:lnTo>
                  <a:lnTo>
                    <a:pt x="4663694" y="0"/>
                  </a:lnTo>
                  <a:lnTo>
                    <a:pt x="4708195" y="5978"/>
                  </a:lnTo>
                  <a:lnTo>
                    <a:pt x="4748181" y="22850"/>
                  </a:lnTo>
                  <a:lnTo>
                    <a:pt x="4782058" y="49022"/>
                  </a:lnTo>
                  <a:lnTo>
                    <a:pt x="4808229" y="82898"/>
                  </a:lnTo>
                  <a:lnTo>
                    <a:pt x="4825101" y="122884"/>
                  </a:lnTo>
                  <a:lnTo>
                    <a:pt x="4831080" y="167386"/>
                  </a:lnTo>
                  <a:lnTo>
                    <a:pt x="4831080" y="836929"/>
                  </a:lnTo>
                  <a:lnTo>
                    <a:pt x="4825101" y="881431"/>
                  </a:lnTo>
                  <a:lnTo>
                    <a:pt x="4808229" y="921417"/>
                  </a:lnTo>
                  <a:lnTo>
                    <a:pt x="4782058" y="955294"/>
                  </a:lnTo>
                  <a:lnTo>
                    <a:pt x="4748181" y="981465"/>
                  </a:lnTo>
                  <a:lnTo>
                    <a:pt x="4708195" y="998337"/>
                  </a:lnTo>
                  <a:lnTo>
                    <a:pt x="4663694" y="1004315"/>
                  </a:lnTo>
                  <a:lnTo>
                    <a:pt x="167386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29"/>
                  </a:lnTo>
                  <a:lnTo>
                    <a:pt x="0" y="16738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12460" y="2909061"/>
            <a:ext cx="14465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Framing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1850" y="4265421"/>
            <a:ext cx="6913880" cy="1372235"/>
            <a:chOff x="4641850" y="4265421"/>
            <a:chExt cx="6913880" cy="1372235"/>
          </a:xfrm>
        </p:grpSpPr>
        <p:sp>
          <p:nvSpPr>
            <p:cNvPr id="17" name="object 17"/>
            <p:cNvSpPr/>
            <p:nvPr/>
          </p:nvSpPr>
          <p:spPr>
            <a:xfrm>
              <a:off x="4648200" y="4773167"/>
              <a:ext cx="6901180" cy="858519"/>
            </a:xfrm>
            <a:custGeom>
              <a:avLst/>
              <a:gdLst/>
              <a:ahLst/>
              <a:cxnLst/>
              <a:rect l="l" t="t" r="r" b="b"/>
              <a:pathLst>
                <a:path w="6901180" h="858520">
                  <a:moveTo>
                    <a:pt x="0" y="858011"/>
                  </a:moveTo>
                  <a:lnTo>
                    <a:pt x="6900672" y="858011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858011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92624" y="4271771"/>
              <a:ext cx="4831080" cy="1004569"/>
            </a:xfrm>
            <a:custGeom>
              <a:avLst/>
              <a:gdLst/>
              <a:ahLst/>
              <a:cxnLst/>
              <a:rect l="l" t="t" r="r" b="b"/>
              <a:pathLst>
                <a:path w="4831080" h="1004570">
                  <a:moveTo>
                    <a:pt x="4663694" y="0"/>
                  </a:moveTo>
                  <a:lnTo>
                    <a:pt x="167386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5"/>
                  </a:lnTo>
                  <a:lnTo>
                    <a:pt x="0" y="836929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3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6" y="1004315"/>
                  </a:lnTo>
                  <a:lnTo>
                    <a:pt x="4663694" y="1004315"/>
                  </a:lnTo>
                  <a:lnTo>
                    <a:pt x="4708195" y="998337"/>
                  </a:lnTo>
                  <a:lnTo>
                    <a:pt x="4748181" y="981465"/>
                  </a:lnTo>
                  <a:lnTo>
                    <a:pt x="4782058" y="955294"/>
                  </a:lnTo>
                  <a:lnTo>
                    <a:pt x="4808229" y="921417"/>
                  </a:lnTo>
                  <a:lnTo>
                    <a:pt x="4825101" y="881431"/>
                  </a:lnTo>
                  <a:lnTo>
                    <a:pt x="4831080" y="836929"/>
                  </a:lnTo>
                  <a:lnTo>
                    <a:pt x="4831080" y="167385"/>
                  </a:lnTo>
                  <a:lnTo>
                    <a:pt x="4825101" y="122884"/>
                  </a:lnTo>
                  <a:lnTo>
                    <a:pt x="4808229" y="82898"/>
                  </a:lnTo>
                  <a:lnTo>
                    <a:pt x="4782058" y="49021"/>
                  </a:lnTo>
                  <a:lnTo>
                    <a:pt x="4748181" y="22850"/>
                  </a:lnTo>
                  <a:lnTo>
                    <a:pt x="4708195" y="5978"/>
                  </a:lnTo>
                  <a:lnTo>
                    <a:pt x="466369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92624" y="4271771"/>
              <a:ext cx="4831080" cy="1004569"/>
            </a:xfrm>
            <a:custGeom>
              <a:avLst/>
              <a:gdLst/>
              <a:ahLst/>
              <a:cxnLst/>
              <a:rect l="l" t="t" r="r" b="b"/>
              <a:pathLst>
                <a:path w="4831080" h="1004570">
                  <a:moveTo>
                    <a:pt x="0" y="167385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6" y="0"/>
                  </a:lnTo>
                  <a:lnTo>
                    <a:pt x="4663694" y="0"/>
                  </a:lnTo>
                  <a:lnTo>
                    <a:pt x="4708195" y="5978"/>
                  </a:lnTo>
                  <a:lnTo>
                    <a:pt x="4748181" y="22850"/>
                  </a:lnTo>
                  <a:lnTo>
                    <a:pt x="4782058" y="49021"/>
                  </a:lnTo>
                  <a:lnTo>
                    <a:pt x="4808229" y="82898"/>
                  </a:lnTo>
                  <a:lnTo>
                    <a:pt x="4825101" y="122884"/>
                  </a:lnTo>
                  <a:lnTo>
                    <a:pt x="4831080" y="167385"/>
                  </a:lnTo>
                  <a:lnTo>
                    <a:pt x="4831080" y="836929"/>
                  </a:lnTo>
                  <a:lnTo>
                    <a:pt x="4825101" y="881431"/>
                  </a:lnTo>
                  <a:lnTo>
                    <a:pt x="4808229" y="921417"/>
                  </a:lnTo>
                  <a:lnTo>
                    <a:pt x="4782058" y="955294"/>
                  </a:lnTo>
                  <a:lnTo>
                    <a:pt x="4748181" y="981465"/>
                  </a:lnTo>
                  <a:lnTo>
                    <a:pt x="4708195" y="998337"/>
                  </a:lnTo>
                  <a:lnTo>
                    <a:pt x="4663694" y="1004315"/>
                  </a:lnTo>
                  <a:lnTo>
                    <a:pt x="167386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3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29"/>
                  </a:lnTo>
                  <a:lnTo>
                    <a:pt x="0" y="1673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12460" y="4451426"/>
            <a:ext cx="156019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10" dirty="0">
                <a:solidFill>
                  <a:srgbClr val="FFFFFF"/>
                </a:solidFill>
                <a:latin typeface="Calibri"/>
                <a:cs typeface="Calibri"/>
              </a:rPr>
              <a:t>Switches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181" y="0"/>
            <a:ext cx="1671955" cy="1567815"/>
          </a:xfrm>
          <a:custGeom>
            <a:avLst/>
            <a:gdLst/>
            <a:ahLst/>
            <a:cxnLst/>
            <a:rect l="l" t="t" r="r" b="b"/>
            <a:pathLst>
              <a:path w="1671955" h="1567815">
                <a:moveTo>
                  <a:pt x="1671866" y="275475"/>
                </a:moveTo>
                <a:lnTo>
                  <a:pt x="1396403" y="0"/>
                </a:lnTo>
                <a:lnTo>
                  <a:pt x="0" y="0"/>
                </a:lnTo>
                <a:lnTo>
                  <a:pt x="0" y="1188339"/>
                </a:lnTo>
                <a:lnTo>
                  <a:pt x="379514" y="1567815"/>
                </a:lnTo>
                <a:lnTo>
                  <a:pt x="980821" y="966508"/>
                </a:lnTo>
                <a:lnTo>
                  <a:pt x="1215504" y="1201166"/>
                </a:lnTo>
                <a:lnTo>
                  <a:pt x="1671866" y="744855"/>
                </a:lnTo>
                <a:lnTo>
                  <a:pt x="1437157" y="510184"/>
                </a:lnTo>
                <a:lnTo>
                  <a:pt x="1671866" y="27547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0" y="0"/>
            <a:ext cx="2834640" cy="1485265"/>
          </a:xfrm>
          <a:custGeom>
            <a:avLst/>
            <a:gdLst/>
            <a:ahLst/>
            <a:cxnLst/>
            <a:rect l="l" t="t" r="r" b="b"/>
            <a:pathLst>
              <a:path w="2834640" h="1485265">
                <a:moveTo>
                  <a:pt x="2834640" y="0"/>
                </a:moveTo>
                <a:lnTo>
                  <a:pt x="0" y="0"/>
                </a:lnTo>
                <a:lnTo>
                  <a:pt x="789317" y="753224"/>
                </a:lnTo>
                <a:lnTo>
                  <a:pt x="543687" y="998855"/>
                </a:lnTo>
                <a:lnTo>
                  <a:pt x="1029843" y="1485011"/>
                </a:lnTo>
                <a:lnTo>
                  <a:pt x="1286852" y="1228001"/>
                </a:lnTo>
                <a:lnTo>
                  <a:pt x="1552321" y="1481328"/>
                </a:lnTo>
                <a:lnTo>
                  <a:pt x="2834640" y="257683"/>
                </a:lnTo>
                <a:lnTo>
                  <a:pt x="283464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397251" y="934211"/>
            <a:ext cx="7504430" cy="5923915"/>
            <a:chOff x="2397251" y="934211"/>
            <a:chExt cx="7504430" cy="5923915"/>
          </a:xfrm>
        </p:grpSpPr>
        <p:sp>
          <p:nvSpPr>
            <p:cNvPr id="5" name="object 5"/>
            <p:cNvSpPr/>
            <p:nvPr/>
          </p:nvSpPr>
          <p:spPr>
            <a:xfrm>
              <a:off x="7976616" y="6115811"/>
              <a:ext cx="1493520" cy="742315"/>
            </a:xfrm>
            <a:custGeom>
              <a:avLst/>
              <a:gdLst/>
              <a:ahLst/>
              <a:cxnLst/>
              <a:rect l="l" t="t" r="r" b="b"/>
              <a:pathLst>
                <a:path w="1493520" h="742315">
                  <a:moveTo>
                    <a:pt x="746759" y="0"/>
                  </a:moveTo>
                  <a:lnTo>
                    <a:pt x="0" y="742187"/>
                  </a:lnTo>
                  <a:lnTo>
                    <a:pt x="1493519" y="742187"/>
                  </a:lnTo>
                  <a:lnTo>
                    <a:pt x="746759" y="0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251" y="934211"/>
              <a:ext cx="7504176" cy="55702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04760" y="6452615"/>
              <a:ext cx="814069" cy="405765"/>
            </a:xfrm>
            <a:custGeom>
              <a:avLst/>
              <a:gdLst/>
              <a:ahLst/>
              <a:cxnLst/>
              <a:rect l="l" t="t" r="r" b="b"/>
              <a:pathLst>
                <a:path w="814070" h="405765">
                  <a:moveTo>
                    <a:pt x="406908" y="0"/>
                  </a:moveTo>
                  <a:lnTo>
                    <a:pt x="0" y="405384"/>
                  </a:lnTo>
                  <a:lnTo>
                    <a:pt x="813816" y="405384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25417" y="119329"/>
            <a:ext cx="4754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85" dirty="0">
                <a:latin typeface="Times New Roman"/>
                <a:cs typeface="Times New Roman"/>
              </a:rPr>
              <a:t>Layers</a:t>
            </a:r>
            <a:r>
              <a:rPr sz="4400" b="1" spc="-235" dirty="0">
                <a:latin typeface="Times New Roman"/>
                <a:cs typeface="Times New Roman"/>
              </a:rPr>
              <a:t> </a:t>
            </a:r>
            <a:r>
              <a:rPr sz="4400" b="1" spc="-55" dirty="0">
                <a:latin typeface="Times New Roman"/>
                <a:cs typeface="Times New Roman"/>
              </a:rPr>
              <a:t>in</a:t>
            </a:r>
            <a:r>
              <a:rPr sz="4400" b="1" spc="-215" dirty="0">
                <a:latin typeface="Times New Roman"/>
                <a:cs typeface="Times New Roman"/>
              </a:rPr>
              <a:t> </a:t>
            </a:r>
            <a:r>
              <a:rPr sz="4400" b="1" spc="-70" dirty="0">
                <a:latin typeface="Times New Roman"/>
                <a:cs typeface="Times New Roman"/>
              </a:rPr>
              <a:t>OSI</a:t>
            </a:r>
            <a:r>
              <a:rPr sz="4400" b="1" spc="-200" dirty="0">
                <a:latin typeface="Times New Roman"/>
                <a:cs typeface="Times New Roman"/>
              </a:rPr>
              <a:t> </a:t>
            </a:r>
            <a:r>
              <a:rPr sz="4400" b="1" spc="-55" dirty="0">
                <a:latin typeface="Times New Roman"/>
                <a:cs typeface="Times New Roman"/>
              </a:rPr>
              <a:t>model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93" y="2030835"/>
            <a:ext cx="9758079" cy="457483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254" y="365505"/>
            <a:ext cx="6346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imes New Roman"/>
                <a:cs typeface="Times New Roman"/>
              </a:rPr>
              <a:t>OSI</a:t>
            </a:r>
            <a:r>
              <a:rPr sz="4000" b="1" spc="-9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Model:</a:t>
            </a:r>
            <a:r>
              <a:rPr sz="4000" b="1" spc="-8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b="1" spc="-7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Link</a:t>
            </a:r>
            <a:r>
              <a:rPr sz="4000" b="1" spc="-9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Layer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152" y="1684509"/>
            <a:ext cx="10515600" cy="4398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651459"/>
            <a:ext cx="5386705" cy="648896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660"/>
              </a:spcBef>
            </a:pPr>
            <a:r>
              <a:rPr sz="4100" b="1" dirty="0">
                <a:latin typeface="Times New Roman"/>
                <a:cs typeface="Times New Roman"/>
              </a:rPr>
              <a:t>Data</a:t>
            </a:r>
            <a:r>
              <a:rPr sz="4100" b="1" spc="-20" dirty="0">
                <a:latin typeface="Times New Roman"/>
                <a:cs typeface="Times New Roman"/>
              </a:rPr>
              <a:t> </a:t>
            </a:r>
            <a:r>
              <a:rPr sz="4100" b="1" dirty="0">
                <a:latin typeface="Times New Roman"/>
                <a:cs typeface="Times New Roman"/>
              </a:rPr>
              <a:t>Link</a:t>
            </a:r>
            <a:r>
              <a:rPr sz="4100" b="1" spc="-15" dirty="0">
                <a:latin typeface="Times New Roman"/>
                <a:cs typeface="Times New Roman"/>
              </a:rPr>
              <a:t> </a:t>
            </a:r>
            <a:r>
              <a:rPr sz="4100" b="1" dirty="0">
                <a:latin typeface="Times New Roman"/>
                <a:cs typeface="Times New Roman"/>
              </a:rPr>
              <a:t>Layer</a:t>
            </a:r>
            <a:endParaRPr sz="4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02021" y="2424810"/>
            <a:ext cx="5967095" cy="33426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1379855" indent="-231140">
              <a:lnSpc>
                <a:spcPts val="2590"/>
              </a:lnSpc>
              <a:spcBef>
                <a:spcPts val="42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Times New Roman"/>
                <a:cs typeface="Times New Roman"/>
              </a:rPr>
              <a:t>	Algorithms,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services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reliable,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</a:t>
            </a:r>
            <a:endParaRPr sz="2400">
              <a:latin typeface="Times New Roman"/>
              <a:cs typeface="Times New Roman"/>
            </a:endParaRPr>
          </a:p>
          <a:p>
            <a:pPr marL="241300" marR="5080">
              <a:lnSpc>
                <a:spcPts val="2590"/>
              </a:lnSpc>
              <a:spcBef>
                <a:spcPts val="10"/>
              </a:spcBef>
            </a:pP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“wire-like”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channel</a:t>
            </a:r>
            <a:endParaRPr sz="2400">
              <a:latin typeface="Times New Roman"/>
              <a:cs typeface="Times New Roman"/>
            </a:endParaRPr>
          </a:p>
          <a:p>
            <a:pPr marL="254000" indent="-244475">
              <a:lnSpc>
                <a:spcPct val="100000"/>
              </a:lnSpc>
              <a:spcBef>
                <a:spcPts val="180"/>
              </a:spcBef>
              <a:buSzPct val="95833"/>
              <a:buFont typeface="Wingdings"/>
              <a:buChar char=""/>
              <a:tabLst>
                <a:tab pos="254000" algn="l"/>
              </a:tabLst>
            </a:pPr>
            <a:r>
              <a:rPr sz="2400" spc="-10" dirty="0">
                <a:latin typeface="Times New Roman"/>
                <a:cs typeface="Times New Roman"/>
              </a:rPr>
              <a:t>Trivial?</a:t>
            </a:r>
            <a:endParaRPr sz="2400">
              <a:latin typeface="Times New Roman"/>
              <a:cs typeface="Times New Roman"/>
            </a:endParaRPr>
          </a:p>
          <a:p>
            <a:pPr marL="711835" lvl="1" indent="-244475">
              <a:lnSpc>
                <a:spcPct val="100000"/>
              </a:lnSpc>
              <a:spcBef>
                <a:spcPts val="204"/>
              </a:spcBef>
              <a:buSzPct val="95833"/>
              <a:buFont typeface="Wingdings"/>
              <a:buChar char=""/>
              <a:tabLst>
                <a:tab pos="711835" algn="l"/>
              </a:tabLst>
            </a:pPr>
            <a:r>
              <a:rPr sz="2400" dirty="0">
                <a:latin typeface="Times New Roman"/>
                <a:cs typeface="Times New Roman"/>
              </a:rPr>
              <a:t>Errors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circuits</a:t>
            </a:r>
            <a:endParaRPr sz="2400">
              <a:latin typeface="Times New Roman"/>
              <a:cs typeface="Times New Roman"/>
            </a:endParaRPr>
          </a:p>
          <a:p>
            <a:pPr marL="711835" lvl="1" indent="-244475">
              <a:lnSpc>
                <a:spcPct val="100000"/>
              </a:lnSpc>
              <a:spcBef>
                <a:spcPts val="215"/>
              </a:spcBef>
              <a:buSzPct val="95833"/>
              <a:buFont typeface="Wingdings"/>
              <a:buChar char=""/>
              <a:tabLst>
                <a:tab pos="711835" algn="l"/>
              </a:tabLst>
            </a:pP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rate</a:t>
            </a:r>
            <a:endParaRPr sz="2400">
              <a:latin typeface="Times New Roman"/>
              <a:cs typeface="Times New Roman"/>
            </a:endParaRPr>
          </a:p>
          <a:p>
            <a:pPr marL="711835" lvl="1" indent="-244475">
              <a:lnSpc>
                <a:spcPct val="100000"/>
              </a:lnSpc>
              <a:spcBef>
                <a:spcPts val="215"/>
              </a:spcBef>
              <a:buSzPct val="95833"/>
              <a:buFont typeface="Wingdings"/>
              <a:buChar char=""/>
              <a:tabLst>
                <a:tab pos="711835" algn="l"/>
              </a:tabLst>
            </a:pPr>
            <a:r>
              <a:rPr sz="2400" dirty="0">
                <a:latin typeface="Times New Roman"/>
                <a:cs typeface="Times New Roman"/>
              </a:rPr>
              <a:t>Nonzero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711200" lvl="1" indent="-244475">
              <a:lnSpc>
                <a:spcPct val="100000"/>
              </a:lnSpc>
              <a:spcBef>
                <a:spcPts val="204"/>
              </a:spcBef>
              <a:buSzPct val="95833"/>
              <a:buFont typeface="Wingdings"/>
              <a:buChar char=""/>
              <a:tabLst>
                <a:tab pos="711200" algn="l"/>
              </a:tabLst>
            </a:pP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speed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636007" cy="6857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00F8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II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2990" y="713231"/>
            <a:ext cx="6049010" cy="2923540"/>
            <a:chOff x="6142990" y="713231"/>
            <a:chExt cx="6049010" cy="2923540"/>
          </a:xfrm>
        </p:grpSpPr>
        <p:sp>
          <p:nvSpPr>
            <p:cNvPr id="4" name="object 4"/>
            <p:cNvSpPr/>
            <p:nvPr/>
          </p:nvSpPr>
          <p:spPr>
            <a:xfrm>
              <a:off x="10918952" y="713231"/>
              <a:ext cx="1273175" cy="2533015"/>
            </a:xfrm>
            <a:custGeom>
              <a:avLst/>
              <a:gdLst/>
              <a:ahLst/>
              <a:cxnLst/>
              <a:rect l="l" t="t" r="r" b="b"/>
              <a:pathLst>
                <a:path w="1273175" h="2533015">
                  <a:moveTo>
                    <a:pt x="1273048" y="0"/>
                  </a:moveTo>
                  <a:lnTo>
                    <a:pt x="508" y="1266444"/>
                  </a:lnTo>
                  <a:lnTo>
                    <a:pt x="232321" y="1497164"/>
                  </a:lnTo>
                  <a:lnTo>
                    <a:pt x="0" y="1729486"/>
                  </a:lnTo>
                  <a:lnTo>
                    <a:pt x="456311" y="2185797"/>
                  </a:lnTo>
                  <a:lnTo>
                    <a:pt x="689762" y="1952409"/>
                  </a:lnTo>
                  <a:lnTo>
                    <a:pt x="1273048" y="2532888"/>
                  </a:lnTo>
                  <a:lnTo>
                    <a:pt x="1273048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9340" y="2071115"/>
              <a:ext cx="5196840" cy="1559560"/>
            </a:xfrm>
            <a:custGeom>
              <a:avLst/>
              <a:gdLst/>
              <a:ahLst/>
              <a:cxnLst/>
              <a:rect l="l" t="t" r="r" b="b"/>
              <a:pathLst>
                <a:path w="5196840" h="1559560">
                  <a:moveTo>
                    <a:pt x="0" y="1559052"/>
                  </a:moveTo>
                  <a:lnTo>
                    <a:pt x="5196840" y="1559052"/>
                  </a:lnTo>
                  <a:lnTo>
                    <a:pt x="5196840" y="0"/>
                  </a:lnTo>
                  <a:lnTo>
                    <a:pt x="0" y="0"/>
                  </a:lnTo>
                  <a:lnTo>
                    <a:pt x="0" y="1559052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5819" y="2071116"/>
            <a:ext cx="5196840" cy="1559560"/>
          </a:xfrm>
          <a:custGeom>
            <a:avLst/>
            <a:gdLst/>
            <a:ahLst/>
            <a:cxnLst/>
            <a:rect l="l" t="t" r="r" b="b"/>
            <a:pathLst>
              <a:path w="5196840" h="1559560">
                <a:moveTo>
                  <a:pt x="0" y="1559052"/>
                </a:moveTo>
                <a:lnTo>
                  <a:pt x="5196839" y="1559052"/>
                </a:lnTo>
                <a:lnTo>
                  <a:pt x="5196839" y="0"/>
                </a:lnTo>
                <a:lnTo>
                  <a:pt x="0" y="0"/>
                </a:lnTo>
                <a:lnTo>
                  <a:pt x="0" y="1559052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5819" y="2071116"/>
            <a:ext cx="5196840" cy="1559560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3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5819" y="3630167"/>
            <a:ext cx="5196840" cy="2301240"/>
          </a:xfrm>
          <a:prstGeom prst="rect">
            <a:avLst/>
          </a:prstGeom>
          <a:solidFill>
            <a:srgbClr val="F8D6CD">
              <a:alpha val="90194"/>
            </a:srgbClr>
          </a:solidFill>
          <a:ln w="12700">
            <a:solidFill>
              <a:srgbClr val="F8D6CD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0"/>
              </a:spcBef>
            </a:pPr>
            <a:endParaRPr sz="2000">
              <a:latin typeface="Times New Roman"/>
              <a:cs typeface="Times New Roman"/>
            </a:endParaRPr>
          </a:p>
          <a:p>
            <a:pPr marL="513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Unacknowledged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connectionless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</a:t>
            </a:r>
            <a:endParaRPr sz="2000">
              <a:latin typeface="Times New Roman"/>
              <a:cs typeface="Times New Roman"/>
            </a:endParaRPr>
          </a:p>
          <a:p>
            <a:pPr marL="5130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/>
                <a:cs typeface="Times New Roman"/>
              </a:rPr>
              <a:t>Acknowledged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connectionless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service</a:t>
            </a:r>
            <a:endParaRPr sz="2000">
              <a:latin typeface="Times New Roman"/>
              <a:cs typeface="Times New Roman"/>
            </a:endParaRPr>
          </a:p>
          <a:p>
            <a:pPr marL="513080" marR="1037590">
              <a:lnSpc>
                <a:spcPts val="2060"/>
              </a:lnSpc>
              <a:spcBef>
                <a:spcPts val="835"/>
              </a:spcBef>
            </a:pPr>
            <a:r>
              <a:rPr sz="2000" dirty="0">
                <a:latin typeface="Times New Roman"/>
                <a:cs typeface="Times New Roman"/>
              </a:rPr>
              <a:t>Acknowledged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connection-</a:t>
            </a:r>
            <a:r>
              <a:rPr sz="2000" spc="-10" dirty="0">
                <a:latin typeface="Times New Roman"/>
                <a:cs typeface="Times New Roman"/>
              </a:rPr>
              <a:t>oriented service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9340" y="2071116"/>
            <a:ext cx="5196840" cy="155956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762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sz="3000">
              <a:latin typeface="Times New Roman"/>
              <a:cs typeface="Times New Roman"/>
            </a:endParaRPr>
          </a:p>
          <a:p>
            <a:pPr marL="425450">
              <a:lnSpc>
                <a:spcPct val="100000"/>
              </a:lnSpc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physical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9340" y="3630167"/>
            <a:ext cx="5196840" cy="2301240"/>
          </a:xfrm>
          <a:prstGeom prst="rect">
            <a:avLst/>
          </a:prstGeom>
          <a:solidFill>
            <a:srgbClr val="E0E0E0">
              <a:alpha val="90194"/>
            </a:srgbClr>
          </a:solidFill>
          <a:ln w="12700">
            <a:solidFill>
              <a:srgbClr val="E0E0E0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0"/>
              </a:spcBef>
            </a:pPr>
            <a:endParaRPr sz="2000">
              <a:latin typeface="Times New Roman"/>
              <a:cs typeface="Times New Roman"/>
            </a:endParaRPr>
          </a:p>
          <a:p>
            <a:pPr marL="51435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Unreliable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transport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8952" y="417957"/>
            <a:ext cx="91459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80" dirty="0">
                <a:latin typeface="Times New Roman"/>
                <a:cs typeface="Times New Roman"/>
              </a:rPr>
              <a:t>Data</a:t>
            </a:r>
            <a:r>
              <a:rPr sz="4400" b="1" spc="-220" dirty="0">
                <a:latin typeface="Times New Roman"/>
                <a:cs typeface="Times New Roman"/>
              </a:rPr>
              <a:t> </a:t>
            </a:r>
            <a:r>
              <a:rPr sz="4400" b="1" spc="-95" dirty="0">
                <a:latin typeface="Times New Roman"/>
                <a:cs typeface="Times New Roman"/>
              </a:rPr>
              <a:t>Link</a:t>
            </a:r>
            <a:r>
              <a:rPr sz="4400" b="1" spc="-200" dirty="0">
                <a:latin typeface="Times New Roman"/>
                <a:cs typeface="Times New Roman"/>
              </a:rPr>
              <a:t> </a:t>
            </a:r>
            <a:r>
              <a:rPr sz="4400" b="1" spc="-75" dirty="0">
                <a:latin typeface="Times New Roman"/>
                <a:cs typeface="Times New Roman"/>
              </a:rPr>
              <a:t>Layer</a:t>
            </a:r>
            <a:r>
              <a:rPr sz="4400" b="1" spc="-310" dirty="0">
                <a:latin typeface="Times New Roman"/>
                <a:cs typeface="Times New Roman"/>
              </a:rPr>
              <a:t> </a:t>
            </a:r>
            <a:r>
              <a:rPr sz="4400" b="1" spc="-90" dirty="0">
                <a:latin typeface="Times New Roman"/>
                <a:cs typeface="Times New Roman"/>
              </a:rPr>
              <a:t>:</a:t>
            </a:r>
            <a:r>
              <a:rPr sz="4400" b="1" spc="-225" dirty="0">
                <a:latin typeface="Times New Roman"/>
                <a:cs typeface="Times New Roman"/>
              </a:rPr>
              <a:t> </a:t>
            </a:r>
            <a:r>
              <a:rPr sz="4400" b="1" spc="-55" dirty="0">
                <a:latin typeface="Times New Roman"/>
                <a:cs typeface="Times New Roman"/>
              </a:rPr>
              <a:t>Services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6125" y="2135686"/>
            <a:ext cx="3782060" cy="43402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95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Unacknowledged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59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Independent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frames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Error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low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Recovery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left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layers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20" dirty="0">
                <a:latin typeface="Times New Roman"/>
                <a:cs typeface="Times New Roman"/>
              </a:rPr>
              <a:t>LANs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75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4965" algn="l"/>
                <a:tab pos="469900" algn="l"/>
              </a:tabLst>
            </a:pPr>
            <a:r>
              <a:rPr sz="2400" spc="-10" dirty="0">
                <a:latin typeface="Times New Roman"/>
                <a:cs typeface="Times New Roman"/>
              </a:rPr>
              <a:t>Acknowledged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connection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280"/>
              </a:lnSpc>
              <a:spcBef>
                <a:spcPts val="24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Acknowledgement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each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spc="-10" dirty="0">
                <a:latin typeface="Times New Roman"/>
                <a:cs typeface="Times New Roman"/>
              </a:rPr>
              <a:t>packet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44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Resending</a:t>
            </a:r>
            <a:endParaRPr sz="2000" dirty="0">
              <a:latin typeface="Times New Roman"/>
              <a:cs typeface="Times New Roman"/>
            </a:endParaRPr>
          </a:p>
          <a:p>
            <a:pPr marL="756285" marR="387985" lvl="1" indent="-287020">
              <a:lnSpc>
                <a:spcPts val="2160"/>
              </a:lnSpc>
              <a:spcBef>
                <a:spcPts val="509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Ack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optimisation;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also </a:t>
            </a:r>
            <a:r>
              <a:rPr sz="2000" dirty="0">
                <a:latin typeface="Times New Roman"/>
                <a:cs typeface="Times New Roman"/>
              </a:rPr>
              <a:t>transport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handle errors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5643" y="2134586"/>
            <a:ext cx="3650615" cy="21767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Acknowledged</a:t>
            </a:r>
            <a:endParaRPr sz="24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0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exactly </a:t>
            </a:r>
            <a:r>
              <a:rPr sz="2000" spc="-20" dirty="0">
                <a:latin typeface="Times New Roman"/>
                <a:cs typeface="Times New Roman"/>
              </a:rPr>
              <a:t>once</a:t>
            </a:r>
            <a:endParaRPr sz="2000" dirty="0">
              <a:latin typeface="Times New Roman"/>
              <a:cs typeface="Times New Roman"/>
            </a:endParaRPr>
          </a:p>
          <a:p>
            <a:pPr marL="756285" marR="252095" lvl="1" indent="-28702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right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order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distinct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phases: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10296" y="4341367"/>
            <a:ext cx="227457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83870" indent="-2286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Char char="•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Establishment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connection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30"/>
              </a:spcBef>
              <a:buClr>
                <a:srgbClr val="3333CC"/>
              </a:buClr>
              <a:buChar char="•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Data </a:t>
            </a:r>
            <a:r>
              <a:rPr sz="1800" spc="-10" dirty="0">
                <a:latin typeface="Times New Roman"/>
                <a:cs typeface="Times New Roman"/>
              </a:rPr>
              <a:t>transfer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Clr>
                <a:srgbClr val="3333CC"/>
              </a:buClr>
              <a:buChar char="•"/>
              <a:tabLst>
                <a:tab pos="240665" algn="l"/>
              </a:tabLst>
            </a:pPr>
            <a:r>
              <a:rPr sz="1800" dirty="0">
                <a:latin typeface="Times New Roman"/>
                <a:cs typeface="Times New Roman"/>
              </a:rPr>
              <a:t>Release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connection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2851" y="1502409"/>
            <a:ext cx="740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1604" algn="l"/>
              </a:tabLst>
            </a:pPr>
            <a:r>
              <a:rPr sz="2400" dirty="0">
                <a:latin typeface="Times New Roman"/>
                <a:cs typeface="Times New Roman"/>
              </a:rPr>
              <a:t>Connectionless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</a:t>
            </a:r>
            <a:r>
              <a:rPr sz="2400" dirty="0">
                <a:latin typeface="Times New Roman"/>
                <a:cs typeface="Times New Roman"/>
              </a:rPr>
              <a:t>	Connection-oriented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lang="en-US" b="1" spc="-60" dirty="0">
                <a:latin typeface="Times New Roman"/>
                <a:cs typeface="Times New Roman"/>
              </a:rPr>
              <a:t> </a:t>
            </a:r>
            <a:r>
              <a:rPr lang="en-US" b="1" spc="-10" dirty="0">
                <a:latin typeface="Times New Roman"/>
                <a:cs typeface="Times New Roman"/>
              </a:rPr>
              <a:t>services</a:t>
            </a:r>
            <a:endParaRPr b="1" spc="-1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677" y="1749123"/>
            <a:ext cx="6276975" cy="399478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000" b="1" spc="-10" dirty="0">
                <a:latin typeface="Times New Roman"/>
                <a:cs typeface="Times New Roman"/>
              </a:rPr>
              <a:t>Functions:</a:t>
            </a:r>
            <a:endParaRPr sz="2000" dirty="0">
              <a:latin typeface="Times New Roman"/>
              <a:cs typeface="Times New Roman"/>
            </a:endParaRPr>
          </a:p>
          <a:p>
            <a:pPr marL="240029" marR="5715" indent="-227965">
              <a:lnSpc>
                <a:spcPts val="2380"/>
              </a:lnSpc>
              <a:spcBef>
                <a:spcPts val="530"/>
              </a:spcBef>
              <a:buSzPct val="95454"/>
              <a:buFont typeface="Wingdings"/>
              <a:buChar char=""/>
              <a:tabLst>
                <a:tab pos="241300" algn="l"/>
                <a:tab pos="1568450" algn="l"/>
                <a:tab pos="3053080" algn="l"/>
                <a:tab pos="3789045" algn="l"/>
                <a:tab pos="4399915" algn="l"/>
                <a:tab pos="4891405" algn="l"/>
                <a:tab pos="582676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Framing: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Conversion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from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raw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bit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stream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into 	</a:t>
            </a:r>
            <a:r>
              <a:rPr sz="2200" dirty="0">
                <a:latin typeface="Times New Roman"/>
                <a:cs typeface="Times New Roman"/>
              </a:rPr>
              <a:t>packets.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contains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header,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packets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trailer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510"/>
              </a:lnSpc>
              <a:spcBef>
                <a:spcPts val="190"/>
              </a:spcBef>
              <a:buSzPct val="95454"/>
              <a:buFont typeface="Wingdings"/>
              <a:buChar char=""/>
              <a:tabLst>
                <a:tab pos="240665" algn="l"/>
                <a:tab pos="1374775" algn="l"/>
                <a:tab pos="2954020" algn="l"/>
                <a:tab pos="4199255" algn="l"/>
                <a:tab pos="5176520" algn="l"/>
                <a:tab pos="553466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Physical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Addressing: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Providing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address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source</a:t>
            </a:r>
            <a:endParaRPr sz="2200" dirty="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device.</a:t>
            </a:r>
            <a:endParaRPr sz="2200" dirty="0">
              <a:latin typeface="Times New Roman"/>
              <a:cs typeface="Times New Roman"/>
            </a:endParaRPr>
          </a:p>
          <a:p>
            <a:pPr marL="240029" marR="5080" indent="-227965" algn="just">
              <a:lnSpc>
                <a:spcPts val="2380"/>
              </a:lnSpc>
              <a:spcBef>
                <a:spcPts val="53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Flow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Control: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Technique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constant 	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maintained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both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sides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no 	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corrupted.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ts val="2510"/>
              </a:lnSpc>
              <a:spcBef>
                <a:spcPts val="20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Error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Control: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achieved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endParaRPr sz="2200" dirty="0">
              <a:latin typeface="Times New Roman"/>
              <a:cs typeface="Times New Roman"/>
            </a:endParaRPr>
          </a:p>
          <a:p>
            <a:pPr marL="241300" algn="just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calculated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CRC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(Cyclic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Redundancy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Check)</a:t>
            </a:r>
            <a:endParaRPr sz="2200" dirty="0">
              <a:latin typeface="Times New Roman"/>
              <a:cs typeface="Times New Roman"/>
            </a:endParaRPr>
          </a:p>
          <a:p>
            <a:pPr marL="240029" marR="5715" indent="-227965" algn="just">
              <a:lnSpc>
                <a:spcPts val="2380"/>
              </a:lnSpc>
              <a:spcBef>
                <a:spcPts val="52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Access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Control: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determine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has 	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over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time.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130540" y="-1"/>
            <a:ext cx="4061460" cy="6858000"/>
            <a:chOff x="8130540" y="-1"/>
            <a:chExt cx="4061460" cy="6858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0540" y="-1"/>
              <a:ext cx="4061459" cy="68579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23168" y="713231"/>
              <a:ext cx="1069340" cy="2125980"/>
            </a:xfrm>
            <a:custGeom>
              <a:avLst/>
              <a:gdLst/>
              <a:ahLst/>
              <a:cxnLst/>
              <a:rect l="l" t="t" r="r" b="b"/>
              <a:pathLst>
                <a:path w="1069340" h="2125980">
                  <a:moveTo>
                    <a:pt x="1068832" y="0"/>
                  </a:moveTo>
                  <a:lnTo>
                    <a:pt x="508" y="1062990"/>
                  </a:lnTo>
                  <a:lnTo>
                    <a:pt x="195300" y="1256817"/>
                  </a:lnTo>
                  <a:lnTo>
                    <a:pt x="0" y="1452118"/>
                  </a:lnTo>
                  <a:lnTo>
                    <a:pt x="383159" y="1835277"/>
                  </a:lnTo>
                  <a:lnTo>
                    <a:pt x="579412" y="1639023"/>
                  </a:lnTo>
                  <a:lnTo>
                    <a:pt x="1068832" y="2125980"/>
                  </a:lnTo>
                  <a:lnTo>
                    <a:pt x="1068832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services: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Framing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172" y="1731871"/>
            <a:ext cx="7286625" cy="28435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90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5600" algn="l"/>
                <a:tab pos="1623695" algn="l"/>
              </a:tabLst>
            </a:pPr>
            <a:r>
              <a:rPr sz="2400" spc="-10" dirty="0">
                <a:latin typeface="Times New Roman"/>
                <a:cs typeface="Times New Roman"/>
              </a:rPr>
              <a:t>Framing:</a:t>
            </a:r>
            <a:r>
              <a:rPr sz="2400" dirty="0">
                <a:latin typeface="Times New Roman"/>
                <a:cs typeface="Times New Roman"/>
              </a:rPr>
              <a:t>	break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bits up 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frames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5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Methods: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gap: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unacceptable,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risky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Character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count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Starting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ending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stuffing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Starting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ending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flags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 </a:t>
            </a:r>
            <a:r>
              <a:rPr sz="2400" spc="-10" dirty="0">
                <a:latin typeface="Times New Roman"/>
                <a:cs typeface="Times New Roman"/>
              </a:rPr>
              <a:t>stuffing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coding </a:t>
            </a:r>
            <a:r>
              <a:rPr sz="2400" spc="-10" dirty="0">
                <a:latin typeface="Times New Roman"/>
                <a:cs typeface="Times New Roman"/>
              </a:rPr>
              <a:t>violations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Data</a:t>
            </a:r>
            <a:r>
              <a:rPr sz="3300" b="1" spc="-3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Link</a:t>
            </a:r>
            <a:r>
              <a:rPr sz="3300" b="1" spc="-1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Layer</a:t>
            </a:r>
            <a:r>
              <a:rPr sz="3300" b="1" spc="-8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services:</a:t>
            </a:r>
            <a:r>
              <a:rPr sz="3300" b="1" spc="-1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Physical</a:t>
            </a:r>
            <a:r>
              <a:rPr sz="3300" b="1" spc="-25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addressing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172" y="1768805"/>
            <a:ext cx="5815330" cy="383095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715" indent="-343535" algn="just">
              <a:lnSpc>
                <a:spcPct val="90000"/>
              </a:lnSpc>
              <a:spcBef>
                <a:spcPts val="390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 address,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link </a:t>
            </a:r>
            <a:r>
              <a:rPr sz="2400" dirty="0">
                <a:latin typeface="Times New Roman"/>
                <a:cs typeface="Times New Roman"/>
              </a:rPr>
              <a:t>address,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defined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WAN.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included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layer.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lowest-level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address.</a:t>
            </a:r>
            <a:endParaRPr sz="2400" dirty="0">
              <a:latin typeface="Times New Roman"/>
              <a:cs typeface="Times New Roman"/>
            </a:endParaRPr>
          </a:p>
          <a:p>
            <a:pPr marL="354330" marR="5080" indent="-342265" algn="just">
              <a:lnSpc>
                <a:spcPts val="2590"/>
              </a:lnSpc>
              <a:spcBef>
                <a:spcPts val="615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size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format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addresses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vary 	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 </a:t>
            </a:r>
            <a:r>
              <a:rPr sz="2400" spc="-10" dirty="0">
                <a:latin typeface="Times New Roman"/>
                <a:cs typeface="Times New Roman"/>
              </a:rPr>
              <a:t>network.</a:t>
            </a:r>
            <a:endParaRPr sz="2400" dirty="0">
              <a:latin typeface="Times New Roman"/>
              <a:cs typeface="Times New Roman"/>
            </a:endParaRPr>
          </a:p>
          <a:p>
            <a:pPr marL="354330" marR="5715" indent="-342265" algn="just">
              <a:lnSpc>
                <a:spcPct val="90000"/>
              </a:lnSpc>
              <a:spcBef>
                <a:spcPts val="540"/>
              </a:spcBef>
              <a:buClr>
                <a:srgbClr val="3333CC"/>
              </a:buClr>
              <a:buSzPct val="85416"/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example,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Ethernet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6-</a:t>
            </a:r>
            <a:r>
              <a:rPr sz="2400" dirty="0">
                <a:latin typeface="Times New Roman"/>
                <a:cs typeface="Times New Roman"/>
              </a:rPr>
              <a:t>byte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(48-</a:t>
            </a:r>
            <a:r>
              <a:rPr sz="2400" spc="-20" dirty="0">
                <a:latin typeface="Times New Roman"/>
                <a:cs typeface="Times New Roman"/>
              </a:rPr>
              <a:t>bit) 	</a:t>
            </a:r>
            <a:r>
              <a:rPr sz="2400" dirty="0">
                <a:latin typeface="Times New Roman"/>
                <a:cs typeface="Times New Roman"/>
              </a:rPr>
              <a:t>12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hexadecimal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 	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imprinted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interface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card 	</a:t>
            </a:r>
            <a:r>
              <a:rPr sz="2400" spc="-10" dirty="0">
                <a:latin typeface="Times New Roman"/>
                <a:cs typeface="Times New Roman"/>
              </a:rPr>
              <a:t>(NIC).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0671" y="1967483"/>
            <a:ext cx="5251618" cy="287332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services: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Physical</a:t>
            </a:r>
            <a:r>
              <a:rPr b="1" spc="-19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03113"/>
            <a:ext cx="4686935" cy="283400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000" b="1" spc="-10" dirty="0">
                <a:latin typeface="Times New Roman"/>
                <a:cs typeface="Times New Roman"/>
              </a:rPr>
              <a:t>Example: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31140" algn="just">
              <a:lnSpc>
                <a:spcPct val="90000"/>
              </a:lnSpc>
              <a:spcBef>
                <a:spcPts val="98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Times New Roman"/>
                <a:cs typeface="Times New Roman"/>
              </a:rPr>
              <a:t>	A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10 </a:t>
            </a:r>
            <a:r>
              <a:rPr sz="2400" dirty="0">
                <a:latin typeface="Times New Roman"/>
                <a:cs typeface="Times New Roman"/>
              </a:rPr>
              <a:t>sends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 87. 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link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physical </a:t>
            </a:r>
            <a:r>
              <a:rPr sz="2400" dirty="0">
                <a:latin typeface="Times New Roman"/>
                <a:cs typeface="Times New Roman"/>
              </a:rPr>
              <a:t>addresses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header.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trailer </a:t>
            </a:r>
            <a:r>
              <a:rPr sz="2400" dirty="0">
                <a:latin typeface="Times New Roman"/>
                <a:cs typeface="Times New Roman"/>
              </a:rPr>
              <a:t>usually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extra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bits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needed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detection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8240" y="2257044"/>
            <a:ext cx="7098792" cy="355304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Layer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services: Error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089" y="1746478"/>
            <a:ext cx="5279390" cy="414210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40"/>
              </a:spcBef>
              <a:buClr>
                <a:srgbClr val="3333CC"/>
              </a:buClr>
              <a:buSzPct val="85000"/>
              <a:buFont typeface="Wingdings"/>
              <a:buChar char="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Error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endParaRPr sz="20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160"/>
              </a:lnSpc>
              <a:spcBef>
                <a:spcPts val="51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correctly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received?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10"/>
              </a:spcBef>
              <a:buClr>
                <a:srgbClr val="3333CC"/>
              </a:buClr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ACK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receiver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recognized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receiver?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40"/>
              </a:spcBef>
              <a:buClr>
                <a:srgbClr val="3333CC"/>
              </a:buClr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resend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</a:t>
            </a:r>
            <a:endParaRPr sz="2000" dirty="0">
              <a:latin typeface="Times New Roman"/>
              <a:cs typeface="Times New Roman"/>
            </a:endParaRPr>
          </a:p>
          <a:p>
            <a:pPr marL="756285" marR="391795" lvl="1" indent="-287020">
              <a:lnSpc>
                <a:spcPts val="2160"/>
              </a:lnSpc>
              <a:spcBef>
                <a:spcPts val="51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duplicates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order </a:t>
            </a:r>
            <a:r>
              <a:rPr sz="2000" dirty="0">
                <a:latin typeface="Times New Roman"/>
                <a:cs typeface="Times New Roman"/>
              </a:rPr>
              <a:t>received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packets?</a:t>
            </a:r>
            <a:endParaRPr sz="2000" dirty="0">
              <a:latin typeface="Times New Roman"/>
              <a:cs typeface="Times New Roman"/>
            </a:endParaRPr>
          </a:p>
          <a:p>
            <a:pPr marL="1155700" marR="302895" lvl="2" indent="-228600">
              <a:lnSpc>
                <a:spcPts val="2160"/>
              </a:lnSpc>
              <a:spcBef>
                <a:spcPts val="480"/>
              </a:spcBef>
              <a:buClr>
                <a:srgbClr val="3333CC"/>
              </a:buClr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ACK </a:t>
            </a:r>
            <a:r>
              <a:rPr sz="2000" spc="-10" dirty="0">
                <a:latin typeface="Times New Roman"/>
                <a:cs typeface="Times New Roman"/>
              </a:rPr>
              <a:t>packet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1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Optimisation: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NACK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</a:t>
            </a:r>
            <a:endParaRPr sz="2000" dirty="0">
              <a:latin typeface="Times New Roman"/>
              <a:cs typeface="Times New Roman"/>
            </a:endParaRPr>
          </a:p>
          <a:p>
            <a:pPr marL="1155700" marR="327025" lvl="2" indent="-228600">
              <a:lnSpc>
                <a:spcPts val="2160"/>
              </a:lnSpc>
              <a:spcBef>
                <a:spcPts val="509"/>
              </a:spcBef>
              <a:buClr>
                <a:srgbClr val="3333CC"/>
              </a:buClr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Inform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something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strange happened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9424" y="2316066"/>
            <a:ext cx="5940343" cy="342279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services: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Flow </a:t>
            </a:r>
            <a:r>
              <a:rPr b="1" spc="-10" dirty="0">
                <a:latin typeface="Times New Roman"/>
                <a:cs typeface="Times New Roman"/>
              </a:rPr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2172" y="1746478"/>
            <a:ext cx="6259830" cy="36239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340"/>
              </a:spcBef>
              <a:buClr>
                <a:srgbClr val="3333CC"/>
              </a:buClr>
              <a:buSzPct val="85000"/>
              <a:buFont typeface="Wingdings"/>
              <a:buChar char="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  <a:p>
            <a:pPr marL="755015" marR="310515" lvl="1" indent="-285750" algn="just">
              <a:lnSpc>
                <a:spcPts val="2160"/>
              </a:lnSpc>
              <a:spcBef>
                <a:spcPts val="51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data</a:t>
            </a:r>
            <a:r>
              <a:rPr sz="2000" spc="-20" dirty="0">
                <a:latin typeface="Times New Roman"/>
                <a:cs typeface="Times New Roman"/>
              </a:rPr>
              <a:t> from 	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receiver.</a:t>
            </a:r>
            <a:endParaRPr sz="2000">
              <a:latin typeface="Times New Roman"/>
              <a:cs typeface="Times New Roman"/>
            </a:endParaRPr>
          </a:p>
          <a:p>
            <a:pPr marL="755015" marR="91440" lvl="1" indent="-285750" algn="just">
              <a:lnSpc>
                <a:spcPts val="2160"/>
              </a:lnSpc>
              <a:spcBef>
                <a:spcPts val="48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permission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	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just 	</a:t>
            </a:r>
            <a:r>
              <a:rPr sz="2000" dirty="0">
                <a:latin typeface="Times New Roman"/>
                <a:cs typeface="Times New Roman"/>
              </a:rPr>
              <a:t>communicate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another.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160"/>
              </a:lnSpc>
              <a:spcBef>
                <a:spcPts val="484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restricts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coordinates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amount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acknowledgment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receiver.</a:t>
            </a:r>
            <a:endParaRPr sz="2000">
              <a:latin typeface="Times New Roman"/>
              <a:cs typeface="Times New Roman"/>
            </a:endParaRPr>
          </a:p>
          <a:p>
            <a:pPr marL="756285" marR="310515" lvl="1" indent="-287020">
              <a:lnSpc>
                <a:spcPct val="90100"/>
              </a:lnSpc>
              <a:spcBef>
                <a:spcPts val="44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about </a:t>
            </a:r>
            <a:r>
              <a:rPr sz="2000" dirty="0">
                <a:latin typeface="Times New Roman"/>
                <a:cs typeface="Times New Roman"/>
              </a:rPr>
              <a:t>stopping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temporary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reaches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limit.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3169" y="2367453"/>
            <a:ext cx="4296995" cy="3379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Link Layer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services:</a:t>
            </a:r>
            <a:r>
              <a:rPr b="1" spc="-1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Access</a:t>
            </a:r>
            <a:r>
              <a:rPr b="1" spc="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9677" y="1776730"/>
            <a:ext cx="6175375" cy="42030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9085" marR="5080" indent="-287020">
              <a:lnSpc>
                <a:spcPts val="2160"/>
              </a:lnSpc>
              <a:spcBef>
                <a:spcPts val="375"/>
              </a:spcBef>
              <a:buClr>
                <a:srgbClr val="3333CC"/>
              </a:buClr>
              <a:buChar char="o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link.</a:t>
            </a:r>
            <a:endParaRPr sz="2000">
              <a:latin typeface="Times New Roman"/>
              <a:cs typeface="Times New Roman"/>
            </a:endParaRPr>
          </a:p>
          <a:p>
            <a:pPr marL="299085" marR="219710" indent="-287020">
              <a:lnSpc>
                <a:spcPts val="2160"/>
              </a:lnSpc>
              <a:spcBef>
                <a:spcPts val="480"/>
              </a:spcBef>
              <a:buClr>
                <a:srgbClr val="3333CC"/>
              </a:buClr>
              <a:buChar char="o"/>
              <a:tabLst>
                <a:tab pos="299085" algn="l"/>
              </a:tabLst>
            </a:pPr>
            <a:r>
              <a:rPr sz="2000" spc="-35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occurrence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collision </a:t>
            </a:r>
            <a:r>
              <a:rPr sz="2000" dirty="0">
                <a:latin typeface="Times New Roman"/>
                <a:cs typeface="Times New Roman"/>
              </a:rPr>
              <a:t>occurs,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280"/>
              </a:lnSpc>
              <a:spcBef>
                <a:spcPts val="210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link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simultaneously.</a:t>
            </a:r>
            <a:endParaRPr sz="2000">
              <a:latin typeface="Times New Roman"/>
              <a:cs typeface="Times New Roman"/>
            </a:endParaRPr>
          </a:p>
          <a:p>
            <a:pPr marL="756285" marR="265430" lvl="1" indent="-287020">
              <a:lnSpc>
                <a:spcPts val="2160"/>
              </a:lnSpc>
              <a:spcBef>
                <a:spcPts val="515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situation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among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packets.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280"/>
              </a:lnSpc>
              <a:spcBef>
                <a:spcPts val="204"/>
              </a:spcBef>
              <a:buClr>
                <a:srgbClr val="3333CC"/>
              </a:buClr>
              <a:buChar char="o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get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spc="-10" dirty="0">
                <a:latin typeface="Times New Roman"/>
                <a:cs typeface="Times New Roman"/>
              </a:rPr>
              <a:t>corrupt</a:t>
            </a:r>
            <a:endParaRPr sz="2000">
              <a:latin typeface="Times New Roman"/>
              <a:cs typeface="Times New Roman"/>
            </a:endParaRPr>
          </a:p>
          <a:p>
            <a:pPr marL="299085" marR="54610" indent="-287020">
              <a:lnSpc>
                <a:spcPts val="2160"/>
              </a:lnSpc>
              <a:spcBef>
                <a:spcPts val="520"/>
              </a:spcBef>
              <a:buClr>
                <a:srgbClr val="3333CC"/>
              </a:buClr>
              <a:buChar char="o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collision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or </a:t>
            </a:r>
            <a:r>
              <a:rPr sz="2000" dirty="0">
                <a:latin typeface="Times New Roman"/>
                <a:cs typeface="Times New Roman"/>
              </a:rPr>
              <a:t>deal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smooth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traffic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4411" y="2203206"/>
            <a:ext cx="4250758" cy="36994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416" y="1442719"/>
            <a:ext cx="10500995" cy="23615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715" indent="-228600" algn="just">
              <a:lnSpc>
                <a:spcPts val="2380"/>
              </a:lnSpc>
              <a:spcBef>
                <a:spcPts val="3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multiport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bridge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buffer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design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25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boost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efficiency(a </a:t>
            </a:r>
            <a:r>
              <a:rPr sz="2200" dirty="0">
                <a:latin typeface="Times New Roman"/>
                <a:cs typeface="Times New Roman"/>
              </a:rPr>
              <a:t>large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traffic)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performance.</a:t>
            </a:r>
            <a:endParaRPr sz="22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0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layer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device.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380"/>
              </a:lnSpc>
              <a:spcBef>
                <a:spcPts val="5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5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checking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forwarding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data,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makes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very </a:t>
            </a:r>
            <a:r>
              <a:rPr sz="2200" dirty="0">
                <a:latin typeface="Times New Roman"/>
                <a:cs typeface="Times New Roman"/>
              </a:rPr>
              <a:t>efficient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forward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packets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5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errors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forward</a:t>
            </a:r>
            <a:r>
              <a:rPr sz="2200" spc="6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50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packets </a:t>
            </a:r>
            <a:r>
              <a:rPr sz="2200" dirty="0">
                <a:latin typeface="Times New Roman"/>
                <a:cs typeface="Times New Roman"/>
              </a:rPr>
              <a:t>selectively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correct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only.</a:t>
            </a:r>
            <a:endParaRPr sz="22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0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divides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collision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domain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hosts,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broadcast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domain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remains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same.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4144594"/>
            <a:ext cx="11904980" cy="2474595"/>
            <a:chOff x="0" y="4144594"/>
            <a:chExt cx="11904980" cy="2474595"/>
          </a:xfrm>
        </p:grpSpPr>
        <p:sp>
          <p:nvSpPr>
            <p:cNvPr id="5" name="object 5"/>
            <p:cNvSpPr/>
            <p:nvPr/>
          </p:nvSpPr>
          <p:spPr>
            <a:xfrm>
              <a:off x="0" y="4600955"/>
              <a:ext cx="1014094" cy="2018030"/>
            </a:xfrm>
            <a:custGeom>
              <a:avLst/>
              <a:gdLst/>
              <a:ahLst/>
              <a:cxnLst/>
              <a:rect l="l" t="t" r="r" b="b"/>
              <a:pathLst>
                <a:path w="1014094" h="2018029">
                  <a:moveTo>
                    <a:pt x="1014056" y="1370545"/>
                  </a:moveTo>
                  <a:lnTo>
                    <a:pt x="832510" y="1189012"/>
                  </a:lnTo>
                  <a:lnTo>
                    <a:pt x="1013460" y="1008888"/>
                  </a:lnTo>
                  <a:lnTo>
                    <a:pt x="0" y="0"/>
                  </a:lnTo>
                  <a:lnTo>
                    <a:pt x="0" y="2017776"/>
                  </a:lnTo>
                  <a:lnTo>
                    <a:pt x="488391" y="1531594"/>
                  </a:lnTo>
                  <a:lnTo>
                    <a:pt x="670699" y="1713890"/>
                  </a:lnTo>
                  <a:lnTo>
                    <a:pt x="1014056" y="1370545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0693" y="4144594"/>
              <a:ext cx="10874090" cy="246920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Switch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Functions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301242" y="3320287"/>
            <a:ext cx="2790825" cy="309880"/>
          </a:xfrm>
          <a:custGeom>
            <a:avLst/>
            <a:gdLst/>
            <a:ahLst/>
            <a:cxnLst/>
            <a:rect l="l" t="t" r="r" b="b"/>
            <a:pathLst>
              <a:path w="2790825" h="309879">
                <a:moveTo>
                  <a:pt x="2790444" y="0"/>
                </a:moveTo>
                <a:lnTo>
                  <a:pt x="2790444" y="0"/>
                </a:lnTo>
                <a:lnTo>
                  <a:pt x="0" y="0"/>
                </a:lnTo>
                <a:lnTo>
                  <a:pt x="0" y="309372"/>
                </a:lnTo>
                <a:lnTo>
                  <a:pt x="2790444" y="309372"/>
                </a:lnTo>
                <a:lnTo>
                  <a:pt x="279044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9891" y="1409192"/>
            <a:ext cx="10081260" cy="46882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40029" marR="5080" indent="-227965">
              <a:lnSpc>
                <a:spcPct val="80000"/>
              </a:lnSpc>
              <a:spcBef>
                <a:spcPts val="62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performs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functions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(physical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address)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	</a:t>
            </a:r>
            <a:r>
              <a:rPr sz="2200" spc="-10" dirty="0">
                <a:latin typeface="Times New Roman"/>
                <a:cs typeface="Times New Roman"/>
              </a:rPr>
              <a:t>device.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Font typeface="Wingdings"/>
              <a:buChar char=""/>
            </a:pPr>
            <a:endParaRPr sz="2200" dirty="0">
              <a:latin typeface="Times New Roman"/>
              <a:cs typeface="Times New Roman"/>
            </a:endParaRPr>
          </a:p>
          <a:p>
            <a:pPr marL="240029" marR="6985" indent="-227965">
              <a:lnSpc>
                <a:spcPct val="80000"/>
              </a:lnSpc>
              <a:spcBef>
                <a:spcPts val="5"/>
              </a:spcBef>
              <a:buSzPct val="95454"/>
              <a:buFont typeface="Wingdings"/>
              <a:buChar char=""/>
              <a:tabLst>
                <a:tab pos="241300" algn="l"/>
                <a:tab pos="744220" algn="l"/>
                <a:tab pos="1481455" algn="l"/>
                <a:tab pos="1859914" algn="l"/>
                <a:tab pos="2362835" algn="l"/>
                <a:tab pos="3253104" algn="l"/>
                <a:tab pos="4050029" algn="l"/>
                <a:tab pos="4824095" algn="l"/>
                <a:tab pos="5435600" algn="l"/>
                <a:tab pos="6357620" algn="l"/>
                <a:tab pos="6750684" algn="l"/>
                <a:tab pos="7548245" algn="l"/>
                <a:tab pos="8688070" algn="l"/>
              </a:tabLst>
            </a:pPr>
            <a:r>
              <a:rPr sz="2200" spc="-25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entry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switch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MAC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table,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also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known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CAM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(Content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Addressable 	</a:t>
            </a:r>
            <a:r>
              <a:rPr sz="2200" dirty="0">
                <a:latin typeface="Times New Roman"/>
                <a:cs typeface="Times New Roman"/>
              </a:rPr>
              <a:t>Memory),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remain up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300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seconds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table has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entries: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2200" dirty="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ts val="2630"/>
              </a:lnSpc>
              <a:spcBef>
                <a:spcPts val="5"/>
              </a:spcBef>
              <a:buSzPct val="95454"/>
              <a:buFont typeface="Wingdings"/>
              <a:buChar char=""/>
              <a:tabLst>
                <a:tab pos="697865" algn="l"/>
              </a:tabLst>
            </a:pPr>
            <a:r>
              <a:rPr sz="2200" b="1" dirty="0">
                <a:latin typeface="Times New Roman"/>
                <a:cs typeface="Times New Roman"/>
              </a:rPr>
              <a:t>Port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Number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attached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MAC.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ts val="2610"/>
              </a:lnSpc>
              <a:buSzPct val="95454"/>
              <a:buFont typeface="Wingdings"/>
              <a:buChar char=""/>
              <a:tabLst>
                <a:tab pos="697865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MAC</a:t>
            </a:r>
            <a:r>
              <a:rPr sz="2200" b="1" spc="-1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Address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attached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port.</a:t>
            </a:r>
            <a:endParaRPr sz="2200" dirty="0">
              <a:latin typeface="Times New Roman"/>
              <a:cs typeface="Times New Roman"/>
            </a:endParaRPr>
          </a:p>
          <a:p>
            <a:pPr marL="698500" marR="6350" lvl="1" indent="-228600" algn="just">
              <a:lnSpc>
                <a:spcPct val="80000"/>
              </a:lnSpc>
              <a:spcBef>
                <a:spcPts val="509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Type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tells us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 how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switch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 of the host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i.e </a:t>
            </a: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dynamic.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entry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added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manually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otherwise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it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dynamic.</a:t>
            </a:r>
            <a:endParaRPr sz="2200" dirty="0">
              <a:latin typeface="Times New Roman"/>
              <a:cs typeface="Times New Roman"/>
            </a:endParaRPr>
          </a:p>
          <a:p>
            <a:pPr marL="698500" marR="6350" lvl="1" indent="-228600" algn="just">
              <a:lnSpc>
                <a:spcPct val="80000"/>
              </a:lnSpc>
              <a:spcBef>
                <a:spcPts val="500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dirty="0">
                <a:latin typeface="Times New Roman"/>
                <a:cs typeface="Times New Roman"/>
              </a:rPr>
              <a:t>VLAN</a:t>
            </a:r>
            <a:r>
              <a:rPr sz="2200" b="1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tells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VLAN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host,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attached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port, belongs.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Switch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9891" y="1442719"/>
            <a:ext cx="10082530" cy="50311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965" algn="just">
              <a:lnSpc>
                <a:spcPts val="2380"/>
              </a:lnSpc>
              <a:spcBef>
                <a:spcPts val="3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Learning</a:t>
            </a:r>
            <a:r>
              <a:rPr sz="2200" b="1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on 	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Forwarding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does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forwarding:</a:t>
            </a:r>
            <a:endParaRPr sz="2200">
              <a:latin typeface="Times New Roman"/>
              <a:cs typeface="Times New Roman"/>
            </a:endParaRPr>
          </a:p>
          <a:p>
            <a:pPr marL="925830" marR="8890" lvl="1" indent="-455930" algn="just">
              <a:lnSpc>
                <a:spcPts val="2380"/>
              </a:lnSpc>
              <a:spcBef>
                <a:spcPts val="535"/>
              </a:spcBef>
              <a:buAutoNum type="alphaLcPeriod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Unicast: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unicasts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 	</a:t>
            </a:r>
            <a:r>
              <a:rPr sz="2200" dirty="0">
                <a:latin typeface="Times New Roman"/>
                <a:cs typeface="Times New Roman"/>
              </a:rPr>
              <a:t>entry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table.</a:t>
            </a:r>
            <a:endParaRPr sz="2200">
              <a:latin typeface="Times New Roman"/>
              <a:cs typeface="Times New Roman"/>
            </a:endParaRPr>
          </a:p>
          <a:p>
            <a:pPr marL="925830" marR="6350" lvl="1" indent="-455930" algn="just">
              <a:lnSpc>
                <a:spcPct val="90100"/>
              </a:lnSpc>
              <a:spcBef>
                <a:spcPts val="464"/>
              </a:spcBef>
              <a:buAutoNum type="alphaLcPeriod"/>
              <a:tabLst>
                <a:tab pos="927100" algn="l"/>
              </a:tabLst>
            </a:pPr>
            <a:r>
              <a:rPr sz="2200" dirty="0">
                <a:latin typeface="Times New Roman"/>
                <a:cs typeface="Times New Roman"/>
              </a:rPr>
              <a:t>Unknown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Unicast: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unicast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	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entry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table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broadcasts 	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 through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ports.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flooding.</a:t>
            </a:r>
            <a:endParaRPr sz="2200">
              <a:latin typeface="Times New Roman"/>
              <a:cs typeface="Times New Roman"/>
            </a:endParaRPr>
          </a:p>
          <a:p>
            <a:pPr marL="240665" indent="-227965" algn="just">
              <a:lnSpc>
                <a:spcPts val="2510"/>
              </a:lnSpc>
              <a:spcBef>
                <a:spcPts val="225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Filtering</a:t>
            </a:r>
            <a:r>
              <a:rPr sz="2200" b="1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–</a:t>
            </a:r>
            <a:r>
              <a:rPr sz="2200" b="1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forwarded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2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241300" algn="just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switch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already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table.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2200">
              <a:latin typeface="Times New Roman"/>
              <a:cs typeface="Times New Roman"/>
            </a:endParaRPr>
          </a:p>
          <a:p>
            <a:pPr marL="240029" marR="6350" indent="-227965" algn="just">
              <a:lnSpc>
                <a:spcPts val="2380"/>
              </a:lnSpc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Loop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avoidance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–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redundancy,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switches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connected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through 	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links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layer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loops.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loops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avoided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switching 	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STP(Spanning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tree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protocol)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protocol.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50807" y="423418"/>
            <a:ext cx="3119755" cy="4942840"/>
            <a:chOff x="8750807" y="423418"/>
            <a:chExt cx="3119755" cy="4942840"/>
          </a:xfrm>
        </p:grpSpPr>
        <p:sp>
          <p:nvSpPr>
            <p:cNvPr id="3" name="object 3"/>
            <p:cNvSpPr/>
            <p:nvPr/>
          </p:nvSpPr>
          <p:spPr>
            <a:xfrm>
              <a:off x="9507473" y="486918"/>
              <a:ext cx="2042160" cy="2041525"/>
            </a:xfrm>
            <a:custGeom>
              <a:avLst/>
              <a:gdLst/>
              <a:ahLst/>
              <a:cxnLst/>
              <a:rect l="l" t="t" r="r" b="b"/>
              <a:pathLst>
                <a:path w="2042159" h="2041525">
                  <a:moveTo>
                    <a:pt x="0" y="0"/>
                  </a:moveTo>
                  <a:lnTo>
                    <a:pt x="48205" y="557"/>
                  </a:lnTo>
                  <a:lnTo>
                    <a:pt x="96136" y="2222"/>
                  </a:lnTo>
                  <a:lnTo>
                    <a:pt x="143781" y="4981"/>
                  </a:lnTo>
                  <a:lnTo>
                    <a:pt x="191128" y="8822"/>
                  </a:lnTo>
                  <a:lnTo>
                    <a:pt x="238165" y="13734"/>
                  </a:lnTo>
                  <a:lnTo>
                    <a:pt x="284878" y="19704"/>
                  </a:lnTo>
                  <a:lnTo>
                    <a:pt x="331257" y="26719"/>
                  </a:lnTo>
                  <a:lnTo>
                    <a:pt x="377288" y="34768"/>
                  </a:lnTo>
                  <a:lnTo>
                    <a:pt x="422959" y="43838"/>
                  </a:lnTo>
                  <a:lnTo>
                    <a:pt x="468258" y="53917"/>
                  </a:lnTo>
                  <a:lnTo>
                    <a:pt x="513174" y="64993"/>
                  </a:lnTo>
                  <a:lnTo>
                    <a:pt x="557693" y="77053"/>
                  </a:lnTo>
                  <a:lnTo>
                    <a:pt x="601803" y="90085"/>
                  </a:lnTo>
                  <a:lnTo>
                    <a:pt x="645493" y="104077"/>
                  </a:lnTo>
                  <a:lnTo>
                    <a:pt x="688749" y="119016"/>
                  </a:lnTo>
                  <a:lnTo>
                    <a:pt x="731560" y="134891"/>
                  </a:lnTo>
                  <a:lnTo>
                    <a:pt x="773913" y="151689"/>
                  </a:lnTo>
                  <a:lnTo>
                    <a:pt x="815796" y="169398"/>
                  </a:lnTo>
                  <a:lnTo>
                    <a:pt x="857198" y="188005"/>
                  </a:lnTo>
                  <a:lnTo>
                    <a:pt x="898104" y="207499"/>
                  </a:lnTo>
                  <a:lnTo>
                    <a:pt x="938504" y="227867"/>
                  </a:lnTo>
                  <a:lnTo>
                    <a:pt x="978385" y="249097"/>
                  </a:lnTo>
                  <a:lnTo>
                    <a:pt x="1017735" y="271176"/>
                  </a:lnTo>
                  <a:lnTo>
                    <a:pt x="1056541" y="294092"/>
                  </a:lnTo>
                  <a:lnTo>
                    <a:pt x="1094792" y="317834"/>
                  </a:lnTo>
                  <a:lnTo>
                    <a:pt x="1132475" y="342388"/>
                  </a:lnTo>
                  <a:lnTo>
                    <a:pt x="1169577" y="367743"/>
                  </a:lnTo>
                  <a:lnTo>
                    <a:pt x="1206087" y="393886"/>
                  </a:lnTo>
                  <a:lnTo>
                    <a:pt x="1241992" y="420806"/>
                  </a:lnTo>
                  <a:lnTo>
                    <a:pt x="1277280" y="448489"/>
                  </a:lnTo>
                  <a:lnTo>
                    <a:pt x="1311939" y="476923"/>
                  </a:lnTo>
                  <a:lnTo>
                    <a:pt x="1345957" y="506097"/>
                  </a:lnTo>
                  <a:lnTo>
                    <a:pt x="1379320" y="535998"/>
                  </a:lnTo>
                  <a:lnTo>
                    <a:pt x="1412018" y="566613"/>
                  </a:lnTo>
                  <a:lnTo>
                    <a:pt x="1444037" y="597931"/>
                  </a:lnTo>
                  <a:lnTo>
                    <a:pt x="1475366" y="629940"/>
                  </a:lnTo>
                  <a:lnTo>
                    <a:pt x="1505992" y="662626"/>
                  </a:lnTo>
                  <a:lnTo>
                    <a:pt x="1535903" y="695978"/>
                  </a:lnTo>
                  <a:lnTo>
                    <a:pt x="1565086" y="729983"/>
                  </a:lnTo>
                  <a:lnTo>
                    <a:pt x="1593530" y="764630"/>
                  </a:lnTo>
                  <a:lnTo>
                    <a:pt x="1621223" y="799905"/>
                  </a:lnTo>
                  <a:lnTo>
                    <a:pt x="1648151" y="835798"/>
                  </a:lnTo>
                  <a:lnTo>
                    <a:pt x="1674302" y="872294"/>
                  </a:lnTo>
                  <a:lnTo>
                    <a:pt x="1699666" y="909383"/>
                  </a:lnTo>
                  <a:lnTo>
                    <a:pt x="1724228" y="947052"/>
                  </a:lnTo>
                  <a:lnTo>
                    <a:pt x="1747977" y="985289"/>
                  </a:lnTo>
                  <a:lnTo>
                    <a:pt x="1770901" y="1024080"/>
                  </a:lnTo>
                  <a:lnTo>
                    <a:pt x="1792987" y="1063415"/>
                  </a:lnTo>
                  <a:lnTo>
                    <a:pt x="1814224" y="1103281"/>
                  </a:lnTo>
                  <a:lnTo>
                    <a:pt x="1834598" y="1143666"/>
                  </a:lnTo>
                  <a:lnTo>
                    <a:pt x="1854098" y="1184557"/>
                  </a:lnTo>
                  <a:lnTo>
                    <a:pt x="1872711" y="1225942"/>
                  </a:lnTo>
                  <a:lnTo>
                    <a:pt x="1890425" y="1267809"/>
                  </a:lnTo>
                  <a:lnTo>
                    <a:pt x="1907228" y="1310146"/>
                  </a:lnTo>
                  <a:lnTo>
                    <a:pt x="1923108" y="1352940"/>
                  </a:lnTo>
                  <a:lnTo>
                    <a:pt x="1938052" y="1396179"/>
                  </a:lnTo>
                  <a:lnTo>
                    <a:pt x="1952048" y="1439850"/>
                  </a:lnTo>
                  <a:lnTo>
                    <a:pt x="1965084" y="1483943"/>
                  </a:lnTo>
                  <a:lnTo>
                    <a:pt x="1977148" y="1528444"/>
                  </a:lnTo>
                  <a:lnTo>
                    <a:pt x="1988226" y="1573341"/>
                  </a:lnTo>
                  <a:lnTo>
                    <a:pt x="1998308" y="1618621"/>
                  </a:lnTo>
                  <a:lnTo>
                    <a:pt x="2007381" y="1664274"/>
                  </a:lnTo>
                  <a:lnTo>
                    <a:pt x="2015432" y="1710285"/>
                  </a:lnTo>
                  <a:lnTo>
                    <a:pt x="2022449" y="1756644"/>
                  </a:lnTo>
                  <a:lnTo>
                    <a:pt x="2028421" y="1803337"/>
                  </a:lnTo>
                  <a:lnTo>
                    <a:pt x="2033334" y="1850353"/>
                  </a:lnTo>
                  <a:lnTo>
                    <a:pt x="2037177" y="1897680"/>
                  </a:lnTo>
                  <a:lnTo>
                    <a:pt x="2039937" y="1945304"/>
                  </a:lnTo>
                  <a:lnTo>
                    <a:pt x="2041602" y="1993214"/>
                  </a:lnTo>
                  <a:lnTo>
                    <a:pt x="2042159" y="2041398"/>
                  </a:lnTo>
                </a:path>
              </a:pathLst>
            </a:custGeom>
            <a:ln w="127000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0807" y="2247900"/>
              <a:ext cx="3119628" cy="31181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63897" y="435990"/>
            <a:ext cx="34848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Times New Roman"/>
                <a:cs typeface="Times New Roman"/>
              </a:rPr>
              <a:t>Switch :</a:t>
            </a:r>
            <a:r>
              <a:rPr sz="4400" b="1" spc="-95" dirty="0">
                <a:latin typeface="Times New Roman"/>
                <a:cs typeface="Times New Roman"/>
              </a:rPr>
              <a:t> </a:t>
            </a:r>
            <a:r>
              <a:rPr sz="4400" b="1" spc="-55" dirty="0">
                <a:latin typeface="Times New Roman"/>
                <a:cs typeface="Times New Roman"/>
              </a:rPr>
              <a:t>Types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1724" y="4197222"/>
            <a:ext cx="2790825" cy="281940"/>
          </a:xfrm>
          <a:custGeom>
            <a:avLst/>
            <a:gdLst/>
            <a:ahLst/>
            <a:cxnLst/>
            <a:rect l="l" t="t" r="r" b="b"/>
            <a:pathLst>
              <a:path w="2790825" h="281939">
                <a:moveTo>
                  <a:pt x="2790444" y="0"/>
                </a:moveTo>
                <a:lnTo>
                  <a:pt x="2790444" y="0"/>
                </a:lnTo>
                <a:lnTo>
                  <a:pt x="0" y="0"/>
                </a:lnTo>
                <a:lnTo>
                  <a:pt x="0" y="281940"/>
                </a:lnTo>
                <a:lnTo>
                  <a:pt x="2790444" y="281940"/>
                </a:lnTo>
                <a:lnTo>
                  <a:pt x="279044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2536" y="1460728"/>
            <a:ext cx="7619365" cy="44596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66700" indent="-254000" algn="just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66700" algn="l"/>
              </a:tabLst>
            </a:pPr>
            <a:r>
              <a:rPr sz="2000" b="1" dirty="0">
                <a:latin typeface="Times New Roman"/>
                <a:cs typeface="Times New Roman"/>
              </a:rPr>
              <a:t>Managed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switch </a:t>
            </a:r>
            <a:r>
              <a:rPr sz="2000" b="1" spc="-50" dirty="0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0000"/>
              </a:lnSpc>
              <a:spcBef>
                <a:spcPts val="505"/>
              </a:spcBef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highest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precision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control,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 management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containing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large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network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enhance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functionality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certain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scalability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growing</a:t>
            </a:r>
            <a:r>
              <a:rPr sz="2000" spc="-10" dirty="0">
                <a:latin typeface="Times New Roman"/>
                <a:cs typeface="Times New Roman"/>
              </a:rPr>
              <a:t> network.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SNMP.</a:t>
            </a:r>
            <a:endParaRPr sz="2000">
              <a:latin typeface="Times New Roman"/>
              <a:cs typeface="Times New Roman"/>
            </a:endParaRPr>
          </a:p>
          <a:p>
            <a:pPr marL="240665" lvl="1" indent="-227965" algn="just">
              <a:lnSpc>
                <a:spcPct val="100000"/>
              </a:lnSpc>
              <a:spcBef>
                <a:spcPts val="254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10" dirty="0">
                <a:latin typeface="Times New Roman"/>
                <a:cs typeface="Times New Roman"/>
              </a:rPr>
              <a:t>Types:</a:t>
            </a:r>
            <a:endParaRPr sz="2000">
              <a:latin typeface="Times New Roman"/>
              <a:cs typeface="Times New Roman"/>
            </a:endParaRPr>
          </a:p>
          <a:p>
            <a:pPr marL="869315" marR="5080" lvl="2" indent="-399415" algn="just">
              <a:lnSpc>
                <a:spcPts val="2160"/>
              </a:lnSpc>
              <a:spcBef>
                <a:spcPts val="535"/>
              </a:spcBef>
              <a:buAutoNum type="romanUcPeriod"/>
              <a:tabLst>
                <a:tab pos="869315" algn="l"/>
              </a:tabLst>
            </a:pPr>
            <a:r>
              <a:rPr sz="2000" b="1" dirty="0">
                <a:latin typeface="Times New Roman"/>
                <a:cs typeface="Times New Roman"/>
              </a:rPr>
              <a:t>Smart</a:t>
            </a:r>
            <a:r>
              <a:rPr sz="2000" b="1" spc="7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switches:</a:t>
            </a:r>
            <a:r>
              <a:rPr sz="2000" b="1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Offers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some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called </a:t>
            </a:r>
            <a:r>
              <a:rPr sz="2000" dirty="0">
                <a:latin typeface="Times New Roman"/>
                <a:cs typeface="Times New Roman"/>
              </a:rPr>
              <a:t>partially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switches.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mostly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constant </a:t>
            </a:r>
            <a:r>
              <a:rPr sz="2000" dirty="0">
                <a:latin typeface="Times New Roman"/>
                <a:cs typeface="Times New Roman"/>
              </a:rPr>
              <a:t>LANs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gigabit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allocations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VLANs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869315" marR="5080" lvl="2" indent="-399415" algn="just">
              <a:lnSpc>
                <a:spcPts val="2160"/>
              </a:lnSpc>
              <a:spcBef>
                <a:spcPts val="509"/>
              </a:spcBef>
              <a:buAutoNum type="romanUcPeriod"/>
              <a:tabLst>
                <a:tab pos="869315" algn="l"/>
              </a:tabLst>
            </a:pPr>
            <a:r>
              <a:rPr sz="2000" b="1" dirty="0">
                <a:latin typeface="Times New Roman"/>
                <a:cs typeface="Times New Roman"/>
              </a:rPr>
              <a:t>Enterprise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managed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switches: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fix,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copy,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transform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configurations,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SNMP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agent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command-</a:t>
            </a:r>
            <a:r>
              <a:rPr sz="2000" spc="-20" dirty="0">
                <a:latin typeface="Times New Roman"/>
                <a:cs typeface="Times New Roman"/>
              </a:rPr>
              <a:t>line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4959" y="5907176"/>
            <a:ext cx="257746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65"/>
              </a:lnSpc>
            </a:pPr>
            <a:r>
              <a:rPr sz="2000" dirty="0">
                <a:latin typeface="Times New Roman"/>
                <a:cs typeface="Times New Roman"/>
              </a:rPr>
              <a:t>fully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managed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9277" y="5863538"/>
            <a:ext cx="6761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83020" algn="l"/>
              </a:tabLst>
            </a:pPr>
            <a:r>
              <a:rPr sz="2000" dirty="0">
                <a:latin typeface="Times New Roman"/>
                <a:cs typeface="Times New Roman"/>
              </a:rPr>
              <a:t>interface.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9277" y="6138468"/>
            <a:ext cx="676148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expensive.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organizations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contain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07473" y="486918"/>
            <a:ext cx="2042160" cy="2041525"/>
          </a:xfrm>
          <a:custGeom>
            <a:avLst/>
            <a:gdLst/>
            <a:ahLst/>
            <a:cxnLst/>
            <a:rect l="l" t="t" r="r" b="b"/>
            <a:pathLst>
              <a:path w="2042159" h="2041525">
                <a:moveTo>
                  <a:pt x="0" y="0"/>
                </a:moveTo>
                <a:lnTo>
                  <a:pt x="48205" y="557"/>
                </a:lnTo>
                <a:lnTo>
                  <a:pt x="96136" y="2222"/>
                </a:lnTo>
                <a:lnTo>
                  <a:pt x="143781" y="4981"/>
                </a:lnTo>
                <a:lnTo>
                  <a:pt x="191128" y="8822"/>
                </a:lnTo>
                <a:lnTo>
                  <a:pt x="238165" y="13734"/>
                </a:lnTo>
                <a:lnTo>
                  <a:pt x="284878" y="19704"/>
                </a:lnTo>
                <a:lnTo>
                  <a:pt x="331257" y="26719"/>
                </a:lnTo>
                <a:lnTo>
                  <a:pt x="377288" y="34768"/>
                </a:lnTo>
                <a:lnTo>
                  <a:pt x="422959" y="43838"/>
                </a:lnTo>
                <a:lnTo>
                  <a:pt x="468258" y="53917"/>
                </a:lnTo>
                <a:lnTo>
                  <a:pt x="513174" y="64993"/>
                </a:lnTo>
                <a:lnTo>
                  <a:pt x="557693" y="77053"/>
                </a:lnTo>
                <a:lnTo>
                  <a:pt x="601803" y="90085"/>
                </a:lnTo>
                <a:lnTo>
                  <a:pt x="645493" y="104077"/>
                </a:lnTo>
                <a:lnTo>
                  <a:pt x="688749" y="119016"/>
                </a:lnTo>
                <a:lnTo>
                  <a:pt x="731560" y="134891"/>
                </a:lnTo>
                <a:lnTo>
                  <a:pt x="773913" y="151689"/>
                </a:lnTo>
                <a:lnTo>
                  <a:pt x="815796" y="169398"/>
                </a:lnTo>
                <a:lnTo>
                  <a:pt x="857198" y="188005"/>
                </a:lnTo>
                <a:lnTo>
                  <a:pt x="898104" y="207499"/>
                </a:lnTo>
                <a:lnTo>
                  <a:pt x="938504" y="227867"/>
                </a:lnTo>
                <a:lnTo>
                  <a:pt x="978385" y="249097"/>
                </a:lnTo>
                <a:lnTo>
                  <a:pt x="1017735" y="271176"/>
                </a:lnTo>
                <a:lnTo>
                  <a:pt x="1056541" y="294092"/>
                </a:lnTo>
                <a:lnTo>
                  <a:pt x="1094792" y="317834"/>
                </a:lnTo>
                <a:lnTo>
                  <a:pt x="1132475" y="342388"/>
                </a:lnTo>
                <a:lnTo>
                  <a:pt x="1169577" y="367743"/>
                </a:lnTo>
                <a:lnTo>
                  <a:pt x="1206087" y="393886"/>
                </a:lnTo>
                <a:lnTo>
                  <a:pt x="1241992" y="420806"/>
                </a:lnTo>
                <a:lnTo>
                  <a:pt x="1277280" y="448489"/>
                </a:lnTo>
                <a:lnTo>
                  <a:pt x="1311939" y="476923"/>
                </a:lnTo>
                <a:lnTo>
                  <a:pt x="1345957" y="506097"/>
                </a:lnTo>
                <a:lnTo>
                  <a:pt x="1379320" y="535998"/>
                </a:lnTo>
                <a:lnTo>
                  <a:pt x="1412018" y="566613"/>
                </a:lnTo>
                <a:lnTo>
                  <a:pt x="1444037" y="597931"/>
                </a:lnTo>
                <a:lnTo>
                  <a:pt x="1475366" y="629940"/>
                </a:lnTo>
                <a:lnTo>
                  <a:pt x="1505992" y="662626"/>
                </a:lnTo>
                <a:lnTo>
                  <a:pt x="1535903" y="695978"/>
                </a:lnTo>
                <a:lnTo>
                  <a:pt x="1565086" y="729983"/>
                </a:lnTo>
                <a:lnTo>
                  <a:pt x="1593530" y="764630"/>
                </a:lnTo>
                <a:lnTo>
                  <a:pt x="1621223" y="799905"/>
                </a:lnTo>
                <a:lnTo>
                  <a:pt x="1648151" y="835798"/>
                </a:lnTo>
                <a:lnTo>
                  <a:pt x="1674302" y="872294"/>
                </a:lnTo>
                <a:lnTo>
                  <a:pt x="1699666" y="909383"/>
                </a:lnTo>
                <a:lnTo>
                  <a:pt x="1724228" y="947052"/>
                </a:lnTo>
                <a:lnTo>
                  <a:pt x="1747977" y="985289"/>
                </a:lnTo>
                <a:lnTo>
                  <a:pt x="1770901" y="1024080"/>
                </a:lnTo>
                <a:lnTo>
                  <a:pt x="1792987" y="1063415"/>
                </a:lnTo>
                <a:lnTo>
                  <a:pt x="1814224" y="1103281"/>
                </a:lnTo>
                <a:lnTo>
                  <a:pt x="1834598" y="1143666"/>
                </a:lnTo>
                <a:lnTo>
                  <a:pt x="1854098" y="1184557"/>
                </a:lnTo>
                <a:lnTo>
                  <a:pt x="1872711" y="1225942"/>
                </a:lnTo>
                <a:lnTo>
                  <a:pt x="1890425" y="1267809"/>
                </a:lnTo>
                <a:lnTo>
                  <a:pt x="1907228" y="1310146"/>
                </a:lnTo>
                <a:lnTo>
                  <a:pt x="1923108" y="1352940"/>
                </a:lnTo>
                <a:lnTo>
                  <a:pt x="1938052" y="1396179"/>
                </a:lnTo>
                <a:lnTo>
                  <a:pt x="1952048" y="1439850"/>
                </a:lnTo>
                <a:lnTo>
                  <a:pt x="1965084" y="1483943"/>
                </a:lnTo>
                <a:lnTo>
                  <a:pt x="1977148" y="1528444"/>
                </a:lnTo>
                <a:lnTo>
                  <a:pt x="1988226" y="1573341"/>
                </a:lnTo>
                <a:lnTo>
                  <a:pt x="1998308" y="1618621"/>
                </a:lnTo>
                <a:lnTo>
                  <a:pt x="2007381" y="1664274"/>
                </a:lnTo>
                <a:lnTo>
                  <a:pt x="2015432" y="1710285"/>
                </a:lnTo>
                <a:lnTo>
                  <a:pt x="2022449" y="1756644"/>
                </a:lnTo>
                <a:lnTo>
                  <a:pt x="2028421" y="1803337"/>
                </a:lnTo>
                <a:lnTo>
                  <a:pt x="2033334" y="1850353"/>
                </a:lnTo>
                <a:lnTo>
                  <a:pt x="2037177" y="1897680"/>
                </a:lnTo>
                <a:lnTo>
                  <a:pt x="2039937" y="1945304"/>
                </a:lnTo>
                <a:lnTo>
                  <a:pt x="2041602" y="1993214"/>
                </a:lnTo>
                <a:lnTo>
                  <a:pt x="2042159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63897" y="344805"/>
            <a:ext cx="34848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Times New Roman"/>
                <a:cs typeface="Times New Roman"/>
              </a:rPr>
              <a:t>Switch :</a:t>
            </a:r>
            <a:r>
              <a:rPr sz="4400" b="1" spc="-95" dirty="0">
                <a:latin typeface="Times New Roman"/>
                <a:cs typeface="Times New Roman"/>
              </a:rPr>
              <a:t> </a:t>
            </a:r>
            <a:r>
              <a:rPr sz="4400" b="1" spc="-55" dirty="0">
                <a:latin typeface="Times New Roman"/>
                <a:cs typeface="Times New Roman"/>
              </a:rPr>
              <a:t>Types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168" y="396054"/>
            <a:ext cx="3118104" cy="27655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168" y="3486911"/>
            <a:ext cx="3118104" cy="31181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40555" y="1368627"/>
            <a:ext cx="7533005" cy="48501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385"/>
              </a:spcBef>
              <a:buFont typeface="Wingdings"/>
              <a:buChar char=""/>
              <a:tabLst>
                <a:tab pos="240665" algn="l"/>
              </a:tabLst>
            </a:pPr>
            <a:r>
              <a:rPr sz="1850" b="1" dirty="0">
                <a:latin typeface="Times New Roman"/>
                <a:cs typeface="Times New Roman"/>
              </a:rPr>
              <a:t>Unmanaged</a:t>
            </a:r>
            <a:r>
              <a:rPr sz="1850" b="1" spc="-4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switches</a:t>
            </a:r>
            <a:r>
              <a:rPr sz="1850" b="1" spc="-20" dirty="0">
                <a:latin typeface="Times New Roman"/>
                <a:cs typeface="Times New Roman"/>
              </a:rPr>
              <a:t> </a:t>
            </a:r>
            <a:r>
              <a:rPr sz="1850" b="1" spc="-50" dirty="0">
                <a:latin typeface="Times New Roman"/>
                <a:cs typeface="Times New Roman"/>
              </a:rPr>
              <a:t>–</a:t>
            </a:r>
            <a:endParaRPr sz="185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90100"/>
              </a:lnSpc>
              <a:spcBef>
                <a:spcPts val="509"/>
              </a:spcBef>
              <a:buFont typeface="Wingdings"/>
              <a:buChar char="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4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home</a:t>
            </a:r>
            <a:r>
              <a:rPr sz="1850" spc="2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networks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2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small</a:t>
            </a:r>
            <a:r>
              <a:rPr sz="1850" spc="1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businesses</a:t>
            </a:r>
            <a:r>
              <a:rPr sz="1850" spc="2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as</a:t>
            </a:r>
            <a:r>
              <a:rPr sz="1850" spc="4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they</a:t>
            </a:r>
            <a:r>
              <a:rPr sz="1850" spc="4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plug</a:t>
            </a:r>
            <a:r>
              <a:rPr sz="1850" spc="1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20" dirty="0">
                <a:latin typeface="Times New Roman"/>
                <a:cs typeface="Times New Roman"/>
              </a:rPr>
              <a:t> 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dirty="0">
                <a:latin typeface="Times New Roman"/>
                <a:cs typeface="Times New Roman"/>
              </a:rPr>
              <a:t>instantly</a:t>
            </a:r>
            <a:r>
              <a:rPr sz="1850" spc="4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start</a:t>
            </a:r>
            <a:r>
              <a:rPr sz="1850" spc="4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doing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their</a:t>
            </a:r>
            <a:r>
              <a:rPr sz="1850" spc="4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job</a:t>
            </a:r>
            <a:r>
              <a:rPr sz="1850" spc="4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such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switches</a:t>
            </a:r>
            <a:r>
              <a:rPr sz="1850" spc="4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do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need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be </a:t>
            </a:r>
            <a:r>
              <a:rPr sz="1850" dirty="0">
                <a:latin typeface="Times New Roman"/>
                <a:cs typeface="Times New Roman"/>
              </a:rPr>
              <a:t>watched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configured.</a:t>
            </a:r>
            <a:endParaRPr sz="185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275"/>
              </a:spcBef>
              <a:buFont typeface="Wingdings"/>
              <a:buChar char=""/>
              <a:tabLst>
                <a:tab pos="697865" algn="l"/>
              </a:tabLst>
            </a:pPr>
            <a:r>
              <a:rPr sz="1850" dirty="0">
                <a:latin typeface="Times New Roman"/>
                <a:cs typeface="Times New Roman"/>
              </a:rPr>
              <a:t>These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require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only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small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cable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connections.</a:t>
            </a:r>
            <a:endParaRPr sz="185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90000"/>
              </a:lnSpc>
              <a:spcBef>
                <a:spcPts val="500"/>
              </a:spcBef>
              <a:buFont typeface="Wingdings"/>
              <a:buChar char=""/>
              <a:tabLst>
                <a:tab pos="698500" algn="l"/>
                <a:tab pos="756920" algn="l"/>
              </a:tabLst>
            </a:pPr>
            <a:r>
              <a:rPr sz="1850" dirty="0">
                <a:latin typeface="Times New Roman"/>
                <a:cs typeface="Times New Roman"/>
              </a:rPr>
              <a:t>	It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allows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devices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network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connect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other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such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as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a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printer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one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location.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They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least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expensive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switches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among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all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categories.</a:t>
            </a:r>
            <a:endParaRPr sz="185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75"/>
              </a:spcBef>
              <a:buFont typeface="Wingdings"/>
              <a:buChar char=""/>
              <a:tabLst>
                <a:tab pos="240665" algn="l"/>
              </a:tabLst>
            </a:pPr>
            <a:r>
              <a:rPr sz="1850" b="1" dirty="0">
                <a:latin typeface="Times New Roman"/>
                <a:cs typeface="Times New Roman"/>
              </a:rPr>
              <a:t>LAN</a:t>
            </a:r>
            <a:r>
              <a:rPr sz="1850" b="1" spc="-4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switches</a:t>
            </a:r>
            <a:r>
              <a:rPr sz="1850" b="1" spc="-45" dirty="0">
                <a:latin typeface="Times New Roman"/>
                <a:cs typeface="Times New Roman"/>
              </a:rPr>
              <a:t> </a:t>
            </a:r>
            <a:r>
              <a:rPr sz="1850" b="1" spc="-50" dirty="0">
                <a:latin typeface="Times New Roman"/>
                <a:cs typeface="Times New Roman"/>
              </a:rPr>
              <a:t>–</a:t>
            </a:r>
            <a:endParaRPr sz="185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90000"/>
              </a:lnSpc>
              <a:spcBef>
                <a:spcPts val="500"/>
              </a:spcBef>
              <a:buFont typeface="Wingdings"/>
              <a:buChar char="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Ethernet</a:t>
            </a:r>
            <a:r>
              <a:rPr sz="1850" spc="43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switches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4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43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switches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4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4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reduce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network </a:t>
            </a:r>
            <a:r>
              <a:rPr sz="1850" dirty="0">
                <a:latin typeface="Times New Roman"/>
                <a:cs typeface="Times New Roman"/>
              </a:rPr>
              <a:t>congestion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bottleneck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by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distributing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package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only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2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its </a:t>
            </a:r>
            <a:r>
              <a:rPr sz="1850" dirty="0">
                <a:latin typeface="Times New Roman"/>
                <a:cs typeface="Times New Roman"/>
              </a:rPr>
              <a:t>intended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recipient.</a:t>
            </a:r>
            <a:endParaRPr sz="185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80"/>
              </a:spcBef>
              <a:buFont typeface="Wingdings"/>
              <a:buChar char=""/>
              <a:tabLst>
                <a:tab pos="240665" algn="l"/>
              </a:tabLst>
            </a:pPr>
            <a:r>
              <a:rPr sz="1850" b="1" dirty="0">
                <a:latin typeface="Times New Roman"/>
                <a:cs typeface="Times New Roman"/>
              </a:rPr>
              <a:t>PoE</a:t>
            </a:r>
            <a:r>
              <a:rPr sz="1850" b="1" spc="-6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switches</a:t>
            </a:r>
            <a:r>
              <a:rPr sz="1850" b="1" spc="-35" dirty="0">
                <a:latin typeface="Times New Roman"/>
                <a:cs typeface="Times New Roman"/>
              </a:rPr>
              <a:t> </a:t>
            </a:r>
            <a:r>
              <a:rPr sz="1850" b="1" spc="-50" dirty="0">
                <a:latin typeface="Times New Roman"/>
                <a:cs typeface="Times New Roman"/>
              </a:rPr>
              <a:t>–</a:t>
            </a:r>
            <a:endParaRPr sz="185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89900"/>
              </a:lnSpc>
              <a:spcBef>
                <a:spcPts val="509"/>
              </a:spcBef>
              <a:buFont typeface="Wingdings"/>
              <a:buChar char=""/>
              <a:tabLst>
                <a:tab pos="698500" algn="l"/>
              </a:tabLst>
            </a:pP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PoE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(Power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over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Ethernet)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technology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integrates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dirty="0">
                <a:latin typeface="Times New Roman"/>
                <a:cs typeface="Times New Roman"/>
              </a:rPr>
              <a:t>power</a:t>
            </a:r>
            <a:r>
              <a:rPr sz="1850" spc="3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3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same</a:t>
            </a:r>
            <a:r>
              <a:rPr sz="1850" spc="3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cable</a:t>
            </a:r>
            <a:r>
              <a:rPr sz="1850" spc="3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allowing</a:t>
            </a:r>
            <a:r>
              <a:rPr sz="1850" spc="3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power</a:t>
            </a:r>
            <a:r>
              <a:rPr sz="1850" spc="3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devices</a:t>
            </a:r>
            <a:r>
              <a:rPr sz="1850" spc="3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receive</a:t>
            </a:r>
            <a:r>
              <a:rPr sz="1850" spc="3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34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 </a:t>
            </a:r>
            <a:r>
              <a:rPr sz="1850" dirty="0">
                <a:latin typeface="Times New Roman"/>
                <a:cs typeface="Times New Roman"/>
              </a:rPr>
              <a:t>parallel</a:t>
            </a:r>
            <a:r>
              <a:rPr sz="1850" spc="19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9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power.</a:t>
            </a:r>
            <a:r>
              <a:rPr sz="1850" spc="20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These</a:t>
            </a:r>
            <a:r>
              <a:rPr sz="1850" spc="195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switches</a:t>
            </a:r>
            <a:r>
              <a:rPr sz="1850" spc="20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provide</a:t>
            </a:r>
            <a:r>
              <a:rPr sz="1850" spc="19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greater</a:t>
            </a:r>
            <a:r>
              <a:rPr sz="1850" spc="200" dirty="0">
                <a:latin typeface="Times New Roman"/>
                <a:cs typeface="Times New Roman"/>
              </a:rPr>
              <a:t>  </a:t>
            </a:r>
            <a:r>
              <a:rPr sz="1850" dirty="0">
                <a:latin typeface="Times New Roman"/>
                <a:cs typeface="Times New Roman"/>
              </a:rPr>
              <a:t>flexibility</a:t>
            </a:r>
            <a:r>
              <a:rPr sz="1850" spc="190" dirty="0">
                <a:latin typeface="Times New Roman"/>
                <a:cs typeface="Times New Roman"/>
              </a:rPr>
              <a:t>  </a:t>
            </a:r>
            <a:r>
              <a:rPr sz="1850" spc="-25" dirty="0">
                <a:latin typeface="Times New Roman"/>
                <a:cs typeface="Times New Roman"/>
              </a:rPr>
              <a:t>by </a:t>
            </a:r>
            <a:r>
              <a:rPr sz="1850" dirty="0">
                <a:latin typeface="Times New Roman"/>
                <a:cs typeface="Times New Roman"/>
              </a:rPr>
              <a:t>simplifying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cabling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process.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712" y="3502914"/>
            <a:ext cx="21075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latin typeface="Times New Roman"/>
                <a:cs typeface="Times New Roman"/>
              </a:rPr>
              <a:t>Framing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38181" y="4451096"/>
            <a:ext cx="1868170" cy="1876425"/>
          </a:xfrm>
          <a:custGeom>
            <a:avLst/>
            <a:gdLst/>
            <a:ahLst/>
            <a:cxnLst/>
            <a:rect l="l" t="t" r="r" b="b"/>
            <a:pathLst>
              <a:path w="1868170" h="1876425">
                <a:moveTo>
                  <a:pt x="1817877" y="0"/>
                </a:moveTo>
                <a:lnTo>
                  <a:pt x="1829504" y="46941"/>
                </a:lnTo>
                <a:lnTo>
                  <a:pt x="1839564" y="93900"/>
                </a:lnTo>
                <a:lnTo>
                  <a:pt x="1848072" y="140848"/>
                </a:lnTo>
                <a:lnTo>
                  <a:pt x="1855045" y="187757"/>
                </a:lnTo>
                <a:lnTo>
                  <a:pt x="1860501" y="234600"/>
                </a:lnTo>
                <a:lnTo>
                  <a:pt x="1864455" y="281346"/>
                </a:lnTo>
                <a:lnTo>
                  <a:pt x="1866924" y="327969"/>
                </a:lnTo>
                <a:lnTo>
                  <a:pt x="1867924" y="374439"/>
                </a:lnTo>
                <a:lnTo>
                  <a:pt x="1867472" y="420729"/>
                </a:lnTo>
                <a:lnTo>
                  <a:pt x="1865584" y="466810"/>
                </a:lnTo>
                <a:lnTo>
                  <a:pt x="1862278" y="512653"/>
                </a:lnTo>
                <a:lnTo>
                  <a:pt x="1857569" y="558231"/>
                </a:lnTo>
                <a:lnTo>
                  <a:pt x="1851473" y="603515"/>
                </a:lnTo>
                <a:lnTo>
                  <a:pt x="1844008" y="648477"/>
                </a:lnTo>
                <a:lnTo>
                  <a:pt x="1835190" y="693087"/>
                </a:lnTo>
                <a:lnTo>
                  <a:pt x="1825035" y="737319"/>
                </a:lnTo>
                <a:lnTo>
                  <a:pt x="1813559" y="781144"/>
                </a:lnTo>
                <a:lnTo>
                  <a:pt x="1800781" y="824532"/>
                </a:lnTo>
                <a:lnTo>
                  <a:pt x="1786715" y="867457"/>
                </a:lnTo>
                <a:lnTo>
                  <a:pt x="1771378" y="909889"/>
                </a:lnTo>
                <a:lnTo>
                  <a:pt x="1754787" y="951800"/>
                </a:lnTo>
                <a:lnTo>
                  <a:pt x="1736958" y="993162"/>
                </a:lnTo>
                <a:lnTo>
                  <a:pt x="1717908" y="1033947"/>
                </a:lnTo>
                <a:lnTo>
                  <a:pt x="1697654" y="1074126"/>
                </a:lnTo>
                <a:lnTo>
                  <a:pt x="1676211" y="1113671"/>
                </a:lnTo>
                <a:lnTo>
                  <a:pt x="1653596" y="1152553"/>
                </a:lnTo>
                <a:lnTo>
                  <a:pt x="1629826" y="1190745"/>
                </a:lnTo>
                <a:lnTo>
                  <a:pt x="1604918" y="1228217"/>
                </a:lnTo>
                <a:lnTo>
                  <a:pt x="1578887" y="1264942"/>
                </a:lnTo>
                <a:lnTo>
                  <a:pt x="1551750" y="1300891"/>
                </a:lnTo>
                <a:lnTo>
                  <a:pt x="1523524" y="1336035"/>
                </a:lnTo>
                <a:lnTo>
                  <a:pt x="1494225" y="1370347"/>
                </a:lnTo>
                <a:lnTo>
                  <a:pt x="1463870" y="1403798"/>
                </a:lnTo>
                <a:lnTo>
                  <a:pt x="1432475" y="1436360"/>
                </a:lnTo>
                <a:lnTo>
                  <a:pt x="1400057" y="1468004"/>
                </a:lnTo>
                <a:lnTo>
                  <a:pt x="1366631" y="1498703"/>
                </a:lnTo>
                <a:lnTo>
                  <a:pt x="1332216" y="1528427"/>
                </a:lnTo>
                <a:lnTo>
                  <a:pt x="1296827" y="1557148"/>
                </a:lnTo>
                <a:lnTo>
                  <a:pt x="1260480" y="1584838"/>
                </a:lnTo>
                <a:lnTo>
                  <a:pt x="1223192" y="1611469"/>
                </a:lnTo>
                <a:lnTo>
                  <a:pt x="1184981" y="1637012"/>
                </a:lnTo>
                <a:lnTo>
                  <a:pt x="1145861" y="1661440"/>
                </a:lnTo>
                <a:lnTo>
                  <a:pt x="1105850" y="1684723"/>
                </a:lnTo>
                <a:lnTo>
                  <a:pt x="1064964" y="1706833"/>
                </a:lnTo>
                <a:lnTo>
                  <a:pt x="1023219" y="1727742"/>
                </a:lnTo>
                <a:lnTo>
                  <a:pt x="980633" y="1747421"/>
                </a:lnTo>
                <a:lnTo>
                  <a:pt x="937221" y="1765843"/>
                </a:lnTo>
                <a:lnTo>
                  <a:pt x="893000" y="1782979"/>
                </a:lnTo>
                <a:lnTo>
                  <a:pt x="847987" y="1798801"/>
                </a:lnTo>
                <a:lnTo>
                  <a:pt x="802198" y="1813279"/>
                </a:lnTo>
                <a:lnTo>
                  <a:pt x="755650" y="1826386"/>
                </a:lnTo>
                <a:lnTo>
                  <a:pt x="705983" y="1838622"/>
                </a:lnTo>
                <a:lnTo>
                  <a:pt x="656022" y="1849132"/>
                </a:lnTo>
                <a:lnTo>
                  <a:pt x="605812" y="1857914"/>
                </a:lnTo>
                <a:lnTo>
                  <a:pt x="555396" y="1864971"/>
                </a:lnTo>
                <a:lnTo>
                  <a:pt x="504820" y="1870300"/>
                </a:lnTo>
                <a:lnTo>
                  <a:pt x="454127" y="1873903"/>
                </a:lnTo>
                <a:lnTo>
                  <a:pt x="403363" y="1875779"/>
                </a:lnTo>
                <a:lnTo>
                  <a:pt x="352571" y="1875927"/>
                </a:lnTo>
                <a:lnTo>
                  <a:pt x="301796" y="1874349"/>
                </a:lnTo>
                <a:lnTo>
                  <a:pt x="251083" y="1871043"/>
                </a:lnTo>
                <a:lnTo>
                  <a:pt x="200476" y="1866009"/>
                </a:lnTo>
                <a:lnTo>
                  <a:pt x="150020" y="1859248"/>
                </a:lnTo>
                <a:lnTo>
                  <a:pt x="99759" y="1850758"/>
                </a:lnTo>
                <a:lnTo>
                  <a:pt x="49737" y="1840541"/>
                </a:lnTo>
                <a:lnTo>
                  <a:pt x="0" y="1828596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891" y="318515"/>
            <a:ext cx="10872216" cy="15072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93694" y="2359228"/>
            <a:ext cx="7882890" cy="3392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280"/>
              </a:lnSpc>
              <a:spcBef>
                <a:spcPts val="10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b="1" dirty="0">
                <a:latin typeface="Times New Roman"/>
                <a:cs typeface="Times New Roman"/>
              </a:rPr>
              <a:t>Frames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spc="-10" dirty="0">
                <a:latin typeface="Times New Roman"/>
                <a:cs typeface="Times New Roman"/>
              </a:rPr>
              <a:t>telecommunications.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energy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photons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light.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25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DLL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frames,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distinguishable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9235" algn="just">
              <a:lnSpc>
                <a:spcPts val="2160"/>
              </a:lnSpc>
              <a:spcBef>
                <a:spcPts val="54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Postal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practices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framing.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Inserting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letter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7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envelope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separates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piece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another;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envelope </a:t>
            </a:r>
            <a:r>
              <a:rPr sz="2000" dirty="0">
                <a:latin typeface="Times New Roman"/>
                <a:cs typeface="Times New Roman"/>
              </a:rPr>
              <a:t>serves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delimiter.</a:t>
            </a:r>
            <a:endParaRPr sz="2000">
              <a:latin typeface="Times New Roman"/>
              <a:cs typeface="Times New Roman"/>
            </a:endParaRPr>
          </a:p>
          <a:p>
            <a:pPr marL="240665" indent="-227965" algn="just">
              <a:lnSpc>
                <a:spcPts val="2280"/>
              </a:lnSpc>
              <a:spcBef>
                <a:spcPts val="229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way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meaningful</a:t>
            </a:r>
            <a:endParaRPr sz="2000">
              <a:latin typeface="Times New Roman"/>
              <a:cs typeface="Times New Roman"/>
            </a:endParaRPr>
          </a:p>
          <a:p>
            <a:pPr marL="241300" algn="just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receiver.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254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continuously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Division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Multiplexing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Framing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68805"/>
            <a:ext cx="4937125" cy="39389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31775" algn="just">
              <a:lnSpc>
                <a:spcPct val="90100"/>
              </a:lnSpc>
              <a:spcBef>
                <a:spcPts val="385"/>
              </a:spcBef>
              <a:buSzPct val="95833"/>
              <a:buFont typeface="Wingdings"/>
              <a:buChar char=""/>
              <a:tabLst>
                <a:tab pos="241300" algn="l"/>
                <a:tab pos="254000" algn="l"/>
              </a:tabLst>
            </a:pPr>
            <a:r>
              <a:rPr sz="2400" dirty="0">
                <a:latin typeface="Times New Roman"/>
                <a:cs typeface="Times New Roman"/>
              </a:rPr>
              <a:t>	Ethernet,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token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ring,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relay,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3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technologies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structures.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41300" marR="5080" indent="-231775" algn="just">
              <a:lnSpc>
                <a:spcPct val="90000"/>
              </a:lnSpc>
              <a:buSzPct val="95833"/>
              <a:buFont typeface="Wingdings"/>
              <a:buChar char=""/>
              <a:tabLst>
                <a:tab pos="241300" algn="l"/>
                <a:tab pos="254000" algn="l"/>
              </a:tabLst>
            </a:pPr>
            <a:r>
              <a:rPr sz="2400" dirty="0">
                <a:latin typeface="Times New Roman"/>
                <a:cs typeface="Times New Roman"/>
              </a:rPr>
              <a:t>	Frames</a:t>
            </a:r>
            <a:r>
              <a:rPr sz="2400" spc="2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headers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9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contain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2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spc="-20" dirty="0">
                <a:latin typeface="Times New Roman"/>
                <a:cs typeface="Times New Roman"/>
              </a:rPr>
              <a:t>error-</a:t>
            </a:r>
            <a:r>
              <a:rPr sz="2400" spc="-10" dirty="0">
                <a:latin typeface="Times New Roman"/>
                <a:cs typeface="Times New Roman"/>
              </a:rPr>
              <a:t>checking codes.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  <a:buFont typeface="Wingdings"/>
              <a:buChar char=""/>
            </a:pPr>
            <a:endParaRPr sz="2400">
              <a:latin typeface="Times New Roman"/>
              <a:cs typeface="Times New Roman"/>
            </a:endParaRPr>
          </a:p>
          <a:p>
            <a:pPr marL="241300" marR="6985" indent="-231140" algn="just">
              <a:lnSpc>
                <a:spcPts val="2590"/>
              </a:lnSpc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Times New Roman"/>
                <a:cs typeface="Times New Roman"/>
              </a:rPr>
              <a:t>	It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extracts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4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sender</a:t>
            </a:r>
            <a:r>
              <a:rPr sz="2400" spc="459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receiver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providing </a:t>
            </a:r>
            <a:r>
              <a:rPr sz="2400" dirty="0">
                <a:latin typeface="Times New Roman"/>
                <a:cs typeface="Times New Roman"/>
              </a:rPr>
              <a:t>sender’s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receiver’s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9028" y="2109216"/>
            <a:ext cx="6252972" cy="3197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Framing</a:t>
            </a:r>
            <a:r>
              <a:rPr b="1" spc="-19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6518" y="1739036"/>
            <a:ext cx="10293985" cy="42678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broken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recoverable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chunks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easily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checked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corruption.</a:t>
            </a:r>
            <a:endParaRPr sz="2200">
              <a:latin typeface="Times New Roman"/>
              <a:cs typeface="Times New Roman"/>
            </a:endParaRPr>
          </a:p>
          <a:p>
            <a:pPr marL="240665" indent="-227965">
              <a:lnSpc>
                <a:spcPts val="2510"/>
              </a:lnSpc>
              <a:spcBef>
                <a:spcPts val="240"/>
              </a:spcBef>
              <a:buSzPct val="95454"/>
              <a:buFont typeface="Wingdings"/>
              <a:buChar char=""/>
              <a:tabLst>
                <a:tab pos="240665" algn="l"/>
                <a:tab pos="586740" algn="l"/>
                <a:tab pos="1397635" algn="l"/>
                <a:tab pos="1743710" algn="l"/>
                <a:tab pos="2245360" algn="l"/>
                <a:tab pos="3167380" algn="l"/>
                <a:tab pos="4351655" algn="l"/>
                <a:tab pos="5101590" algn="l"/>
                <a:tab pos="5976620" algn="l"/>
                <a:tab pos="6476365" algn="l"/>
                <a:tab pos="7351395" algn="l"/>
                <a:tab pos="8411845" algn="l"/>
                <a:tab pos="8788400" algn="l"/>
              </a:tabLst>
            </a:pP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frame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event's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complete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cycle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within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period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division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time-</a:t>
            </a:r>
            <a:r>
              <a:rPr sz="2200" spc="-10" dirty="0">
                <a:latin typeface="Times New Roman"/>
                <a:cs typeface="Times New Roman"/>
              </a:rPr>
              <a:t>division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sz="2200" spc="-10" dirty="0">
                <a:latin typeface="Times New Roman"/>
                <a:cs typeface="Times New Roman"/>
              </a:rPr>
              <a:t>multiplexing.</a:t>
            </a:r>
            <a:endParaRPr sz="220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ts val="2380"/>
              </a:lnSpc>
              <a:spcBef>
                <a:spcPts val="5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In </a:t>
            </a:r>
            <a:r>
              <a:rPr sz="2200" b="1" dirty="0">
                <a:latin typeface="Times New Roman"/>
                <a:cs typeface="Times New Roman"/>
              </a:rPr>
              <a:t>playback, video,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film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recording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frame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a general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image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 a series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images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played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back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recorded.</a:t>
            </a:r>
            <a:endParaRPr sz="220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ct val="90000"/>
              </a:lnSpc>
              <a:spcBef>
                <a:spcPts val="46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computer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video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display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image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transferred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display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image </a:t>
            </a:r>
            <a:r>
              <a:rPr sz="2200" dirty="0">
                <a:latin typeface="Times New Roman"/>
                <a:cs typeface="Times New Roman"/>
              </a:rPr>
              <a:t>delivering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device.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Continuously,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refreshed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updated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buffer.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video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part.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Artificial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intelligence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applications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group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along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details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specific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image,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process,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object.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iris- </a:t>
            </a:r>
            <a:r>
              <a:rPr sz="2200" dirty="0">
                <a:latin typeface="Times New Roman"/>
                <a:cs typeface="Times New Roman"/>
              </a:rPr>
              <a:t>print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visual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recognition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utilized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recognize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bank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ATMs.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This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compares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authorized </a:t>
            </a:r>
            <a:r>
              <a:rPr sz="2200" dirty="0">
                <a:latin typeface="Times New Roman"/>
                <a:cs typeface="Times New Roman"/>
              </a:rPr>
              <a:t>user's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database.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891" y="4231894"/>
            <a:ext cx="2540510" cy="1020792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560"/>
              </a:spcBef>
            </a:pPr>
            <a:r>
              <a:rPr sz="3400" b="1" spc="-10" dirty="0">
                <a:latin typeface="Times New Roman"/>
                <a:cs typeface="Times New Roman"/>
              </a:rPr>
              <a:t>Frame components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38181" y="4451096"/>
            <a:ext cx="1868170" cy="1876425"/>
          </a:xfrm>
          <a:custGeom>
            <a:avLst/>
            <a:gdLst/>
            <a:ahLst/>
            <a:cxnLst/>
            <a:rect l="l" t="t" r="r" b="b"/>
            <a:pathLst>
              <a:path w="1868170" h="1876425">
                <a:moveTo>
                  <a:pt x="1817877" y="0"/>
                </a:moveTo>
                <a:lnTo>
                  <a:pt x="1829504" y="46941"/>
                </a:lnTo>
                <a:lnTo>
                  <a:pt x="1839564" y="93900"/>
                </a:lnTo>
                <a:lnTo>
                  <a:pt x="1848072" y="140848"/>
                </a:lnTo>
                <a:lnTo>
                  <a:pt x="1855045" y="187757"/>
                </a:lnTo>
                <a:lnTo>
                  <a:pt x="1860501" y="234600"/>
                </a:lnTo>
                <a:lnTo>
                  <a:pt x="1864455" y="281346"/>
                </a:lnTo>
                <a:lnTo>
                  <a:pt x="1866924" y="327969"/>
                </a:lnTo>
                <a:lnTo>
                  <a:pt x="1867924" y="374439"/>
                </a:lnTo>
                <a:lnTo>
                  <a:pt x="1867472" y="420729"/>
                </a:lnTo>
                <a:lnTo>
                  <a:pt x="1865584" y="466810"/>
                </a:lnTo>
                <a:lnTo>
                  <a:pt x="1862278" y="512653"/>
                </a:lnTo>
                <a:lnTo>
                  <a:pt x="1857569" y="558231"/>
                </a:lnTo>
                <a:lnTo>
                  <a:pt x="1851473" y="603515"/>
                </a:lnTo>
                <a:lnTo>
                  <a:pt x="1844008" y="648477"/>
                </a:lnTo>
                <a:lnTo>
                  <a:pt x="1835190" y="693087"/>
                </a:lnTo>
                <a:lnTo>
                  <a:pt x="1825035" y="737319"/>
                </a:lnTo>
                <a:lnTo>
                  <a:pt x="1813559" y="781144"/>
                </a:lnTo>
                <a:lnTo>
                  <a:pt x="1800781" y="824532"/>
                </a:lnTo>
                <a:lnTo>
                  <a:pt x="1786715" y="867457"/>
                </a:lnTo>
                <a:lnTo>
                  <a:pt x="1771378" y="909889"/>
                </a:lnTo>
                <a:lnTo>
                  <a:pt x="1754787" y="951800"/>
                </a:lnTo>
                <a:lnTo>
                  <a:pt x="1736958" y="993162"/>
                </a:lnTo>
                <a:lnTo>
                  <a:pt x="1717908" y="1033947"/>
                </a:lnTo>
                <a:lnTo>
                  <a:pt x="1697654" y="1074126"/>
                </a:lnTo>
                <a:lnTo>
                  <a:pt x="1676211" y="1113671"/>
                </a:lnTo>
                <a:lnTo>
                  <a:pt x="1653596" y="1152553"/>
                </a:lnTo>
                <a:lnTo>
                  <a:pt x="1629826" y="1190745"/>
                </a:lnTo>
                <a:lnTo>
                  <a:pt x="1604918" y="1228217"/>
                </a:lnTo>
                <a:lnTo>
                  <a:pt x="1578887" y="1264942"/>
                </a:lnTo>
                <a:lnTo>
                  <a:pt x="1551750" y="1300891"/>
                </a:lnTo>
                <a:lnTo>
                  <a:pt x="1523524" y="1336035"/>
                </a:lnTo>
                <a:lnTo>
                  <a:pt x="1494225" y="1370347"/>
                </a:lnTo>
                <a:lnTo>
                  <a:pt x="1463870" y="1403798"/>
                </a:lnTo>
                <a:lnTo>
                  <a:pt x="1432475" y="1436360"/>
                </a:lnTo>
                <a:lnTo>
                  <a:pt x="1400057" y="1468004"/>
                </a:lnTo>
                <a:lnTo>
                  <a:pt x="1366631" y="1498703"/>
                </a:lnTo>
                <a:lnTo>
                  <a:pt x="1332216" y="1528427"/>
                </a:lnTo>
                <a:lnTo>
                  <a:pt x="1296827" y="1557148"/>
                </a:lnTo>
                <a:lnTo>
                  <a:pt x="1260480" y="1584838"/>
                </a:lnTo>
                <a:lnTo>
                  <a:pt x="1223192" y="1611469"/>
                </a:lnTo>
                <a:lnTo>
                  <a:pt x="1184981" y="1637012"/>
                </a:lnTo>
                <a:lnTo>
                  <a:pt x="1145861" y="1661440"/>
                </a:lnTo>
                <a:lnTo>
                  <a:pt x="1105850" y="1684723"/>
                </a:lnTo>
                <a:lnTo>
                  <a:pt x="1064964" y="1706833"/>
                </a:lnTo>
                <a:lnTo>
                  <a:pt x="1023219" y="1727742"/>
                </a:lnTo>
                <a:lnTo>
                  <a:pt x="980633" y="1747421"/>
                </a:lnTo>
                <a:lnTo>
                  <a:pt x="937221" y="1765843"/>
                </a:lnTo>
                <a:lnTo>
                  <a:pt x="893000" y="1782979"/>
                </a:lnTo>
                <a:lnTo>
                  <a:pt x="847987" y="1798801"/>
                </a:lnTo>
                <a:lnTo>
                  <a:pt x="802198" y="1813279"/>
                </a:lnTo>
                <a:lnTo>
                  <a:pt x="755650" y="1826386"/>
                </a:lnTo>
                <a:lnTo>
                  <a:pt x="705983" y="1838622"/>
                </a:lnTo>
                <a:lnTo>
                  <a:pt x="656022" y="1849132"/>
                </a:lnTo>
                <a:lnTo>
                  <a:pt x="605812" y="1857914"/>
                </a:lnTo>
                <a:lnTo>
                  <a:pt x="555396" y="1864971"/>
                </a:lnTo>
                <a:lnTo>
                  <a:pt x="504820" y="1870300"/>
                </a:lnTo>
                <a:lnTo>
                  <a:pt x="454127" y="1873903"/>
                </a:lnTo>
                <a:lnTo>
                  <a:pt x="403363" y="1875779"/>
                </a:lnTo>
                <a:lnTo>
                  <a:pt x="352571" y="1875927"/>
                </a:lnTo>
                <a:lnTo>
                  <a:pt x="301796" y="1874349"/>
                </a:lnTo>
                <a:lnTo>
                  <a:pt x="251083" y="1871043"/>
                </a:lnTo>
                <a:lnTo>
                  <a:pt x="200476" y="1866009"/>
                </a:lnTo>
                <a:lnTo>
                  <a:pt x="150020" y="1859248"/>
                </a:lnTo>
                <a:lnTo>
                  <a:pt x="99759" y="1850758"/>
                </a:lnTo>
                <a:lnTo>
                  <a:pt x="49737" y="1840541"/>
                </a:lnTo>
                <a:lnTo>
                  <a:pt x="0" y="1828596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530479"/>
            <a:ext cx="10541507" cy="26868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26358" y="4079900"/>
            <a:ext cx="7570470" cy="1789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4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Flag: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points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frame.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4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Trailer: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correction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bits.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25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Payload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rendered.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510"/>
              </a:lnSpc>
              <a:spcBef>
                <a:spcPts val="24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Header: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origin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target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endParaRPr sz="2200" dirty="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sz="2200" spc="-10" dirty="0">
                <a:latin typeface="Times New Roman"/>
                <a:cs typeface="Times New Roman"/>
              </a:rPr>
              <a:t>frame.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210207"/>
            <a:ext cx="11576685" cy="3737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Frame</a:t>
            </a:r>
            <a:r>
              <a:rPr sz="2200" b="1" spc="2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Header:</a:t>
            </a:r>
            <a:r>
              <a:rPr sz="2200" b="1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address,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address,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three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control </a:t>
            </a:r>
            <a:r>
              <a:rPr sz="2200" dirty="0">
                <a:latin typeface="Times New Roman"/>
                <a:cs typeface="Times New Roman"/>
              </a:rPr>
              <a:t>fields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discussed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below:</a:t>
            </a:r>
            <a:endParaRPr sz="2200" dirty="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1810"/>
              </a:spcBef>
              <a:buSzPct val="95454"/>
              <a:buFont typeface="Wingdings"/>
              <a:buChar char=""/>
              <a:tabLst>
                <a:tab pos="697865" algn="l"/>
              </a:tabLst>
            </a:pPr>
            <a:r>
              <a:rPr sz="2200" b="1" dirty="0">
                <a:latin typeface="Times New Roman"/>
                <a:cs typeface="Times New Roman"/>
              </a:rPr>
              <a:t>ack: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acknowledgment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few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piggybacking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applied.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825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dirty="0">
                <a:latin typeface="Times New Roman"/>
                <a:cs typeface="Times New Roman"/>
              </a:rPr>
              <a:t>seq:</a:t>
            </a:r>
            <a:r>
              <a:rPr sz="2200" b="1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sequence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re-</a:t>
            </a:r>
            <a:r>
              <a:rPr sz="2200" dirty="0">
                <a:latin typeface="Times New Roman"/>
                <a:cs typeface="Times New Roman"/>
              </a:rPr>
              <a:t>adjustment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out-of-</a:t>
            </a:r>
            <a:r>
              <a:rPr sz="2200" spc="-10" dirty="0">
                <a:latin typeface="Times New Roman"/>
                <a:cs typeface="Times New Roman"/>
              </a:rPr>
              <a:t>sequence</a:t>
            </a:r>
            <a:endParaRPr sz="2200" dirty="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1325"/>
              </a:spcBef>
            </a:pPr>
            <a:r>
              <a:rPr sz="2200" dirty="0">
                <a:latin typeface="Times New Roman"/>
                <a:cs typeface="Times New Roman"/>
              </a:rPr>
              <a:t>frames.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acknowledgments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receiver.</a:t>
            </a:r>
            <a:endParaRPr sz="2200" dirty="0">
              <a:latin typeface="Times New Roman"/>
              <a:cs typeface="Times New Roman"/>
            </a:endParaRPr>
          </a:p>
          <a:p>
            <a:pPr marL="697230" marR="5715" lvl="1" indent="-227965">
              <a:lnSpc>
                <a:spcPct val="150100"/>
              </a:lnSpc>
              <a:spcBef>
                <a:spcPts val="500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dirty="0">
                <a:latin typeface="Times New Roman"/>
                <a:cs typeface="Times New Roman"/>
              </a:rPr>
              <a:t>kind: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includes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states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whether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3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applied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many 	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functions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management 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flow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error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etc.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600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37029" y="397840"/>
            <a:ext cx="7931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4400" b="1" spc="-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components:</a:t>
            </a:r>
            <a:r>
              <a:rPr sz="4400" b="1" spc="-2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Frame</a:t>
            </a:r>
            <a:r>
              <a:rPr sz="4400" b="1" spc="-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header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4035" y="5068823"/>
            <a:ext cx="6710171" cy="17891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Types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Framing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Fixed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size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framing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499" y="2114804"/>
            <a:ext cx="4039235" cy="2990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6350" indent="-228600" algn="just">
              <a:lnSpc>
                <a:spcPct val="90000"/>
              </a:lnSpc>
              <a:spcBef>
                <a:spcPts val="34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Fixed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framing: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  is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 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2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boundaries</a:t>
            </a:r>
            <a:r>
              <a:rPr sz="2000" spc="2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frame, </a:t>
            </a:r>
            <a:r>
              <a:rPr sz="2000" dirty="0">
                <a:latin typeface="Times New Roman"/>
                <a:cs typeface="Times New Roman"/>
              </a:rPr>
              <a:t>length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itself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acts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as </a:t>
            </a:r>
            <a:r>
              <a:rPr sz="2000" spc="-10" dirty="0">
                <a:latin typeface="Times New Roman"/>
                <a:cs typeface="Times New Roman"/>
              </a:rPr>
              <a:t>delimiter.</a:t>
            </a:r>
            <a:endParaRPr sz="20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Drawback:</a:t>
            </a:r>
            <a:endParaRPr sz="2000" dirty="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90100"/>
              </a:lnSpc>
              <a:spcBef>
                <a:spcPts val="49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90" dirty="0">
                <a:latin typeface="Times New Roman"/>
                <a:cs typeface="Times New Roman"/>
              </a:rPr>
              <a:t>    </a:t>
            </a:r>
            <a:r>
              <a:rPr sz="2000" dirty="0">
                <a:latin typeface="Times New Roman"/>
                <a:cs typeface="Times New Roman"/>
              </a:rPr>
              <a:t>suffers</a:t>
            </a:r>
            <a:r>
              <a:rPr sz="2000" spc="295" dirty="0">
                <a:latin typeface="Times New Roman"/>
                <a:cs typeface="Times New Roman"/>
              </a:rPr>
              <a:t>   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290" dirty="0">
                <a:latin typeface="Times New Roman"/>
                <a:cs typeface="Times New Roman"/>
              </a:rPr>
              <a:t>    </a:t>
            </a:r>
            <a:r>
              <a:rPr sz="2000" spc="-10" dirty="0">
                <a:latin typeface="Times New Roman"/>
                <a:cs typeface="Times New Roman"/>
              </a:rPr>
              <a:t>internal </a:t>
            </a:r>
            <a:r>
              <a:rPr sz="2000" dirty="0">
                <a:latin typeface="Times New Roman"/>
                <a:cs typeface="Times New Roman"/>
              </a:rPr>
              <a:t>fragmentation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less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size</a:t>
            </a:r>
            <a:endParaRPr sz="20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b="1" dirty="0">
                <a:latin typeface="Times New Roman"/>
                <a:cs typeface="Times New Roman"/>
              </a:rPr>
              <a:t>Solution: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Padding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0654" y="2042484"/>
            <a:ext cx="6020560" cy="334292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Types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Framing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120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Variable</a:t>
            </a:r>
            <a:r>
              <a:rPr b="1" spc="-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size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framing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73377"/>
            <a:ext cx="10306050" cy="4601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 algn="just">
              <a:lnSpc>
                <a:spcPts val="251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requirement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describe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well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starting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upcoming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frame</a:t>
            </a:r>
            <a:endParaRPr sz="2200" dirty="0">
              <a:latin typeface="Times New Roman"/>
              <a:cs typeface="Times New Roman"/>
            </a:endParaRPr>
          </a:p>
          <a:p>
            <a:pPr marL="241300" algn="just">
              <a:lnSpc>
                <a:spcPts val="2510"/>
              </a:lnSpc>
            </a:pP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characterize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framing.</a:t>
            </a:r>
            <a:endParaRPr sz="22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ct val="100000"/>
              </a:lnSpc>
              <a:spcBef>
                <a:spcPts val="24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could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forms:</a:t>
            </a:r>
            <a:endParaRPr sz="2200" dirty="0">
              <a:latin typeface="Times New Roman"/>
              <a:cs typeface="Times New Roman"/>
            </a:endParaRPr>
          </a:p>
          <a:p>
            <a:pPr marL="697230" marR="5715" lvl="1" indent="-227965" algn="just">
              <a:lnSpc>
                <a:spcPct val="90000"/>
              </a:lnSpc>
              <a:spcBef>
                <a:spcPts val="495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dirty="0">
                <a:latin typeface="Times New Roman"/>
                <a:cs typeface="Times New Roman"/>
              </a:rPr>
              <a:t>Length</a:t>
            </a:r>
            <a:r>
              <a:rPr sz="2200" b="1" spc="3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field:</a:t>
            </a:r>
            <a:r>
              <a:rPr sz="2200" b="1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frame,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length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length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	</a:t>
            </a:r>
            <a:r>
              <a:rPr sz="2200" dirty="0">
                <a:latin typeface="Times New Roman"/>
                <a:cs typeface="Times New Roman"/>
              </a:rPr>
              <a:t>frame.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applied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Ethernet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(802.3).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length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field 	</a:t>
            </a:r>
            <a:r>
              <a:rPr sz="2200" dirty="0">
                <a:latin typeface="Times New Roman"/>
                <a:cs typeface="Times New Roman"/>
              </a:rPr>
              <a:t>may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get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corrupted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sometimes.</a:t>
            </a:r>
            <a:endParaRPr sz="2200" dirty="0">
              <a:latin typeface="Times New Roman"/>
              <a:cs typeface="Times New Roman"/>
            </a:endParaRPr>
          </a:p>
          <a:p>
            <a:pPr marL="697230" marR="5080" lvl="1" indent="-227965" algn="just">
              <a:lnSpc>
                <a:spcPts val="2380"/>
              </a:lnSpc>
              <a:spcBef>
                <a:spcPts val="535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dirty="0">
                <a:latin typeface="Times New Roman"/>
                <a:cs typeface="Times New Roman"/>
              </a:rPr>
              <a:t>ED</a:t>
            </a:r>
            <a:r>
              <a:rPr sz="2200" b="1" spc="4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(End</a:t>
            </a:r>
            <a:r>
              <a:rPr sz="2200" b="1" spc="4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Delimiter):</a:t>
            </a:r>
            <a:r>
              <a:rPr sz="2200" b="1" spc="4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4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frame,</a:t>
            </a:r>
            <a:r>
              <a:rPr sz="2200" spc="4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</a:t>
            </a:r>
            <a:r>
              <a:rPr sz="2200" spc="4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4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delimiter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	</a:t>
            </a:r>
            <a:r>
              <a:rPr sz="2200" dirty="0">
                <a:latin typeface="Times New Roman"/>
                <a:cs typeface="Times New Roman"/>
              </a:rPr>
              <a:t>completion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frame.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applied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Token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Ring.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	</a:t>
            </a:r>
            <a:r>
              <a:rPr sz="2200" dirty="0">
                <a:latin typeface="Times New Roman"/>
                <a:cs typeface="Times New Roman"/>
              </a:rPr>
              <a:t>end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delimiter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appear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endParaRPr sz="2200" dirty="0">
              <a:latin typeface="Times New Roman"/>
              <a:cs typeface="Times New Roman"/>
            </a:endParaRPr>
          </a:p>
          <a:p>
            <a:pPr marL="1155700" marR="5715" lvl="2" indent="-228600" algn="just">
              <a:lnSpc>
                <a:spcPts val="2380"/>
              </a:lnSpc>
              <a:spcBef>
                <a:spcPts val="495"/>
              </a:spcBef>
              <a:buSzPct val="95454"/>
              <a:buFont typeface="Wingdings"/>
              <a:buChar char=""/>
              <a:tabLst>
                <a:tab pos="1155700" algn="l"/>
              </a:tabLst>
            </a:pPr>
            <a:r>
              <a:rPr sz="2200" b="1" dirty="0">
                <a:latin typeface="Times New Roman"/>
                <a:cs typeface="Times New Roman"/>
              </a:rPr>
              <a:t>Bit</a:t>
            </a:r>
            <a:r>
              <a:rPr sz="2200" b="1" spc="4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Stuffing:</a:t>
            </a:r>
            <a:r>
              <a:rPr sz="2200" b="1" spc="5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arrangement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bits</a:t>
            </a:r>
            <a:r>
              <a:rPr sz="2200" spc="48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random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length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stuffed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differentiating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delimiter.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bit-oriented framing.</a:t>
            </a:r>
            <a:endParaRPr sz="2200" dirty="0">
              <a:latin typeface="Times New Roman"/>
              <a:cs typeface="Times New Roman"/>
            </a:endParaRPr>
          </a:p>
          <a:p>
            <a:pPr marL="1155065" lvl="2" indent="-227965" algn="just">
              <a:lnSpc>
                <a:spcPts val="2510"/>
              </a:lnSpc>
              <a:spcBef>
                <a:spcPts val="185"/>
              </a:spcBef>
              <a:buSzPct val="95454"/>
              <a:buFont typeface="Wingdings"/>
              <a:buChar char=""/>
              <a:tabLst>
                <a:tab pos="1155065" algn="l"/>
              </a:tabLst>
            </a:pPr>
            <a:r>
              <a:rPr sz="2200" b="1" dirty="0">
                <a:latin typeface="Times New Roman"/>
                <a:cs typeface="Times New Roman"/>
              </a:rPr>
              <a:t>Byte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Stuffing: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bytes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stuffed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differentiating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</a:t>
            </a:r>
            <a:endParaRPr sz="2200" dirty="0">
              <a:latin typeface="Times New Roman"/>
              <a:cs typeface="Times New Roman"/>
            </a:endParaRPr>
          </a:p>
          <a:p>
            <a:pPr marL="1155700" algn="just">
              <a:lnSpc>
                <a:spcPts val="2510"/>
              </a:lnSpc>
            </a:pPr>
            <a:r>
              <a:rPr sz="2200" spc="-25" dirty="0">
                <a:latin typeface="Times New Roman"/>
                <a:cs typeface="Times New Roman"/>
              </a:rPr>
              <a:t>delimiter.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known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character-</a:t>
            </a:r>
            <a:r>
              <a:rPr sz="2200" dirty="0">
                <a:latin typeface="Times New Roman"/>
                <a:cs typeface="Times New Roman"/>
              </a:rPr>
              <a:t>oriented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framing.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Times New Roman"/>
                <a:cs typeface="Times New Roman"/>
              </a:rPr>
              <a:t>Variable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size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framing: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Byte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stuffing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536" y="1776730"/>
            <a:ext cx="4564380" cy="3540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22860" indent="-228600" algn="just">
              <a:lnSpc>
                <a:spcPct val="90000"/>
              </a:lnSpc>
              <a:spcBef>
                <a:spcPts val="34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Byte</a:t>
            </a:r>
            <a:r>
              <a:rPr sz="2000" b="1" spc="3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Stuffing:</a:t>
            </a:r>
            <a:r>
              <a:rPr sz="2000" b="1" spc="3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Byte</a:t>
            </a:r>
            <a:r>
              <a:rPr sz="2000" spc="3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stuffing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5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adding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byte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whenever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flag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escape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character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text.</a:t>
            </a:r>
            <a:endParaRPr sz="2000" dirty="0">
              <a:latin typeface="Times New Roman"/>
              <a:cs typeface="Times New Roman"/>
            </a:endParaRPr>
          </a:p>
          <a:p>
            <a:pPr marL="240665" indent="-227965" algn="just">
              <a:lnSpc>
                <a:spcPts val="2280"/>
              </a:lnSpc>
              <a:spcBef>
                <a:spcPts val="26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byte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stuffed</a:t>
            </a:r>
            <a:endParaRPr sz="2000" dirty="0">
              <a:latin typeface="Times New Roman"/>
              <a:cs typeface="Times New Roman"/>
            </a:endParaRPr>
          </a:p>
          <a:p>
            <a:pPr marL="241300" algn="just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differentiate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ED.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2160"/>
              </a:lnSpc>
              <a:spcBef>
                <a:spcPts val="53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Let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“$”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‘$’ </a:t>
            </a:r>
            <a:r>
              <a:rPr sz="2000" dirty="0">
                <a:latin typeface="Times New Roman"/>
                <a:cs typeface="Times New Roman"/>
              </a:rPr>
              <a:t>anywhere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escaped  </a:t>
            </a:r>
            <a:r>
              <a:rPr sz="2000" spc="-10" dirty="0">
                <a:latin typeface="Times New Roman"/>
                <a:cs typeface="Times New Roman"/>
              </a:rPr>
              <a:t>using </a:t>
            </a:r>
            <a:r>
              <a:rPr sz="2000" dirty="0">
                <a:latin typeface="Times New Roman"/>
                <a:cs typeface="Times New Roman"/>
              </a:rPr>
              <a:t>‘\O’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character.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100"/>
              </a:lnSpc>
              <a:spcBef>
                <a:spcPts val="46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contains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‘\O$’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then,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‘\O\O\O$’ </a:t>
            </a:r>
            <a:r>
              <a:rPr sz="2000" dirty="0">
                <a:latin typeface="Times New Roman"/>
                <a:cs typeface="Times New Roman"/>
              </a:rPr>
              <a:t>($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escaped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\O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\O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escaped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\O).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785103" y="0"/>
            <a:ext cx="6407150" cy="5244465"/>
            <a:chOff x="5785103" y="0"/>
            <a:chExt cx="6407150" cy="52444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5103" y="1802121"/>
              <a:ext cx="6252972" cy="34417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219307" y="0"/>
              <a:ext cx="972819" cy="1935480"/>
            </a:xfrm>
            <a:custGeom>
              <a:avLst/>
              <a:gdLst/>
              <a:ahLst/>
              <a:cxnLst/>
              <a:rect l="l" t="t" r="r" b="b"/>
              <a:pathLst>
                <a:path w="972820" h="1935480">
                  <a:moveTo>
                    <a:pt x="972693" y="0"/>
                  </a:moveTo>
                  <a:lnTo>
                    <a:pt x="381" y="967740"/>
                  </a:lnTo>
                  <a:lnTo>
                    <a:pt x="177482" y="1144016"/>
                  </a:lnTo>
                  <a:lnTo>
                    <a:pt x="0" y="1321562"/>
                  </a:lnTo>
                  <a:lnTo>
                    <a:pt x="348615" y="1670177"/>
                  </a:lnTo>
                  <a:lnTo>
                    <a:pt x="526986" y="1491881"/>
                  </a:lnTo>
                  <a:lnTo>
                    <a:pt x="972693" y="1935480"/>
                  </a:lnTo>
                  <a:lnTo>
                    <a:pt x="972693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Times New Roman"/>
                <a:cs typeface="Times New Roman"/>
              </a:rPr>
              <a:t>Variable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size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framing: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Bit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stuffing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416" y="1442719"/>
            <a:ext cx="4547235" cy="41090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359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Bit</a:t>
            </a:r>
            <a:r>
              <a:rPr sz="2200" b="1" spc="32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Stuffing:</a:t>
            </a:r>
            <a:r>
              <a:rPr sz="2200" b="1" spc="3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3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stuffing</a:t>
            </a:r>
            <a:r>
              <a:rPr sz="2200" spc="3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2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49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adding</a:t>
            </a:r>
            <a:r>
              <a:rPr sz="2200" spc="50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50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extra</a:t>
            </a:r>
            <a:r>
              <a:rPr sz="2200" spc="500" dirty="0">
                <a:latin typeface="Times New Roman"/>
                <a:cs typeface="Times New Roman"/>
              </a:rPr>
              <a:t>  </a:t>
            </a:r>
            <a:r>
              <a:rPr sz="2200" spc="-50" dirty="0">
                <a:latin typeface="Times New Roman"/>
                <a:cs typeface="Times New Roman"/>
              </a:rPr>
              <a:t>0 </a:t>
            </a:r>
            <a:r>
              <a:rPr sz="2200" dirty="0">
                <a:latin typeface="Times New Roman"/>
                <a:cs typeface="Times New Roman"/>
              </a:rPr>
              <a:t>whenever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five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consecutive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1s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data,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does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mistake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pattern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0111110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spc="-10" dirty="0">
                <a:latin typeface="Times New Roman"/>
                <a:cs typeface="Times New Roman"/>
              </a:rPr>
              <a:t>flag.</a:t>
            </a:r>
            <a:endParaRPr sz="22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5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Let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01111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01111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sender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stuffs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break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pattern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i.e.,</a:t>
            </a:r>
            <a:r>
              <a:rPr sz="2200" spc="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here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appends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 </a:t>
            </a:r>
            <a:r>
              <a:rPr sz="2200" spc="-10" dirty="0">
                <a:latin typeface="Times New Roman"/>
                <a:cs typeface="Times New Roman"/>
              </a:rPr>
              <a:t>011101.</a:t>
            </a:r>
            <a:endParaRPr sz="2200" dirty="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ts val="2380"/>
              </a:lnSpc>
              <a:spcBef>
                <a:spcPts val="5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receives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7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7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if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380" dirty="0">
                <a:latin typeface="Times New Roman"/>
                <a:cs typeface="Times New Roman"/>
              </a:rPr>
              <a:t>   </a:t>
            </a:r>
            <a:r>
              <a:rPr sz="2200" dirty="0">
                <a:latin typeface="Times New Roman"/>
                <a:cs typeface="Times New Roman"/>
              </a:rPr>
              <a:t>contains</a:t>
            </a:r>
            <a:r>
              <a:rPr sz="2200" spc="385" dirty="0">
                <a:latin typeface="Times New Roman"/>
                <a:cs typeface="Times New Roman"/>
              </a:rPr>
              <a:t>   </a:t>
            </a:r>
            <a:r>
              <a:rPr sz="2200" dirty="0">
                <a:latin typeface="Times New Roman"/>
                <a:cs typeface="Times New Roman"/>
              </a:rPr>
              <a:t>011101,</a:t>
            </a:r>
            <a:r>
              <a:rPr sz="2200" spc="375" dirty="0">
                <a:latin typeface="Times New Roman"/>
                <a:cs typeface="Times New Roman"/>
              </a:rPr>
              <a:t>   </a:t>
            </a:r>
            <a:r>
              <a:rPr sz="2200" spc="-10" dirty="0">
                <a:latin typeface="Times New Roman"/>
                <a:cs typeface="Times New Roman"/>
              </a:rPr>
              <a:t>receiver </a:t>
            </a:r>
            <a:r>
              <a:rPr sz="2200" dirty="0">
                <a:latin typeface="Times New Roman"/>
                <a:cs typeface="Times New Roman"/>
              </a:rPr>
              <a:t>removes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data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377940" y="0"/>
            <a:ext cx="5814060" cy="5971540"/>
            <a:chOff x="6377940" y="0"/>
            <a:chExt cx="5814060" cy="5971540"/>
          </a:xfrm>
        </p:grpSpPr>
        <p:sp>
          <p:nvSpPr>
            <p:cNvPr id="6" name="object 6"/>
            <p:cNvSpPr/>
            <p:nvPr/>
          </p:nvSpPr>
          <p:spPr>
            <a:xfrm>
              <a:off x="11219307" y="0"/>
              <a:ext cx="972819" cy="1935480"/>
            </a:xfrm>
            <a:custGeom>
              <a:avLst/>
              <a:gdLst/>
              <a:ahLst/>
              <a:cxnLst/>
              <a:rect l="l" t="t" r="r" b="b"/>
              <a:pathLst>
                <a:path w="972820" h="1935480">
                  <a:moveTo>
                    <a:pt x="972693" y="0"/>
                  </a:moveTo>
                  <a:lnTo>
                    <a:pt x="381" y="967740"/>
                  </a:lnTo>
                  <a:lnTo>
                    <a:pt x="177482" y="1144016"/>
                  </a:lnTo>
                  <a:lnTo>
                    <a:pt x="0" y="1321562"/>
                  </a:lnTo>
                  <a:lnTo>
                    <a:pt x="348615" y="1670177"/>
                  </a:lnTo>
                  <a:lnTo>
                    <a:pt x="526986" y="1491881"/>
                  </a:lnTo>
                  <a:lnTo>
                    <a:pt x="972693" y="1935480"/>
                  </a:lnTo>
                  <a:lnTo>
                    <a:pt x="972693" y="0"/>
                  </a:lnTo>
                  <a:close/>
                </a:path>
              </a:pathLst>
            </a:custGeom>
            <a:solidFill>
              <a:srgbClr val="FFC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7940" y="1877567"/>
              <a:ext cx="5777484" cy="40934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797" y="2079497"/>
            <a:ext cx="6856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Frames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Example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Ethernet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Frame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5048" y="113214"/>
            <a:ext cx="8492439" cy="16306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5480" y="2891154"/>
            <a:ext cx="11370945" cy="36080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0" marR="185420" indent="-228600">
              <a:lnSpc>
                <a:spcPct val="90000"/>
              </a:lnSpc>
              <a:spcBef>
                <a:spcPts val="350"/>
              </a:spcBef>
              <a:buFont typeface="Wingdings"/>
              <a:buChar char=""/>
              <a:tabLst>
                <a:tab pos="241300" algn="l"/>
              </a:tabLst>
            </a:pPr>
            <a:r>
              <a:rPr sz="2100" b="1" dirty="0">
                <a:latin typeface="Times New Roman"/>
                <a:cs typeface="Times New Roman"/>
              </a:rPr>
              <a:t>PREAMBLE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–This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pattern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alternative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0’s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1’s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indicates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starting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frame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allow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sender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receiver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establish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bit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synchronization.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Initially,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(Preamble)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was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introduced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to </a:t>
            </a:r>
            <a:r>
              <a:rPr sz="2100" dirty="0">
                <a:latin typeface="Times New Roman"/>
                <a:cs typeface="Times New Roman"/>
              </a:rPr>
              <a:t>allow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for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few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bits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due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signal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delays.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Font typeface="Wingdings"/>
              <a:buChar char=""/>
              <a:tabLst>
                <a:tab pos="240665" algn="l"/>
              </a:tabLst>
            </a:pPr>
            <a:r>
              <a:rPr sz="2100" b="1" dirty="0">
                <a:latin typeface="Times New Roman"/>
                <a:cs typeface="Times New Roman"/>
              </a:rPr>
              <a:t>Start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of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frame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delimiter</a:t>
            </a:r>
            <a:r>
              <a:rPr sz="2100" b="1" spc="-5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(SFD)</a:t>
            </a:r>
            <a:r>
              <a:rPr sz="2100" b="1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1-</a:t>
            </a:r>
            <a:r>
              <a:rPr sz="2100" dirty="0">
                <a:latin typeface="Times New Roman"/>
                <a:cs typeface="Times New Roman"/>
              </a:rPr>
              <a:t>Byte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field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always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10101011.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Font typeface="Wingdings"/>
              <a:buChar char=""/>
              <a:tabLst>
                <a:tab pos="240665" algn="l"/>
              </a:tabLst>
            </a:pPr>
            <a:r>
              <a:rPr sz="2100" b="1" spc="-10" dirty="0">
                <a:latin typeface="Times New Roman"/>
                <a:cs typeface="Times New Roman"/>
              </a:rPr>
              <a:t>Destination</a:t>
            </a:r>
            <a:r>
              <a:rPr sz="2100" b="1" spc="-13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Address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This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6-</a:t>
            </a:r>
            <a:r>
              <a:rPr sz="2100" dirty="0">
                <a:latin typeface="Times New Roman"/>
                <a:cs typeface="Times New Roman"/>
              </a:rPr>
              <a:t>Byte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field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contains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address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destination.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Font typeface="Wingdings"/>
              <a:buChar char=""/>
              <a:tabLst>
                <a:tab pos="240665" algn="l"/>
              </a:tabLst>
            </a:pPr>
            <a:r>
              <a:rPr sz="2100" b="1" spc="-10" dirty="0">
                <a:latin typeface="Times New Roman"/>
                <a:cs typeface="Times New Roman"/>
              </a:rPr>
              <a:t>Source</a:t>
            </a:r>
            <a:r>
              <a:rPr sz="2100" b="1" spc="-12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Address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6-Byte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field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contains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MAC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address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source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machine.</a:t>
            </a:r>
            <a:endParaRPr sz="2100">
              <a:latin typeface="Times New Roman"/>
              <a:cs typeface="Times New Roman"/>
            </a:endParaRPr>
          </a:p>
          <a:p>
            <a:pPr marL="241300" marR="571500" indent="-228600">
              <a:lnSpc>
                <a:spcPts val="2270"/>
              </a:lnSpc>
              <a:spcBef>
                <a:spcPts val="540"/>
              </a:spcBef>
              <a:buFont typeface="Wingdings"/>
              <a:buChar char=""/>
              <a:tabLst>
                <a:tab pos="241300" algn="l"/>
              </a:tabLst>
            </a:pPr>
            <a:r>
              <a:rPr sz="2100" b="1" dirty="0">
                <a:latin typeface="Times New Roman"/>
                <a:cs typeface="Times New Roman"/>
              </a:rPr>
              <a:t>Length</a:t>
            </a:r>
            <a:r>
              <a:rPr sz="2100" b="1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length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entire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Ethernet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frame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16-bit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field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hold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length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value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between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0</a:t>
            </a:r>
            <a:r>
              <a:rPr sz="2100" spc="-25" dirty="0">
                <a:latin typeface="Times New Roman"/>
                <a:cs typeface="Times New Roman"/>
              </a:rPr>
              <a:t> to </a:t>
            </a:r>
            <a:r>
              <a:rPr sz="2100" dirty="0">
                <a:latin typeface="Times New Roman"/>
                <a:cs typeface="Times New Roman"/>
              </a:rPr>
              <a:t>65534,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but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length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cannot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larger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than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1500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because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some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own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limitations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Ethernet.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Font typeface="Wingdings"/>
              <a:buChar char=""/>
              <a:tabLst>
                <a:tab pos="240665" algn="l"/>
              </a:tabLst>
            </a:pPr>
            <a:r>
              <a:rPr sz="2100" b="1" dirty="0">
                <a:latin typeface="Times New Roman"/>
                <a:cs typeface="Times New Roman"/>
              </a:rPr>
              <a:t>Data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Payload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minimum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46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byte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maximum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1500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byte.</a:t>
            </a:r>
            <a:endParaRPr sz="2100">
              <a:latin typeface="Times New Roman"/>
              <a:cs typeface="Times New Roman"/>
            </a:endParaRPr>
          </a:p>
          <a:p>
            <a:pPr marL="240665" indent="-227965">
              <a:lnSpc>
                <a:spcPts val="2395"/>
              </a:lnSpc>
              <a:spcBef>
                <a:spcPts val="254"/>
              </a:spcBef>
              <a:buFont typeface="Wingdings"/>
              <a:buChar char=""/>
              <a:tabLst>
                <a:tab pos="240665" algn="l"/>
              </a:tabLst>
            </a:pPr>
            <a:r>
              <a:rPr sz="2100" b="1" dirty="0">
                <a:latin typeface="Times New Roman"/>
                <a:cs typeface="Times New Roman"/>
              </a:rPr>
              <a:t>Cyclic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Redundancy</a:t>
            </a:r>
            <a:r>
              <a:rPr sz="2100" b="1" spc="-3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Check</a:t>
            </a:r>
            <a:r>
              <a:rPr sz="2100" b="1" spc="-1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(CRC)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CRC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4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Byte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field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which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hash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code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data.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checksum</a:t>
            </a:r>
            <a:endParaRPr sz="2100">
              <a:latin typeface="Times New Roman"/>
              <a:cs typeface="Times New Roman"/>
            </a:endParaRPr>
          </a:p>
          <a:p>
            <a:pPr marL="241300">
              <a:lnSpc>
                <a:spcPts val="2395"/>
              </a:lnSpc>
            </a:pPr>
            <a:r>
              <a:rPr sz="2100" dirty="0">
                <a:latin typeface="Times New Roman"/>
                <a:cs typeface="Times New Roman"/>
              </a:rPr>
              <a:t>computed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destination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same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sent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checksum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value,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data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received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corrupted.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042" y="649681"/>
            <a:ext cx="310896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1" spc="-10" dirty="0">
                <a:latin typeface="Times New Roman"/>
                <a:cs typeface="Times New Roman"/>
              </a:rPr>
              <a:t>Frames </a:t>
            </a:r>
            <a:r>
              <a:rPr b="1" dirty="0">
                <a:latin typeface="Times New Roman"/>
                <a:cs typeface="Times New Roman"/>
              </a:rPr>
              <a:t>Example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: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30" dirty="0">
                <a:latin typeface="Times New Roman"/>
                <a:cs typeface="Times New Roman"/>
              </a:rPr>
              <a:t>WiFi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9035" y="99060"/>
            <a:ext cx="7229856" cy="23530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2536" y="2309901"/>
            <a:ext cx="10900410" cy="42678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0665" indent="-234950" algn="just">
              <a:lnSpc>
                <a:spcPct val="100000"/>
              </a:lnSpc>
              <a:spcBef>
                <a:spcPts val="34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solidFill>
                  <a:srgbClr val="273139"/>
                </a:solidFill>
                <a:latin typeface="Times New Roman"/>
                <a:cs typeface="Times New Roman"/>
              </a:rPr>
              <a:t>Frame</a:t>
            </a:r>
            <a:r>
              <a:rPr sz="2200" b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73139"/>
                </a:solidFill>
                <a:latin typeface="Times New Roman"/>
                <a:cs typeface="Times New Roman"/>
              </a:rPr>
              <a:t>Control(FC)</a:t>
            </a:r>
            <a:r>
              <a:rPr sz="2200" b="1" spc="-3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73139"/>
                </a:solidFill>
                <a:latin typeface="Times New Roman"/>
                <a:cs typeface="Times New Roman"/>
              </a:rPr>
              <a:t>–</a:t>
            </a:r>
            <a:r>
              <a:rPr sz="2200" b="1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sz="22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defines</a:t>
            </a:r>
            <a:r>
              <a:rPr sz="22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type</a:t>
            </a:r>
            <a:r>
              <a:rPr sz="22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of</a:t>
            </a:r>
            <a:r>
              <a:rPr sz="2200" spc="-5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frame</a:t>
            </a:r>
            <a:r>
              <a:rPr sz="2200" spc="-1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some</a:t>
            </a:r>
            <a:r>
              <a:rPr sz="2200" spc="-3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control</a:t>
            </a:r>
            <a:r>
              <a:rPr sz="2200" spc="-4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73139"/>
                </a:solidFill>
                <a:latin typeface="Times New Roman"/>
                <a:cs typeface="Times New Roman"/>
              </a:rPr>
              <a:t>information</a:t>
            </a:r>
            <a:endParaRPr sz="22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ct val="9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698500" algn="l"/>
              </a:tabLst>
            </a:pPr>
            <a:r>
              <a:rPr sz="2200" b="1" dirty="0">
                <a:solidFill>
                  <a:srgbClr val="273139"/>
                </a:solidFill>
                <a:latin typeface="Times New Roman"/>
                <a:cs typeface="Times New Roman"/>
              </a:rPr>
              <a:t>Version:</a:t>
            </a:r>
            <a:r>
              <a:rPr sz="2200" b="1" spc="12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current</a:t>
            </a:r>
            <a:r>
              <a:rPr sz="2200" spc="13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protocol</a:t>
            </a:r>
            <a:r>
              <a:rPr sz="2200" spc="13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273139"/>
                </a:solidFill>
                <a:latin typeface="Times New Roman"/>
                <a:cs typeface="Times New Roman"/>
              </a:rPr>
              <a:t>version,</a:t>
            </a:r>
            <a:r>
              <a:rPr sz="2200" spc="350" dirty="0">
                <a:solidFill>
                  <a:srgbClr val="273139"/>
                </a:solidFill>
                <a:latin typeface="Times New Roman"/>
                <a:cs typeface="Times New Roman"/>
              </a:rPr>
              <a:t>   </a:t>
            </a:r>
            <a:r>
              <a:rPr sz="2200" b="1" dirty="0">
                <a:latin typeface="Times New Roman"/>
                <a:cs typeface="Times New Roman"/>
              </a:rPr>
              <a:t>Type:</a:t>
            </a:r>
            <a:r>
              <a:rPr sz="2200" b="1" spc="350" dirty="0">
                <a:latin typeface="Times New Roman"/>
                <a:cs typeface="Times New Roman"/>
              </a:rPr>
              <a:t>   </a:t>
            </a:r>
            <a:r>
              <a:rPr sz="2200" dirty="0">
                <a:latin typeface="Times New Roman"/>
                <a:cs typeface="Times New Roman"/>
              </a:rPr>
              <a:t>Determines</a:t>
            </a:r>
            <a:r>
              <a:rPr sz="2200" spc="1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3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function</a:t>
            </a:r>
            <a:r>
              <a:rPr sz="2200" spc="13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4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12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i.e </a:t>
            </a:r>
            <a:r>
              <a:rPr sz="2200" dirty="0">
                <a:latin typeface="Times New Roman"/>
                <a:cs typeface="Times New Roman"/>
              </a:rPr>
              <a:t>management(00),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control(01)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data(10).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11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reserved.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Subtype:</a:t>
            </a:r>
            <a:r>
              <a:rPr sz="2200" b="1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0000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association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request,</a:t>
            </a:r>
            <a:r>
              <a:rPr sz="2200" spc="5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1000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beacon.,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5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DS:</a:t>
            </a:r>
            <a:r>
              <a:rPr sz="2200" b="1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Indicates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</a:t>
            </a:r>
            <a:r>
              <a:rPr sz="2200" spc="4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50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for </a:t>
            </a:r>
            <a:r>
              <a:rPr sz="2200" dirty="0">
                <a:latin typeface="Times New Roman"/>
                <a:cs typeface="Times New Roman"/>
              </a:rPr>
              <a:t>DS(distribution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system),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From</a:t>
            </a:r>
            <a:r>
              <a:rPr sz="2200" b="1" spc="2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DS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More</a:t>
            </a:r>
            <a:r>
              <a:rPr sz="2200" b="1" spc="2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frag</a:t>
            </a:r>
            <a:r>
              <a:rPr sz="2200" b="1" spc="25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(More</a:t>
            </a:r>
            <a:r>
              <a:rPr sz="2200" b="1" spc="2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fragments):</a:t>
            </a:r>
            <a:r>
              <a:rPr sz="2200" b="1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2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2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means </a:t>
            </a:r>
            <a:r>
              <a:rPr sz="2200" dirty="0">
                <a:latin typeface="Times New Roman"/>
                <a:cs typeface="Times New Roman"/>
              </a:rPr>
              <a:t>frame is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fragments,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Retry,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Power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Mgmt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(Power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management):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indicates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station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goes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power-</a:t>
            </a:r>
            <a:r>
              <a:rPr sz="2200" dirty="0">
                <a:latin typeface="Times New Roman"/>
                <a:cs typeface="Times New Roman"/>
              </a:rPr>
              <a:t>save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mode.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field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0,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station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stays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active,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More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data: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sender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than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frame.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WEP:</a:t>
            </a:r>
            <a:r>
              <a:rPr sz="2200" b="1" spc="4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Indicates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standard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security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mechanism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802.11</a:t>
            </a:r>
            <a:r>
              <a:rPr sz="2200" spc="41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applied.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Order:</a:t>
            </a:r>
            <a:r>
              <a:rPr sz="2200" b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frames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strict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order.</a:t>
            </a:r>
            <a:endParaRPr sz="2200">
              <a:latin typeface="Times New Roman"/>
              <a:cs typeface="Times New Roman"/>
            </a:endParaRPr>
          </a:p>
          <a:p>
            <a:pPr marL="240665" indent="-234950">
              <a:lnSpc>
                <a:spcPct val="100000"/>
              </a:lnSpc>
              <a:spcBef>
                <a:spcPts val="225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Duration/ID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Period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medium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occupied(in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µs).</a:t>
            </a:r>
            <a:endParaRPr sz="2200">
              <a:latin typeface="Times New Roman"/>
              <a:cs typeface="Times New Roman"/>
            </a:endParaRPr>
          </a:p>
          <a:p>
            <a:pPr marL="240665" indent="-234950">
              <a:lnSpc>
                <a:spcPct val="100000"/>
              </a:lnSpc>
              <a:spcBef>
                <a:spcPts val="244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Address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4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IEEE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802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MAC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addresses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(48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each).</a:t>
            </a:r>
            <a:endParaRPr sz="2200">
              <a:latin typeface="Times New Roman"/>
              <a:cs typeface="Times New Roman"/>
            </a:endParaRPr>
          </a:p>
          <a:p>
            <a:pPr marL="240665" indent="-234950">
              <a:lnSpc>
                <a:spcPct val="100000"/>
              </a:lnSpc>
              <a:spcBef>
                <a:spcPts val="240"/>
              </a:spcBef>
              <a:buSzPct val="95454"/>
              <a:buFont typeface="Wingdings"/>
              <a:buChar char="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SC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(Sequence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control)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–</a:t>
            </a:r>
            <a:r>
              <a:rPr sz="2200" dirty="0">
                <a:latin typeface="Times New Roman"/>
                <a:cs typeface="Times New Roman"/>
              </a:rPr>
              <a:t>Sequence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(12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bits)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Fragment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(4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bits).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9677" y="1735810"/>
            <a:ext cx="8684895" cy="205358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https://www.youtube.com/watch?v=pi7mMjiixiY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https://www.javatpoint.com/frame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https://www.youtube.com/watch?v=NhpzBldHOYo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https://www.youtube.com/watch?v=sdYDLip2ANI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https://www.geeksforgeeks.org/switch-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functions-</a:t>
            </a:r>
            <a:r>
              <a:rPr sz="20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at-layer-2/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https://www.geeksforgeeks.org/types-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of-</a:t>
            </a: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switches-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in-computer-network/?ref=lbp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4102</Words>
  <Application>Microsoft Office PowerPoint</Application>
  <PresentationFormat>Widescreen</PresentationFormat>
  <Paragraphs>370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 MT</vt:lpstr>
      <vt:lpstr>Calibri</vt:lpstr>
      <vt:lpstr>Calibri Light</vt:lpstr>
      <vt:lpstr>Times New Roman</vt:lpstr>
      <vt:lpstr>Wingdings</vt:lpstr>
      <vt:lpstr>Office Theme</vt:lpstr>
      <vt:lpstr>Data Link Layer</vt:lpstr>
      <vt:lpstr>Outline</vt:lpstr>
      <vt:lpstr>Layers in OSI model</vt:lpstr>
      <vt:lpstr>Data Link Layer Overview</vt:lpstr>
      <vt:lpstr>OSI Model: Data Link Layer</vt:lpstr>
      <vt:lpstr>Data Link Layer</vt:lpstr>
      <vt:lpstr>Data Link Layer II</vt:lpstr>
      <vt:lpstr>Data Link Layer : Services</vt:lpstr>
      <vt:lpstr>Data Link Layer services</vt:lpstr>
      <vt:lpstr>Data Link Layer services: Framing</vt:lpstr>
      <vt:lpstr>Data Link Layer services: Physical addressing</vt:lpstr>
      <vt:lpstr>Data Link Layer services: Physical Addressing</vt:lpstr>
      <vt:lpstr>Data Link Layer services: Error Control</vt:lpstr>
      <vt:lpstr>Data Link Layer services: Flow Control</vt:lpstr>
      <vt:lpstr>Data Link Layer services: Access Control</vt:lpstr>
      <vt:lpstr>Switch</vt:lpstr>
      <vt:lpstr>Switch : Functions</vt:lpstr>
      <vt:lpstr>Switch : Functions</vt:lpstr>
      <vt:lpstr>Switch : Types</vt:lpstr>
      <vt:lpstr>Switch : Types</vt:lpstr>
      <vt:lpstr>PowerPoint Presentation</vt:lpstr>
      <vt:lpstr>Framing</vt:lpstr>
      <vt:lpstr>Framing Application</vt:lpstr>
      <vt:lpstr>PowerPoint Presentation</vt:lpstr>
      <vt:lpstr>Frame components: Frame header</vt:lpstr>
      <vt:lpstr>Types of Framing : Fixed size framing</vt:lpstr>
      <vt:lpstr>Types of Framing : Variable size framing</vt:lpstr>
      <vt:lpstr>Variable size framing: Byte stuffing</vt:lpstr>
      <vt:lpstr>Variable size framing: Bit stuffing</vt:lpstr>
      <vt:lpstr>Frames Example : Ethernet Frame</vt:lpstr>
      <vt:lpstr>Frames Example : WiFi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Gulshan Shrivastava</cp:lastModifiedBy>
  <cp:revision>11</cp:revision>
  <dcterms:created xsi:type="dcterms:W3CDTF">2026-01-20T06:18:36Z</dcterms:created>
  <dcterms:modified xsi:type="dcterms:W3CDTF">2026-02-05T10:29:48Z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2026-01-20T00:00:00Z</vt:filetime>
  </property>
  <property fmtid="{D5CDD505-2E9C-101B-9397-08002B2CF9AE}" pid="5" name="Producer">
    <vt:lpwstr>Microsoft® PowerPoint® for Microsoft 365</vt:lpwstr>
  </property>
</Properties>
</file>