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88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uzar Sayeed" userId="f3c20014-5dab-44db-87de-ec699cb07e88" providerId="ADAL" clId="{EEFFBD47-0EAB-44FF-8ACA-7455C5E9D84A}"/>
    <pc:docChg chg="undo custSel modSld">
      <pc:chgData name="Abuzar Sayeed" userId="f3c20014-5dab-44db-87de-ec699cb07e88" providerId="ADAL" clId="{EEFFBD47-0EAB-44FF-8ACA-7455C5E9D84A}" dt="2024-04-07T17:52:16.247" v="15" actId="478"/>
      <pc:docMkLst>
        <pc:docMk/>
      </pc:docMkLst>
      <pc:sldChg chg="delSp mod">
        <pc:chgData name="Abuzar Sayeed" userId="f3c20014-5dab-44db-87de-ec699cb07e88" providerId="ADAL" clId="{EEFFBD47-0EAB-44FF-8ACA-7455C5E9D84A}" dt="2024-04-07T17:50:52.031" v="0" actId="478"/>
        <pc:sldMkLst>
          <pc:docMk/>
          <pc:sldMk cId="0" sldId="257"/>
        </pc:sldMkLst>
        <pc:inkChg chg="del">
          <ac:chgData name="Abuzar Sayeed" userId="f3c20014-5dab-44db-87de-ec699cb07e88" providerId="ADAL" clId="{EEFFBD47-0EAB-44FF-8ACA-7455C5E9D84A}" dt="2024-04-07T17:50:52.031" v="0" actId="478"/>
          <ac:inkMkLst>
            <pc:docMk/>
            <pc:sldMk cId="0" sldId="257"/>
            <ac:inkMk id="26" creationId="{5F8191B1-ABBA-4D7C-AD16-09B4DE2DDBEA}"/>
          </ac:inkMkLst>
        </pc:inkChg>
      </pc:sldChg>
      <pc:sldChg chg="delSp mod">
        <pc:chgData name="Abuzar Sayeed" userId="f3c20014-5dab-44db-87de-ec699cb07e88" providerId="ADAL" clId="{EEFFBD47-0EAB-44FF-8ACA-7455C5E9D84A}" dt="2024-04-07T17:50:59.795" v="1" actId="478"/>
        <pc:sldMkLst>
          <pc:docMk/>
          <pc:sldMk cId="0" sldId="259"/>
        </pc:sldMkLst>
        <pc:inkChg chg="del">
          <ac:chgData name="Abuzar Sayeed" userId="f3c20014-5dab-44db-87de-ec699cb07e88" providerId="ADAL" clId="{EEFFBD47-0EAB-44FF-8ACA-7455C5E9D84A}" dt="2024-04-07T17:50:59.795" v="1" actId="478"/>
          <ac:inkMkLst>
            <pc:docMk/>
            <pc:sldMk cId="0" sldId="259"/>
            <ac:inkMk id="7" creationId="{3BC92E08-0D55-4E62-8568-10D5D19A9CF4}"/>
          </ac:inkMkLst>
        </pc:inkChg>
      </pc:sldChg>
      <pc:sldChg chg="delSp mod">
        <pc:chgData name="Abuzar Sayeed" userId="f3c20014-5dab-44db-87de-ec699cb07e88" providerId="ADAL" clId="{EEFFBD47-0EAB-44FF-8ACA-7455C5E9D84A}" dt="2024-04-07T17:51:05.247" v="2" actId="478"/>
        <pc:sldMkLst>
          <pc:docMk/>
          <pc:sldMk cId="0" sldId="260"/>
        </pc:sldMkLst>
        <pc:inkChg chg="del">
          <ac:chgData name="Abuzar Sayeed" userId="f3c20014-5dab-44db-87de-ec699cb07e88" providerId="ADAL" clId="{EEFFBD47-0EAB-44FF-8ACA-7455C5E9D84A}" dt="2024-04-07T17:51:05.247" v="2" actId="478"/>
          <ac:inkMkLst>
            <pc:docMk/>
            <pc:sldMk cId="0" sldId="260"/>
            <ac:inkMk id="9" creationId="{BB98138A-0813-4B74-AA36-CF94E8103B32}"/>
          </ac:inkMkLst>
        </pc:inkChg>
      </pc:sldChg>
      <pc:sldChg chg="delSp mod">
        <pc:chgData name="Abuzar Sayeed" userId="f3c20014-5dab-44db-87de-ec699cb07e88" providerId="ADAL" clId="{EEFFBD47-0EAB-44FF-8ACA-7455C5E9D84A}" dt="2024-04-07T17:51:13.812" v="3" actId="478"/>
        <pc:sldMkLst>
          <pc:docMk/>
          <pc:sldMk cId="0" sldId="262"/>
        </pc:sldMkLst>
        <pc:inkChg chg="del">
          <ac:chgData name="Abuzar Sayeed" userId="f3c20014-5dab-44db-87de-ec699cb07e88" providerId="ADAL" clId="{EEFFBD47-0EAB-44FF-8ACA-7455C5E9D84A}" dt="2024-04-07T17:51:13.812" v="3" actId="478"/>
          <ac:inkMkLst>
            <pc:docMk/>
            <pc:sldMk cId="0" sldId="262"/>
            <ac:inkMk id="6" creationId="{EE1BF0AE-2217-4C89-A4FC-53E4D716E5FA}"/>
          </ac:inkMkLst>
        </pc:inkChg>
      </pc:sldChg>
      <pc:sldChg chg="delSp mod">
        <pc:chgData name="Abuzar Sayeed" userId="f3c20014-5dab-44db-87de-ec699cb07e88" providerId="ADAL" clId="{EEFFBD47-0EAB-44FF-8ACA-7455C5E9D84A}" dt="2024-04-07T17:51:19.479" v="4" actId="478"/>
        <pc:sldMkLst>
          <pc:docMk/>
          <pc:sldMk cId="0" sldId="263"/>
        </pc:sldMkLst>
        <pc:inkChg chg="del">
          <ac:chgData name="Abuzar Sayeed" userId="f3c20014-5dab-44db-87de-ec699cb07e88" providerId="ADAL" clId="{EEFFBD47-0EAB-44FF-8ACA-7455C5E9D84A}" dt="2024-04-07T17:51:19.479" v="4" actId="478"/>
          <ac:inkMkLst>
            <pc:docMk/>
            <pc:sldMk cId="0" sldId="263"/>
            <ac:inkMk id="5" creationId="{47581B64-4B09-4C2B-8170-53CD0D8089BE}"/>
          </ac:inkMkLst>
        </pc:inkChg>
      </pc:sldChg>
      <pc:sldChg chg="addSp delSp mod">
        <pc:chgData name="Abuzar Sayeed" userId="f3c20014-5dab-44db-87de-ec699cb07e88" providerId="ADAL" clId="{EEFFBD47-0EAB-44FF-8ACA-7455C5E9D84A}" dt="2024-04-07T17:51:30.578" v="7" actId="478"/>
        <pc:sldMkLst>
          <pc:docMk/>
          <pc:sldMk cId="0" sldId="264"/>
        </pc:sldMkLst>
        <pc:grpChg chg="add del">
          <ac:chgData name="Abuzar Sayeed" userId="f3c20014-5dab-44db-87de-ec699cb07e88" providerId="ADAL" clId="{EEFFBD47-0EAB-44FF-8ACA-7455C5E9D84A}" dt="2024-04-07T17:51:27.622" v="6" actId="478"/>
          <ac:grpSpMkLst>
            <pc:docMk/>
            <pc:sldMk cId="0" sldId="264"/>
            <ac:grpSpMk id="3" creationId="{00000000-0000-0000-0000-000000000000}"/>
          </ac:grpSpMkLst>
        </pc:grpChg>
        <pc:inkChg chg="del">
          <ac:chgData name="Abuzar Sayeed" userId="f3c20014-5dab-44db-87de-ec699cb07e88" providerId="ADAL" clId="{EEFFBD47-0EAB-44FF-8ACA-7455C5E9D84A}" dt="2024-04-07T17:51:30.578" v="7" actId="478"/>
          <ac:inkMkLst>
            <pc:docMk/>
            <pc:sldMk cId="0" sldId="264"/>
            <ac:inkMk id="7" creationId="{56527D15-C7C7-4316-BEB2-4BAF077E1042}"/>
          </ac:inkMkLst>
        </pc:inkChg>
      </pc:sldChg>
      <pc:sldChg chg="delSp modSp mod">
        <pc:chgData name="Abuzar Sayeed" userId="f3c20014-5dab-44db-87de-ec699cb07e88" providerId="ADAL" clId="{EEFFBD47-0EAB-44FF-8ACA-7455C5E9D84A}" dt="2024-04-07T17:51:41.120" v="9" actId="478"/>
        <pc:sldMkLst>
          <pc:docMk/>
          <pc:sldMk cId="0" sldId="266"/>
        </pc:sldMkLst>
        <pc:inkChg chg="del mod">
          <ac:chgData name="Abuzar Sayeed" userId="f3c20014-5dab-44db-87de-ec699cb07e88" providerId="ADAL" clId="{EEFFBD47-0EAB-44FF-8ACA-7455C5E9D84A}" dt="2024-04-07T17:51:41.120" v="9" actId="478"/>
          <ac:inkMkLst>
            <pc:docMk/>
            <pc:sldMk cId="0" sldId="266"/>
            <ac:inkMk id="6" creationId="{10046B0E-C6FF-4AF0-943F-1D898DA74EFC}"/>
          </ac:inkMkLst>
        </pc:inkChg>
      </pc:sldChg>
      <pc:sldChg chg="delSp mod">
        <pc:chgData name="Abuzar Sayeed" userId="f3c20014-5dab-44db-87de-ec699cb07e88" providerId="ADAL" clId="{EEFFBD47-0EAB-44FF-8ACA-7455C5E9D84A}" dt="2024-04-07T17:51:46.115" v="10" actId="478"/>
        <pc:sldMkLst>
          <pc:docMk/>
          <pc:sldMk cId="0" sldId="267"/>
        </pc:sldMkLst>
        <pc:inkChg chg="del">
          <ac:chgData name="Abuzar Sayeed" userId="f3c20014-5dab-44db-87de-ec699cb07e88" providerId="ADAL" clId="{EEFFBD47-0EAB-44FF-8ACA-7455C5E9D84A}" dt="2024-04-07T17:51:46.115" v="10" actId="478"/>
          <ac:inkMkLst>
            <pc:docMk/>
            <pc:sldMk cId="0" sldId="267"/>
            <ac:inkMk id="25" creationId="{4B4725C6-B832-4067-A614-0EEDC925C00F}"/>
          </ac:inkMkLst>
        </pc:inkChg>
      </pc:sldChg>
      <pc:sldChg chg="delSp mod">
        <pc:chgData name="Abuzar Sayeed" userId="f3c20014-5dab-44db-87de-ec699cb07e88" providerId="ADAL" clId="{EEFFBD47-0EAB-44FF-8ACA-7455C5E9D84A}" dt="2024-04-07T17:51:50.644" v="11" actId="478"/>
        <pc:sldMkLst>
          <pc:docMk/>
          <pc:sldMk cId="0" sldId="268"/>
        </pc:sldMkLst>
        <pc:inkChg chg="del">
          <ac:chgData name="Abuzar Sayeed" userId="f3c20014-5dab-44db-87de-ec699cb07e88" providerId="ADAL" clId="{EEFFBD47-0EAB-44FF-8ACA-7455C5E9D84A}" dt="2024-04-07T17:51:50.644" v="11" actId="478"/>
          <ac:inkMkLst>
            <pc:docMk/>
            <pc:sldMk cId="0" sldId="268"/>
            <ac:inkMk id="7" creationId="{358D379C-CFE8-4990-BDC5-24F16982D8C9}"/>
          </ac:inkMkLst>
        </pc:inkChg>
      </pc:sldChg>
      <pc:sldChg chg="delSp modSp mod">
        <pc:chgData name="Abuzar Sayeed" userId="f3c20014-5dab-44db-87de-ec699cb07e88" providerId="ADAL" clId="{EEFFBD47-0EAB-44FF-8ACA-7455C5E9D84A}" dt="2024-04-07T17:52:00.460" v="13" actId="478"/>
        <pc:sldMkLst>
          <pc:docMk/>
          <pc:sldMk cId="0" sldId="270"/>
        </pc:sldMkLst>
        <pc:inkChg chg="del mod">
          <ac:chgData name="Abuzar Sayeed" userId="f3c20014-5dab-44db-87de-ec699cb07e88" providerId="ADAL" clId="{EEFFBD47-0EAB-44FF-8ACA-7455C5E9D84A}" dt="2024-04-07T17:52:00.460" v="13" actId="478"/>
          <ac:inkMkLst>
            <pc:docMk/>
            <pc:sldMk cId="0" sldId="270"/>
            <ac:inkMk id="6" creationId="{0856E628-0F4B-4948-810B-992034248FFE}"/>
          </ac:inkMkLst>
        </pc:inkChg>
      </pc:sldChg>
      <pc:sldChg chg="delSp mod">
        <pc:chgData name="Abuzar Sayeed" userId="f3c20014-5dab-44db-87de-ec699cb07e88" providerId="ADAL" clId="{EEFFBD47-0EAB-44FF-8ACA-7455C5E9D84A}" dt="2024-04-07T17:52:06.335" v="14" actId="478"/>
        <pc:sldMkLst>
          <pc:docMk/>
          <pc:sldMk cId="0" sldId="271"/>
        </pc:sldMkLst>
        <pc:inkChg chg="del">
          <ac:chgData name="Abuzar Sayeed" userId="f3c20014-5dab-44db-87de-ec699cb07e88" providerId="ADAL" clId="{EEFFBD47-0EAB-44FF-8ACA-7455C5E9D84A}" dt="2024-04-07T17:52:06.335" v="14" actId="478"/>
          <ac:inkMkLst>
            <pc:docMk/>
            <pc:sldMk cId="0" sldId="271"/>
            <ac:inkMk id="5" creationId="{176C7098-7B8D-4939-AC81-F97C00075D06}"/>
          </ac:inkMkLst>
        </pc:inkChg>
      </pc:sldChg>
      <pc:sldChg chg="delSp mod">
        <pc:chgData name="Abuzar Sayeed" userId="f3c20014-5dab-44db-87de-ec699cb07e88" providerId="ADAL" clId="{EEFFBD47-0EAB-44FF-8ACA-7455C5E9D84A}" dt="2024-04-07T17:52:16.247" v="15" actId="478"/>
        <pc:sldMkLst>
          <pc:docMk/>
          <pc:sldMk cId="0" sldId="273"/>
        </pc:sldMkLst>
        <pc:inkChg chg="del">
          <ac:chgData name="Abuzar Sayeed" userId="f3c20014-5dab-44db-87de-ec699cb07e88" providerId="ADAL" clId="{EEFFBD47-0EAB-44FF-8ACA-7455C5E9D84A}" dt="2024-04-07T17:52:16.247" v="15" actId="478"/>
          <ac:inkMkLst>
            <pc:docMk/>
            <pc:sldMk cId="0" sldId="273"/>
            <ac:inkMk id="6" creationId="{E10763E2-F409-4758-94CE-DB1EF3B9CE79}"/>
          </ac:inkMkLst>
        </pc:inkChg>
      </pc:sldChg>
    </pc:docChg>
  </pc:docChgLst>
  <pc:docChgLst>
    <pc:chgData name="Abuzar Sayeed" userId="f3c20014-5dab-44db-87de-ec699cb07e88" providerId="ADAL" clId="{2E322B5C-3EBD-4DDA-A0E5-F7772037E5D6}"/>
    <pc:docChg chg="modSld">
      <pc:chgData name="Abuzar Sayeed" userId="f3c20014-5dab-44db-87de-ec699cb07e88" providerId="ADAL" clId="{2E322B5C-3EBD-4DDA-A0E5-F7772037E5D6}" dt="2023-07-10T09:01:10.140" v="0"/>
      <pc:docMkLst>
        <pc:docMk/>
      </pc:docMkLst>
      <pc:sldChg chg="addSp">
        <pc:chgData name="Abuzar Sayeed" userId="f3c20014-5dab-44db-87de-ec699cb07e88" providerId="ADAL" clId="{2E322B5C-3EBD-4DDA-A0E5-F7772037E5D6}" dt="2023-07-10T09:01:10.140" v="0"/>
        <pc:sldMkLst>
          <pc:docMk/>
          <pc:sldMk cId="0" sldId="257"/>
        </pc:sldMkLst>
        <pc:inkChg chg="add">
          <ac:chgData name="Abuzar Sayeed" userId="f3c20014-5dab-44db-87de-ec699cb07e88" providerId="ADAL" clId="{2E322B5C-3EBD-4DDA-A0E5-F7772037E5D6}" dt="2023-07-10T09:01:10.140" v="0"/>
          <ac:inkMkLst>
            <pc:docMk/>
            <pc:sldMk cId="0" sldId="257"/>
            <ac:inkMk id="26" creationId="{5F8191B1-ABBA-4D7C-AD16-09B4DE2DDBEA}"/>
          </ac:inkMkLst>
        </pc:inkChg>
      </pc:sldChg>
      <pc:sldChg chg="addSp">
        <pc:chgData name="Abuzar Sayeed" userId="f3c20014-5dab-44db-87de-ec699cb07e88" providerId="ADAL" clId="{2E322B5C-3EBD-4DDA-A0E5-F7772037E5D6}" dt="2023-07-10T09:01:10.140" v="0"/>
        <pc:sldMkLst>
          <pc:docMk/>
          <pc:sldMk cId="0" sldId="259"/>
        </pc:sldMkLst>
        <pc:inkChg chg="add">
          <ac:chgData name="Abuzar Sayeed" userId="f3c20014-5dab-44db-87de-ec699cb07e88" providerId="ADAL" clId="{2E322B5C-3EBD-4DDA-A0E5-F7772037E5D6}" dt="2023-07-10T09:01:10.140" v="0"/>
          <ac:inkMkLst>
            <pc:docMk/>
            <pc:sldMk cId="0" sldId="259"/>
            <ac:inkMk id="7" creationId="{3BC92E08-0D55-4E62-8568-10D5D19A9CF4}"/>
          </ac:inkMkLst>
        </pc:inkChg>
      </pc:sldChg>
      <pc:sldChg chg="addSp">
        <pc:chgData name="Abuzar Sayeed" userId="f3c20014-5dab-44db-87de-ec699cb07e88" providerId="ADAL" clId="{2E322B5C-3EBD-4DDA-A0E5-F7772037E5D6}" dt="2023-07-10T09:01:10.140" v="0"/>
        <pc:sldMkLst>
          <pc:docMk/>
          <pc:sldMk cId="0" sldId="260"/>
        </pc:sldMkLst>
        <pc:inkChg chg="add">
          <ac:chgData name="Abuzar Sayeed" userId="f3c20014-5dab-44db-87de-ec699cb07e88" providerId="ADAL" clId="{2E322B5C-3EBD-4DDA-A0E5-F7772037E5D6}" dt="2023-07-10T09:01:10.140" v="0"/>
          <ac:inkMkLst>
            <pc:docMk/>
            <pc:sldMk cId="0" sldId="260"/>
            <ac:inkMk id="9" creationId="{BB98138A-0813-4B74-AA36-CF94E8103B32}"/>
          </ac:inkMkLst>
        </pc:inkChg>
      </pc:sldChg>
      <pc:sldChg chg="addSp">
        <pc:chgData name="Abuzar Sayeed" userId="f3c20014-5dab-44db-87de-ec699cb07e88" providerId="ADAL" clId="{2E322B5C-3EBD-4DDA-A0E5-F7772037E5D6}" dt="2023-07-10T09:01:10.140" v="0"/>
        <pc:sldMkLst>
          <pc:docMk/>
          <pc:sldMk cId="0" sldId="262"/>
        </pc:sldMkLst>
        <pc:inkChg chg="add">
          <ac:chgData name="Abuzar Sayeed" userId="f3c20014-5dab-44db-87de-ec699cb07e88" providerId="ADAL" clId="{2E322B5C-3EBD-4DDA-A0E5-F7772037E5D6}" dt="2023-07-10T09:01:10.140" v="0"/>
          <ac:inkMkLst>
            <pc:docMk/>
            <pc:sldMk cId="0" sldId="262"/>
            <ac:inkMk id="6" creationId="{EE1BF0AE-2217-4C89-A4FC-53E4D716E5FA}"/>
          </ac:inkMkLst>
        </pc:inkChg>
      </pc:sldChg>
      <pc:sldChg chg="addSp">
        <pc:chgData name="Abuzar Sayeed" userId="f3c20014-5dab-44db-87de-ec699cb07e88" providerId="ADAL" clId="{2E322B5C-3EBD-4DDA-A0E5-F7772037E5D6}" dt="2023-07-10T09:01:10.140" v="0"/>
        <pc:sldMkLst>
          <pc:docMk/>
          <pc:sldMk cId="0" sldId="263"/>
        </pc:sldMkLst>
        <pc:inkChg chg="add">
          <ac:chgData name="Abuzar Sayeed" userId="f3c20014-5dab-44db-87de-ec699cb07e88" providerId="ADAL" clId="{2E322B5C-3EBD-4DDA-A0E5-F7772037E5D6}" dt="2023-07-10T09:01:10.140" v="0"/>
          <ac:inkMkLst>
            <pc:docMk/>
            <pc:sldMk cId="0" sldId="263"/>
            <ac:inkMk id="5" creationId="{47581B64-4B09-4C2B-8170-53CD0D8089BE}"/>
          </ac:inkMkLst>
        </pc:inkChg>
      </pc:sldChg>
      <pc:sldChg chg="addSp">
        <pc:chgData name="Abuzar Sayeed" userId="f3c20014-5dab-44db-87de-ec699cb07e88" providerId="ADAL" clId="{2E322B5C-3EBD-4DDA-A0E5-F7772037E5D6}" dt="2023-07-10T09:01:10.140" v="0"/>
        <pc:sldMkLst>
          <pc:docMk/>
          <pc:sldMk cId="0" sldId="264"/>
        </pc:sldMkLst>
        <pc:inkChg chg="add">
          <ac:chgData name="Abuzar Sayeed" userId="f3c20014-5dab-44db-87de-ec699cb07e88" providerId="ADAL" clId="{2E322B5C-3EBD-4DDA-A0E5-F7772037E5D6}" dt="2023-07-10T09:01:10.140" v="0"/>
          <ac:inkMkLst>
            <pc:docMk/>
            <pc:sldMk cId="0" sldId="264"/>
            <ac:inkMk id="7" creationId="{56527D15-C7C7-4316-BEB2-4BAF077E1042}"/>
          </ac:inkMkLst>
        </pc:inkChg>
      </pc:sldChg>
      <pc:sldChg chg="addSp">
        <pc:chgData name="Abuzar Sayeed" userId="f3c20014-5dab-44db-87de-ec699cb07e88" providerId="ADAL" clId="{2E322B5C-3EBD-4DDA-A0E5-F7772037E5D6}" dt="2023-07-10T09:01:10.140" v="0"/>
        <pc:sldMkLst>
          <pc:docMk/>
          <pc:sldMk cId="0" sldId="266"/>
        </pc:sldMkLst>
        <pc:inkChg chg="add">
          <ac:chgData name="Abuzar Sayeed" userId="f3c20014-5dab-44db-87de-ec699cb07e88" providerId="ADAL" clId="{2E322B5C-3EBD-4DDA-A0E5-F7772037E5D6}" dt="2023-07-10T09:01:10.140" v="0"/>
          <ac:inkMkLst>
            <pc:docMk/>
            <pc:sldMk cId="0" sldId="266"/>
            <ac:inkMk id="6" creationId="{10046B0E-C6FF-4AF0-943F-1D898DA74EFC}"/>
          </ac:inkMkLst>
        </pc:inkChg>
      </pc:sldChg>
      <pc:sldChg chg="addSp">
        <pc:chgData name="Abuzar Sayeed" userId="f3c20014-5dab-44db-87de-ec699cb07e88" providerId="ADAL" clId="{2E322B5C-3EBD-4DDA-A0E5-F7772037E5D6}" dt="2023-07-10T09:01:10.140" v="0"/>
        <pc:sldMkLst>
          <pc:docMk/>
          <pc:sldMk cId="0" sldId="267"/>
        </pc:sldMkLst>
        <pc:inkChg chg="add">
          <ac:chgData name="Abuzar Sayeed" userId="f3c20014-5dab-44db-87de-ec699cb07e88" providerId="ADAL" clId="{2E322B5C-3EBD-4DDA-A0E5-F7772037E5D6}" dt="2023-07-10T09:01:10.140" v="0"/>
          <ac:inkMkLst>
            <pc:docMk/>
            <pc:sldMk cId="0" sldId="267"/>
            <ac:inkMk id="25" creationId="{4B4725C6-B832-4067-A614-0EEDC925C00F}"/>
          </ac:inkMkLst>
        </pc:inkChg>
      </pc:sldChg>
      <pc:sldChg chg="addSp">
        <pc:chgData name="Abuzar Sayeed" userId="f3c20014-5dab-44db-87de-ec699cb07e88" providerId="ADAL" clId="{2E322B5C-3EBD-4DDA-A0E5-F7772037E5D6}" dt="2023-07-10T09:01:10.140" v="0"/>
        <pc:sldMkLst>
          <pc:docMk/>
          <pc:sldMk cId="0" sldId="268"/>
        </pc:sldMkLst>
        <pc:inkChg chg="add">
          <ac:chgData name="Abuzar Sayeed" userId="f3c20014-5dab-44db-87de-ec699cb07e88" providerId="ADAL" clId="{2E322B5C-3EBD-4DDA-A0E5-F7772037E5D6}" dt="2023-07-10T09:01:10.140" v="0"/>
          <ac:inkMkLst>
            <pc:docMk/>
            <pc:sldMk cId="0" sldId="268"/>
            <ac:inkMk id="7" creationId="{358D379C-CFE8-4990-BDC5-24F16982D8C9}"/>
          </ac:inkMkLst>
        </pc:inkChg>
      </pc:sldChg>
      <pc:sldChg chg="addSp">
        <pc:chgData name="Abuzar Sayeed" userId="f3c20014-5dab-44db-87de-ec699cb07e88" providerId="ADAL" clId="{2E322B5C-3EBD-4DDA-A0E5-F7772037E5D6}" dt="2023-07-10T09:01:10.140" v="0"/>
        <pc:sldMkLst>
          <pc:docMk/>
          <pc:sldMk cId="0" sldId="270"/>
        </pc:sldMkLst>
        <pc:inkChg chg="add">
          <ac:chgData name="Abuzar Sayeed" userId="f3c20014-5dab-44db-87de-ec699cb07e88" providerId="ADAL" clId="{2E322B5C-3EBD-4DDA-A0E5-F7772037E5D6}" dt="2023-07-10T09:01:10.140" v="0"/>
          <ac:inkMkLst>
            <pc:docMk/>
            <pc:sldMk cId="0" sldId="270"/>
            <ac:inkMk id="6" creationId="{0856E628-0F4B-4948-810B-992034248FFE}"/>
          </ac:inkMkLst>
        </pc:inkChg>
      </pc:sldChg>
      <pc:sldChg chg="addSp">
        <pc:chgData name="Abuzar Sayeed" userId="f3c20014-5dab-44db-87de-ec699cb07e88" providerId="ADAL" clId="{2E322B5C-3EBD-4DDA-A0E5-F7772037E5D6}" dt="2023-07-10T09:01:10.140" v="0"/>
        <pc:sldMkLst>
          <pc:docMk/>
          <pc:sldMk cId="0" sldId="271"/>
        </pc:sldMkLst>
        <pc:inkChg chg="add">
          <ac:chgData name="Abuzar Sayeed" userId="f3c20014-5dab-44db-87de-ec699cb07e88" providerId="ADAL" clId="{2E322B5C-3EBD-4DDA-A0E5-F7772037E5D6}" dt="2023-07-10T09:01:10.140" v="0"/>
          <ac:inkMkLst>
            <pc:docMk/>
            <pc:sldMk cId="0" sldId="271"/>
            <ac:inkMk id="5" creationId="{176C7098-7B8D-4939-AC81-F97C00075D06}"/>
          </ac:inkMkLst>
        </pc:inkChg>
      </pc:sldChg>
      <pc:sldChg chg="addSp">
        <pc:chgData name="Abuzar Sayeed" userId="f3c20014-5dab-44db-87de-ec699cb07e88" providerId="ADAL" clId="{2E322B5C-3EBD-4DDA-A0E5-F7772037E5D6}" dt="2023-07-10T09:01:10.140" v="0"/>
        <pc:sldMkLst>
          <pc:docMk/>
          <pc:sldMk cId="0" sldId="273"/>
        </pc:sldMkLst>
        <pc:inkChg chg="add">
          <ac:chgData name="Abuzar Sayeed" userId="f3c20014-5dab-44db-87de-ec699cb07e88" providerId="ADAL" clId="{2E322B5C-3EBD-4DDA-A0E5-F7772037E5D6}" dt="2023-07-10T09:01:10.140" v="0"/>
          <ac:inkMkLst>
            <pc:docMk/>
            <pc:sldMk cId="0" sldId="273"/>
            <ac:inkMk id="6" creationId="{E10763E2-F409-4758-94CE-DB1EF3B9CE79}"/>
          </ac:inkMkLst>
        </pc:ink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72541" y="1555445"/>
            <a:ext cx="2425065" cy="2971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5B9BD4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97889" y="708405"/>
            <a:ext cx="6348221" cy="20821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1812" y="1800860"/>
            <a:ext cx="7580375" cy="1485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cknowledgement_(data_networks)" TargetMode="External"/><Relationship Id="rId2" Type="http://schemas.openxmlformats.org/officeDocument/2006/relationships/hyperlink" Target="https://en.wikipedia.org/wiki/Transmission_Control_Protocol" TargetMode="Externa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eeksforgeeks.org/tcp-congestion-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252729"/>
            <a:ext cx="9156700" cy="1349375"/>
            <a:chOff x="-6350" y="252729"/>
            <a:chExt cx="9156700" cy="1349375"/>
          </a:xfrm>
        </p:grpSpPr>
        <p:sp>
          <p:nvSpPr>
            <p:cNvPr id="3" name="object 3"/>
            <p:cNvSpPr/>
            <p:nvPr/>
          </p:nvSpPr>
          <p:spPr>
            <a:xfrm>
              <a:off x="0" y="259079"/>
              <a:ext cx="9144000" cy="1336675"/>
            </a:xfrm>
            <a:custGeom>
              <a:avLst/>
              <a:gdLst/>
              <a:ahLst/>
              <a:cxnLst/>
              <a:rect l="l" t="t" r="r" b="b"/>
              <a:pathLst>
                <a:path w="9144000" h="1336675">
                  <a:moveTo>
                    <a:pt x="9144000" y="0"/>
                  </a:moveTo>
                  <a:lnTo>
                    <a:pt x="0" y="0"/>
                  </a:lnTo>
                  <a:lnTo>
                    <a:pt x="0" y="1336548"/>
                  </a:lnTo>
                  <a:lnTo>
                    <a:pt x="9144000" y="133654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59079"/>
              <a:ext cx="9144000" cy="1336675"/>
            </a:xfrm>
            <a:custGeom>
              <a:avLst/>
              <a:gdLst/>
              <a:ahLst/>
              <a:cxnLst/>
              <a:rect l="l" t="t" r="r" b="b"/>
              <a:pathLst>
                <a:path w="9144000" h="1336675">
                  <a:moveTo>
                    <a:pt x="0" y="1336548"/>
                  </a:moveTo>
                  <a:lnTo>
                    <a:pt x="9144000" y="133654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33654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07719" y="313029"/>
            <a:ext cx="6953250" cy="1297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05280" marR="5080" indent="-1593215">
              <a:lnSpc>
                <a:spcPct val="130400"/>
              </a:lnSpc>
              <a:spcBef>
                <a:spcPts val="95"/>
              </a:spcBef>
            </a:pPr>
            <a:r>
              <a:rPr sz="3200" dirty="0">
                <a:latin typeface="Times New Roman"/>
                <a:cs typeface="Times New Roman"/>
              </a:rPr>
              <a:t>TCP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CONGESTION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CONTROL: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imes New Roman"/>
                <a:cs typeface="Times New Roman"/>
              </a:rPr>
              <a:t>SLOW-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</a:t>
            </a:r>
            <a:r>
              <a:rPr sz="3200" spc="-260" dirty="0">
                <a:latin typeface="Times New Roman"/>
                <a:cs typeface="Times New Roman"/>
              </a:rPr>
              <a:t>T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90" dirty="0">
                <a:latin typeface="Times New Roman"/>
                <a:cs typeface="Times New Roman"/>
              </a:rPr>
              <a:t>R</a:t>
            </a:r>
            <a:r>
              <a:rPr sz="3200" dirty="0">
                <a:latin typeface="Times New Roman"/>
                <a:cs typeface="Times New Roman"/>
              </a:rPr>
              <a:t>T</a:t>
            </a:r>
            <a:r>
              <a:rPr sz="3200" spc="-2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ALGORITHM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3320" y="1720595"/>
            <a:ext cx="1737360" cy="200405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72792" y="3905199"/>
            <a:ext cx="5597525" cy="794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55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School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 </a:t>
            </a:r>
            <a:r>
              <a:rPr sz="1800" b="1" spc="-5" dirty="0">
                <a:latin typeface="Times New Roman"/>
                <a:cs typeface="Times New Roman"/>
              </a:rPr>
              <a:t>Computer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Science Engineering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and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Technology</a:t>
            </a:r>
            <a:endParaRPr sz="1800">
              <a:latin typeface="Times New Roman"/>
              <a:cs typeface="Times New Roman"/>
            </a:endParaRPr>
          </a:p>
          <a:p>
            <a:pPr marL="1637664" marR="1628775" indent="-1905" algn="ctr">
              <a:lnSpc>
                <a:spcPts val="1939"/>
              </a:lnSpc>
              <a:spcBef>
                <a:spcPts val="140"/>
              </a:spcBef>
            </a:pPr>
            <a:r>
              <a:rPr sz="1800" b="1" spc="-5" dirty="0">
                <a:latin typeface="Times New Roman"/>
                <a:cs typeface="Times New Roman"/>
              </a:rPr>
              <a:t>Bennett University 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Greater</a:t>
            </a:r>
            <a:r>
              <a:rPr sz="1800" b="1" spc="-7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Noida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–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201310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520" y="335279"/>
            <a:ext cx="2560320" cy="2851785"/>
          </a:xfrm>
          <a:prstGeom prst="rect">
            <a:avLst/>
          </a:prstGeom>
          <a:solidFill>
            <a:srgbClr val="585858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150">
              <a:latin typeface="Times New Roman"/>
              <a:cs typeface="Times New Roman"/>
            </a:endParaRPr>
          </a:p>
          <a:p>
            <a:pPr marL="323850" marR="499109">
              <a:lnSpc>
                <a:spcPts val="2380"/>
              </a:lnSpc>
              <a:spcBef>
                <a:spcPts val="5"/>
              </a:spcBef>
            </a:pPr>
            <a:r>
              <a:rPr sz="2200" spc="-10" dirty="0">
                <a:latin typeface="Calibri Light"/>
                <a:cs typeface="Calibri Light"/>
              </a:rPr>
              <a:t>T</a:t>
            </a:r>
            <a:r>
              <a:rPr sz="2200" spc="-15" dirty="0">
                <a:latin typeface="Calibri Light"/>
                <a:cs typeface="Calibri Light"/>
              </a:rPr>
              <a:t>R</a:t>
            </a:r>
            <a:r>
              <a:rPr sz="2200" spc="-10" dirty="0">
                <a:latin typeface="Calibri Light"/>
                <a:cs typeface="Calibri Light"/>
              </a:rPr>
              <a:t>ANS</a:t>
            </a:r>
            <a:r>
              <a:rPr sz="2200" dirty="0">
                <a:latin typeface="Calibri Light"/>
                <a:cs typeface="Calibri Light"/>
              </a:rPr>
              <a:t>M</a:t>
            </a:r>
            <a:r>
              <a:rPr sz="2200" spc="-10" dirty="0">
                <a:latin typeface="Calibri Light"/>
                <a:cs typeface="Calibri Light"/>
              </a:rPr>
              <a:t>IS</a:t>
            </a:r>
            <a:r>
              <a:rPr sz="2200" spc="-5" dirty="0">
                <a:latin typeface="Calibri Light"/>
                <a:cs typeface="Calibri Light"/>
              </a:rPr>
              <a:t>S</a:t>
            </a:r>
            <a:r>
              <a:rPr sz="2200" spc="-10" dirty="0">
                <a:latin typeface="Calibri Light"/>
                <a:cs typeface="Calibri Light"/>
              </a:rPr>
              <a:t>I</a:t>
            </a:r>
            <a:r>
              <a:rPr sz="2200" dirty="0">
                <a:latin typeface="Calibri Light"/>
                <a:cs typeface="Calibri Light"/>
              </a:rPr>
              <a:t>O</a:t>
            </a:r>
            <a:r>
              <a:rPr sz="2200" spc="-5" dirty="0">
                <a:latin typeface="Calibri Light"/>
                <a:cs typeface="Calibri Light"/>
              </a:rPr>
              <a:t>N  </a:t>
            </a:r>
            <a:r>
              <a:rPr sz="2200" spc="-15" dirty="0">
                <a:latin typeface="Calibri Light"/>
                <a:cs typeface="Calibri Light"/>
              </a:rPr>
              <a:t>CONTROL </a:t>
            </a:r>
            <a:r>
              <a:rPr sz="2200" spc="-10" dirty="0">
                <a:latin typeface="Calibri Light"/>
                <a:cs typeface="Calibri Light"/>
              </a:rPr>
              <a:t> </a:t>
            </a:r>
            <a:r>
              <a:rPr sz="2200" spc="-30" dirty="0">
                <a:latin typeface="Calibri Light"/>
                <a:cs typeface="Calibri Light"/>
              </a:rPr>
              <a:t>PROTOCOL</a:t>
            </a:r>
            <a:endParaRPr sz="22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8995" y="3314700"/>
            <a:ext cx="2562225" cy="1484630"/>
          </a:xfrm>
          <a:custGeom>
            <a:avLst/>
            <a:gdLst/>
            <a:ahLst/>
            <a:cxnLst/>
            <a:rect l="l" t="t" r="r" b="b"/>
            <a:pathLst>
              <a:path w="2562225" h="1484629">
                <a:moveTo>
                  <a:pt x="2561844" y="0"/>
                </a:moveTo>
                <a:lnTo>
                  <a:pt x="0" y="0"/>
                </a:lnTo>
                <a:lnTo>
                  <a:pt x="0" y="1484376"/>
                </a:lnTo>
                <a:lnTo>
                  <a:pt x="2561844" y="1484376"/>
                </a:lnTo>
                <a:lnTo>
                  <a:pt x="2561844" y="0"/>
                </a:lnTo>
                <a:close/>
              </a:path>
            </a:pathLst>
          </a:custGeom>
          <a:solidFill>
            <a:srgbClr val="5B9BD4">
              <a:alpha val="9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032760" y="335279"/>
            <a:ext cx="5767070" cy="4465320"/>
            <a:chOff x="3032760" y="335279"/>
            <a:chExt cx="5767070" cy="4465320"/>
          </a:xfrm>
        </p:grpSpPr>
        <p:sp>
          <p:nvSpPr>
            <p:cNvPr id="5" name="object 5"/>
            <p:cNvSpPr/>
            <p:nvPr/>
          </p:nvSpPr>
          <p:spPr>
            <a:xfrm>
              <a:off x="3032760" y="335279"/>
              <a:ext cx="5767070" cy="4465320"/>
            </a:xfrm>
            <a:custGeom>
              <a:avLst/>
              <a:gdLst/>
              <a:ahLst/>
              <a:cxnLst/>
              <a:rect l="l" t="t" r="r" b="b"/>
              <a:pathLst>
                <a:path w="5767070" h="4465320">
                  <a:moveTo>
                    <a:pt x="5766816" y="0"/>
                  </a:moveTo>
                  <a:lnTo>
                    <a:pt x="0" y="0"/>
                  </a:lnTo>
                  <a:lnTo>
                    <a:pt x="0" y="4465320"/>
                  </a:lnTo>
                  <a:lnTo>
                    <a:pt x="5766816" y="4465320"/>
                  </a:lnTo>
                  <a:lnTo>
                    <a:pt x="5766816" y="0"/>
                  </a:lnTo>
                  <a:close/>
                </a:path>
              </a:pathLst>
            </a:custGeom>
            <a:solidFill>
              <a:srgbClr val="7E7E7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84220" y="3607308"/>
              <a:ext cx="5279390" cy="1013460"/>
            </a:xfrm>
            <a:custGeom>
              <a:avLst/>
              <a:gdLst/>
              <a:ahLst/>
              <a:cxnLst/>
              <a:rect l="l" t="t" r="r" b="b"/>
              <a:pathLst>
                <a:path w="5279390" h="1013460">
                  <a:moveTo>
                    <a:pt x="5279135" y="0"/>
                  </a:moveTo>
                  <a:lnTo>
                    <a:pt x="0" y="0"/>
                  </a:lnTo>
                  <a:lnTo>
                    <a:pt x="0" y="1013459"/>
                  </a:lnTo>
                  <a:lnTo>
                    <a:pt x="5279135" y="1013459"/>
                  </a:lnTo>
                  <a:lnTo>
                    <a:pt x="5279135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84220" y="3607308"/>
              <a:ext cx="5279390" cy="1013460"/>
            </a:xfrm>
            <a:custGeom>
              <a:avLst/>
              <a:gdLst/>
              <a:ahLst/>
              <a:cxnLst/>
              <a:rect l="l" t="t" r="r" b="b"/>
              <a:pathLst>
                <a:path w="5279390" h="1013460">
                  <a:moveTo>
                    <a:pt x="0" y="1013459"/>
                  </a:moveTo>
                  <a:lnTo>
                    <a:pt x="5279135" y="1013459"/>
                  </a:lnTo>
                  <a:lnTo>
                    <a:pt x="5279135" y="0"/>
                  </a:lnTo>
                  <a:lnTo>
                    <a:pt x="0" y="0"/>
                  </a:lnTo>
                  <a:lnTo>
                    <a:pt x="0" y="101345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290570" y="3928364"/>
            <a:ext cx="526669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z="1900" spc="-9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provide</a:t>
            </a:r>
            <a:r>
              <a:rPr sz="190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connection-oriented</a:t>
            </a:r>
            <a:r>
              <a:rPr sz="190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277870" y="2055622"/>
            <a:ext cx="5292090" cy="1573530"/>
            <a:chOff x="3277870" y="2055622"/>
            <a:chExt cx="5292090" cy="1573530"/>
          </a:xfrm>
        </p:grpSpPr>
        <p:sp>
          <p:nvSpPr>
            <p:cNvPr id="10" name="object 10"/>
            <p:cNvSpPr/>
            <p:nvPr/>
          </p:nvSpPr>
          <p:spPr>
            <a:xfrm>
              <a:off x="3284220" y="2061972"/>
              <a:ext cx="5279390" cy="1560830"/>
            </a:xfrm>
            <a:custGeom>
              <a:avLst/>
              <a:gdLst/>
              <a:ahLst/>
              <a:cxnLst/>
              <a:rect l="l" t="t" r="r" b="b"/>
              <a:pathLst>
                <a:path w="5279390" h="1560829">
                  <a:moveTo>
                    <a:pt x="5279135" y="0"/>
                  </a:moveTo>
                  <a:lnTo>
                    <a:pt x="0" y="0"/>
                  </a:lnTo>
                  <a:lnTo>
                    <a:pt x="0" y="1013967"/>
                  </a:lnTo>
                  <a:lnTo>
                    <a:pt x="2444495" y="1013967"/>
                  </a:lnTo>
                  <a:lnTo>
                    <a:pt x="2444495" y="1170432"/>
                  </a:lnTo>
                  <a:lnTo>
                    <a:pt x="2249424" y="1170432"/>
                  </a:lnTo>
                  <a:lnTo>
                    <a:pt x="2639567" y="1560575"/>
                  </a:lnTo>
                  <a:lnTo>
                    <a:pt x="3029712" y="1170432"/>
                  </a:lnTo>
                  <a:lnTo>
                    <a:pt x="2834640" y="1170432"/>
                  </a:lnTo>
                  <a:lnTo>
                    <a:pt x="2834640" y="1013967"/>
                  </a:lnTo>
                  <a:lnTo>
                    <a:pt x="5279135" y="1013967"/>
                  </a:lnTo>
                  <a:lnTo>
                    <a:pt x="5279135" y="0"/>
                  </a:lnTo>
                  <a:close/>
                </a:path>
              </a:pathLst>
            </a:custGeom>
            <a:solidFill>
              <a:srgbClr val="C481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84220" y="2061972"/>
              <a:ext cx="5279390" cy="1560830"/>
            </a:xfrm>
            <a:custGeom>
              <a:avLst/>
              <a:gdLst/>
              <a:ahLst/>
              <a:cxnLst/>
              <a:rect l="l" t="t" r="r" b="b"/>
              <a:pathLst>
                <a:path w="5279390" h="1560829">
                  <a:moveTo>
                    <a:pt x="5279135" y="1013967"/>
                  </a:moveTo>
                  <a:lnTo>
                    <a:pt x="2834640" y="1013967"/>
                  </a:lnTo>
                  <a:lnTo>
                    <a:pt x="2834640" y="1170432"/>
                  </a:lnTo>
                  <a:lnTo>
                    <a:pt x="3029712" y="1170432"/>
                  </a:lnTo>
                  <a:lnTo>
                    <a:pt x="2639567" y="1560575"/>
                  </a:lnTo>
                  <a:lnTo>
                    <a:pt x="2249424" y="1170432"/>
                  </a:lnTo>
                  <a:lnTo>
                    <a:pt x="2444495" y="1170432"/>
                  </a:lnTo>
                  <a:lnTo>
                    <a:pt x="2444495" y="1013967"/>
                  </a:lnTo>
                  <a:lnTo>
                    <a:pt x="0" y="1013967"/>
                  </a:lnTo>
                  <a:lnTo>
                    <a:pt x="0" y="0"/>
                  </a:lnTo>
                  <a:lnTo>
                    <a:pt x="5279135" y="0"/>
                  </a:lnTo>
                  <a:lnTo>
                    <a:pt x="5279135" y="101396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231513" y="2149297"/>
            <a:ext cx="339534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Explicitly</a:t>
            </a:r>
            <a:r>
              <a:rPr sz="1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defines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following</a:t>
            </a:r>
            <a:r>
              <a:rPr sz="1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phases: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80917" y="2602738"/>
            <a:ext cx="1770380" cy="479425"/>
          </a:xfrm>
          <a:prstGeom prst="rect">
            <a:avLst/>
          </a:prstGeom>
          <a:solidFill>
            <a:srgbClr val="F8D6CD">
              <a:alpha val="90194"/>
            </a:srgbClr>
          </a:solidFill>
        </p:spPr>
        <p:txBody>
          <a:bodyPr vert="horz" wrap="square" lIns="0" tIns="22860" rIns="0" bIns="0" rtlCol="0">
            <a:spAutoFit/>
          </a:bodyPr>
          <a:lstStyle/>
          <a:p>
            <a:pPr marL="339090" marR="330200" indent="101600">
              <a:lnSpc>
                <a:spcPts val="1639"/>
              </a:lnSpc>
              <a:spcBef>
                <a:spcPts val="180"/>
              </a:spcBef>
            </a:pPr>
            <a:r>
              <a:rPr sz="1500" spc="-5" dirty="0">
                <a:latin typeface="Calibri"/>
                <a:cs typeface="Calibri"/>
              </a:rPr>
              <a:t>Connection 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E</a:t>
            </a:r>
            <a:r>
              <a:rPr sz="1500" spc="-15" dirty="0">
                <a:latin typeface="Calibri"/>
                <a:cs typeface="Calibri"/>
              </a:rPr>
              <a:t>s</a:t>
            </a:r>
            <a:r>
              <a:rPr sz="1500" spc="-25" dirty="0">
                <a:latin typeface="Calibri"/>
                <a:cs typeface="Calibri"/>
              </a:rPr>
              <a:t>t</a:t>
            </a:r>
            <a:r>
              <a:rPr sz="1500" dirty="0">
                <a:latin typeface="Calibri"/>
                <a:cs typeface="Calibri"/>
              </a:rPr>
              <a:t>abl</a:t>
            </a:r>
            <a:r>
              <a:rPr sz="1500" spc="5" dirty="0">
                <a:latin typeface="Calibri"/>
                <a:cs typeface="Calibri"/>
              </a:rPr>
              <a:t>i</a:t>
            </a:r>
            <a:r>
              <a:rPr sz="1500" spc="-5" dirty="0">
                <a:latin typeface="Calibri"/>
                <a:cs typeface="Calibri"/>
              </a:rPr>
              <a:t>s</a:t>
            </a:r>
            <a:r>
              <a:rPr sz="1500" dirty="0">
                <a:latin typeface="Calibri"/>
                <a:cs typeface="Calibri"/>
              </a:rPr>
              <a:t>hme</a:t>
            </a:r>
            <a:r>
              <a:rPr sz="1500" spc="-10" dirty="0">
                <a:latin typeface="Calibri"/>
                <a:cs typeface="Calibri"/>
              </a:rPr>
              <a:t>n</a:t>
            </a:r>
            <a:r>
              <a:rPr sz="1500" dirty="0">
                <a:latin typeface="Calibri"/>
                <a:cs typeface="Calibri"/>
              </a:rPr>
              <a:t>t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038090" y="2602738"/>
            <a:ext cx="1771650" cy="479425"/>
            <a:chOff x="5038090" y="2602738"/>
            <a:chExt cx="1771650" cy="479425"/>
          </a:xfrm>
        </p:grpSpPr>
        <p:sp>
          <p:nvSpPr>
            <p:cNvPr id="15" name="object 15"/>
            <p:cNvSpPr/>
            <p:nvPr/>
          </p:nvSpPr>
          <p:spPr>
            <a:xfrm>
              <a:off x="5044440" y="2609088"/>
              <a:ext cx="1758950" cy="466725"/>
            </a:xfrm>
            <a:custGeom>
              <a:avLst/>
              <a:gdLst/>
              <a:ahLst/>
              <a:cxnLst/>
              <a:rect l="l" t="t" r="r" b="b"/>
              <a:pathLst>
                <a:path w="1758950" h="466725">
                  <a:moveTo>
                    <a:pt x="1758695" y="0"/>
                  </a:moveTo>
                  <a:lnTo>
                    <a:pt x="0" y="0"/>
                  </a:lnTo>
                  <a:lnTo>
                    <a:pt x="0" y="466344"/>
                  </a:lnTo>
                  <a:lnTo>
                    <a:pt x="1758695" y="466344"/>
                  </a:lnTo>
                  <a:lnTo>
                    <a:pt x="1758695" y="0"/>
                  </a:lnTo>
                  <a:close/>
                </a:path>
              </a:pathLst>
            </a:custGeom>
            <a:solidFill>
              <a:srgbClr val="ECD9D6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044440" y="2609088"/>
              <a:ext cx="1758950" cy="466725"/>
            </a:xfrm>
            <a:custGeom>
              <a:avLst/>
              <a:gdLst/>
              <a:ahLst/>
              <a:cxnLst/>
              <a:rect l="l" t="t" r="r" b="b"/>
              <a:pathLst>
                <a:path w="1758950" h="466725">
                  <a:moveTo>
                    <a:pt x="0" y="466344"/>
                  </a:moveTo>
                  <a:lnTo>
                    <a:pt x="1758695" y="466344"/>
                  </a:lnTo>
                  <a:lnTo>
                    <a:pt x="1758695" y="0"/>
                  </a:lnTo>
                  <a:lnTo>
                    <a:pt x="0" y="0"/>
                  </a:lnTo>
                  <a:lnTo>
                    <a:pt x="0" y="466344"/>
                  </a:lnTo>
                  <a:close/>
                </a:path>
              </a:pathLst>
            </a:custGeom>
            <a:ln w="12700">
              <a:solidFill>
                <a:srgbClr val="ECD9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411978" y="2693923"/>
            <a:ext cx="10382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Calibri"/>
                <a:cs typeface="Calibri"/>
              </a:rPr>
              <a:t>Data</a:t>
            </a:r>
            <a:r>
              <a:rPr sz="1500" spc="-7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Transfer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796785" y="2602738"/>
            <a:ext cx="1770380" cy="479425"/>
            <a:chOff x="6796785" y="2602738"/>
            <a:chExt cx="1770380" cy="479425"/>
          </a:xfrm>
        </p:grpSpPr>
        <p:sp>
          <p:nvSpPr>
            <p:cNvPr id="19" name="object 19"/>
            <p:cNvSpPr/>
            <p:nvPr/>
          </p:nvSpPr>
          <p:spPr>
            <a:xfrm>
              <a:off x="6803135" y="2609088"/>
              <a:ext cx="1757680" cy="466725"/>
            </a:xfrm>
            <a:custGeom>
              <a:avLst/>
              <a:gdLst/>
              <a:ahLst/>
              <a:cxnLst/>
              <a:rect l="l" t="t" r="r" b="b"/>
              <a:pathLst>
                <a:path w="1757679" h="466725">
                  <a:moveTo>
                    <a:pt x="1757172" y="0"/>
                  </a:moveTo>
                  <a:lnTo>
                    <a:pt x="0" y="0"/>
                  </a:lnTo>
                  <a:lnTo>
                    <a:pt x="0" y="466344"/>
                  </a:lnTo>
                  <a:lnTo>
                    <a:pt x="1757172" y="466344"/>
                  </a:lnTo>
                  <a:lnTo>
                    <a:pt x="1757172" y="0"/>
                  </a:lnTo>
                  <a:close/>
                </a:path>
              </a:pathLst>
            </a:custGeom>
            <a:solidFill>
              <a:srgbClr val="E0E0E0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03135" y="2609088"/>
              <a:ext cx="1757680" cy="466725"/>
            </a:xfrm>
            <a:custGeom>
              <a:avLst/>
              <a:gdLst/>
              <a:ahLst/>
              <a:cxnLst/>
              <a:rect l="l" t="t" r="r" b="b"/>
              <a:pathLst>
                <a:path w="1757679" h="466725">
                  <a:moveTo>
                    <a:pt x="0" y="466344"/>
                  </a:moveTo>
                  <a:lnTo>
                    <a:pt x="1757172" y="466344"/>
                  </a:lnTo>
                  <a:lnTo>
                    <a:pt x="1757172" y="0"/>
                  </a:lnTo>
                  <a:lnTo>
                    <a:pt x="0" y="0"/>
                  </a:lnTo>
                  <a:lnTo>
                    <a:pt x="0" y="466344"/>
                  </a:lnTo>
                  <a:close/>
                </a:path>
              </a:pathLst>
            </a:custGeom>
            <a:ln w="12700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238365" y="2589402"/>
            <a:ext cx="900430" cy="462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62230" marR="5080" indent="-62865">
              <a:lnSpc>
                <a:spcPts val="1639"/>
              </a:lnSpc>
              <a:spcBef>
                <a:spcPts val="285"/>
              </a:spcBef>
            </a:pPr>
            <a:r>
              <a:rPr sz="1500" dirty="0">
                <a:latin typeface="Calibri"/>
                <a:cs typeface="Calibri"/>
              </a:rPr>
              <a:t>C</a:t>
            </a:r>
            <a:r>
              <a:rPr sz="1500" spc="-5" dirty="0">
                <a:latin typeface="Calibri"/>
                <a:cs typeface="Calibri"/>
              </a:rPr>
              <a:t>o</a:t>
            </a:r>
            <a:r>
              <a:rPr sz="1500" dirty="0">
                <a:latin typeface="Calibri"/>
                <a:cs typeface="Calibri"/>
              </a:rPr>
              <a:t>nnection  </a:t>
            </a:r>
            <a:r>
              <a:rPr sz="1500" spc="-25" dirty="0">
                <a:latin typeface="Calibri"/>
                <a:cs typeface="Calibri"/>
              </a:rPr>
              <a:t>Teardown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277870" y="510286"/>
            <a:ext cx="5292090" cy="1573530"/>
            <a:chOff x="3277870" y="510286"/>
            <a:chExt cx="5292090" cy="1573530"/>
          </a:xfrm>
        </p:grpSpPr>
        <p:sp>
          <p:nvSpPr>
            <p:cNvPr id="23" name="object 23"/>
            <p:cNvSpPr/>
            <p:nvPr/>
          </p:nvSpPr>
          <p:spPr>
            <a:xfrm>
              <a:off x="3284220" y="516636"/>
              <a:ext cx="5279390" cy="1560830"/>
            </a:xfrm>
            <a:custGeom>
              <a:avLst/>
              <a:gdLst/>
              <a:ahLst/>
              <a:cxnLst/>
              <a:rect l="l" t="t" r="r" b="b"/>
              <a:pathLst>
                <a:path w="5279390" h="1560830">
                  <a:moveTo>
                    <a:pt x="5279135" y="0"/>
                  </a:moveTo>
                  <a:lnTo>
                    <a:pt x="0" y="0"/>
                  </a:lnTo>
                  <a:lnTo>
                    <a:pt x="0" y="1013967"/>
                  </a:lnTo>
                  <a:lnTo>
                    <a:pt x="2444495" y="1013967"/>
                  </a:lnTo>
                  <a:lnTo>
                    <a:pt x="2444495" y="1170431"/>
                  </a:lnTo>
                  <a:lnTo>
                    <a:pt x="2249424" y="1170431"/>
                  </a:lnTo>
                  <a:lnTo>
                    <a:pt x="2639567" y="1560576"/>
                  </a:lnTo>
                  <a:lnTo>
                    <a:pt x="3029712" y="1170431"/>
                  </a:lnTo>
                  <a:lnTo>
                    <a:pt x="2834640" y="1170431"/>
                  </a:lnTo>
                  <a:lnTo>
                    <a:pt x="2834640" y="1013967"/>
                  </a:lnTo>
                  <a:lnTo>
                    <a:pt x="5279135" y="1013967"/>
                  </a:lnTo>
                  <a:lnTo>
                    <a:pt x="5279135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84220" y="516636"/>
              <a:ext cx="5279390" cy="1560830"/>
            </a:xfrm>
            <a:custGeom>
              <a:avLst/>
              <a:gdLst/>
              <a:ahLst/>
              <a:cxnLst/>
              <a:rect l="l" t="t" r="r" b="b"/>
              <a:pathLst>
                <a:path w="5279390" h="1560830">
                  <a:moveTo>
                    <a:pt x="5279135" y="1013967"/>
                  </a:moveTo>
                  <a:lnTo>
                    <a:pt x="2834640" y="1013967"/>
                  </a:lnTo>
                  <a:lnTo>
                    <a:pt x="2834640" y="1170431"/>
                  </a:lnTo>
                  <a:lnTo>
                    <a:pt x="3029712" y="1170431"/>
                  </a:lnTo>
                  <a:lnTo>
                    <a:pt x="2639567" y="1560576"/>
                  </a:lnTo>
                  <a:lnTo>
                    <a:pt x="2249424" y="1170431"/>
                  </a:lnTo>
                  <a:lnTo>
                    <a:pt x="2444495" y="1170431"/>
                  </a:lnTo>
                  <a:lnTo>
                    <a:pt x="2444495" y="1013967"/>
                  </a:lnTo>
                  <a:lnTo>
                    <a:pt x="0" y="1013967"/>
                  </a:lnTo>
                  <a:lnTo>
                    <a:pt x="0" y="0"/>
                  </a:lnTo>
                  <a:lnTo>
                    <a:pt x="5279135" y="0"/>
                  </a:lnTo>
                  <a:lnTo>
                    <a:pt x="5279135" y="101396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050157" y="837056"/>
            <a:ext cx="376364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Connection-oriented,</a:t>
            </a:r>
            <a:r>
              <a:rPr sz="190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reliable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protocol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0520" y="335279"/>
            <a:ext cx="2560320" cy="2851785"/>
          </a:xfrm>
          <a:prstGeom prst="rect">
            <a:avLst/>
          </a:prstGeom>
          <a:solidFill>
            <a:srgbClr val="585858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650">
              <a:latin typeface="Times New Roman"/>
              <a:cs typeface="Times New Roman"/>
            </a:endParaRPr>
          </a:p>
          <a:p>
            <a:pPr marL="323850">
              <a:lnSpc>
                <a:spcPts val="3304"/>
              </a:lnSpc>
              <a:spcBef>
                <a:spcPts val="5"/>
              </a:spcBef>
            </a:pPr>
            <a:r>
              <a:rPr sz="2900" spc="-25" dirty="0">
                <a:solidFill>
                  <a:srgbClr val="FFFFFF"/>
                </a:solidFill>
                <a:latin typeface="Calibri Light"/>
                <a:cs typeface="Calibri Light"/>
              </a:rPr>
              <a:t>TCP</a:t>
            </a:r>
            <a:endParaRPr sz="2900">
              <a:latin typeface="Calibri Light"/>
              <a:cs typeface="Calibri Light"/>
            </a:endParaRPr>
          </a:p>
          <a:p>
            <a:pPr marL="323850">
              <a:lnSpc>
                <a:spcPts val="3304"/>
              </a:lnSpc>
            </a:pPr>
            <a:r>
              <a:rPr sz="2900" spc="-10" dirty="0">
                <a:solidFill>
                  <a:srgbClr val="FFFFFF"/>
                </a:solidFill>
                <a:latin typeface="Calibri Light"/>
                <a:cs typeface="Calibri Light"/>
              </a:rPr>
              <a:t>Congestion</a:t>
            </a:r>
            <a:endParaRPr sz="29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8995" y="3314700"/>
            <a:ext cx="2562225" cy="1484630"/>
          </a:xfrm>
          <a:custGeom>
            <a:avLst/>
            <a:gdLst/>
            <a:ahLst/>
            <a:cxnLst/>
            <a:rect l="l" t="t" r="r" b="b"/>
            <a:pathLst>
              <a:path w="2562225" h="1484629">
                <a:moveTo>
                  <a:pt x="2561844" y="0"/>
                </a:moveTo>
                <a:lnTo>
                  <a:pt x="0" y="0"/>
                </a:lnTo>
                <a:lnTo>
                  <a:pt x="0" y="1484376"/>
                </a:lnTo>
                <a:lnTo>
                  <a:pt x="2561844" y="1484376"/>
                </a:lnTo>
                <a:lnTo>
                  <a:pt x="2561844" y="0"/>
                </a:lnTo>
                <a:close/>
              </a:path>
            </a:pathLst>
          </a:custGeom>
          <a:solidFill>
            <a:srgbClr val="5B9BD4">
              <a:alpha val="9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032760" y="335279"/>
            <a:ext cx="5767070" cy="4465320"/>
            <a:chOff x="3032760" y="335279"/>
            <a:chExt cx="5767070" cy="4465320"/>
          </a:xfrm>
        </p:grpSpPr>
        <p:sp>
          <p:nvSpPr>
            <p:cNvPr id="5" name="object 5"/>
            <p:cNvSpPr/>
            <p:nvPr/>
          </p:nvSpPr>
          <p:spPr>
            <a:xfrm>
              <a:off x="3032760" y="335279"/>
              <a:ext cx="5767070" cy="4465320"/>
            </a:xfrm>
            <a:custGeom>
              <a:avLst/>
              <a:gdLst/>
              <a:ahLst/>
              <a:cxnLst/>
              <a:rect l="l" t="t" r="r" b="b"/>
              <a:pathLst>
                <a:path w="5767070" h="4465320">
                  <a:moveTo>
                    <a:pt x="5766816" y="0"/>
                  </a:moveTo>
                  <a:lnTo>
                    <a:pt x="0" y="0"/>
                  </a:lnTo>
                  <a:lnTo>
                    <a:pt x="0" y="4465320"/>
                  </a:lnTo>
                  <a:lnTo>
                    <a:pt x="5766816" y="4465320"/>
                  </a:lnTo>
                  <a:lnTo>
                    <a:pt x="5766816" y="0"/>
                  </a:lnTo>
                  <a:close/>
                </a:path>
              </a:pathLst>
            </a:custGeom>
            <a:solidFill>
              <a:srgbClr val="7E7E7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84220" y="1501140"/>
              <a:ext cx="5279390" cy="680085"/>
            </a:xfrm>
            <a:custGeom>
              <a:avLst/>
              <a:gdLst/>
              <a:ahLst/>
              <a:cxnLst/>
              <a:rect l="l" t="t" r="r" b="b"/>
              <a:pathLst>
                <a:path w="5279390" h="680085">
                  <a:moveTo>
                    <a:pt x="5279135" y="0"/>
                  </a:moveTo>
                  <a:lnTo>
                    <a:pt x="0" y="0"/>
                  </a:lnTo>
                  <a:lnTo>
                    <a:pt x="0" y="679704"/>
                  </a:lnTo>
                  <a:lnTo>
                    <a:pt x="5279135" y="679704"/>
                  </a:lnTo>
                  <a:lnTo>
                    <a:pt x="527913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84220" y="1501140"/>
              <a:ext cx="5279390" cy="680085"/>
            </a:xfrm>
            <a:custGeom>
              <a:avLst/>
              <a:gdLst/>
              <a:ahLst/>
              <a:cxnLst/>
              <a:rect l="l" t="t" r="r" b="b"/>
              <a:pathLst>
                <a:path w="5279390" h="680085">
                  <a:moveTo>
                    <a:pt x="0" y="679704"/>
                  </a:moveTo>
                  <a:lnTo>
                    <a:pt x="5279135" y="679704"/>
                  </a:lnTo>
                  <a:lnTo>
                    <a:pt x="5279135" y="0"/>
                  </a:lnTo>
                  <a:lnTo>
                    <a:pt x="0" y="0"/>
                  </a:lnTo>
                  <a:lnTo>
                    <a:pt x="0" y="679704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49396" y="1322832"/>
              <a:ext cx="3694429" cy="355600"/>
            </a:xfrm>
            <a:custGeom>
              <a:avLst/>
              <a:gdLst/>
              <a:ahLst/>
              <a:cxnLst/>
              <a:rect l="l" t="t" r="r" b="b"/>
              <a:pathLst>
                <a:path w="3694429" h="355600">
                  <a:moveTo>
                    <a:pt x="3634994" y="0"/>
                  </a:moveTo>
                  <a:lnTo>
                    <a:pt x="59181" y="0"/>
                  </a:lnTo>
                  <a:lnTo>
                    <a:pt x="36165" y="4657"/>
                  </a:lnTo>
                  <a:lnTo>
                    <a:pt x="17351" y="17351"/>
                  </a:lnTo>
                  <a:lnTo>
                    <a:pt x="4657" y="36165"/>
                  </a:lnTo>
                  <a:lnTo>
                    <a:pt x="0" y="59181"/>
                  </a:lnTo>
                  <a:lnTo>
                    <a:pt x="0" y="295909"/>
                  </a:lnTo>
                  <a:lnTo>
                    <a:pt x="4657" y="318926"/>
                  </a:lnTo>
                  <a:lnTo>
                    <a:pt x="17351" y="337740"/>
                  </a:lnTo>
                  <a:lnTo>
                    <a:pt x="36165" y="350434"/>
                  </a:lnTo>
                  <a:lnTo>
                    <a:pt x="59181" y="355091"/>
                  </a:lnTo>
                  <a:lnTo>
                    <a:pt x="3634994" y="355091"/>
                  </a:lnTo>
                  <a:lnTo>
                    <a:pt x="3658010" y="350434"/>
                  </a:lnTo>
                  <a:lnTo>
                    <a:pt x="3676824" y="337740"/>
                  </a:lnTo>
                  <a:lnTo>
                    <a:pt x="3689518" y="318926"/>
                  </a:lnTo>
                  <a:lnTo>
                    <a:pt x="3694176" y="295909"/>
                  </a:lnTo>
                  <a:lnTo>
                    <a:pt x="3694176" y="59181"/>
                  </a:lnTo>
                  <a:lnTo>
                    <a:pt x="3689518" y="36165"/>
                  </a:lnTo>
                  <a:lnTo>
                    <a:pt x="3676824" y="17351"/>
                  </a:lnTo>
                  <a:lnTo>
                    <a:pt x="3658010" y="4657"/>
                  </a:lnTo>
                  <a:lnTo>
                    <a:pt x="36349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49396" y="1322832"/>
              <a:ext cx="3694429" cy="355600"/>
            </a:xfrm>
            <a:custGeom>
              <a:avLst/>
              <a:gdLst/>
              <a:ahLst/>
              <a:cxnLst/>
              <a:rect l="l" t="t" r="r" b="b"/>
              <a:pathLst>
                <a:path w="3694429" h="355600">
                  <a:moveTo>
                    <a:pt x="0" y="59181"/>
                  </a:moveTo>
                  <a:lnTo>
                    <a:pt x="4657" y="36165"/>
                  </a:lnTo>
                  <a:lnTo>
                    <a:pt x="17351" y="17351"/>
                  </a:lnTo>
                  <a:lnTo>
                    <a:pt x="36165" y="4657"/>
                  </a:lnTo>
                  <a:lnTo>
                    <a:pt x="59181" y="0"/>
                  </a:lnTo>
                  <a:lnTo>
                    <a:pt x="3634994" y="0"/>
                  </a:lnTo>
                  <a:lnTo>
                    <a:pt x="3658010" y="4657"/>
                  </a:lnTo>
                  <a:lnTo>
                    <a:pt x="3676824" y="17351"/>
                  </a:lnTo>
                  <a:lnTo>
                    <a:pt x="3689518" y="36165"/>
                  </a:lnTo>
                  <a:lnTo>
                    <a:pt x="3694176" y="59181"/>
                  </a:lnTo>
                  <a:lnTo>
                    <a:pt x="3694176" y="295909"/>
                  </a:lnTo>
                  <a:lnTo>
                    <a:pt x="3689518" y="318926"/>
                  </a:lnTo>
                  <a:lnTo>
                    <a:pt x="3676824" y="337740"/>
                  </a:lnTo>
                  <a:lnTo>
                    <a:pt x="3658010" y="350434"/>
                  </a:lnTo>
                  <a:lnTo>
                    <a:pt x="3634994" y="355091"/>
                  </a:lnTo>
                  <a:lnTo>
                    <a:pt x="59181" y="355091"/>
                  </a:lnTo>
                  <a:lnTo>
                    <a:pt x="36165" y="350434"/>
                  </a:lnTo>
                  <a:lnTo>
                    <a:pt x="17351" y="337740"/>
                  </a:lnTo>
                  <a:lnTo>
                    <a:pt x="4657" y="318926"/>
                  </a:lnTo>
                  <a:lnTo>
                    <a:pt x="0" y="295909"/>
                  </a:lnTo>
                  <a:lnTo>
                    <a:pt x="0" y="5918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84220" y="2423159"/>
              <a:ext cx="5279390" cy="302260"/>
            </a:xfrm>
            <a:custGeom>
              <a:avLst/>
              <a:gdLst/>
              <a:ahLst/>
              <a:cxnLst/>
              <a:rect l="l" t="t" r="r" b="b"/>
              <a:pathLst>
                <a:path w="5279390" h="302260">
                  <a:moveTo>
                    <a:pt x="5279135" y="0"/>
                  </a:moveTo>
                  <a:lnTo>
                    <a:pt x="0" y="0"/>
                  </a:lnTo>
                  <a:lnTo>
                    <a:pt x="0" y="301751"/>
                  </a:lnTo>
                  <a:lnTo>
                    <a:pt x="5279135" y="301751"/>
                  </a:lnTo>
                  <a:lnTo>
                    <a:pt x="527913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84220" y="2423159"/>
              <a:ext cx="5279390" cy="302260"/>
            </a:xfrm>
            <a:custGeom>
              <a:avLst/>
              <a:gdLst/>
              <a:ahLst/>
              <a:cxnLst/>
              <a:rect l="l" t="t" r="r" b="b"/>
              <a:pathLst>
                <a:path w="5279390" h="302260">
                  <a:moveTo>
                    <a:pt x="0" y="301751"/>
                  </a:moveTo>
                  <a:lnTo>
                    <a:pt x="5279135" y="301751"/>
                  </a:lnTo>
                  <a:lnTo>
                    <a:pt x="5279135" y="0"/>
                  </a:lnTo>
                  <a:lnTo>
                    <a:pt x="0" y="0"/>
                  </a:lnTo>
                  <a:lnTo>
                    <a:pt x="0" y="301751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49396" y="2246375"/>
              <a:ext cx="3694429" cy="353695"/>
            </a:xfrm>
            <a:custGeom>
              <a:avLst/>
              <a:gdLst/>
              <a:ahLst/>
              <a:cxnLst/>
              <a:rect l="l" t="t" r="r" b="b"/>
              <a:pathLst>
                <a:path w="3694429" h="353694">
                  <a:moveTo>
                    <a:pt x="3635248" y="0"/>
                  </a:moveTo>
                  <a:lnTo>
                    <a:pt x="58927" y="0"/>
                  </a:lnTo>
                  <a:lnTo>
                    <a:pt x="36004" y="4635"/>
                  </a:lnTo>
                  <a:lnTo>
                    <a:pt x="17272" y="17272"/>
                  </a:lnTo>
                  <a:lnTo>
                    <a:pt x="4635" y="36004"/>
                  </a:lnTo>
                  <a:lnTo>
                    <a:pt x="0" y="58928"/>
                  </a:lnTo>
                  <a:lnTo>
                    <a:pt x="0" y="294640"/>
                  </a:lnTo>
                  <a:lnTo>
                    <a:pt x="4635" y="317563"/>
                  </a:lnTo>
                  <a:lnTo>
                    <a:pt x="17271" y="336295"/>
                  </a:lnTo>
                  <a:lnTo>
                    <a:pt x="36004" y="348932"/>
                  </a:lnTo>
                  <a:lnTo>
                    <a:pt x="58927" y="353568"/>
                  </a:lnTo>
                  <a:lnTo>
                    <a:pt x="3635248" y="353568"/>
                  </a:lnTo>
                  <a:lnTo>
                    <a:pt x="3658171" y="348932"/>
                  </a:lnTo>
                  <a:lnTo>
                    <a:pt x="3676904" y="336295"/>
                  </a:lnTo>
                  <a:lnTo>
                    <a:pt x="3689540" y="317563"/>
                  </a:lnTo>
                  <a:lnTo>
                    <a:pt x="3694176" y="294640"/>
                  </a:lnTo>
                  <a:lnTo>
                    <a:pt x="3694176" y="58928"/>
                  </a:lnTo>
                  <a:lnTo>
                    <a:pt x="3689540" y="36004"/>
                  </a:lnTo>
                  <a:lnTo>
                    <a:pt x="3676904" y="17272"/>
                  </a:lnTo>
                  <a:lnTo>
                    <a:pt x="3658171" y="4635"/>
                  </a:lnTo>
                  <a:lnTo>
                    <a:pt x="363524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49396" y="2246375"/>
              <a:ext cx="3694429" cy="353695"/>
            </a:xfrm>
            <a:custGeom>
              <a:avLst/>
              <a:gdLst/>
              <a:ahLst/>
              <a:cxnLst/>
              <a:rect l="l" t="t" r="r" b="b"/>
              <a:pathLst>
                <a:path w="3694429" h="353694">
                  <a:moveTo>
                    <a:pt x="0" y="58928"/>
                  </a:moveTo>
                  <a:lnTo>
                    <a:pt x="4635" y="36004"/>
                  </a:lnTo>
                  <a:lnTo>
                    <a:pt x="17272" y="17272"/>
                  </a:lnTo>
                  <a:lnTo>
                    <a:pt x="36004" y="4635"/>
                  </a:lnTo>
                  <a:lnTo>
                    <a:pt x="58927" y="0"/>
                  </a:lnTo>
                  <a:lnTo>
                    <a:pt x="3635248" y="0"/>
                  </a:lnTo>
                  <a:lnTo>
                    <a:pt x="3658171" y="4635"/>
                  </a:lnTo>
                  <a:lnTo>
                    <a:pt x="3676904" y="17272"/>
                  </a:lnTo>
                  <a:lnTo>
                    <a:pt x="3689540" y="36004"/>
                  </a:lnTo>
                  <a:lnTo>
                    <a:pt x="3694176" y="58928"/>
                  </a:lnTo>
                  <a:lnTo>
                    <a:pt x="3694176" y="294640"/>
                  </a:lnTo>
                  <a:lnTo>
                    <a:pt x="3689540" y="317563"/>
                  </a:lnTo>
                  <a:lnTo>
                    <a:pt x="3676904" y="336295"/>
                  </a:lnTo>
                  <a:lnTo>
                    <a:pt x="3658171" y="348932"/>
                  </a:lnTo>
                  <a:lnTo>
                    <a:pt x="3635248" y="353568"/>
                  </a:lnTo>
                  <a:lnTo>
                    <a:pt x="58927" y="353568"/>
                  </a:lnTo>
                  <a:lnTo>
                    <a:pt x="36004" y="348932"/>
                  </a:lnTo>
                  <a:lnTo>
                    <a:pt x="17271" y="336295"/>
                  </a:lnTo>
                  <a:lnTo>
                    <a:pt x="4635" y="317563"/>
                  </a:lnTo>
                  <a:lnTo>
                    <a:pt x="0" y="294640"/>
                  </a:lnTo>
                  <a:lnTo>
                    <a:pt x="0" y="5892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84220" y="2967228"/>
              <a:ext cx="5279390" cy="302260"/>
            </a:xfrm>
            <a:custGeom>
              <a:avLst/>
              <a:gdLst/>
              <a:ahLst/>
              <a:cxnLst/>
              <a:rect l="l" t="t" r="r" b="b"/>
              <a:pathLst>
                <a:path w="5279390" h="302260">
                  <a:moveTo>
                    <a:pt x="5279135" y="0"/>
                  </a:moveTo>
                  <a:lnTo>
                    <a:pt x="0" y="0"/>
                  </a:lnTo>
                  <a:lnTo>
                    <a:pt x="0" y="301751"/>
                  </a:lnTo>
                  <a:lnTo>
                    <a:pt x="5279135" y="301751"/>
                  </a:lnTo>
                  <a:lnTo>
                    <a:pt x="527913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84220" y="2967228"/>
              <a:ext cx="5279390" cy="302260"/>
            </a:xfrm>
            <a:custGeom>
              <a:avLst/>
              <a:gdLst/>
              <a:ahLst/>
              <a:cxnLst/>
              <a:rect l="l" t="t" r="r" b="b"/>
              <a:pathLst>
                <a:path w="5279390" h="302260">
                  <a:moveTo>
                    <a:pt x="0" y="301751"/>
                  </a:moveTo>
                  <a:lnTo>
                    <a:pt x="5279135" y="301751"/>
                  </a:lnTo>
                  <a:lnTo>
                    <a:pt x="5279135" y="0"/>
                  </a:lnTo>
                  <a:lnTo>
                    <a:pt x="0" y="0"/>
                  </a:lnTo>
                  <a:lnTo>
                    <a:pt x="0" y="301751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49396" y="2790444"/>
              <a:ext cx="3694429" cy="353695"/>
            </a:xfrm>
            <a:custGeom>
              <a:avLst/>
              <a:gdLst/>
              <a:ahLst/>
              <a:cxnLst/>
              <a:rect l="l" t="t" r="r" b="b"/>
              <a:pathLst>
                <a:path w="3694429" h="353694">
                  <a:moveTo>
                    <a:pt x="3635248" y="0"/>
                  </a:moveTo>
                  <a:lnTo>
                    <a:pt x="58927" y="0"/>
                  </a:lnTo>
                  <a:lnTo>
                    <a:pt x="36004" y="4635"/>
                  </a:lnTo>
                  <a:lnTo>
                    <a:pt x="17272" y="17272"/>
                  </a:lnTo>
                  <a:lnTo>
                    <a:pt x="4635" y="36004"/>
                  </a:lnTo>
                  <a:lnTo>
                    <a:pt x="0" y="58928"/>
                  </a:lnTo>
                  <a:lnTo>
                    <a:pt x="0" y="294639"/>
                  </a:lnTo>
                  <a:lnTo>
                    <a:pt x="4635" y="317563"/>
                  </a:lnTo>
                  <a:lnTo>
                    <a:pt x="17271" y="336295"/>
                  </a:lnTo>
                  <a:lnTo>
                    <a:pt x="36004" y="348932"/>
                  </a:lnTo>
                  <a:lnTo>
                    <a:pt x="58927" y="353568"/>
                  </a:lnTo>
                  <a:lnTo>
                    <a:pt x="3635248" y="353568"/>
                  </a:lnTo>
                  <a:lnTo>
                    <a:pt x="3658171" y="348932"/>
                  </a:lnTo>
                  <a:lnTo>
                    <a:pt x="3676904" y="336295"/>
                  </a:lnTo>
                  <a:lnTo>
                    <a:pt x="3689540" y="317563"/>
                  </a:lnTo>
                  <a:lnTo>
                    <a:pt x="3694176" y="294639"/>
                  </a:lnTo>
                  <a:lnTo>
                    <a:pt x="3694176" y="58928"/>
                  </a:lnTo>
                  <a:lnTo>
                    <a:pt x="3689540" y="36004"/>
                  </a:lnTo>
                  <a:lnTo>
                    <a:pt x="3676904" y="17272"/>
                  </a:lnTo>
                  <a:lnTo>
                    <a:pt x="3658171" y="4635"/>
                  </a:lnTo>
                  <a:lnTo>
                    <a:pt x="363524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49396" y="2790444"/>
              <a:ext cx="3694429" cy="353695"/>
            </a:xfrm>
            <a:custGeom>
              <a:avLst/>
              <a:gdLst/>
              <a:ahLst/>
              <a:cxnLst/>
              <a:rect l="l" t="t" r="r" b="b"/>
              <a:pathLst>
                <a:path w="3694429" h="353694">
                  <a:moveTo>
                    <a:pt x="0" y="58928"/>
                  </a:moveTo>
                  <a:lnTo>
                    <a:pt x="4635" y="36004"/>
                  </a:lnTo>
                  <a:lnTo>
                    <a:pt x="17272" y="17272"/>
                  </a:lnTo>
                  <a:lnTo>
                    <a:pt x="36004" y="4635"/>
                  </a:lnTo>
                  <a:lnTo>
                    <a:pt x="58927" y="0"/>
                  </a:lnTo>
                  <a:lnTo>
                    <a:pt x="3635248" y="0"/>
                  </a:lnTo>
                  <a:lnTo>
                    <a:pt x="3658171" y="4635"/>
                  </a:lnTo>
                  <a:lnTo>
                    <a:pt x="3676904" y="17272"/>
                  </a:lnTo>
                  <a:lnTo>
                    <a:pt x="3689540" y="36004"/>
                  </a:lnTo>
                  <a:lnTo>
                    <a:pt x="3694176" y="58928"/>
                  </a:lnTo>
                  <a:lnTo>
                    <a:pt x="3694176" y="294639"/>
                  </a:lnTo>
                  <a:lnTo>
                    <a:pt x="3689540" y="317563"/>
                  </a:lnTo>
                  <a:lnTo>
                    <a:pt x="3676904" y="336295"/>
                  </a:lnTo>
                  <a:lnTo>
                    <a:pt x="3658171" y="348932"/>
                  </a:lnTo>
                  <a:lnTo>
                    <a:pt x="3635248" y="353568"/>
                  </a:lnTo>
                  <a:lnTo>
                    <a:pt x="58927" y="353568"/>
                  </a:lnTo>
                  <a:lnTo>
                    <a:pt x="36004" y="348932"/>
                  </a:lnTo>
                  <a:lnTo>
                    <a:pt x="17271" y="336295"/>
                  </a:lnTo>
                  <a:lnTo>
                    <a:pt x="4635" y="317563"/>
                  </a:lnTo>
                  <a:lnTo>
                    <a:pt x="0" y="294639"/>
                  </a:lnTo>
                  <a:lnTo>
                    <a:pt x="0" y="5892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84220" y="3511296"/>
              <a:ext cx="5279390" cy="303530"/>
            </a:xfrm>
            <a:custGeom>
              <a:avLst/>
              <a:gdLst/>
              <a:ahLst/>
              <a:cxnLst/>
              <a:rect l="l" t="t" r="r" b="b"/>
              <a:pathLst>
                <a:path w="5279390" h="303529">
                  <a:moveTo>
                    <a:pt x="5279135" y="0"/>
                  </a:moveTo>
                  <a:lnTo>
                    <a:pt x="0" y="0"/>
                  </a:lnTo>
                  <a:lnTo>
                    <a:pt x="0" y="303275"/>
                  </a:lnTo>
                  <a:lnTo>
                    <a:pt x="5279135" y="303275"/>
                  </a:lnTo>
                  <a:lnTo>
                    <a:pt x="527913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84220" y="3511296"/>
              <a:ext cx="5279390" cy="303530"/>
            </a:xfrm>
            <a:custGeom>
              <a:avLst/>
              <a:gdLst/>
              <a:ahLst/>
              <a:cxnLst/>
              <a:rect l="l" t="t" r="r" b="b"/>
              <a:pathLst>
                <a:path w="5279390" h="303529">
                  <a:moveTo>
                    <a:pt x="0" y="303275"/>
                  </a:moveTo>
                  <a:lnTo>
                    <a:pt x="5279135" y="303275"/>
                  </a:lnTo>
                  <a:lnTo>
                    <a:pt x="5279135" y="0"/>
                  </a:lnTo>
                  <a:lnTo>
                    <a:pt x="0" y="0"/>
                  </a:lnTo>
                  <a:lnTo>
                    <a:pt x="0" y="303275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49396" y="3334512"/>
              <a:ext cx="3694429" cy="353695"/>
            </a:xfrm>
            <a:custGeom>
              <a:avLst/>
              <a:gdLst/>
              <a:ahLst/>
              <a:cxnLst/>
              <a:rect l="l" t="t" r="r" b="b"/>
              <a:pathLst>
                <a:path w="3694429" h="353695">
                  <a:moveTo>
                    <a:pt x="3635248" y="0"/>
                  </a:moveTo>
                  <a:lnTo>
                    <a:pt x="58927" y="0"/>
                  </a:lnTo>
                  <a:lnTo>
                    <a:pt x="36004" y="4635"/>
                  </a:lnTo>
                  <a:lnTo>
                    <a:pt x="17272" y="17271"/>
                  </a:lnTo>
                  <a:lnTo>
                    <a:pt x="4635" y="36004"/>
                  </a:lnTo>
                  <a:lnTo>
                    <a:pt x="0" y="58927"/>
                  </a:lnTo>
                  <a:lnTo>
                    <a:pt x="0" y="294640"/>
                  </a:lnTo>
                  <a:lnTo>
                    <a:pt x="4635" y="317563"/>
                  </a:lnTo>
                  <a:lnTo>
                    <a:pt x="17271" y="336296"/>
                  </a:lnTo>
                  <a:lnTo>
                    <a:pt x="36004" y="348932"/>
                  </a:lnTo>
                  <a:lnTo>
                    <a:pt x="58927" y="353568"/>
                  </a:lnTo>
                  <a:lnTo>
                    <a:pt x="3635248" y="353568"/>
                  </a:lnTo>
                  <a:lnTo>
                    <a:pt x="3658171" y="348932"/>
                  </a:lnTo>
                  <a:lnTo>
                    <a:pt x="3676904" y="336295"/>
                  </a:lnTo>
                  <a:lnTo>
                    <a:pt x="3689540" y="317563"/>
                  </a:lnTo>
                  <a:lnTo>
                    <a:pt x="3694176" y="294640"/>
                  </a:lnTo>
                  <a:lnTo>
                    <a:pt x="3694176" y="58927"/>
                  </a:lnTo>
                  <a:lnTo>
                    <a:pt x="3689540" y="36004"/>
                  </a:lnTo>
                  <a:lnTo>
                    <a:pt x="3676904" y="17272"/>
                  </a:lnTo>
                  <a:lnTo>
                    <a:pt x="3658171" y="4635"/>
                  </a:lnTo>
                  <a:lnTo>
                    <a:pt x="363524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49396" y="3334512"/>
              <a:ext cx="3694429" cy="353695"/>
            </a:xfrm>
            <a:custGeom>
              <a:avLst/>
              <a:gdLst/>
              <a:ahLst/>
              <a:cxnLst/>
              <a:rect l="l" t="t" r="r" b="b"/>
              <a:pathLst>
                <a:path w="3694429" h="353695">
                  <a:moveTo>
                    <a:pt x="0" y="58927"/>
                  </a:moveTo>
                  <a:lnTo>
                    <a:pt x="4635" y="36004"/>
                  </a:lnTo>
                  <a:lnTo>
                    <a:pt x="17272" y="17271"/>
                  </a:lnTo>
                  <a:lnTo>
                    <a:pt x="36004" y="4635"/>
                  </a:lnTo>
                  <a:lnTo>
                    <a:pt x="58927" y="0"/>
                  </a:lnTo>
                  <a:lnTo>
                    <a:pt x="3635248" y="0"/>
                  </a:lnTo>
                  <a:lnTo>
                    <a:pt x="3658171" y="4635"/>
                  </a:lnTo>
                  <a:lnTo>
                    <a:pt x="3676904" y="17272"/>
                  </a:lnTo>
                  <a:lnTo>
                    <a:pt x="3689540" y="36004"/>
                  </a:lnTo>
                  <a:lnTo>
                    <a:pt x="3694176" y="58927"/>
                  </a:lnTo>
                  <a:lnTo>
                    <a:pt x="3694176" y="294640"/>
                  </a:lnTo>
                  <a:lnTo>
                    <a:pt x="3689540" y="317563"/>
                  </a:lnTo>
                  <a:lnTo>
                    <a:pt x="3676904" y="336295"/>
                  </a:lnTo>
                  <a:lnTo>
                    <a:pt x="3658171" y="348932"/>
                  </a:lnTo>
                  <a:lnTo>
                    <a:pt x="3635248" y="353568"/>
                  </a:lnTo>
                  <a:lnTo>
                    <a:pt x="58927" y="353568"/>
                  </a:lnTo>
                  <a:lnTo>
                    <a:pt x="36004" y="348932"/>
                  </a:lnTo>
                  <a:lnTo>
                    <a:pt x="17271" y="336296"/>
                  </a:lnTo>
                  <a:lnTo>
                    <a:pt x="4635" y="317563"/>
                  </a:lnTo>
                  <a:lnTo>
                    <a:pt x="0" y="294640"/>
                  </a:lnTo>
                  <a:lnTo>
                    <a:pt x="0" y="5892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032760" y="335279"/>
            <a:ext cx="5767070" cy="4465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marL="673100">
              <a:lnSpc>
                <a:spcPct val="100000"/>
              </a:lnSpc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Congestion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refers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network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state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>
              <a:latin typeface="Calibri"/>
              <a:cs typeface="Calibri"/>
            </a:endParaRPr>
          </a:p>
          <a:p>
            <a:pPr marL="776605" indent="-114935">
              <a:lnSpc>
                <a:spcPts val="1380"/>
              </a:lnSpc>
              <a:buChar char="•"/>
              <a:tabLst>
                <a:tab pos="777240" algn="l"/>
              </a:tabLst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5" dirty="0">
                <a:latin typeface="Calibri"/>
                <a:cs typeface="Calibri"/>
              </a:rPr>
              <a:t> message </a:t>
            </a:r>
            <a:r>
              <a:rPr sz="1200" spc="-10" dirty="0">
                <a:latin typeface="Calibri"/>
                <a:cs typeface="Calibri"/>
              </a:rPr>
              <a:t>traffic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becomes so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heavy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that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it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slows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down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network</a:t>
            </a:r>
            <a:endParaRPr sz="1200">
              <a:latin typeface="Calibri"/>
              <a:cs typeface="Calibri"/>
            </a:endParaRPr>
          </a:p>
          <a:p>
            <a:pPr marL="776605">
              <a:lnSpc>
                <a:spcPts val="1380"/>
              </a:lnSpc>
            </a:pPr>
            <a:r>
              <a:rPr sz="1200" spc="-5" dirty="0">
                <a:latin typeface="Calibri"/>
                <a:cs typeface="Calibri"/>
              </a:rPr>
              <a:t>response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time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00">
              <a:latin typeface="Calibri"/>
              <a:cs typeface="Calibri"/>
            </a:endParaRPr>
          </a:p>
          <a:p>
            <a:pPr marL="673100">
              <a:lnSpc>
                <a:spcPct val="100000"/>
              </a:lnSpc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arise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Packet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Switched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Network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Calibri"/>
              <a:cs typeface="Calibri"/>
            </a:endParaRPr>
          </a:p>
          <a:p>
            <a:pPr marL="673100"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Congestion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leads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loss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 packets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transit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Calibri"/>
              <a:cs typeface="Calibri"/>
            </a:endParaRPr>
          </a:p>
          <a:p>
            <a:pPr marL="673100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not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possible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completely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avoid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congestion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0520" y="335279"/>
            <a:ext cx="2560320" cy="2851785"/>
          </a:xfrm>
          <a:prstGeom prst="rect">
            <a:avLst/>
          </a:prstGeom>
          <a:solidFill>
            <a:srgbClr val="585858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00">
              <a:latin typeface="Times New Roman"/>
              <a:cs typeface="Times New Roman"/>
            </a:endParaRPr>
          </a:p>
          <a:p>
            <a:pPr marL="323850">
              <a:lnSpc>
                <a:spcPts val="3304"/>
              </a:lnSpc>
              <a:spcBef>
                <a:spcPts val="5"/>
              </a:spcBef>
            </a:pPr>
            <a:r>
              <a:rPr sz="2900" spc="-25" dirty="0">
                <a:solidFill>
                  <a:srgbClr val="FFFFFF"/>
                </a:solidFill>
                <a:latin typeface="Calibri Light"/>
                <a:cs typeface="Calibri Light"/>
              </a:rPr>
              <a:t>TCP</a:t>
            </a:r>
            <a:endParaRPr sz="2900">
              <a:latin typeface="Calibri Light"/>
              <a:cs typeface="Calibri Light"/>
            </a:endParaRPr>
          </a:p>
          <a:p>
            <a:pPr marL="323850" marR="568325">
              <a:lnSpc>
                <a:spcPts val="3130"/>
              </a:lnSpc>
              <a:spcBef>
                <a:spcPts val="220"/>
              </a:spcBef>
            </a:pPr>
            <a:r>
              <a:rPr sz="2900" spc="-5" dirty="0">
                <a:solidFill>
                  <a:srgbClr val="FFFFFF"/>
                </a:solidFill>
                <a:latin typeface="Calibri Light"/>
                <a:cs typeface="Calibri Light"/>
              </a:rPr>
              <a:t>Con</a:t>
            </a:r>
            <a:r>
              <a:rPr sz="2900" spc="-25" dirty="0">
                <a:solidFill>
                  <a:srgbClr val="FFFFFF"/>
                </a:solidFill>
                <a:latin typeface="Calibri Light"/>
                <a:cs typeface="Calibri Light"/>
              </a:rPr>
              <a:t>g</a:t>
            </a:r>
            <a:r>
              <a:rPr sz="2900" spc="-5" dirty="0">
                <a:solidFill>
                  <a:srgbClr val="FFFFFF"/>
                </a:solidFill>
                <a:latin typeface="Calibri Light"/>
                <a:cs typeface="Calibri Light"/>
              </a:rPr>
              <a:t>e</a:t>
            </a:r>
            <a:r>
              <a:rPr sz="2900" spc="-30" dirty="0">
                <a:solidFill>
                  <a:srgbClr val="FFFFFF"/>
                </a:solidFill>
                <a:latin typeface="Calibri Light"/>
                <a:cs typeface="Calibri Light"/>
              </a:rPr>
              <a:t>s</a:t>
            </a:r>
            <a:r>
              <a:rPr sz="2900" dirty="0">
                <a:solidFill>
                  <a:srgbClr val="FFFFFF"/>
                </a:solidFill>
                <a:latin typeface="Calibri Light"/>
                <a:cs typeface="Calibri Light"/>
              </a:rPr>
              <a:t>tion  </a:t>
            </a:r>
            <a:r>
              <a:rPr sz="2900" spc="-15" dirty="0">
                <a:solidFill>
                  <a:srgbClr val="FFFFFF"/>
                </a:solidFill>
                <a:latin typeface="Calibri Light"/>
                <a:cs typeface="Calibri Light"/>
              </a:rPr>
              <a:t>Control</a:t>
            </a:r>
            <a:endParaRPr sz="29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8995" y="3314700"/>
            <a:ext cx="2562225" cy="1484630"/>
          </a:xfrm>
          <a:custGeom>
            <a:avLst/>
            <a:gdLst/>
            <a:ahLst/>
            <a:cxnLst/>
            <a:rect l="l" t="t" r="r" b="b"/>
            <a:pathLst>
              <a:path w="2562225" h="1484629">
                <a:moveTo>
                  <a:pt x="2561844" y="0"/>
                </a:moveTo>
                <a:lnTo>
                  <a:pt x="0" y="0"/>
                </a:lnTo>
                <a:lnTo>
                  <a:pt x="0" y="1484376"/>
                </a:lnTo>
                <a:lnTo>
                  <a:pt x="2561844" y="1484376"/>
                </a:lnTo>
                <a:lnTo>
                  <a:pt x="2561844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32760" y="335279"/>
            <a:ext cx="5767070" cy="4465320"/>
          </a:xfrm>
          <a:custGeom>
            <a:avLst/>
            <a:gdLst/>
            <a:ahLst/>
            <a:cxnLst/>
            <a:rect l="l" t="t" r="r" b="b"/>
            <a:pathLst>
              <a:path w="5767070" h="4465320">
                <a:moveTo>
                  <a:pt x="5766816" y="0"/>
                </a:moveTo>
                <a:lnTo>
                  <a:pt x="0" y="0"/>
                </a:lnTo>
                <a:lnTo>
                  <a:pt x="0" y="4465320"/>
                </a:lnTo>
                <a:lnTo>
                  <a:pt x="5766816" y="4465320"/>
                </a:lnTo>
                <a:lnTo>
                  <a:pt x="5766816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592829" y="795349"/>
            <a:ext cx="4838065" cy="2400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2165"/>
              </a:lnSpc>
              <a:spcBef>
                <a:spcPts val="95"/>
              </a:spcBef>
              <a:buSzPct val="78947"/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900" spc="-5" dirty="0">
                <a:latin typeface="Calibri"/>
                <a:cs typeface="Calibri"/>
              </a:rPr>
              <a:t>The </a:t>
            </a:r>
            <a:r>
              <a:rPr sz="1900" spc="-10" dirty="0">
                <a:latin typeface="Calibri"/>
                <a:cs typeface="Calibri"/>
              </a:rPr>
              <a:t>important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service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done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by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TCP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is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providing</a:t>
            </a:r>
            <a:endParaRPr sz="1900">
              <a:latin typeface="Calibri"/>
              <a:cs typeface="Calibri"/>
            </a:endParaRPr>
          </a:p>
          <a:p>
            <a:pPr marL="241300">
              <a:lnSpc>
                <a:spcPts val="2055"/>
              </a:lnSpc>
            </a:pPr>
            <a:r>
              <a:rPr sz="1900" spc="-5" dirty="0">
                <a:latin typeface="Calibri"/>
                <a:cs typeface="Calibri"/>
              </a:rPr>
              <a:t>end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to</a:t>
            </a:r>
            <a:r>
              <a:rPr sz="1900" spc="-5" dirty="0">
                <a:latin typeface="Calibri"/>
                <a:cs typeface="Calibri"/>
              </a:rPr>
              <a:t> end </a:t>
            </a:r>
            <a:r>
              <a:rPr sz="1900" spc="-10" dirty="0">
                <a:latin typeface="Calibri"/>
                <a:cs typeface="Calibri"/>
              </a:rPr>
              <a:t>transmission</a:t>
            </a:r>
            <a:endParaRPr sz="1900">
              <a:latin typeface="Calibri"/>
              <a:cs typeface="Calibri"/>
            </a:endParaRPr>
          </a:p>
          <a:p>
            <a:pPr marL="241300" marR="45720" indent="-228600">
              <a:lnSpc>
                <a:spcPts val="2050"/>
              </a:lnSpc>
              <a:spcBef>
                <a:spcPts val="150"/>
              </a:spcBef>
              <a:buSzPct val="78947"/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900" spc="-10" dirty="0">
                <a:latin typeface="Calibri"/>
                <a:cs typeface="Calibri"/>
              </a:rPr>
              <a:t>Congestion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free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network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which is</a:t>
            </a:r>
            <a:r>
              <a:rPr sz="1900" dirty="0">
                <a:latin typeface="Calibri"/>
                <a:cs typeface="Calibri"/>
              </a:rPr>
              <a:t> an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ideal 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network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means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taking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the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advantage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of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all the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bandwidth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in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the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network</a:t>
            </a:r>
            <a:endParaRPr sz="1900">
              <a:latin typeface="Calibri"/>
              <a:cs typeface="Calibri"/>
            </a:endParaRPr>
          </a:p>
          <a:p>
            <a:pPr marL="241300" marR="170815" indent="-228600">
              <a:lnSpc>
                <a:spcPts val="2050"/>
              </a:lnSpc>
              <a:spcBef>
                <a:spcPts val="5"/>
              </a:spcBef>
              <a:buSzPct val="78947"/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900" spc="-10" dirty="0">
                <a:latin typeface="Calibri"/>
                <a:cs typeface="Calibri"/>
              </a:rPr>
              <a:t>The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sender's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window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size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is</a:t>
            </a:r>
            <a:r>
              <a:rPr sz="1900" spc="-10" dirty="0">
                <a:latin typeface="Calibri"/>
                <a:cs typeface="Calibri"/>
              </a:rPr>
              <a:t> determined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not 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only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by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the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receiver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but</a:t>
            </a:r>
            <a:r>
              <a:rPr sz="1900" spc="-5" dirty="0">
                <a:latin typeface="Calibri"/>
                <a:cs typeface="Calibri"/>
              </a:rPr>
              <a:t> also </a:t>
            </a:r>
            <a:r>
              <a:rPr sz="1900" spc="-10" dirty="0">
                <a:latin typeface="Calibri"/>
                <a:cs typeface="Calibri"/>
              </a:rPr>
              <a:t>by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congestion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in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the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network</a:t>
            </a:r>
            <a:endParaRPr sz="1900">
              <a:latin typeface="Calibri"/>
              <a:cs typeface="Calibri"/>
            </a:endParaRPr>
          </a:p>
          <a:p>
            <a:pPr marL="241300" indent="-228600">
              <a:lnSpc>
                <a:spcPts val="2025"/>
              </a:lnSpc>
              <a:buSzPct val="78947"/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900" spc="-5" dirty="0">
                <a:latin typeface="Calibri"/>
                <a:cs typeface="Calibri"/>
              </a:rPr>
              <a:t>The sender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has</a:t>
            </a:r>
            <a:r>
              <a:rPr sz="1900" spc="-10" dirty="0">
                <a:latin typeface="Calibri"/>
                <a:cs typeface="Calibri"/>
              </a:rPr>
              <a:t> two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pieces of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information: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50029" y="3141979"/>
            <a:ext cx="3782695" cy="575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2165"/>
              </a:lnSpc>
              <a:spcBef>
                <a:spcPts val="95"/>
              </a:spcBef>
              <a:buSzPct val="78947"/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900" spc="-5" dirty="0">
                <a:latin typeface="Calibri"/>
                <a:cs typeface="Calibri"/>
              </a:rPr>
              <a:t>the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receiver-advertised</a:t>
            </a:r>
            <a:r>
              <a:rPr sz="1900" spc="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window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size</a:t>
            </a:r>
            <a:endParaRPr sz="1900">
              <a:latin typeface="Calibri"/>
              <a:cs typeface="Calibri"/>
            </a:endParaRPr>
          </a:p>
          <a:p>
            <a:pPr marL="241300" indent="-228600">
              <a:lnSpc>
                <a:spcPts val="2165"/>
              </a:lnSpc>
              <a:buSzPct val="78947"/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900" spc="-5" dirty="0">
                <a:latin typeface="Calibri"/>
                <a:cs typeface="Calibri"/>
              </a:rPr>
              <a:t>the </a:t>
            </a:r>
            <a:r>
              <a:rPr sz="1900" spc="-10" dirty="0">
                <a:latin typeface="Calibri"/>
                <a:cs typeface="Calibri"/>
              </a:rPr>
              <a:t>congestion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window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size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0520" y="335279"/>
            <a:ext cx="2560320" cy="2851785"/>
          </a:xfrm>
          <a:prstGeom prst="rect">
            <a:avLst/>
          </a:prstGeom>
          <a:solidFill>
            <a:srgbClr val="585858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3850">
              <a:latin typeface="Times New Roman"/>
              <a:cs typeface="Times New Roman"/>
            </a:endParaRPr>
          </a:p>
          <a:p>
            <a:pPr marL="323850">
              <a:lnSpc>
                <a:spcPts val="3304"/>
              </a:lnSpc>
              <a:spcBef>
                <a:spcPts val="5"/>
              </a:spcBef>
            </a:pPr>
            <a:r>
              <a:rPr sz="2900" spc="-25" dirty="0">
                <a:solidFill>
                  <a:srgbClr val="FFFFFF"/>
                </a:solidFill>
                <a:latin typeface="Calibri Light"/>
                <a:cs typeface="Calibri Light"/>
              </a:rPr>
              <a:t>TCP</a:t>
            </a:r>
            <a:endParaRPr sz="2900">
              <a:latin typeface="Calibri Light"/>
              <a:cs typeface="Calibri Light"/>
            </a:endParaRPr>
          </a:p>
          <a:p>
            <a:pPr marL="323850" marR="326390">
              <a:lnSpc>
                <a:spcPts val="3130"/>
              </a:lnSpc>
              <a:spcBef>
                <a:spcPts val="220"/>
              </a:spcBef>
            </a:pPr>
            <a:r>
              <a:rPr sz="2900" spc="-10" dirty="0">
                <a:solidFill>
                  <a:srgbClr val="FFFFFF"/>
                </a:solidFill>
                <a:latin typeface="Calibri Light"/>
                <a:cs typeface="Calibri Light"/>
              </a:rPr>
              <a:t>Congestion </a:t>
            </a:r>
            <a:r>
              <a:rPr sz="2900" spc="-5" dirty="0">
                <a:solidFill>
                  <a:srgbClr val="FFFFFF"/>
                </a:solidFill>
                <a:latin typeface="Calibri Light"/>
                <a:cs typeface="Calibri Light"/>
              </a:rPr>
              <a:t> Co</a:t>
            </a:r>
            <a:r>
              <a:rPr sz="2900" spc="-25" dirty="0">
                <a:solidFill>
                  <a:srgbClr val="FFFFFF"/>
                </a:solidFill>
                <a:latin typeface="Calibri Light"/>
                <a:cs typeface="Calibri Light"/>
              </a:rPr>
              <a:t>n</a:t>
            </a:r>
            <a:r>
              <a:rPr sz="2900" dirty="0">
                <a:solidFill>
                  <a:srgbClr val="FFFFFF"/>
                </a:solidFill>
                <a:latin typeface="Calibri Light"/>
                <a:cs typeface="Calibri Light"/>
              </a:rPr>
              <a:t>t</a:t>
            </a:r>
            <a:r>
              <a:rPr sz="2900" spc="-65" dirty="0">
                <a:solidFill>
                  <a:srgbClr val="FFFFFF"/>
                </a:solidFill>
                <a:latin typeface="Calibri Light"/>
                <a:cs typeface="Calibri Light"/>
              </a:rPr>
              <a:t>r</a:t>
            </a:r>
            <a:r>
              <a:rPr sz="2900" spc="-5" dirty="0">
                <a:solidFill>
                  <a:srgbClr val="FFFFFF"/>
                </a:solidFill>
                <a:latin typeface="Calibri Light"/>
                <a:cs typeface="Calibri Light"/>
              </a:rPr>
              <a:t>ol</a:t>
            </a:r>
            <a:r>
              <a:rPr sz="2900" spc="-20" dirty="0">
                <a:solidFill>
                  <a:srgbClr val="FFFFFF"/>
                </a:solidFill>
                <a:latin typeface="Calibri Light"/>
                <a:cs typeface="Calibri Light"/>
              </a:rPr>
              <a:t>(</a:t>
            </a:r>
            <a:r>
              <a:rPr sz="2900" spc="-5" dirty="0">
                <a:solidFill>
                  <a:srgbClr val="FFFFFF"/>
                </a:solidFill>
                <a:latin typeface="Calibri Light"/>
                <a:cs typeface="Calibri Light"/>
              </a:rPr>
              <a:t>Co</a:t>
            </a:r>
            <a:r>
              <a:rPr sz="2900" spc="-25" dirty="0">
                <a:solidFill>
                  <a:srgbClr val="FFFFFF"/>
                </a:solidFill>
                <a:latin typeface="Calibri Light"/>
                <a:cs typeface="Calibri Light"/>
              </a:rPr>
              <a:t>n</a:t>
            </a:r>
            <a:r>
              <a:rPr sz="2900" dirty="0">
                <a:solidFill>
                  <a:srgbClr val="FFFFFF"/>
                </a:solidFill>
                <a:latin typeface="Calibri Light"/>
                <a:cs typeface="Calibri Light"/>
              </a:rPr>
              <a:t>t</a:t>
            </a:r>
            <a:endParaRPr sz="2900">
              <a:latin typeface="Calibri Light"/>
              <a:cs typeface="Calibri Light"/>
            </a:endParaRPr>
          </a:p>
          <a:p>
            <a:pPr marL="323850">
              <a:lnSpc>
                <a:spcPts val="3090"/>
              </a:lnSpc>
            </a:pPr>
            <a:r>
              <a:rPr sz="2900" spc="-5" dirty="0">
                <a:solidFill>
                  <a:srgbClr val="FFFFFF"/>
                </a:solidFill>
                <a:latin typeface="Calibri Light"/>
                <a:cs typeface="Calibri Light"/>
              </a:rPr>
              <a:t>..)</a:t>
            </a:r>
            <a:endParaRPr sz="29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8995" y="3314700"/>
            <a:ext cx="2562225" cy="1484630"/>
          </a:xfrm>
          <a:custGeom>
            <a:avLst/>
            <a:gdLst/>
            <a:ahLst/>
            <a:cxnLst/>
            <a:rect l="l" t="t" r="r" b="b"/>
            <a:pathLst>
              <a:path w="2562225" h="1484629">
                <a:moveTo>
                  <a:pt x="2561844" y="0"/>
                </a:moveTo>
                <a:lnTo>
                  <a:pt x="0" y="0"/>
                </a:lnTo>
                <a:lnTo>
                  <a:pt x="0" y="1484376"/>
                </a:lnTo>
                <a:lnTo>
                  <a:pt x="2561844" y="1484376"/>
                </a:lnTo>
                <a:lnTo>
                  <a:pt x="2561844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32760" y="335279"/>
            <a:ext cx="5767070" cy="4465320"/>
          </a:xfrm>
          <a:custGeom>
            <a:avLst/>
            <a:gdLst/>
            <a:ahLst/>
            <a:cxnLst/>
            <a:rect l="l" t="t" r="r" b="b"/>
            <a:pathLst>
              <a:path w="5767070" h="4465320">
                <a:moveTo>
                  <a:pt x="5766816" y="0"/>
                </a:moveTo>
                <a:lnTo>
                  <a:pt x="0" y="0"/>
                </a:lnTo>
                <a:lnTo>
                  <a:pt x="0" y="4465320"/>
                </a:lnTo>
                <a:lnTo>
                  <a:pt x="5766816" y="4465320"/>
                </a:lnTo>
                <a:lnTo>
                  <a:pt x="5766816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592829" y="513715"/>
            <a:ext cx="4695825" cy="2156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2195"/>
              </a:lnSpc>
              <a:spcBef>
                <a:spcPts val="95"/>
              </a:spcBef>
              <a:buSzPct val="78947"/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900" spc="-10" dirty="0">
                <a:latin typeface="Calibri"/>
                <a:cs typeface="Calibri"/>
              </a:rPr>
              <a:t>Congestion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Window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(cwnd)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is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</a:t>
            </a:r>
            <a:endParaRPr sz="1900">
              <a:latin typeface="Calibri"/>
              <a:cs typeface="Calibri"/>
            </a:endParaRPr>
          </a:p>
          <a:p>
            <a:pPr marL="698500" marR="5080" lvl="1" indent="-228600">
              <a:lnSpc>
                <a:spcPts val="1730"/>
              </a:lnSpc>
              <a:spcBef>
                <a:spcPts val="130"/>
              </a:spcBef>
              <a:buSzPct val="93750"/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600" spc="-20" dirty="0">
                <a:latin typeface="Calibri"/>
                <a:cs typeface="Calibri"/>
              </a:rPr>
              <a:t>TCP </a:t>
            </a:r>
            <a:r>
              <a:rPr sz="1600" spc="-10" dirty="0">
                <a:latin typeface="Calibri"/>
                <a:cs typeface="Calibri"/>
              </a:rPr>
              <a:t>state </a:t>
            </a:r>
            <a:r>
              <a:rPr sz="1600" spc="-5" dirty="0">
                <a:latin typeface="Calibri"/>
                <a:cs typeface="Calibri"/>
              </a:rPr>
              <a:t>variable that limits the amount of </a:t>
            </a:r>
            <a:r>
              <a:rPr sz="1600" spc="-10" dirty="0">
                <a:latin typeface="Calibri"/>
                <a:cs typeface="Calibri"/>
              </a:rPr>
              <a:t>data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u="heavy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TCP</a:t>
            </a:r>
            <a:r>
              <a:rPr sz="1600" dirty="0">
                <a:latin typeface="Calibri"/>
                <a:cs typeface="Calibri"/>
                <a:hlinkClick r:id="rId2"/>
              </a:rPr>
              <a:t> </a:t>
            </a:r>
            <a:r>
              <a:rPr sz="1600" spc="-10" dirty="0">
                <a:latin typeface="Calibri"/>
                <a:cs typeface="Calibri"/>
              </a:rPr>
              <a:t>can</a:t>
            </a:r>
            <a:r>
              <a:rPr sz="1600" spc="-5" dirty="0">
                <a:latin typeface="Calibri"/>
                <a:cs typeface="Calibri"/>
              </a:rPr>
              <a:t> send </a:t>
            </a:r>
            <a:r>
              <a:rPr sz="1600" spc="-10" dirty="0">
                <a:latin typeface="Calibri"/>
                <a:cs typeface="Calibri"/>
              </a:rPr>
              <a:t>into</a:t>
            </a:r>
            <a:r>
              <a:rPr sz="1600" spc="-5" dirty="0">
                <a:latin typeface="Calibri"/>
                <a:cs typeface="Calibri"/>
              </a:rPr>
              <a:t> the </a:t>
            </a:r>
            <a:r>
              <a:rPr sz="1600" spc="-10" dirty="0">
                <a:latin typeface="Calibri"/>
                <a:cs typeface="Calibri"/>
              </a:rPr>
              <a:t>network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before 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receiving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3"/>
              </a:rPr>
              <a:t>ACK</a:t>
            </a:r>
            <a:r>
              <a:rPr sz="1600" spc="-10" dirty="0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ts val="1914"/>
              </a:lnSpc>
              <a:buSzPct val="78947"/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900" spc="-10" dirty="0">
                <a:latin typeface="Calibri"/>
                <a:cs typeface="Calibri"/>
              </a:rPr>
              <a:t>The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Receiver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Window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(rwnd)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is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</a:t>
            </a:r>
            <a:endParaRPr sz="1900">
              <a:latin typeface="Calibri"/>
              <a:cs typeface="Calibri"/>
            </a:endParaRPr>
          </a:p>
          <a:p>
            <a:pPr marL="698500" lvl="1" indent="-228600">
              <a:lnSpc>
                <a:spcPts val="1739"/>
              </a:lnSpc>
              <a:buSzPct val="93750"/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600" spc="-15" dirty="0">
                <a:latin typeface="Calibri"/>
                <a:cs typeface="Calibri"/>
              </a:rPr>
              <a:t>Variable</a:t>
            </a:r>
            <a:r>
              <a:rPr sz="1600" spc="-5" dirty="0">
                <a:latin typeface="Calibri"/>
                <a:cs typeface="Calibri"/>
              </a:rPr>
              <a:t> that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advertises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amount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data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that</a:t>
            </a:r>
            <a:endParaRPr sz="1600">
              <a:latin typeface="Calibri"/>
              <a:cs typeface="Calibri"/>
            </a:endParaRPr>
          </a:p>
          <a:p>
            <a:pPr marL="698500">
              <a:lnSpc>
                <a:spcPts val="1700"/>
              </a:lnSpc>
            </a:pP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destination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side</a:t>
            </a:r>
            <a:r>
              <a:rPr sz="1600" spc="-10" dirty="0">
                <a:latin typeface="Calibri"/>
                <a:cs typeface="Calibri"/>
              </a:rPr>
              <a:t> can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receive.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ts val="2070"/>
              </a:lnSpc>
              <a:buSzPct val="78947"/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900" spc="-45" dirty="0">
                <a:latin typeface="Calibri"/>
                <a:cs typeface="Calibri"/>
              </a:rPr>
              <a:t>Together,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the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two </a:t>
            </a:r>
            <a:r>
              <a:rPr sz="1900" spc="-5" dirty="0">
                <a:latin typeface="Calibri"/>
                <a:cs typeface="Calibri"/>
              </a:rPr>
              <a:t>variables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are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used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to</a:t>
            </a:r>
            <a:endParaRPr sz="1900">
              <a:latin typeface="Calibri"/>
              <a:cs typeface="Calibri"/>
            </a:endParaRPr>
          </a:p>
          <a:p>
            <a:pPr marL="698500" lvl="1" indent="-228600">
              <a:lnSpc>
                <a:spcPts val="1835"/>
              </a:lnSpc>
              <a:buSzPct val="93750"/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600" spc="-10" dirty="0">
                <a:latin typeface="Calibri"/>
                <a:cs typeface="Calibri"/>
              </a:rPr>
              <a:t>regulate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data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flow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TCP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connections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50029" y="2620517"/>
            <a:ext cx="2839085" cy="488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1825"/>
              </a:lnSpc>
              <a:spcBef>
                <a:spcPts val="95"/>
              </a:spcBef>
              <a:buSzPct val="93750"/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spc="-5" dirty="0">
                <a:latin typeface="Calibri"/>
                <a:cs typeface="Calibri"/>
              </a:rPr>
              <a:t>minimize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congestion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ts val="1825"/>
              </a:lnSpc>
              <a:buSzPct val="93750"/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spc="-10" dirty="0">
                <a:latin typeface="Calibri"/>
                <a:cs typeface="Calibri"/>
              </a:rPr>
              <a:t>improve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network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performance.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92829" y="3051505"/>
            <a:ext cx="4736465" cy="575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2165"/>
              </a:lnSpc>
              <a:spcBef>
                <a:spcPts val="95"/>
              </a:spcBef>
              <a:buSzPct val="78947"/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900" spc="-5" dirty="0">
                <a:latin typeface="Calibri"/>
                <a:cs typeface="Calibri"/>
              </a:rPr>
              <a:t>The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actual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size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of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the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window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is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the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minimum</a:t>
            </a:r>
            <a:endParaRPr sz="1900">
              <a:latin typeface="Calibri"/>
              <a:cs typeface="Calibri"/>
            </a:endParaRPr>
          </a:p>
          <a:p>
            <a:pPr marL="241300">
              <a:lnSpc>
                <a:spcPts val="2165"/>
              </a:lnSpc>
            </a:pPr>
            <a:r>
              <a:rPr sz="1900" spc="-5" dirty="0">
                <a:latin typeface="Calibri"/>
                <a:cs typeface="Calibri"/>
              </a:rPr>
              <a:t>of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these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two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50029" y="3733291"/>
            <a:ext cx="40474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SzPct val="87500"/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b="1" spc="-5" dirty="0">
                <a:latin typeface="Calibri"/>
                <a:cs typeface="Calibri"/>
              </a:rPr>
              <a:t>Actual</a:t>
            </a:r>
            <a:r>
              <a:rPr sz="1600" b="1" spc="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window</a:t>
            </a:r>
            <a:r>
              <a:rPr sz="1600" b="1" spc="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size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=</a:t>
            </a:r>
            <a:r>
              <a:rPr sz="1600" b="1" spc="1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minimum</a:t>
            </a:r>
            <a:r>
              <a:rPr sz="1600" b="1" spc="1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(rwnd,</a:t>
            </a:r>
            <a:r>
              <a:rPr sz="1600" b="1" spc="30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cwnd)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9676" y="979170"/>
            <a:ext cx="757110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5" dirty="0">
                <a:latin typeface="Calibri Light"/>
                <a:cs typeface="Calibri Light"/>
              </a:rPr>
              <a:t>How</a:t>
            </a:r>
            <a:r>
              <a:rPr sz="4500" spc="-20" dirty="0">
                <a:latin typeface="Calibri Light"/>
                <a:cs typeface="Calibri Light"/>
              </a:rPr>
              <a:t> </a:t>
            </a:r>
            <a:r>
              <a:rPr sz="4500" spc="-35" dirty="0">
                <a:latin typeface="Calibri Light"/>
                <a:cs typeface="Calibri Light"/>
              </a:rPr>
              <a:t>TCP</a:t>
            </a:r>
            <a:r>
              <a:rPr sz="4500" spc="-20" dirty="0">
                <a:latin typeface="Calibri Light"/>
                <a:cs typeface="Calibri Light"/>
              </a:rPr>
              <a:t> </a:t>
            </a:r>
            <a:r>
              <a:rPr sz="4500" dirty="0">
                <a:latin typeface="Calibri Light"/>
                <a:cs typeface="Calibri Light"/>
              </a:rPr>
              <a:t>Uses</a:t>
            </a:r>
            <a:r>
              <a:rPr sz="4500" spc="-15" dirty="0">
                <a:latin typeface="Calibri Light"/>
                <a:cs typeface="Calibri Light"/>
              </a:rPr>
              <a:t> </a:t>
            </a:r>
            <a:r>
              <a:rPr sz="4500" dirty="0">
                <a:latin typeface="Calibri Light"/>
                <a:cs typeface="Calibri Light"/>
              </a:rPr>
              <a:t>CWND</a:t>
            </a:r>
            <a:r>
              <a:rPr sz="4500" spc="-15" dirty="0">
                <a:latin typeface="Calibri Light"/>
                <a:cs typeface="Calibri Light"/>
              </a:rPr>
              <a:t> </a:t>
            </a:r>
            <a:r>
              <a:rPr sz="4500" dirty="0">
                <a:latin typeface="Calibri Light"/>
                <a:cs typeface="Calibri Light"/>
              </a:rPr>
              <a:t>and</a:t>
            </a:r>
            <a:r>
              <a:rPr sz="4500" spc="-15" dirty="0">
                <a:latin typeface="Calibri Light"/>
                <a:cs typeface="Calibri Light"/>
              </a:rPr>
              <a:t> RWND</a:t>
            </a:r>
            <a:endParaRPr sz="4500">
              <a:latin typeface="Calibri Light"/>
              <a:cs typeface="Calibri Ligh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0936" y="2081783"/>
            <a:ext cx="7858125" cy="106680"/>
            <a:chOff x="630936" y="2081783"/>
            <a:chExt cx="7858125" cy="106680"/>
          </a:xfrm>
        </p:grpSpPr>
        <p:sp>
          <p:nvSpPr>
            <p:cNvPr id="5" name="object 5"/>
            <p:cNvSpPr/>
            <p:nvPr/>
          </p:nvSpPr>
          <p:spPr>
            <a:xfrm>
              <a:off x="649224" y="2174747"/>
              <a:ext cx="7839709" cy="13970"/>
            </a:xfrm>
            <a:custGeom>
              <a:avLst/>
              <a:gdLst/>
              <a:ahLst/>
              <a:cxnLst/>
              <a:rect l="l" t="t" r="r" b="b"/>
              <a:pathLst>
                <a:path w="7839709" h="13969">
                  <a:moveTo>
                    <a:pt x="7839456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0" y="13716"/>
                  </a:lnTo>
                  <a:lnTo>
                    <a:pt x="7839456" y="13716"/>
                  </a:lnTo>
                  <a:lnTo>
                    <a:pt x="7839456" y="10668"/>
                  </a:lnTo>
                  <a:lnTo>
                    <a:pt x="78394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0936" y="2081783"/>
              <a:ext cx="1405255" cy="104139"/>
            </a:xfrm>
            <a:custGeom>
              <a:avLst/>
              <a:gdLst/>
              <a:ahLst/>
              <a:cxnLst/>
              <a:rect l="l" t="t" r="r" b="b"/>
              <a:pathLst>
                <a:path w="1405255" h="104139">
                  <a:moveTo>
                    <a:pt x="1405127" y="0"/>
                  </a:moveTo>
                  <a:lnTo>
                    <a:pt x="0" y="0"/>
                  </a:lnTo>
                  <a:lnTo>
                    <a:pt x="0" y="103631"/>
                  </a:lnTo>
                  <a:lnTo>
                    <a:pt x="1405127" y="103631"/>
                  </a:lnTo>
                  <a:lnTo>
                    <a:pt x="140512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555" y="2505455"/>
            <a:ext cx="2069592" cy="217474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34669" y="2598165"/>
            <a:ext cx="1876425" cy="19615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15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destination</a:t>
            </a:r>
            <a:r>
              <a:rPr sz="1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indicates</a:t>
            </a:r>
            <a:r>
              <a:rPr sz="1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the size</a:t>
            </a:r>
            <a:r>
              <a:rPr sz="1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ts val="1100"/>
              </a:lnSpc>
            </a:pP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receiver</a:t>
            </a:r>
            <a:r>
              <a:rPr sz="10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window through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ts val="1145"/>
              </a:lnSpc>
            </a:pP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TCP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 header.</a:t>
            </a:r>
            <a:endParaRPr sz="1000">
              <a:latin typeface="Calibri"/>
              <a:cs typeface="Calibri"/>
            </a:endParaRPr>
          </a:p>
          <a:p>
            <a:pPr marL="48895" marR="21590" indent="7620" algn="ctr">
              <a:lnSpc>
                <a:spcPct val="91700"/>
              </a:lnSpc>
              <a:spcBef>
                <a:spcPts val="425"/>
              </a:spcBef>
            </a:pP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This advertises</a:t>
            </a:r>
            <a:r>
              <a:rPr sz="1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amount of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000" spc="-2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receive</a:t>
            </a:r>
            <a:r>
              <a:rPr sz="10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enables</a:t>
            </a:r>
            <a:r>
              <a:rPr sz="1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000" spc="-2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congestion</a:t>
            </a:r>
            <a:r>
              <a:rPr sz="1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window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determine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the amount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reliably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transmit</a:t>
            </a:r>
            <a:r>
              <a:rPr sz="1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without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ACK.</a:t>
            </a:r>
            <a:endParaRPr sz="1000">
              <a:latin typeface="Calibri"/>
              <a:cs typeface="Calibri"/>
            </a:endParaRPr>
          </a:p>
          <a:p>
            <a:pPr marL="21590" marR="14604" algn="ctr">
              <a:lnSpc>
                <a:spcPct val="91600"/>
              </a:lnSpc>
              <a:spcBef>
                <a:spcPts val="425"/>
              </a:spcBef>
            </a:pP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Once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received,</a:t>
            </a:r>
            <a:r>
              <a:rPr sz="10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data is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stored</a:t>
            </a:r>
            <a:r>
              <a:rPr sz="1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sz="1000" spc="-2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the receiver buffer and the receiver </a:t>
            </a:r>
            <a:r>
              <a:rPr sz="1000" spc="-2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sends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ACK or a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sz="1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ACKs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depending on the amount of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received</a:t>
            </a:r>
            <a:r>
              <a:rPr sz="10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data.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37203" y="2505455"/>
            <a:ext cx="2069592" cy="217474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15411" y="3336035"/>
            <a:ext cx="438912" cy="51358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625088" y="2695193"/>
            <a:ext cx="1892935" cy="1767839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59690" marR="51435" algn="ctr">
              <a:lnSpc>
                <a:spcPct val="91700"/>
              </a:lnSpc>
              <a:spcBef>
                <a:spcPts val="195"/>
              </a:spcBef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 congestion</a:t>
            </a:r>
            <a:r>
              <a:rPr sz="1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window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size</a:t>
            </a:r>
            <a:r>
              <a:rPr sz="1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keeps </a:t>
            </a:r>
            <a:r>
              <a:rPr sz="1000" spc="-2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increasing</a:t>
            </a:r>
            <a:r>
              <a:rPr sz="1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up to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maximum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receiver</a:t>
            </a:r>
            <a:r>
              <a:rPr sz="10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window,</a:t>
            </a:r>
            <a:r>
              <a:rPr sz="1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or until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network reaches</a:t>
            </a:r>
            <a:r>
              <a:rPr sz="10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its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limit.</a:t>
            </a:r>
            <a:endParaRPr sz="1000">
              <a:latin typeface="Calibri"/>
              <a:cs typeface="Calibri"/>
            </a:endParaRPr>
          </a:p>
          <a:p>
            <a:pPr marL="12700" marR="5080" algn="ctr">
              <a:lnSpc>
                <a:spcPct val="91600"/>
              </a:lnSpc>
              <a:spcBef>
                <a:spcPts val="425"/>
              </a:spcBef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However,</a:t>
            </a:r>
            <a:r>
              <a:rPr sz="10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the rate of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sending</a:t>
            </a:r>
            <a:r>
              <a:rPr sz="1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sz="1000" spc="-2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bound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to the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congestion</a:t>
            </a:r>
            <a:r>
              <a:rPr sz="1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window,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even</a:t>
            </a:r>
            <a:r>
              <a:rPr sz="1000" spc="2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1000" spc="2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the receiver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window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large,</a:t>
            </a:r>
            <a:r>
              <a:rPr sz="10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congestion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window may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smaller</a:t>
            </a:r>
            <a:r>
              <a:rPr sz="1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– especially </a:t>
            </a:r>
            <a:r>
              <a:rPr sz="1000" spc="-2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if the network does not support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transmitting</a:t>
            </a:r>
            <a:r>
              <a:rPr sz="1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equivalent</a:t>
            </a:r>
            <a:r>
              <a:rPr sz="1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maximum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RWND</a:t>
            </a:r>
            <a:r>
              <a:rPr sz="1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size.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4059" y="3336035"/>
            <a:ext cx="438912" cy="51358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5852" y="2505455"/>
            <a:ext cx="2069592" cy="2174748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560946" y="2598165"/>
            <a:ext cx="1821180" cy="1961514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76200" marR="69850" algn="ctr">
              <a:lnSpc>
                <a:spcPct val="91800"/>
              </a:lnSpc>
              <a:spcBef>
                <a:spcPts val="195"/>
              </a:spcBef>
            </a:pP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Congestion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is detected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either by </a:t>
            </a:r>
            <a:r>
              <a:rPr sz="1000" spc="-2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receipt</a:t>
            </a:r>
            <a:r>
              <a:rPr sz="1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of a duplicate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acknowledgement</a:t>
            </a:r>
            <a:r>
              <a:rPr sz="10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timeout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signal.</a:t>
            </a:r>
            <a:endParaRPr sz="1000">
              <a:latin typeface="Calibri"/>
              <a:cs typeface="Calibri"/>
            </a:endParaRPr>
          </a:p>
          <a:p>
            <a:pPr marL="15240" marR="7620" indent="-635" algn="ctr">
              <a:lnSpc>
                <a:spcPct val="91500"/>
              </a:lnSpc>
              <a:spcBef>
                <a:spcPts val="425"/>
              </a:spcBef>
            </a:pP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Once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happens,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TCP</a:t>
            </a:r>
            <a:r>
              <a:rPr sz="1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sender </a:t>
            </a:r>
            <a:r>
              <a:rPr sz="1000" spc="-2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decreases</a:t>
            </a:r>
            <a:r>
              <a:rPr sz="1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send</a:t>
            </a:r>
            <a:r>
              <a:rPr sz="1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rate by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decreasing the congestion window </a:t>
            </a:r>
            <a:r>
              <a:rPr sz="1000" spc="-2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size</a:t>
            </a:r>
            <a:r>
              <a:rPr sz="1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a factor determined</a:t>
            </a:r>
            <a:r>
              <a:rPr sz="10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algorithm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used.</a:t>
            </a:r>
            <a:endParaRPr sz="1000">
              <a:latin typeface="Calibri"/>
              <a:cs typeface="Calibri"/>
            </a:endParaRPr>
          </a:p>
          <a:p>
            <a:pPr marL="12065" marR="5080" indent="-1270" algn="ctr">
              <a:lnSpc>
                <a:spcPct val="91700"/>
              </a:lnSpc>
              <a:spcBef>
                <a:spcPts val="425"/>
              </a:spcBef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maximum</a:t>
            </a:r>
            <a:r>
              <a:rPr sz="1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amount of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unacknowledged</a:t>
            </a:r>
            <a:r>
              <a:rPr sz="1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source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send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the lower</a:t>
            </a:r>
            <a:r>
              <a:rPr sz="1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000" spc="-2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two windows.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790"/>
              </a:lnSpc>
              <a:spcBef>
                <a:spcPts val="100"/>
              </a:spcBef>
            </a:pPr>
            <a:r>
              <a:rPr spc="-35" dirty="0"/>
              <a:t>TCP</a:t>
            </a:r>
          </a:p>
          <a:p>
            <a:pPr marL="12700" marR="5080">
              <a:lnSpc>
                <a:spcPct val="90000"/>
              </a:lnSpc>
              <a:spcBef>
                <a:spcPts val="254"/>
              </a:spcBef>
            </a:pPr>
            <a:r>
              <a:rPr spc="-5" dirty="0"/>
              <a:t>Con</a:t>
            </a:r>
            <a:r>
              <a:rPr spc="-35" dirty="0"/>
              <a:t>g</a:t>
            </a:r>
            <a:r>
              <a:rPr spc="-5" dirty="0"/>
              <a:t>e</a:t>
            </a:r>
            <a:r>
              <a:rPr spc="-55" dirty="0"/>
              <a:t>s</a:t>
            </a:r>
            <a:r>
              <a:rPr dirty="0"/>
              <a:t>tion  </a:t>
            </a:r>
            <a:r>
              <a:rPr spc="-20" dirty="0"/>
              <a:t>Control: </a:t>
            </a:r>
            <a:r>
              <a:rPr spc="-15" dirty="0"/>
              <a:t> </a:t>
            </a:r>
            <a:r>
              <a:rPr spc="-5" dirty="0"/>
              <a:t>Con</a:t>
            </a:r>
            <a:r>
              <a:rPr spc="-35" dirty="0"/>
              <a:t>g</a:t>
            </a:r>
            <a:r>
              <a:rPr spc="-5" dirty="0"/>
              <a:t>e</a:t>
            </a:r>
            <a:r>
              <a:rPr spc="-55" dirty="0"/>
              <a:t>s</a:t>
            </a:r>
            <a:r>
              <a:rPr dirty="0"/>
              <a:t>tion  </a:t>
            </a:r>
            <a:r>
              <a:rPr spc="-20" dirty="0"/>
              <a:t>Policy</a:t>
            </a:r>
          </a:p>
        </p:txBody>
      </p:sp>
      <p:sp>
        <p:nvSpPr>
          <p:cNvPr id="3" name="object 3"/>
          <p:cNvSpPr/>
          <p:nvPr/>
        </p:nvSpPr>
        <p:spPr>
          <a:xfrm>
            <a:off x="3820667" y="518159"/>
            <a:ext cx="4697095" cy="2569845"/>
          </a:xfrm>
          <a:custGeom>
            <a:avLst/>
            <a:gdLst/>
            <a:ahLst/>
            <a:cxnLst/>
            <a:rect l="l" t="t" r="r" b="b"/>
            <a:pathLst>
              <a:path w="4697095" h="2569845">
                <a:moveTo>
                  <a:pt x="4268724" y="0"/>
                </a:moveTo>
                <a:lnTo>
                  <a:pt x="428244" y="0"/>
                </a:lnTo>
                <a:lnTo>
                  <a:pt x="381588" y="2513"/>
                </a:lnTo>
                <a:lnTo>
                  <a:pt x="336387" y="9879"/>
                </a:lnTo>
                <a:lnTo>
                  <a:pt x="292900" y="21835"/>
                </a:lnTo>
                <a:lnTo>
                  <a:pt x="251390" y="38122"/>
                </a:lnTo>
                <a:lnTo>
                  <a:pt x="212118" y="58476"/>
                </a:lnTo>
                <a:lnTo>
                  <a:pt x="175345" y="82637"/>
                </a:lnTo>
                <a:lnTo>
                  <a:pt x="141333" y="110343"/>
                </a:lnTo>
                <a:lnTo>
                  <a:pt x="110343" y="141333"/>
                </a:lnTo>
                <a:lnTo>
                  <a:pt x="82637" y="175345"/>
                </a:lnTo>
                <a:lnTo>
                  <a:pt x="58476" y="212118"/>
                </a:lnTo>
                <a:lnTo>
                  <a:pt x="38122" y="251390"/>
                </a:lnTo>
                <a:lnTo>
                  <a:pt x="21835" y="292900"/>
                </a:lnTo>
                <a:lnTo>
                  <a:pt x="9879" y="336387"/>
                </a:lnTo>
                <a:lnTo>
                  <a:pt x="2513" y="381588"/>
                </a:lnTo>
                <a:lnTo>
                  <a:pt x="0" y="428243"/>
                </a:lnTo>
                <a:lnTo>
                  <a:pt x="0" y="2141220"/>
                </a:lnTo>
                <a:lnTo>
                  <a:pt x="2513" y="2187875"/>
                </a:lnTo>
                <a:lnTo>
                  <a:pt x="9879" y="2233076"/>
                </a:lnTo>
                <a:lnTo>
                  <a:pt x="21835" y="2276563"/>
                </a:lnTo>
                <a:lnTo>
                  <a:pt x="38122" y="2318073"/>
                </a:lnTo>
                <a:lnTo>
                  <a:pt x="58476" y="2357345"/>
                </a:lnTo>
                <a:lnTo>
                  <a:pt x="82637" y="2394118"/>
                </a:lnTo>
                <a:lnTo>
                  <a:pt x="110343" y="2428130"/>
                </a:lnTo>
                <a:lnTo>
                  <a:pt x="141333" y="2459120"/>
                </a:lnTo>
                <a:lnTo>
                  <a:pt x="175345" y="2486826"/>
                </a:lnTo>
                <a:lnTo>
                  <a:pt x="212118" y="2510987"/>
                </a:lnTo>
                <a:lnTo>
                  <a:pt x="251390" y="2531341"/>
                </a:lnTo>
                <a:lnTo>
                  <a:pt x="292900" y="2547628"/>
                </a:lnTo>
                <a:lnTo>
                  <a:pt x="336387" y="2559584"/>
                </a:lnTo>
                <a:lnTo>
                  <a:pt x="381588" y="2566950"/>
                </a:lnTo>
                <a:lnTo>
                  <a:pt x="428244" y="2569464"/>
                </a:lnTo>
                <a:lnTo>
                  <a:pt x="4268724" y="2569464"/>
                </a:lnTo>
                <a:lnTo>
                  <a:pt x="4315379" y="2566950"/>
                </a:lnTo>
                <a:lnTo>
                  <a:pt x="4360580" y="2559584"/>
                </a:lnTo>
                <a:lnTo>
                  <a:pt x="4404067" y="2547628"/>
                </a:lnTo>
                <a:lnTo>
                  <a:pt x="4445577" y="2531341"/>
                </a:lnTo>
                <a:lnTo>
                  <a:pt x="4484849" y="2510987"/>
                </a:lnTo>
                <a:lnTo>
                  <a:pt x="4521622" y="2486826"/>
                </a:lnTo>
                <a:lnTo>
                  <a:pt x="4555634" y="2459120"/>
                </a:lnTo>
                <a:lnTo>
                  <a:pt x="4586624" y="2428130"/>
                </a:lnTo>
                <a:lnTo>
                  <a:pt x="4614330" y="2394118"/>
                </a:lnTo>
                <a:lnTo>
                  <a:pt x="4638491" y="2357345"/>
                </a:lnTo>
                <a:lnTo>
                  <a:pt x="4658845" y="2318073"/>
                </a:lnTo>
                <a:lnTo>
                  <a:pt x="4675132" y="2276563"/>
                </a:lnTo>
                <a:lnTo>
                  <a:pt x="4687088" y="2233076"/>
                </a:lnTo>
                <a:lnTo>
                  <a:pt x="4694454" y="2187875"/>
                </a:lnTo>
                <a:lnTo>
                  <a:pt x="4696968" y="2141220"/>
                </a:lnTo>
                <a:lnTo>
                  <a:pt x="4696968" y="428243"/>
                </a:lnTo>
                <a:lnTo>
                  <a:pt x="4694454" y="381588"/>
                </a:lnTo>
                <a:lnTo>
                  <a:pt x="4687088" y="336387"/>
                </a:lnTo>
                <a:lnTo>
                  <a:pt x="4675132" y="292900"/>
                </a:lnTo>
                <a:lnTo>
                  <a:pt x="4658845" y="251390"/>
                </a:lnTo>
                <a:lnTo>
                  <a:pt x="4638491" y="212118"/>
                </a:lnTo>
                <a:lnTo>
                  <a:pt x="4614330" y="175345"/>
                </a:lnTo>
                <a:lnTo>
                  <a:pt x="4586624" y="141333"/>
                </a:lnTo>
                <a:lnTo>
                  <a:pt x="4555634" y="110343"/>
                </a:lnTo>
                <a:lnTo>
                  <a:pt x="4521622" y="82637"/>
                </a:lnTo>
                <a:lnTo>
                  <a:pt x="4484849" y="58476"/>
                </a:lnTo>
                <a:lnTo>
                  <a:pt x="4445577" y="38122"/>
                </a:lnTo>
                <a:lnTo>
                  <a:pt x="4404067" y="21835"/>
                </a:lnTo>
                <a:lnTo>
                  <a:pt x="4360580" y="9879"/>
                </a:lnTo>
                <a:lnTo>
                  <a:pt x="4315379" y="2513"/>
                </a:lnTo>
                <a:lnTo>
                  <a:pt x="4268724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685415" marR="5080">
              <a:lnSpc>
                <a:spcPct val="91600"/>
              </a:lnSpc>
              <a:spcBef>
                <a:spcPts val="459"/>
              </a:spcBef>
            </a:pPr>
            <a:r>
              <a:rPr spc="-20" dirty="0"/>
              <a:t>TCP's general </a:t>
            </a:r>
            <a:r>
              <a:rPr spc="-5" dirty="0"/>
              <a:t>policy </a:t>
            </a:r>
            <a:r>
              <a:rPr spc="-800" dirty="0"/>
              <a:t> </a:t>
            </a:r>
            <a:r>
              <a:rPr spc="-25" dirty="0"/>
              <a:t>for</a:t>
            </a:r>
            <a:r>
              <a:rPr spc="-15" dirty="0"/>
              <a:t> </a:t>
            </a:r>
            <a:r>
              <a:rPr spc="-5" dirty="0"/>
              <a:t>handling </a:t>
            </a:r>
            <a:r>
              <a:rPr dirty="0"/>
              <a:t> </a:t>
            </a:r>
            <a:r>
              <a:rPr spc="-15" dirty="0"/>
              <a:t>congestion </a:t>
            </a:r>
            <a:r>
              <a:rPr dirty="0"/>
              <a:t>is </a:t>
            </a:r>
            <a:r>
              <a:rPr spc="-5" dirty="0"/>
              <a:t>based </a:t>
            </a:r>
            <a:r>
              <a:rPr spc="-800" dirty="0"/>
              <a:t> </a:t>
            </a:r>
            <a:r>
              <a:rPr spc="-5" dirty="0"/>
              <a:t>on</a:t>
            </a:r>
            <a:r>
              <a:rPr spc="-20" dirty="0"/>
              <a:t> </a:t>
            </a:r>
            <a:r>
              <a:rPr spc="-10" dirty="0"/>
              <a:t>three </a:t>
            </a:r>
            <a:r>
              <a:rPr spc="-5" dirty="0"/>
              <a:t>phases: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57065" y="3010577"/>
            <a:ext cx="3507740" cy="145796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500"/>
              </a:spcBef>
              <a:buChar char="•"/>
              <a:tabLst>
                <a:tab pos="299720" algn="l"/>
              </a:tabLst>
            </a:pPr>
            <a:r>
              <a:rPr sz="2800" spc="-10" dirty="0">
                <a:latin typeface="Calibri"/>
                <a:cs typeface="Calibri"/>
              </a:rPr>
              <a:t>Slow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Start</a:t>
            </a:r>
            <a:endParaRPr sz="2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400"/>
              </a:spcBef>
              <a:buChar char="•"/>
              <a:tabLst>
                <a:tab pos="299720" algn="l"/>
              </a:tabLst>
            </a:pPr>
            <a:r>
              <a:rPr sz="2800" spc="-10" dirty="0">
                <a:latin typeface="Calibri"/>
                <a:cs typeface="Calibri"/>
              </a:rPr>
              <a:t>Congestion</a:t>
            </a:r>
            <a:r>
              <a:rPr sz="2800" spc="-15" dirty="0">
                <a:latin typeface="Calibri"/>
                <a:cs typeface="Calibri"/>
              </a:rPr>
              <a:t> Avoidance</a:t>
            </a:r>
            <a:endParaRPr sz="2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395"/>
              </a:spcBef>
              <a:buChar char="•"/>
              <a:tabLst>
                <a:tab pos="299720" algn="l"/>
              </a:tabLst>
            </a:pPr>
            <a:r>
              <a:rPr sz="2800" spc="-10" dirty="0">
                <a:latin typeface="Calibri"/>
                <a:cs typeface="Calibri"/>
              </a:rPr>
              <a:t>Congestion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Detection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119786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07744" y="319862"/>
            <a:ext cx="639508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5" dirty="0">
                <a:latin typeface="Calibri Light"/>
                <a:cs typeface="Calibri Light"/>
              </a:rPr>
              <a:t>TCP</a:t>
            </a:r>
            <a:r>
              <a:rPr sz="3000" spc="-15" dirty="0">
                <a:latin typeface="Calibri Light"/>
                <a:cs typeface="Calibri Light"/>
              </a:rPr>
              <a:t> </a:t>
            </a:r>
            <a:r>
              <a:rPr sz="3000" spc="-10" dirty="0">
                <a:latin typeface="Calibri Light"/>
                <a:cs typeface="Calibri Light"/>
              </a:rPr>
              <a:t>Congestion</a:t>
            </a:r>
            <a:r>
              <a:rPr sz="3000" spc="-5" dirty="0">
                <a:latin typeface="Calibri Light"/>
                <a:cs typeface="Calibri Light"/>
              </a:rPr>
              <a:t> </a:t>
            </a:r>
            <a:r>
              <a:rPr sz="3000" spc="-15" dirty="0">
                <a:latin typeface="Calibri Light"/>
                <a:cs typeface="Calibri Light"/>
              </a:rPr>
              <a:t>Control:Congestion</a:t>
            </a:r>
            <a:r>
              <a:rPr sz="3000" spc="10" dirty="0">
                <a:latin typeface="Calibri Light"/>
                <a:cs typeface="Calibri Light"/>
              </a:rPr>
              <a:t> </a:t>
            </a:r>
            <a:r>
              <a:rPr sz="3000" spc="-15" dirty="0">
                <a:latin typeface="Calibri Light"/>
                <a:cs typeface="Calibri Light"/>
              </a:rPr>
              <a:t>Policy</a:t>
            </a:r>
            <a:endParaRPr sz="30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6294" y="1658422"/>
            <a:ext cx="6904355" cy="2336165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2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500" dirty="0">
                <a:latin typeface="Calibri"/>
                <a:cs typeface="Calibri"/>
              </a:rPr>
              <a:t>In</a:t>
            </a:r>
            <a:r>
              <a:rPr sz="1500" spc="295" dirty="0">
                <a:latin typeface="Calibri"/>
                <a:cs typeface="Calibri"/>
              </a:rPr>
              <a:t> </a:t>
            </a:r>
            <a:r>
              <a:rPr sz="1500" b="1" spc="-5" dirty="0">
                <a:latin typeface="Calibri"/>
                <a:cs typeface="Calibri"/>
              </a:rPr>
              <a:t>slow-start</a:t>
            </a:r>
            <a:r>
              <a:rPr sz="1500" b="1" spc="-20" dirty="0">
                <a:latin typeface="Calibri"/>
                <a:cs typeface="Calibri"/>
              </a:rPr>
              <a:t> </a:t>
            </a:r>
            <a:r>
              <a:rPr sz="1500" b="1" spc="-5" dirty="0">
                <a:latin typeface="Calibri"/>
                <a:cs typeface="Calibri"/>
              </a:rPr>
              <a:t>phase</a:t>
            </a:r>
            <a:endParaRPr sz="15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019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500" spc="-5" dirty="0">
                <a:latin typeface="Calibri"/>
                <a:cs typeface="Calibri"/>
              </a:rPr>
              <a:t>The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sender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starts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with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 </a:t>
            </a:r>
            <a:r>
              <a:rPr sz="1500" spc="-5" dirty="0">
                <a:latin typeface="Calibri"/>
                <a:cs typeface="Calibri"/>
              </a:rPr>
              <a:t>very slow </a:t>
            </a:r>
            <a:r>
              <a:rPr sz="1500" spc="-20" dirty="0">
                <a:latin typeface="Calibri"/>
                <a:cs typeface="Calibri"/>
              </a:rPr>
              <a:t>rate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of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transmission</a:t>
            </a:r>
            <a:endParaRPr sz="1500">
              <a:latin typeface="Calibri"/>
              <a:cs typeface="Calibri"/>
            </a:endParaRPr>
          </a:p>
          <a:p>
            <a:pPr marL="698500" lvl="1" indent="-228600">
              <a:lnSpc>
                <a:spcPts val="1710"/>
              </a:lnSpc>
              <a:spcBef>
                <a:spcPts val="1019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500" dirty="0">
                <a:latin typeface="Calibri"/>
                <a:cs typeface="Calibri"/>
              </a:rPr>
              <a:t>But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increases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rate</a:t>
            </a:r>
            <a:r>
              <a:rPr sz="1500" spc="-5" dirty="0">
                <a:latin typeface="Calibri"/>
                <a:cs typeface="Calibri"/>
              </a:rPr>
              <a:t> rapidly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to</a:t>
            </a:r>
            <a:r>
              <a:rPr sz="1500" spc="-5" dirty="0">
                <a:latin typeface="Calibri"/>
                <a:cs typeface="Calibri"/>
              </a:rPr>
              <a:t> reach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threshold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ts val="1620"/>
              </a:lnSpc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500" dirty="0">
                <a:latin typeface="Calibri"/>
                <a:cs typeface="Calibri"/>
              </a:rPr>
              <a:t>When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threshold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 </a:t>
            </a:r>
            <a:r>
              <a:rPr sz="1500" spc="-5" dirty="0">
                <a:latin typeface="Calibri"/>
                <a:cs typeface="Calibri"/>
              </a:rPr>
              <a:t>reached</a:t>
            </a:r>
            <a:endParaRPr sz="1500">
              <a:latin typeface="Calibri"/>
              <a:cs typeface="Calibri"/>
            </a:endParaRPr>
          </a:p>
          <a:p>
            <a:pPr marL="1612900" lvl="3" indent="-229235">
              <a:lnSpc>
                <a:spcPts val="1620"/>
              </a:lnSpc>
              <a:buFont typeface="Arial MT"/>
              <a:buChar char="•"/>
              <a:tabLst>
                <a:tab pos="1612900" algn="l"/>
                <a:tab pos="1613535" algn="l"/>
              </a:tabLst>
            </a:pPr>
            <a:r>
              <a:rPr sz="1500" dirty="0">
                <a:latin typeface="Calibri"/>
                <a:cs typeface="Calibri"/>
              </a:rPr>
              <a:t>the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data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rate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 </a:t>
            </a:r>
            <a:r>
              <a:rPr sz="1500" spc="-5" dirty="0">
                <a:latin typeface="Calibri"/>
                <a:cs typeface="Calibri"/>
              </a:rPr>
              <a:t>reduced </a:t>
            </a:r>
            <a:r>
              <a:rPr sz="1500" spc="-10" dirty="0">
                <a:latin typeface="Calibri"/>
                <a:cs typeface="Calibri"/>
              </a:rPr>
              <a:t>to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avoid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congestion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(</a:t>
            </a:r>
            <a:r>
              <a:rPr sz="1500" b="1" spc="-5" dirty="0">
                <a:latin typeface="Calibri"/>
                <a:cs typeface="Calibri"/>
              </a:rPr>
              <a:t>Congestion</a:t>
            </a:r>
            <a:endParaRPr sz="1500">
              <a:latin typeface="Calibri"/>
              <a:cs typeface="Calibri"/>
            </a:endParaRPr>
          </a:p>
          <a:p>
            <a:pPr marL="1612900">
              <a:lnSpc>
                <a:spcPts val="1620"/>
              </a:lnSpc>
            </a:pPr>
            <a:r>
              <a:rPr sz="1500" b="1" spc="-10" dirty="0">
                <a:latin typeface="Calibri"/>
                <a:cs typeface="Calibri"/>
              </a:rPr>
              <a:t>Avoidance</a:t>
            </a:r>
            <a:r>
              <a:rPr sz="1500" spc="-10" dirty="0">
                <a:latin typeface="Calibri"/>
                <a:cs typeface="Calibri"/>
              </a:rPr>
              <a:t>)</a:t>
            </a:r>
            <a:endParaRPr sz="1500">
              <a:latin typeface="Calibri"/>
              <a:cs typeface="Calibri"/>
            </a:endParaRPr>
          </a:p>
          <a:p>
            <a:pPr marL="241300" indent="-228600">
              <a:lnSpc>
                <a:spcPts val="1620"/>
              </a:lnSpc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500" spc="-15" dirty="0">
                <a:latin typeface="Calibri"/>
                <a:cs typeface="Calibri"/>
              </a:rPr>
              <a:t>Finally,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if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congestion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detected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(</a:t>
            </a:r>
            <a:r>
              <a:rPr sz="1500" b="1" spc="-5" dirty="0">
                <a:latin typeface="Calibri"/>
                <a:cs typeface="Calibri"/>
              </a:rPr>
              <a:t>Congestion</a:t>
            </a:r>
            <a:r>
              <a:rPr sz="1500" b="1" spc="10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Detection</a:t>
            </a:r>
            <a:r>
              <a:rPr sz="1500" spc="-10" dirty="0">
                <a:latin typeface="Calibri"/>
                <a:cs typeface="Calibri"/>
              </a:rPr>
              <a:t>)</a:t>
            </a:r>
            <a:endParaRPr sz="1500">
              <a:latin typeface="Calibri"/>
              <a:cs typeface="Calibri"/>
            </a:endParaRPr>
          </a:p>
          <a:p>
            <a:pPr marL="698500" marR="5080" lvl="1" indent="-228600">
              <a:lnSpc>
                <a:spcPts val="1620"/>
              </a:lnSpc>
              <a:spcBef>
                <a:spcPts val="114"/>
              </a:spcBef>
              <a:buFont typeface="Arial MT"/>
              <a:buChar char="•"/>
              <a:tabLst>
                <a:tab pos="741045" algn="l"/>
                <a:tab pos="741680" algn="l"/>
              </a:tabLst>
            </a:pPr>
            <a:r>
              <a:rPr dirty="0"/>
              <a:t>	</a:t>
            </a:r>
            <a:r>
              <a:rPr sz="1500" spc="-5" dirty="0">
                <a:latin typeface="Calibri"/>
                <a:cs typeface="Calibri"/>
              </a:rPr>
              <a:t>The sender </a:t>
            </a:r>
            <a:r>
              <a:rPr sz="1500" spc="-10" dirty="0">
                <a:latin typeface="Calibri"/>
                <a:cs typeface="Calibri"/>
              </a:rPr>
              <a:t>goes </a:t>
            </a:r>
            <a:r>
              <a:rPr sz="1500" spc="-5" dirty="0">
                <a:latin typeface="Calibri"/>
                <a:cs typeface="Calibri"/>
              </a:rPr>
              <a:t>back </a:t>
            </a:r>
            <a:r>
              <a:rPr sz="1500" spc="-10" dirty="0">
                <a:latin typeface="Calibri"/>
                <a:cs typeface="Calibri"/>
              </a:rPr>
              <a:t>to </a:t>
            </a:r>
            <a:r>
              <a:rPr sz="1500" dirty="0">
                <a:latin typeface="Calibri"/>
                <a:cs typeface="Calibri"/>
              </a:rPr>
              <a:t>the </a:t>
            </a:r>
            <a:r>
              <a:rPr sz="1500" spc="-5" dirty="0">
                <a:latin typeface="Calibri"/>
                <a:cs typeface="Calibri"/>
              </a:rPr>
              <a:t>slow-start or </a:t>
            </a:r>
            <a:r>
              <a:rPr sz="1500" spc="-10" dirty="0">
                <a:latin typeface="Calibri"/>
                <a:cs typeface="Calibri"/>
              </a:rPr>
              <a:t>congestion avoidance </a:t>
            </a:r>
            <a:r>
              <a:rPr sz="1500" dirty="0">
                <a:latin typeface="Calibri"/>
                <a:cs typeface="Calibri"/>
              </a:rPr>
              <a:t>phase based </a:t>
            </a:r>
            <a:r>
              <a:rPr sz="1500" spc="-5" dirty="0">
                <a:latin typeface="Calibri"/>
                <a:cs typeface="Calibri"/>
              </a:rPr>
              <a:t>on </a:t>
            </a:r>
            <a:r>
              <a:rPr sz="1500" spc="-32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how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congestion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detected.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363" y="240791"/>
            <a:ext cx="5294630" cy="1473835"/>
          </a:xfrm>
          <a:prstGeom prst="rect">
            <a:avLst/>
          </a:prstGeom>
          <a:solidFill>
            <a:srgbClr val="333761"/>
          </a:solidFill>
        </p:spPr>
        <p:txBody>
          <a:bodyPr vert="horz" wrap="square" lIns="0" tIns="168910" rIns="0" bIns="0" rtlCol="0">
            <a:spAutoFit/>
          </a:bodyPr>
          <a:lstStyle/>
          <a:p>
            <a:pPr marL="238760" marR="724535">
              <a:lnSpc>
                <a:spcPts val="4430"/>
              </a:lnSpc>
              <a:spcBef>
                <a:spcPts val="1330"/>
              </a:spcBef>
            </a:pPr>
            <a:r>
              <a:rPr sz="4100" spc="-10" dirty="0">
                <a:latin typeface="Calibri Light"/>
                <a:cs typeface="Calibri Light"/>
              </a:rPr>
              <a:t>Slow Start: </a:t>
            </a:r>
            <a:r>
              <a:rPr sz="4100" spc="-5" dirty="0">
                <a:latin typeface="Calibri Light"/>
                <a:cs typeface="Calibri Light"/>
              </a:rPr>
              <a:t> Exponential</a:t>
            </a:r>
            <a:r>
              <a:rPr sz="4100" spc="-120" dirty="0">
                <a:latin typeface="Calibri Light"/>
                <a:cs typeface="Calibri Light"/>
              </a:rPr>
              <a:t> </a:t>
            </a:r>
            <a:r>
              <a:rPr sz="4100" spc="-10" dirty="0">
                <a:latin typeface="Calibri Light"/>
                <a:cs typeface="Calibri Light"/>
              </a:rPr>
              <a:t>Increase</a:t>
            </a:r>
            <a:endParaRPr sz="41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46888" y="1824227"/>
            <a:ext cx="5293360" cy="3077210"/>
            <a:chOff x="246888" y="1824227"/>
            <a:chExt cx="5293360" cy="3077210"/>
          </a:xfrm>
        </p:grpSpPr>
        <p:sp>
          <p:nvSpPr>
            <p:cNvPr id="4" name="object 4"/>
            <p:cNvSpPr/>
            <p:nvPr/>
          </p:nvSpPr>
          <p:spPr>
            <a:xfrm>
              <a:off x="246888" y="1824227"/>
              <a:ext cx="5293360" cy="3077210"/>
            </a:xfrm>
            <a:custGeom>
              <a:avLst/>
              <a:gdLst/>
              <a:ahLst/>
              <a:cxnLst/>
              <a:rect l="l" t="t" r="r" b="b"/>
              <a:pathLst>
                <a:path w="5293360" h="3077210">
                  <a:moveTo>
                    <a:pt x="5292852" y="0"/>
                  </a:moveTo>
                  <a:lnTo>
                    <a:pt x="0" y="0"/>
                  </a:lnTo>
                  <a:lnTo>
                    <a:pt x="0" y="3076956"/>
                  </a:lnTo>
                  <a:lnTo>
                    <a:pt x="5292852" y="3076956"/>
                  </a:lnTo>
                  <a:lnTo>
                    <a:pt x="5292852" y="0"/>
                  </a:lnTo>
                  <a:close/>
                </a:path>
              </a:pathLst>
            </a:custGeom>
            <a:solidFill>
              <a:srgbClr val="7E7E7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196" y="2040636"/>
              <a:ext cx="4934712" cy="264414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650991" y="240791"/>
            <a:ext cx="3252470" cy="4662170"/>
          </a:xfrm>
          <a:prstGeom prst="rect">
            <a:avLst/>
          </a:prstGeom>
          <a:solidFill>
            <a:srgbClr val="585858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635635" marR="646430" indent="-172720">
              <a:lnSpc>
                <a:spcPts val="1510"/>
              </a:lnSpc>
              <a:spcBef>
                <a:spcPts val="915"/>
              </a:spcBef>
              <a:buClr>
                <a:srgbClr val="FFFFFF"/>
              </a:buClr>
              <a:buFont typeface="Arial MT"/>
              <a:buChar char="•"/>
              <a:tabLst>
                <a:tab pos="691515" algn="l"/>
                <a:tab pos="692150" algn="l"/>
              </a:tabLst>
            </a:pPr>
            <a:r>
              <a:rPr dirty="0"/>
              <a:t>	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slow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start algorithm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sz="1400" spc="-3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based on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idea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endParaRPr sz="1400">
              <a:latin typeface="Calibri"/>
              <a:cs typeface="Calibri"/>
            </a:endParaRPr>
          </a:p>
          <a:p>
            <a:pPr marL="978535" marR="575945" lvl="1" indent="-228600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978535" algn="l"/>
                <a:tab pos="979169" algn="l"/>
              </a:tabLst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size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congestion window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(cwnd) starts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with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one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maximum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segment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size </a:t>
            </a:r>
            <a:r>
              <a:rPr sz="1400" spc="-3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(MSS)</a:t>
            </a:r>
            <a:endParaRPr sz="1400">
              <a:latin typeface="Calibri"/>
              <a:cs typeface="Calibri"/>
            </a:endParaRPr>
          </a:p>
          <a:p>
            <a:pPr marL="978535" marR="541020" lvl="1" indent="-228600">
              <a:lnSpc>
                <a:spcPct val="90000"/>
              </a:lnSpc>
              <a:spcBef>
                <a:spcPts val="395"/>
              </a:spcBef>
              <a:buFont typeface="Arial MT"/>
              <a:buChar char="•"/>
              <a:tabLst>
                <a:tab pos="978535" algn="l"/>
                <a:tab pos="979169" algn="l"/>
              </a:tabLst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size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the window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increases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MSS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each </a:t>
            </a:r>
            <a:r>
              <a:rPr sz="1400" spc="-3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time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one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acknowledgement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arrives</a:t>
            </a:r>
            <a:endParaRPr sz="1400">
              <a:latin typeface="Calibri"/>
              <a:cs typeface="Calibri"/>
            </a:endParaRPr>
          </a:p>
          <a:p>
            <a:pPr marL="635635" marR="471170" indent="-172720">
              <a:lnSpc>
                <a:spcPct val="90000"/>
              </a:lnSpc>
              <a:spcBef>
                <a:spcPts val="805"/>
              </a:spcBef>
              <a:buClr>
                <a:srgbClr val="FFFFFF"/>
              </a:buClr>
              <a:buFont typeface="Arial MT"/>
              <a:buChar char="•"/>
              <a:tabLst>
                <a:tab pos="691515" algn="l"/>
                <a:tab pos="692150" algn="l"/>
              </a:tabLst>
            </a:pPr>
            <a:r>
              <a:rPr dirty="0"/>
              <a:t>	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In the slow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start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algorithm, 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size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of the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congestion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window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increases 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exponentially</a:t>
            </a:r>
            <a:r>
              <a:rPr sz="14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until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reaches </a:t>
            </a:r>
            <a:r>
              <a:rPr sz="1400" b="1" spc="-3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threshold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363" y="240791"/>
            <a:ext cx="5294630" cy="1473835"/>
          </a:xfrm>
          <a:prstGeom prst="rect">
            <a:avLst/>
          </a:prstGeom>
          <a:solidFill>
            <a:srgbClr val="333761"/>
          </a:solidFill>
        </p:spPr>
        <p:txBody>
          <a:bodyPr vert="horz" wrap="square" lIns="0" tIns="183515" rIns="0" bIns="0" rtlCol="0">
            <a:spAutoFit/>
          </a:bodyPr>
          <a:lstStyle/>
          <a:p>
            <a:pPr marL="238760" marR="354965">
              <a:lnSpc>
                <a:spcPts val="4320"/>
              </a:lnSpc>
              <a:spcBef>
                <a:spcPts val="1445"/>
              </a:spcBef>
            </a:pPr>
            <a:r>
              <a:rPr sz="4000" spc="-5" dirty="0">
                <a:latin typeface="Calibri Light"/>
                <a:cs typeface="Calibri Light"/>
              </a:rPr>
              <a:t>Slow </a:t>
            </a:r>
            <a:r>
              <a:rPr sz="4000" spc="-15" dirty="0">
                <a:latin typeface="Calibri Light"/>
                <a:cs typeface="Calibri Light"/>
              </a:rPr>
              <a:t>Start: </a:t>
            </a:r>
            <a:r>
              <a:rPr sz="4000" spc="-5" dirty="0">
                <a:latin typeface="Calibri Light"/>
                <a:cs typeface="Calibri Light"/>
              </a:rPr>
              <a:t>Exponential </a:t>
            </a:r>
            <a:r>
              <a:rPr sz="4000" spc="-890" dirty="0">
                <a:latin typeface="Calibri Light"/>
                <a:cs typeface="Calibri Light"/>
              </a:rPr>
              <a:t> </a:t>
            </a:r>
            <a:r>
              <a:rPr sz="4000" spc="-15" dirty="0">
                <a:latin typeface="Calibri Light"/>
                <a:cs typeface="Calibri Light"/>
              </a:rPr>
              <a:t>Increase</a:t>
            </a:r>
            <a:endParaRPr sz="40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46888" y="1824227"/>
            <a:ext cx="5293360" cy="3077210"/>
            <a:chOff x="246888" y="1824227"/>
            <a:chExt cx="5293360" cy="3077210"/>
          </a:xfrm>
        </p:grpSpPr>
        <p:sp>
          <p:nvSpPr>
            <p:cNvPr id="4" name="object 4"/>
            <p:cNvSpPr/>
            <p:nvPr/>
          </p:nvSpPr>
          <p:spPr>
            <a:xfrm>
              <a:off x="246888" y="1824227"/>
              <a:ext cx="5293360" cy="3077210"/>
            </a:xfrm>
            <a:custGeom>
              <a:avLst/>
              <a:gdLst/>
              <a:ahLst/>
              <a:cxnLst/>
              <a:rect l="l" t="t" r="r" b="b"/>
              <a:pathLst>
                <a:path w="5293360" h="3077210">
                  <a:moveTo>
                    <a:pt x="5292852" y="0"/>
                  </a:moveTo>
                  <a:lnTo>
                    <a:pt x="0" y="0"/>
                  </a:lnTo>
                  <a:lnTo>
                    <a:pt x="0" y="3076956"/>
                  </a:lnTo>
                  <a:lnTo>
                    <a:pt x="5292852" y="3076956"/>
                  </a:lnTo>
                  <a:lnTo>
                    <a:pt x="5292852" y="0"/>
                  </a:lnTo>
                  <a:close/>
                </a:path>
              </a:pathLst>
            </a:custGeom>
            <a:solidFill>
              <a:srgbClr val="7E7E7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196" y="2040636"/>
              <a:ext cx="4934712" cy="264414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650991" y="240791"/>
            <a:ext cx="3252470" cy="4662170"/>
          </a:xfrm>
          <a:prstGeom prst="rect">
            <a:avLst/>
          </a:prstGeom>
          <a:solidFill>
            <a:srgbClr val="585858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>
              <a:latin typeface="Times New Roman"/>
              <a:cs typeface="Times New Roman"/>
            </a:endParaRPr>
          </a:p>
          <a:p>
            <a:pPr marL="635635" marR="462280" indent="-172720">
              <a:lnSpc>
                <a:spcPct val="90100"/>
              </a:lnSpc>
              <a:buClr>
                <a:srgbClr val="FFFFFF"/>
              </a:buClr>
              <a:buFont typeface="Arial MT"/>
              <a:buChar char="•"/>
              <a:tabLst>
                <a:tab pos="691515" algn="l"/>
                <a:tab pos="692150" algn="l"/>
              </a:tabLst>
            </a:pPr>
            <a:r>
              <a:rPr dirty="0"/>
              <a:t>	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For simplicity,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we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ignore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delayed-ACK </a:t>
            </a:r>
            <a:r>
              <a:rPr sz="10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policy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assume that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each segment is </a:t>
            </a:r>
            <a:r>
              <a:rPr sz="1050" spc="-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acknowledged</a:t>
            </a:r>
            <a:r>
              <a:rPr sz="10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individually.</a:t>
            </a:r>
            <a:endParaRPr sz="1050">
              <a:latin typeface="Calibri"/>
              <a:cs typeface="Calibri"/>
            </a:endParaRPr>
          </a:p>
          <a:p>
            <a:pPr marL="692150" indent="-228600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691515" algn="l"/>
                <a:tab pos="692150" algn="l"/>
              </a:tabLst>
            </a:pP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sender</a:t>
            </a:r>
            <a:r>
              <a:rPr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starts</a:t>
            </a:r>
            <a:r>
              <a:rPr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0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cwnd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 MSS.</a:t>
            </a:r>
            <a:endParaRPr sz="1050">
              <a:latin typeface="Calibri"/>
              <a:cs typeface="Calibri"/>
            </a:endParaRPr>
          </a:p>
          <a:p>
            <a:pPr marL="978535" marR="573405" lvl="1" indent="-228600">
              <a:lnSpc>
                <a:spcPts val="1140"/>
              </a:lnSpc>
              <a:spcBef>
                <a:spcPts val="405"/>
              </a:spcBef>
              <a:buFont typeface="Arial MT"/>
              <a:buChar char="•"/>
              <a:tabLst>
                <a:tab pos="978535" algn="l"/>
                <a:tab pos="979169" algn="l"/>
              </a:tabLst>
            </a:pP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0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means</a:t>
            </a:r>
            <a:r>
              <a:rPr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0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sender</a:t>
            </a:r>
            <a:r>
              <a:rPr sz="10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can </a:t>
            </a:r>
            <a:r>
              <a:rPr sz="1050" spc="-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send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 only</a:t>
            </a:r>
            <a:r>
              <a:rPr sz="10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one segment.</a:t>
            </a:r>
            <a:endParaRPr sz="1050">
              <a:latin typeface="Calibri"/>
              <a:cs typeface="Calibri"/>
            </a:endParaRPr>
          </a:p>
          <a:p>
            <a:pPr marL="692150" indent="-2286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691515" algn="l"/>
                <a:tab pos="692150" algn="l"/>
              </a:tabLst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After</a:t>
            </a:r>
            <a:r>
              <a:rPr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the first</a:t>
            </a:r>
            <a:r>
              <a:rPr sz="10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ACK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arrives,</a:t>
            </a:r>
            <a:endParaRPr sz="1050">
              <a:latin typeface="Calibri"/>
              <a:cs typeface="Calibri"/>
            </a:endParaRPr>
          </a:p>
          <a:p>
            <a:pPr marL="978535" marR="414020" lvl="1" indent="-228600">
              <a:lnSpc>
                <a:spcPct val="90000"/>
              </a:lnSpc>
              <a:spcBef>
                <a:spcPts val="405"/>
              </a:spcBef>
              <a:buFont typeface="Arial MT"/>
              <a:buChar char="•"/>
              <a:tabLst>
                <a:tab pos="978535" algn="l"/>
                <a:tab pos="979169" algn="l"/>
              </a:tabLst>
            </a:pP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size of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the congestion window </a:t>
            </a:r>
            <a:r>
              <a:rPr sz="1050" spc="-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is increased by 1, which means </a:t>
            </a:r>
            <a:r>
              <a:rPr sz="10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cwnd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now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2.</a:t>
            </a:r>
            <a:endParaRPr sz="1050">
              <a:latin typeface="Calibri"/>
              <a:cs typeface="Calibri"/>
            </a:endParaRPr>
          </a:p>
          <a:p>
            <a:pPr marL="978535" marR="515620" lvl="1" indent="-228600">
              <a:lnSpc>
                <a:spcPts val="1130"/>
              </a:lnSpc>
              <a:spcBef>
                <a:spcPts val="425"/>
              </a:spcBef>
              <a:buFont typeface="Arial MT"/>
              <a:buChar char="•"/>
              <a:tabLst>
                <a:tab pos="978535" algn="l"/>
                <a:tab pos="979169" algn="l"/>
              </a:tabLst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Now</a:t>
            </a:r>
            <a:r>
              <a:rPr sz="10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10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segments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 can</a:t>
            </a:r>
            <a:r>
              <a:rPr sz="10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be </a:t>
            </a:r>
            <a:r>
              <a:rPr sz="1050" spc="-2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sent.</a:t>
            </a:r>
            <a:endParaRPr sz="1050">
              <a:latin typeface="Calibri"/>
              <a:cs typeface="Calibri"/>
            </a:endParaRPr>
          </a:p>
          <a:p>
            <a:pPr marL="692150" indent="-2286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691515" algn="l"/>
                <a:tab pos="692150" algn="l"/>
              </a:tabLst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10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10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ACKs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arrive,</a:t>
            </a:r>
            <a:endParaRPr sz="1050">
              <a:latin typeface="Calibri"/>
              <a:cs typeface="Calibri"/>
            </a:endParaRPr>
          </a:p>
          <a:p>
            <a:pPr marL="978535" marR="458470" lvl="1" indent="-228600">
              <a:lnSpc>
                <a:spcPct val="90000"/>
              </a:lnSpc>
              <a:spcBef>
                <a:spcPts val="405"/>
              </a:spcBef>
              <a:buFont typeface="Arial MT"/>
              <a:buChar char="•"/>
              <a:tabLst>
                <a:tab pos="978535" algn="l"/>
                <a:tab pos="979169" algn="l"/>
              </a:tabLst>
            </a:pP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size of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the window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sz="10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increased</a:t>
            </a:r>
            <a:r>
              <a:rPr sz="10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MSS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ACK, </a:t>
            </a:r>
            <a:r>
              <a:rPr sz="1050" spc="-2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10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means</a:t>
            </a:r>
            <a:r>
              <a:rPr sz="10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cwnd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now</a:t>
            </a:r>
            <a:r>
              <a:rPr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4.</a:t>
            </a:r>
            <a:endParaRPr sz="1050">
              <a:latin typeface="Calibri"/>
              <a:cs typeface="Calibri"/>
            </a:endParaRPr>
          </a:p>
          <a:p>
            <a:pPr marL="978535" marR="497840" lvl="1" indent="-228600">
              <a:lnSpc>
                <a:spcPts val="1140"/>
              </a:lnSpc>
              <a:spcBef>
                <a:spcPts val="415"/>
              </a:spcBef>
              <a:buFont typeface="Arial MT"/>
              <a:buChar char="•"/>
              <a:tabLst>
                <a:tab pos="978535" algn="l"/>
                <a:tab pos="979169" algn="l"/>
              </a:tabLst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Now</a:t>
            </a:r>
            <a:r>
              <a:rPr sz="10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four</a:t>
            </a:r>
            <a:r>
              <a:rPr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10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segments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 can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be </a:t>
            </a:r>
            <a:r>
              <a:rPr sz="1050" spc="-2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sent.</a:t>
            </a:r>
            <a:endParaRPr sz="1050">
              <a:latin typeface="Calibri"/>
              <a:cs typeface="Calibri"/>
            </a:endParaRPr>
          </a:p>
          <a:p>
            <a:pPr marL="635635" marR="465455" indent="-172720">
              <a:lnSpc>
                <a:spcPct val="90100"/>
              </a:lnSpc>
              <a:spcBef>
                <a:spcPts val="780"/>
              </a:spcBef>
              <a:buClr>
                <a:srgbClr val="FFFFFF"/>
              </a:buClr>
              <a:buFont typeface="Arial MT"/>
              <a:buChar char="•"/>
              <a:tabLst>
                <a:tab pos="721995" algn="l"/>
                <a:tab pos="722630" algn="l"/>
              </a:tabLst>
            </a:pPr>
            <a:r>
              <a:rPr dirty="0"/>
              <a:t>	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four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ACKs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arrive,</a:t>
            </a:r>
            <a:r>
              <a:rPr sz="10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size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 the </a:t>
            </a:r>
            <a:r>
              <a:rPr sz="1050" spc="-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window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increases by 4, which means </a:t>
            </a:r>
            <a:r>
              <a:rPr sz="10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cwnd</a:t>
            </a:r>
            <a:r>
              <a:rPr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now</a:t>
            </a:r>
            <a:r>
              <a:rPr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8.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520" y="335279"/>
            <a:ext cx="2560320" cy="2851785"/>
          </a:xfrm>
          <a:prstGeom prst="rect">
            <a:avLst/>
          </a:prstGeom>
          <a:solidFill>
            <a:srgbClr val="585858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650">
              <a:latin typeface="Times New Roman"/>
              <a:cs typeface="Times New Roman"/>
            </a:endParaRPr>
          </a:p>
          <a:p>
            <a:pPr marL="323850" marR="487680">
              <a:lnSpc>
                <a:spcPts val="3130"/>
              </a:lnSpc>
            </a:pPr>
            <a:r>
              <a:rPr sz="2900" spc="-5" dirty="0">
                <a:latin typeface="Calibri Light"/>
                <a:cs typeface="Calibri Light"/>
              </a:rPr>
              <a:t>Slow Start: </a:t>
            </a:r>
            <a:r>
              <a:rPr sz="2900" dirty="0">
                <a:latin typeface="Calibri Light"/>
                <a:cs typeface="Calibri Light"/>
              </a:rPr>
              <a:t> Expone</a:t>
            </a:r>
            <a:r>
              <a:rPr sz="2900" spc="-20" dirty="0">
                <a:latin typeface="Calibri Light"/>
                <a:cs typeface="Calibri Light"/>
              </a:rPr>
              <a:t>n</a:t>
            </a:r>
            <a:r>
              <a:rPr sz="2900" dirty="0">
                <a:latin typeface="Calibri Light"/>
                <a:cs typeface="Calibri Light"/>
              </a:rPr>
              <a:t>tial  </a:t>
            </a:r>
            <a:r>
              <a:rPr sz="2900" spc="-10" dirty="0">
                <a:latin typeface="Calibri Light"/>
                <a:cs typeface="Calibri Light"/>
              </a:rPr>
              <a:t>Increase</a:t>
            </a:r>
            <a:endParaRPr sz="29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8995" y="3314700"/>
            <a:ext cx="2562225" cy="1484630"/>
          </a:xfrm>
          <a:custGeom>
            <a:avLst/>
            <a:gdLst/>
            <a:ahLst/>
            <a:cxnLst/>
            <a:rect l="l" t="t" r="r" b="b"/>
            <a:pathLst>
              <a:path w="2562225" h="1484629">
                <a:moveTo>
                  <a:pt x="2561844" y="0"/>
                </a:moveTo>
                <a:lnTo>
                  <a:pt x="0" y="0"/>
                </a:lnTo>
                <a:lnTo>
                  <a:pt x="0" y="1484376"/>
                </a:lnTo>
                <a:lnTo>
                  <a:pt x="2561844" y="1484376"/>
                </a:lnTo>
                <a:lnTo>
                  <a:pt x="2561844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32760" y="335279"/>
            <a:ext cx="5767070" cy="4465320"/>
          </a:xfrm>
          <a:custGeom>
            <a:avLst/>
            <a:gdLst/>
            <a:ahLst/>
            <a:cxnLst/>
            <a:rect l="l" t="t" r="r" b="b"/>
            <a:pathLst>
              <a:path w="5767070" h="4465320">
                <a:moveTo>
                  <a:pt x="5766816" y="0"/>
                </a:moveTo>
                <a:lnTo>
                  <a:pt x="0" y="0"/>
                </a:lnTo>
                <a:lnTo>
                  <a:pt x="0" y="4465320"/>
                </a:lnTo>
                <a:lnTo>
                  <a:pt x="5766816" y="4465320"/>
                </a:lnTo>
                <a:lnTo>
                  <a:pt x="5766816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38829" y="381762"/>
            <a:ext cx="5144770" cy="3989704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10185" marR="30480" indent="-172720">
              <a:lnSpc>
                <a:spcPts val="1839"/>
              </a:lnSpc>
              <a:spcBef>
                <a:spcPts val="330"/>
              </a:spcBef>
              <a:buFont typeface="Arial MT"/>
              <a:buChar char="•"/>
              <a:tabLst>
                <a:tab pos="210820" algn="l"/>
              </a:tabLst>
            </a:pPr>
            <a:r>
              <a:rPr sz="1700" spc="-114" dirty="0">
                <a:latin typeface="Tahoma"/>
                <a:cs typeface="Tahoma"/>
              </a:rPr>
              <a:t>If</a:t>
            </a:r>
            <a:r>
              <a:rPr sz="1700" spc="-200" dirty="0">
                <a:latin typeface="Tahoma"/>
                <a:cs typeface="Tahoma"/>
              </a:rPr>
              <a:t> </a:t>
            </a:r>
            <a:r>
              <a:rPr sz="1700" spc="-45" dirty="0">
                <a:latin typeface="Tahoma"/>
                <a:cs typeface="Tahoma"/>
              </a:rPr>
              <a:t>we</a:t>
            </a:r>
            <a:r>
              <a:rPr sz="1700" spc="-204" dirty="0">
                <a:latin typeface="Tahoma"/>
                <a:cs typeface="Tahoma"/>
              </a:rPr>
              <a:t> </a:t>
            </a:r>
            <a:r>
              <a:rPr sz="1700" spc="10" dirty="0">
                <a:latin typeface="Tahoma"/>
                <a:cs typeface="Tahoma"/>
              </a:rPr>
              <a:t>look</a:t>
            </a:r>
            <a:r>
              <a:rPr sz="1700" spc="-195" dirty="0">
                <a:latin typeface="Tahoma"/>
                <a:cs typeface="Tahoma"/>
              </a:rPr>
              <a:t> </a:t>
            </a:r>
            <a:r>
              <a:rPr sz="1700" spc="-15" dirty="0">
                <a:latin typeface="Tahoma"/>
                <a:cs typeface="Tahoma"/>
              </a:rPr>
              <a:t>at</a:t>
            </a:r>
            <a:r>
              <a:rPr sz="1700" spc="-195" dirty="0">
                <a:latin typeface="Tahoma"/>
                <a:cs typeface="Tahoma"/>
              </a:rPr>
              <a:t> </a:t>
            </a:r>
            <a:r>
              <a:rPr sz="1700" spc="-25" dirty="0">
                <a:latin typeface="Tahoma"/>
                <a:cs typeface="Tahoma"/>
              </a:rPr>
              <a:t>the</a:t>
            </a:r>
            <a:r>
              <a:rPr sz="1700" spc="-200" dirty="0">
                <a:latin typeface="Tahoma"/>
                <a:cs typeface="Tahoma"/>
              </a:rPr>
              <a:t> </a:t>
            </a:r>
            <a:r>
              <a:rPr sz="1700" spc="-30" dirty="0">
                <a:latin typeface="Tahoma"/>
                <a:cs typeface="Tahoma"/>
              </a:rPr>
              <a:t>size</a:t>
            </a:r>
            <a:r>
              <a:rPr sz="1700" spc="-200" dirty="0">
                <a:latin typeface="Tahoma"/>
                <a:cs typeface="Tahoma"/>
              </a:rPr>
              <a:t> </a:t>
            </a:r>
            <a:r>
              <a:rPr sz="1700" spc="-25" dirty="0">
                <a:latin typeface="Tahoma"/>
                <a:cs typeface="Tahoma"/>
              </a:rPr>
              <a:t>of</a:t>
            </a:r>
            <a:r>
              <a:rPr sz="1700" spc="-200" dirty="0">
                <a:latin typeface="Tahoma"/>
                <a:cs typeface="Tahoma"/>
              </a:rPr>
              <a:t> </a:t>
            </a:r>
            <a:r>
              <a:rPr sz="1700" spc="-25" dirty="0">
                <a:latin typeface="Tahoma"/>
                <a:cs typeface="Tahoma"/>
              </a:rPr>
              <a:t>the</a:t>
            </a:r>
            <a:r>
              <a:rPr sz="1700" spc="-190" dirty="0">
                <a:latin typeface="Tahoma"/>
                <a:cs typeface="Tahoma"/>
              </a:rPr>
              <a:t> </a:t>
            </a:r>
            <a:r>
              <a:rPr sz="1700" spc="-15" dirty="0">
                <a:latin typeface="Tahoma"/>
                <a:cs typeface="Tahoma"/>
              </a:rPr>
              <a:t>cwnd</a:t>
            </a:r>
            <a:r>
              <a:rPr sz="1700" spc="-215" dirty="0">
                <a:latin typeface="Tahoma"/>
                <a:cs typeface="Tahoma"/>
              </a:rPr>
              <a:t> </a:t>
            </a:r>
            <a:r>
              <a:rPr sz="1700" spc="5" dirty="0">
                <a:latin typeface="Tahoma"/>
                <a:cs typeface="Tahoma"/>
              </a:rPr>
              <a:t>in</a:t>
            </a:r>
            <a:r>
              <a:rPr sz="1700" spc="-215" dirty="0">
                <a:latin typeface="Tahoma"/>
                <a:cs typeface="Tahoma"/>
              </a:rPr>
              <a:t> </a:t>
            </a:r>
            <a:r>
              <a:rPr sz="1700" spc="-30" dirty="0">
                <a:latin typeface="Tahoma"/>
                <a:cs typeface="Tahoma"/>
              </a:rPr>
              <a:t>terms</a:t>
            </a:r>
            <a:r>
              <a:rPr sz="1700" spc="-200" dirty="0">
                <a:latin typeface="Tahoma"/>
                <a:cs typeface="Tahoma"/>
              </a:rPr>
              <a:t> </a:t>
            </a:r>
            <a:r>
              <a:rPr sz="1700" spc="-25" dirty="0">
                <a:latin typeface="Tahoma"/>
                <a:cs typeface="Tahoma"/>
              </a:rPr>
              <a:t>of</a:t>
            </a:r>
            <a:r>
              <a:rPr sz="1700" spc="-200" dirty="0">
                <a:latin typeface="Tahoma"/>
                <a:cs typeface="Tahoma"/>
              </a:rPr>
              <a:t> </a:t>
            </a:r>
            <a:r>
              <a:rPr sz="1700" spc="-15" dirty="0">
                <a:latin typeface="Tahoma"/>
                <a:cs typeface="Tahoma"/>
              </a:rPr>
              <a:t>round-trip </a:t>
            </a:r>
            <a:r>
              <a:rPr sz="1700" spc="-515" dirty="0">
                <a:latin typeface="Tahoma"/>
                <a:cs typeface="Tahoma"/>
              </a:rPr>
              <a:t> </a:t>
            </a:r>
            <a:r>
              <a:rPr sz="1700" spc="-15" dirty="0">
                <a:latin typeface="Tahoma"/>
                <a:cs typeface="Tahoma"/>
              </a:rPr>
              <a:t>times</a:t>
            </a:r>
            <a:r>
              <a:rPr sz="1700" spc="-215" dirty="0">
                <a:latin typeface="Tahoma"/>
                <a:cs typeface="Tahoma"/>
              </a:rPr>
              <a:t> </a:t>
            </a:r>
            <a:r>
              <a:rPr sz="1700" spc="-90" dirty="0">
                <a:latin typeface="Tahoma"/>
                <a:cs typeface="Tahoma"/>
              </a:rPr>
              <a:t>(RTT</a:t>
            </a:r>
            <a:r>
              <a:rPr sz="1700" spc="-85" dirty="0">
                <a:latin typeface="Tahoma"/>
                <a:cs typeface="Tahoma"/>
              </a:rPr>
              <a:t>s</a:t>
            </a:r>
            <a:r>
              <a:rPr sz="1700" spc="-114" dirty="0">
                <a:latin typeface="Tahoma"/>
                <a:cs typeface="Tahoma"/>
              </a:rPr>
              <a:t>),</a:t>
            </a:r>
            <a:r>
              <a:rPr sz="1700" spc="-204" dirty="0">
                <a:latin typeface="Tahoma"/>
                <a:cs typeface="Tahoma"/>
              </a:rPr>
              <a:t> </a:t>
            </a:r>
            <a:r>
              <a:rPr sz="1700" spc="-45" dirty="0">
                <a:latin typeface="Tahoma"/>
                <a:cs typeface="Tahoma"/>
              </a:rPr>
              <a:t>we</a:t>
            </a:r>
            <a:r>
              <a:rPr sz="1700" spc="-204" dirty="0">
                <a:latin typeface="Tahoma"/>
                <a:cs typeface="Tahoma"/>
              </a:rPr>
              <a:t> </a:t>
            </a:r>
            <a:r>
              <a:rPr sz="1700" spc="-55" dirty="0">
                <a:latin typeface="Tahoma"/>
                <a:cs typeface="Tahoma"/>
              </a:rPr>
              <a:t>f</a:t>
            </a:r>
            <a:r>
              <a:rPr sz="1700" spc="5" dirty="0">
                <a:latin typeface="Tahoma"/>
                <a:cs typeface="Tahoma"/>
              </a:rPr>
              <a:t>ind</a:t>
            </a:r>
            <a:r>
              <a:rPr sz="1700" spc="-215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that</a:t>
            </a:r>
            <a:r>
              <a:rPr sz="1700" spc="-195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t</a:t>
            </a:r>
            <a:r>
              <a:rPr sz="1700" spc="-20" dirty="0">
                <a:latin typeface="Tahoma"/>
                <a:cs typeface="Tahoma"/>
              </a:rPr>
              <a:t>h</a:t>
            </a:r>
            <a:r>
              <a:rPr sz="1700" spc="-50" dirty="0">
                <a:latin typeface="Tahoma"/>
                <a:cs typeface="Tahoma"/>
              </a:rPr>
              <a:t>e</a:t>
            </a:r>
            <a:r>
              <a:rPr sz="1700" spc="-200" dirty="0">
                <a:latin typeface="Tahoma"/>
                <a:cs typeface="Tahoma"/>
              </a:rPr>
              <a:t> </a:t>
            </a:r>
            <a:r>
              <a:rPr sz="1700" spc="-30" dirty="0">
                <a:latin typeface="Tahoma"/>
                <a:cs typeface="Tahoma"/>
              </a:rPr>
              <a:t>growth</a:t>
            </a:r>
            <a:r>
              <a:rPr sz="1700" spc="-204" dirty="0">
                <a:latin typeface="Tahoma"/>
                <a:cs typeface="Tahoma"/>
              </a:rPr>
              <a:t> </a:t>
            </a:r>
            <a:r>
              <a:rPr sz="1700" spc="-25" dirty="0">
                <a:latin typeface="Tahoma"/>
                <a:cs typeface="Tahoma"/>
              </a:rPr>
              <a:t>rate</a:t>
            </a:r>
            <a:r>
              <a:rPr sz="1700" spc="-200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is  </a:t>
            </a:r>
            <a:r>
              <a:rPr sz="1700" spc="-60" dirty="0">
                <a:latin typeface="Tahoma"/>
                <a:cs typeface="Tahoma"/>
              </a:rPr>
              <a:t>e</a:t>
            </a:r>
            <a:r>
              <a:rPr sz="1700" spc="-20" dirty="0">
                <a:latin typeface="Tahoma"/>
                <a:cs typeface="Tahoma"/>
              </a:rPr>
              <a:t>xponenti</a:t>
            </a:r>
            <a:r>
              <a:rPr sz="1700" spc="-15" dirty="0">
                <a:latin typeface="Tahoma"/>
                <a:cs typeface="Tahoma"/>
              </a:rPr>
              <a:t>a</a:t>
            </a:r>
            <a:r>
              <a:rPr sz="1700" spc="45" dirty="0">
                <a:latin typeface="Tahoma"/>
                <a:cs typeface="Tahoma"/>
              </a:rPr>
              <a:t>l</a:t>
            </a:r>
            <a:r>
              <a:rPr sz="1700" spc="-235" dirty="0">
                <a:latin typeface="Tahoma"/>
                <a:cs typeface="Tahoma"/>
              </a:rPr>
              <a:t> </a:t>
            </a:r>
            <a:r>
              <a:rPr sz="1700" spc="-35" dirty="0">
                <a:latin typeface="Tahoma"/>
                <a:cs typeface="Tahoma"/>
              </a:rPr>
              <a:t>a</a:t>
            </a:r>
            <a:r>
              <a:rPr sz="1700" spc="-45" dirty="0">
                <a:latin typeface="Tahoma"/>
                <a:cs typeface="Tahoma"/>
              </a:rPr>
              <a:t>s</a:t>
            </a:r>
            <a:r>
              <a:rPr sz="1700" spc="-195" dirty="0">
                <a:latin typeface="Tahoma"/>
                <a:cs typeface="Tahoma"/>
              </a:rPr>
              <a:t> </a:t>
            </a:r>
            <a:r>
              <a:rPr sz="1700" spc="-55" dirty="0">
                <a:latin typeface="Tahoma"/>
                <a:cs typeface="Tahoma"/>
              </a:rPr>
              <a:t>s</a:t>
            </a:r>
            <a:r>
              <a:rPr sz="1700" spc="-20" dirty="0">
                <a:latin typeface="Tahoma"/>
                <a:cs typeface="Tahoma"/>
              </a:rPr>
              <a:t>hown</a:t>
            </a:r>
            <a:r>
              <a:rPr sz="1700" spc="-21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b</a:t>
            </a:r>
            <a:r>
              <a:rPr sz="1700" spc="-60" dirty="0">
                <a:latin typeface="Tahoma"/>
                <a:cs typeface="Tahoma"/>
              </a:rPr>
              <a:t>e</a:t>
            </a:r>
            <a:r>
              <a:rPr sz="1700" spc="-45" dirty="0">
                <a:latin typeface="Tahoma"/>
                <a:cs typeface="Tahoma"/>
              </a:rPr>
              <a:t>low:</a:t>
            </a:r>
            <a:endParaRPr sz="1700">
              <a:latin typeface="Tahoma"/>
              <a:cs typeface="Tahoma"/>
            </a:endParaRPr>
          </a:p>
          <a:p>
            <a:pPr marL="210185" indent="-172720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210820" algn="l"/>
              </a:tabLst>
            </a:pPr>
            <a:r>
              <a:rPr sz="1700" b="1" spc="-85" dirty="0">
                <a:latin typeface="Tahoma"/>
                <a:cs typeface="Tahoma"/>
              </a:rPr>
              <a:t>Start</a:t>
            </a:r>
            <a:r>
              <a:rPr sz="1700" b="1" spc="-165" dirty="0">
                <a:latin typeface="Tahoma"/>
                <a:cs typeface="Tahoma"/>
              </a:rPr>
              <a:t> </a:t>
            </a:r>
            <a:r>
              <a:rPr sz="1700" b="1" spc="-650" dirty="0">
                <a:latin typeface="Tahoma"/>
                <a:cs typeface="Tahoma"/>
              </a:rPr>
              <a:t>→</a:t>
            </a:r>
            <a:r>
              <a:rPr sz="1700" b="1" spc="-170" dirty="0">
                <a:latin typeface="Tahoma"/>
                <a:cs typeface="Tahoma"/>
              </a:rPr>
              <a:t> </a:t>
            </a:r>
            <a:r>
              <a:rPr sz="1700" b="1" spc="-125" dirty="0">
                <a:latin typeface="Tahoma"/>
                <a:cs typeface="Tahoma"/>
              </a:rPr>
              <a:t>cwnd</a:t>
            </a:r>
            <a:r>
              <a:rPr sz="1700" b="1" spc="-150" dirty="0">
                <a:latin typeface="Tahoma"/>
                <a:cs typeface="Tahoma"/>
              </a:rPr>
              <a:t> </a:t>
            </a:r>
            <a:r>
              <a:rPr sz="1700" b="1" spc="-495" dirty="0">
                <a:latin typeface="Tahoma"/>
                <a:cs typeface="Tahoma"/>
              </a:rPr>
              <a:t>=</a:t>
            </a:r>
            <a:r>
              <a:rPr sz="1700" b="1" spc="-160" dirty="0">
                <a:latin typeface="Tahoma"/>
                <a:cs typeface="Tahoma"/>
              </a:rPr>
              <a:t> </a:t>
            </a:r>
            <a:r>
              <a:rPr sz="1700" b="1" spc="-185" dirty="0"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 marL="210185" indent="-17272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10820" algn="l"/>
              </a:tabLst>
            </a:pPr>
            <a:r>
              <a:rPr sz="1700" b="1" spc="-165" dirty="0">
                <a:latin typeface="Tahoma"/>
                <a:cs typeface="Tahoma"/>
              </a:rPr>
              <a:t>A</a:t>
            </a:r>
            <a:r>
              <a:rPr sz="1700" b="1" spc="-110" dirty="0">
                <a:latin typeface="Tahoma"/>
                <a:cs typeface="Tahoma"/>
              </a:rPr>
              <a:t>f</a:t>
            </a:r>
            <a:r>
              <a:rPr sz="1700" b="1" spc="-80" dirty="0">
                <a:latin typeface="Tahoma"/>
                <a:cs typeface="Tahoma"/>
              </a:rPr>
              <a:t>ter</a:t>
            </a:r>
            <a:r>
              <a:rPr sz="1700" b="1" spc="-170" dirty="0">
                <a:latin typeface="Tahoma"/>
                <a:cs typeface="Tahoma"/>
              </a:rPr>
              <a:t> </a:t>
            </a:r>
            <a:r>
              <a:rPr sz="1700" b="1" spc="-185" dirty="0">
                <a:latin typeface="Tahoma"/>
                <a:cs typeface="Tahoma"/>
              </a:rPr>
              <a:t>1</a:t>
            </a:r>
            <a:r>
              <a:rPr sz="1700" b="1" spc="-160" dirty="0">
                <a:latin typeface="Tahoma"/>
                <a:cs typeface="Tahoma"/>
              </a:rPr>
              <a:t> </a:t>
            </a:r>
            <a:r>
              <a:rPr sz="1700" b="1" spc="-130" dirty="0">
                <a:latin typeface="Tahoma"/>
                <a:cs typeface="Tahoma"/>
              </a:rPr>
              <a:t>RTT</a:t>
            </a:r>
            <a:r>
              <a:rPr sz="1700" b="1" spc="-170" dirty="0">
                <a:latin typeface="Tahoma"/>
                <a:cs typeface="Tahoma"/>
              </a:rPr>
              <a:t> </a:t>
            </a:r>
            <a:r>
              <a:rPr sz="1700" b="1" spc="-650" dirty="0">
                <a:latin typeface="Tahoma"/>
                <a:cs typeface="Tahoma"/>
              </a:rPr>
              <a:t>→</a:t>
            </a:r>
            <a:r>
              <a:rPr sz="1700" b="1" spc="-170" dirty="0">
                <a:latin typeface="Tahoma"/>
                <a:cs typeface="Tahoma"/>
              </a:rPr>
              <a:t> </a:t>
            </a:r>
            <a:r>
              <a:rPr sz="1700" b="1" spc="-110" dirty="0">
                <a:latin typeface="Tahoma"/>
                <a:cs typeface="Tahoma"/>
              </a:rPr>
              <a:t>c</a:t>
            </a:r>
            <a:r>
              <a:rPr sz="1700" b="1" spc="-195" dirty="0">
                <a:latin typeface="Tahoma"/>
                <a:cs typeface="Tahoma"/>
              </a:rPr>
              <a:t>w</a:t>
            </a:r>
            <a:r>
              <a:rPr sz="1700" b="1" spc="-105" dirty="0">
                <a:latin typeface="Tahoma"/>
                <a:cs typeface="Tahoma"/>
              </a:rPr>
              <a:t>nd</a:t>
            </a:r>
            <a:r>
              <a:rPr sz="1700" b="1" spc="-145" dirty="0">
                <a:latin typeface="Tahoma"/>
                <a:cs typeface="Tahoma"/>
              </a:rPr>
              <a:t> </a:t>
            </a:r>
            <a:r>
              <a:rPr sz="1700" b="1" spc="-495" dirty="0">
                <a:latin typeface="Tahoma"/>
                <a:cs typeface="Tahoma"/>
              </a:rPr>
              <a:t>=</a:t>
            </a:r>
            <a:r>
              <a:rPr sz="1700" b="1" spc="-160" dirty="0">
                <a:latin typeface="Tahoma"/>
                <a:cs typeface="Tahoma"/>
              </a:rPr>
              <a:t> </a:t>
            </a:r>
            <a:r>
              <a:rPr sz="1700" b="1" spc="-185" dirty="0">
                <a:latin typeface="Tahoma"/>
                <a:cs typeface="Tahoma"/>
              </a:rPr>
              <a:t>1</a:t>
            </a:r>
            <a:r>
              <a:rPr sz="1700" b="1" spc="-170" dirty="0">
                <a:latin typeface="Tahoma"/>
                <a:cs typeface="Tahoma"/>
              </a:rPr>
              <a:t> </a:t>
            </a:r>
            <a:r>
              <a:rPr sz="1700" b="1" spc="-495" dirty="0">
                <a:latin typeface="Tahoma"/>
                <a:cs typeface="Tahoma"/>
              </a:rPr>
              <a:t>×</a:t>
            </a:r>
            <a:r>
              <a:rPr sz="1700" b="1" spc="-165" dirty="0">
                <a:latin typeface="Tahoma"/>
                <a:cs typeface="Tahoma"/>
              </a:rPr>
              <a:t> </a:t>
            </a:r>
            <a:r>
              <a:rPr sz="1700" b="1" spc="-185" dirty="0">
                <a:latin typeface="Tahoma"/>
                <a:cs typeface="Tahoma"/>
              </a:rPr>
              <a:t>2</a:t>
            </a:r>
            <a:r>
              <a:rPr sz="1700" b="1" spc="-150" dirty="0">
                <a:latin typeface="Tahoma"/>
                <a:cs typeface="Tahoma"/>
              </a:rPr>
              <a:t> </a:t>
            </a:r>
            <a:r>
              <a:rPr sz="1700" b="1" spc="-495" dirty="0">
                <a:latin typeface="Tahoma"/>
                <a:cs typeface="Tahoma"/>
              </a:rPr>
              <a:t>=</a:t>
            </a:r>
            <a:r>
              <a:rPr sz="1700" b="1" spc="-160" dirty="0">
                <a:latin typeface="Tahoma"/>
                <a:cs typeface="Tahoma"/>
              </a:rPr>
              <a:t> </a:t>
            </a:r>
            <a:r>
              <a:rPr sz="1700" b="1" spc="-185" dirty="0">
                <a:latin typeface="Tahoma"/>
                <a:cs typeface="Tahoma"/>
              </a:rPr>
              <a:t>2</a:t>
            </a:r>
            <a:r>
              <a:rPr sz="1700" b="1" spc="-160" dirty="0">
                <a:latin typeface="Tahoma"/>
                <a:cs typeface="Tahoma"/>
              </a:rPr>
              <a:t> </a:t>
            </a:r>
            <a:r>
              <a:rPr sz="1700" b="1" spc="-650" dirty="0">
                <a:latin typeface="Tahoma"/>
                <a:cs typeface="Tahoma"/>
              </a:rPr>
              <a:t>→</a:t>
            </a:r>
            <a:r>
              <a:rPr sz="1700" b="1" spc="-175" dirty="0">
                <a:latin typeface="Tahoma"/>
                <a:cs typeface="Tahoma"/>
              </a:rPr>
              <a:t> </a:t>
            </a:r>
            <a:r>
              <a:rPr sz="1700" b="1" spc="-195" dirty="0">
                <a:latin typeface="Tahoma"/>
                <a:cs typeface="Tahoma"/>
              </a:rPr>
              <a:t>2</a:t>
            </a:r>
            <a:r>
              <a:rPr sz="1650" b="1" spc="-157" baseline="25252" dirty="0">
                <a:latin typeface="Tahoma"/>
                <a:cs typeface="Tahoma"/>
              </a:rPr>
              <a:t>1</a:t>
            </a:r>
            <a:endParaRPr sz="1650" baseline="25252">
              <a:latin typeface="Tahoma"/>
              <a:cs typeface="Tahoma"/>
            </a:endParaRPr>
          </a:p>
          <a:p>
            <a:pPr marL="210185" indent="-17272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10820" algn="l"/>
              </a:tabLst>
            </a:pPr>
            <a:r>
              <a:rPr sz="1700" b="1" spc="-165" dirty="0">
                <a:latin typeface="Tahoma"/>
                <a:cs typeface="Tahoma"/>
              </a:rPr>
              <a:t>A</a:t>
            </a:r>
            <a:r>
              <a:rPr sz="1700" b="1" spc="-110" dirty="0">
                <a:latin typeface="Tahoma"/>
                <a:cs typeface="Tahoma"/>
              </a:rPr>
              <a:t>f</a:t>
            </a:r>
            <a:r>
              <a:rPr sz="1700" b="1" spc="-80" dirty="0">
                <a:latin typeface="Tahoma"/>
                <a:cs typeface="Tahoma"/>
              </a:rPr>
              <a:t>ter</a:t>
            </a:r>
            <a:r>
              <a:rPr sz="1700" b="1" spc="-170" dirty="0">
                <a:latin typeface="Tahoma"/>
                <a:cs typeface="Tahoma"/>
              </a:rPr>
              <a:t> </a:t>
            </a:r>
            <a:r>
              <a:rPr sz="1700" b="1" spc="-185" dirty="0">
                <a:latin typeface="Tahoma"/>
                <a:cs typeface="Tahoma"/>
              </a:rPr>
              <a:t>2</a:t>
            </a:r>
            <a:r>
              <a:rPr sz="1700" b="1" spc="-160" dirty="0">
                <a:latin typeface="Tahoma"/>
                <a:cs typeface="Tahoma"/>
              </a:rPr>
              <a:t> </a:t>
            </a:r>
            <a:r>
              <a:rPr sz="1700" b="1" spc="-130" dirty="0">
                <a:latin typeface="Tahoma"/>
                <a:cs typeface="Tahoma"/>
              </a:rPr>
              <a:t>RTT</a:t>
            </a:r>
            <a:r>
              <a:rPr sz="1700" b="1" spc="-170" dirty="0">
                <a:latin typeface="Tahoma"/>
                <a:cs typeface="Tahoma"/>
              </a:rPr>
              <a:t> </a:t>
            </a:r>
            <a:r>
              <a:rPr sz="1700" b="1" spc="-650" dirty="0">
                <a:latin typeface="Tahoma"/>
                <a:cs typeface="Tahoma"/>
              </a:rPr>
              <a:t>→</a:t>
            </a:r>
            <a:r>
              <a:rPr sz="1700" b="1" spc="-170" dirty="0">
                <a:latin typeface="Tahoma"/>
                <a:cs typeface="Tahoma"/>
              </a:rPr>
              <a:t> </a:t>
            </a:r>
            <a:r>
              <a:rPr sz="1700" b="1" spc="-110" dirty="0">
                <a:latin typeface="Tahoma"/>
                <a:cs typeface="Tahoma"/>
              </a:rPr>
              <a:t>c</a:t>
            </a:r>
            <a:r>
              <a:rPr sz="1700" b="1" spc="-195" dirty="0">
                <a:latin typeface="Tahoma"/>
                <a:cs typeface="Tahoma"/>
              </a:rPr>
              <a:t>w</a:t>
            </a:r>
            <a:r>
              <a:rPr sz="1700" b="1" spc="-105" dirty="0">
                <a:latin typeface="Tahoma"/>
                <a:cs typeface="Tahoma"/>
              </a:rPr>
              <a:t>nd</a:t>
            </a:r>
            <a:r>
              <a:rPr sz="1700" b="1" spc="-145" dirty="0">
                <a:latin typeface="Tahoma"/>
                <a:cs typeface="Tahoma"/>
              </a:rPr>
              <a:t> </a:t>
            </a:r>
            <a:r>
              <a:rPr sz="1700" b="1" spc="-495" dirty="0">
                <a:latin typeface="Tahoma"/>
                <a:cs typeface="Tahoma"/>
              </a:rPr>
              <a:t>=</a:t>
            </a:r>
            <a:r>
              <a:rPr sz="1700" b="1" spc="-160" dirty="0">
                <a:latin typeface="Tahoma"/>
                <a:cs typeface="Tahoma"/>
              </a:rPr>
              <a:t> </a:t>
            </a:r>
            <a:r>
              <a:rPr sz="1700" b="1" spc="-185" dirty="0">
                <a:latin typeface="Tahoma"/>
                <a:cs typeface="Tahoma"/>
              </a:rPr>
              <a:t>2</a:t>
            </a:r>
            <a:r>
              <a:rPr sz="1700" b="1" spc="-170" dirty="0">
                <a:latin typeface="Tahoma"/>
                <a:cs typeface="Tahoma"/>
              </a:rPr>
              <a:t> </a:t>
            </a:r>
            <a:r>
              <a:rPr sz="1700" b="1" spc="-495" dirty="0">
                <a:latin typeface="Tahoma"/>
                <a:cs typeface="Tahoma"/>
              </a:rPr>
              <a:t>×</a:t>
            </a:r>
            <a:r>
              <a:rPr sz="1700" b="1" spc="-165" dirty="0">
                <a:latin typeface="Tahoma"/>
                <a:cs typeface="Tahoma"/>
              </a:rPr>
              <a:t> </a:t>
            </a:r>
            <a:r>
              <a:rPr sz="1700" b="1" spc="-185" dirty="0">
                <a:latin typeface="Tahoma"/>
                <a:cs typeface="Tahoma"/>
              </a:rPr>
              <a:t>2</a:t>
            </a:r>
            <a:r>
              <a:rPr sz="1700" b="1" spc="-150" dirty="0">
                <a:latin typeface="Tahoma"/>
                <a:cs typeface="Tahoma"/>
              </a:rPr>
              <a:t> </a:t>
            </a:r>
            <a:r>
              <a:rPr sz="1700" b="1" spc="-495" dirty="0">
                <a:latin typeface="Tahoma"/>
                <a:cs typeface="Tahoma"/>
              </a:rPr>
              <a:t>=</a:t>
            </a:r>
            <a:r>
              <a:rPr sz="1700" b="1" spc="-160" dirty="0">
                <a:latin typeface="Tahoma"/>
                <a:cs typeface="Tahoma"/>
              </a:rPr>
              <a:t> </a:t>
            </a:r>
            <a:r>
              <a:rPr sz="1700" b="1" spc="-185" dirty="0">
                <a:latin typeface="Tahoma"/>
                <a:cs typeface="Tahoma"/>
              </a:rPr>
              <a:t>4</a:t>
            </a:r>
            <a:r>
              <a:rPr sz="1700" b="1" spc="-160" dirty="0">
                <a:latin typeface="Tahoma"/>
                <a:cs typeface="Tahoma"/>
              </a:rPr>
              <a:t> </a:t>
            </a:r>
            <a:r>
              <a:rPr sz="1700" b="1" spc="-650" dirty="0">
                <a:latin typeface="Tahoma"/>
                <a:cs typeface="Tahoma"/>
              </a:rPr>
              <a:t>→</a:t>
            </a:r>
            <a:r>
              <a:rPr sz="1700" b="1" spc="-175" dirty="0">
                <a:latin typeface="Tahoma"/>
                <a:cs typeface="Tahoma"/>
              </a:rPr>
              <a:t> </a:t>
            </a:r>
            <a:r>
              <a:rPr sz="1700" b="1" spc="-195" dirty="0">
                <a:latin typeface="Tahoma"/>
                <a:cs typeface="Tahoma"/>
              </a:rPr>
              <a:t>2</a:t>
            </a:r>
            <a:r>
              <a:rPr sz="1650" b="1" spc="-157" baseline="25252" dirty="0">
                <a:latin typeface="Tahoma"/>
                <a:cs typeface="Tahoma"/>
              </a:rPr>
              <a:t>2</a:t>
            </a:r>
            <a:endParaRPr sz="1650" baseline="25252">
              <a:latin typeface="Tahoma"/>
              <a:cs typeface="Tahoma"/>
            </a:endParaRPr>
          </a:p>
          <a:p>
            <a:pPr marL="210185" indent="-17272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10820" algn="l"/>
              </a:tabLst>
            </a:pPr>
            <a:r>
              <a:rPr sz="1700" b="1" spc="-165" dirty="0">
                <a:latin typeface="Tahoma"/>
                <a:cs typeface="Tahoma"/>
              </a:rPr>
              <a:t>A</a:t>
            </a:r>
            <a:r>
              <a:rPr sz="1700" b="1" spc="-110" dirty="0">
                <a:latin typeface="Tahoma"/>
                <a:cs typeface="Tahoma"/>
              </a:rPr>
              <a:t>f</a:t>
            </a:r>
            <a:r>
              <a:rPr sz="1700" b="1" spc="-80" dirty="0">
                <a:latin typeface="Tahoma"/>
                <a:cs typeface="Tahoma"/>
              </a:rPr>
              <a:t>ter</a:t>
            </a:r>
            <a:r>
              <a:rPr sz="1700" b="1" spc="-170" dirty="0">
                <a:latin typeface="Tahoma"/>
                <a:cs typeface="Tahoma"/>
              </a:rPr>
              <a:t> </a:t>
            </a:r>
            <a:r>
              <a:rPr sz="1700" b="1" spc="-185" dirty="0">
                <a:latin typeface="Tahoma"/>
                <a:cs typeface="Tahoma"/>
              </a:rPr>
              <a:t>3</a:t>
            </a:r>
            <a:r>
              <a:rPr sz="1700" b="1" spc="-160" dirty="0">
                <a:latin typeface="Tahoma"/>
                <a:cs typeface="Tahoma"/>
              </a:rPr>
              <a:t> </a:t>
            </a:r>
            <a:r>
              <a:rPr sz="1700" b="1" spc="-130" dirty="0">
                <a:latin typeface="Tahoma"/>
                <a:cs typeface="Tahoma"/>
              </a:rPr>
              <a:t>RTT</a:t>
            </a:r>
            <a:r>
              <a:rPr sz="1700" b="1" spc="-170" dirty="0">
                <a:latin typeface="Tahoma"/>
                <a:cs typeface="Tahoma"/>
              </a:rPr>
              <a:t> </a:t>
            </a:r>
            <a:r>
              <a:rPr sz="1700" b="1" spc="-650" dirty="0">
                <a:latin typeface="Tahoma"/>
                <a:cs typeface="Tahoma"/>
              </a:rPr>
              <a:t>→</a:t>
            </a:r>
            <a:r>
              <a:rPr sz="1700" b="1" spc="-170" dirty="0">
                <a:latin typeface="Tahoma"/>
                <a:cs typeface="Tahoma"/>
              </a:rPr>
              <a:t> </a:t>
            </a:r>
            <a:r>
              <a:rPr sz="1700" b="1" spc="-110" dirty="0">
                <a:latin typeface="Tahoma"/>
                <a:cs typeface="Tahoma"/>
              </a:rPr>
              <a:t>c</a:t>
            </a:r>
            <a:r>
              <a:rPr sz="1700" b="1" spc="-195" dirty="0">
                <a:latin typeface="Tahoma"/>
                <a:cs typeface="Tahoma"/>
              </a:rPr>
              <a:t>w</a:t>
            </a:r>
            <a:r>
              <a:rPr sz="1700" b="1" spc="-105" dirty="0">
                <a:latin typeface="Tahoma"/>
                <a:cs typeface="Tahoma"/>
              </a:rPr>
              <a:t>nd</a:t>
            </a:r>
            <a:r>
              <a:rPr sz="1700" b="1" spc="-145" dirty="0">
                <a:latin typeface="Tahoma"/>
                <a:cs typeface="Tahoma"/>
              </a:rPr>
              <a:t> </a:t>
            </a:r>
            <a:r>
              <a:rPr sz="1700" b="1" spc="-495" dirty="0">
                <a:latin typeface="Tahoma"/>
                <a:cs typeface="Tahoma"/>
              </a:rPr>
              <a:t>=</a:t>
            </a:r>
            <a:r>
              <a:rPr sz="1700" b="1" spc="-160" dirty="0">
                <a:latin typeface="Tahoma"/>
                <a:cs typeface="Tahoma"/>
              </a:rPr>
              <a:t> </a:t>
            </a:r>
            <a:r>
              <a:rPr sz="1700" b="1" spc="-185" dirty="0">
                <a:latin typeface="Tahoma"/>
                <a:cs typeface="Tahoma"/>
              </a:rPr>
              <a:t>4</a:t>
            </a:r>
            <a:r>
              <a:rPr sz="1700" b="1" spc="-170" dirty="0">
                <a:latin typeface="Tahoma"/>
                <a:cs typeface="Tahoma"/>
              </a:rPr>
              <a:t> </a:t>
            </a:r>
            <a:r>
              <a:rPr sz="1700" b="1" spc="-495" dirty="0">
                <a:latin typeface="Tahoma"/>
                <a:cs typeface="Tahoma"/>
              </a:rPr>
              <a:t>×</a:t>
            </a:r>
            <a:r>
              <a:rPr sz="1700" b="1" spc="-165" dirty="0">
                <a:latin typeface="Tahoma"/>
                <a:cs typeface="Tahoma"/>
              </a:rPr>
              <a:t> </a:t>
            </a:r>
            <a:r>
              <a:rPr sz="1700" b="1" spc="-185" dirty="0">
                <a:latin typeface="Tahoma"/>
                <a:cs typeface="Tahoma"/>
              </a:rPr>
              <a:t>2</a:t>
            </a:r>
            <a:r>
              <a:rPr sz="1700" b="1" spc="-150" dirty="0">
                <a:latin typeface="Tahoma"/>
                <a:cs typeface="Tahoma"/>
              </a:rPr>
              <a:t> </a:t>
            </a:r>
            <a:r>
              <a:rPr sz="1700" b="1" spc="-495" dirty="0">
                <a:latin typeface="Tahoma"/>
                <a:cs typeface="Tahoma"/>
              </a:rPr>
              <a:t>=</a:t>
            </a:r>
            <a:r>
              <a:rPr sz="1700" b="1" spc="-160" dirty="0">
                <a:latin typeface="Tahoma"/>
                <a:cs typeface="Tahoma"/>
              </a:rPr>
              <a:t> </a:t>
            </a:r>
            <a:r>
              <a:rPr sz="1700" b="1" spc="-185" dirty="0">
                <a:latin typeface="Tahoma"/>
                <a:cs typeface="Tahoma"/>
              </a:rPr>
              <a:t>8</a:t>
            </a:r>
            <a:r>
              <a:rPr sz="1700" b="1" spc="-160" dirty="0">
                <a:latin typeface="Tahoma"/>
                <a:cs typeface="Tahoma"/>
              </a:rPr>
              <a:t> </a:t>
            </a:r>
            <a:r>
              <a:rPr sz="1700" b="1" spc="-650" dirty="0">
                <a:latin typeface="Tahoma"/>
                <a:cs typeface="Tahoma"/>
              </a:rPr>
              <a:t>→</a:t>
            </a:r>
            <a:r>
              <a:rPr sz="1700" b="1" spc="-175" dirty="0">
                <a:latin typeface="Tahoma"/>
                <a:cs typeface="Tahoma"/>
              </a:rPr>
              <a:t> </a:t>
            </a:r>
            <a:r>
              <a:rPr sz="1700" b="1" spc="-195" dirty="0">
                <a:latin typeface="Tahoma"/>
                <a:cs typeface="Tahoma"/>
              </a:rPr>
              <a:t>2</a:t>
            </a:r>
            <a:r>
              <a:rPr sz="1650" b="1" spc="-157" baseline="25252" dirty="0">
                <a:latin typeface="Tahoma"/>
                <a:cs typeface="Tahoma"/>
              </a:rPr>
              <a:t>3</a:t>
            </a:r>
            <a:endParaRPr sz="1650" baseline="25252">
              <a:latin typeface="Tahoma"/>
              <a:cs typeface="Tahoma"/>
            </a:endParaRPr>
          </a:p>
          <a:p>
            <a:pPr marL="210185" indent="-17272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10820" algn="l"/>
              </a:tabLst>
            </a:pPr>
            <a:r>
              <a:rPr sz="1700" spc="-10" dirty="0">
                <a:latin typeface="Tahoma"/>
                <a:cs typeface="Tahoma"/>
              </a:rPr>
              <a:t>Slow</a:t>
            </a:r>
            <a:r>
              <a:rPr sz="1700" spc="-185" dirty="0">
                <a:latin typeface="Tahoma"/>
                <a:cs typeface="Tahoma"/>
              </a:rPr>
              <a:t> </a:t>
            </a:r>
            <a:r>
              <a:rPr sz="1700" spc="-55" dirty="0">
                <a:latin typeface="Tahoma"/>
                <a:cs typeface="Tahoma"/>
              </a:rPr>
              <a:t>s</a:t>
            </a:r>
            <a:r>
              <a:rPr sz="1700" spc="-15" dirty="0">
                <a:latin typeface="Tahoma"/>
                <a:cs typeface="Tahoma"/>
              </a:rPr>
              <a:t>ta</a:t>
            </a:r>
            <a:r>
              <a:rPr sz="1700" spc="-10" dirty="0">
                <a:latin typeface="Tahoma"/>
                <a:cs typeface="Tahoma"/>
              </a:rPr>
              <a:t>rt</a:t>
            </a:r>
            <a:r>
              <a:rPr sz="1700" spc="-200" dirty="0">
                <a:latin typeface="Tahoma"/>
                <a:cs typeface="Tahoma"/>
              </a:rPr>
              <a:t> </a:t>
            </a:r>
            <a:r>
              <a:rPr sz="1700" spc="-20" dirty="0">
                <a:latin typeface="Tahoma"/>
                <a:cs typeface="Tahoma"/>
              </a:rPr>
              <a:t>can</a:t>
            </a:r>
            <a:r>
              <a:rPr sz="1700" spc="-15" dirty="0">
                <a:latin typeface="Tahoma"/>
                <a:cs typeface="Tahoma"/>
              </a:rPr>
              <a:t>n</a:t>
            </a:r>
            <a:r>
              <a:rPr sz="1700" dirty="0">
                <a:latin typeface="Tahoma"/>
                <a:cs typeface="Tahoma"/>
              </a:rPr>
              <a:t>ot</a:t>
            </a:r>
            <a:r>
              <a:rPr sz="1700" spc="-220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co</a:t>
            </a:r>
            <a:r>
              <a:rPr sz="1700" spc="-5" dirty="0">
                <a:latin typeface="Tahoma"/>
                <a:cs typeface="Tahoma"/>
              </a:rPr>
              <a:t>n</a:t>
            </a:r>
            <a:r>
              <a:rPr sz="1700" spc="-10" dirty="0">
                <a:latin typeface="Tahoma"/>
                <a:cs typeface="Tahoma"/>
              </a:rPr>
              <a:t>tinue</a:t>
            </a:r>
            <a:r>
              <a:rPr sz="1700" spc="-235" dirty="0">
                <a:latin typeface="Tahoma"/>
                <a:cs typeface="Tahoma"/>
              </a:rPr>
              <a:t> </a:t>
            </a:r>
            <a:r>
              <a:rPr sz="1700" spc="5" dirty="0">
                <a:latin typeface="Tahoma"/>
                <a:cs typeface="Tahoma"/>
              </a:rPr>
              <a:t>in</a:t>
            </a:r>
            <a:r>
              <a:rPr sz="1700" spc="10" dirty="0">
                <a:latin typeface="Tahoma"/>
                <a:cs typeface="Tahoma"/>
              </a:rPr>
              <a:t>d</a:t>
            </a:r>
            <a:r>
              <a:rPr sz="1700" spc="-60" dirty="0">
                <a:latin typeface="Tahoma"/>
                <a:cs typeface="Tahoma"/>
              </a:rPr>
              <a:t>e</a:t>
            </a:r>
            <a:r>
              <a:rPr sz="1700" spc="-55" dirty="0">
                <a:latin typeface="Tahoma"/>
                <a:cs typeface="Tahoma"/>
              </a:rPr>
              <a:t>f</a:t>
            </a:r>
            <a:r>
              <a:rPr sz="1700" dirty="0">
                <a:latin typeface="Tahoma"/>
                <a:cs typeface="Tahoma"/>
              </a:rPr>
              <a:t>in</a:t>
            </a:r>
            <a:r>
              <a:rPr sz="1700" spc="-5" dirty="0">
                <a:latin typeface="Tahoma"/>
                <a:cs typeface="Tahoma"/>
              </a:rPr>
              <a:t>it</a:t>
            </a:r>
            <a:r>
              <a:rPr sz="1700" spc="-30" dirty="0">
                <a:latin typeface="Tahoma"/>
                <a:cs typeface="Tahoma"/>
              </a:rPr>
              <a:t>e</a:t>
            </a:r>
            <a:r>
              <a:rPr sz="1700" spc="-5" dirty="0">
                <a:latin typeface="Tahoma"/>
                <a:cs typeface="Tahoma"/>
              </a:rPr>
              <a:t>l</a:t>
            </a:r>
            <a:r>
              <a:rPr sz="1700" spc="-15" dirty="0">
                <a:latin typeface="Tahoma"/>
                <a:cs typeface="Tahoma"/>
              </a:rPr>
              <a:t>y</a:t>
            </a:r>
            <a:r>
              <a:rPr sz="1700" spc="-95" dirty="0">
                <a:latin typeface="Tahoma"/>
                <a:cs typeface="Tahoma"/>
              </a:rPr>
              <a:t>.</a:t>
            </a:r>
            <a:endParaRPr sz="1700">
              <a:latin typeface="Tahoma"/>
              <a:cs typeface="Tahoma"/>
            </a:endParaRPr>
          </a:p>
          <a:p>
            <a:pPr marL="553085" lvl="1" indent="-172720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553720" algn="l"/>
              </a:tabLst>
            </a:pPr>
            <a:r>
              <a:rPr sz="1700" spc="-55" dirty="0">
                <a:latin typeface="Tahoma"/>
                <a:cs typeface="Tahoma"/>
              </a:rPr>
              <a:t>Th</a:t>
            </a:r>
            <a:r>
              <a:rPr sz="1700" spc="-65" dirty="0">
                <a:latin typeface="Tahoma"/>
                <a:cs typeface="Tahoma"/>
              </a:rPr>
              <a:t>e</a:t>
            </a:r>
            <a:r>
              <a:rPr sz="1700" spc="-40" dirty="0">
                <a:latin typeface="Tahoma"/>
                <a:cs typeface="Tahoma"/>
              </a:rPr>
              <a:t>re</a:t>
            </a:r>
            <a:r>
              <a:rPr sz="1700" spc="-200" dirty="0">
                <a:latin typeface="Tahoma"/>
                <a:cs typeface="Tahoma"/>
              </a:rPr>
              <a:t> </a:t>
            </a:r>
            <a:r>
              <a:rPr sz="1700" spc="-35" dirty="0">
                <a:latin typeface="Tahoma"/>
                <a:cs typeface="Tahoma"/>
              </a:rPr>
              <a:t>mus</a:t>
            </a:r>
            <a:r>
              <a:rPr sz="1700" spc="5" dirty="0">
                <a:latin typeface="Tahoma"/>
                <a:cs typeface="Tahoma"/>
              </a:rPr>
              <a:t>t</a:t>
            </a:r>
            <a:r>
              <a:rPr sz="1700" spc="-195" dirty="0">
                <a:latin typeface="Tahoma"/>
                <a:cs typeface="Tahoma"/>
              </a:rPr>
              <a:t> </a:t>
            </a:r>
            <a:r>
              <a:rPr sz="1700" spc="-25" dirty="0">
                <a:latin typeface="Tahoma"/>
                <a:cs typeface="Tahoma"/>
              </a:rPr>
              <a:t>be</a:t>
            </a:r>
            <a:r>
              <a:rPr sz="1700" spc="-215" dirty="0">
                <a:latin typeface="Tahoma"/>
                <a:cs typeface="Tahoma"/>
              </a:rPr>
              <a:t> </a:t>
            </a:r>
            <a:r>
              <a:rPr sz="1700" spc="-35" dirty="0">
                <a:latin typeface="Tahoma"/>
                <a:cs typeface="Tahoma"/>
              </a:rPr>
              <a:t>a</a:t>
            </a:r>
            <a:r>
              <a:rPr sz="1700" spc="-190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t</a:t>
            </a:r>
            <a:r>
              <a:rPr sz="1700" spc="-20" dirty="0">
                <a:latin typeface="Tahoma"/>
                <a:cs typeface="Tahoma"/>
              </a:rPr>
              <a:t>h</a:t>
            </a:r>
            <a:r>
              <a:rPr sz="1700" spc="-30" dirty="0">
                <a:latin typeface="Tahoma"/>
                <a:cs typeface="Tahoma"/>
              </a:rPr>
              <a:t>r</a:t>
            </a:r>
            <a:r>
              <a:rPr sz="1700" spc="-55" dirty="0">
                <a:latin typeface="Tahoma"/>
                <a:cs typeface="Tahoma"/>
              </a:rPr>
              <a:t>es</a:t>
            </a:r>
            <a:r>
              <a:rPr sz="1700" spc="5" dirty="0">
                <a:latin typeface="Tahoma"/>
                <a:cs typeface="Tahoma"/>
              </a:rPr>
              <a:t>hold</a:t>
            </a:r>
            <a:r>
              <a:rPr sz="1700" spc="-20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to</a:t>
            </a:r>
            <a:r>
              <a:rPr sz="1700" spc="-195" dirty="0">
                <a:latin typeface="Tahoma"/>
                <a:cs typeface="Tahoma"/>
              </a:rPr>
              <a:t> </a:t>
            </a:r>
            <a:r>
              <a:rPr sz="1700" spc="-60" dirty="0">
                <a:latin typeface="Tahoma"/>
                <a:cs typeface="Tahoma"/>
              </a:rPr>
              <a:t>s</a:t>
            </a:r>
            <a:r>
              <a:rPr sz="1700" dirty="0">
                <a:latin typeface="Tahoma"/>
                <a:cs typeface="Tahoma"/>
              </a:rPr>
              <a:t>top</a:t>
            </a:r>
            <a:r>
              <a:rPr sz="1700" spc="-195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this</a:t>
            </a:r>
            <a:r>
              <a:rPr sz="1700" spc="-204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p</a:t>
            </a:r>
            <a:r>
              <a:rPr sz="1700" spc="-20" dirty="0">
                <a:latin typeface="Tahoma"/>
                <a:cs typeface="Tahoma"/>
              </a:rPr>
              <a:t>h</a:t>
            </a:r>
            <a:r>
              <a:rPr sz="1700" spc="-35" dirty="0">
                <a:latin typeface="Tahoma"/>
                <a:cs typeface="Tahoma"/>
              </a:rPr>
              <a:t>a</a:t>
            </a:r>
            <a:r>
              <a:rPr sz="1700" spc="-55" dirty="0">
                <a:latin typeface="Tahoma"/>
                <a:cs typeface="Tahoma"/>
              </a:rPr>
              <a:t>s</a:t>
            </a:r>
            <a:r>
              <a:rPr sz="1700" spc="-60" dirty="0">
                <a:latin typeface="Tahoma"/>
                <a:cs typeface="Tahoma"/>
              </a:rPr>
              <a:t>e</a:t>
            </a:r>
            <a:r>
              <a:rPr sz="1700" spc="-95" dirty="0">
                <a:latin typeface="Tahoma"/>
                <a:cs typeface="Tahoma"/>
              </a:rPr>
              <a:t>.</a:t>
            </a:r>
            <a:endParaRPr sz="1700">
              <a:latin typeface="Tahoma"/>
              <a:cs typeface="Tahoma"/>
            </a:endParaRPr>
          </a:p>
          <a:p>
            <a:pPr marL="553085" lvl="1" indent="-172720">
              <a:lnSpc>
                <a:spcPts val="1939"/>
              </a:lnSpc>
              <a:spcBef>
                <a:spcPts val="190"/>
              </a:spcBef>
              <a:buFont typeface="Arial MT"/>
              <a:buChar char="•"/>
              <a:tabLst>
                <a:tab pos="553720" algn="l"/>
              </a:tabLst>
            </a:pPr>
            <a:r>
              <a:rPr sz="1700" spc="-50" dirty="0">
                <a:latin typeface="Tahoma"/>
                <a:cs typeface="Tahoma"/>
              </a:rPr>
              <a:t>The</a:t>
            </a:r>
            <a:r>
              <a:rPr sz="1700" spc="-204" dirty="0">
                <a:latin typeface="Tahoma"/>
                <a:cs typeface="Tahoma"/>
              </a:rPr>
              <a:t> </a:t>
            </a:r>
            <a:r>
              <a:rPr sz="1700" spc="-60" dirty="0">
                <a:latin typeface="Tahoma"/>
                <a:cs typeface="Tahoma"/>
              </a:rPr>
              <a:t>se</a:t>
            </a:r>
            <a:r>
              <a:rPr sz="1700" spc="-5" dirty="0">
                <a:latin typeface="Tahoma"/>
                <a:cs typeface="Tahoma"/>
              </a:rPr>
              <a:t>n</a:t>
            </a:r>
            <a:r>
              <a:rPr sz="1700" dirty="0">
                <a:latin typeface="Tahoma"/>
                <a:cs typeface="Tahoma"/>
              </a:rPr>
              <a:t>d</a:t>
            </a:r>
            <a:r>
              <a:rPr sz="1700" spc="-60" dirty="0">
                <a:latin typeface="Tahoma"/>
                <a:cs typeface="Tahoma"/>
              </a:rPr>
              <a:t>e</a:t>
            </a:r>
            <a:r>
              <a:rPr sz="1700" spc="-25" dirty="0">
                <a:latin typeface="Tahoma"/>
                <a:cs typeface="Tahoma"/>
              </a:rPr>
              <a:t>r</a:t>
            </a:r>
            <a:r>
              <a:rPr sz="1700" spc="-225" dirty="0">
                <a:latin typeface="Tahoma"/>
                <a:cs typeface="Tahoma"/>
              </a:rPr>
              <a:t> </a:t>
            </a:r>
            <a:r>
              <a:rPr sz="1700" spc="-30" dirty="0">
                <a:latin typeface="Tahoma"/>
                <a:cs typeface="Tahoma"/>
              </a:rPr>
              <a:t>k</a:t>
            </a:r>
            <a:r>
              <a:rPr sz="1700" spc="-40" dirty="0">
                <a:latin typeface="Tahoma"/>
                <a:cs typeface="Tahoma"/>
              </a:rPr>
              <a:t>e</a:t>
            </a:r>
            <a:r>
              <a:rPr sz="1700" spc="-60" dirty="0">
                <a:latin typeface="Tahoma"/>
                <a:cs typeface="Tahoma"/>
              </a:rPr>
              <a:t>e</a:t>
            </a:r>
            <a:r>
              <a:rPr sz="1700" spc="-20" dirty="0">
                <a:latin typeface="Tahoma"/>
                <a:cs typeface="Tahoma"/>
              </a:rPr>
              <a:t>ps</a:t>
            </a:r>
            <a:r>
              <a:rPr sz="1700" spc="-215" dirty="0">
                <a:latin typeface="Tahoma"/>
                <a:cs typeface="Tahoma"/>
              </a:rPr>
              <a:t> </a:t>
            </a:r>
            <a:r>
              <a:rPr sz="1700" spc="-15" dirty="0">
                <a:latin typeface="Tahoma"/>
                <a:cs typeface="Tahoma"/>
              </a:rPr>
              <a:t>track</a:t>
            </a:r>
            <a:r>
              <a:rPr sz="1700" spc="-195" dirty="0">
                <a:latin typeface="Tahoma"/>
                <a:cs typeface="Tahoma"/>
              </a:rPr>
              <a:t> </a:t>
            </a:r>
            <a:r>
              <a:rPr sz="1700" spc="-25" dirty="0">
                <a:latin typeface="Tahoma"/>
                <a:cs typeface="Tahoma"/>
              </a:rPr>
              <a:t>of</a:t>
            </a:r>
            <a:r>
              <a:rPr sz="1700" spc="-200" dirty="0">
                <a:latin typeface="Tahoma"/>
                <a:cs typeface="Tahoma"/>
              </a:rPr>
              <a:t> </a:t>
            </a:r>
            <a:r>
              <a:rPr sz="1700" spc="-35" dirty="0">
                <a:latin typeface="Tahoma"/>
                <a:cs typeface="Tahoma"/>
              </a:rPr>
              <a:t>a</a:t>
            </a:r>
            <a:r>
              <a:rPr sz="1700" spc="-195" dirty="0">
                <a:latin typeface="Tahoma"/>
                <a:cs typeface="Tahoma"/>
              </a:rPr>
              <a:t> </a:t>
            </a:r>
            <a:r>
              <a:rPr sz="1700" spc="-65" dirty="0">
                <a:latin typeface="Tahoma"/>
                <a:cs typeface="Tahoma"/>
              </a:rPr>
              <a:t>v</a:t>
            </a:r>
            <a:r>
              <a:rPr sz="1700" spc="-35" dirty="0">
                <a:latin typeface="Tahoma"/>
                <a:cs typeface="Tahoma"/>
              </a:rPr>
              <a:t>a</a:t>
            </a:r>
            <a:r>
              <a:rPr sz="1700" spc="-5" dirty="0">
                <a:latin typeface="Tahoma"/>
                <a:cs typeface="Tahoma"/>
              </a:rPr>
              <a:t>riable</a:t>
            </a:r>
            <a:r>
              <a:rPr sz="1700" spc="-200" dirty="0">
                <a:latin typeface="Tahoma"/>
                <a:cs typeface="Tahoma"/>
              </a:rPr>
              <a:t> </a:t>
            </a:r>
            <a:r>
              <a:rPr sz="1700" spc="-20" dirty="0">
                <a:latin typeface="Tahoma"/>
                <a:cs typeface="Tahoma"/>
              </a:rPr>
              <a:t>na</a:t>
            </a:r>
            <a:r>
              <a:rPr sz="1700" spc="-25" dirty="0">
                <a:latin typeface="Tahoma"/>
                <a:cs typeface="Tahoma"/>
              </a:rPr>
              <a:t>m</a:t>
            </a:r>
            <a:r>
              <a:rPr sz="1700" spc="-60" dirty="0">
                <a:latin typeface="Tahoma"/>
                <a:cs typeface="Tahoma"/>
              </a:rPr>
              <a:t>e</a:t>
            </a:r>
            <a:r>
              <a:rPr sz="1700" spc="5" dirty="0">
                <a:latin typeface="Tahoma"/>
                <a:cs typeface="Tahoma"/>
              </a:rPr>
              <a:t>d</a:t>
            </a:r>
            <a:endParaRPr sz="1700">
              <a:latin typeface="Tahoma"/>
              <a:cs typeface="Tahoma"/>
            </a:endParaRPr>
          </a:p>
          <a:p>
            <a:pPr marL="553085">
              <a:lnSpc>
                <a:spcPts val="1939"/>
              </a:lnSpc>
            </a:pPr>
            <a:r>
              <a:rPr sz="1700" spc="-40" dirty="0">
                <a:latin typeface="Tahoma"/>
                <a:cs typeface="Tahoma"/>
              </a:rPr>
              <a:t>ssthresh</a:t>
            </a:r>
            <a:r>
              <a:rPr sz="1700" spc="-190" dirty="0">
                <a:latin typeface="Tahoma"/>
                <a:cs typeface="Tahoma"/>
              </a:rPr>
              <a:t> </a:t>
            </a:r>
            <a:r>
              <a:rPr sz="1700" spc="-40" dirty="0">
                <a:latin typeface="Tahoma"/>
                <a:cs typeface="Tahoma"/>
              </a:rPr>
              <a:t>(slow</a:t>
            </a:r>
            <a:r>
              <a:rPr sz="1700" spc="-190" dirty="0">
                <a:latin typeface="Tahoma"/>
                <a:cs typeface="Tahoma"/>
              </a:rPr>
              <a:t> </a:t>
            </a:r>
            <a:r>
              <a:rPr sz="1700" spc="-20" dirty="0">
                <a:latin typeface="Tahoma"/>
                <a:cs typeface="Tahoma"/>
              </a:rPr>
              <a:t>start</a:t>
            </a:r>
            <a:r>
              <a:rPr sz="1700" spc="-200" dirty="0">
                <a:latin typeface="Tahoma"/>
                <a:cs typeface="Tahoma"/>
              </a:rPr>
              <a:t> </a:t>
            </a:r>
            <a:r>
              <a:rPr sz="1700" spc="-35" dirty="0">
                <a:latin typeface="Tahoma"/>
                <a:cs typeface="Tahoma"/>
              </a:rPr>
              <a:t>threshold).</a:t>
            </a:r>
            <a:endParaRPr sz="1700">
              <a:latin typeface="Tahoma"/>
              <a:cs typeface="Tahoma"/>
            </a:endParaRPr>
          </a:p>
          <a:p>
            <a:pPr marL="553085" marR="495300" lvl="1" indent="-172720">
              <a:lnSpc>
                <a:spcPts val="1839"/>
              </a:lnSpc>
              <a:spcBef>
                <a:spcPts val="425"/>
              </a:spcBef>
              <a:buFont typeface="Arial MT"/>
              <a:buChar char="•"/>
              <a:tabLst>
                <a:tab pos="553720" algn="l"/>
              </a:tabLst>
            </a:pPr>
            <a:r>
              <a:rPr sz="1700" spc="-75" dirty="0">
                <a:latin typeface="Tahoma"/>
                <a:cs typeface="Tahoma"/>
              </a:rPr>
              <a:t>When</a:t>
            </a:r>
            <a:r>
              <a:rPr sz="1700" spc="-210" dirty="0">
                <a:latin typeface="Tahoma"/>
                <a:cs typeface="Tahoma"/>
              </a:rPr>
              <a:t> </a:t>
            </a:r>
            <a:r>
              <a:rPr sz="1700" spc="-25" dirty="0">
                <a:latin typeface="Tahoma"/>
                <a:cs typeface="Tahoma"/>
              </a:rPr>
              <a:t>the</a:t>
            </a:r>
            <a:r>
              <a:rPr sz="1700" spc="-220" dirty="0">
                <a:latin typeface="Tahoma"/>
                <a:cs typeface="Tahoma"/>
              </a:rPr>
              <a:t> </a:t>
            </a:r>
            <a:r>
              <a:rPr sz="1700" spc="-55" dirty="0">
                <a:latin typeface="Tahoma"/>
                <a:cs typeface="Tahoma"/>
              </a:rPr>
              <a:t>s</a:t>
            </a:r>
            <a:r>
              <a:rPr sz="1700" spc="-20" dirty="0">
                <a:latin typeface="Tahoma"/>
                <a:cs typeface="Tahoma"/>
              </a:rPr>
              <a:t>ize</a:t>
            </a:r>
            <a:r>
              <a:rPr sz="1700" spc="-195" dirty="0">
                <a:latin typeface="Tahoma"/>
                <a:cs typeface="Tahoma"/>
              </a:rPr>
              <a:t> </a:t>
            </a:r>
            <a:r>
              <a:rPr sz="1700" spc="-25" dirty="0">
                <a:latin typeface="Tahoma"/>
                <a:cs typeface="Tahoma"/>
              </a:rPr>
              <a:t>of</a:t>
            </a:r>
            <a:r>
              <a:rPr sz="1700" spc="-200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window</a:t>
            </a:r>
            <a:r>
              <a:rPr sz="1700" spc="-220" dirty="0">
                <a:latin typeface="Tahoma"/>
                <a:cs typeface="Tahoma"/>
              </a:rPr>
              <a:t> </a:t>
            </a:r>
            <a:r>
              <a:rPr sz="1700" spc="5" dirty="0">
                <a:latin typeface="Tahoma"/>
                <a:cs typeface="Tahoma"/>
              </a:rPr>
              <a:t>in</a:t>
            </a:r>
            <a:r>
              <a:rPr sz="1700" spc="-204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b</a:t>
            </a:r>
            <a:r>
              <a:rPr sz="1700" spc="-30" dirty="0">
                <a:latin typeface="Tahoma"/>
                <a:cs typeface="Tahoma"/>
              </a:rPr>
              <a:t>yt</a:t>
            </a:r>
            <a:r>
              <a:rPr sz="1700" spc="-50" dirty="0">
                <a:latin typeface="Tahoma"/>
                <a:cs typeface="Tahoma"/>
              </a:rPr>
              <a:t>e</a:t>
            </a:r>
            <a:r>
              <a:rPr sz="1700" spc="-45" dirty="0">
                <a:latin typeface="Tahoma"/>
                <a:cs typeface="Tahoma"/>
              </a:rPr>
              <a:t>s</a:t>
            </a:r>
            <a:r>
              <a:rPr sz="1700" spc="-200" dirty="0">
                <a:latin typeface="Tahoma"/>
                <a:cs typeface="Tahoma"/>
              </a:rPr>
              <a:t> </a:t>
            </a:r>
            <a:r>
              <a:rPr sz="1700" spc="-35" dirty="0">
                <a:latin typeface="Tahoma"/>
                <a:cs typeface="Tahoma"/>
              </a:rPr>
              <a:t>r</a:t>
            </a:r>
            <a:r>
              <a:rPr sz="1700" spc="-60" dirty="0">
                <a:latin typeface="Tahoma"/>
                <a:cs typeface="Tahoma"/>
              </a:rPr>
              <a:t>e</a:t>
            </a:r>
            <a:r>
              <a:rPr sz="1700" spc="-35" dirty="0">
                <a:latin typeface="Tahoma"/>
                <a:cs typeface="Tahoma"/>
              </a:rPr>
              <a:t>a</a:t>
            </a:r>
            <a:r>
              <a:rPr sz="1700" spc="-30" dirty="0">
                <a:latin typeface="Tahoma"/>
                <a:cs typeface="Tahoma"/>
              </a:rPr>
              <a:t>ch</a:t>
            </a:r>
            <a:r>
              <a:rPr sz="1700" spc="-40" dirty="0">
                <a:latin typeface="Tahoma"/>
                <a:cs typeface="Tahoma"/>
              </a:rPr>
              <a:t>e</a:t>
            </a:r>
            <a:r>
              <a:rPr sz="1700" spc="-45" dirty="0">
                <a:latin typeface="Tahoma"/>
                <a:cs typeface="Tahoma"/>
              </a:rPr>
              <a:t>s</a:t>
            </a:r>
            <a:r>
              <a:rPr sz="1700" spc="-200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t</a:t>
            </a:r>
            <a:r>
              <a:rPr sz="1700" spc="-20" dirty="0">
                <a:latin typeface="Tahoma"/>
                <a:cs typeface="Tahoma"/>
              </a:rPr>
              <a:t>h</a:t>
            </a:r>
            <a:r>
              <a:rPr sz="1700" spc="-10" dirty="0">
                <a:latin typeface="Tahoma"/>
                <a:cs typeface="Tahoma"/>
              </a:rPr>
              <a:t>is  </a:t>
            </a:r>
            <a:r>
              <a:rPr sz="1700" spc="-25" dirty="0">
                <a:latin typeface="Tahoma"/>
                <a:cs typeface="Tahoma"/>
              </a:rPr>
              <a:t>threshold,</a:t>
            </a:r>
            <a:endParaRPr sz="1700">
              <a:latin typeface="Tahoma"/>
              <a:cs typeface="Tahoma"/>
            </a:endParaRPr>
          </a:p>
          <a:p>
            <a:pPr marL="895985" lvl="2" indent="-172720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896619" algn="l"/>
              </a:tabLst>
            </a:pPr>
            <a:r>
              <a:rPr sz="1400" spc="-10" dirty="0">
                <a:latin typeface="Tahoma"/>
                <a:cs typeface="Tahoma"/>
              </a:rPr>
              <a:t>slow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s</a:t>
            </a:r>
            <a:r>
              <a:rPr sz="1400" spc="-10" dirty="0">
                <a:latin typeface="Tahoma"/>
                <a:cs typeface="Tahoma"/>
              </a:rPr>
              <a:t>t</a:t>
            </a:r>
            <a:r>
              <a:rPr sz="1400" spc="-30" dirty="0">
                <a:latin typeface="Tahoma"/>
                <a:cs typeface="Tahoma"/>
              </a:rPr>
              <a:t>a</a:t>
            </a:r>
            <a:r>
              <a:rPr sz="1400" spc="-15" dirty="0">
                <a:latin typeface="Tahoma"/>
                <a:cs typeface="Tahoma"/>
              </a:rPr>
              <a:t>r</a:t>
            </a:r>
            <a:r>
              <a:rPr sz="1400" spc="5" dirty="0">
                <a:latin typeface="Tahoma"/>
                <a:cs typeface="Tahoma"/>
              </a:rPr>
              <a:t>t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s</a:t>
            </a:r>
            <a:r>
              <a:rPr sz="1400" spc="-10" dirty="0">
                <a:latin typeface="Tahoma"/>
                <a:cs typeface="Tahoma"/>
              </a:rPr>
              <a:t>t</a:t>
            </a:r>
            <a:r>
              <a:rPr sz="1400" spc="-15" dirty="0">
                <a:latin typeface="Tahoma"/>
                <a:cs typeface="Tahoma"/>
              </a:rPr>
              <a:t>ops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an</a:t>
            </a:r>
            <a:r>
              <a:rPr sz="1400" spc="5" dirty="0">
                <a:latin typeface="Tahoma"/>
                <a:cs typeface="Tahoma"/>
              </a:rPr>
              <a:t>d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t</a:t>
            </a:r>
            <a:r>
              <a:rPr sz="1400" spc="-15" dirty="0">
                <a:latin typeface="Tahoma"/>
                <a:cs typeface="Tahoma"/>
              </a:rPr>
              <a:t>h</a:t>
            </a:r>
            <a:r>
              <a:rPr sz="1400" spc="-45" dirty="0">
                <a:latin typeface="Tahoma"/>
                <a:cs typeface="Tahoma"/>
              </a:rPr>
              <a:t>e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-30" dirty="0">
                <a:latin typeface="Tahoma"/>
                <a:cs typeface="Tahoma"/>
              </a:rPr>
              <a:t>ne</a:t>
            </a:r>
            <a:r>
              <a:rPr sz="1400" spc="-35" dirty="0">
                <a:latin typeface="Tahoma"/>
                <a:cs typeface="Tahoma"/>
              </a:rPr>
              <a:t>xt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p</a:t>
            </a:r>
            <a:r>
              <a:rPr sz="1400" spc="-5" dirty="0">
                <a:latin typeface="Tahoma"/>
                <a:cs typeface="Tahoma"/>
              </a:rPr>
              <a:t>h</a:t>
            </a:r>
            <a:r>
              <a:rPr sz="1400" spc="-35" dirty="0">
                <a:latin typeface="Tahoma"/>
                <a:cs typeface="Tahoma"/>
              </a:rPr>
              <a:t>as</a:t>
            </a:r>
            <a:r>
              <a:rPr sz="1400" spc="-45" dirty="0">
                <a:latin typeface="Tahoma"/>
                <a:cs typeface="Tahoma"/>
              </a:rPr>
              <a:t>e</a:t>
            </a:r>
            <a:r>
              <a:rPr sz="1400" spc="-18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s</a:t>
            </a:r>
            <a:r>
              <a:rPr sz="1400" spc="-10" dirty="0">
                <a:latin typeface="Tahoma"/>
                <a:cs typeface="Tahoma"/>
              </a:rPr>
              <a:t>t</a:t>
            </a:r>
            <a:r>
              <a:rPr sz="1400" spc="-30" dirty="0">
                <a:latin typeface="Tahoma"/>
                <a:cs typeface="Tahoma"/>
              </a:rPr>
              <a:t>a</a:t>
            </a:r>
            <a:r>
              <a:rPr sz="1400" spc="-15" dirty="0">
                <a:latin typeface="Tahoma"/>
                <a:cs typeface="Tahoma"/>
              </a:rPr>
              <a:t>r</a:t>
            </a:r>
            <a:r>
              <a:rPr sz="1400" spc="10" dirty="0">
                <a:latin typeface="Tahoma"/>
                <a:cs typeface="Tahoma"/>
              </a:rPr>
              <a:t>t</a:t>
            </a:r>
            <a:r>
              <a:rPr sz="1400" spc="-60" dirty="0">
                <a:latin typeface="Tahoma"/>
                <a:cs typeface="Tahoma"/>
              </a:rPr>
              <a:t>s.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1770" y="163829"/>
            <a:ext cx="3378200" cy="4550410"/>
          </a:xfrm>
          <a:custGeom>
            <a:avLst/>
            <a:gdLst/>
            <a:ahLst/>
            <a:cxnLst/>
            <a:rect l="l" t="t" r="r" b="b"/>
            <a:pathLst>
              <a:path w="3378200" h="4550410">
                <a:moveTo>
                  <a:pt x="3377692" y="25908"/>
                </a:moveTo>
                <a:lnTo>
                  <a:pt x="3352292" y="25908"/>
                </a:lnTo>
                <a:lnTo>
                  <a:pt x="3352292" y="4524756"/>
                </a:lnTo>
                <a:lnTo>
                  <a:pt x="3377692" y="4524768"/>
                </a:lnTo>
                <a:lnTo>
                  <a:pt x="3377692" y="25908"/>
                </a:lnTo>
                <a:close/>
              </a:path>
              <a:path w="3378200" h="4550410">
                <a:moveTo>
                  <a:pt x="3377692" y="0"/>
                </a:moveTo>
                <a:lnTo>
                  <a:pt x="0" y="0"/>
                </a:lnTo>
                <a:lnTo>
                  <a:pt x="0" y="25400"/>
                </a:lnTo>
                <a:lnTo>
                  <a:pt x="0" y="4525010"/>
                </a:lnTo>
                <a:lnTo>
                  <a:pt x="0" y="4550410"/>
                </a:lnTo>
                <a:lnTo>
                  <a:pt x="3377692" y="4550410"/>
                </a:lnTo>
                <a:lnTo>
                  <a:pt x="3377692" y="4525010"/>
                </a:lnTo>
                <a:lnTo>
                  <a:pt x="25400" y="4525010"/>
                </a:lnTo>
                <a:lnTo>
                  <a:pt x="25400" y="25400"/>
                </a:lnTo>
                <a:lnTo>
                  <a:pt x="3377692" y="25400"/>
                </a:lnTo>
                <a:lnTo>
                  <a:pt x="337769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5270" y="227838"/>
            <a:ext cx="3251200" cy="4422775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650">
              <a:latin typeface="Times New Roman"/>
              <a:cs typeface="Times New Roman"/>
            </a:endParaRPr>
          </a:p>
          <a:p>
            <a:pPr marL="281940" marR="903605">
              <a:lnSpc>
                <a:spcPct val="90000"/>
              </a:lnSpc>
              <a:spcBef>
                <a:spcPts val="5"/>
              </a:spcBef>
            </a:pPr>
            <a:r>
              <a:rPr sz="3600" spc="-5" dirty="0">
                <a:solidFill>
                  <a:srgbClr val="FFFFFF"/>
                </a:solidFill>
                <a:latin typeface="Calibri Light"/>
                <a:cs typeface="Calibri Light"/>
              </a:rPr>
              <a:t>Con</a:t>
            </a:r>
            <a:r>
              <a:rPr sz="3600" spc="-20" dirty="0">
                <a:solidFill>
                  <a:srgbClr val="FFFFFF"/>
                </a:solidFill>
                <a:latin typeface="Calibri Light"/>
                <a:cs typeface="Calibri Light"/>
              </a:rPr>
              <a:t>g</a:t>
            </a:r>
            <a:r>
              <a:rPr sz="3600" spc="-5" dirty="0">
                <a:solidFill>
                  <a:srgbClr val="FFFFFF"/>
                </a:solidFill>
                <a:latin typeface="Calibri Light"/>
                <a:cs typeface="Calibri Light"/>
              </a:rPr>
              <a:t>e</a:t>
            </a:r>
            <a:r>
              <a:rPr sz="3600" spc="-55" dirty="0">
                <a:solidFill>
                  <a:srgbClr val="FFFFFF"/>
                </a:solidFill>
                <a:latin typeface="Calibri Light"/>
                <a:cs typeface="Calibri Light"/>
              </a:rPr>
              <a:t>s</a:t>
            </a:r>
            <a:r>
              <a:rPr sz="3600" dirty="0">
                <a:solidFill>
                  <a:srgbClr val="FFFFFF"/>
                </a:solidFill>
                <a:latin typeface="Calibri Light"/>
                <a:cs typeface="Calibri Light"/>
              </a:rPr>
              <a:t>tion  </a:t>
            </a:r>
            <a:r>
              <a:rPr sz="3600" spc="-15" dirty="0">
                <a:solidFill>
                  <a:srgbClr val="FFFFFF"/>
                </a:solidFill>
                <a:latin typeface="Calibri Light"/>
                <a:cs typeface="Calibri Light"/>
              </a:rPr>
              <a:t>Avoidance: </a:t>
            </a:r>
            <a:r>
              <a:rPr sz="3600" spc="-80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Calibri Light"/>
                <a:cs typeface="Calibri Light"/>
              </a:rPr>
              <a:t>Additive </a:t>
            </a:r>
            <a:r>
              <a:rPr sz="36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600" spc="-15" dirty="0">
                <a:solidFill>
                  <a:srgbClr val="FFFFFF"/>
                </a:solidFill>
                <a:latin typeface="Calibri Light"/>
                <a:cs typeface="Calibri Light"/>
              </a:rPr>
              <a:t>Increase</a:t>
            </a:r>
            <a:endParaRPr sz="3600">
              <a:latin typeface="Calibri Light"/>
              <a:cs typeface="Calibri Ligh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75532" y="230124"/>
            <a:ext cx="4940935" cy="929640"/>
            <a:chOff x="3875532" y="230124"/>
            <a:chExt cx="4940935" cy="929640"/>
          </a:xfrm>
        </p:grpSpPr>
        <p:sp>
          <p:nvSpPr>
            <p:cNvPr id="5" name="object 5"/>
            <p:cNvSpPr/>
            <p:nvPr/>
          </p:nvSpPr>
          <p:spPr>
            <a:xfrm>
              <a:off x="3875532" y="230124"/>
              <a:ext cx="4940935" cy="929640"/>
            </a:xfrm>
            <a:custGeom>
              <a:avLst/>
              <a:gdLst/>
              <a:ahLst/>
              <a:cxnLst/>
              <a:rect l="l" t="t" r="r" b="b"/>
              <a:pathLst>
                <a:path w="4940934" h="929640">
                  <a:moveTo>
                    <a:pt x="4847844" y="0"/>
                  </a:moveTo>
                  <a:lnTo>
                    <a:pt x="92963" y="0"/>
                  </a:lnTo>
                  <a:lnTo>
                    <a:pt x="56792" y="7310"/>
                  </a:lnTo>
                  <a:lnTo>
                    <a:pt x="27241" y="27241"/>
                  </a:lnTo>
                  <a:lnTo>
                    <a:pt x="7310" y="56792"/>
                  </a:lnTo>
                  <a:lnTo>
                    <a:pt x="0" y="92963"/>
                  </a:lnTo>
                  <a:lnTo>
                    <a:pt x="0" y="836676"/>
                  </a:lnTo>
                  <a:lnTo>
                    <a:pt x="7310" y="872847"/>
                  </a:lnTo>
                  <a:lnTo>
                    <a:pt x="27241" y="902398"/>
                  </a:lnTo>
                  <a:lnTo>
                    <a:pt x="56792" y="922329"/>
                  </a:lnTo>
                  <a:lnTo>
                    <a:pt x="92963" y="929639"/>
                  </a:lnTo>
                  <a:lnTo>
                    <a:pt x="4847844" y="929639"/>
                  </a:lnTo>
                  <a:lnTo>
                    <a:pt x="4884015" y="922329"/>
                  </a:lnTo>
                  <a:lnTo>
                    <a:pt x="4913566" y="902398"/>
                  </a:lnTo>
                  <a:lnTo>
                    <a:pt x="4933497" y="872847"/>
                  </a:lnTo>
                  <a:lnTo>
                    <a:pt x="4940808" y="836676"/>
                  </a:lnTo>
                  <a:lnTo>
                    <a:pt x="4940808" y="92963"/>
                  </a:lnTo>
                  <a:lnTo>
                    <a:pt x="4933497" y="56792"/>
                  </a:lnTo>
                  <a:lnTo>
                    <a:pt x="4913566" y="27241"/>
                  </a:lnTo>
                  <a:lnTo>
                    <a:pt x="4884015" y="7310"/>
                  </a:lnTo>
                  <a:lnTo>
                    <a:pt x="4847844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85767" y="495504"/>
              <a:ext cx="454659" cy="401320"/>
            </a:xfrm>
            <a:custGeom>
              <a:avLst/>
              <a:gdLst/>
              <a:ahLst/>
              <a:cxnLst/>
              <a:rect l="l" t="t" r="r" b="b"/>
              <a:pathLst>
                <a:path w="454660" h="401319">
                  <a:moveTo>
                    <a:pt x="224628" y="0"/>
                  </a:moveTo>
                  <a:lnTo>
                    <a:pt x="2671" y="369189"/>
                  </a:lnTo>
                  <a:lnTo>
                    <a:pt x="0" y="377132"/>
                  </a:lnTo>
                  <a:lnTo>
                    <a:pt x="562" y="385202"/>
                  </a:lnTo>
                  <a:lnTo>
                    <a:pt x="433454" y="400838"/>
                  </a:lnTo>
                  <a:lnTo>
                    <a:pt x="441645" y="399176"/>
                  </a:lnTo>
                  <a:lnTo>
                    <a:pt x="448348" y="394646"/>
                  </a:lnTo>
                  <a:lnTo>
                    <a:pt x="452859" y="387934"/>
                  </a:lnTo>
                  <a:lnTo>
                    <a:pt x="454493" y="379719"/>
                  </a:lnTo>
                  <a:lnTo>
                    <a:pt x="454493" y="376021"/>
                  </a:lnTo>
                  <a:lnTo>
                    <a:pt x="453526" y="372390"/>
                  </a:lnTo>
                  <a:lnTo>
                    <a:pt x="415293" y="305883"/>
                  </a:lnTo>
                  <a:lnTo>
                    <a:pt x="105823" y="305883"/>
                  </a:lnTo>
                  <a:lnTo>
                    <a:pt x="105823" y="284781"/>
                  </a:lnTo>
                  <a:lnTo>
                    <a:pt x="153783" y="284781"/>
                  </a:lnTo>
                  <a:lnTo>
                    <a:pt x="161586" y="267013"/>
                  </a:lnTo>
                  <a:lnTo>
                    <a:pt x="177698" y="251842"/>
                  </a:lnTo>
                  <a:lnTo>
                    <a:pt x="200201" y="241270"/>
                  </a:lnTo>
                  <a:lnTo>
                    <a:pt x="227176" y="237301"/>
                  </a:lnTo>
                  <a:lnTo>
                    <a:pt x="375876" y="237301"/>
                  </a:lnTo>
                  <a:lnTo>
                    <a:pt x="366779" y="221474"/>
                  </a:lnTo>
                  <a:lnTo>
                    <a:pt x="216623" y="221474"/>
                  </a:lnTo>
                  <a:lnTo>
                    <a:pt x="216623" y="178373"/>
                  </a:lnTo>
                  <a:lnTo>
                    <a:pt x="196415" y="178373"/>
                  </a:lnTo>
                  <a:lnTo>
                    <a:pt x="227176" y="147617"/>
                  </a:lnTo>
                  <a:lnTo>
                    <a:pt x="324329" y="147617"/>
                  </a:lnTo>
                  <a:lnTo>
                    <a:pt x="245484" y="10435"/>
                  </a:lnTo>
                  <a:lnTo>
                    <a:pt x="239958" y="4138"/>
                  </a:lnTo>
                  <a:lnTo>
                    <a:pt x="232697" y="577"/>
                  </a:lnTo>
                  <a:lnTo>
                    <a:pt x="224628" y="0"/>
                  </a:lnTo>
                  <a:close/>
                </a:path>
                <a:path w="454660" h="401319">
                  <a:moveTo>
                    <a:pt x="375876" y="237301"/>
                  </a:moveTo>
                  <a:lnTo>
                    <a:pt x="227176" y="237301"/>
                  </a:lnTo>
                  <a:lnTo>
                    <a:pt x="254150" y="241270"/>
                  </a:lnTo>
                  <a:lnTo>
                    <a:pt x="276653" y="251842"/>
                  </a:lnTo>
                  <a:lnTo>
                    <a:pt x="292766" y="267013"/>
                  </a:lnTo>
                  <a:lnTo>
                    <a:pt x="300568" y="284781"/>
                  </a:lnTo>
                  <a:lnTo>
                    <a:pt x="348529" y="284781"/>
                  </a:lnTo>
                  <a:lnTo>
                    <a:pt x="348529" y="305883"/>
                  </a:lnTo>
                  <a:lnTo>
                    <a:pt x="415293" y="305883"/>
                  </a:lnTo>
                  <a:lnTo>
                    <a:pt x="375876" y="237301"/>
                  </a:lnTo>
                  <a:close/>
                </a:path>
                <a:path w="454660" h="401319">
                  <a:moveTo>
                    <a:pt x="324329" y="147617"/>
                  </a:moveTo>
                  <a:lnTo>
                    <a:pt x="227176" y="147617"/>
                  </a:lnTo>
                  <a:lnTo>
                    <a:pt x="257936" y="178373"/>
                  </a:lnTo>
                  <a:lnTo>
                    <a:pt x="237728" y="178373"/>
                  </a:lnTo>
                  <a:lnTo>
                    <a:pt x="237728" y="221474"/>
                  </a:lnTo>
                  <a:lnTo>
                    <a:pt x="366779" y="221474"/>
                  </a:lnTo>
                  <a:lnTo>
                    <a:pt x="324329" y="1476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036311" y="456438"/>
            <a:ext cx="1767205" cy="43497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>
              <a:lnSpc>
                <a:spcPts val="1540"/>
              </a:lnSpc>
              <a:spcBef>
                <a:spcPts val="27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start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slow </a:t>
            </a:r>
            <a:r>
              <a:rPr sz="1400" spc="-3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start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algorithm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60463" y="427177"/>
            <a:ext cx="1390015" cy="502284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1210"/>
              </a:lnSpc>
              <a:spcBef>
                <a:spcPts val="235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size 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congestion window 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creases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ex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entia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ly.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875532" y="1392936"/>
            <a:ext cx="4940935" cy="929640"/>
            <a:chOff x="3875532" y="1392936"/>
            <a:chExt cx="4940935" cy="929640"/>
          </a:xfrm>
        </p:grpSpPr>
        <p:sp>
          <p:nvSpPr>
            <p:cNvPr id="10" name="object 10"/>
            <p:cNvSpPr/>
            <p:nvPr/>
          </p:nvSpPr>
          <p:spPr>
            <a:xfrm>
              <a:off x="3875532" y="1392936"/>
              <a:ext cx="4940935" cy="929640"/>
            </a:xfrm>
            <a:custGeom>
              <a:avLst/>
              <a:gdLst/>
              <a:ahLst/>
              <a:cxnLst/>
              <a:rect l="l" t="t" r="r" b="b"/>
              <a:pathLst>
                <a:path w="4940934" h="929639">
                  <a:moveTo>
                    <a:pt x="4847844" y="0"/>
                  </a:moveTo>
                  <a:lnTo>
                    <a:pt x="92963" y="0"/>
                  </a:lnTo>
                  <a:lnTo>
                    <a:pt x="56792" y="7310"/>
                  </a:lnTo>
                  <a:lnTo>
                    <a:pt x="27241" y="27241"/>
                  </a:lnTo>
                  <a:lnTo>
                    <a:pt x="7310" y="56792"/>
                  </a:lnTo>
                  <a:lnTo>
                    <a:pt x="0" y="92963"/>
                  </a:lnTo>
                  <a:lnTo>
                    <a:pt x="0" y="836676"/>
                  </a:lnTo>
                  <a:lnTo>
                    <a:pt x="7310" y="872847"/>
                  </a:lnTo>
                  <a:lnTo>
                    <a:pt x="27241" y="902398"/>
                  </a:lnTo>
                  <a:lnTo>
                    <a:pt x="56792" y="922329"/>
                  </a:lnTo>
                  <a:lnTo>
                    <a:pt x="92963" y="929639"/>
                  </a:lnTo>
                  <a:lnTo>
                    <a:pt x="4847844" y="929639"/>
                  </a:lnTo>
                  <a:lnTo>
                    <a:pt x="4884015" y="922329"/>
                  </a:lnTo>
                  <a:lnTo>
                    <a:pt x="4913566" y="902398"/>
                  </a:lnTo>
                  <a:lnTo>
                    <a:pt x="4933497" y="872847"/>
                  </a:lnTo>
                  <a:lnTo>
                    <a:pt x="4940808" y="836676"/>
                  </a:lnTo>
                  <a:lnTo>
                    <a:pt x="4940808" y="92963"/>
                  </a:lnTo>
                  <a:lnTo>
                    <a:pt x="4933497" y="56792"/>
                  </a:lnTo>
                  <a:lnTo>
                    <a:pt x="4913566" y="27241"/>
                  </a:lnTo>
                  <a:lnTo>
                    <a:pt x="4884015" y="7310"/>
                  </a:lnTo>
                  <a:lnTo>
                    <a:pt x="484784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35132" y="1652930"/>
              <a:ext cx="358140" cy="410845"/>
            </a:xfrm>
            <a:custGeom>
              <a:avLst/>
              <a:gdLst/>
              <a:ahLst/>
              <a:cxnLst/>
              <a:rect l="l" t="t" r="r" b="b"/>
              <a:pathLst>
                <a:path w="358139" h="410844">
                  <a:moveTo>
                    <a:pt x="82829" y="221043"/>
                  </a:moveTo>
                  <a:lnTo>
                    <a:pt x="78105" y="216319"/>
                  </a:lnTo>
                  <a:lnTo>
                    <a:pt x="66446" y="216319"/>
                  </a:lnTo>
                  <a:lnTo>
                    <a:pt x="61722" y="221043"/>
                  </a:lnTo>
                  <a:lnTo>
                    <a:pt x="61722" y="232689"/>
                  </a:lnTo>
                  <a:lnTo>
                    <a:pt x="66446" y="237413"/>
                  </a:lnTo>
                  <a:lnTo>
                    <a:pt x="78105" y="237413"/>
                  </a:lnTo>
                  <a:lnTo>
                    <a:pt x="82829" y="232689"/>
                  </a:lnTo>
                  <a:lnTo>
                    <a:pt x="82829" y="226872"/>
                  </a:lnTo>
                  <a:lnTo>
                    <a:pt x="82829" y="221043"/>
                  </a:lnTo>
                  <a:close/>
                </a:path>
                <a:path w="358139" h="410844">
                  <a:moveTo>
                    <a:pt x="188353" y="331825"/>
                  </a:moveTo>
                  <a:lnTo>
                    <a:pt x="183629" y="327101"/>
                  </a:lnTo>
                  <a:lnTo>
                    <a:pt x="171970" y="327101"/>
                  </a:lnTo>
                  <a:lnTo>
                    <a:pt x="167246" y="331825"/>
                  </a:lnTo>
                  <a:lnTo>
                    <a:pt x="167246" y="343484"/>
                  </a:lnTo>
                  <a:lnTo>
                    <a:pt x="171970" y="348208"/>
                  </a:lnTo>
                  <a:lnTo>
                    <a:pt x="183629" y="348208"/>
                  </a:lnTo>
                  <a:lnTo>
                    <a:pt x="188353" y="343484"/>
                  </a:lnTo>
                  <a:lnTo>
                    <a:pt x="188353" y="337654"/>
                  </a:lnTo>
                  <a:lnTo>
                    <a:pt x="188353" y="331825"/>
                  </a:lnTo>
                  <a:close/>
                </a:path>
                <a:path w="358139" h="410844">
                  <a:moveTo>
                    <a:pt x="188353" y="120802"/>
                  </a:moveTo>
                  <a:lnTo>
                    <a:pt x="183629" y="116078"/>
                  </a:lnTo>
                  <a:lnTo>
                    <a:pt x="171970" y="116078"/>
                  </a:lnTo>
                  <a:lnTo>
                    <a:pt x="167246" y="120802"/>
                  </a:lnTo>
                  <a:lnTo>
                    <a:pt x="167246" y="132461"/>
                  </a:lnTo>
                  <a:lnTo>
                    <a:pt x="171970" y="137185"/>
                  </a:lnTo>
                  <a:lnTo>
                    <a:pt x="183629" y="137185"/>
                  </a:lnTo>
                  <a:lnTo>
                    <a:pt x="188353" y="132461"/>
                  </a:lnTo>
                  <a:lnTo>
                    <a:pt x="188353" y="126631"/>
                  </a:lnTo>
                  <a:lnTo>
                    <a:pt x="188353" y="120802"/>
                  </a:lnTo>
                  <a:close/>
                </a:path>
                <a:path w="358139" h="410844">
                  <a:moveTo>
                    <a:pt x="237426" y="271703"/>
                  </a:moveTo>
                  <a:lnTo>
                    <a:pt x="188353" y="222643"/>
                  </a:lnTo>
                  <a:lnTo>
                    <a:pt x="188353" y="153009"/>
                  </a:lnTo>
                  <a:lnTo>
                    <a:pt x="167246" y="153009"/>
                  </a:lnTo>
                  <a:lnTo>
                    <a:pt x="167246" y="229501"/>
                  </a:lnTo>
                  <a:lnTo>
                    <a:pt x="168313" y="232143"/>
                  </a:lnTo>
                  <a:lnTo>
                    <a:pt x="222656" y="286486"/>
                  </a:lnTo>
                  <a:lnTo>
                    <a:pt x="237426" y="271703"/>
                  </a:lnTo>
                  <a:close/>
                </a:path>
                <a:path w="358139" h="410844">
                  <a:moveTo>
                    <a:pt x="293878" y="221043"/>
                  </a:moveTo>
                  <a:lnTo>
                    <a:pt x="289153" y="216319"/>
                  </a:lnTo>
                  <a:lnTo>
                    <a:pt x="277495" y="216319"/>
                  </a:lnTo>
                  <a:lnTo>
                    <a:pt x="272783" y="221043"/>
                  </a:lnTo>
                  <a:lnTo>
                    <a:pt x="272783" y="232689"/>
                  </a:lnTo>
                  <a:lnTo>
                    <a:pt x="277495" y="237413"/>
                  </a:lnTo>
                  <a:lnTo>
                    <a:pt x="289153" y="237413"/>
                  </a:lnTo>
                  <a:lnTo>
                    <a:pt x="293878" y="232689"/>
                  </a:lnTo>
                  <a:lnTo>
                    <a:pt x="293878" y="226872"/>
                  </a:lnTo>
                  <a:lnTo>
                    <a:pt x="293878" y="221043"/>
                  </a:lnTo>
                  <a:close/>
                </a:path>
                <a:path w="358139" h="410844">
                  <a:moveTo>
                    <a:pt x="357670" y="233895"/>
                  </a:moveTo>
                  <a:lnTo>
                    <a:pt x="351599" y="186601"/>
                  </a:lnTo>
                  <a:lnTo>
                    <a:pt x="333159" y="142227"/>
                  </a:lnTo>
                  <a:lnTo>
                    <a:pt x="325539" y="132473"/>
                  </a:lnTo>
                  <a:lnTo>
                    <a:pt x="325539" y="232143"/>
                  </a:lnTo>
                  <a:lnTo>
                    <a:pt x="318020" y="278904"/>
                  </a:lnTo>
                  <a:lnTo>
                    <a:pt x="297091" y="319468"/>
                  </a:lnTo>
                  <a:lnTo>
                    <a:pt x="265137" y="351409"/>
                  </a:lnTo>
                  <a:lnTo>
                    <a:pt x="224574" y="372351"/>
                  </a:lnTo>
                  <a:lnTo>
                    <a:pt x="177800" y="379857"/>
                  </a:lnTo>
                  <a:lnTo>
                    <a:pt x="131038" y="372351"/>
                  </a:lnTo>
                  <a:lnTo>
                    <a:pt x="90474" y="351409"/>
                  </a:lnTo>
                  <a:lnTo>
                    <a:pt x="58521" y="319468"/>
                  </a:lnTo>
                  <a:lnTo>
                    <a:pt x="37579" y="278904"/>
                  </a:lnTo>
                  <a:lnTo>
                    <a:pt x="30073" y="232143"/>
                  </a:lnTo>
                  <a:lnTo>
                    <a:pt x="37579" y="185381"/>
                  </a:lnTo>
                  <a:lnTo>
                    <a:pt x="58521" y="144818"/>
                  </a:lnTo>
                  <a:lnTo>
                    <a:pt x="90474" y="112877"/>
                  </a:lnTo>
                  <a:lnTo>
                    <a:pt x="131038" y="91935"/>
                  </a:lnTo>
                  <a:lnTo>
                    <a:pt x="177800" y="84429"/>
                  </a:lnTo>
                  <a:lnTo>
                    <a:pt x="224574" y="91935"/>
                  </a:lnTo>
                  <a:lnTo>
                    <a:pt x="265137" y="112877"/>
                  </a:lnTo>
                  <a:lnTo>
                    <a:pt x="297091" y="144818"/>
                  </a:lnTo>
                  <a:lnTo>
                    <a:pt x="318020" y="185381"/>
                  </a:lnTo>
                  <a:lnTo>
                    <a:pt x="325539" y="232143"/>
                  </a:lnTo>
                  <a:lnTo>
                    <a:pt x="325539" y="132473"/>
                  </a:lnTo>
                  <a:lnTo>
                    <a:pt x="302856" y="103416"/>
                  </a:lnTo>
                  <a:lnTo>
                    <a:pt x="318681" y="87591"/>
                  </a:lnTo>
                  <a:lnTo>
                    <a:pt x="321576" y="84429"/>
                  </a:lnTo>
                  <a:lnTo>
                    <a:pt x="322554" y="83375"/>
                  </a:lnTo>
                  <a:lnTo>
                    <a:pt x="324485" y="81267"/>
                  </a:lnTo>
                  <a:lnTo>
                    <a:pt x="324485" y="71767"/>
                  </a:lnTo>
                  <a:lnTo>
                    <a:pt x="312343" y="59639"/>
                  </a:lnTo>
                  <a:lnTo>
                    <a:pt x="302323" y="59105"/>
                  </a:lnTo>
                  <a:lnTo>
                    <a:pt x="295986" y="64909"/>
                  </a:lnTo>
                  <a:lnTo>
                    <a:pt x="278053" y="83375"/>
                  </a:lnTo>
                  <a:lnTo>
                    <a:pt x="258406" y="71932"/>
                  </a:lnTo>
                  <a:lnTo>
                    <a:pt x="237629" y="63068"/>
                  </a:lnTo>
                  <a:lnTo>
                    <a:pt x="215950" y="56959"/>
                  </a:lnTo>
                  <a:lnTo>
                    <a:pt x="193636" y="53835"/>
                  </a:lnTo>
                  <a:lnTo>
                    <a:pt x="193636" y="31673"/>
                  </a:lnTo>
                  <a:lnTo>
                    <a:pt x="241122" y="31673"/>
                  </a:lnTo>
                  <a:lnTo>
                    <a:pt x="241122" y="0"/>
                  </a:lnTo>
                  <a:lnTo>
                    <a:pt x="114490" y="0"/>
                  </a:lnTo>
                  <a:lnTo>
                    <a:pt x="114490" y="31673"/>
                  </a:lnTo>
                  <a:lnTo>
                    <a:pt x="161975" y="31673"/>
                  </a:lnTo>
                  <a:lnTo>
                    <a:pt x="161975" y="53301"/>
                  </a:lnTo>
                  <a:lnTo>
                    <a:pt x="113931" y="64325"/>
                  </a:lnTo>
                  <a:lnTo>
                    <a:pt x="71755" y="87299"/>
                  </a:lnTo>
                  <a:lnTo>
                    <a:pt x="37414" y="120383"/>
                  </a:lnTo>
                  <a:lnTo>
                    <a:pt x="12839" y="161721"/>
                  </a:lnTo>
                  <a:lnTo>
                    <a:pt x="0" y="209461"/>
                  </a:lnTo>
                  <a:lnTo>
                    <a:pt x="584" y="258902"/>
                  </a:lnTo>
                  <a:lnTo>
                    <a:pt x="14097" y="305054"/>
                  </a:lnTo>
                  <a:lnTo>
                    <a:pt x="39128" y="345630"/>
                  </a:lnTo>
                  <a:lnTo>
                    <a:pt x="74282" y="378358"/>
                  </a:lnTo>
                  <a:lnTo>
                    <a:pt x="118186" y="400964"/>
                  </a:lnTo>
                  <a:lnTo>
                    <a:pt x="166585" y="410845"/>
                  </a:lnTo>
                  <a:lnTo>
                    <a:pt x="214528" y="407517"/>
                  </a:lnTo>
                  <a:lnTo>
                    <a:pt x="259537" y="391807"/>
                  </a:lnTo>
                  <a:lnTo>
                    <a:pt x="276885" y="379857"/>
                  </a:lnTo>
                  <a:lnTo>
                    <a:pt x="299123" y="364540"/>
                  </a:lnTo>
                  <a:lnTo>
                    <a:pt x="330809" y="326580"/>
                  </a:lnTo>
                  <a:lnTo>
                    <a:pt x="350901" y="281432"/>
                  </a:lnTo>
                  <a:lnTo>
                    <a:pt x="357670" y="2338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036311" y="1619503"/>
            <a:ext cx="1960880" cy="434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610"/>
              </a:lnSpc>
              <a:spcBef>
                <a:spcPts val="105"/>
              </a:spcBef>
            </a:pPr>
            <a:r>
              <a:rPr sz="1400" spc="-1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id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tion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b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610"/>
              </a:lnSpc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happens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60463" y="1667637"/>
            <a:ext cx="1173480" cy="34798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1210"/>
              </a:lnSpc>
              <a:spcBef>
                <a:spcPts val="235"/>
              </a:spcBef>
            </a:pP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slow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down this 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ex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ential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rowt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875532" y="2555748"/>
            <a:ext cx="4940935" cy="929640"/>
            <a:chOff x="3875532" y="2555748"/>
            <a:chExt cx="4940935" cy="929640"/>
          </a:xfrm>
        </p:grpSpPr>
        <p:sp>
          <p:nvSpPr>
            <p:cNvPr id="15" name="object 15"/>
            <p:cNvSpPr/>
            <p:nvPr/>
          </p:nvSpPr>
          <p:spPr>
            <a:xfrm>
              <a:off x="3875532" y="2555748"/>
              <a:ext cx="4940935" cy="929640"/>
            </a:xfrm>
            <a:custGeom>
              <a:avLst/>
              <a:gdLst/>
              <a:ahLst/>
              <a:cxnLst/>
              <a:rect l="l" t="t" r="r" b="b"/>
              <a:pathLst>
                <a:path w="4940934" h="929639">
                  <a:moveTo>
                    <a:pt x="4847844" y="0"/>
                  </a:moveTo>
                  <a:lnTo>
                    <a:pt x="92963" y="0"/>
                  </a:lnTo>
                  <a:lnTo>
                    <a:pt x="56792" y="7310"/>
                  </a:lnTo>
                  <a:lnTo>
                    <a:pt x="27241" y="27241"/>
                  </a:lnTo>
                  <a:lnTo>
                    <a:pt x="7310" y="56792"/>
                  </a:lnTo>
                  <a:lnTo>
                    <a:pt x="0" y="92963"/>
                  </a:lnTo>
                  <a:lnTo>
                    <a:pt x="0" y="836676"/>
                  </a:lnTo>
                  <a:lnTo>
                    <a:pt x="7310" y="872847"/>
                  </a:lnTo>
                  <a:lnTo>
                    <a:pt x="27241" y="902398"/>
                  </a:lnTo>
                  <a:lnTo>
                    <a:pt x="56792" y="922329"/>
                  </a:lnTo>
                  <a:lnTo>
                    <a:pt x="92963" y="929639"/>
                  </a:lnTo>
                  <a:lnTo>
                    <a:pt x="4847844" y="929639"/>
                  </a:lnTo>
                  <a:lnTo>
                    <a:pt x="4884015" y="922329"/>
                  </a:lnTo>
                  <a:lnTo>
                    <a:pt x="4913566" y="902398"/>
                  </a:lnTo>
                  <a:lnTo>
                    <a:pt x="4933497" y="872847"/>
                  </a:lnTo>
                  <a:lnTo>
                    <a:pt x="4940808" y="836676"/>
                  </a:lnTo>
                  <a:lnTo>
                    <a:pt x="4940808" y="92963"/>
                  </a:lnTo>
                  <a:lnTo>
                    <a:pt x="4933497" y="56792"/>
                  </a:lnTo>
                  <a:lnTo>
                    <a:pt x="4913566" y="27241"/>
                  </a:lnTo>
                  <a:lnTo>
                    <a:pt x="4884015" y="7310"/>
                  </a:lnTo>
                  <a:lnTo>
                    <a:pt x="484784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12437" y="2821038"/>
              <a:ext cx="401320" cy="401320"/>
            </a:xfrm>
            <a:custGeom>
              <a:avLst/>
              <a:gdLst/>
              <a:ahLst/>
              <a:cxnLst/>
              <a:rect l="l" t="t" r="r" b="b"/>
              <a:pathLst>
                <a:path w="401320" h="401319">
                  <a:moveTo>
                    <a:pt x="36931" y="295427"/>
                  </a:moveTo>
                  <a:lnTo>
                    <a:pt x="0" y="295427"/>
                  </a:lnTo>
                  <a:lnTo>
                    <a:pt x="0" y="316534"/>
                  </a:lnTo>
                  <a:lnTo>
                    <a:pt x="36931" y="316534"/>
                  </a:lnTo>
                  <a:lnTo>
                    <a:pt x="36931" y="295427"/>
                  </a:lnTo>
                  <a:close/>
                </a:path>
                <a:path w="401320" h="401319">
                  <a:moveTo>
                    <a:pt x="36931" y="253225"/>
                  </a:moveTo>
                  <a:lnTo>
                    <a:pt x="0" y="253225"/>
                  </a:lnTo>
                  <a:lnTo>
                    <a:pt x="0" y="274332"/>
                  </a:lnTo>
                  <a:lnTo>
                    <a:pt x="36931" y="274332"/>
                  </a:lnTo>
                  <a:lnTo>
                    <a:pt x="36931" y="253225"/>
                  </a:lnTo>
                  <a:close/>
                </a:path>
                <a:path w="401320" h="401319">
                  <a:moveTo>
                    <a:pt x="36931" y="211023"/>
                  </a:moveTo>
                  <a:lnTo>
                    <a:pt x="0" y="211023"/>
                  </a:lnTo>
                  <a:lnTo>
                    <a:pt x="0" y="232117"/>
                  </a:lnTo>
                  <a:lnTo>
                    <a:pt x="36931" y="232117"/>
                  </a:lnTo>
                  <a:lnTo>
                    <a:pt x="36931" y="211023"/>
                  </a:lnTo>
                  <a:close/>
                </a:path>
                <a:path w="401320" h="401319">
                  <a:moveTo>
                    <a:pt x="36931" y="168821"/>
                  </a:moveTo>
                  <a:lnTo>
                    <a:pt x="0" y="168821"/>
                  </a:lnTo>
                  <a:lnTo>
                    <a:pt x="0" y="189915"/>
                  </a:lnTo>
                  <a:lnTo>
                    <a:pt x="36931" y="189915"/>
                  </a:lnTo>
                  <a:lnTo>
                    <a:pt x="36931" y="168821"/>
                  </a:lnTo>
                  <a:close/>
                </a:path>
                <a:path w="401320" h="401319">
                  <a:moveTo>
                    <a:pt x="36931" y="126606"/>
                  </a:moveTo>
                  <a:lnTo>
                    <a:pt x="0" y="126606"/>
                  </a:lnTo>
                  <a:lnTo>
                    <a:pt x="0" y="147713"/>
                  </a:lnTo>
                  <a:lnTo>
                    <a:pt x="36931" y="147713"/>
                  </a:lnTo>
                  <a:lnTo>
                    <a:pt x="36931" y="126606"/>
                  </a:lnTo>
                  <a:close/>
                </a:path>
                <a:path w="401320" h="401319">
                  <a:moveTo>
                    <a:pt x="36931" y="84404"/>
                  </a:moveTo>
                  <a:lnTo>
                    <a:pt x="0" y="84404"/>
                  </a:lnTo>
                  <a:lnTo>
                    <a:pt x="0" y="105511"/>
                  </a:lnTo>
                  <a:lnTo>
                    <a:pt x="36931" y="105511"/>
                  </a:lnTo>
                  <a:lnTo>
                    <a:pt x="36931" y="84404"/>
                  </a:lnTo>
                  <a:close/>
                </a:path>
                <a:path w="401320" h="401319">
                  <a:moveTo>
                    <a:pt x="105524" y="364007"/>
                  </a:moveTo>
                  <a:lnTo>
                    <a:pt x="84416" y="364007"/>
                  </a:lnTo>
                  <a:lnTo>
                    <a:pt x="84416" y="400939"/>
                  </a:lnTo>
                  <a:lnTo>
                    <a:pt x="105524" y="400939"/>
                  </a:lnTo>
                  <a:lnTo>
                    <a:pt x="105524" y="364007"/>
                  </a:lnTo>
                  <a:close/>
                </a:path>
                <a:path w="401320" h="401319">
                  <a:moveTo>
                    <a:pt x="105524" y="0"/>
                  </a:moveTo>
                  <a:lnTo>
                    <a:pt x="84416" y="0"/>
                  </a:lnTo>
                  <a:lnTo>
                    <a:pt x="84416" y="36931"/>
                  </a:lnTo>
                  <a:lnTo>
                    <a:pt x="105524" y="36931"/>
                  </a:lnTo>
                  <a:lnTo>
                    <a:pt x="105524" y="0"/>
                  </a:lnTo>
                  <a:close/>
                </a:path>
                <a:path w="401320" h="401319">
                  <a:moveTo>
                    <a:pt x="147739" y="364007"/>
                  </a:moveTo>
                  <a:lnTo>
                    <a:pt x="126631" y="364007"/>
                  </a:lnTo>
                  <a:lnTo>
                    <a:pt x="126631" y="400939"/>
                  </a:lnTo>
                  <a:lnTo>
                    <a:pt x="147739" y="400939"/>
                  </a:lnTo>
                  <a:lnTo>
                    <a:pt x="147739" y="364007"/>
                  </a:lnTo>
                  <a:close/>
                </a:path>
                <a:path w="401320" h="401319">
                  <a:moveTo>
                    <a:pt x="147739" y="0"/>
                  </a:moveTo>
                  <a:lnTo>
                    <a:pt x="126631" y="0"/>
                  </a:lnTo>
                  <a:lnTo>
                    <a:pt x="126631" y="36931"/>
                  </a:lnTo>
                  <a:lnTo>
                    <a:pt x="147739" y="36931"/>
                  </a:lnTo>
                  <a:lnTo>
                    <a:pt x="147739" y="0"/>
                  </a:lnTo>
                  <a:close/>
                </a:path>
                <a:path w="401320" h="401319">
                  <a:moveTo>
                    <a:pt x="189941" y="0"/>
                  </a:moveTo>
                  <a:lnTo>
                    <a:pt x="168846" y="0"/>
                  </a:lnTo>
                  <a:lnTo>
                    <a:pt x="168846" y="36931"/>
                  </a:lnTo>
                  <a:lnTo>
                    <a:pt x="189941" y="36931"/>
                  </a:lnTo>
                  <a:lnTo>
                    <a:pt x="189941" y="0"/>
                  </a:lnTo>
                  <a:close/>
                </a:path>
                <a:path w="401320" h="401319">
                  <a:moveTo>
                    <a:pt x="189953" y="400939"/>
                  </a:moveTo>
                  <a:lnTo>
                    <a:pt x="189941" y="364007"/>
                  </a:lnTo>
                  <a:lnTo>
                    <a:pt x="168846" y="364007"/>
                  </a:lnTo>
                  <a:lnTo>
                    <a:pt x="168846" y="400939"/>
                  </a:lnTo>
                  <a:lnTo>
                    <a:pt x="189953" y="400939"/>
                  </a:lnTo>
                  <a:close/>
                </a:path>
                <a:path w="401320" h="401319">
                  <a:moveTo>
                    <a:pt x="232156" y="364007"/>
                  </a:moveTo>
                  <a:lnTo>
                    <a:pt x="211048" y="364007"/>
                  </a:lnTo>
                  <a:lnTo>
                    <a:pt x="211048" y="400939"/>
                  </a:lnTo>
                  <a:lnTo>
                    <a:pt x="232156" y="400939"/>
                  </a:lnTo>
                  <a:lnTo>
                    <a:pt x="232156" y="364007"/>
                  </a:lnTo>
                  <a:close/>
                </a:path>
                <a:path w="401320" h="401319">
                  <a:moveTo>
                    <a:pt x="232156" y="0"/>
                  </a:moveTo>
                  <a:lnTo>
                    <a:pt x="211048" y="0"/>
                  </a:lnTo>
                  <a:lnTo>
                    <a:pt x="211048" y="36931"/>
                  </a:lnTo>
                  <a:lnTo>
                    <a:pt x="232156" y="36931"/>
                  </a:lnTo>
                  <a:lnTo>
                    <a:pt x="232156" y="0"/>
                  </a:lnTo>
                  <a:close/>
                </a:path>
                <a:path w="401320" h="401319">
                  <a:moveTo>
                    <a:pt x="269087" y="131889"/>
                  </a:moveTo>
                  <a:lnTo>
                    <a:pt x="131914" y="131889"/>
                  </a:lnTo>
                  <a:lnTo>
                    <a:pt x="131914" y="269049"/>
                  </a:lnTo>
                  <a:lnTo>
                    <a:pt x="269087" y="269049"/>
                  </a:lnTo>
                  <a:lnTo>
                    <a:pt x="269087" y="131889"/>
                  </a:lnTo>
                  <a:close/>
                </a:path>
                <a:path w="401320" h="401319">
                  <a:moveTo>
                    <a:pt x="274370" y="364007"/>
                  </a:moveTo>
                  <a:lnTo>
                    <a:pt x="253263" y="364007"/>
                  </a:lnTo>
                  <a:lnTo>
                    <a:pt x="253263" y="400939"/>
                  </a:lnTo>
                  <a:lnTo>
                    <a:pt x="274370" y="400939"/>
                  </a:lnTo>
                  <a:lnTo>
                    <a:pt x="274370" y="364007"/>
                  </a:lnTo>
                  <a:close/>
                </a:path>
                <a:path w="401320" h="401319">
                  <a:moveTo>
                    <a:pt x="274370" y="0"/>
                  </a:moveTo>
                  <a:lnTo>
                    <a:pt x="253263" y="0"/>
                  </a:lnTo>
                  <a:lnTo>
                    <a:pt x="253263" y="36931"/>
                  </a:lnTo>
                  <a:lnTo>
                    <a:pt x="274370" y="36931"/>
                  </a:lnTo>
                  <a:lnTo>
                    <a:pt x="274370" y="0"/>
                  </a:lnTo>
                  <a:close/>
                </a:path>
                <a:path w="401320" h="401319">
                  <a:moveTo>
                    <a:pt x="316572" y="364007"/>
                  </a:moveTo>
                  <a:lnTo>
                    <a:pt x="295478" y="364007"/>
                  </a:lnTo>
                  <a:lnTo>
                    <a:pt x="295478" y="400939"/>
                  </a:lnTo>
                  <a:lnTo>
                    <a:pt x="316572" y="400939"/>
                  </a:lnTo>
                  <a:lnTo>
                    <a:pt x="316572" y="364007"/>
                  </a:lnTo>
                  <a:close/>
                </a:path>
                <a:path w="401320" h="401319">
                  <a:moveTo>
                    <a:pt x="316572" y="0"/>
                  </a:moveTo>
                  <a:lnTo>
                    <a:pt x="295465" y="0"/>
                  </a:lnTo>
                  <a:lnTo>
                    <a:pt x="295465" y="36931"/>
                  </a:lnTo>
                  <a:lnTo>
                    <a:pt x="316572" y="36931"/>
                  </a:lnTo>
                  <a:lnTo>
                    <a:pt x="316572" y="0"/>
                  </a:lnTo>
                  <a:close/>
                </a:path>
                <a:path w="401320" h="401319">
                  <a:moveTo>
                    <a:pt x="342963" y="79133"/>
                  </a:moveTo>
                  <a:lnTo>
                    <a:pt x="341299" y="70916"/>
                  </a:lnTo>
                  <a:lnTo>
                    <a:pt x="336778" y="64211"/>
                  </a:lnTo>
                  <a:lnTo>
                    <a:pt x="330073" y="59690"/>
                  </a:lnTo>
                  <a:lnTo>
                    <a:pt x="321856" y="58026"/>
                  </a:lnTo>
                  <a:lnTo>
                    <a:pt x="290195" y="58026"/>
                  </a:lnTo>
                  <a:lnTo>
                    <a:pt x="290195" y="110782"/>
                  </a:lnTo>
                  <a:lnTo>
                    <a:pt x="290195" y="290156"/>
                  </a:lnTo>
                  <a:lnTo>
                    <a:pt x="110807" y="290156"/>
                  </a:lnTo>
                  <a:lnTo>
                    <a:pt x="110807" y="110782"/>
                  </a:lnTo>
                  <a:lnTo>
                    <a:pt x="290195" y="110782"/>
                  </a:lnTo>
                  <a:lnTo>
                    <a:pt x="290195" y="58026"/>
                  </a:lnTo>
                  <a:lnTo>
                    <a:pt x="79146" y="58026"/>
                  </a:lnTo>
                  <a:lnTo>
                    <a:pt x="70929" y="59690"/>
                  </a:lnTo>
                  <a:lnTo>
                    <a:pt x="64223" y="64211"/>
                  </a:lnTo>
                  <a:lnTo>
                    <a:pt x="59702" y="70916"/>
                  </a:lnTo>
                  <a:lnTo>
                    <a:pt x="58039" y="79133"/>
                  </a:lnTo>
                  <a:lnTo>
                    <a:pt x="58039" y="321805"/>
                  </a:lnTo>
                  <a:lnTo>
                    <a:pt x="59702" y="330022"/>
                  </a:lnTo>
                  <a:lnTo>
                    <a:pt x="64223" y="336727"/>
                  </a:lnTo>
                  <a:lnTo>
                    <a:pt x="70929" y="341249"/>
                  </a:lnTo>
                  <a:lnTo>
                    <a:pt x="79146" y="342912"/>
                  </a:lnTo>
                  <a:lnTo>
                    <a:pt x="321856" y="342912"/>
                  </a:lnTo>
                  <a:lnTo>
                    <a:pt x="330073" y="341249"/>
                  </a:lnTo>
                  <a:lnTo>
                    <a:pt x="336778" y="336727"/>
                  </a:lnTo>
                  <a:lnTo>
                    <a:pt x="341299" y="330022"/>
                  </a:lnTo>
                  <a:lnTo>
                    <a:pt x="342963" y="321805"/>
                  </a:lnTo>
                  <a:lnTo>
                    <a:pt x="342963" y="290156"/>
                  </a:lnTo>
                  <a:lnTo>
                    <a:pt x="342963" y="110782"/>
                  </a:lnTo>
                  <a:lnTo>
                    <a:pt x="342963" y="79133"/>
                  </a:lnTo>
                  <a:close/>
                </a:path>
                <a:path w="401320" h="401319">
                  <a:moveTo>
                    <a:pt x="401002" y="295427"/>
                  </a:moveTo>
                  <a:lnTo>
                    <a:pt x="364058" y="295427"/>
                  </a:lnTo>
                  <a:lnTo>
                    <a:pt x="364058" y="316534"/>
                  </a:lnTo>
                  <a:lnTo>
                    <a:pt x="401002" y="316534"/>
                  </a:lnTo>
                  <a:lnTo>
                    <a:pt x="401002" y="295427"/>
                  </a:lnTo>
                  <a:close/>
                </a:path>
                <a:path w="401320" h="401319">
                  <a:moveTo>
                    <a:pt x="401002" y="253225"/>
                  </a:moveTo>
                  <a:lnTo>
                    <a:pt x="364058" y="253225"/>
                  </a:lnTo>
                  <a:lnTo>
                    <a:pt x="364058" y="274332"/>
                  </a:lnTo>
                  <a:lnTo>
                    <a:pt x="401002" y="274332"/>
                  </a:lnTo>
                  <a:lnTo>
                    <a:pt x="401002" y="253225"/>
                  </a:lnTo>
                  <a:close/>
                </a:path>
                <a:path w="401320" h="401319">
                  <a:moveTo>
                    <a:pt x="401002" y="211023"/>
                  </a:moveTo>
                  <a:lnTo>
                    <a:pt x="364058" y="211023"/>
                  </a:lnTo>
                  <a:lnTo>
                    <a:pt x="364058" y="232117"/>
                  </a:lnTo>
                  <a:lnTo>
                    <a:pt x="401002" y="232117"/>
                  </a:lnTo>
                  <a:lnTo>
                    <a:pt x="401002" y="211023"/>
                  </a:lnTo>
                  <a:close/>
                </a:path>
                <a:path w="401320" h="401319">
                  <a:moveTo>
                    <a:pt x="401002" y="168821"/>
                  </a:moveTo>
                  <a:lnTo>
                    <a:pt x="364058" y="168821"/>
                  </a:lnTo>
                  <a:lnTo>
                    <a:pt x="364058" y="189915"/>
                  </a:lnTo>
                  <a:lnTo>
                    <a:pt x="401002" y="189915"/>
                  </a:lnTo>
                  <a:lnTo>
                    <a:pt x="401002" y="168821"/>
                  </a:lnTo>
                  <a:close/>
                </a:path>
                <a:path w="401320" h="401319">
                  <a:moveTo>
                    <a:pt x="401002" y="126606"/>
                  </a:moveTo>
                  <a:lnTo>
                    <a:pt x="364058" y="126606"/>
                  </a:lnTo>
                  <a:lnTo>
                    <a:pt x="364058" y="147713"/>
                  </a:lnTo>
                  <a:lnTo>
                    <a:pt x="401002" y="147713"/>
                  </a:lnTo>
                  <a:lnTo>
                    <a:pt x="401002" y="126606"/>
                  </a:lnTo>
                  <a:close/>
                </a:path>
                <a:path w="401320" h="401319">
                  <a:moveTo>
                    <a:pt x="401002" y="84404"/>
                  </a:moveTo>
                  <a:lnTo>
                    <a:pt x="364058" y="84404"/>
                  </a:lnTo>
                  <a:lnTo>
                    <a:pt x="364058" y="105511"/>
                  </a:lnTo>
                  <a:lnTo>
                    <a:pt x="401002" y="105511"/>
                  </a:lnTo>
                  <a:lnTo>
                    <a:pt x="401002" y="844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036311" y="2685034"/>
            <a:ext cx="2033270" cy="62992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>
              <a:lnSpc>
                <a:spcPts val="1540"/>
              </a:lnSpc>
              <a:spcBef>
                <a:spcPts val="27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TCP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defines another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algorithm called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congestion </a:t>
            </a:r>
            <a:r>
              <a:rPr sz="1400" b="1" spc="-3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avoidance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60463" y="2753995"/>
            <a:ext cx="1365250" cy="50165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1210"/>
              </a:lnSpc>
              <a:spcBef>
                <a:spcPts val="235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which increases the 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cwnd</a:t>
            </a:r>
            <a:r>
              <a:rPr sz="11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additively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instead </a:t>
            </a:r>
            <a:r>
              <a:rPr sz="1100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exponentially.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875532" y="3718559"/>
            <a:ext cx="4940935" cy="929640"/>
            <a:chOff x="3875532" y="3718559"/>
            <a:chExt cx="4940935" cy="929640"/>
          </a:xfrm>
        </p:grpSpPr>
        <p:sp>
          <p:nvSpPr>
            <p:cNvPr id="20" name="object 20"/>
            <p:cNvSpPr/>
            <p:nvPr/>
          </p:nvSpPr>
          <p:spPr>
            <a:xfrm>
              <a:off x="3875532" y="3718559"/>
              <a:ext cx="4940935" cy="929640"/>
            </a:xfrm>
            <a:custGeom>
              <a:avLst/>
              <a:gdLst/>
              <a:ahLst/>
              <a:cxnLst/>
              <a:rect l="l" t="t" r="r" b="b"/>
              <a:pathLst>
                <a:path w="4940934" h="929639">
                  <a:moveTo>
                    <a:pt x="4847844" y="0"/>
                  </a:moveTo>
                  <a:lnTo>
                    <a:pt x="92963" y="0"/>
                  </a:lnTo>
                  <a:lnTo>
                    <a:pt x="56792" y="7310"/>
                  </a:lnTo>
                  <a:lnTo>
                    <a:pt x="27241" y="27241"/>
                  </a:lnTo>
                  <a:lnTo>
                    <a:pt x="7310" y="56792"/>
                  </a:lnTo>
                  <a:lnTo>
                    <a:pt x="0" y="92963"/>
                  </a:lnTo>
                  <a:lnTo>
                    <a:pt x="0" y="836676"/>
                  </a:lnTo>
                  <a:lnTo>
                    <a:pt x="7310" y="872863"/>
                  </a:lnTo>
                  <a:lnTo>
                    <a:pt x="27241" y="902412"/>
                  </a:lnTo>
                  <a:lnTo>
                    <a:pt x="56792" y="922334"/>
                  </a:lnTo>
                  <a:lnTo>
                    <a:pt x="92963" y="929639"/>
                  </a:lnTo>
                  <a:lnTo>
                    <a:pt x="4847844" y="929639"/>
                  </a:lnTo>
                  <a:lnTo>
                    <a:pt x="4884015" y="922334"/>
                  </a:lnTo>
                  <a:lnTo>
                    <a:pt x="4913566" y="902412"/>
                  </a:lnTo>
                  <a:lnTo>
                    <a:pt x="4933497" y="872863"/>
                  </a:lnTo>
                  <a:lnTo>
                    <a:pt x="4940808" y="836676"/>
                  </a:lnTo>
                  <a:lnTo>
                    <a:pt x="4940808" y="92963"/>
                  </a:lnTo>
                  <a:lnTo>
                    <a:pt x="4933497" y="56792"/>
                  </a:lnTo>
                  <a:lnTo>
                    <a:pt x="4913566" y="27241"/>
                  </a:lnTo>
                  <a:lnTo>
                    <a:pt x="4884015" y="7310"/>
                  </a:lnTo>
                  <a:lnTo>
                    <a:pt x="484784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191914" y="4068114"/>
              <a:ext cx="441959" cy="226695"/>
            </a:xfrm>
            <a:custGeom>
              <a:avLst/>
              <a:gdLst/>
              <a:ahLst/>
              <a:cxnLst/>
              <a:rect l="l" t="t" r="r" b="b"/>
              <a:pathLst>
                <a:path w="441960" h="226695">
                  <a:moveTo>
                    <a:pt x="143776" y="190068"/>
                  </a:moveTo>
                  <a:lnTo>
                    <a:pt x="55562" y="190068"/>
                  </a:lnTo>
                  <a:lnTo>
                    <a:pt x="62064" y="206616"/>
                  </a:lnTo>
                  <a:lnTo>
                    <a:pt x="74002" y="218960"/>
                  </a:lnTo>
                  <a:lnTo>
                    <a:pt x="89700" y="225933"/>
                  </a:lnTo>
                  <a:lnTo>
                    <a:pt x="107480" y="226352"/>
                  </a:lnTo>
                  <a:lnTo>
                    <a:pt x="120497" y="221907"/>
                  </a:lnTo>
                  <a:lnTo>
                    <a:pt x="131343" y="213918"/>
                  </a:lnTo>
                  <a:lnTo>
                    <a:pt x="139331" y="203085"/>
                  </a:lnTo>
                  <a:lnTo>
                    <a:pt x="143776" y="190068"/>
                  </a:lnTo>
                  <a:close/>
                </a:path>
                <a:path w="441960" h="226695">
                  <a:moveTo>
                    <a:pt x="208699" y="68224"/>
                  </a:moveTo>
                  <a:lnTo>
                    <a:pt x="204927" y="55537"/>
                  </a:lnTo>
                  <a:lnTo>
                    <a:pt x="196507" y="42837"/>
                  </a:lnTo>
                  <a:lnTo>
                    <a:pt x="184670" y="37071"/>
                  </a:lnTo>
                  <a:lnTo>
                    <a:pt x="32664" y="37071"/>
                  </a:lnTo>
                  <a:lnTo>
                    <a:pt x="51003" y="73063"/>
                  </a:lnTo>
                  <a:lnTo>
                    <a:pt x="57454" y="74002"/>
                  </a:lnTo>
                  <a:lnTo>
                    <a:pt x="206616" y="74002"/>
                  </a:lnTo>
                  <a:lnTo>
                    <a:pt x="208699" y="68224"/>
                  </a:lnTo>
                  <a:close/>
                </a:path>
                <a:path w="441960" h="226695">
                  <a:moveTo>
                    <a:pt x="441477" y="147853"/>
                  </a:moveTo>
                  <a:lnTo>
                    <a:pt x="430072" y="121297"/>
                  </a:lnTo>
                  <a:lnTo>
                    <a:pt x="412102" y="103390"/>
                  </a:lnTo>
                  <a:lnTo>
                    <a:pt x="390791" y="92443"/>
                  </a:lnTo>
                  <a:lnTo>
                    <a:pt x="369392" y="86766"/>
                  </a:lnTo>
                  <a:lnTo>
                    <a:pt x="350342" y="41351"/>
                  </a:lnTo>
                  <a:lnTo>
                    <a:pt x="357251" y="42341"/>
                  </a:lnTo>
                  <a:lnTo>
                    <a:pt x="381952" y="42341"/>
                  </a:lnTo>
                  <a:lnTo>
                    <a:pt x="381952" y="139"/>
                  </a:lnTo>
                  <a:lnTo>
                    <a:pt x="348983" y="0"/>
                  </a:lnTo>
                  <a:lnTo>
                    <a:pt x="341185" y="3949"/>
                  </a:lnTo>
                  <a:lnTo>
                    <a:pt x="336410" y="10693"/>
                  </a:lnTo>
                  <a:lnTo>
                    <a:pt x="292252" y="10693"/>
                  </a:lnTo>
                  <a:lnTo>
                    <a:pt x="292252" y="31800"/>
                  </a:lnTo>
                  <a:lnTo>
                    <a:pt x="323913" y="31800"/>
                  </a:lnTo>
                  <a:lnTo>
                    <a:pt x="328104" y="46443"/>
                  </a:lnTo>
                  <a:lnTo>
                    <a:pt x="330492" y="62522"/>
                  </a:lnTo>
                  <a:lnTo>
                    <a:pt x="331584" y="98475"/>
                  </a:lnTo>
                  <a:lnTo>
                    <a:pt x="331190" y="103009"/>
                  </a:lnTo>
                  <a:lnTo>
                    <a:pt x="322986" y="127825"/>
                  </a:lnTo>
                  <a:lnTo>
                    <a:pt x="306489" y="146888"/>
                  </a:lnTo>
                  <a:lnTo>
                    <a:pt x="284035" y="158381"/>
                  </a:lnTo>
                  <a:lnTo>
                    <a:pt x="257987" y="160451"/>
                  </a:lnTo>
                  <a:lnTo>
                    <a:pt x="234378" y="152920"/>
                  </a:lnTo>
                  <a:lnTo>
                    <a:pt x="215760" y="137769"/>
                  </a:lnTo>
                  <a:lnTo>
                    <a:pt x="203784" y="116967"/>
                  </a:lnTo>
                  <a:lnTo>
                    <a:pt x="200126" y="89877"/>
                  </a:lnTo>
                  <a:lnTo>
                    <a:pt x="54775" y="89877"/>
                  </a:lnTo>
                  <a:lnTo>
                    <a:pt x="42443" y="102095"/>
                  </a:lnTo>
                  <a:lnTo>
                    <a:pt x="33553" y="116700"/>
                  </a:lnTo>
                  <a:lnTo>
                    <a:pt x="28435" y="133019"/>
                  </a:lnTo>
                  <a:lnTo>
                    <a:pt x="28016" y="153136"/>
                  </a:lnTo>
                  <a:lnTo>
                    <a:pt x="8915" y="153136"/>
                  </a:lnTo>
                  <a:lnTo>
                    <a:pt x="0" y="174231"/>
                  </a:lnTo>
                  <a:lnTo>
                    <a:pt x="180073" y="174231"/>
                  </a:lnTo>
                  <a:lnTo>
                    <a:pt x="193433" y="191376"/>
                  </a:lnTo>
                  <a:lnTo>
                    <a:pt x="199390" y="197840"/>
                  </a:lnTo>
                  <a:lnTo>
                    <a:pt x="206679" y="202526"/>
                  </a:lnTo>
                  <a:lnTo>
                    <a:pt x="214884" y="205270"/>
                  </a:lnTo>
                  <a:lnTo>
                    <a:pt x="223659" y="205892"/>
                  </a:lnTo>
                  <a:lnTo>
                    <a:pt x="334035" y="205892"/>
                  </a:lnTo>
                  <a:lnTo>
                    <a:pt x="329552" y="182245"/>
                  </a:lnTo>
                  <a:lnTo>
                    <a:pt x="334314" y="159499"/>
                  </a:lnTo>
                  <a:lnTo>
                    <a:pt x="347256" y="140195"/>
                  </a:lnTo>
                  <a:lnTo>
                    <a:pt x="367309" y="126885"/>
                  </a:lnTo>
                  <a:lnTo>
                    <a:pt x="387286" y="122466"/>
                  </a:lnTo>
                  <a:lnTo>
                    <a:pt x="407073" y="124815"/>
                  </a:lnTo>
                  <a:lnTo>
                    <a:pt x="425043" y="133426"/>
                  </a:lnTo>
                  <a:lnTo>
                    <a:pt x="439547" y="147853"/>
                  </a:lnTo>
                  <a:lnTo>
                    <a:pt x="441477" y="1478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6935" y="4205468"/>
              <a:ext cx="89695" cy="89684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036311" y="3946042"/>
            <a:ext cx="1536700" cy="43497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>
              <a:lnSpc>
                <a:spcPts val="1540"/>
              </a:lnSpc>
              <a:spcBef>
                <a:spcPts val="27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In the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congestion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oidan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al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ori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hm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60463" y="3839972"/>
            <a:ext cx="1466850" cy="65468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ct val="91600"/>
              </a:lnSpc>
              <a:spcBef>
                <a:spcPts val="215"/>
              </a:spcBef>
            </a:pPr>
            <a:r>
              <a:rPr sz="1100" b="1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1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size</a:t>
            </a:r>
            <a:r>
              <a:rPr sz="11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1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5" dirty="0">
                <a:solidFill>
                  <a:srgbClr val="FFFFFF"/>
                </a:solidFill>
                <a:latin typeface="Calibri"/>
                <a:cs typeface="Calibri"/>
              </a:rPr>
              <a:t>congestion window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5" dirty="0">
                <a:solidFill>
                  <a:srgbClr val="FFFFFF"/>
                </a:solidFill>
                <a:latin typeface="Calibri"/>
                <a:cs typeface="Calibri"/>
              </a:rPr>
              <a:t>increases additively until </a:t>
            </a:r>
            <a:r>
              <a:rPr sz="11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5" dirty="0">
                <a:solidFill>
                  <a:srgbClr val="FFFFFF"/>
                </a:solidFill>
                <a:latin typeface="Calibri"/>
                <a:cs typeface="Calibri"/>
              </a:rPr>
              <a:t>congestion</a:t>
            </a:r>
            <a:r>
              <a:rPr sz="11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1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5" dirty="0">
                <a:solidFill>
                  <a:srgbClr val="FFFFFF"/>
                </a:solidFill>
                <a:latin typeface="Calibri"/>
                <a:cs typeface="Calibri"/>
              </a:rPr>
              <a:t>detected.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3745" y="227838"/>
            <a:ext cx="3251200" cy="4422775"/>
            <a:chOff x="253745" y="227838"/>
            <a:chExt cx="3251200" cy="4422775"/>
          </a:xfrm>
        </p:grpSpPr>
        <p:sp>
          <p:nvSpPr>
            <p:cNvPr id="3" name="object 3"/>
            <p:cNvSpPr/>
            <p:nvPr/>
          </p:nvSpPr>
          <p:spPr>
            <a:xfrm>
              <a:off x="253745" y="227838"/>
              <a:ext cx="3251200" cy="4422775"/>
            </a:xfrm>
            <a:custGeom>
              <a:avLst/>
              <a:gdLst/>
              <a:ahLst/>
              <a:cxnLst/>
              <a:rect l="l" t="t" r="r" b="b"/>
              <a:pathLst>
                <a:path w="3251200" h="4422775">
                  <a:moveTo>
                    <a:pt x="3250692" y="0"/>
                  </a:moveTo>
                  <a:lnTo>
                    <a:pt x="0" y="0"/>
                  </a:lnTo>
                  <a:lnTo>
                    <a:pt x="0" y="4422648"/>
                  </a:lnTo>
                  <a:lnTo>
                    <a:pt x="3250692" y="4422648"/>
                  </a:lnTo>
                  <a:lnTo>
                    <a:pt x="325069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29589" y="1538477"/>
              <a:ext cx="2764155" cy="0"/>
            </a:xfrm>
            <a:custGeom>
              <a:avLst/>
              <a:gdLst/>
              <a:ahLst/>
              <a:cxnLst/>
              <a:rect l="l" t="t" r="r" b="b"/>
              <a:pathLst>
                <a:path w="2764154">
                  <a:moveTo>
                    <a:pt x="0" y="0"/>
                  </a:moveTo>
                  <a:lnTo>
                    <a:pt x="2763774" y="0"/>
                  </a:lnTo>
                </a:path>
              </a:pathLst>
            </a:custGeom>
            <a:ln w="22225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02945" y="176529"/>
            <a:ext cx="3352800" cy="4525010"/>
          </a:xfrm>
          <a:prstGeom prst="rect">
            <a:avLst/>
          </a:prstGeom>
          <a:ln w="25400">
            <a:solidFill>
              <a:srgbClr val="40404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 marL="334010">
              <a:lnSpc>
                <a:spcPts val="2620"/>
              </a:lnSpc>
            </a:pPr>
            <a:r>
              <a:rPr sz="2300" spc="-10" dirty="0">
                <a:solidFill>
                  <a:srgbClr val="FFFFFF"/>
                </a:solidFill>
                <a:latin typeface="Calibri Light"/>
                <a:cs typeface="Calibri Light"/>
              </a:rPr>
              <a:t>Congestion</a:t>
            </a:r>
            <a:r>
              <a:rPr sz="23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 Light"/>
                <a:cs typeface="Calibri Light"/>
              </a:rPr>
              <a:t>Avoidance:</a:t>
            </a:r>
            <a:endParaRPr sz="2300">
              <a:latin typeface="Calibri Light"/>
              <a:cs typeface="Calibri Light"/>
            </a:endParaRPr>
          </a:p>
          <a:p>
            <a:pPr marL="334010">
              <a:lnSpc>
                <a:spcPts val="2620"/>
              </a:lnSpc>
            </a:pPr>
            <a:r>
              <a:rPr sz="2300" spc="-10" dirty="0">
                <a:solidFill>
                  <a:srgbClr val="FFFFFF"/>
                </a:solidFill>
                <a:latin typeface="Calibri Light"/>
                <a:cs typeface="Calibri Light"/>
              </a:rPr>
              <a:t>Additive</a:t>
            </a:r>
            <a:r>
              <a:rPr sz="23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 Light"/>
                <a:cs typeface="Calibri Light"/>
              </a:rPr>
              <a:t>Increase</a:t>
            </a:r>
            <a:endParaRPr sz="23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50">
              <a:latin typeface="Calibri Light"/>
              <a:cs typeface="Calibri Light"/>
            </a:endParaRPr>
          </a:p>
          <a:p>
            <a:pPr marL="505459" marR="600075" indent="-172720">
              <a:lnSpc>
                <a:spcPts val="1080"/>
              </a:lnSpc>
              <a:buClr>
                <a:srgbClr val="FFFFFF"/>
              </a:buClr>
              <a:buFont typeface="Arial MT"/>
              <a:buChar char="•"/>
              <a:tabLst>
                <a:tab pos="561975" algn="l"/>
                <a:tab pos="562610" algn="l"/>
              </a:tabLst>
            </a:pPr>
            <a:r>
              <a:rPr dirty="0"/>
              <a:t>	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When the size</a:t>
            </a:r>
            <a:r>
              <a:rPr sz="1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congestion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window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reaches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slow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start</a:t>
            </a:r>
            <a:r>
              <a:rPr sz="1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threshold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in the case </a:t>
            </a:r>
            <a:r>
              <a:rPr sz="1000" spc="-2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sz="1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cwnd</a:t>
            </a:r>
            <a:r>
              <a:rPr sz="1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i,</a:t>
            </a:r>
            <a:endParaRPr sz="1000">
              <a:latin typeface="Calibri"/>
              <a:cs typeface="Calibri"/>
            </a:endParaRPr>
          </a:p>
          <a:p>
            <a:pPr marL="848360" marR="730250" lvl="1" indent="-228600">
              <a:lnSpc>
                <a:spcPts val="1080"/>
              </a:lnSpc>
              <a:spcBef>
                <a:spcPts val="395"/>
              </a:spcBef>
              <a:buFont typeface="Arial MT"/>
              <a:buChar char="•"/>
              <a:tabLst>
                <a:tab pos="848360" algn="l"/>
                <a:tab pos="848994" algn="l"/>
              </a:tabLst>
            </a:pP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the slow start phase stops and the </a:t>
            </a:r>
            <a:r>
              <a:rPr sz="1000" spc="-2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additive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phase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begins.</a:t>
            </a:r>
            <a:endParaRPr sz="1000">
              <a:latin typeface="Calibri"/>
              <a:cs typeface="Calibri"/>
            </a:endParaRPr>
          </a:p>
          <a:p>
            <a:pPr marL="561975" indent="-22923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561975" algn="l"/>
                <a:tab pos="562610" algn="l"/>
              </a:tabLst>
            </a:pP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algorithm,</a:t>
            </a:r>
            <a:endParaRPr sz="1000">
              <a:latin typeface="Calibri"/>
              <a:cs typeface="Calibri"/>
            </a:endParaRPr>
          </a:p>
          <a:p>
            <a:pPr marL="848360" marR="332740" lvl="1" indent="-228600">
              <a:lnSpc>
                <a:spcPts val="1080"/>
              </a:lnSpc>
              <a:spcBef>
                <a:spcPts val="415"/>
              </a:spcBef>
              <a:buFont typeface="Arial MT"/>
              <a:buChar char="•"/>
              <a:tabLst>
                <a:tab pos="848360" algn="l"/>
                <a:tab pos="848994" algn="l"/>
              </a:tabLst>
            </a:pP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1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the whole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“window”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segments</a:t>
            </a:r>
            <a:r>
              <a:rPr sz="10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is acknowledged,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size</a:t>
            </a:r>
            <a:r>
              <a:rPr sz="1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000" spc="-2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congestion</a:t>
            </a:r>
            <a:r>
              <a:rPr sz="1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window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increased</a:t>
            </a:r>
            <a:r>
              <a:rPr sz="1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one.</a:t>
            </a:r>
            <a:endParaRPr sz="1000">
              <a:latin typeface="Calibri"/>
              <a:cs typeface="Calibri"/>
            </a:endParaRPr>
          </a:p>
          <a:p>
            <a:pPr marL="505459" marR="384810" indent="-172720">
              <a:lnSpc>
                <a:spcPts val="1080"/>
              </a:lnSpc>
              <a:spcBef>
                <a:spcPts val="805"/>
              </a:spcBef>
              <a:buClr>
                <a:srgbClr val="FFFFFF"/>
              </a:buClr>
              <a:buFont typeface="Arial MT"/>
              <a:buChar char="•"/>
              <a:tabLst>
                <a:tab pos="591185" algn="l"/>
                <a:tab pos="591820" algn="l"/>
              </a:tabLst>
            </a:pPr>
            <a:r>
              <a:rPr dirty="0"/>
              <a:t>	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window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size</a:t>
            </a:r>
            <a:r>
              <a:rPr sz="1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increase</a:t>
            </a:r>
            <a:r>
              <a:rPr sz="1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RTT,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not </a:t>
            </a:r>
            <a:r>
              <a:rPr sz="1000" spc="-2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arrived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ACKs.</a:t>
            </a:r>
            <a:endParaRPr sz="1000">
              <a:latin typeface="Calibri"/>
              <a:cs typeface="Calibri"/>
            </a:endParaRPr>
          </a:p>
          <a:p>
            <a:pPr marL="505459" marR="448945" indent="-172720">
              <a:lnSpc>
                <a:spcPct val="90100"/>
              </a:lnSpc>
              <a:spcBef>
                <a:spcPts val="785"/>
              </a:spcBef>
              <a:buClr>
                <a:srgbClr val="FFFFFF"/>
              </a:buClr>
              <a:buFont typeface="Arial MT"/>
              <a:buChar char="•"/>
              <a:tabLst>
                <a:tab pos="561975" algn="l"/>
                <a:tab pos="562610" algn="l"/>
              </a:tabLst>
            </a:pPr>
            <a:r>
              <a:rPr dirty="0"/>
              <a:t>	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case,</a:t>
            </a:r>
            <a:r>
              <a:rPr sz="10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after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the sender</a:t>
            </a:r>
            <a:r>
              <a:rPr sz="1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received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acknowledgments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for a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complete</a:t>
            </a:r>
            <a:r>
              <a:rPr sz="1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window-size </a:t>
            </a:r>
            <a:r>
              <a:rPr sz="1000" spc="-2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segments,</a:t>
            </a:r>
            <a:endParaRPr sz="1000">
              <a:latin typeface="Calibri"/>
              <a:cs typeface="Calibri"/>
            </a:endParaRPr>
          </a:p>
          <a:p>
            <a:pPr marL="848360" marR="473075" lvl="1" indent="-228600">
              <a:lnSpc>
                <a:spcPts val="1080"/>
              </a:lnSpc>
              <a:spcBef>
                <a:spcPts val="409"/>
              </a:spcBef>
              <a:buFont typeface="Arial MT"/>
              <a:buChar char="•"/>
              <a:tabLst>
                <a:tab pos="848360" algn="l"/>
                <a:tab pos="848994" algn="l"/>
              </a:tabLst>
            </a:pP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size</a:t>
            </a:r>
            <a:r>
              <a:rPr sz="1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the window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increased</a:t>
            </a:r>
            <a:r>
              <a:rPr sz="10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one </a:t>
            </a:r>
            <a:r>
              <a:rPr sz="1000" spc="-2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segment.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6599" y="764513"/>
            <a:ext cx="4903442" cy="34633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454533"/>
            <a:ext cx="682879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10" dirty="0">
                <a:solidFill>
                  <a:srgbClr val="000000"/>
                </a:solidFill>
                <a:latin typeface="Calibri Light"/>
                <a:cs typeface="Calibri Light"/>
              </a:rPr>
              <a:t>Congestion </a:t>
            </a:r>
            <a:r>
              <a:rPr sz="3300" spc="-15" dirty="0">
                <a:solidFill>
                  <a:srgbClr val="000000"/>
                </a:solidFill>
                <a:latin typeface="Calibri Light"/>
                <a:cs typeface="Calibri Light"/>
              </a:rPr>
              <a:t>Avoidance:</a:t>
            </a:r>
            <a:r>
              <a:rPr sz="3300" spc="-3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300" spc="-10" dirty="0">
                <a:solidFill>
                  <a:srgbClr val="000000"/>
                </a:solidFill>
                <a:latin typeface="Calibri Light"/>
                <a:cs typeface="Calibri Light"/>
              </a:rPr>
              <a:t>Additive </a:t>
            </a:r>
            <a:r>
              <a:rPr sz="3300" spc="-15" dirty="0">
                <a:solidFill>
                  <a:srgbClr val="000000"/>
                </a:solidFill>
                <a:latin typeface="Calibri Light"/>
                <a:cs typeface="Calibri Light"/>
              </a:rPr>
              <a:t>Increase</a:t>
            </a:r>
            <a:endParaRPr sz="33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9412" y="1738883"/>
            <a:ext cx="3886200" cy="2525395"/>
          </a:xfrm>
          <a:custGeom>
            <a:avLst/>
            <a:gdLst/>
            <a:ahLst/>
            <a:cxnLst/>
            <a:rect l="l" t="t" r="r" b="b"/>
            <a:pathLst>
              <a:path w="3886200" h="2525395">
                <a:moveTo>
                  <a:pt x="3886200" y="2126488"/>
                </a:moveTo>
                <a:lnTo>
                  <a:pt x="3879926" y="2095436"/>
                </a:lnTo>
                <a:lnTo>
                  <a:pt x="3862844" y="2070087"/>
                </a:lnTo>
                <a:lnTo>
                  <a:pt x="3837495" y="2053005"/>
                </a:lnTo>
                <a:lnTo>
                  <a:pt x="3806444" y="2046732"/>
                </a:lnTo>
                <a:lnTo>
                  <a:pt x="79756" y="2046732"/>
                </a:lnTo>
                <a:lnTo>
                  <a:pt x="48704" y="2053005"/>
                </a:lnTo>
                <a:lnTo>
                  <a:pt x="23355" y="2070087"/>
                </a:lnTo>
                <a:lnTo>
                  <a:pt x="6261" y="2095436"/>
                </a:lnTo>
                <a:lnTo>
                  <a:pt x="0" y="2126488"/>
                </a:lnTo>
                <a:lnTo>
                  <a:pt x="0" y="2445512"/>
                </a:lnTo>
                <a:lnTo>
                  <a:pt x="6261" y="2476563"/>
                </a:lnTo>
                <a:lnTo>
                  <a:pt x="23355" y="2501912"/>
                </a:lnTo>
                <a:lnTo>
                  <a:pt x="48704" y="2519007"/>
                </a:lnTo>
                <a:lnTo>
                  <a:pt x="79756" y="2525268"/>
                </a:lnTo>
                <a:lnTo>
                  <a:pt x="3806444" y="2525268"/>
                </a:lnTo>
                <a:lnTo>
                  <a:pt x="3837495" y="2519007"/>
                </a:lnTo>
                <a:lnTo>
                  <a:pt x="3862844" y="2501912"/>
                </a:lnTo>
                <a:lnTo>
                  <a:pt x="3879926" y="2476563"/>
                </a:lnTo>
                <a:lnTo>
                  <a:pt x="3886200" y="2445512"/>
                </a:lnTo>
                <a:lnTo>
                  <a:pt x="3886200" y="2126488"/>
                </a:lnTo>
                <a:close/>
              </a:path>
              <a:path w="3886200" h="2525395">
                <a:moveTo>
                  <a:pt x="3886200" y="1615694"/>
                </a:moveTo>
                <a:lnTo>
                  <a:pt x="3879951" y="1584744"/>
                </a:lnTo>
                <a:lnTo>
                  <a:pt x="3862921" y="1559471"/>
                </a:lnTo>
                <a:lnTo>
                  <a:pt x="3837648" y="1542440"/>
                </a:lnTo>
                <a:lnTo>
                  <a:pt x="3806698" y="1536192"/>
                </a:lnTo>
                <a:lnTo>
                  <a:pt x="79502" y="1536192"/>
                </a:lnTo>
                <a:lnTo>
                  <a:pt x="48552" y="1542440"/>
                </a:lnTo>
                <a:lnTo>
                  <a:pt x="23279" y="1559471"/>
                </a:lnTo>
                <a:lnTo>
                  <a:pt x="6235" y="1584744"/>
                </a:lnTo>
                <a:lnTo>
                  <a:pt x="0" y="1615694"/>
                </a:lnTo>
                <a:lnTo>
                  <a:pt x="0" y="1933702"/>
                </a:lnTo>
                <a:lnTo>
                  <a:pt x="6235" y="1964664"/>
                </a:lnTo>
                <a:lnTo>
                  <a:pt x="23279" y="1989937"/>
                </a:lnTo>
                <a:lnTo>
                  <a:pt x="48552" y="2006968"/>
                </a:lnTo>
                <a:lnTo>
                  <a:pt x="79502" y="2013204"/>
                </a:lnTo>
                <a:lnTo>
                  <a:pt x="3806698" y="2013204"/>
                </a:lnTo>
                <a:lnTo>
                  <a:pt x="3837648" y="2006968"/>
                </a:lnTo>
                <a:lnTo>
                  <a:pt x="3862921" y="1989937"/>
                </a:lnTo>
                <a:lnTo>
                  <a:pt x="3879951" y="1964664"/>
                </a:lnTo>
                <a:lnTo>
                  <a:pt x="3886200" y="1933702"/>
                </a:lnTo>
                <a:lnTo>
                  <a:pt x="3886200" y="1615694"/>
                </a:lnTo>
                <a:close/>
              </a:path>
              <a:path w="3886200" h="2525395">
                <a:moveTo>
                  <a:pt x="3886200" y="1103630"/>
                </a:moveTo>
                <a:lnTo>
                  <a:pt x="3879951" y="1072680"/>
                </a:lnTo>
                <a:lnTo>
                  <a:pt x="3862921" y="1047407"/>
                </a:lnTo>
                <a:lnTo>
                  <a:pt x="3837648" y="1030376"/>
                </a:lnTo>
                <a:lnTo>
                  <a:pt x="3806698" y="1024128"/>
                </a:lnTo>
                <a:lnTo>
                  <a:pt x="79502" y="1024128"/>
                </a:lnTo>
                <a:lnTo>
                  <a:pt x="48552" y="1030376"/>
                </a:lnTo>
                <a:lnTo>
                  <a:pt x="23279" y="1047407"/>
                </a:lnTo>
                <a:lnTo>
                  <a:pt x="6235" y="1072680"/>
                </a:lnTo>
                <a:lnTo>
                  <a:pt x="0" y="1103630"/>
                </a:lnTo>
                <a:lnTo>
                  <a:pt x="0" y="1421638"/>
                </a:lnTo>
                <a:lnTo>
                  <a:pt x="6235" y="1452600"/>
                </a:lnTo>
                <a:lnTo>
                  <a:pt x="23279" y="1477873"/>
                </a:lnTo>
                <a:lnTo>
                  <a:pt x="48552" y="1494904"/>
                </a:lnTo>
                <a:lnTo>
                  <a:pt x="79502" y="1501140"/>
                </a:lnTo>
                <a:lnTo>
                  <a:pt x="3806698" y="1501140"/>
                </a:lnTo>
                <a:lnTo>
                  <a:pt x="3837648" y="1494904"/>
                </a:lnTo>
                <a:lnTo>
                  <a:pt x="3862921" y="1477873"/>
                </a:lnTo>
                <a:lnTo>
                  <a:pt x="3879951" y="1452600"/>
                </a:lnTo>
                <a:lnTo>
                  <a:pt x="3886200" y="1421638"/>
                </a:lnTo>
                <a:lnTo>
                  <a:pt x="3886200" y="1103630"/>
                </a:lnTo>
                <a:close/>
              </a:path>
              <a:path w="3886200" h="2525395">
                <a:moveTo>
                  <a:pt x="3886200" y="591566"/>
                </a:moveTo>
                <a:lnTo>
                  <a:pt x="3879951" y="560616"/>
                </a:lnTo>
                <a:lnTo>
                  <a:pt x="3862921" y="535343"/>
                </a:lnTo>
                <a:lnTo>
                  <a:pt x="3837648" y="518312"/>
                </a:lnTo>
                <a:lnTo>
                  <a:pt x="3806698" y="512064"/>
                </a:lnTo>
                <a:lnTo>
                  <a:pt x="79502" y="512064"/>
                </a:lnTo>
                <a:lnTo>
                  <a:pt x="48552" y="518312"/>
                </a:lnTo>
                <a:lnTo>
                  <a:pt x="23279" y="535343"/>
                </a:lnTo>
                <a:lnTo>
                  <a:pt x="6235" y="560616"/>
                </a:lnTo>
                <a:lnTo>
                  <a:pt x="0" y="591566"/>
                </a:lnTo>
                <a:lnTo>
                  <a:pt x="0" y="909574"/>
                </a:lnTo>
                <a:lnTo>
                  <a:pt x="6235" y="940536"/>
                </a:lnTo>
                <a:lnTo>
                  <a:pt x="23279" y="965809"/>
                </a:lnTo>
                <a:lnTo>
                  <a:pt x="48552" y="982840"/>
                </a:lnTo>
                <a:lnTo>
                  <a:pt x="79502" y="989076"/>
                </a:lnTo>
                <a:lnTo>
                  <a:pt x="3806698" y="989076"/>
                </a:lnTo>
                <a:lnTo>
                  <a:pt x="3837648" y="982840"/>
                </a:lnTo>
                <a:lnTo>
                  <a:pt x="3862921" y="965809"/>
                </a:lnTo>
                <a:lnTo>
                  <a:pt x="3879951" y="940536"/>
                </a:lnTo>
                <a:lnTo>
                  <a:pt x="3886200" y="909574"/>
                </a:lnTo>
                <a:lnTo>
                  <a:pt x="3886200" y="591566"/>
                </a:lnTo>
                <a:close/>
              </a:path>
              <a:path w="3886200" h="2525395">
                <a:moveTo>
                  <a:pt x="3886200" y="79502"/>
                </a:moveTo>
                <a:lnTo>
                  <a:pt x="3879951" y="48552"/>
                </a:lnTo>
                <a:lnTo>
                  <a:pt x="3862921" y="23279"/>
                </a:lnTo>
                <a:lnTo>
                  <a:pt x="3837648" y="6248"/>
                </a:lnTo>
                <a:lnTo>
                  <a:pt x="3806698" y="0"/>
                </a:lnTo>
                <a:lnTo>
                  <a:pt x="79502" y="0"/>
                </a:lnTo>
                <a:lnTo>
                  <a:pt x="48552" y="6248"/>
                </a:lnTo>
                <a:lnTo>
                  <a:pt x="23279" y="23279"/>
                </a:lnTo>
                <a:lnTo>
                  <a:pt x="6235" y="48552"/>
                </a:lnTo>
                <a:lnTo>
                  <a:pt x="0" y="79502"/>
                </a:lnTo>
                <a:lnTo>
                  <a:pt x="0" y="397510"/>
                </a:lnTo>
                <a:lnTo>
                  <a:pt x="6235" y="428472"/>
                </a:lnTo>
                <a:lnTo>
                  <a:pt x="23279" y="453745"/>
                </a:lnTo>
                <a:lnTo>
                  <a:pt x="48552" y="470776"/>
                </a:lnTo>
                <a:lnTo>
                  <a:pt x="79502" y="477012"/>
                </a:lnTo>
                <a:lnTo>
                  <a:pt x="3806698" y="477012"/>
                </a:lnTo>
                <a:lnTo>
                  <a:pt x="3837648" y="470776"/>
                </a:lnTo>
                <a:lnTo>
                  <a:pt x="3862921" y="453745"/>
                </a:lnTo>
                <a:lnTo>
                  <a:pt x="3879951" y="428472"/>
                </a:lnTo>
                <a:lnTo>
                  <a:pt x="3886200" y="397510"/>
                </a:lnTo>
                <a:lnTo>
                  <a:pt x="3886200" y="79502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4987" y="1771904"/>
            <a:ext cx="3514090" cy="234061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1320"/>
              </a:lnSpc>
              <a:spcBef>
                <a:spcPts val="24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If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we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look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at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size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of cwnd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terms of round-trip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time </a:t>
            </a:r>
            <a:r>
              <a:rPr sz="1200" spc="-2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(RTT),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12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find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that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rate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additive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shown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below: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Start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→</a:t>
            </a: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cwnd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endParaRPr sz="1200">
              <a:latin typeface="Calibri"/>
              <a:cs typeface="Calibri"/>
            </a:endParaRPr>
          </a:p>
          <a:p>
            <a:pPr marL="12700" marR="1837689" algn="just">
              <a:lnSpc>
                <a:spcPct val="280000"/>
              </a:lnSpc>
            </a:pP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After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RTT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→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cwnd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1 </a:t>
            </a:r>
            <a:r>
              <a:rPr sz="1200" b="1" spc="-2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After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RTT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→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cwnd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2 </a:t>
            </a:r>
            <a:r>
              <a:rPr sz="1200" b="1" spc="-2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After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RTT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→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cwnd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0024" y="1447264"/>
            <a:ext cx="4376401" cy="34633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184904" cy="51435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611630" y="1206753"/>
            <a:ext cx="2104390" cy="17176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 indent="362585" algn="r">
              <a:lnSpc>
                <a:spcPct val="90000"/>
              </a:lnSpc>
              <a:spcBef>
                <a:spcPts val="459"/>
              </a:spcBef>
            </a:pPr>
            <a:r>
              <a:rPr sz="3000" spc="-5" dirty="0">
                <a:solidFill>
                  <a:srgbClr val="FFFFFF"/>
                </a:solidFill>
                <a:latin typeface="Calibri Light"/>
                <a:cs typeface="Calibri Light"/>
              </a:rPr>
              <a:t>Con</a:t>
            </a:r>
            <a:r>
              <a:rPr sz="3000" spc="-30" dirty="0">
                <a:solidFill>
                  <a:srgbClr val="FFFFFF"/>
                </a:solidFill>
                <a:latin typeface="Calibri Light"/>
                <a:cs typeface="Calibri Light"/>
              </a:rPr>
              <a:t>g</a:t>
            </a:r>
            <a:r>
              <a:rPr sz="3000" spc="-5" dirty="0">
                <a:solidFill>
                  <a:srgbClr val="FFFFFF"/>
                </a:solidFill>
                <a:latin typeface="Calibri Light"/>
                <a:cs typeface="Calibri Light"/>
              </a:rPr>
              <a:t>e</a:t>
            </a:r>
            <a:r>
              <a:rPr sz="3000" spc="-30" dirty="0">
                <a:solidFill>
                  <a:srgbClr val="FFFFFF"/>
                </a:solidFill>
                <a:latin typeface="Calibri Light"/>
                <a:cs typeface="Calibri Light"/>
              </a:rPr>
              <a:t>s</a:t>
            </a:r>
            <a:r>
              <a:rPr sz="3000" dirty="0">
                <a:solidFill>
                  <a:srgbClr val="FFFFFF"/>
                </a:solidFill>
                <a:latin typeface="Calibri Light"/>
                <a:cs typeface="Calibri Light"/>
              </a:rPr>
              <a:t>ti</a:t>
            </a:r>
            <a:r>
              <a:rPr sz="3000" spc="-10" dirty="0">
                <a:solidFill>
                  <a:srgbClr val="FFFFFF"/>
                </a:solidFill>
                <a:latin typeface="Calibri Light"/>
                <a:cs typeface="Calibri Light"/>
              </a:rPr>
              <a:t>o</a:t>
            </a:r>
            <a:r>
              <a:rPr sz="3000" dirty="0">
                <a:solidFill>
                  <a:srgbClr val="FFFFFF"/>
                </a:solidFill>
                <a:latin typeface="Calibri Light"/>
                <a:cs typeface="Calibri Light"/>
              </a:rPr>
              <a:t>n  </a:t>
            </a:r>
            <a:r>
              <a:rPr sz="3000" spc="-10" dirty="0">
                <a:solidFill>
                  <a:srgbClr val="FFFFFF"/>
                </a:solidFill>
                <a:latin typeface="Calibri Light"/>
                <a:cs typeface="Calibri Light"/>
              </a:rPr>
              <a:t>Detection: </a:t>
            </a:r>
            <a:r>
              <a:rPr sz="30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000" dirty="0">
                <a:solidFill>
                  <a:srgbClr val="FFFFFF"/>
                </a:solidFill>
                <a:latin typeface="Calibri Light"/>
                <a:cs typeface="Calibri Light"/>
              </a:rPr>
              <a:t>Multipli</a:t>
            </a:r>
            <a:r>
              <a:rPr sz="3000" spc="-25" dirty="0">
                <a:solidFill>
                  <a:srgbClr val="FFFFFF"/>
                </a:solidFill>
                <a:latin typeface="Calibri Light"/>
                <a:cs typeface="Calibri Light"/>
              </a:rPr>
              <a:t>c</a:t>
            </a:r>
            <a:r>
              <a:rPr sz="3000" spc="-2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3000" dirty="0">
                <a:solidFill>
                  <a:srgbClr val="FFFFFF"/>
                </a:solidFill>
                <a:latin typeface="Calibri Light"/>
                <a:cs typeface="Calibri Light"/>
              </a:rPr>
              <a:t>ti</a:t>
            </a:r>
            <a:r>
              <a:rPr sz="3000" spc="-25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r>
              <a:rPr sz="3000" dirty="0">
                <a:solidFill>
                  <a:srgbClr val="FFFFFF"/>
                </a:solidFill>
                <a:latin typeface="Calibri Light"/>
                <a:cs typeface="Calibri Light"/>
              </a:rPr>
              <a:t>e</a:t>
            </a:r>
            <a:endParaRPr sz="3000">
              <a:latin typeface="Calibri Light"/>
              <a:cs typeface="Calibri Light"/>
            </a:endParaRPr>
          </a:p>
          <a:p>
            <a:pPr marR="9525" algn="r">
              <a:lnSpc>
                <a:spcPts val="3240"/>
              </a:lnSpc>
            </a:pPr>
            <a:r>
              <a:rPr sz="3000" spc="-10" dirty="0">
                <a:solidFill>
                  <a:srgbClr val="FFFFFF"/>
                </a:solidFill>
                <a:latin typeface="Calibri Light"/>
                <a:cs typeface="Calibri Light"/>
              </a:rPr>
              <a:t>Decrease</a:t>
            </a:r>
            <a:endParaRPr sz="30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57064" y="628268"/>
            <a:ext cx="161417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85420" algn="l"/>
              </a:tabLst>
            </a:pPr>
            <a:r>
              <a:rPr sz="1300" spc="-155" dirty="0">
                <a:latin typeface="Tahoma"/>
                <a:cs typeface="Tahoma"/>
              </a:rPr>
              <a:t>I</a:t>
            </a:r>
            <a:r>
              <a:rPr sz="1300" spc="-40" dirty="0">
                <a:latin typeface="Tahoma"/>
                <a:cs typeface="Tahoma"/>
              </a:rPr>
              <a:t>f</a:t>
            </a:r>
            <a:r>
              <a:rPr sz="1300" spc="-155" dirty="0">
                <a:latin typeface="Tahoma"/>
                <a:cs typeface="Tahoma"/>
              </a:rPr>
              <a:t> </a:t>
            </a:r>
            <a:r>
              <a:rPr sz="1300" spc="-25" dirty="0">
                <a:latin typeface="Tahoma"/>
                <a:cs typeface="Tahoma"/>
              </a:rPr>
              <a:t>congest</a:t>
            </a:r>
            <a:r>
              <a:rPr sz="1300" spc="20" dirty="0">
                <a:latin typeface="Tahoma"/>
                <a:cs typeface="Tahoma"/>
              </a:rPr>
              <a:t>i</a:t>
            </a:r>
            <a:r>
              <a:rPr sz="1300" spc="-5" dirty="0">
                <a:latin typeface="Tahoma"/>
                <a:cs typeface="Tahoma"/>
              </a:rPr>
              <a:t>o</a:t>
            </a:r>
            <a:r>
              <a:rPr sz="1300" spc="-20" dirty="0">
                <a:latin typeface="Tahoma"/>
                <a:cs typeface="Tahoma"/>
              </a:rPr>
              <a:t>n</a:t>
            </a:r>
            <a:r>
              <a:rPr sz="1300" spc="-145" dirty="0">
                <a:latin typeface="Tahoma"/>
                <a:cs typeface="Tahoma"/>
              </a:rPr>
              <a:t> </a:t>
            </a:r>
            <a:r>
              <a:rPr sz="1300" spc="-5" dirty="0">
                <a:latin typeface="Tahoma"/>
                <a:cs typeface="Tahoma"/>
              </a:rPr>
              <a:t>o</a:t>
            </a:r>
            <a:r>
              <a:rPr sz="1300" spc="-10" dirty="0">
                <a:latin typeface="Tahoma"/>
                <a:cs typeface="Tahoma"/>
              </a:rPr>
              <a:t>c</a:t>
            </a:r>
            <a:r>
              <a:rPr sz="1300" spc="-20" dirty="0">
                <a:latin typeface="Tahoma"/>
                <a:cs typeface="Tahoma"/>
              </a:rPr>
              <a:t>c</a:t>
            </a:r>
            <a:r>
              <a:rPr sz="1300" spc="-30" dirty="0">
                <a:latin typeface="Tahoma"/>
                <a:cs typeface="Tahoma"/>
              </a:rPr>
              <a:t>ur</a:t>
            </a:r>
            <a:r>
              <a:rPr sz="1300" spc="-35" dirty="0">
                <a:latin typeface="Tahoma"/>
                <a:cs typeface="Tahoma"/>
              </a:rPr>
              <a:t>s</a:t>
            </a:r>
            <a:r>
              <a:rPr sz="1300" spc="-75" dirty="0">
                <a:latin typeface="Tahoma"/>
                <a:cs typeface="Tahoma"/>
              </a:rPr>
              <a:t>,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99964" y="856564"/>
            <a:ext cx="3021330" cy="3611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720">
              <a:lnSpc>
                <a:spcPts val="1485"/>
              </a:lnSpc>
              <a:spcBef>
                <a:spcPts val="95"/>
              </a:spcBef>
              <a:buFont typeface="Arial MT"/>
              <a:buChar char="•"/>
              <a:tabLst>
                <a:tab pos="185420" algn="l"/>
              </a:tabLst>
            </a:pPr>
            <a:r>
              <a:rPr sz="1300" dirty="0">
                <a:latin typeface="Tahoma"/>
                <a:cs typeface="Tahoma"/>
              </a:rPr>
              <a:t>t</a:t>
            </a:r>
            <a:r>
              <a:rPr sz="1300" spc="-30" dirty="0">
                <a:latin typeface="Tahoma"/>
                <a:cs typeface="Tahoma"/>
              </a:rPr>
              <a:t>he</a:t>
            </a:r>
            <a:r>
              <a:rPr sz="1300" spc="-145" dirty="0">
                <a:latin typeface="Tahoma"/>
                <a:cs typeface="Tahoma"/>
              </a:rPr>
              <a:t> </a:t>
            </a:r>
            <a:r>
              <a:rPr sz="1300" spc="-15" dirty="0">
                <a:latin typeface="Tahoma"/>
                <a:cs typeface="Tahoma"/>
              </a:rPr>
              <a:t>c</a:t>
            </a:r>
            <a:r>
              <a:rPr sz="1300" spc="-5" dirty="0">
                <a:latin typeface="Tahoma"/>
                <a:cs typeface="Tahoma"/>
              </a:rPr>
              <a:t>o</a:t>
            </a:r>
            <a:r>
              <a:rPr sz="1300" spc="-40" dirty="0">
                <a:latin typeface="Tahoma"/>
                <a:cs typeface="Tahoma"/>
              </a:rPr>
              <a:t>n</a:t>
            </a:r>
            <a:r>
              <a:rPr sz="1300" spc="-50" dirty="0">
                <a:latin typeface="Tahoma"/>
                <a:cs typeface="Tahoma"/>
              </a:rPr>
              <a:t>g</a:t>
            </a:r>
            <a:r>
              <a:rPr sz="1300" spc="-45" dirty="0">
                <a:latin typeface="Tahoma"/>
                <a:cs typeface="Tahoma"/>
              </a:rPr>
              <a:t>es</a:t>
            </a:r>
            <a:r>
              <a:rPr sz="1300" dirty="0">
                <a:latin typeface="Tahoma"/>
                <a:cs typeface="Tahoma"/>
              </a:rPr>
              <a:t>t</a:t>
            </a:r>
            <a:r>
              <a:rPr sz="1300" spc="20" dirty="0">
                <a:latin typeface="Tahoma"/>
                <a:cs typeface="Tahoma"/>
              </a:rPr>
              <a:t>i</a:t>
            </a:r>
            <a:r>
              <a:rPr sz="1300" spc="-5" dirty="0">
                <a:latin typeface="Tahoma"/>
                <a:cs typeface="Tahoma"/>
              </a:rPr>
              <a:t>o</a:t>
            </a:r>
            <a:r>
              <a:rPr sz="1300" spc="-15" dirty="0">
                <a:latin typeface="Tahoma"/>
                <a:cs typeface="Tahoma"/>
              </a:rPr>
              <a:t>n</a:t>
            </a:r>
            <a:r>
              <a:rPr sz="1300" spc="-150" dirty="0">
                <a:latin typeface="Tahoma"/>
                <a:cs typeface="Tahoma"/>
              </a:rPr>
              <a:t> </a:t>
            </a:r>
            <a:r>
              <a:rPr sz="1300" spc="-30" dirty="0">
                <a:latin typeface="Tahoma"/>
                <a:cs typeface="Tahoma"/>
              </a:rPr>
              <a:t>w</a:t>
            </a:r>
            <a:r>
              <a:rPr sz="1300" spc="20" dirty="0">
                <a:latin typeface="Tahoma"/>
                <a:cs typeface="Tahoma"/>
              </a:rPr>
              <a:t>i</a:t>
            </a:r>
            <a:r>
              <a:rPr sz="1300" spc="-15" dirty="0">
                <a:latin typeface="Tahoma"/>
                <a:cs typeface="Tahoma"/>
              </a:rPr>
              <a:t>ndow</a:t>
            </a:r>
            <a:r>
              <a:rPr sz="1300" spc="-145" dirty="0">
                <a:latin typeface="Tahoma"/>
                <a:cs typeface="Tahoma"/>
              </a:rPr>
              <a:t> </a:t>
            </a:r>
            <a:r>
              <a:rPr sz="1300" spc="-45" dirty="0">
                <a:latin typeface="Tahoma"/>
                <a:cs typeface="Tahoma"/>
              </a:rPr>
              <a:t>s</a:t>
            </a:r>
            <a:r>
              <a:rPr sz="1300" spc="20" dirty="0">
                <a:latin typeface="Tahoma"/>
                <a:cs typeface="Tahoma"/>
              </a:rPr>
              <a:t>i</a:t>
            </a:r>
            <a:r>
              <a:rPr sz="1300" spc="-35" dirty="0">
                <a:latin typeface="Tahoma"/>
                <a:cs typeface="Tahoma"/>
              </a:rPr>
              <a:t>ze</a:t>
            </a:r>
            <a:r>
              <a:rPr sz="1300" spc="-130" dirty="0">
                <a:latin typeface="Tahoma"/>
                <a:cs typeface="Tahoma"/>
              </a:rPr>
              <a:t> </a:t>
            </a:r>
            <a:r>
              <a:rPr sz="1300" spc="-20" dirty="0">
                <a:latin typeface="Tahoma"/>
                <a:cs typeface="Tahoma"/>
              </a:rPr>
              <a:t>mu</a:t>
            </a:r>
            <a:r>
              <a:rPr sz="1300" spc="-45" dirty="0">
                <a:latin typeface="Tahoma"/>
                <a:cs typeface="Tahoma"/>
              </a:rPr>
              <a:t>s</a:t>
            </a:r>
            <a:r>
              <a:rPr sz="1300" dirty="0">
                <a:latin typeface="Tahoma"/>
                <a:cs typeface="Tahoma"/>
              </a:rPr>
              <a:t>t</a:t>
            </a:r>
            <a:r>
              <a:rPr sz="1300" spc="-145" dirty="0">
                <a:latin typeface="Tahoma"/>
                <a:cs typeface="Tahoma"/>
              </a:rPr>
              <a:t> </a:t>
            </a:r>
            <a:r>
              <a:rPr sz="1300" spc="-25" dirty="0">
                <a:latin typeface="Tahoma"/>
                <a:cs typeface="Tahoma"/>
              </a:rPr>
              <a:t>be</a:t>
            </a:r>
            <a:endParaRPr sz="1300">
              <a:latin typeface="Tahoma"/>
              <a:cs typeface="Tahoma"/>
            </a:endParaRPr>
          </a:p>
          <a:p>
            <a:pPr marL="184785">
              <a:lnSpc>
                <a:spcPts val="1485"/>
              </a:lnSpc>
            </a:pPr>
            <a:r>
              <a:rPr sz="1300" spc="-35" dirty="0">
                <a:latin typeface="Tahoma"/>
                <a:cs typeface="Tahoma"/>
              </a:rPr>
              <a:t>decreased.</a:t>
            </a:r>
            <a:endParaRPr sz="1300">
              <a:latin typeface="Tahoma"/>
              <a:cs typeface="Tahoma"/>
            </a:endParaRPr>
          </a:p>
          <a:p>
            <a:pPr marL="184785" marR="172085" indent="-172720">
              <a:lnSpc>
                <a:spcPts val="1400"/>
              </a:lnSpc>
              <a:spcBef>
                <a:spcPts val="420"/>
              </a:spcBef>
              <a:buFont typeface="Arial MT"/>
              <a:buChar char="•"/>
              <a:tabLst>
                <a:tab pos="185420" algn="l"/>
              </a:tabLst>
            </a:pPr>
            <a:r>
              <a:rPr sz="1300" spc="-45" dirty="0">
                <a:latin typeface="Tahoma"/>
                <a:cs typeface="Tahoma"/>
              </a:rPr>
              <a:t>The</a:t>
            </a:r>
            <a:r>
              <a:rPr sz="1300" spc="-130" dirty="0">
                <a:latin typeface="Tahoma"/>
                <a:cs typeface="Tahoma"/>
              </a:rPr>
              <a:t> </a:t>
            </a:r>
            <a:r>
              <a:rPr sz="1300" spc="-5" dirty="0">
                <a:latin typeface="Tahoma"/>
                <a:cs typeface="Tahoma"/>
              </a:rPr>
              <a:t>o</a:t>
            </a:r>
            <a:r>
              <a:rPr sz="1300" spc="5" dirty="0">
                <a:latin typeface="Tahoma"/>
                <a:cs typeface="Tahoma"/>
              </a:rPr>
              <a:t>nl</a:t>
            </a:r>
            <a:r>
              <a:rPr sz="1300" spc="-45" dirty="0">
                <a:latin typeface="Tahoma"/>
                <a:cs typeface="Tahoma"/>
              </a:rPr>
              <a:t>y</a:t>
            </a:r>
            <a:r>
              <a:rPr sz="1300" spc="-150" dirty="0">
                <a:latin typeface="Tahoma"/>
                <a:cs typeface="Tahoma"/>
              </a:rPr>
              <a:t> </a:t>
            </a:r>
            <a:r>
              <a:rPr sz="1300" spc="-35" dirty="0">
                <a:latin typeface="Tahoma"/>
                <a:cs typeface="Tahoma"/>
              </a:rPr>
              <a:t>w</a:t>
            </a:r>
            <a:r>
              <a:rPr sz="1300" spc="-40" dirty="0">
                <a:latin typeface="Tahoma"/>
                <a:cs typeface="Tahoma"/>
              </a:rPr>
              <a:t>a</a:t>
            </a:r>
            <a:r>
              <a:rPr sz="1300" spc="-45" dirty="0">
                <a:latin typeface="Tahoma"/>
                <a:cs typeface="Tahoma"/>
              </a:rPr>
              <a:t>y</a:t>
            </a:r>
            <a:r>
              <a:rPr sz="1300" spc="-125" dirty="0">
                <a:latin typeface="Tahoma"/>
                <a:cs typeface="Tahoma"/>
              </a:rPr>
              <a:t> </a:t>
            </a:r>
            <a:r>
              <a:rPr sz="1300" spc="-30" dirty="0">
                <a:latin typeface="Tahoma"/>
                <a:cs typeface="Tahoma"/>
              </a:rPr>
              <a:t>a</a:t>
            </a:r>
            <a:r>
              <a:rPr sz="1300" spc="-150" dirty="0">
                <a:latin typeface="Tahoma"/>
                <a:cs typeface="Tahoma"/>
              </a:rPr>
              <a:t> </a:t>
            </a:r>
            <a:r>
              <a:rPr sz="1300" spc="-30" dirty="0">
                <a:latin typeface="Tahoma"/>
                <a:cs typeface="Tahoma"/>
              </a:rPr>
              <a:t>send</a:t>
            </a:r>
            <a:r>
              <a:rPr sz="1300" spc="-25" dirty="0">
                <a:latin typeface="Tahoma"/>
                <a:cs typeface="Tahoma"/>
              </a:rPr>
              <a:t>e</a:t>
            </a:r>
            <a:r>
              <a:rPr sz="1300" spc="-20" dirty="0">
                <a:latin typeface="Tahoma"/>
                <a:cs typeface="Tahoma"/>
              </a:rPr>
              <a:t>r</a:t>
            </a:r>
            <a:r>
              <a:rPr sz="1300" spc="-125" dirty="0">
                <a:latin typeface="Tahoma"/>
                <a:cs typeface="Tahoma"/>
              </a:rPr>
              <a:t> </a:t>
            </a:r>
            <a:r>
              <a:rPr sz="1300" spc="-20" dirty="0">
                <a:latin typeface="Tahoma"/>
                <a:cs typeface="Tahoma"/>
              </a:rPr>
              <a:t>c</a:t>
            </a:r>
            <a:r>
              <a:rPr sz="1300" spc="-35" dirty="0">
                <a:latin typeface="Tahoma"/>
                <a:cs typeface="Tahoma"/>
              </a:rPr>
              <a:t>a</a:t>
            </a:r>
            <a:r>
              <a:rPr sz="1300" spc="-20" dirty="0">
                <a:latin typeface="Tahoma"/>
                <a:cs typeface="Tahoma"/>
              </a:rPr>
              <a:t>n</a:t>
            </a:r>
            <a:r>
              <a:rPr sz="1300" spc="-145" dirty="0">
                <a:latin typeface="Tahoma"/>
                <a:cs typeface="Tahoma"/>
              </a:rPr>
              <a:t> </a:t>
            </a:r>
            <a:r>
              <a:rPr sz="1300" spc="-80" dirty="0">
                <a:latin typeface="Tahoma"/>
                <a:cs typeface="Tahoma"/>
              </a:rPr>
              <a:t>g</a:t>
            </a:r>
            <a:r>
              <a:rPr sz="1300" spc="-35" dirty="0">
                <a:latin typeface="Tahoma"/>
                <a:cs typeface="Tahoma"/>
              </a:rPr>
              <a:t>u</a:t>
            </a:r>
            <a:r>
              <a:rPr sz="1300" spc="-25" dirty="0">
                <a:latin typeface="Tahoma"/>
                <a:cs typeface="Tahoma"/>
              </a:rPr>
              <a:t>e</a:t>
            </a:r>
            <a:r>
              <a:rPr sz="1300" spc="-40" dirty="0">
                <a:latin typeface="Tahoma"/>
                <a:cs typeface="Tahoma"/>
              </a:rPr>
              <a:t>ss</a:t>
            </a:r>
            <a:r>
              <a:rPr sz="1300" spc="-114" dirty="0">
                <a:latin typeface="Tahoma"/>
                <a:cs typeface="Tahoma"/>
              </a:rPr>
              <a:t> </a:t>
            </a:r>
            <a:r>
              <a:rPr sz="1300" spc="5" dirty="0">
                <a:latin typeface="Tahoma"/>
                <a:cs typeface="Tahoma"/>
              </a:rPr>
              <a:t>t</a:t>
            </a:r>
            <a:r>
              <a:rPr sz="1300" spc="-15" dirty="0">
                <a:latin typeface="Tahoma"/>
                <a:cs typeface="Tahoma"/>
              </a:rPr>
              <a:t>hat  </a:t>
            </a:r>
            <a:r>
              <a:rPr sz="1300" spc="-25" dirty="0">
                <a:latin typeface="Tahoma"/>
                <a:cs typeface="Tahoma"/>
              </a:rPr>
              <a:t>congest</a:t>
            </a:r>
            <a:r>
              <a:rPr sz="1300" spc="20" dirty="0">
                <a:latin typeface="Tahoma"/>
                <a:cs typeface="Tahoma"/>
              </a:rPr>
              <a:t>i</a:t>
            </a:r>
            <a:r>
              <a:rPr sz="1300" spc="-5" dirty="0">
                <a:latin typeface="Tahoma"/>
                <a:cs typeface="Tahoma"/>
              </a:rPr>
              <a:t>o</a:t>
            </a:r>
            <a:r>
              <a:rPr sz="1300" spc="-20" dirty="0">
                <a:latin typeface="Tahoma"/>
                <a:cs typeface="Tahoma"/>
              </a:rPr>
              <a:t>n</a:t>
            </a:r>
            <a:r>
              <a:rPr sz="1300" spc="-145" dirty="0">
                <a:latin typeface="Tahoma"/>
                <a:cs typeface="Tahoma"/>
              </a:rPr>
              <a:t> </a:t>
            </a:r>
            <a:r>
              <a:rPr sz="1300" spc="-30" dirty="0">
                <a:latin typeface="Tahoma"/>
                <a:cs typeface="Tahoma"/>
              </a:rPr>
              <a:t>has</a:t>
            </a:r>
            <a:r>
              <a:rPr sz="1300" spc="-140" dirty="0">
                <a:latin typeface="Tahoma"/>
                <a:cs typeface="Tahoma"/>
              </a:rPr>
              <a:t> </a:t>
            </a:r>
            <a:r>
              <a:rPr sz="1300" spc="-5" dirty="0">
                <a:latin typeface="Tahoma"/>
                <a:cs typeface="Tahoma"/>
              </a:rPr>
              <a:t>o</a:t>
            </a:r>
            <a:r>
              <a:rPr sz="1300" spc="-10" dirty="0">
                <a:latin typeface="Tahoma"/>
                <a:cs typeface="Tahoma"/>
              </a:rPr>
              <a:t>c</a:t>
            </a:r>
            <a:r>
              <a:rPr sz="1300" spc="-20" dirty="0">
                <a:latin typeface="Tahoma"/>
                <a:cs typeface="Tahoma"/>
              </a:rPr>
              <a:t>c</a:t>
            </a:r>
            <a:r>
              <a:rPr sz="1300" spc="-25" dirty="0">
                <a:latin typeface="Tahoma"/>
                <a:cs typeface="Tahoma"/>
              </a:rPr>
              <a:t>ur</a:t>
            </a:r>
            <a:r>
              <a:rPr sz="1300" spc="-30" dirty="0">
                <a:latin typeface="Tahoma"/>
                <a:cs typeface="Tahoma"/>
              </a:rPr>
              <a:t>r</a:t>
            </a:r>
            <a:r>
              <a:rPr sz="1300" spc="-45" dirty="0">
                <a:latin typeface="Tahoma"/>
                <a:cs typeface="Tahoma"/>
              </a:rPr>
              <a:t>e</a:t>
            </a:r>
            <a:r>
              <a:rPr sz="1300" dirty="0">
                <a:latin typeface="Tahoma"/>
                <a:cs typeface="Tahoma"/>
              </a:rPr>
              <a:t>d</a:t>
            </a:r>
            <a:r>
              <a:rPr sz="1300" spc="-135" dirty="0">
                <a:latin typeface="Tahoma"/>
                <a:cs typeface="Tahoma"/>
              </a:rPr>
              <a:t> </a:t>
            </a:r>
            <a:r>
              <a:rPr sz="1300" spc="20" dirty="0">
                <a:latin typeface="Tahoma"/>
                <a:cs typeface="Tahoma"/>
              </a:rPr>
              <a:t>i</a:t>
            </a:r>
            <a:r>
              <a:rPr sz="1300" spc="-40" dirty="0">
                <a:latin typeface="Tahoma"/>
                <a:cs typeface="Tahoma"/>
              </a:rPr>
              <a:t>s</a:t>
            </a:r>
            <a:r>
              <a:rPr sz="1300" spc="-135" dirty="0">
                <a:latin typeface="Tahoma"/>
                <a:cs typeface="Tahoma"/>
              </a:rPr>
              <a:t> </a:t>
            </a:r>
            <a:r>
              <a:rPr sz="1300" spc="5" dirty="0">
                <a:latin typeface="Tahoma"/>
                <a:cs typeface="Tahoma"/>
              </a:rPr>
              <a:t>t</a:t>
            </a:r>
            <a:r>
              <a:rPr sz="1300" spc="-35" dirty="0">
                <a:latin typeface="Tahoma"/>
                <a:cs typeface="Tahoma"/>
              </a:rPr>
              <a:t>he</a:t>
            </a:r>
            <a:r>
              <a:rPr sz="1300" spc="-140" dirty="0">
                <a:latin typeface="Tahoma"/>
                <a:cs typeface="Tahoma"/>
              </a:rPr>
              <a:t> </a:t>
            </a:r>
            <a:r>
              <a:rPr sz="1300" spc="-30" dirty="0">
                <a:latin typeface="Tahoma"/>
                <a:cs typeface="Tahoma"/>
              </a:rPr>
              <a:t>ne</a:t>
            </a:r>
            <a:r>
              <a:rPr sz="1300" spc="-45" dirty="0">
                <a:latin typeface="Tahoma"/>
                <a:cs typeface="Tahoma"/>
              </a:rPr>
              <a:t>e</a:t>
            </a:r>
            <a:r>
              <a:rPr sz="1300" dirty="0">
                <a:latin typeface="Tahoma"/>
                <a:cs typeface="Tahoma"/>
              </a:rPr>
              <a:t>d</a:t>
            </a:r>
            <a:r>
              <a:rPr sz="1300" spc="-135" dirty="0">
                <a:latin typeface="Tahoma"/>
                <a:cs typeface="Tahoma"/>
              </a:rPr>
              <a:t> </a:t>
            </a:r>
            <a:r>
              <a:rPr sz="1300" spc="5" dirty="0">
                <a:latin typeface="Tahoma"/>
                <a:cs typeface="Tahoma"/>
              </a:rPr>
              <a:t>t</a:t>
            </a:r>
            <a:r>
              <a:rPr sz="1300" spc="-5" dirty="0">
                <a:latin typeface="Tahoma"/>
                <a:cs typeface="Tahoma"/>
              </a:rPr>
              <a:t>o  </a:t>
            </a:r>
            <a:r>
              <a:rPr sz="1300" spc="-30" dirty="0">
                <a:latin typeface="Tahoma"/>
                <a:cs typeface="Tahoma"/>
              </a:rPr>
              <a:t>r</a:t>
            </a:r>
            <a:r>
              <a:rPr sz="1300" spc="-45" dirty="0">
                <a:latin typeface="Tahoma"/>
                <a:cs typeface="Tahoma"/>
              </a:rPr>
              <a:t>e</a:t>
            </a:r>
            <a:r>
              <a:rPr sz="1300" spc="5" dirty="0">
                <a:latin typeface="Tahoma"/>
                <a:cs typeface="Tahoma"/>
              </a:rPr>
              <a:t>t</a:t>
            </a:r>
            <a:r>
              <a:rPr sz="1300" spc="-30" dirty="0">
                <a:latin typeface="Tahoma"/>
                <a:cs typeface="Tahoma"/>
              </a:rPr>
              <a:t>r</a:t>
            </a:r>
            <a:r>
              <a:rPr sz="1300" spc="-40" dirty="0">
                <a:latin typeface="Tahoma"/>
                <a:cs typeface="Tahoma"/>
              </a:rPr>
              <a:t>a</a:t>
            </a:r>
            <a:r>
              <a:rPr sz="1300" spc="-30" dirty="0">
                <a:latin typeface="Tahoma"/>
                <a:cs typeface="Tahoma"/>
              </a:rPr>
              <a:t>ns</a:t>
            </a:r>
            <a:r>
              <a:rPr sz="1300" spc="-20" dirty="0">
                <a:latin typeface="Tahoma"/>
                <a:cs typeface="Tahoma"/>
              </a:rPr>
              <a:t>m</a:t>
            </a:r>
            <a:r>
              <a:rPr sz="1300" spc="20" dirty="0">
                <a:latin typeface="Tahoma"/>
                <a:cs typeface="Tahoma"/>
              </a:rPr>
              <a:t>i</a:t>
            </a:r>
            <a:r>
              <a:rPr sz="1300" dirty="0">
                <a:latin typeface="Tahoma"/>
                <a:cs typeface="Tahoma"/>
              </a:rPr>
              <a:t>t</a:t>
            </a:r>
            <a:r>
              <a:rPr sz="1300" spc="-130" dirty="0">
                <a:latin typeface="Tahoma"/>
                <a:cs typeface="Tahoma"/>
              </a:rPr>
              <a:t> </a:t>
            </a:r>
            <a:r>
              <a:rPr sz="1300" spc="-30" dirty="0">
                <a:latin typeface="Tahoma"/>
                <a:cs typeface="Tahoma"/>
              </a:rPr>
              <a:t>a</a:t>
            </a:r>
            <a:r>
              <a:rPr sz="1300" spc="-150" dirty="0">
                <a:latin typeface="Tahoma"/>
                <a:cs typeface="Tahoma"/>
              </a:rPr>
              <a:t> </a:t>
            </a:r>
            <a:r>
              <a:rPr sz="1300" spc="-45" dirty="0">
                <a:latin typeface="Tahoma"/>
                <a:cs typeface="Tahoma"/>
              </a:rPr>
              <a:t>segm</a:t>
            </a:r>
            <a:r>
              <a:rPr sz="1300" spc="-35" dirty="0">
                <a:latin typeface="Tahoma"/>
                <a:cs typeface="Tahoma"/>
              </a:rPr>
              <a:t>e</a:t>
            </a:r>
            <a:r>
              <a:rPr sz="1300" spc="-10" dirty="0">
                <a:latin typeface="Tahoma"/>
                <a:cs typeface="Tahoma"/>
              </a:rPr>
              <a:t>nt</a:t>
            </a:r>
            <a:r>
              <a:rPr sz="1300" spc="-75" dirty="0">
                <a:latin typeface="Tahoma"/>
                <a:cs typeface="Tahoma"/>
              </a:rPr>
              <a:t>.</a:t>
            </a:r>
            <a:endParaRPr sz="1300">
              <a:latin typeface="Tahoma"/>
              <a:cs typeface="Tahoma"/>
            </a:endParaRPr>
          </a:p>
          <a:p>
            <a:pPr marL="184785" indent="-17272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185420" algn="l"/>
              </a:tabLst>
            </a:pPr>
            <a:r>
              <a:rPr sz="1300" spc="-25" dirty="0">
                <a:latin typeface="Tahoma"/>
                <a:cs typeface="Tahoma"/>
              </a:rPr>
              <a:t>Th</a:t>
            </a:r>
            <a:r>
              <a:rPr sz="1300" spc="-5" dirty="0">
                <a:latin typeface="Tahoma"/>
                <a:cs typeface="Tahoma"/>
              </a:rPr>
              <a:t>i</a:t>
            </a:r>
            <a:r>
              <a:rPr sz="1300" spc="-40" dirty="0">
                <a:latin typeface="Tahoma"/>
                <a:cs typeface="Tahoma"/>
              </a:rPr>
              <a:t>s</a:t>
            </a:r>
            <a:r>
              <a:rPr sz="1300" spc="-135" dirty="0">
                <a:latin typeface="Tahoma"/>
                <a:cs typeface="Tahoma"/>
              </a:rPr>
              <a:t> </a:t>
            </a:r>
            <a:r>
              <a:rPr sz="1300" spc="20" dirty="0">
                <a:latin typeface="Tahoma"/>
                <a:cs typeface="Tahoma"/>
              </a:rPr>
              <a:t>i</a:t>
            </a:r>
            <a:r>
              <a:rPr sz="1300" spc="-40" dirty="0">
                <a:latin typeface="Tahoma"/>
                <a:cs typeface="Tahoma"/>
              </a:rPr>
              <a:t>s</a:t>
            </a:r>
            <a:r>
              <a:rPr sz="1300" spc="-135" dirty="0">
                <a:latin typeface="Tahoma"/>
                <a:cs typeface="Tahoma"/>
              </a:rPr>
              <a:t> </a:t>
            </a:r>
            <a:r>
              <a:rPr sz="1300" spc="-30" dirty="0">
                <a:latin typeface="Tahoma"/>
                <a:cs typeface="Tahoma"/>
              </a:rPr>
              <a:t>a</a:t>
            </a:r>
            <a:r>
              <a:rPr sz="1300" spc="-155" dirty="0">
                <a:latin typeface="Tahoma"/>
                <a:cs typeface="Tahoma"/>
              </a:rPr>
              <a:t> </a:t>
            </a:r>
            <a:r>
              <a:rPr sz="1300" spc="-25" dirty="0">
                <a:latin typeface="Tahoma"/>
                <a:cs typeface="Tahoma"/>
              </a:rPr>
              <a:t>majo</a:t>
            </a:r>
            <a:r>
              <a:rPr sz="1300" spc="-20" dirty="0">
                <a:latin typeface="Tahoma"/>
                <a:cs typeface="Tahoma"/>
              </a:rPr>
              <a:t>r</a:t>
            </a:r>
            <a:r>
              <a:rPr sz="1300" spc="-155" dirty="0">
                <a:latin typeface="Tahoma"/>
                <a:cs typeface="Tahoma"/>
              </a:rPr>
              <a:t> </a:t>
            </a:r>
            <a:r>
              <a:rPr sz="1300" spc="-40" dirty="0">
                <a:latin typeface="Tahoma"/>
                <a:cs typeface="Tahoma"/>
              </a:rPr>
              <a:t>a</a:t>
            </a:r>
            <a:r>
              <a:rPr sz="1300" spc="-45" dirty="0">
                <a:latin typeface="Tahoma"/>
                <a:cs typeface="Tahoma"/>
              </a:rPr>
              <a:t>ss</a:t>
            </a:r>
            <a:r>
              <a:rPr sz="1300" spc="-20" dirty="0">
                <a:latin typeface="Tahoma"/>
                <a:cs typeface="Tahoma"/>
              </a:rPr>
              <a:t>um</a:t>
            </a:r>
            <a:r>
              <a:rPr sz="1300" dirty="0">
                <a:latin typeface="Tahoma"/>
                <a:cs typeface="Tahoma"/>
              </a:rPr>
              <a:t>pt</a:t>
            </a:r>
            <a:r>
              <a:rPr sz="1300" spc="20" dirty="0">
                <a:latin typeface="Tahoma"/>
                <a:cs typeface="Tahoma"/>
              </a:rPr>
              <a:t>i</a:t>
            </a:r>
            <a:r>
              <a:rPr sz="1300" spc="-5" dirty="0">
                <a:latin typeface="Tahoma"/>
                <a:cs typeface="Tahoma"/>
              </a:rPr>
              <a:t>o</a:t>
            </a:r>
            <a:r>
              <a:rPr sz="1300" spc="-15" dirty="0">
                <a:latin typeface="Tahoma"/>
                <a:cs typeface="Tahoma"/>
              </a:rPr>
              <a:t>n</a:t>
            </a:r>
            <a:r>
              <a:rPr sz="1300" spc="-135" dirty="0">
                <a:latin typeface="Tahoma"/>
                <a:cs typeface="Tahoma"/>
              </a:rPr>
              <a:t> </a:t>
            </a:r>
            <a:r>
              <a:rPr sz="1300" spc="-25" dirty="0">
                <a:latin typeface="Tahoma"/>
                <a:cs typeface="Tahoma"/>
              </a:rPr>
              <a:t>made</a:t>
            </a:r>
            <a:r>
              <a:rPr sz="1300" spc="-145" dirty="0">
                <a:latin typeface="Tahoma"/>
                <a:cs typeface="Tahoma"/>
              </a:rPr>
              <a:t> </a:t>
            </a:r>
            <a:r>
              <a:rPr sz="1300" spc="-25" dirty="0">
                <a:latin typeface="Tahoma"/>
                <a:cs typeface="Tahoma"/>
              </a:rPr>
              <a:t>by</a:t>
            </a:r>
            <a:r>
              <a:rPr sz="1300" spc="-125" dirty="0">
                <a:latin typeface="Tahoma"/>
                <a:cs typeface="Tahoma"/>
              </a:rPr>
              <a:t> </a:t>
            </a:r>
            <a:r>
              <a:rPr sz="1300" spc="-40" dirty="0">
                <a:latin typeface="Tahoma"/>
                <a:cs typeface="Tahoma"/>
              </a:rPr>
              <a:t>TCP.</a:t>
            </a:r>
            <a:endParaRPr sz="1300">
              <a:latin typeface="Tahoma"/>
              <a:cs typeface="Tahoma"/>
            </a:endParaRPr>
          </a:p>
          <a:p>
            <a:pPr marL="184785" marR="5080" indent="-172720">
              <a:lnSpc>
                <a:spcPts val="1400"/>
              </a:lnSpc>
              <a:spcBef>
                <a:spcPts val="425"/>
              </a:spcBef>
              <a:buFont typeface="Arial MT"/>
              <a:buChar char="•"/>
              <a:tabLst>
                <a:tab pos="185420" algn="l"/>
              </a:tabLst>
            </a:pPr>
            <a:r>
              <a:rPr sz="1300" spc="-80" dirty="0">
                <a:latin typeface="Tahoma"/>
                <a:cs typeface="Tahoma"/>
              </a:rPr>
              <a:t>R</a:t>
            </a:r>
            <a:r>
              <a:rPr sz="1300" spc="-45" dirty="0">
                <a:latin typeface="Tahoma"/>
                <a:cs typeface="Tahoma"/>
              </a:rPr>
              <a:t>e</a:t>
            </a:r>
            <a:r>
              <a:rPr sz="1300" spc="5" dirty="0">
                <a:latin typeface="Tahoma"/>
                <a:cs typeface="Tahoma"/>
              </a:rPr>
              <a:t>t</a:t>
            </a:r>
            <a:r>
              <a:rPr sz="1300" spc="-30" dirty="0">
                <a:latin typeface="Tahoma"/>
                <a:cs typeface="Tahoma"/>
              </a:rPr>
              <a:t>r</a:t>
            </a:r>
            <a:r>
              <a:rPr sz="1300" spc="-40" dirty="0">
                <a:latin typeface="Tahoma"/>
                <a:cs typeface="Tahoma"/>
              </a:rPr>
              <a:t>a</a:t>
            </a:r>
            <a:r>
              <a:rPr sz="1300" spc="-30" dirty="0">
                <a:latin typeface="Tahoma"/>
                <a:cs typeface="Tahoma"/>
              </a:rPr>
              <a:t>ns</a:t>
            </a:r>
            <a:r>
              <a:rPr sz="1300" spc="-20" dirty="0">
                <a:latin typeface="Tahoma"/>
                <a:cs typeface="Tahoma"/>
              </a:rPr>
              <a:t>m</a:t>
            </a:r>
            <a:r>
              <a:rPr sz="1300" spc="20" dirty="0">
                <a:latin typeface="Tahoma"/>
                <a:cs typeface="Tahoma"/>
              </a:rPr>
              <a:t>i</a:t>
            </a:r>
            <a:r>
              <a:rPr sz="1300" spc="-40" dirty="0">
                <a:latin typeface="Tahoma"/>
                <a:cs typeface="Tahoma"/>
              </a:rPr>
              <a:t>s</a:t>
            </a:r>
            <a:r>
              <a:rPr sz="1300" spc="-50" dirty="0">
                <a:latin typeface="Tahoma"/>
                <a:cs typeface="Tahoma"/>
              </a:rPr>
              <a:t>s</a:t>
            </a:r>
            <a:r>
              <a:rPr sz="1300" spc="20" dirty="0">
                <a:latin typeface="Tahoma"/>
                <a:cs typeface="Tahoma"/>
              </a:rPr>
              <a:t>i</a:t>
            </a:r>
            <a:r>
              <a:rPr sz="1300" spc="-5" dirty="0">
                <a:latin typeface="Tahoma"/>
                <a:cs typeface="Tahoma"/>
              </a:rPr>
              <a:t>o</a:t>
            </a:r>
            <a:r>
              <a:rPr sz="1300" spc="-20" dirty="0">
                <a:latin typeface="Tahoma"/>
                <a:cs typeface="Tahoma"/>
              </a:rPr>
              <a:t>n</a:t>
            </a:r>
            <a:r>
              <a:rPr sz="1300" spc="-110" dirty="0">
                <a:latin typeface="Tahoma"/>
                <a:cs typeface="Tahoma"/>
              </a:rPr>
              <a:t> </a:t>
            </a:r>
            <a:r>
              <a:rPr sz="1300" spc="20" dirty="0">
                <a:latin typeface="Tahoma"/>
                <a:cs typeface="Tahoma"/>
              </a:rPr>
              <a:t>i</a:t>
            </a:r>
            <a:r>
              <a:rPr sz="1300" spc="-40" dirty="0">
                <a:latin typeface="Tahoma"/>
                <a:cs typeface="Tahoma"/>
              </a:rPr>
              <a:t>s</a:t>
            </a:r>
            <a:r>
              <a:rPr sz="1300" spc="-135" dirty="0">
                <a:latin typeface="Tahoma"/>
                <a:cs typeface="Tahoma"/>
              </a:rPr>
              <a:t> </a:t>
            </a:r>
            <a:r>
              <a:rPr sz="1300" spc="-30" dirty="0">
                <a:latin typeface="Tahoma"/>
                <a:cs typeface="Tahoma"/>
              </a:rPr>
              <a:t>ne</a:t>
            </a:r>
            <a:r>
              <a:rPr sz="1300" spc="-45" dirty="0">
                <a:latin typeface="Tahoma"/>
                <a:cs typeface="Tahoma"/>
              </a:rPr>
              <a:t>e</a:t>
            </a:r>
            <a:r>
              <a:rPr sz="1300" spc="-25" dirty="0">
                <a:latin typeface="Tahoma"/>
                <a:cs typeface="Tahoma"/>
              </a:rPr>
              <a:t>d</a:t>
            </a:r>
            <a:r>
              <a:rPr sz="1300" spc="-15" dirty="0">
                <a:latin typeface="Tahoma"/>
                <a:cs typeface="Tahoma"/>
              </a:rPr>
              <a:t>e</a:t>
            </a:r>
            <a:r>
              <a:rPr sz="1300" dirty="0">
                <a:latin typeface="Tahoma"/>
                <a:cs typeface="Tahoma"/>
              </a:rPr>
              <a:t>d</a:t>
            </a:r>
            <a:r>
              <a:rPr sz="1300" spc="-135" dirty="0">
                <a:latin typeface="Tahoma"/>
                <a:cs typeface="Tahoma"/>
              </a:rPr>
              <a:t> </a:t>
            </a:r>
            <a:r>
              <a:rPr sz="1300" spc="5" dirty="0">
                <a:latin typeface="Tahoma"/>
                <a:cs typeface="Tahoma"/>
              </a:rPr>
              <a:t>t</a:t>
            </a:r>
            <a:r>
              <a:rPr sz="1300" spc="-5" dirty="0">
                <a:latin typeface="Tahoma"/>
                <a:cs typeface="Tahoma"/>
              </a:rPr>
              <a:t>o</a:t>
            </a:r>
            <a:r>
              <a:rPr sz="1300" spc="-155" dirty="0">
                <a:latin typeface="Tahoma"/>
                <a:cs typeface="Tahoma"/>
              </a:rPr>
              <a:t> </a:t>
            </a:r>
            <a:r>
              <a:rPr sz="1300" spc="-30" dirty="0">
                <a:latin typeface="Tahoma"/>
                <a:cs typeface="Tahoma"/>
              </a:rPr>
              <a:t>r</a:t>
            </a:r>
            <a:r>
              <a:rPr sz="1300" spc="-45" dirty="0">
                <a:latin typeface="Tahoma"/>
                <a:cs typeface="Tahoma"/>
              </a:rPr>
              <a:t>e</a:t>
            </a:r>
            <a:r>
              <a:rPr sz="1300" spc="-25" dirty="0">
                <a:latin typeface="Tahoma"/>
                <a:cs typeface="Tahoma"/>
              </a:rPr>
              <a:t>cover</a:t>
            </a:r>
            <a:r>
              <a:rPr sz="1300" spc="-125" dirty="0">
                <a:latin typeface="Tahoma"/>
                <a:cs typeface="Tahoma"/>
              </a:rPr>
              <a:t> </a:t>
            </a:r>
            <a:r>
              <a:rPr sz="1300" spc="-25" dirty="0">
                <a:latin typeface="Tahoma"/>
                <a:cs typeface="Tahoma"/>
              </a:rPr>
              <a:t>a  </a:t>
            </a:r>
            <a:r>
              <a:rPr sz="1300" spc="-20" dirty="0">
                <a:latin typeface="Tahoma"/>
                <a:cs typeface="Tahoma"/>
              </a:rPr>
              <a:t>m</a:t>
            </a:r>
            <a:r>
              <a:rPr sz="1300" spc="20" dirty="0">
                <a:latin typeface="Tahoma"/>
                <a:cs typeface="Tahoma"/>
              </a:rPr>
              <a:t>i</a:t>
            </a:r>
            <a:r>
              <a:rPr sz="1300" spc="-40" dirty="0">
                <a:latin typeface="Tahoma"/>
                <a:cs typeface="Tahoma"/>
              </a:rPr>
              <a:t>s</a:t>
            </a:r>
            <a:r>
              <a:rPr sz="1300" spc="-50" dirty="0">
                <a:latin typeface="Tahoma"/>
                <a:cs typeface="Tahoma"/>
              </a:rPr>
              <a:t>s</a:t>
            </a:r>
            <a:r>
              <a:rPr sz="1300" spc="20" dirty="0">
                <a:latin typeface="Tahoma"/>
                <a:cs typeface="Tahoma"/>
              </a:rPr>
              <a:t>i</a:t>
            </a:r>
            <a:r>
              <a:rPr sz="1300" spc="-45" dirty="0">
                <a:latin typeface="Tahoma"/>
                <a:cs typeface="Tahoma"/>
              </a:rPr>
              <a:t>ng</a:t>
            </a:r>
            <a:r>
              <a:rPr sz="1300" spc="-130" dirty="0">
                <a:latin typeface="Tahoma"/>
                <a:cs typeface="Tahoma"/>
              </a:rPr>
              <a:t> </a:t>
            </a:r>
            <a:r>
              <a:rPr sz="1300" spc="-15" dirty="0">
                <a:latin typeface="Tahoma"/>
                <a:cs typeface="Tahoma"/>
              </a:rPr>
              <a:t>p</a:t>
            </a:r>
            <a:r>
              <a:rPr sz="1300" spc="-20" dirty="0">
                <a:latin typeface="Tahoma"/>
                <a:cs typeface="Tahoma"/>
              </a:rPr>
              <a:t>a</a:t>
            </a:r>
            <a:r>
              <a:rPr sz="1300" spc="-10" dirty="0">
                <a:latin typeface="Tahoma"/>
                <a:cs typeface="Tahoma"/>
              </a:rPr>
              <a:t>c</a:t>
            </a:r>
            <a:r>
              <a:rPr sz="1300" spc="-20" dirty="0">
                <a:latin typeface="Tahoma"/>
                <a:cs typeface="Tahoma"/>
              </a:rPr>
              <a:t>k</a:t>
            </a:r>
            <a:r>
              <a:rPr sz="1300" spc="-45" dirty="0">
                <a:latin typeface="Tahoma"/>
                <a:cs typeface="Tahoma"/>
              </a:rPr>
              <a:t>e</a:t>
            </a:r>
            <a:r>
              <a:rPr sz="1300" dirty="0">
                <a:latin typeface="Tahoma"/>
                <a:cs typeface="Tahoma"/>
              </a:rPr>
              <a:t>t</a:t>
            </a:r>
            <a:r>
              <a:rPr sz="1300" spc="-140" dirty="0">
                <a:latin typeface="Tahoma"/>
                <a:cs typeface="Tahoma"/>
              </a:rPr>
              <a:t> </a:t>
            </a:r>
            <a:r>
              <a:rPr sz="1300" spc="-35" dirty="0">
                <a:latin typeface="Tahoma"/>
                <a:cs typeface="Tahoma"/>
              </a:rPr>
              <a:t>w</a:t>
            </a:r>
            <a:r>
              <a:rPr sz="1300" dirty="0">
                <a:latin typeface="Tahoma"/>
                <a:cs typeface="Tahoma"/>
              </a:rPr>
              <a:t>h</a:t>
            </a:r>
            <a:r>
              <a:rPr sz="1300" spc="5" dirty="0">
                <a:latin typeface="Tahoma"/>
                <a:cs typeface="Tahoma"/>
              </a:rPr>
              <a:t>i</a:t>
            </a:r>
            <a:r>
              <a:rPr sz="1300" spc="-15" dirty="0">
                <a:latin typeface="Tahoma"/>
                <a:cs typeface="Tahoma"/>
              </a:rPr>
              <a:t>ch</a:t>
            </a:r>
            <a:r>
              <a:rPr sz="1300" spc="-135" dirty="0">
                <a:latin typeface="Tahoma"/>
                <a:cs typeface="Tahoma"/>
              </a:rPr>
              <a:t> </a:t>
            </a:r>
            <a:r>
              <a:rPr sz="1300" spc="20" dirty="0">
                <a:latin typeface="Tahoma"/>
                <a:cs typeface="Tahoma"/>
              </a:rPr>
              <a:t>i</a:t>
            </a:r>
            <a:r>
              <a:rPr sz="1300" spc="-40" dirty="0">
                <a:latin typeface="Tahoma"/>
                <a:cs typeface="Tahoma"/>
              </a:rPr>
              <a:t>s</a:t>
            </a:r>
            <a:r>
              <a:rPr sz="1300" spc="-135" dirty="0">
                <a:latin typeface="Tahoma"/>
                <a:cs typeface="Tahoma"/>
              </a:rPr>
              <a:t> </a:t>
            </a:r>
            <a:r>
              <a:rPr sz="1300" spc="-40" dirty="0">
                <a:latin typeface="Tahoma"/>
                <a:cs typeface="Tahoma"/>
              </a:rPr>
              <a:t>as</a:t>
            </a:r>
            <a:r>
              <a:rPr sz="1300" spc="-50" dirty="0">
                <a:latin typeface="Tahoma"/>
                <a:cs typeface="Tahoma"/>
              </a:rPr>
              <a:t>s</a:t>
            </a:r>
            <a:r>
              <a:rPr sz="1300" spc="-15" dirty="0">
                <a:latin typeface="Tahoma"/>
                <a:cs typeface="Tahoma"/>
              </a:rPr>
              <a:t>u</a:t>
            </a:r>
            <a:r>
              <a:rPr sz="1300" spc="-20" dirty="0">
                <a:latin typeface="Tahoma"/>
                <a:cs typeface="Tahoma"/>
              </a:rPr>
              <a:t>m</a:t>
            </a:r>
            <a:r>
              <a:rPr sz="1300" spc="-45" dirty="0">
                <a:latin typeface="Tahoma"/>
                <a:cs typeface="Tahoma"/>
              </a:rPr>
              <a:t>e</a:t>
            </a:r>
            <a:r>
              <a:rPr sz="1300" dirty="0">
                <a:latin typeface="Tahoma"/>
                <a:cs typeface="Tahoma"/>
              </a:rPr>
              <a:t>d</a:t>
            </a:r>
            <a:r>
              <a:rPr sz="1300" spc="-120" dirty="0">
                <a:latin typeface="Tahoma"/>
                <a:cs typeface="Tahoma"/>
              </a:rPr>
              <a:t> </a:t>
            </a:r>
            <a:r>
              <a:rPr sz="1300" spc="5" dirty="0">
                <a:latin typeface="Tahoma"/>
                <a:cs typeface="Tahoma"/>
              </a:rPr>
              <a:t>t</a:t>
            </a:r>
            <a:r>
              <a:rPr sz="1300" spc="-5" dirty="0">
                <a:latin typeface="Tahoma"/>
                <a:cs typeface="Tahoma"/>
              </a:rPr>
              <a:t>o</a:t>
            </a:r>
            <a:r>
              <a:rPr sz="1300" spc="-155" dirty="0">
                <a:latin typeface="Tahoma"/>
                <a:cs typeface="Tahoma"/>
              </a:rPr>
              <a:t> </a:t>
            </a:r>
            <a:r>
              <a:rPr sz="1300" spc="-35" dirty="0">
                <a:latin typeface="Tahoma"/>
                <a:cs typeface="Tahoma"/>
              </a:rPr>
              <a:t>ha</a:t>
            </a:r>
            <a:r>
              <a:rPr sz="1300" spc="-40" dirty="0">
                <a:latin typeface="Tahoma"/>
                <a:cs typeface="Tahoma"/>
              </a:rPr>
              <a:t>v</a:t>
            </a:r>
            <a:r>
              <a:rPr sz="1300" spc="-35" dirty="0">
                <a:latin typeface="Tahoma"/>
                <a:cs typeface="Tahoma"/>
              </a:rPr>
              <a:t>e  </a:t>
            </a:r>
            <a:r>
              <a:rPr sz="1300" spc="-25" dirty="0">
                <a:latin typeface="Tahoma"/>
                <a:cs typeface="Tahoma"/>
              </a:rPr>
              <a:t>b</a:t>
            </a:r>
            <a:r>
              <a:rPr sz="1300" spc="-20" dirty="0">
                <a:latin typeface="Tahoma"/>
                <a:cs typeface="Tahoma"/>
              </a:rPr>
              <a:t>e</a:t>
            </a:r>
            <a:r>
              <a:rPr sz="1300" spc="-45" dirty="0">
                <a:latin typeface="Tahoma"/>
                <a:cs typeface="Tahoma"/>
              </a:rPr>
              <a:t>e</a:t>
            </a:r>
            <a:r>
              <a:rPr sz="1300" spc="-20" dirty="0">
                <a:latin typeface="Tahoma"/>
                <a:cs typeface="Tahoma"/>
              </a:rPr>
              <a:t>n</a:t>
            </a:r>
            <a:r>
              <a:rPr sz="1300" spc="-135" dirty="0">
                <a:latin typeface="Tahoma"/>
                <a:cs typeface="Tahoma"/>
              </a:rPr>
              <a:t> </a:t>
            </a:r>
            <a:r>
              <a:rPr sz="1300" spc="-15" dirty="0">
                <a:latin typeface="Tahoma"/>
                <a:cs typeface="Tahoma"/>
              </a:rPr>
              <a:t>d</a:t>
            </a:r>
            <a:r>
              <a:rPr sz="1300" spc="-20" dirty="0">
                <a:latin typeface="Tahoma"/>
                <a:cs typeface="Tahoma"/>
              </a:rPr>
              <a:t>r</a:t>
            </a:r>
            <a:r>
              <a:rPr sz="1300" spc="-5" dirty="0">
                <a:latin typeface="Tahoma"/>
                <a:cs typeface="Tahoma"/>
              </a:rPr>
              <a:t>o</a:t>
            </a:r>
            <a:r>
              <a:rPr sz="1300" spc="-15" dirty="0">
                <a:latin typeface="Tahoma"/>
                <a:cs typeface="Tahoma"/>
              </a:rPr>
              <a:t>pp</a:t>
            </a:r>
            <a:r>
              <a:rPr sz="1300" spc="-10" dirty="0">
                <a:latin typeface="Tahoma"/>
                <a:cs typeface="Tahoma"/>
              </a:rPr>
              <a:t>e</a:t>
            </a:r>
            <a:r>
              <a:rPr sz="1300" dirty="0">
                <a:latin typeface="Tahoma"/>
                <a:cs typeface="Tahoma"/>
              </a:rPr>
              <a:t>d</a:t>
            </a:r>
            <a:r>
              <a:rPr sz="1300" spc="-120" dirty="0">
                <a:latin typeface="Tahoma"/>
                <a:cs typeface="Tahoma"/>
              </a:rPr>
              <a:t> </a:t>
            </a:r>
            <a:r>
              <a:rPr sz="1300" spc="-55" dirty="0">
                <a:latin typeface="Tahoma"/>
                <a:cs typeface="Tahoma"/>
              </a:rPr>
              <a:t>(</a:t>
            </a:r>
            <a:r>
              <a:rPr sz="1300" spc="-30" dirty="0">
                <a:latin typeface="Tahoma"/>
                <a:cs typeface="Tahoma"/>
              </a:rPr>
              <a:t>i</a:t>
            </a:r>
            <a:r>
              <a:rPr sz="1300" spc="-45" dirty="0">
                <a:latin typeface="Tahoma"/>
                <a:cs typeface="Tahoma"/>
              </a:rPr>
              <a:t>.</a:t>
            </a:r>
            <a:r>
              <a:rPr sz="1300" spc="-70" dirty="0">
                <a:latin typeface="Tahoma"/>
                <a:cs typeface="Tahoma"/>
              </a:rPr>
              <a:t>e</a:t>
            </a:r>
            <a:r>
              <a:rPr sz="1300" spc="-75" dirty="0">
                <a:latin typeface="Tahoma"/>
                <a:cs typeface="Tahoma"/>
              </a:rPr>
              <a:t>.,</a:t>
            </a:r>
            <a:r>
              <a:rPr sz="1300" spc="-145" dirty="0">
                <a:latin typeface="Tahoma"/>
                <a:cs typeface="Tahoma"/>
              </a:rPr>
              <a:t> </a:t>
            </a:r>
            <a:r>
              <a:rPr sz="1300" spc="30" dirty="0">
                <a:latin typeface="Tahoma"/>
                <a:cs typeface="Tahoma"/>
              </a:rPr>
              <a:t>l</a:t>
            </a:r>
            <a:r>
              <a:rPr sz="1300" spc="-5" dirty="0">
                <a:latin typeface="Tahoma"/>
                <a:cs typeface="Tahoma"/>
              </a:rPr>
              <a:t>o</a:t>
            </a:r>
            <a:r>
              <a:rPr sz="1300" spc="-50" dirty="0">
                <a:latin typeface="Tahoma"/>
                <a:cs typeface="Tahoma"/>
              </a:rPr>
              <a:t>st)</a:t>
            </a:r>
            <a:r>
              <a:rPr sz="1300" spc="-140" dirty="0">
                <a:latin typeface="Tahoma"/>
                <a:cs typeface="Tahoma"/>
              </a:rPr>
              <a:t> </a:t>
            </a:r>
            <a:r>
              <a:rPr sz="1300" spc="-25" dirty="0">
                <a:latin typeface="Tahoma"/>
                <a:cs typeface="Tahoma"/>
              </a:rPr>
              <a:t>by</a:t>
            </a:r>
            <a:r>
              <a:rPr sz="1300" spc="-125" dirty="0">
                <a:latin typeface="Tahoma"/>
                <a:cs typeface="Tahoma"/>
              </a:rPr>
              <a:t> </a:t>
            </a:r>
            <a:r>
              <a:rPr sz="1300" spc="-30" dirty="0">
                <a:latin typeface="Tahoma"/>
                <a:cs typeface="Tahoma"/>
              </a:rPr>
              <a:t>a</a:t>
            </a:r>
            <a:r>
              <a:rPr sz="1300" spc="-150" dirty="0">
                <a:latin typeface="Tahoma"/>
                <a:cs typeface="Tahoma"/>
              </a:rPr>
              <a:t> </a:t>
            </a:r>
            <a:r>
              <a:rPr sz="1300" spc="-30" dirty="0">
                <a:latin typeface="Tahoma"/>
                <a:cs typeface="Tahoma"/>
              </a:rPr>
              <a:t>r</a:t>
            </a:r>
            <a:r>
              <a:rPr sz="1300" spc="-5" dirty="0">
                <a:latin typeface="Tahoma"/>
                <a:cs typeface="Tahoma"/>
              </a:rPr>
              <a:t>o</a:t>
            </a:r>
            <a:r>
              <a:rPr sz="1300" spc="-15" dirty="0">
                <a:latin typeface="Tahoma"/>
                <a:cs typeface="Tahoma"/>
              </a:rPr>
              <a:t>u</a:t>
            </a:r>
            <a:r>
              <a:rPr sz="1300" spc="-5" dirty="0">
                <a:latin typeface="Tahoma"/>
                <a:cs typeface="Tahoma"/>
              </a:rPr>
              <a:t>t</a:t>
            </a:r>
            <a:r>
              <a:rPr sz="1300" spc="-45" dirty="0">
                <a:latin typeface="Tahoma"/>
                <a:cs typeface="Tahoma"/>
              </a:rPr>
              <a:t>e</a:t>
            </a:r>
            <a:r>
              <a:rPr sz="1300" spc="-30" dirty="0">
                <a:latin typeface="Tahoma"/>
                <a:cs typeface="Tahoma"/>
              </a:rPr>
              <a:t>r</a:t>
            </a:r>
            <a:r>
              <a:rPr sz="1300" spc="-75" dirty="0">
                <a:latin typeface="Tahoma"/>
                <a:cs typeface="Tahoma"/>
              </a:rPr>
              <a:t>.</a:t>
            </a:r>
            <a:endParaRPr sz="1300">
              <a:latin typeface="Tahoma"/>
              <a:cs typeface="Tahoma"/>
            </a:endParaRPr>
          </a:p>
          <a:p>
            <a:pPr marL="184785" marR="132715" indent="-172720">
              <a:lnSpc>
                <a:spcPts val="1400"/>
              </a:lnSpc>
              <a:spcBef>
                <a:spcPts val="405"/>
              </a:spcBef>
              <a:buFont typeface="Arial MT"/>
              <a:buChar char="•"/>
              <a:tabLst>
                <a:tab pos="185420" algn="l"/>
              </a:tabLst>
            </a:pPr>
            <a:r>
              <a:rPr sz="1300" spc="-80" dirty="0">
                <a:latin typeface="Tahoma"/>
                <a:cs typeface="Tahoma"/>
              </a:rPr>
              <a:t>R</a:t>
            </a:r>
            <a:r>
              <a:rPr sz="1300" spc="-45" dirty="0">
                <a:latin typeface="Tahoma"/>
                <a:cs typeface="Tahoma"/>
              </a:rPr>
              <a:t>e</a:t>
            </a:r>
            <a:r>
              <a:rPr sz="1300" spc="5" dirty="0">
                <a:latin typeface="Tahoma"/>
                <a:cs typeface="Tahoma"/>
              </a:rPr>
              <a:t>t</a:t>
            </a:r>
            <a:r>
              <a:rPr sz="1300" spc="-30" dirty="0">
                <a:latin typeface="Tahoma"/>
                <a:cs typeface="Tahoma"/>
              </a:rPr>
              <a:t>r</a:t>
            </a:r>
            <a:r>
              <a:rPr sz="1300" spc="-40" dirty="0">
                <a:latin typeface="Tahoma"/>
                <a:cs typeface="Tahoma"/>
              </a:rPr>
              <a:t>a</a:t>
            </a:r>
            <a:r>
              <a:rPr sz="1300" spc="-30" dirty="0">
                <a:latin typeface="Tahoma"/>
                <a:cs typeface="Tahoma"/>
              </a:rPr>
              <a:t>ns</a:t>
            </a:r>
            <a:r>
              <a:rPr sz="1300" spc="-20" dirty="0">
                <a:latin typeface="Tahoma"/>
                <a:cs typeface="Tahoma"/>
              </a:rPr>
              <a:t>m</a:t>
            </a:r>
            <a:r>
              <a:rPr sz="1300" spc="20" dirty="0">
                <a:latin typeface="Tahoma"/>
                <a:cs typeface="Tahoma"/>
              </a:rPr>
              <a:t>i</a:t>
            </a:r>
            <a:r>
              <a:rPr sz="1300" spc="-40" dirty="0">
                <a:latin typeface="Tahoma"/>
                <a:cs typeface="Tahoma"/>
              </a:rPr>
              <a:t>s</a:t>
            </a:r>
            <a:r>
              <a:rPr sz="1300" spc="-50" dirty="0">
                <a:latin typeface="Tahoma"/>
                <a:cs typeface="Tahoma"/>
              </a:rPr>
              <a:t>s</a:t>
            </a:r>
            <a:r>
              <a:rPr sz="1300" spc="20" dirty="0">
                <a:latin typeface="Tahoma"/>
                <a:cs typeface="Tahoma"/>
              </a:rPr>
              <a:t>i</a:t>
            </a:r>
            <a:r>
              <a:rPr sz="1300" spc="-5" dirty="0">
                <a:latin typeface="Tahoma"/>
                <a:cs typeface="Tahoma"/>
              </a:rPr>
              <a:t>o</a:t>
            </a:r>
            <a:r>
              <a:rPr sz="1300" spc="-20" dirty="0">
                <a:latin typeface="Tahoma"/>
                <a:cs typeface="Tahoma"/>
              </a:rPr>
              <a:t>n</a:t>
            </a:r>
            <a:r>
              <a:rPr sz="1300" spc="-110" dirty="0">
                <a:latin typeface="Tahoma"/>
                <a:cs typeface="Tahoma"/>
              </a:rPr>
              <a:t> </a:t>
            </a:r>
            <a:r>
              <a:rPr sz="1300" spc="-20" dirty="0">
                <a:latin typeface="Tahoma"/>
                <a:cs typeface="Tahoma"/>
              </a:rPr>
              <a:t>c</a:t>
            </a:r>
            <a:r>
              <a:rPr sz="1300" spc="-35" dirty="0">
                <a:latin typeface="Tahoma"/>
                <a:cs typeface="Tahoma"/>
              </a:rPr>
              <a:t>a</a:t>
            </a:r>
            <a:r>
              <a:rPr sz="1300" spc="-20" dirty="0">
                <a:latin typeface="Tahoma"/>
                <a:cs typeface="Tahoma"/>
              </a:rPr>
              <a:t>n</a:t>
            </a:r>
            <a:r>
              <a:rPr sz="1300" spc="-145" dirty="0">
                <a:latin typeface="Tahoma"/>
                <a:cs typeface="Tahoma"/>
              </a:rPr>
              <a:t> </a:t>
            </a:r>
            <a:r>
              <a:rPr sz="1300" spc="-5" dirty="0">
                <a:latin typeface="Tahoma"/>
                <a:cs typeface="Tahoma"/>
              </a:rPr>
              <a:t>o</a:t>
            </a:r>
            <a:r>
              <a:rPr sz="1300" spc="-10" dirty="0">
                <a:latin typeface="Tahoma"/>
                <a:cs typeface="Tahoma"/>
              </a:rPr>
              <a:t>c</a:t>
            </a:r>
            <a:r>
              <a:rPr sz="1300" spc="-20" dirty="0">
                <a:latin typeface="Tahoma"/>
                <a:cs typeface="Tahoma"/>
              </a:rPr>
              <a:t>cur</a:t>
            </a:r>
            <a:r>
              <a:rPr sz="1300" spc="-150" dirty="0">
                <a:latin typeface="Tahoma"/>
                <a:cs typeface="Tahoma"/>
              </a:rPr>
              <a:t> </a:t>
            </a:r>
            <a:r>
              <a:rPr sz="1300" spc="25" dirty="0">
                <a:latin typeface="Tahoma"/>
                <a:cs typeface="Tahoma"/>
              </a:rPr>
              <a:t>i</a:t>
            </a:r>
            <a:r>
              <a:rPr sz="1300" spc="-20" dirty="0">
                <a:latin typeface="Tahoma"/>
                <a:cs typeface="Tahoma"/>
              </a:rPr>
              <a:t>n</a:t>
            </a:r>
            <a:r>
              <a:rPr sz="1300" spc="-135" dirty="0">
                <a:latin typeface="Tahoma"/>
                <a:cs typeface="Tahoma"/>
              </a:rPr>
              <a:t> </a:t>
            </a:r>
            <a:r>
              <a:rPr sz="1300" spc="-5" dirty="0">
                <a:latin typeface="Tahoma"/>
                <a:cs typeface="Tahoma"/>
              </a:rPr>
              <a:t>o</a:t>
            </a:r>
            <a:r>
              <a:rPr sz="1300" spc="-30" dirty="0">
                <a:latin typeface="Tahoma"/>
                <a:cs typeface="Tahoma"/>
              </a:rPr>
              <a:t>ne</a:t>
            </a:r>
            <a:r>
              <a:rPr sz="1300" spc="-155" dirty="0">
                <a:latin typeface="Tahoma"/>
                <a:cs typeface="Tahoma"/>
              </a:rPr>
              <a:t> </a:t>
            </a:r>
            <a:r>
              <a:rPr sz="1300" spc="-5" dirty="0">
                <a:latin typeface="Tahoma"/>
                <a:cs typeface="Tahoma"/>
              </a:rPr>
              <a:t>o</a:t>
            </a:r>
            <a:r>
              <a:rPr sz="1300" spc="-40" dirty="0">
                <a:latin typeface="Tahoma"/>
                <a:cs typeface="Tahoma"/>
              </a:rPr>
              <a:t>f</a:t>
            </a:r>
            <a:r>
              <a:rPr sz="1300" spc="-155" dirty="0">
                <a:latin typeface="Tahoma"/>
                <a:cs typeface="Tahoma"/>
              </a:rPr>
              <a:t> </a:t>
            </a:r>
            <a:r>
              <a:rPr sz="1300" spc="5" dirty="0">
                <a:latin typeface="Tahoma"/>
                <a:cs typeface="Tahoma"/>
              </a:rPr>
              <a:t>t</a:t>
            </a:r>
            <a:r>
              <a:rPr sz="1300" spc="-35" dirty="0">
                <a:latin typeface="Tahoma"/>
                <a:cs typeface="Tahoma"/>
              </a:rPr>
              <a:t>w</a:t>
            </a:r>
            <a:r>
              <a:rPr sz="1300" spc="-5" dirty="0">
                <a:latin typeface="Tahoma"/>
                <a:cs typeface="Tahoma"/>
              </a:rPr>
              <a:t>o  </a:t>
            </a:r>
            <a:r>
              <a:rPr sz="1300" spc="-55" dirty="0">
                <a:latin typeface="Tahoma"/>
                <a:cs typeface="Tahoma"/>
              </a:rPr>
              <a:t>cases:</a:t>
            </a:r>
            <a:endParaRPr sz="1300">
              <a:latin typeface="Tahoma"/>
              <a:cs typeface="Tahoma"/>
            </a:endParaRPr>
          </a:p>
          <a:p>
            <a:pPr marL="527685" lvl="1" indent="-172720">
              <a:lnSpc>
                <a:spcPts val="1485"/>
              </a:lnSpc>
              <a:spcBef>
                <a:spcPts val="240"/>
              </a:spcBef>
              <a:buFont typeface="Arial MT"/>
              <a:buChar char="•"/>
              <a:tabLst>
                <a:tab pos="528320" algn="l"/>
              </a:tabLst>
            </a:pPr>
            <a:r>
              <a:rPr sz="1300" spc="-30" dirty="0">
                <a:latin typeface="Tahoma"/>
                <a:cs typeface="Tahoma"/>
              </a:rPr>
              <a:t>w</a:t>
            </a:r>
            <a:r>
              <a:rPr sz="1300" spc="-20" dirty="0">
                <a:latin typeface="Tahoma"/>
                <a:cs typeface="Tahoma"/>
              </a:rPr>
              <a:t>h</a:t>
            </a:r>
            <a:r>
              <a:rPr sz="1300" spc="-40" dirty="0">
                <a:latin typeface="Tahoma"/>
                <a:cs typeface="Tahoma"/>
              </a:rPr>
              <a:t>e</a:t>
            </a:r>
            <a:r>
              <a:rPr sz="1300" spc="-15" dirty="0">
                <a:latin typeface="Tahoma"/>
                <a:cs typeface="Tahoma"/>
              </a:rPr>
              <a:t>n</a:t>
            </a:r>
            <a:r>
              <a:rPr sz="1300" spc="-135" dirty="0">
                <a:latin typeface="Tahoma"/>
                <a:cs typeface="Tahoma"/>
              </a:rPr>
              <a:t> </a:t>
            </a:r>
            <a:r>
              <a:rPr sz="1300" spc="5" dirty="0">
                <a:latin typeface="Tahoma"/>
                <a:cs typeface="Tahoma"/>
              </a:rPr>
              <a:t>t</a:t>
            </a:r>
            <a:r>
              <a:rPr sz="1300" spc="-20" dirty="0">
                <a:latin typeface="Tahoma"/>
                <a:cs typeface="Tahoma"/>
              </a:rPr>
              <a:t>h</a:t>
            </a:r>
            <a:r>
              <a:rPr sz="1300" spc="-45" dirty="0">
                <a:latin typeface="Tahoma"/>
                <a:cs typeface="Tahoma"/>
              </a:rPr>
              <a:t>e</a:t>
            </a:r>
            <a:r>
              <a:rPr sz="1300" spc="-140" dirty="0">
                <a:latin typeface="Tahoma"/>
                <a:cs typeface="Tahoma"/>
              </a:rPr>
              <a:t> </a:t>
            </a:r>
            <a:r>
              <a:rPr sz="1300" spc="-75" dirty="0">
                <a:latin typeface="Tahoma"/>
                <a:cs typeface="Tahoma"/>
              </a:rPr>
              <a:t>R</a:t>
            </a:r>
            <a:r>
              <a:rPr sz="1300" spc="-40" dirty="0">
                <a:latin typeface="Tahoma"/>
                <a:cs typeface="Tahoma"/>
              </a:rPr>
              <a:t>e</a:t>
            </a:r>
            <a:r>
              <a:rPr sz="1300" spc="5" dirty="0">
                <a:latin typeface="Tahoma"/>
                <a:cs typeface="Tahoma"/>
              </a:rPr>
              <a:t>t</a:t>
            </a:r>
            <a:r>
              <a:rPr sz="1300" spc="-25" dirty="0">
                <a:latin typeface="Tahoma"/>
                <a:cs typeface="Tahoma"/>
              </a:rPr>
              <a:t>r</a:t>
            </a:r>
            <a:r>
              <a:rPr sz="1300" spc="-35" dirty="0">
                <a:latin typeface="Tahoma"/>
                <a:cs typeface="Tahoma"/>
              </a:rPr>
              <a:t>a</a:t>
            </a:r>
            <a:r>
              <a:rPr sz="1300" spc="-25" dirty="0">
                <a:latin typeface="Tahoma"/>
                <a:cs typeface="Tahoma"/>
              </a:rPr>
              <a:t>nsm</a:t>
            </a:r>
            <a:r>
              <a:rPr sz="1300" spc="20" dirty="0">
                <a:latin typeface="Tahoma"/>
                <a:cs typeface="Tahoma"/>
              </a:rPr>
              <a:t>i</a:t>
            </a:r>
            <a:r>
              <a:rPr sz="1300" spc="-15" dirty="0">
                <a:latin typeface="Tahoma"/>
                <a:cs typeface="Tahoma"/>
              </a:rPr>
              <a:t>ssion</a:t>
            </a:r>
            <a:r>
              <a:rPr sz="1300" spc="-110" dirty="0">
                <a:latin typeface="Tahoma"/>
                <a:cs typeface="Tahoma"/>
              </a:rPr>
              <a:t> </a:t>
            </a:r>
            <a:r>
              <a:rPr sz="1300" spc="-30" dirty="0">
                <a:latin typeface="Tahoma"/>
                <a:cs typeface="Tahoma"/>
              </a:rPr>
              <a:t>T</a:t>
            </a:r>
            <a:r>
              <a:rPr sz="1300" spc="-10" dirty="0">
                <a:latin typeface="Tahoma"/>
                <a:cs typeface="Tahoma"/>
              </a:rPr>
              <a:t>i</a:t>
            </a:r>
            <a:r>
              <a:rPr sz="1300" spc="-15" dirty="0">
                <a:latin typeface="Tahoma"/>
                <a:cs typeface="Tahoma"/>
              </a:rPr>
              <a:t>m</a:t>
            </a:r>
            <a:r>
              <a:rPr sz="1300" spc="-45" dirty="0">
                <a:latin typeface="Tahoma"/>
                <a:cs typeface="Tahoma"/>
              </a:rPr>
              <a:t>e</a:t>
            </a:r>
            <a:r>
              <a:rPr sz="1300" spc="-140" dirty="0">
                <a:latin typeface="Tahoma"/>
                <a:cs typeface="Tahoma"/>
              </a:rPr>
              <a:t> </a:t>
            </a:r>
            <a:r>
              <a:rPr sz="1300" spc="-60" dirty="0">
                <a:latin typeface="Tahoma"/>
                <a:cs typeface="Tahoma"/>
              </a:rPr>
              <a:t>O</a:t>
            </a:r>
            <a:r>
              <a:rPr sz="1300" spc="-20" dirty="0">
                <a:latin typeface="Tahoma"/>
                <a:cs typeface="Tahoma"/>
              </a:rPr>
              <a:t>u</a:t>
            </a:r>
            <a:r>
              <a:rPr sz="1300" dirty="0">
                <a:latin typeface="Tahoma"/>
                <a:cs typeface="Tahoma"/>
              </a:rPr>
              <a:t>t</a:t>
            </a:r>
            <a:endParaRPr sz="1300">
              <a:latin typeface="Tahoma"/>
              <a:cs typeface="Tahoma"/>
            </a:endParaRPr>
          </a:p>
          <a:p>
            <a:pPr marL="527685">
              <a:lnSpc>
                <a:spcPts val="1485"/>
              </a:lnSpc>
            </a:pPr>
            <a:r>
              <a:rPr sz="1300" spc="-80" dirty="0">
                <a:latin typeface="Tahoma"/>
                <a:cs typeface="Tahoma"/>
              </a:rPr>
              <a:t>(RT</a:t>
            </a:r>
            <a:r>
              <a:rPr sz="1300" spc="-55" dirty="0">
                <a:latin typeface="Tahoma"/>
                <a:cs typeface="Tahoma"/>
              </a:rPr>
              <a:t>O</a:t>
            </a:r>
            <a:r>
              <a:rPr sz="1300" spc="-105" dirty="0">
                <a:latin typeface="Tahoma"/>
                <a:cs typeface="Tahoma"/>
              </a:rPr>
              <a:t>)</a:t>
            </a:r>
            <a:r>
              <a:rPr sz="1300" spc="-130" dirty="0">
                <a:latin typeface="Tahoma"/>
                <a:cs typeface="Tahoma"/>
              </a:rPr>
              <a:t> </a:t>
            </a:r>
            <a:r>
              <a:rPr sz="1300" spc="5" dirty="0">
                <a:latin typeface="Tahoma"/>
                <a:cs typeface="Tahoma"/>
              </a:rPr>
              <a:t>t</a:t>
            </a:r>
            <a:r>
              <a:rPr sz="1300" spc="20" dirty="0">
                <a:latin typeface="Tahoma"/>
                <a:cs typeface="Tahoma"/>
              </a:rPr>
              <a:t>i</a:t>
            </a:r>
            <a:r>
              <a:rPr sz="1300" spc="-15" dirty="0">
                <a:latin typeface="Tahoma"/>
                <a:cs typeface="Tahoma"/>
              </a:rPr>
              <a:t>m</a:t>
            </a:r>
            <a:r>
              <a:rPr sz="1300" spc="-40" dirty="0">
                <a:latin typeface="Tahoma"/>
                <a:cs typeface="Tahoma"/>
              </a:rPr>
              <a:t>e</a:t>
            </a:r>
            <a:r>
              <a:rPr sz="1300" spc="-20" dirty="0">
                <a:latin typeface="Tahoma"/>
                <a:cs typeface="Tahoma"/>
              </a:rPr>
              <a:t>r</a:t>
            </a:r>
            <a:r>
              <a:rPr sz="1300" spc="-150" dirty="0">
                <a:latin typeface="Tahoma"/>
                <a:cs typeface="Tahoma"/>
              </a:rPr>
              <a:t> </a:t>
            </a:r>
            <a:r>
              <a:rPr sz="1300" spc="5" dirty="0">
                <a:latin typeface="Tahoma"/>
                <a:cs typeface="Tahoma"/>
              </a:rPr>
              <a:t>t</a:t>
            </a:r>
            <a:r>
              <a:rPr sz="1300" spc="20" dirty="0">
                <a:latin typeface="Tahoma"/>
                <a:cs typeface="Tahoma"/>
              </a:rPr>
              <a:t>i</a:t>
            </a:r>
            <a:r>
              <a:rPr sz="1300" spc="-15" dirty="0">
                <a:latin typeface="Tahoma"/>
                <a:cs typeface="Tahoma"/>
              </a:rPr>
              <a:t>m</a:t>
            </a:r>
            <a:r>
              <a:rPr sz="1300" spc="-40" dirty="0">
                <a:latin typeface="Tahoma"/>
                <a:cs typeface="Tahoma"/>
              </a:rPr>
              <a:t>es</a:t>
            </a:r>
            <a:r>
              <a:rPr sz="1300" spc="-145" dirty="0">
                <a:latin typeface="Tahoma"/>
                <a:cs typeface="Tahoma"/>
              </a:rPr>
              <a:t> </a:t>
            </a:r>
            <a:r>
              <a:rPr sz="1300" dirty="0">
                <a:latin typeface="Tahoma"/>
                <a:cs typeface="Tahoma"/>
              </a:rPr>
              <a:t>o</a:t>
            </a:r>
            <a:r>
              <a:rPr sz="1300" spc="-20" dirty="0">
                <a:latin typeface="Tahoma"/>
                <a:cs typeface="Tahoma"/>
              </a:rPr>
              <a:t>u</a:t>
            </a:r>
            <a:r>
              <a:rPr sz="1300" spc="5" dirty="0">
                <a:latin typeface="Tahoma"/>
                <a:cs typeface="Tahoma"/>
              </a:rPr>
              <a:t>t</a:t>
            </a:r>
            <a:r>
              <a:rPr sz="1300" spc="-75" dirty="0">
                <a:latin typeface="Tahoma"/>
                <a:cs typeface="Tahoma"/>
              </a:rPr>
              <a:t>,</a:t>
            </a:r>
            <a:r>
              <a:rPr sz="1300" spc="105" dirty="0">
                <a:latin typeface="Tahoma"/>
                <a:cs typeface="Tahoma"/>
              </a:rPr>
              <a:t> </a:t>
            </a:r>
            <a:r>
              <a:rPr sz="1300" dirty="0">
                <a:latin typeface="Tahoma"/>
                <a:cs typeface="Tahoma"/>
              </a:rPr>
              <a:t>o</a:t>
            </a:r>
            <a:r>
              <a:rPr sz="1300" spc="-20" dirty="0">
                <a:latin typeface="Tahoma"/>
                <a:cs typeface="Tahoma"/>
              </a:rPr>
              <a:t>r</a:t>
            </a:r>
            <a:endParaRPr sz="1300">
              <a:latin typeface="Tahoma"/>
              <a:cs typeface="Tahoma"/>
            </a:endParaRPr>
          </a:p>
          <a:p>
            <a:pPr marL="527685" marR="373380" lvl="1" indent="-172720">
              <a:lnSpc>
                <a:spcPts val="1400"/>
              </a:lnSpc>
              <a:spcBef>
                <a:spcPts val="420"/>
              </a:spcBef>
              <a:buFont typeface="Arial MT"/>
              <a:buChar char="•"/>
              <a:tabLst>
                <a:tab pos="528320" algn="l"/>
              </a:tabLst>
            </a:pPr>
            <a:r>
              <a:rPr sz="1300" spc="-30" dirty="0">
                <a:latin typeface="Tahoma"/>
                <a:cs typeface="Tahoma"/>
              </a:rPr>
              <a:t>w</a:t>
            </a:r>
            <a:r>
              <a:rPr sz="1300" spc="-20" dirty="0">
                <a:latin typeface="Tahoma"/>
                <a:cs typeface="Tahoma"/>
              </a:rPr>
              <a:t>h</a:t>
            </a:r>
            <a:r>
              <a:rPr sz="1300" spc="-40" dirty="0">
                <a:latin typeface="Tahoma"/>
                <a:cs typeface="Tahoma"/>
              </a:rPr>
              <a:t>e</a:t>
            </a:r>
            <a:r>
              <a:rPr sz="1300" spc="-20" dirty="0">
                <a:latin typeface="Tahoma"/>
                <a:cs typeface="Tahoma"/>
              </a:rPr>
              <a:t>n</a:t>
            </a:r>
            <a:r>
              <a:rPr sz="1300" spc="-135" dirty="0">
                <a:latin typeface="Tahoma"/>
                <a:cs typeface="Tahoma"/>
              </a:rPr>
              <a:t> </a:t>
            </a:r>
            <a:r>
              <a:rPr sz="1300" spc="5" dirty="0">
                <a:latin typeface="Tahoma"/>
                <a:cs typeface="Tahoma"/>
              </a:rPr>
              <a:t>t</a:t>
            </a:r>
            <a:r>
              <a:rPr sz="1300" spc="-20" dirty="0">
                <a:latin typeface="Tahoma"/>
                <a:cs typeface="Tahoma"/>
              </a:rPr>
              <a:t>h</a:t>
            </a:r>
            <a:r>
              <a:rPr sz="1300" spc="-35" dirty="0">
                <a:latin typeface="Tahoma"/>
                <a:cs typeface="Tahoma"/>
              </a:rPr>
              <a:t>re</a:t>
            </a:r>
            <a:r>
              <a:rPr sz="1300" spc="-45" dirty="0">
                <a:latin typeface="Tahoma"/>
                <a:cs typeface="Tahoma"/>
              </a:rPr>
              <a:t>e</a:t>
            </a:r>
            <a:r>
              <a:rPr sz="1300" spc="-140" dirty="0">
                <a:latin typeface="Tahoma"/>
                <a:cs typeface="Tahoma"/>
              </a:rPr>
              <a:t> </a:t>
            </a:r>
            <a:r>
              <a:rPr sz="1300" spc="-10" dirty="0">
                <a:latin typeface="Tahoma"/>
                <a:cs typeface="Tahoma"/>
              </a:rPr>
              <a:t>d</a:t>
            </a:r>
            <a:r>
              <a:rPr sz="1300" spc="-5" dirty="0">
                <a:latin typeface="Tahoma"/>
                <a:cs typeface="Tahoma"/>
              </a:rPr>
              <a:t>u</a:t>
            </a:r>
            <a:r>
              <a:rPr sz="1300" spc="20" dirty="0">
                <a:latin typeface="Tahoma"/>
                <a:cs typeface="Tahoma"/>
              </a:rPr>
              <a:t>p</a:t>
            </a:r>
            <a:r>
              <a:rPr sz="1300" spc="15" dirty="0">
                <a:latin typeface="Tahoma"/>
                <a:cs typeface="Tahoma"/>
              </a:rPr>
              <a:t>l</a:t>
            </a:r>
            <a:r>
              <a:rPr sz="1300" spc="20" dirty="0">
                <a:latin typeface="Tahoma"/>
                <a:cs typeface="Tahoma"/>
              </a:rPr>
              <a:t>i</a:t>
            </a:r>
            <a:r>
              <a:rPr sz="1300" spc="-15" dirty="0">
                <a:latin typeface="Tahoma"/>
                <a:cs typeface="Tahoma"/>
              </a:rPr>
              <a:t>cat</a:t>
            </a:r>
            <a:r>
              <a:rPr sz="1300" spc="-45" dirty="0">
                <a:latin typeface="Tahoma"/>
                <a:cs typeface="Tahoma"/>
              </a:rPr>
              <a:t>e</a:t>
            </a:r>
            <a:r>
              <a:rPr sz="1300" spc="-125" dirty="0">
                <a:latin typeface="Tahoma"/>
                <a:cs typeface="Tahoma"/>
              </a:rPr>
              <a:t> </a:t>
            </a:r>
            <a:r>
              <a:rPr sz="1300" spc="-75" dirty="0">
                <a:latin typeface="Tahoma"/>
                <a:cs typeface="Tahoma"/>
              </a:rPr>
              <a:t>A</a:t>
            </a:r>
            <a:r>
              <a:rPr sz="1300" spc="-40" dirty="0">
                <a:latin typeface="Tahoma"/>
                <a:cs typeface="Tahoma"/>
              </a:rPr>
              <a:t>C</a:t>
            </a:r>
            <a:r>
              <a:rPr sz="1300" spc="-10" dirty="0">
                <a:latin typeface="Tahoma"/>
                <a:cs typeface="Tahoma"/>
              </a:rPr>
              <a:t>K</a:t>
            </a:r>
            <a:r>
              <a:rPr sz="1300" spc="-40" dirty="0">
                <a:latin typeface="Tahoma"/>
                <a:cs typeface="Tahoma"/>
              </a:rPr>
              <a:t>s</a:t>
            </a:r>
            <a:r>
              <a:rPr sz="1300" spc="-135" dirty="0">
                <a:latin typeface="Tahoma"/>
                <a:cs typeface="Tahoma"/>
              </a:rPr>
              <a:t> </a:t>
            </a:r>
            <a:r>
              <a:rPr sz="1300" spc="-30" dirty="0">
                <a:latin typeface="Tahoma"/>
                <a:cs typeface="Tahoma"/>
              </a:rPr>
              <a:t>ar</a:t>
            </a:r>
            <a:r>
              <a:rPr sz="1300" spc="-35" dirty="0">
                <a:latin typeface="Tahoma"/>
                <a:cs typeface="Tahoma"/>
              </a:rPr>
              <a:t>e  </a:t>
            </a:r>
            <a:r>
              <a:rPr sz="1300" spc="-30" dirty="0">
                <a:latin typeface="Tahoma"/>
                <a:cs typeface="Tahoma"/>
              </a:rPr>
              <a:t>received.</a:t>
            </a:r>
            <a:endParaRPr sz="1300">
              <a:latin typeface="Tahoma"/>
              <a:cs typeface="Tahoma"/>
            </a:endParaRPr>
          </a:p>
          <a:p>
            <a:pPr marL="527685" lvl="1" indent="-172720">
              <a:lnSpc>
                <a:spcPts val="1480"/>
              </a:lnSpc>
              <a:spcBef>
                <a:spcPts val="220"/>
              </a:spcBef>
              <a:buFont typeface="Arial MT"/>
              <a:buChar char="•"/>
              <a:tabLst>
                <a:tab pos="528320" algn="l"/>
              </a:tabLst>
            </a:pPr>
            <a:r>
              <a:rPr sz="1300" spc="-155" dirty="0">
                <a:latin typeface="Tahoma"/>
                <a:cs typeface="Tahoma"/>
              </a:rPr>
              <a:t>I</a:t>
            </a:r>
            <a:r>
              <a:rPr sz="1300" spc="-20" dirty="0">
                <a:latin typeface="Tahoma"/>
                <a:cs typeface="Tahoma"/>
              </a:rPr>
              <a:t>n</a:t>
            </a:r>
            <a:r>
              <a:rPr sz="1300" spc="-145" dirty="0">
                <a:latin typeface="Tahoma"/>
                <a:cs typeface="Tahoma"/>
              </a:rPr>
              <a:t> </a:t>
            </a:r>
            <a:r>
              <a:rPr sz="1300" spc="-5" dirty="0">
                <a:latin typeface="Tahoma"/>
                <a:cs typeface="Tahoma"/>
              </a:rPr>
              <a:t>b</a:t>
            </a:r>
            <a:r>
              <a:rPr sz="1300" dirty="0">
                <a:latin typeface="Tahoma"/>
                <a:cs typeface="Tahoma"/>
              </a:rPr>
              <a:t>o</a:t>
            </a:r>
            <a:r>
              <a:rPr sz="1300" spc="5" dirty="0">
                <a:latin typeface="Tahoma"/>
                <a:cs typeface="Tahoma"/>
              </a:rPr>
              <a:t>t</a:t>
            </a:r>
            <a:r>
              <a:rPr sz="1300" spc="-20" dirty="0">
                <a:latin typeface="Tahoma"/>
                <a:cs typeface="Tahoma"/>
              </a:rPr>
              <a:t>h</a:t>
            </a:r>
            <a:r>
              <a:rPr sz="1300" spc="-140" dirty="0">
                <a:latin typeface="Tahoma"/>
                <a:cs typeface="Tahoma"/>
              </a:rPr>
              <a:t> </a:t>
            </a:r>
            <a:r>
              <a:rPr sz="1300" spc="-30" dirty="0">
                <a:latin typeface="Tahoma"/>
                <a:cs typeface="Tahoma"/>
              </a:rPr>
              <a:t>cas</a:t>
            </a:r>
            <a:r>
              <a:rPr sz="1300" spc="-40" dirty="0">
                <a:latin typeface="Tahoma"/>
                <a:cs typeface="Tahoma"/>
              </a:rPr>
              <a:t>e</a:t>
            </a:r>
            <a:r>
              <a:rPr sz="1300" spc="-55" dirty="0">
                <a:latin typeface="Tahoma"/>
                <a:cs typeface="Tahoma"/>
              </a:rPr>
              <a:t>s,</a:t>
            </a:r>
            <a:r>
              <a:rPr sz="1300" spc="-120" dirty="0">
                <a:latin typeface="Tahoma"/>
                <a:cs typeface="Tahoma"/>
              </a:rPr>
              <a:t> </a:t>
            </a:r>
            <a:r>
              <a:rPr sz="1300" spc="5" dirty="0">
                <a:latin typeface="Tahoma"/>
                <a:cs typeface="Tahoma"/>
              </a:rPr>
              <a:t>t</a:t>
            </a:r>
            <a:r>
              <a:rPr sz="1300" spc="-20" dirty="0">
                <a:latin typeface="Tahoma"/>
                <a:cs typeface="Tahoma"/>
              </a:rPr>
              <a:t>h</a:t>
            </a:r>
            <a:r>
              <a:rPr sz="1300" spc="-45" dirty="0">
                <a:latin typeface="Tahoma"/>
                <a:cs typeface="Tahoma"/>
              </a:rPr>
              <a:t>e</a:t>
            </a:r>
            <a:r>
              <a:rPr sz="1300" spc="-140" dirty="0">
                <a:latin typeface="Tahoma"/>
                <a:cs typeface="Tahoma"/>
              </a:rPr>
              <a:t> </a:t>
            </a:r>
            <a:r>
              <a:rPr sz="1300" spc="-10" dirty="0">
                <a:latin typeface="Tahoma"/>
                <a:cs typeface="Tahoma"/>
              </a:rPr>
              <a:t>si</a:t>
            </a:r>
            <a:r>
              <a:rPr sz="1300" spc="-35" dirty="0">
                <a:latin typeface="Tahoma"/>
                <a:cs typeface="Tahoma"/>
              </a:rPr>
              <a:t>ze</a:t>
            </a:r>
            <a:r>
              <a:rPr sz="1300" spc="-135" dirty="0">
                <a:latin typeface="Tahoma"/>
                <a:cs typeface="Tahoma"/>
              </a:rPr>
              <a:t> </a:t>
            </a:r>
            <a:r>
              <a:rPr sz="1300" dirty="0">
                <a:latin typeface="Tahoma"/>
                <a:cs typeface="Tahoma"/>
              </a:rPr>
              <a:t>o</a:t>
            </a:r>
            <a:r>
              <a:rPr sz="1300" spc="-40" dirty="0">
                <a:latin typeface="Tahoma"/>
                <a:cs typeface="Tahoma"/>
              </a:rPr>
              <a:t>f</a:t>
            </a:r>
            <a:r>
              <a:rPr sz="1300" spc="-155" dirty="0">
                <a:latin typeface="Tahoma"/>
                <a:cs typeface="Tahoma"/>
              </a:rPr>
              <a:t> </a:t>
            </a:r>
            <a:r>
              <a:rPr sz="1300" spc="5" dirty="0">
                <a:latin typeface="Tahoma"/>
                <a:cs typeface="Tahoma"/>
              </a:rPr>
              <a:t>t</a:t>
            </a:r>
            <a:r>
              <a:rPr sz="1300" spc="-20" dirty="0">
                <a:latin typeface="Tahoma"/>
                <a:cs typeface="Tahoma"/>
              </a:rPr>
              <a:t>h</a:t>
            </a:r>
            <a:r>
              <a:rPr sz="1300" spc="-45" dirty="0">
                <a:latin typeface="Tahoma"/>
                <a:cs typeface="Tahoma"/>
              </a:rPr>
              <a:t>e</a:t>
            </a:r>
            <a:endParaRPr sz="1300">
              <a:latin typeface="Tahoma"/>
              <a:cs typeface="Tahoma"/>
            </a:endParaRPr>
          </a:p>
          <a:p>
            <a:pPr marL="527685">
              <a:lnSpc>
                <a:spcPts val="1405"/>
              </a:lnSpc>
            </a:pPr>
            <a:r>
              <a:rPr sz="1300" spc="5" dirty="0">
                <a:latin typeface="Tahoma"/>
                <a:cs typeface="Tahoma"/>
              </a:rPr>
              <a:t>t</a:t>
            </a:r>
            <a:r>
              <a:rPr sz="1300" spc="-20" dirty="0">
                <a:latin typeface="Tahoma"/>
                <a:cs typeface="Tahoma"/>
              </a:rPr>
              <a:t>h</a:t>
            </a:r>
            <a:r>
              <a:rPr sz="1300" spc="-25" dirty="0">
                <a:latin typeface="Tahoma"/>
                <a:cs typeface="Tahoma"/>
              </a:rPr>
              <a:t>r</a:t>
            </a:r>
            <a:r>
              <a:rPr sz="1300" spc="-40" dirty="0">
                <a:latin typeface="Tahoma"/>
                <a:cs typeface="Tahoma"/>
              </a:rPr>
              <a:t>e</a:t>
            </a:r>
            <a:r>
              <a:rPr sz="1300" spc="-20" dirty="0">
                <a:latin typeface="Tahoma"/>
                <a:cs typeface="Tahoma"/>
              </a:rPr>
              <a:t>sh</a:t>
            </a:r>
            <a:r>
              <a:rPr sz="1300" spc="-15" dirty="0">
                <a:latin typeface="Tahoma"/>
                <a:cs typeface="Tahoma"/>
              </a:rPr>
              <a:t>o</a:t>
            </a:r>
            <a:r>
              <a:rPr sz="1300" spc="30" dirty="0">
                <a:latin typeface="Tahoma"/>
                <a:cs typeface="Tahoma"/>
              </a:rPr>
              <a:t>l</a:t>
            </a:r>
            <a:r>
              <a:rPr sz="1300" dirty="0">
                <a:latin typeface="Tahoma"/>
                <a:cs typeface="Tahoma"/>
              </a:rPr>
              <a:t>d</a:t>
            </a:r>
            <a:r>
              <a:rPr sz="1300" spc="-130" dirty="0">
                <a:latin typeface="Tahoma"/>
                <a:cs typeface="Tahoma"/>
              </a:rPr>
              <a:t> </a:t>
            </a:r>
            <a:r>
              <a:rPr sz="1300" spc="20" dirty="0">
                <a:latin typeface="Tahoma"/>
                <a:cs typeface="Tahoma"/>
              </a:rPr>
              <a:t>i</a:t>
            </a:r>
            <a:r>
              <a:rPr sz="1300" spc="-40" dirty="0">
                <a:latin typeface="Tahoma"/>
                <a:cs typeface="Tahoma"/>
              </a:rPr>
              <a:t>s</a:t>
            </a:r>
            <a:r>
              <a:rPr sz="1300" spc="-135" dirty="0">
                <a:latin typeface="Tahoma"/>
                <a:cs typeface="Tahoma"/>
              </a:rPr>
              <a:t> </a:t>
            </a:r>
            <a:r>
              <a:rPr sz="1300" spc="-10" dirty="0">
                <a:latin typeface="Tahoma"/>
                <a:cs typeface="Tahoma"/>
              </a:rPr>
              <a:t>dro</a:t>
            </a:r>
            <a:r>
              <a:rPr sz="1300" spc="-15" dirty="0">
                <a:latin typeface="Tahoma"/>
                <a:cs typeface="Tahoma"/>
              </a:rPr>
              <a:t>pp</a:t>
            </a:r>
            <a:r>
              <a:rPr sz="1300" spc="-10" dirty="0">
                <a:latin typeface="Tahoma"/>
                <a:cs typeface="Tahoma"/>
              </a:rPr>
              <a:t>e</a:t>
            </a:r>
            <a:r>
              <a:rPr sz="1300" dirty="0">
                <a:latin typeface="Tahoma"/>
                <a:cs typeface="Tahoma"/>
              </a:rPr>
              <a:t>d</a:t>
            </a:r>
            <a:r>
              <a:rPr sz="1300" spc="-120" dirty="0">
                <a:latin typeface="Tahoma"/>
                <a:cs typeface="Tahoma"/>
              </a:rPr>
              <a:t> </a:t>
            </a:r>
            <a:r>
              <a:rPr sz="1300" spc="5" dirty="0">
                <a:latin typeface="Tahoma"/>
                <a:cs typeface="Tahoma"/>
              </a:rPr>
              <a:t>t</a:t>
            </a:r>
            <a:r>
              <a:rPr sz="1300" spc="-5" dirty="0">
                <a:latin typeface="Tahoma"/>
                <a:cs typeface="Tahoma"/>
              </a:rPr>
              <a:t>o</a:t>
            </a:r>
            <a:endParaRPr sz="1300">
              <a:latin typeface="Tahoma"/>
              <a:cs typeface="Tahoma"/>
            </a:endParaRPr>
          </a:p>
          <a:p>
            <a:pPr marL="527685">
              <a:lnSpc>
                <a:spcPts val="1485"/>
              </a:lnSpc>
            </a:pPr>
            <a:r>
              <a:rPr sz="1300" spc="-20" dirty="0">
                <a:latin typeface="Tahoma"/>
                <a:cs typeface="Tahoma"/>
              </a:rPr>
              <a:t>h</a:t>
            </a:r>
            <a:r>
              <a:rPr sz="1300" spc="-15" dirty="0">
                <a:latin typeface="Tahoma"/>
                <a:cs typeface="Tahoma"/>
              </a:rPr>
              <a:t>alf</a:t>
            </a:r>
            <a:r>
              <a:rPr sz="1300" spc="-140" dirty="0">
                <a:latin typeface="Tahoma"/>
                <a:cs typeface="Tahoma"/>
              </a:rPr>
              <a:t> </a:t>
            </a:r>
            <a:r>
              <a:rPr sz="1300" b="1" spc="-70" dirty="0">
                <a:latin typeface="Tahoma"/>
                <a:cs typeface="Tahoma"/>
              </a:rPr>
              <a:t>(multiplicative</a:t>
            </a:r>
            <a:r>
              <a:rPr sz="1300" b="1" spc="-65" dirty="0">
                <a:latin typeface="Tahoma"/>
                <a:cs typeface="Tahoma"/>
              </a:rPr>
              <a:t> </a:t>
            </a:r>
            <a:r>
              <a:rPr sz="1300" b="1" spc="-95" dirty="0">
                <a:latin typeface="Tahoma"/>
                <a:cs typeface="Tahoma"/>
              </a:rPr>
              <a:t>decrease)</a:t>
            </a:r>
            <a:r>
              <a:rPr sz="1300" spc="-75" dirty="0">
                <a:latin typeface="Tahoma"/>
                <a:cs typeface="Tahoma"/>
              </a:rPr>
              <a:t>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028188" cy="51435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70687" y="1206753"/>
            <a:ext cx="2101215" cy="17176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 indent="362585" algn="r">
              <a:lnSpc>
                <a:spcPct val="90000"/>
              </a:lnSpc>
              <a:spcBef>
                <a:spcPts val="459"/>
              </a:spcBef>
            </a:pPr>
            <a:r>
              <a:rPr sz="3000" spc="-5" dirty="0">
                <a:solidFill>
                  <a:srgbClr val="FFFFFF"/>
                </a:solidFill>
                <a:latin typeface="Calibri Light"/>
                <a:cs typeface="Calibri Light"/>
              </a:rPr>
              <a:t>Con</a:t>
            </a:r>
            <a:r>
              <a:rPr sz="3000" spc="-30" dirty="0">
                <a:solidFill>
                  <a:srgbClr val="FFFFFF"/>
                </a:solidFill>
                <a:latin typeface="Calibri Light"/>
                <a:cs typeface="Calibri Light"/>
              </a:rPr>
              <a:t>g</a:t>
            </a:r>
            <a:r>
              <a:rPr sz="3000" spc="-5" dirty="0">
                <a:solidFill>
                  <a:srgbClr val="FFFFFF"/>
                </a:solidFill>
                <a:latin typeface="Calibri Light"/>
                <a:cs typeface="Calibri Light"/>
              </a:rPr>
              <a:t>e</a:t>
            </a:r>
            <a:r>
              <a:rPr sz="3000" spc="-30" dirty="0">
                <a:solidFill>
                  <a:srgbClr val="FFFFFF"/>
                </a:solidFill>
                <a:latin typeface="Calibri Light"/>
                <a:cs typeface="Calibri Light"/>
              </a:rPr>
              <a:t>s</a:t>
            </a:r>
            <a:r>
              <a:rPr sz="3000" dirty="0">
                <a:solidFill>
                  <a:srgbClr val="FFFFFF"/>
                </a:solidFill>
                <a:latin typeface="Calibri Light"/>
                <a:cs typeface="Calibri Light"/>
              </a:rPr>
              <a:t>ti</a:t>
            </a:r>
            <a:r>
              <a:rPr sz="3000" spc="-10" dirty="0">
                <a:solidFill>
                  <a:srgbClr val="FFFFFF"/>
                </a:solidFill>
                <a:latin typeface="Calibri Light"/>
                <a:cs typeface="Calibri Light"/>
              </a:rPr>
              <a:t>o</a:t>
            </a:r>
            <a:r>
              <a:rPr sz="3000" dirty="0">
                <a:solidFill>
                  <a:srgbClr val="FFFFFF"/>
                </a:solidFill>
                <a:latin typeface="Calibri Light"/>
                <a:cs typeface="Calibri Light"/>
              </a:rPr>
              <a:t>n  </a:t>
            </a:r>
            <a:r>
              <a:rPr sz="3000" spc="-10" dirty="0">
                <a:solidFill>
                  <a:srgbClr val="FFFFFF"/>
                </a:solidFill>
                <a:latin typeface="Calibri Light"/>
                <a:cs typeface="Calibri Light"/>
              </a:rPr>
              <a:t>Detection: </a:t>
            </a:r>
            <a:r>
              <a:rPr sz="30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000" dirty="0">
                <a:solidFill>
                  <a:srgbClr val="FFFFFF"/>
                </a:solidFill>
                <a:latin typeface="Calibri Light"/>
                <a:cs typeface="Calibri Light"/>
              </a:rPr>
              <a:t>Mult</a:t>
            </a:r>
            <a:r>
              <a:rPr sz="3000" spc="-15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r>
              <a:rPr sz="3000" dirty="0">
                <a:solidFill>
                  <a:srgbClr val="FFFFFF"/>
                </a:solidFill>
                <a:latin typeface="Calibri Light"/>
                <a:cs typeface="Calibri Light"/>
              </a:rPr>
              <a:t>pli</a:t>
            </a:r>
            <a:r>
              <a:rPr sz="3000" spc="-35" dirty="0">
                <a:solidFill>
                  <a:srgbClr val="FFFFFF"/>
                </a:solidFill>
                <a:latin typeface="Calibri Light"/>
                <a:cs typeface="Calibri Light"/>
              </a:rPr>
              <a:t>c</a:t>
            </a:r>
            <a:r>
              <a:rPr sz="3000" spc="-25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3000" dirty="0">
                <a:solidFill>
                  <a:srgbClr val="FFFFFF"/>
                </a:solidFill>
                <a:latin typeface="Calibri Light"/>
                <a:cs typeface="Calibri Light"/>
              </a:rPr>
              <a:t>ti</a:t>
            </a:r>
            <a:r>
              <a:rPr sz="3000" spc="-30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r>
              <a:rPr sz="3000" dirty="0">
                <a:solidFill>
                  <a:srgbClr val="FFFFFF"/>
                </a:solidFill>
                <a:latin typeface="Calibri Light"/>
                <a:cs typeface="Calibri Light"/>
              </a:rPr>
              <a:t>e</a:t>
            </a:r>
            <a:endParaRPr sz="3000">
              <a:latin typeface="Calibri Light"/>
              <a:cs typeface="Calibri Light"/>
            </a:endParaRPr>
          </a:p>
          <a:p>
            <a:pPr marR="6350" algn="r">
              <a:lnSpc>
                <a:spcPts val="3240"/>
              </a:lnSpc>
            </a:pPr>
            <a:r>
              <a:rPr sz="3000" spc="-10" dirty="0">
                <a:solidFill>
                  <a:srgbClr val="FFFFFF"/>
                </a:solidFill>
                <a:latin typeface="Calibri Light"/>
                <a:cs typeface="Calibri Light"/>
              </a:rPr>
              <a:t>Decrease</a:t>
            </a:r>
            <a:endParaRPr sz="30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7317" y="504316"/>
            <a:ext cx="4635500" cy="373951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185420" algn="l"/>
              </a:tabLst>
            </a:pPr>
            <a:r>
              <a:rPr sz="1200" spc="-25" dirty="0">
                <a:latin typeface="Tahoma"/>
                <a:cs typeface="Tahoma"/>
              </a:rPr>
              <a:t>Most</a:t>
            </a:r>
            <a:r>
              <a:rPr sz="1200" spc="-15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TCP</a:t>
            </a:r>
            <a:r>
              <a:rPr sz="1200" spc="-15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implementations</a:t>
            </a:r>
            <a:r>
              <a:rPr sz="1200" spc="-15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have</a:t>
            </a:r>
            <a:r>
              <a:rPr sz="1200" spc="-12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two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reactions:</a:t>
            </a:r>
            <a:endParaRPr sz="1200">
              <a:latin typeface="Tahoma"/>
              <a:cs typeface="Tahoma"/>
            </a:endParaRPr>
          </a:p>
          <a:p>
            <a:pPr marL="184785" marR="180975" indent="-172720">
              <a:lnSpc>
                <a:spcPts val="1300"/>
              </a:lnSpc>
              <a:spcBef>
                <a:spcPts val="825"/>
              </a:spcBef>
              <a:buAutoNum type="arabicPeriod"/>
              <a:tabLst>
                <a:tab pos="185420" algn="l"/>
              </a:tabLst>
            </a:pPr>
            <a:r>
              <a:rPr sz="1200" spc="-85" dirty="0">
                <a:latin typeface="Tahoma"/>
                <a:cs typeface="Tahoma"/>
              </a:rPr>
              <a:t>If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a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time-out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occurs,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there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is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a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stronger</a:t>
            </a:r>
            <a:r>
              <a:rPr sz="1200" spc="-16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possibility</a:t>
            </a:r>
            <a:r>
              <a:rPr sz="1200" spc="-16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of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congestion;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a 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segment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has</a:t>
            </a:r>
            <a:r>
              <a:rPr sz="1200" spc="-13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probably</a:t>
            </a:r>
            <a:r>
              <a:rPr sz="1200" spc="-15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been</a:t>
            </a:r>
            <a:r>
              <a:rPr sz="1200" spc="-12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dropped</a:t>
            </a:r>
            <a:r>
              <a:rPr sz="1200" spc="-17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in</a:t>
            </a:r>
            <a:r>
              <a:rPr sz="1200" spc="-13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the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network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and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there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is</a:t>
            </a:r>
            <a:r>
              <a:rPr sz="1200" spc="-13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no </a:t>
            </a:r>
            <a:r>
              <a:rPr sz="1200" spc="-36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news </a:t>
            </a:r>
            <a:r>
              <a:rPr sz="1200" spc="-15" dirty="0">
                <a:latin typeface="Tahoma"/>
                <a:cs typeface="Tahoma"/>
              </a:rPr>
              <a:t>about </a:t>
            </a:r>
            <a:r>
              <a:rPr sz="1200" spc="-20" dirty="0">
                <a:latin typeface="Tahoma"/>
                <a:cs typeface="Tahoma"/>
              </a:rPr>
              <a:t>the </a:t>
            </a:r>
            <a:r>
              <a:rPr sz="1200" spc="-10" dirty="0">
                <a:latin typeface="Tahoma"/>
                <a:cs typeface="Tahoma"/>
              </a:rPr>
              <a:t>following </a:t>
            </a:r>
            <a:r>
              <a:rPr sz="1200" spc="-20" dirty="0">
                <a:latin typeface="Tahoma"/>
                <a:cs typeface="Tahoma"/>
              </a:rPr>
              <a:t>sent </a:t>
            </a:r>
            <a:r>
              <a:rPr sz="1200" spc="-35" dirty="0">
                <a:latin typeface="Tahoma"/>
                <a:cs typeface="Tahoma"/>
              </a:rPr>
              <a:t>segments. </a:t>
            </a:r>
            <a:r>
              <a:rPr sz="1200" spc="-75" dirty="0">
                <a:latin typeface="Tahoma"/>
                <a:cs typeface="Tahoma"/>
              </a:rPr>
              <a:t>In </a:t>
            </a:r>
            <a:r>
              <a:rPr sz="1200" spc="-10" dirty="0">
                <a:latin typeface="Tahoma"/>
                <a:cs typeface="Tahoma"/>
              </a:rPr>
              <a:t>this </a:t>
            </a:r>
            <a:r>
              <a:rPr sz="1200" spc="-30" dirty="0">
                <a:latin typeface="Tahoma"/>
                <a:cs typeface="Tahoma"/>
              </a:rPr>
              <a:t>case TCP </a:t>
            </a:r>
            <a:r>
              <a:rPr sz="1200" spc="-20" dirty="0">
                <a:latin typeface="Tahoma"/>
                <a:cs typeface="Tahoma"/>
              </a:rPr>
              <a:t>reacts 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strongly:</a:t>
            </a:r>
            <a:endParaRPr sz="1200">
              <a:latin typeface="Tahoma"/>
              <a:cs typeface="Tahoma"/>
            </a:endParaRPr>
          </a:p>
          <a:p>
            <a:pPr marL="156845" lvl="1" indent="-144780">
              <a:lnSpc>
                <a:spcPct val="100000"/>
              </a:lnSpc>
              <a:spcBef>
                <a:spcPts val="615"/>
              </a:spcBef>
              <a:buAutoNum type="alphaLcPeriod"/>
              <a:tabLst>
                <a:tab pos="157480" algn="l"/>
              </a:tabLst>
            </a:pPr>
            <a:r>
              <a:rPr sz="1200" spc="-65" dirty="0">
                <a:latin typeface="Tahoma"/>
                <a:cs typeface="Tahoma"/>
              </a:rPr>
              <a:t>It</a:t>
            </a:r>
            <a:r>
              <a:rPr sz="1200" spc="-15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sets</a:t>
            </a:r>
            <a:r>
              <a:rPr sz="1200" spc="-16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the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value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of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the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threshold</a:t>
            </a:r>
            <a:r>
              <a:rPr sz="1200" spc="-17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150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half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of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the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current</a:t>
            </a:r>
            <a:r>
              <a:rPr sz="1200" spc="-16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window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size.</a:t>
            </a:r>
            <a:endParaRPr sz="1200">
              <a:latin typeface="Tahoma"/>
              <a:cs typeface="Tahoma"/>
            </a:endParaRPr>
          </a:p>
          <a:p>
            <a:pPr marL="165100" lvl="1" indent="-152400">
              <a:lnSpc>
                <a:spcPct val="100000"/>
              </a:lnSpc>
              <a:spcBef>
                <a:spcPts val="660"/>
              </a:spcBef>
              <a:buAutoNum type="alphaLcPeriod"/>
              <a:tabLst>
                <a:tab pos="165100" algn="l"/>
              </a:tabLst>
            </a:pPr>
            <a:r>
              <a:rPr sz="1200" spc="-70" dirty="0">
                <a:latin typeface="Tahoma"/>
                <a:cs typeface="Tahoma"/>
              </a:rPr>
              <a:t>It</a:t>
            </a:r>
            <a:r>
              <a:rPr sz="1200" spc="-15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reduces</a:t>
            </a:r>
            <a:r>
              <a:rPr sz="1200" spc="-16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cwnd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back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15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one</a:t>
            </a:r>
            <a:r>
              <a:rPr sz="1200" spc="-12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segment.</a:t>
            </a:r>
            <a:endParaRPr sz="1200">
              <a:latin typeface="Tahoma"/>
              <a:cs typeface="Tahoma"/>
            </a:endParaRPr>
          </a:p>
          <a:p>
            <a:pPr marL="150495" lvl="1" indent="-138430">
              <a:lnSpc>
                <a:spcPct val="100000"/>
              </a:lnSpc>
              <a:spcBef>
                <a:spcPts val="660"/>
              </a:spcBef>
              <a:buAutoNum type="alphaLcPeriod"/>
              <a:tabLst>
                <a:tab pos="151130" algn="l"/>
              </a:tabLst>
            </a:pPr>
            <a:r>
              <a:rPr sz="1200" spc="-65" dirty="0">
                <a:latin typeface="Tahoma"/>
                <a:cs typeface="Tahoma"/>
              </a:rPr>
              <a:t>It</a:t>
            </a:r>
            <a:r>
              <a:rPr sz="1200" spc="-150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st</a:t>
            </a:r>
            <a:r>
              <a:rPr sz="1200" spc="-35" dirty="0">
                <a:latin typeface="Tahoma"/>
                <a:cs typeface="Tahoma"/>
              </a:rPr>
              <a:t>a</a:t>
            </a:r>
            <a:r>
              <a:rPr sz="1200" spc="-10" dirty="0">
                <a:latin typeface="Tahoma"/>
                <a:cs typeface="Tahoma"/>
              </a:rPr>
              <a:t>rt</a:t>
            </a:r>
            <a:r>
              <a:rPr sz="1200" spc="-35" dirty="0">
                <a:latin typeface="Tahoma"/>
                <a:cs typeface="Tahoma"/>
              </a:rPr>
              <a:t>s</a:t>
            </a:r>
            <a:r>
              <a:rPr sz="1200" spc="-17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the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s</a:t>
            </a:r>
            <a:r>
              <a:rPr sz="1200" dirty="0">
                <a:latin typeface="Tahoma"/>
                <a:cs typeface="Tahoma"/>
              </a:rPr>
              <a:t>l</a:t>
            </a:r>
            <a:r>
              <a:rPr sz="1200" spc="-20" dirty="0">
                <a:latin typeface="Tahoma"/>
                <a:cs typeface="Tahoma"/>
              </a:rPr>
              <a:t>ow</a:t>
            </a:r>
            <a:r>
              <a:rPr sz="1200" spc="-150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st</a:t>
            </a:r>
            <a:r>
              <a:rPr sz="1200" spc="-35" dirty="0">
                <a:latin typeface="Tahoma"/>
                <a:cs typeface="Tahoma"/>
              </a:rPr>
              <a:t>a</a:t>
            </a:r>
            <a:r>
              <a:rPr sz="1200" spc="-10" dirty="0">
                <a:latin typeface="Tahoma"/>
                <a:cs typeface="Tahoma"/>
              </a:rPr>
              <a:t>rt</a:t>
            </a:r>
            <a:r>
              <a:rPr sz="1200" spc="-17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</a:t>
            </a:r>
            <a:r>
              <a:rPr sz="1200" spc="-25" dirty="0">
                <a:latin typeface="Tahoma"/>
                <a:cs typeface="Tahoma"/>
              </a:rPr>
              <a:t>h</a:t>
            </a:r>
            <a:r>
              <a:rPr sz="1200" spc="-35" dirty="0">
                <a:latin typeface="Tahoma"/>
                <a:cs typeface="Tahoma"/>
              </a:rPr>
              <a:t>ase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a</a:t>
            </a:r>
            <a:r>
              <a:rPr sz="1200" spc="-65" dirty="0">
                <a:latin typeface="Tahoma"/>
                <a:cs typeface="Tahoma"/>
              </a:rPr>
              <a:t>g</a:t>
            </a:r>
            <a:r>
              <a:rPr sz="1200" spc="-35" dirty="0">
                <a:latin typeface="Tahoma"/>
                <a:cs typeface="Tahoma"/>
              </a:rPr>
              <a:t>a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-15" dirty="0">
                <a:latin typeface="Tahoma"/>
                <a:cs typeface="Tahoma"/>
              </a:rPr>
              <a:t>n</a:t>
            </a:r>
            <a:r>
              <a:rPr sz="1200" spc="-65" dirty="0">
                <a:latin typeface="Tahoma"/>
                <a:cs typeface="Tahoma"/>
              </a:rPr>
              <a:t>.</a:t>
            </a:r>
            <a:endParaRPr sz="1200">
              <a:latin typeface="Tahoma"/>
              <a:cs typeface="Tahoma"/>
            </a:endParaRPr>
          </a:p>
          <a:p>
            <a:pPr marL="12700" marR="5080">
              <a:lnSpc>
                <a:spcPct val="90000"/>
              </a:lnSpc>
              <a:spcBef>
                <a:spcPts val="795"/>
              </a:spcBef>
              <a:buAutoNum type="arabicPeriod" startAt="2"/>
              <a:tabLst>
                <a:tab pos="157480" algn="l"/>
              </a:tabLst>
            </a:pPr>
            <a:r>
              <a:rPr sz="1200" spc="-85" dirty="0">
                <a:latin typeface="Tahoma"/>
                <a:cs typeface="Tahoma"/>
              </a:rPr>
              <a:t>If </a:t>
            </a:r>
            <a:r>
              <a:rPr sz="1200" spc="-25" dirty="0">
                <a:latin typeface="Tahoma"/>
                <a:cs typeface="Tahoma"/>
              </a:rPr>
              <a:t>three </a:t>
            </a:r>
            <a:r>
              <a:rPr sz="1200" spc="-5" dirty="0">
                <a:latin typeface="Tahoma"/>
                <a:cs typeface="Tahoma"/>
              </a:rPr>
              <a:t>duplicate </a:t>
            </a:r>
            <a:r>
              <a:rPr sz="1200" spc="-40" dirty="0">
                <a:latin typeface="Tahoma"/>
                <a:cs typeface="Tahoma"/>
              </a:rPr>
              <a:t>ACKs </a:t>
            </a:r>
            <a:r>
              <a:rPr sz="1200" spc="-30" dirty="0">
                <a:latin typeface="Tahoma"/>
                <a:cs typeface="Tahoma"/>
              </a:rPr>
              <a:t>are </a:t>
            </a:r>
            <a:r>
              <a:rPr sz="1200" spc="-25" dirty="0">
                <a:latin typeface="Tahoma"/>
                <a:cs typeface="Tahoma"/>
              </a:rPr>
              <a:t>received, there </a:t>
            </a:r>
            <a:r>
              <a:rPr sz="1200" spc="-10" dirty="0">
                <a:latin typeface="Tahoma"/>
                <a:cs typeface="Tahoma"/>
              </a:rPr>
              <a:t>is </a:t>
            </a:r>
            <a:r>
              <a:rPr sz="1200" spc="-30" dirty="0">
                <a:latin typeface="Tahoma"/>
                <a:cs typeface="Tahoma"/>
              </a:rPr>
              <a:t>a </a:t>
            </a:r>
            <a:r>
              <a:rPr sz="1200" spc="-25" dirty="0">
                <a:latin typeface="Tahoma"/>
                <a:cs typeface="Tahoma"/>
              </a:rPr>
              <a:t>weaker </a:t>
            </a:r>
            <a:r>
              <a:rPr sz="1200" dirty="0">
                <a:latin typeface="Tahoma"/>
                <a:cs typeface="Tahoma"/>
              </a:rPr>
              <a:t>possibility </a:t>
            </a:r>
            <a:r>
              <a:rPr sz="1200" spc="-20" dirty="0">
                <a:latin typeface="Tahoma"/>
                <a:cs typeface="Tahoma"/>
              </a:rPr>
              <a:t>of 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congestion;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a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segment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may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have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been</a:t>
            </a:r>
            <a:r>
              <a:rPr sz="1200" spc="-12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dropped</a:t>
            </a:r>
            <a:r>
              <a:rPr sz="1200" spc="-17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but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some</a:t>
            </a:r>
            <a:r>
              <a:rPr sz="1200" spc="-13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segments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after </a:t>
            </a:r>
            <a:r>
              <a:rPr sz="1200" spc="-360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that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have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arrived</a:t>
            </a:r>
            <a:r>
              <a:rPr sz="1200" spc="-15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safely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since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three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duplicate</a:t>
            </a:r>
            <a:r>
              <a:rPr sz="1200" spc="-18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ACKs</a:t>
            </a:r>
            <a:r>
              <a:rPr sz="1200" spc="-12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are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received.</a:t>
            </a:r>
            <a:r>
              <a:rPr sz="1200" spc="-16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This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is </a:t>
            </a:r>
            <a:r>
              <a:rPr sz="1200" spc="-5" dirty="0">
                <a:latin typeface="Tahoma"/>
                <a:cs typeface="Tahoma"/>
              </a:rPr>
              <a:t> called</a:t>
            </a:r>
            <a:r>
              <a:rPr sz="1200" spc="-17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fast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transmission</a:t>
            </a:r>
            <a:r>
              <a:rPr sz="1200" spc="-160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and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fast</a:t>
            </a:r>
            <a:r>
              <a:rPr sz="1200" spc="-15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recovery.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In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this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case,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TCP</a:t>
            </a:r>
            <a:r>
              <a:rPr sz="1200" spc="-15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has</a:t>
            </a:r>
            <a:r>
              <a:rPr sz="1200" spc="-13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a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weaker 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reaction</a:t>
            </a:r>
            <a:r>
              <a:rPr sz="1200" spc="-15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as</a:t>
            </a:r>
            <a:r>
              <a:rPr sz="1200" spc="-15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shown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below:</a:t>
            </a:r>
            <a:endParaRPr sz="1200">
              <a:latin typeface="Tahoma"/>
              <a:cs typeface="Tahoma"/>
            </a:endParaRPr>
          </a:p>
          <a:p>
            <a:pPr marL="156845" lvl="1" indent="-144780">
              <a:lnSpc>
                <a:spcPct val="100000"/>
              </a:lnSpc>
              <a:spcBef>
                <a:spcPts val="660"/>
              </a:spcBef>
              <a:buAutoNum type="alphaLcPeriod"/>
              <a:tabLst>
                <a:tab pos="157480" algn="l"/>
              </a:tabLst>
            </a:pPr>
            <a:r>
              <a:rPr sz="1200" spc="-65" dirty="0">
                <a:latin typeface="Tahoma"/>
                <a:cs typeface="Tahoma"/>
              </a:rPr>
              <a:t>It</a:t>
            </a:r>
            <a:r>
              <a:rPr sz="1200" spc="-15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sets</a:t>
            </a:r>
            <a:r>
              <a:rPr sz="1200" spc="-16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the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value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of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the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threshold</a:t>
            </a:r>
            <a:r>
              <a:rPr sz="1200" spc="-17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150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half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of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the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current</a:t>
            </a:r>
            <a:r>
              <a:rPr sz="1200" spc="-16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window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size.</a:t>
            </a:r>
            <a:endParaRPr sz="1200">
              <a:latin typeface="Tahoma"/>
              <a:cs typeface="Tahoma"/>
            </a:endParaRPr>
          </a:p>
          <a:p>
            <a:pPr marL="12700" marR="66040" lvl="1">
              <a:lnSpc>
                <a:spcPts val="1300"/>
              </a:lnSpc>
              <a:spcBef>
                <a:spcPts val="819"/>
              </a:spcBef>
              <a:buAutoNum type="alphaLcPeriod"/>
              <a:tabLst>
                <a:tab pos="165735" algn="l"/>
              </a:tabLst>
            </a:pPr>
            <a:r>
              <a:rPr sz="1200" spc="-70" dirty="0">
                <a:latin typeface="Tahoma"/>
                <a:cs typeface="Tahoma"/>
              </a:rPr>
              <a:t>It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sets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cwnd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the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value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of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the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threshold</a:t>
            </a:r>
            <a:r>
              <a:rPr sz="1200" spc="-16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(some</a:t>
            </a:r>
            <a:r>
              <a:rPr sz="1200" spc="-13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implementations</a:t>
            </a:r>
            <a:r>
              <a:rPr sz="1200" spc="-16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add </a:t>
            </a:r>
            <a:r>
              <a:rPr sz="1200" spc="-36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three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segment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sizes</a:t>
            </a:r>
            <a:r>
              <a:rPr sz="1200" spc="-15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15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the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threshold).</a:t>
            </a:r>
            <a:endParaRPr sz="1200">
              <a:latin typeface="Tahoma"/>
              <a:cs typeface="Tahoma"/>
            </a:endParaRPr>
          </a:p>
          <a:p>
            <a:pPr marL="150495" lvl="1" indent="-138430">
              <a:lnSpc>
                <a:spcPct val="100000"/>
              </a:lnSpc>
              <a:spcBef>
                <a:spcPts val="625"/>
              </a:spcBef>
              <a:buAutoNum type="alphaLcPeriod"/>
              <a:tabLst>
                <a:tab pos="151130" algn="l"/>
              </a:tabLst>
            </a:pPr>
            <a:r>
              <a:rPr sz="1200" spc="-65" dirty="0">
                <a:latin typeface="Tahoma"/>
                <a:cs typeface="Tahoma"/>
              </a:rPr>
              <a:t>It</a:t>
            </a:r>
            <a:r>
              <a:rPr sz="1200" spc="-150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st</a:t>
            </a:r>
            <a:r>
              <a:rPr sz="1200" spc="-35" dirty="0">
                <a:latin typeface="Tahoma"/>
                <a:cs typeface="Tahoma"/>
              </a:rPr>
              <a:t>a</a:t>
            </a:r>
            <a:r>
              <a:rPr sz="1200" spc="-10" dirty="0">
                <a:latin typeface="Tahoma"/>
                <a:cs typeface="Tahoma"/>
              </a:rPr>
              <a:t>rt</a:t>
            </a:r>
            <a:r>
              <a:rPr sz="1200" spc="-35" dirty="0">
                <a:latin typeface="Tahoma"/>
                <a:cs typeface="Tahoma"/>
              </a:rPr>
              <a:t>s</a:t>
            </a:r>
            <a:r>
              <a:rPr sz="1200" spc="-17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the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c</a:t>
            </a:r>
            <a:r>
              <a:rPr sz="1200" spc="-25" dirty="0">
                <a:latin typeface="Tahoma"/>
                <a:cs typeface="Tahoma"/>
              </a:rPr>
              <a:t>ongest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-10" dirty="0">
                <a:latin typeface="Tahoma"/>
                <a:cs typeface="Tahoma"/>
              </a:rPr>
              <a:t>on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avoi</a:t>
            </a:r>
            <a:r>
              <a:rPr sz="1200" spc="-5" dirty="0">
                <a:latin typeface="Tahoma"/>
                <a:cs typeface="Tahoma"/>
              </a:rPr>
              <a:t>d</a:t>
            </a:r>
            <a:r>
              <a:rPr sz="1200" spc="-35" dirty="0">
                <a:latin typeface="Tahoma"/>
                <a:cs typeface="Tahoma"/>
              </a:rPr>
              <a:t>a</a:t>
            </a:r>
            <a:r>
              <a:rPr sz="1200" spc="-15" dirty="0">
                <a:latin typeface="Tahoma"/>
                <a:cs typeface="Tahoma"/>
              </a:rPr>
              <a:t>n</a:t>
            </a:r>
            <a:r>
              <a:rPr sz="1200" spc="-10" dirty="0">
                <a:latin typeface="Tahoma"/>
                <a:cs typeface="Tahoma"/>
              </a:rPr>
              <a:t>c</a:t>
            </a:r>
            <a:r>
              <a:rPr sz="1200" spc="-40" dirty="0">
                <a:latin typeface="Tahoma"/>
                <a:cs typeface="Tahoma"/>
              </a:rPr>
              <a:t>e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</a:t>
            </a:r>
            <a:r>
              <a:rPr sz="1200" spc="-25" dirty="0">
                <a:latin typeface="Tahoma"/>
                <a:cs typeface="Tahoma"/>
              </a:rPr>
              <a:t>h</a:t>
            </a:r>
            <a:r>
              <a:rPr sz="1200" spc="-35" dirty="0">
                <a:latin typeface="Tahoma"/>
                <a:cs typeface="Tahoma"/>
              </a:rPr>
              <a:t>ase</a:t>
            </a:r>
            <a:r>
              <a:rPr sz="1200" spc="-65" dirty="0">
                <a:latin typeface="Tahoma"/>
                <a:cs typeface="Tahoma"/>
              </a:rPr>
              <a:t>.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028188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0687" y="1206753"/>
            <a:ext cx="2101215" cy="17176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 indent="362585" algn="r">
              <a:lnSpc>
                <a:spcPct val="90000"/>
              </a:lnSpc>
              <a:spcBef>
                <a:spcPts val="459"/>
              </a:spcBef>
            </a:pPr>
            <a:r>
              <a:rPr sz="3000" spc="-5" dirty="0">
                <a:latin typeface="Calibri Light"/>
                <a:cs typeface="Calibri Light"/>
              </a:rPr>
              <a:t>Con</a:t>
            </a:r>
            <a:r>
              <a:rPr sz="3000" spc="-30" dirty="0">
                <a:latin typeface="Calibri Light"/>
                <a:cs typeface="Calibri Light"/>
              </a:rPr>
              <a:t>g</a:t>
            </a:r>
            <a:r>
              <a:rPr sz="3000" spc="-5" dirty="0">
                <a:latin typeface="Calibri Light"/>
                <a:cs typeface="Calibri Light"/>
              </a:rPr>
              <a:t>e</a:t>
            </a:r>
            <a:r>
              <a:rPr sz="3000" spc="-30" dirty="0">
                <a:latin typeface="Calibri Light"/>
                <a:cs typeface="Calibri Light"/>
              </a:rPr>
              <a:t>s</a:t>
            </a:r>
            <a:r>
              <a:rPr sz="3000" dirty="0">
                <a:latin typeface="Calibri Light"/>
                <a:cs typeface="Calibri Light"/>
              </a:rPr>
              <a:t>ti</a:t>
            </a:r>
            <a:r>
              <a:rPr sz="3000" spc="-10" dirty="0">
                <a:latin typeface="Calibri Light"/>
                <a:cs typeface="Calibri Light"/>
              </a:rPr>
              <a:t>o</a:t>
            </a:r>
            <a:r>
              <a:rPr sz="3000" dirty="0">
                <a:latin typeface="Calibri Light"/>
                <a:cs typeface="Calibri Light"/>
              </a:rPr>
              <a:t>n  </a:t>
            </a:r>
            <a:r>
              <a:rPr sz="3000" spc="-10" dirty="0">
                <a:latin typeface="Calibri Light"/>
                <a:cs typeface="Calibri Light"/>
              </a:rPr>
              <a:t>Detection: </a:t>
            </a:r>
            <a:r>
              <a:rPr sz="3000" spc="-5" dirty="0">
                <a:latin typeface="Calibri Light"/>
                <a:cs typeface="Calibri Light"/>
              </a:rPr>
              <a:t> </a:t>
            </a:r>
            <a:r>
              <a:rPr sz="3000" dirty="0">
                <a:latin typeface="Calibri Light"/>
                <a:cs typeface="Calibri Light"/>
              </a:rPr>
              <a:t>Mult</a:t>
            </a:r>
            <a:r>
              <a:rPr sz="3000" spc="-15" dirty="0">
                <a:latin typeface="Calibri Light"/>
                <a:cs typeface="Calibri Light"/>
              </a:rPr>
              <a:t>i</a:t>
            </a:r>
            <a:r>
              <a:rPr sz="3000" dirty="0">
                <a:latin typeface="Calibri Light"/>
                <a:cs typeface="Calibri Light"/>
              </a:rPr>
              <a:t>pli</a:t>
            </a:r>
            <a:r>
              <a:rPr sz="3000" spc="-35" dirty="0">
                <a:latin typeface="Calibri Light"/>
                <a:cs typeface="Calibri Light"/>
              </a:rPr>
              <a:t>c</a:t>
            </a:r>
            <a:r>
              <a:rPr sz="3000" spc="-25" dirty="0">
                <a:latin typeface="Calibri Light"/>
                <a:cs typeface="Calibri Light"/>
              </a:rPr>
              <a:t>a</a:t>
            </a:r>
            <a:r>
              <a:rPr sz="3000" dirty="0">
                <a:latin typeface="Calibri Light"/>
                <a:cs typeface="Calibri Light"/>
              </a:rPr>
              <a:t>ti</a:t>
            </a:r>
            <a:r>
              <a:rPr sz="3000" spc="-30" dirty="0">
                <a:latin typeface="Calibri Light"/>
                <a:cs typeface="Calibri Light"/>
              </a:rPr>
              <a:t>v</a:t>
            </a:r>
            <a:r>
              <a:rPr sz="3000" dirty="0">
                <a:latin typeface="Calibri Light"/>
                <a:cs typeface="Calibri Light"/>
              </a:rPr>
              <a:t>e</a:t>
            </a:r>
            <a:endParaRPr sz="3000">
              <a:latin typeface="Calibri Light"/>
              <a:cs typeface="Calibri Light"/>
            </a:endParaRPr>
          </a:p>
          <a:p>
            <a:pPr marR="6350" algn="r">
              <a:lnSpc>
                <a:spcPts val="3240"/>
              </a:lnSpc>
            </a:pPr>
            <a:r>
              <a:rPr sz="3000" spc="-10" dirty="0">
                <a:latin typeface="Calibri Light"/>
                <a:cs typeface="Calibri Light"/>
              </a:rPr>
              <a:t>Decrease</a:t>
            </a:r>
            <a:endParaRPr sz="30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89910" indent="-172720">
              <a:lnSpc>
                <a:spcPts val="1710"/>
              </a:lnSpc>
              <a:spcBef>
                <a:spcPts val="100"/>
              </a:spcBef>
              <a:buFont typeface="Arial MT"/>
              <a:buChar char="•"/>
              <a:tabLst>
                <a:tab pos="3091180" algn="l"/>
              </a:tabLst>
            </a:pPr>
            <a:r>
              <a:rPr spc="-5" dirty="0"/>
              <a:t>An</a:t>
            </a:r>
            <a:r>
              <a:rPr dirty="0"/>
              <a:t> </a:t>
            </a:r>
            <a:r>
              <a:rPr spc="-5" dirty="0"/>
              <a:t>implementations</a:t>
            </a:r>
            <a:r>
              <a:rPr spc="-15" dirty="0"/>
              <a:t> </a:t>
            </a:r>
            <a:r>
              <a:rPr spc="-5" dirty="0"/>
              <a:t>reacts</a:t>
            </a:r>
            <a:r>
              <a:rPr spc="-15" dirty="0"/>
              <a:t> </a:t>
            </a:r>
            <a:r>
              <a:rPr spc="-10" dirty="0"/>
              <a:t>to</a:t>
            </a:r>
            <a:r>
              <a:rPr spc="-5" dirty="0"/>
              <a:t> </a:t>
            </a:r>
            <a:r>
              <a:rPr spc="-10" dirty="0"/>
              <a:t>congestion</a:t>
            </a:r>
            <a:r>
              <a:rPr spc="-40" dirty="0"/>
              <a:t> </a:t>
            </a:r>
            <a:r>
              <a:rPr spc="-5" dirty="0"/>
              <a:t>detection</a:t>
            </a:r>
            <a:r>
              <a:rPr spc="5" dirty="0"/>
              <a:t> </a:t>
            </a:r>
            <a:r>
              <a:rPr dirty="0"/>
              <a:t>in </a:t>
            </a:r>
            <a:r>
              <a:rPr spc="-5" dirty="0"/>
              <a:t>one</a:t>
            </a:r>
          </a:p>
          <a:p>
            <a:pPr marL="3089910">
              <a:lnSpc>
                <a:spcPts val="1710"/>
              </a:lnSpc>
            </a:pPr>
            <a:r>
              <a:rPr spc="-5" dirty="0"/>
              <a:t>of</a:t>
            </a:r>
            <a:r>
              <a:rPr spc="-20" dirty="0"/>
              <a:t> </a:t>
            </a:r>
            <a:r>
              <a:rPr dirty="0"/>
              <a:t>the</a:t>
            </a:r>
            <a:r>
              <a:rPr spc="-10" dirty="0"/>
              <a:t> following </a:t>
            </a:r>
            <a:r>
              <a:rPr spc="-15" dirty="0"/>
              <a:t>ways</a:t>
            </a:r>
            <a:r>
              <a:rPr spc="-40" dirty="0"/>
              <a:t> </a:t>
            </a:r>
            <a:r>
              <a:rPr dirty="0"/>
              <a:t>:</a:t>
            </a:r>
          </a:p>
          <a:p>
            <a:pPr marL="3432810" lvl="1" indent="-17272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3434079" algn="l"/>
              </a:tabLst>
            </a:pPr>
            <a:r>
              <a:rPr sz="1500" dirty="0">
                <a:latin typeface="Calibri"/>
                <a:cs typeface="Calibri"/>
              </a:rPr>
              <a:t>If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detection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by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time-out</a:t>
            </a:r>
            <a:endParaRPr sz="1500">
              <a:latin typeface="Calibri"/>
              <a:cs typeface="Calibri"/>
            </a:endParaRPr>
          </a:p>
          <a:p>
            <a:pPr marL="3775710" lvl="2" indent="-172720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3776979" algn="l"/>
              </a:tabLst>
            </a:pPr>
            <a:r>
              <a:rPr sz="1500" dirty="0">
                <a:latin typeface="Calibri"/>
                <a:cs typeface="Calibri"/>
              </a:rPr>
              <a:t>a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new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slow-start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phase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starts.</a:t>
            </a:r>
            <a:endParaRPr sz="1500">
              <a:latin typeface="Calibri"/>
              <a:cs typeface="Calibri"/>
            </a:endParaRPr>
          </a:p>
          <a:p>
            <a:pPr marL="3432810" lvl="1" indent="-17272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3434079" algn="l"/>
              </a:tabLst>
            </a:pPr>
            <a:r>
              <a:rPr sz="1500" dirty="0">
                <a:latin typeface="Calibri"/>
                <a:cs typeface="Calibri"/>
              </a:rPr>
              <a:t>If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detection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by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three</a:t>
            </a:r>
            <a:r>
              <a:rPr sz="1500" spc="-10" dirty="0">
                <a:latin typeface="Calibri"/>
                <a:cs typeface="Calibri"/>
              </a:rPr>
              <a:t> ACKs</a:t>
            </a:r>
            <a:endParaRPr sz="1500">
              <a:latin typeface="Calibri"/>
              <a:cs typeface="Calibri"/>
            </a:endParaRPr>
          </a:p>
          <a:p>
            <a:pPr marL="3775710" lvl="2" indent="-17272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3776979" algn="l"/>
              </a:tabLst>
            </a:pPr>
            <a:r>
              <a:rPr sz="1500" dirty="0">
                <a:latin typeface="Calibri"/>
                <a:cs typeface="Calibri"/>
              </a:rPr>
              <a:t>a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new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congestion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avoidance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phase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starts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363" y="240791"/>
            <a:ext cx="5294630" cy="1473835"/>
          </a:xfrm>
          <a:prstGeom prst="rect">
            <a:avLst/>
          </a:prstGeom>
          <a:solidFill>
            <a:srgbClr val="5B9BD4">
              <a:alpha val="94900"/>
            </a:srgbClr>
          </a:solidFill>
        </p:spPr>
        <p:txBody>
          <a:bodyPr vert="horz" wrap="square" lIns="0" tIns="332105" rIns="0" bIns="0" rtlCol="0">
            <a:spAutoFit/>
          </a:bodyPr>
          <a:lstStyle/>
          <a:p>
            <a:pPr marL="238760">
              <a:lnSpc>
                <a:spcPct val="100000"/>
              </a:lnSpc>
              <a:spcBef>
                <a:spcPts val="2615"/>
              </a:spcBef>
            </a:pPr>
            <a:r>
              <a:rPr sz="4400" spc="-10" dirty="0">
                <a:latin typeface="Calibri Light"/>
                <a:cs typeface="Calibri Light"/>
              </a:rPr>
              <a:t>Example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363" y="1946515"/>
            <a:ext cx="5294376" cy="284914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667755" y="240791"/>
            <a:ext cx="3235960" cy="4662170"/>
          </a:xfrm>
          <a:custGeom>
            <a:avLst/>
            <a:gdLst/>
            <a:ahLst/>
            <a:cxnLst/>
            <a:rect l="l" t="t" r="r" b="b"/>
            <a:pathLst>
              <a:path w="3235959" h="4662170">
                <a:moveTo>
                  <a:pt x="3235452" y="0"/>
                </a:moveTo>
                <a:lnTo>
                  <a:pt x="0" y="0"/>
                </a:lnTo>
                <a:lnTo>
                  <a:pt x="0" y="4661916"/>
                </a:lnTo>
                <a:lnTo>
                  <a:pt x="3235452" y="4661916"/>
                </a:lnTo>
                <a:lnTo>
                  <a:pt x="3235452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330441" y="522478"/>
            <a:ext cx="2162810" cy="386715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204"/>
              </a:spcBef>
              <a:buSzPct val="200000"/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assume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maximum</a:t>
            </a:r>
            <a:r>
              <a:rPr sz="9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window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size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32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segments.</a:t>
            </a:r>
            <a:r>
              <a:rPr sz="9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threshold</a:t>
            </a:r>
            <a:r>
              <a:rPr sz="9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set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to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segments</a:t>
            </a:r>
            <a:r>
              <a:rPr sz="9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(one-half</a:t>
            </a:r>
            <a:r>
              <a:rPr sz="9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maximum</a:t>
            </a:r>
            <a:r>
              <a:rPr sz="9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window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size).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the</a:t>
            </a:r>
            <a:r>
              <a:rPr sz="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slow-start </a:t>
            </a:r>
            <a:r>
              <a:rPr sz="900" spc="-1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phase the window size starts from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1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grows</a:t>
            </a:r>
            <a:r>
              <a:rPr sz="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exponentially</a:t>
            </a:r>
            <a:r>
              <a:rPr sz="90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until</a:t>
            </a:r>
            <a:r>
              <a:rPr sz="9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reaches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threshold.</a:t>
            </a:r>
            <a:r>
              <a:rPr sz="9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After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reaches the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threshold,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congestion</a:t>
            </a:r>
            <a:r>
              <a:rPr sz="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avoidance (additive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increase)</a:t>
            </a:r>
            <a:r>
              <a:rPr sz="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procedure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allows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window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size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increase</a:t>
            </a:r>
            <a:r>
              <a:rPr sz="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linearly</a:t>
            </a:r>
            <a:r>
              <a:rPr sz="9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until</a:t>
            </a:r>
            <a:r>
              <a:rPr sz="9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timeout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occurs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or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the maximum window size is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reached.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Figure,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time-out</a:t>
            </a:r>
            <a:r>
              <a:rPr sz="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occurs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when the window size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is 20.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At this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moment,</a:t>
            </a:r>
            <a:r>
              <a:rPr sz="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multiplicative</a:t>
            </a:r>
            <a:r>
              <a:rPr sz="90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decrease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procedure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takes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over</a:t>
            </a:r>
            <a:r>
              <a:rPr sz="9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reduces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threshold</a:t>
            </a:r>
            <a:r>
              <a:rPr sz="9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one-half</a:t>
            </a:r>
            <a:r>
              <a:rPr sz="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previous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window size.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previous window size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was 20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when the time-out happened so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the new threshold is now 10. TCP moves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to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slow start again and starts with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window size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of 1,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TCP moves to </a:t>
            </a:r>
            <a:r>
              <a:rPr sz="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additive</a:t>
            </a:r>
            <a:r>
              <a:rPr sz="9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increase</a:t>
            </a:r>
            <a:r>
              <a:rPr sz="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9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9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new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threshold</a:t>
            </a:r>
            <a:r>
              <a:rPr sz="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reached.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window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size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is 12, a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three duplicate ACKs event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happens.</a:t>
            </a:r>
            <a:r>
              <a:rPr sz="9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multiplicative</a:t>
            </a:r>
            <a:r>
              <a:rPr sz="90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decrease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procedure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takes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over</a:t>
            </a:r>
            <a:r>
              <a:rPr sz="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again.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threshold is set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to 6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TCP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goes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additive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increase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phase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time.</a:t>
            </a:r>
            <a:r>
              <a:rPr sz="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It </a:t>
            </a:r>
            <a:r>
              <a:rPr sz="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remains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9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phase until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another time-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out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another three</a:t>
            </a:r>
            <a:r>
              <a:rPr sz="9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duplicate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ACKshappen.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234180" cy="5143500"/>
            <a:chOff x="0" y="0"/>
            <a:chExt cx="423418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55930" cy="2426335"/>
            </a:xfrm>
            <a:custGeom>
              <a:avLst/>
              <a:gdLst/>
              <a:ahLst/>
              <a:cxnLst/>
              <a:rect l="l" t="t" r="r" b="b"/>
              <a:pathLst>
                <a:path w="455930" h="2426335">
                  <a:moveTo>
                    <a:pt x="455676" y="0"/>
                  </a:moveTo>
                  <a:lnTo>
                    <a:pt x="0" y="0"/>
                  </a:lnTo>
                  <a:lnTo>
                    <a:pt x="0" y="2426208"/>
                  </a:lnTo>
                  <a:lnTo>
                    <a:pt x="455676" y="2426208"/>
                  </a:lnTo>
                  <a:lnTo>
                    <a:pt x="455676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426207"/>
              <a:ext cx="455930" cy="2717800"/>
            </a:xfrm>
            <a:custGeom>
              <a:avLst/>
              <a:gdLst/>
              <a:ahLst/>
              <a:cxnLst/>
              <a:rect l="l" t="t" r="r" b="b"/>
              <a:pathLst>
                <a:path w="455930" h="2717800">
                  <a:moveTo>
                    <a:pt x="455676" y="0"/>
                  </a:moveTo>
                  <a:lnTo>
                    <a:pt x="0" y="0"/>
                  </a:lnTo>
                  <a:lnTo>
                    <a:pt x="0" y="2717292"/>
                  </a:lnTo>
                  <a:lnTo>
                    <a:pt x="455676" y="2717292"/>
                  </a:lnTo>
                  <a:lnTo>
                    <a:pt x="45567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5676" y="0"/>
              <a:ext cx="3778250" cy="5143500"/>
            </a:xfrm>
            <a:custGeom>
              <a:avLst/>
              <a:gdLst/>
              <a:ahLst/>
              <a:cxnLst/>
              <a:rect l="l" t="t" r="r" b="b"/>
              <a:pathLst>
                <a:path w="3778250" h="5143500">
                  <a:moveTo>
                    <a:pt x="3777996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3777996" y="5143500"/>
                  </a:lnTo>
                  <a:lnTo>
                    <a:pt x="377799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55676" y="0"/>
            <a:ext cx="3778250" cy="5143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4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6100">
              <a:latin typeface="Times New Roman"/>
              <a:cs typeface="Times New Roman"/>
            </a:endParaRPr>
          </a:p>
          <a:p>
            <a:pPr marL="510540">
              <a:lnSpc>
                <a:spcPct val="100000"/>
              </a:lnSpc>
            </a:pPr>
            <a:r>
              <a:rPr sz="4100" spc="-35" dirty="0">
                <a:latin typeface="Calibri Light"/>
                <a:cs typeface="Calibri Light"/>
              </a:rPr>
              <a:t>References</a:t>
            </a:r>
            <a:endParaRPr sz="4100">
              <a:latin typeface="Calibri Light"/>
              <a:cs typeface="Calibri Ligh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91540" y="54863"/>
            <a:ext cx="883919" cy="175260"/>
          </a:xfrm>
          <a:custGeom>
            <a:avLst/>
            <a:gdLst/>
            <a:ahLst/>
            <a:cxnLst/>
            <a:rect l="l" t="t" r="r" b="b"/>
            <a:pathLst>
              <a:path w="883919" h="175260">
                <a:moveTo>
                  <a:pt x="41148" y="152400"/>
                </a:moveTo>
                <a:lnTo>
                  <a:pt x="39522" y="143535"/>
                </a:lnTo>
                <a:lnTo>
                  <a:pt x="35115" y="136258"/>
                </a:lnTo>
                <a:lnTo>
                  <a:pt x="28575" y="131356"/>
                </a:lnTo>
                <a:lnTo>
                  <a:pt x="20574" y="129540"/>
                </a:lnTo>
                <a:lnTo>
                  <a:pt x="12560" y="131356"/>
                </a:lnTo>
                <a:lnTo>
                  <a:pt x="6019" y="136258"/>
                </a:lnTo>
                <a:lnTo>
                  <a:pt x="1612" y="143535"/>
                </a:lnTo>
                <a:lnTo>
                  <a:pt x="0" y="152400"/>
                </a:lnTo>
                <a:lnTo>
                  <a:pt x="1612" y="161277"/>
                </a:lnTo>
                <a:lnTo>
                  <a:pt x="6019" y="168554"/>
                </a:lnTo>
                <a:lnTo>
                  <a:pt x="12560" y="173456"/>
                </a:lnTo>
                <a:lnTo>
                  <a:pt x="20574" y="175260"/>
                </a:lnTo>
                <a:lnTo>
                  <a:pt x="28575" y="173456"/>
                </a:lnTo>
                <a:lnTo>
                  <a:pt x="35115" y="168554"/>
                </a:lnTo>
                <a:lnTo>
                  <a:pt x="39522" y="161277"/>
                </a:lnTo>
                <a:lnTo>
                  <a:pt x="41148" y="152400"/>
                </a:lnTo>
                <a:close/>
              </a:path>
              <a:path w="883919" h="175260">
                <a:moveTo>
                  <a:pt x="41148" y="22098"/>
                </a:moveTo>
                <a:lnTo>
                  <a:pt x="39522" y="13512"/>
                </a:lnTo>
                <a:lnTo>
                  <a:pt x="35115" y="6489"/>
                </a:lnTo>
                <a:lnTo>
                  <a:pt x="28575" y="1739"/>
                </a:lnTo>
                <a:lnTo>
                  <a:pt x="20574" y="0"/>
                </a:lnTo>
                <a:lnTo>
                  <a:pt x="12560" y="1739"/>
                </a:lnTo>
                <a:lnTo>
                  <a:pt x="6019" y="6477"/>
                </a:lnTo>
                <a:lnTo>
                  <a:pt x="1612" y="13512"/>
                </a:lnTo>
                <a:lnTo>
                  <a:pt x="0" y="22098"/>
                </a:lnTo>
                <a:lnTo>
                  <a:pt x="1612" y="30695"/>
                </a:lnTo>
                <a:lnTo>
                  <a:pt x="6019" y="37719"/>
                </a:lnTo>
                <a:lnTo>
                  <a:pt x="12560" y="42468"/>
                </a:lnTo>
                <a:lnTo>
                  <a:pt x="20574" y="44196"/>
                </a:lnTo>
                <a:lnTo>
                  <a:pt x="28575" y="42468"/>
                </a:lnTo>
                <a:lnTo>
                  <a:pt x="35115" y="37719"/>
                </a:lnTo>
                <a:lnTo>
                  <a:pt x="39522" y="30695"/>
                </a:lnTo>
                <a:lnTo>
                  <a:pt x="41148" y="22098"/>
                </a:lnTo>
                <a:close/>
              </a:path>
              <a:path w="883919" h="175260">
                <a:moveTo>
                  <a:pt x="134112" y="152400"/>
                </a:moveTo>
                <a:lnTo>
                  <a:pt x="132486" y="143535"/>
                </a:lnTo>
                <a:lnTo>
                  <a:pt x="128079" y="136258"/>
                </a:lnTo>
                <a:lnTo>
                  <a:pt x="121539" y="131356"/>
                </a:lnTo>
                <a:lnTo>
                  <a:pt x="113538" y="129540"/>
                </a:lnTo>
                <a:lnTo>
                  <a:pt x="105524" y="131356"/>
                </a:lnTo>
                <a:lnTo>
                  <a:pt x="98983" y="136258"/>
                </a:lnTo>
                <a:lnTo>
                  <a:pt x="94576" y="143535"/>
                </a:lnTo>
                <a:lnTo>
                  <a:pt x="92964" y="152400"/>
                </a:lnTo>
                <a:lnTo>
                  <a:pt x="94576" y="161277"/>
                </a:lnTo>
                <a:lnTo>
                  <a:pt x="98983" y="168554"/>
                </a:lnTo>
                <a:lnTo>
                  <a:pt x="105524" y="173456"/>
                </a:lnTo>
                <a:lnTo>
                  <a:pt x="113538" y="175260"/>
                </a:lnTo>
                <a:lnTo>
                  <a:pt x="121539" y="173456"/>
                </a:lnTo>
                <a:lnTo>
                  <a:pt x="128079" y="168554"/>
                </a:lnTo>
                <a:lnTo>
                  <a:pt x="132486" y="161277"/>
                </a:lnTo>
                <a:lnTo>
                  <a:pt x="134112" y="152400"/>
                </a:lnTo>
                <a:close/>
              </a:path>
              <a:path w="883919" h="175260">
                <a:moveTo>
                  <a:pt x="134112" y="22098"/>
                </a:moveTo>
                <a:lnTo>
                  <a:pt x="132486" y="13512"/>
                </a:lnTo>
                <a:lnTo>
                  <a:pt x="128079" y="6489"/>
                </a:lnTo>
                <a:lnTo>
                  <a:pt x="121539" y="1739"/>
                </a:lnTo>
                <a:lnTo>
                  <a:pt x="113538" y="0"/>
                </a:lnTo>
                <a:lnTo>
                  <a:pt x="105524" y="1739"/>
                </a:lnTo>
                <a:lnTo>
                  <a:pt x="98983" y="6477"/>
                </a:lnTo>
                <a:lnTo>
                  <a:pt x="94576" y="13512"/>
                </a:lnTo>
                <a:lnTo>
                  <a:pt x="92964" y="22098"/>
                </a:lnTo>
                <a:lnTo>
                  <a:pt x="94576" y="30695"/>
                </a:lnTo>
                <a:lnTo>
                  <a:pt x="98983" y="37719"/>
                </a:lnTo>
                <a:lnTo>
                  <a:pt x="105524" y="42468"/>
                </a:lnTo>
                <a:lnTo>
                  <a:pt x="113538" y="44196"/>
                </a:lnTo>
                <a:lnTo>
                  <a:pt x="121539" y="42468"/>
                </a:lnTo>
                <a:lnTo>
                  <a:pt x="128079" y="37719"/>
                </a:lnTo>
                <a:lnTo>
                  <a:pt x="132486" y="30695"/>
                </a:lnTo>
                <a:lnTo>
                  <a:pt x="134112" y="22098"/>
                </a:lnTo>
                <a:close/>
              </a:path>
              <a:path w="883919" h="175260">
                <a:moveTo>
                  <a:pt x="228600" y="152400"/>
                </a:moveTo>
                <a:lnTo>
                  <a:pt x="226974" y="143535"/>
                </a:lnTo>
                <a:lnTo>
                  <a:pt x="222567" y="136258"/>
                </a:lnTo>
                <a:lnTo>
                  <a:pt x="216027" y="131356"/>
                </a:lnTo>
                <a:lnTo>
                  <a:pt x="208026" y="129540"/>
                </a:lnTo>
                <a:lnTo>
                  <a:pt x="200012" y="131356"/>
                </a:lnTo>
                <a:lnTo>
                  <a:pt x="193471" y="136258"/>
                </a:lnTo>
                <a:lnTo>
                  <a:pt x="189064" y="143535"/>
                </a:lnTo>
                <a:lnTo>
                  <a:pt x="187452" y="152400"/>
                </a:lnTo>
                <a:lnTo>
                  <a:pt x="189064" y="161277"/>
                </a:lnTo>
                <a:lnTo>
                  <a:pt x="193471" y="168554"/>
                </a:lnTo>
                <a:lnTo>
                  <a:pt x="200012" y="173456"/>
                </a:lnTo>
                <a:lnTo>
                  <a:pt x="208026" y="175260"/>
                </a:lnTo>
                <a:lnTo>
                  <a:pt x="216027" y="173456"/>
                </a:lnTo>
                <a:lnTo>
                  <a:pt x="222567" y="168554"/>
                </a:lnTo>
                <a:lnTo>
                  <a:pt x="226974" y="161277"/>
                </a:lnTo>
                <a:lnTo>
                  <a:pt x="228600" y="152400"/>
                </a:lnTo>
                <a:close/>
              </a:path>
              <a:path w="883919" h="175260">
                <a:moveTo>
                  <a:pt x="228600" y="22098"/>
                </a:moveTo>
                <a:lnTo>
                  <a:pt x="226974" y="13512"/>
                </a:lnTo>
                <a:lnTo>
                  <a:pt x="222567" y="6489"/>
                </a:lnTo>
                <a:lnTo>
                  <a:pt x="216027" y="1739"/>
                </a:lnTo>
                <a:lnTo>
                  <a:pt x="208026" y="0"/>
                </a:lnTo>
                <a:lnTo>
                  <a:pt x="200012" y="1739"/>
                </a:lnTo>
                <a:lnTo>
                  <a:pt x="193471" y="6477"/>
                </a:lnTo>
                <a:lnTo>
                  <a:pt x="189064" y="13512"/>
                </a:lnTo>
                <a:lnTo>
                  <a:pt x="187452" y="22098"/>
                </a:lnTo>
                <a:lnTo>
                  <a:pt x="189064" y="30695"/>
                </a:lnTo>
                <a:lnTo>
                  <a:pt x="193471" y="37719"/>
                </a:lnTo>
                <a:lnTo>
                  <a:pt x="200012" y="42468"/>
                </a:lnTo>
                <a:lnTo>
                  <a:pt x="208026" y="44196"/>
                </a:lnTo>
                <a:lnTo>
                  <a:pt x="216027" y="42468"/>
                </a:lnTo>
                <a:lnTo>
                  <a:pt x="222567" y="37719"/>
                </a:lnTo>
                <a:lnTo>
                  <a:pt x="226974" y="30695"/>
                </a:lnTo>
                <a:lnTo>
                  <a:pt x="228600" y="22098"/>
                </a:lnTo>
                <a:close/>
              </a:path>
              <a:path w="883919" h="175260">
                <a:moveTo>
                  <a:pt x="321564" y="152400"/>
                </a:moveTo>
                <a:lnTo>
                  <a:pt x="319938" y="143535"/>
                </a:lnTo>
                <a:lnTo>
                  <a:pt x="315531" y="136258"/>
                </a:lnTo>
                <a:lnTo>
                  <a:pt x="308991" y="131356"/>
                </a:lnTo>
                <a:lnTo>
                  <a:pt x="300990" y="129540"/>
                </a:lnTo>
                <a:lnTo>
                  <a:pt x="292976" y="131356"/>
                </a:lnTo>
                <a:lnTo>
                  <a:pt x="286435" y="136258"/>
                </a:lnTo>
                <a:lnTo>
                  <a:pt x="282028" y="143535"/>
                </a:lnTo>
                <a:lnTo>
                  <a:pt x="280416" y="152400"/>
                </a:lnTo>
                <a:lnTo>
                  <a:pt x="282028" y="161277"/>
                </a:lnTo>
                <a:lnTo>
                  <a:pt x="286435" y="168554"/>
                </a:lnTo>
                <a:lnTo>
                  <a:pt x="292976" y="173456"/>
                </a:lnTo>
                <a:lnTo>
                  <a:pt x="300990" y="175260"/>
                </a:lnTo>
                <a:lnTo>
                  <a:pt x="308991" y="173456"/>
                </a:lnTo>
                <a:lnTo>
                  <a:pt x="315531" y="168554"/>
                </a:lnTo>
                <a:lnTo>
                  <a:pt x="319938" y="161277"/>
                </a:lnTo>
                <a:lnTo>
                  <a:pt x="321564" y="152400"/>
                </a:lnTo>
                <a:close/>
              </a:path>
              <a:path w="883919" h="175260">
                <a:moveTo>
                  <a:pt x="321564" y="22098"/>
                </a:moveTo>
                <a:lnTo>
                  <a:pt x="319938" y="13512"/>
                </a:lnTo>
                <a:lnTo>
                  <a:pt x="315531" y="6489"/>
                </a:lnTo>
                <a:lnTo>
                  <a:pt x="308991" y="1739"/>
                </a:lnTo>
                <a:lnTo>
                  <a:pt x="300990" y="0"/>
                </a:lnTo>
                <a:lnTo>
                  <a:pt x="292976" y="1739"/>
                </a:lnTo>
                <a:lnTo>
                  <a:pt x="286435" y="6477"/>
                </a:lnTo>
                <a:lnTo>
                  <a:pt x="282028" y="13512"/>
                </a:lnTo>
                <a:lnTo>
                  <a:pt x="280416" y="22098"/>
                </a:lnTo>
                <a:lnTo>
                  <a:pt x="282028" y="30695"/>
                </a:lnTo>
                <a:lnTo>
                  <a:pt x="286435" y="37719"/>
                </a:lnTo>
                <a:lnTo>
                  <a:pt x="292976" y="42468"/>
                </a:lnTo>
                <a:lnTo>
                  <a:pt x="300990" y="44196"/>
                </a:lnTo>
                <a:lnTo>
                  <a:pt x="308991" y="42468"/>
                </a:lnTo>
                <a:lnTo>
                  <a:pt x="315531" y="37719"/>
                </a:lnTo>
                <a:lnTo>
                  <a:pt x="319938" y="30695"/>
                </a:lnTo>
                <a:lnTo>
                  <a:pt x="321564" y="22098"/>
                </a:lnTo>
                <a:close/>
              </a:path>
              <a:path w="883919" h="175260">
                <a:moveTo>
                  <a:pt x="416052" y="152400"/>
                </a:moveTo>
                <a:lnTo>
                  <a:pt x="414426" y="143535"/>
                </a:lnTo>
                <a:lnTo>
                  <a:pt x="409994" y="136258"/>
                </a:lnTo>
                <a:lnTo>
                  <a:pt x="403453" y="131356"/>
                </a:lnTo>
                <a:lnTo>
                  <a:pt x="395478" y="129540"/>
                </a:lnTo>
                <a:lnTo>
                  <a:pt x="387489" y="131356"/>
                </a:lnTo>
                <a:lnTo>
                  <a:pt x="380949" y="136258"/>
                </a:lnTo>
                <a:lnTo>
                  <a:pt x="376516" y="143535"/>
                </a:lnTo>
                <a:lnTo>
                  <a:pt x="374904" y="152400"/>
                </a:lnTo>
                <a:lnTo>
                  <a:pt x="376516" y="161277"/>
                </a:lnTo>
                <a:lnTo>
                  <a:pt x="380949" y="168554"/>
                </a:lnTo>
                <a:lnTo>
                  <a:pt x="387489" y="173456"/>
                </a:lnTo>
                <a:lnTo>
                  <a:pt x="395478" y="175260"/>
                </a:lnTo>
                <a:lnTo>
                  <a:pt x="403453" y="173456"/>
                </a:lnTo>
                <a:lnTo>
                  <a:pt x="409994" y="168554"/>
                </a:lnTo>
                <a:lnTo>
                  <a:pt x="414426" y="161277"/>
                </a:lnTo>
                <a:lnTo>
                  <a:pt x="416052" y="152400"/>
                </a:lnTo>
                <a:close/>
              </a:path>
              <a:path w="883919" h="175260">
                <a:moveTo>
                  <a:pt x="416052" y="22098"/>
                </a:moveTo>
                <a:lnTo>
                  <a:pt x="414426" y="13512"/>
                </a:lnTo>
                <a:lnTo>
                  <a:pt x="409994" y="6489"/>
                </a:lnTo>
                <a:lnTo>
                  <a:pt x="403453" y="1739"/>
                </a:lnTo>
                <a:lnTo>
                  <a:pt x="395478" y="0"/>
                </a:lnTo>
                <a:lnTo>
                  <a:pt x="387489" y="1739"/>
                </a:lnTo>
                <a:lnTo>
                  <a:pt x="380949" y="6477"/>
                </a:lnTo>
                <a:lnTo>
                  <a:pt x="376516" y="13512"/>
                </a:lnTo>
                <a:lnTo>
                  <a:pt x="374904" y="22098"/>
                </a:lnTo>
                <a:lnTo>
                  <a:pt x="376516" y="30695"/>
                </a:lnTo>
                <a:lnTo>
                  <a:pt x="380949" y="37719"/>
                </a:lnTo>
                <a:lnTo>
                  <a:pt x="387489" y="42468"/>
                </a:lnTo>
                <a:lnTo>
                  <a:pt x="395478" y="44196"/>
                </a:lnTo>
                <a:lnTo>
                  <a:pt x="403453" y="42468"/>
                </a:lnTo>
                <a:lnTo>
                  <a:pt x="409994" y="37719"/>
                </a:lnTo>
                <a:lnTo>
                  <a:pt x="414426" y="30695"/>
                </a:lnTo>
                <a:lnTo>
                  <a:pt x="416052" y="22098"/>
                </a:lnTo>
                <a:close/>
              </a:path>
              <a:path w="883919" h="175260">
                <a:moveTo>
                  <a:pt x="509016" y="152400"/>
                </a:moveTo>
                <a:lnTo>
                  <a:pt x="507390" y="143535"/>
                </a:lnTo>
                <a:lnTo>
                  <a:pt x="502958" y="136258"/>
                </a:lnTo>
                <a:lnTo>
                  <a:pt x="496417" y="131356"/>
                </a:lnTo>
                <a:lnTo>
                  <a:pt x="488442" y="129540"/>
                </a:lnTo>
                <a:lnTo>
                  <a:pt x="480453" y="131356"/>
                </a:lnTo>
                <a:lnTo>
                  <a:pt x="473913" y="136258"/>
                </a:lnTo>
                <a:lnTo>
                  <a:pt x="469480" y="143535"/>
                </a:lnTo>
                <a:lnTo>
                  <a:pt x="467868" y="152400"/>
                </a:lnTo>
                <a:lnTo>
                  <a:pt x="469480" y="161277"/>
                </a:lnTo>
                <a:lnTo>
                  <a:pt x="473913" y="168554"/>
                </a:lnTo>
                <a:lnTo>
                  <a:pt x="480453" y="173456"/>
                </a:lnTo>
                <a:lnTo>
                  <a:pt x="488442" y="175260"/>
                </a:lnTo>
                <a:lnTo>
                  <a:pt x="496417" y="173456"/>
                </a:lnTo>
                <a:lnTo>
                  <a:pt x="502958" y="168554"/>
                </a:lnTo>
                <a:lnTo>
                  <a:pt x="507390" y="161277"/>
                </a:lnTo>
                <a:lnTo>
                  <a:pt x="509016" y="152400"/>
                </a:lnTo>
                <a:close/>
              </a:path>
              <a:path w="883919" h="175260">
                <a:moveTo>
                  <a:pt x="509016" y="22098"/>
                </a:moveTo>
                <a:lnTo>
                  <a:pt x="507390" y="13512"/>
                </a:lnTo>
                <a:lnTo>
                  <a:pt x="502958" y="6489"/>
                </a:lnTo>
                <a:lnTo>
                  <a:pt x="496417" y="1739"/>
                </a:lnTo>
                <a:lnTo>
                  <a:pt x="488442" y="0"/>
                </a:lnTo>
                <a:lnTo>
                  <a:pt x="480453" y="1739"/>
                </a:lnTo>
                <a:lnTo>
                  <a:pt x="473913" y="6477"/>
                </a:lnTo>
                <a:lnTo>
                  <a:pt x="469480" y="13512"/>
                </a:lnTo>
                <a:lnTo>
                  <a:pt x="467868" y="22098"/>
                </a:lnTo>
                <a:lnTo>
                  <a:pt x="469480" y="30695"/>
                </a:lnTo>
                <a:lnTo>
                  <a:pt x="473913" y="37719"/>
                </a:lnTo>
                <a:lnTo>
                  <a:pt x="480453" y="42468"/>
                </a:lnTo>
                <a:lnTo>
                  <a:pt x="488442" y="44196"/>
                </a:lnTo>
                <a:lnTo>
                  <a:pt x="496417" y="42468"/>
                </a:lnTo>
                <a:lnTo>
                  <a:pt x="502958" y="37719"/>
                </a:lnTo>
                <a:lnTo>
                  <a:pt x="507390" y="30695"/>
                </a:lnTo>
                <a:lnTo>
                  <a:pt x="509016" y="22098"/>
                </a:lnTo>
                <a:close/>
              </a:path>
              <a:path w="883919" h="175260">
                <a:moveTo>
                  <a:pt x="603504" y="152400"/>
                </a:moveTo>
                <a:lnTo>
                  <a:pt x="601878" y="143535"/>
                </a:lnTo>
                <a:lnTo>
                  <a:pt x="597446" y="136258"/>
                </a:lnTo>
                <a:lnTo>
                  <a:pt x="590905" y="131356"/>
                </a:lnTo>
                <a:lnTo>
                  <a:pt x="582930" y="129540"/>
                </a:lnTo>
                <a:lnTo>
                  <a:pt x="574941" y="131356"/>
                </a:lnTo>
                <a:lnTo>
                  <a:pt x="568401" y="136258"/>
                </a:lnTo>
                <a:lnTo>
                  <a:pt x="563968" y="143535"/>
                </a:lnTo>
                <a:lnTo>
                  <a:pt x="562356" y="152400"/>
                </a:lnTo>
                <a:lnTo>
                  <a:pt x="563968" y="161277"/>
                </a:lnTo>
                <a:lnTo>
                  <a:pt x="568401" y="168554"/>
                </a:lnTo>
                <a:lnTo>
                  <a:pt x="574941" y="173456"/>
                </a:lnTo>
                <a:lnTo>
                  <a:pt x="582930" y="175260"/>
                </a:lnTo>
                <a:lnTo>
                  <a:pt x="590905" y="173456"/>
                </a:lnTo>
                <a:lnTo>
                  <a:pt x="597446" y="168554"/>
                </a:lnTo>
                <a:lnTo>
                  <a:pt x="601878" y="161277"/>
                </a:lnTo>
                <a:lnTo>
                  <a:pt x="603504" y="152400"/>
                </a:lnTo>
                <a:close/>
              </a:path>
              <a:path w="883919" h="175260">
                <a:moveTo>
                  <a:pt x="603504" y="22098"/>
                </a:moveTo>
                <a:lnTo>
                  <a:pt x="601878" y="13512"/>
                </a:lnTo>
                <a:lnTo>
                  <a:pt x="597446" y="6489"/>
                </a:lnTo>
                <a:lnTo>
                  <a:pt x="590905" y="1739"/>
                </a:lnTo>
                <a:lnTo>
                  <a:pt x="582930" y="0"/>
                </a:lnTo>
                <a:lnTo>
                  <a:pt x="574941" y="1739"/>
                </a:lnTo>
                <a:lnTo>
                  <a:pt x="568401" y="6477"/>
                </a:lnTo>
                <a:lnTo>
                  <a:pt x="563968" y="13512"/>
                </a:lnTo>
                <a:lnTo>
                  <a:pt x="562356" y="22098"/>
                </a:lnTo>
                <a:lnTo>
                  <a:pt x="563968" y="30695"/>
                </a:lnTo>
                <a:lnTo>
                  <a:pt x="568401" y="37719"/>
                </a:lnTo>
                <a:lnTo>
                  <a:pt x="574941" y="42468"/>
                </a:lnTo>
                <a:lnTo>
                  <a:pt x="582930" y="44196"/>
                </a:lnTo>
                <a:lnTo>
                  <a:pt x="590905" y="42468"/>
                </a:lnTo>
                <a:lnTo>
                  <a:pt x="597446" y="37719"/>
                </a:lnTo>
                <a:lnTo>
                  <a:pt x="601878" y="30695"/>
                </a:lnTo>
                <a:lnTo>
                  <a:pt x="603504" y="22098"/>
                </a:lnTo>
                <a:close/>
              </a:path>
              <a:path w="883919" h="175260">
                <a:moveTo>
                  <a:pt x="696468" y="152400"/>
                </a:moveTo>
                <a:lnTo>
                  <a:pt x="694842" y="143535"/>
                </a:lnTo>
                <a:lnTo>
                  <a:pt x="690410" y="136258"/>
                </a:lnTo>
                <a:lnTo>
                  <a:pt x="683869" y="131356"/>
                </a:lnTo>
                <a:lnTo>
                  <a:pt x="675894" y="129540"/>
                </a:lnTo>
                <a:lnTo>
                  <a:pt x="667905" y="131356"/>
                </a:lnTo>
                <a:lnTo>
                  <a:pt x="661365" y="136258"/>
                </a:lnTo>
                <a:lnTo>
                  <a:pt x="656932" y="143535"/>
                </a:lnTo>
                <a:lnTo>
                  <a:pt x="655320" y="152400"/>
                </a:lnTo>
                <a:lnTo>
                  <a:pt x="656932" y="161277"/>
                </a:lnTo>
                <a:lnTo>
                  <a:pt x="661365" y="168554"/>
                </a:lnTo>
                <a:lnTo>
                  <a:pt x="667905" y="173456"/>
                </a:lnTo>
                <a:lnTo>
                  <a:pt x="675894" y="175260"/>
                </a:lnTo>
                <a:lnTo>
                  <a:pt x="683869" y="173456"/>
                </a:lnTo>
                <a:lnTo>
                  <a:pt x="690410" y="168554"/>
                </a:lnTo>
                <a:lnTo>
                  <a:pt x="694842" y="161277"/>
                </a:lnTo>
                <a:lnTo>
                  <a:pt x="696468" y="152400"/>
                </a:lnTo>
                <a:close/>
              </a:path>
              <a:path w="883919" h="175260">
                <a:moveTo>
                  <a:pt x="696468" y="22098"/>
                </a:moveTo>
                <a:lnTo>
                  <a:pt x="694842" y="13512"/>
                </a:lnTo>
                <a:lnTo>
                  <a:pt x="690410" y="6489"/>
                </a:lnTo>
                <a:lnTo>
                  <a:pt x="683869" y="1739"/>
                </a:lnTo>
                <a:lnTo>
                  <a:pt x="675894" y="0"/>
                </a:lnTo>
                <a:lnTo>
                  <a:pt x="667905" y="1739"/>
                </a:lnTo>
                <a:lnTo>
                  <a:pt x="661365" y="6477"/>
                </a:lnTo>
                <a:lnTo>
                  <a:pt x="656932" y="13512"/>
                </a:lnTo>
                <a:lnTo>
                  <a:pt x="655320" y="22098"/>
                </a:lnTo>
                <a:lnTo>
                  <a:pt x="656932" y="30695"/>
                </a:lnTo>
                <a:lnTo>
                  <a:pt x="661365" y="37719"/>
                </a:lnTo>
                <a:lnTo>
                  <a:pt x="667905" y="42468"/>
                </a:lnTo>
                <a:lnTo>
                  <a:pt x="675894" y="44196"/>
                </a:lnTo>
                <a:lnTo>
                  <a:pt x="683869" y="42468"/>
                </a:lnTo>
                <a:lnTo>
                  <a:pt x="690410" y="37719"/>
                </a:lnTo>
                <a:lnTo>
                  <a:pt x="694842" y="30695"/>
                </a:lnTo>
                <a:lnTo>
                  <a:pt x="696468" y="22098"/>
                </a:lnTo>
                <a:close/>
              </a:path>
              <a:path w="883919" h="175260">
                <a:moveTo>
                  <a:pt x="790956" y="152400"/>
                </a:moveTo>
                <a:lnTo>
                  <a:pt x="789330" y="143535"/>
                </a:lnTo>
                <a:lnTo>
                  <a:pt x="784898" y="136258"/>
                </a:lnTo>
                <a:lnTo>
                  <a:pt x="778357" y="131356"/>
                </a:lnTo>
                <a:lnTo>
                  <a:pt x="770382" y="129540"/>
                </a:lnTo>
                <a:lnTo>
                  <a:pt x="762393" y="131356"/>
                </a:lnTo>
                <a:lnTo>
                  <a:pt x="755853" y="136258"/>
                </a:lnTo>
                <a:lnTo>
                  <a:pt x="751420" y="143535"/>
                </a:lnTo>
                <a:lnTo>
                  <a:pt x="749808" y="152400"/>
                </a:lnTo>
                <a:lnTo>
                  <a:pt x="751420" y="161277"/>
                </a:lnTo>
                <a:lnTo>
                  <a:pt x="755853" y="168554"/>
                </a:lnTo>
                <a:lnTo>
                  <a:pt x="762393" y="173456"/>
                </a:lnTo>
                <a:lnTo>
                  <a:pt x="770382" y="175260"/>
                </a:lnTo>
                <a:lnTo>
                  <a:pt x="778357" y="173456"/>
                </a:lnTo>
                <a:lnTo>
                  <a:pt x="784898" y="168554"/>
                </a:lnTo>
                <a:lnTo>
                  <a:pt x="789330" y="161277"/>
                </a:lnTo>
                <a:lnTo>
                  <a:pt x="790956" y="152400"/>
                </a:lnTo>
                <a:close/>
              </a:path>
              <a:path w="883919" h="175260">
                <a:moveTo>
                  <a:pt x="790956" y="22098"/>
                </a:moveTo>
                <a:lnTo>
                  <a:pt x="789330" y="13512"/>
                </a:lnTo>
                <a:lnTo>
                  <a:pt x="784898" y="6489"/>
                </a:lnTo>
                <a:lnTo>
                  <a:pt x="778357" y="1739"/>
                </a:lnTo>
                <a:lnTo>
                  <a:pt x="770382" y="0"/>
                </a:lnTo>
                <a:lnTo>
                  <a:pt x="762393" y="1739"/>
                </a:lnTo>
                <a:lnTo>
                  <a:pt x="755853" y="6477"/>
                </a:lnTo>
                <a:lnTo>
                  <a:pt x="751420" y="13512"/>
                </a:lnTo>
                <a:lnTo>
                  <a:pt x="749808" y="22098"/>
                </a:lnTo>
                <a:lnTo>
                  <a:pt x="751420" y="30695"/>
                </a:lnTo>
                <a:lnTo>
                  <a:pt x="755853" y="37719"/>
                </a:lnTo>
                <a:lnTo>
                  <a:pt x="762393" y="42468"/>
                </a:lnTo>
                <a:lnTo>
                  <a:pt x="770382" y="44196"/>
                </a:lnTo>
                <a:lnTo>
                  <a:pt x="778357" y="42468"/>
                </a:lnTo>
                <a:lnTo>
                  <a:pt x="784898" y="37719"/>
                </a:lnTo>
                <a:lnTo>
                  <a:pt x="789330" y="30695"/>
                </a:lnTo>
                <a:lnTo>
                  <a:pt x="790956" y="22098"/>
                </a:lnTo>
                <a:close/>
              </a:path>
              <a:path w="883919" h="175260">
                <a:moveTo>
                  <a:pt x="883920" y="152400"/>
                </a:moveTo>
                <a:lnTo>
                  <a:pt x="882294" y="143535"/>
                </a:lnTo>
                <a:lnTo>
                  <a:pt x="877862" y="136258"/>
                </a:lnTo>
                <a:lnTo>
                  <a:pt x="871321" y="131356"/>
                </a:lnTo>
                <a:lnTo>
                  <a:pt x="863346" y="129540"/>
                </a:lnTo>
                <a:lnTo>
                  <a:pt x="855357" y="131356"/>
                </a:lnTo>
                <a:lnTo>
                  <a:pt x="848817" y="136258"/>
                </a:lnTo>
                <a:lnTo>
                  <a:pt x="844384" y="143535"/>
                </a:lnTo>
                <a:lnTo>
                  <a:pt x="842772" y="152400"/>
                </a:lnTo>
                <a:lnTo>
                  <a:pt x="844384" y="161277"/>
                </a:lnTo>
                <a:lnTo>
                  <a:pt x="848817" y="168554"/>
                </a:lnTo>
                <a:lnTo>
                  <a:pt x="855357" y="173456"/>
                </a:lnTo>
                <a:lnTo>
                  <a:pt x="863346" y="175260"/>
                </a:lnTo>
                <a:lnTo>
                  <a:pt x="871321" y="173456"/>
                </a:lnTo>
                <a:lnTo>
                  <a:pt x="877862" y="168554"/>
                </a:lnTo>
                <a:lnTo>
                  <a:pt x="882294" y="161277"/>
                </a:lnTo>
                <a:lnTo>
                  <a:pt x="883920" y="152400"/>
                </a:lnTo>
                <a:close/>
              </a:path>
              <a:path w="883919" h="175260">
                <a:moveTo>
                  <a:pt x="883920" y="22098"/>
                </a:moveTo>
                <a:lnTo>
                  <a:pt x="882294" y="13512"/>
                </a:lnTo>
                <a:lnTo>
                  <a:pt x="877862" y="6489"/>
                </a:lnTo>
                <a:lnTo>
                  <a:pt x="871321" y="1739"/>
                </a:lnTo>
                <a:lnTo>
                  <a:pt x="863346" y="0"/>
                </a:lnTo>
                <a:lnTo>
                  <a:pt x="855357" y="1739"/>
                </a:lnTo>
                <a:lnTo>
                  <a:pt x="848817" y="6477"/>
                </a:lnTo>
                <a:lnTo>
                  <a:pt x="844384" y="13512"/>
                </a:lnTo>
                <a:lnTo>
                  <a:pt x="842772" y="22098"/>
                </a:lnTo>
                <a:lnTo>
                  <a:pt x="844384" y="30695"/>
                </a:lnTo>
                <a:lnTo>
                  <a:pt x="848817" y="37719"/>
                </a:lnTo>
                <a:lnTo>
                  <a:pt x="855357" y="42468"/>
                </a:lnTo>
                <a:lnTo>
                  <a:pt x="863346" y="44196"/>
                </a:lnTo>
                <a:lnTo>
                  <a:pt x="871321" y="42468"/>
                </a:lnTo>
                <a:lnTo>
                  <a:pt x="877862" y="37719"/>
                </a:lnTo>
                <a:lnTo>
                  <a:pt x="882294" y="30695"/>
                </a:lnTo>
                <a:lnTo>
                  <a:pt x="883920" y="22098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15840" y="1655064"/>
            <a:ext cx="3825240" cy="516890"/>
          </a:xfrm>
          <a:custGeom>
            <a:avLst/>
            <a:gdLst/>
            <a:ahLst/>
            <a:cxnLst/>
            <a:rect l="l" t="t" r="r" b="b"/>
            <a:pathLst>
              <a:path w="3825240" h="516889">
                <a:moveTo>
                  <a:pt x="3739134" y="0"/>
                </a:moveTo>
                <a:lnTo>
                  <a:pt x="86106" y="0"/>
                </a:lnTo>
                <a:lnTo>
                  <a:pt x="52613" y="6774"/>
                </a:lnTo>
                <a:lnTo>
                  <a:pt x="25241" y="25241"/>
                </a:lnTo>
                <a:lnTo>
                  <a:pt x="6774" y="52613"/>
                </a:lnTo>
                <a:lnTo>
                  <a:pt x="0" y="86106"/>
                </a:lnTo>
                <a:lnTo>
                  <a:pt x="0" y="430530"/>
                </a:lnTo>
                <a:lnTo>
                  <a:pt x="6774" y="464022"/>
                </a:lnTo>
                <a:lnTo>
                  <a:pt x="25241" y="491394"/>
                </a:lnTo>
                <a:lnTo>
                  <a:pt x="52613" y="509861"/>
                </a:lnTo>
                <a:lnTo>
                  <a:pt x="86106" y="516636"/>
                </a:lnTo>
                <a:lnTo>
                  <a:pt x="3739134" y="516636"/>
                </a:lnTo>
                <a:lnTo>
                  <a:pt x="3772626" y="509861"/>
                </a:lnTo>
                <a:lnTo>
                  <a:pt x="3799998" y="491394"/>
                </a:lnTo>
                <a:lnTo>
                  <a:pt x="3818465" y="464022"/>
                </a:lnTo>
                <a:lnTo>
                  <a:pt x="3825240" y="430530"/>
                </a:lnTo>
                <a:lnTo>
                  <a:pt x="3825240" y="86106"/>
                </a:lnTo>
                <a:lnTo>
                  <a:pt x="3818465" y="52613"/>
                </a:lnTo>
                <a:lnTo>
                  <a:pt x="3799998" y="25241"/>
                </a:lnTo>
                <a:lnTo>
                  <a:pt x="3772626" y="6774"/>
                </a:lnTo>
                <a:lnTo>
                  <a:pt x="373913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878704" y="1692401"/>
            <a:ext cx="3242310" cy="40449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250"/>
              </a:spcBef>
            </a:pP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https://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www.geeksforgeeks.org/tcp-congestion- </a:t>
            </a:r>
            <a:r>
              <a:rPr sz="1300" spc="-2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control/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15840" y="2209800"/>
            <a:ext cx="3825240" cy="516890"/>
          </a:xfrm>
          <a:custGeom>
            <a:avLst/>
            <a:gdLst/>
            <a:ahLst/>
            <a:cxnLst/>
            <a:rect l="l" t="t" r="r" b="b"/>
            <a:pathLst>
              <a:path w="3825240" h="516889">
                <a:moveTo>
                  <a:pt x="3739134" y="0"/>
                </a:moveTo>
                <a:lnTo>
                  <a:pt x="86106" y="0"/>
                </a:lnTo>
                <a:lnTo>
                  <a:pt x="52613" y="6774"/>
                </a:lnTo>
                <a:lnTo>
                  <a:pt x="25241" y="25241"/>
                </a:lnTo>
                <a:lnTo>
                  <a:pt x="6774" y="52613"/>
                </a:lnTo>
                <a:lnTo>
                  <a:pt x="0" y="86106"/>
                </a:lnTo>
                <a:lnTo>
                  <a:pt x="0" y="430530"/>
                </a:lnTo>
                <a:lnTo>
                  <a:pt x="6774" y="464022"/>
                </a:lnTo>
                <a:lnTo>
                  <a:pt x="25241" y="491394"/>
                </a:lnTo>
                <a:lnTo>
                  <a:pt x="52613" y="509861"/>
                </a:lnTo>
                <a:lnTo>
                  <a:pt x="86106" y="516636"/>
                </a:lnTo>
                <a:lnTo>
                  <a:pt x="3739134" y="516636"/>
                </a:lnTo>
                <a:lnTo>
                  <a:pt x="3772626" y="509861"/>
                </a:lnTo>
                <a:lnTo>
                  <a:pt x="3799998" y="491394"/>
                </a:lnTo>
                <a:lnTo>
                  <a:pt x="3818465" y="464022"/>
                </a:lnTo>
                <a:lnTo>
                  <a:pt x="3825240" y="430530"/>
                </a:lnTo>
                <a:lnTo>
                  <a:pt x="3825240" y="86106"/>
                </a:lnTo>
                <a:lnTo>
                  <a:pt x="3818465" y="52613"/>
                </a:lnTo>
                <a:lnTo>
                  <a:pt x="3799998" y="25241"/>
                </a:lnTo>
                <a:lnTo>
                  <a:pt x="3772626" y="6774"/>
                </a:lnTo>
                <a:lnTo>
                  <a:pt x="373913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878704" y="2337257"/>
            <a:ext cx="366776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https://en.wikipedia.org/wiki/TCP_congestion_control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815840" y="2764535"/>
            <a:ext cx="3825240" cy="516890"/>
          </a:xfrm>
          <a:custGeom>
            <a:avLst/>
            <a:gdLst/>
            <a:ahLst/>
            <a:cxnLst/>
            <a:rect l="l" t="t" r="r" b="b"/>
            <a:pathLst>
              <a:path w="3825240" h="516889">
                <a:moveTo>
                  <a:pt x="3739134" y="0"/>
                </a:moveTo>
                <a:lnTo>
                  <a:pt x="86106" y="0"/>
                </a:lnTo>
                <a:lnTo>
                  <a:pt x="52613" y="6774"/>
                </a:lnTo>
                <a:lnTo>
                  <a:pt x="25241" y="25241"/>
                </a:lnTo>
                <a:lnTo>
                  <a:pt x="6774" y="52613"/>
                </a:lnTo>
                <a:lnTo>
                  <a:pt x="0" y="86106"/>
                </a:lnTo>
                <a:lnTo>
                  <a:pt x="0" y="430530"/>
                </a:lnTo>
                <a:lnTo>
                  <a:pt x="6774" y="464022"/>
                </a:lnTo>
                <a:lnTo>
                  <a:pt x="25241" y="491394"/>
                </a:lnTo>
                <a:lnTo>
                  <a:pt x="52613" y="509861"/>
                </a:lnTo>
                <a:lnTo>
                  <a:pt x="86106" y="516636"/>
                </a:lnTo>
                <a:lnTo>
                  <a:pt x="3739134" y="516636"/>
                </a:lnTo>
                <a:lnTo>
                  <a:pt x="3772626" y="509861"/>
                </a:lnTo>
                <a:lnTo>
                  <a:pt x="3799998" y="491394"/>
                </a:lnTo>
                <a:lnTo>
                  <a:pt x="3818465" y="464022"/>
                </a:lnTo>
                <a:lnTo>
                  <a:pt x="3825240" y="430530"/>
                </a:lnTo>
                <a:lnTo>
                  <a:pt x="3825240" y="86106"/>
                </a:lnTo>
                <a:lnTo>
                  <a:pt x="3818465" y="52613"/>
                </a:lnTo>
                <a:lnTo>
                  <a:pt x="3799998" y="25241"/>
                </a:lnTo>
                <a:lnTo>
                  <a:pt x="3772626" y="6774"/>
                </a:lnTo>
                <a:lnTo>
                  <a:pt x="373913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878704" y="2891993"/>
            <a:ext cx="28975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https://blog.stackpath.com/tcp-slow-start/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1723</Words>
  <Application>Microsoft Office PowerPoint</Application>
  <PresentationFormat>On-screen Show (16:9)</PresentationFormat>
  <Paragraphs>194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 MT</vt:lpstr>
      <vt:lpstr>Calibri</vt:lpstr>
      <vt:lpstr>Calibri Light</vt:lpstr>
      <vt:lpstr>Tahoma</vt:lpstr>
      <vt:lpstr>Times New Roman</vt:lpstr>
      <vt:lpstr>Office Theme</vt:lpstr>
      <vt:lpstr>TCP CONGESTION CONTROL: SLOW-  START ALGORITHM</vt:lpstr>
      <vt:lpstr>   TRANSMISSION  CONTROL  PROTOCOL</vt:lpstr>
      <vt:lpstr>PowerPoint Presentation</vt:lpstr>
      <vt:lpstr>PowerPoint Presentation</vt:lpstr>
      <vt:lpstr>PowerPoint Presentation</vt:lpstr>
      <vt:lpstr>How TCP Uses CWND and RWND</vt:lpstr>
      <vt:lpstr>TCP's general policy  for handling  congestion is based  on three phases:</vt:lpstr>
      <vt:lpstr>TCP Congestion Control:Congestion Policy</vt:lpstr>
      <vt:lpstr>Slow Start:  Exponential Increase</vt:lpstr>
      <vt:lpstr>Slow Start: Exponential  Increase</vt:lpstr>
      <vt:lpstr>  Slow Start:  Exponential  Increase</vt:lpstr>
      <vt:lpstr>PowerPoint Presentation</vt:lpstr>
      <vt:lpstr>PowerPoint Presentation</vt:lpstr>
      <vt:lpstr>Congestion Avoidance: Additive Increase</vt:lpstr>
      <vt:lpstr>PowerPoint Presentation</vt:lpstr>
      <vt:lpstr>PowerPoint Presentation</vt:lpstr>
      <vt:lpstr>Congestion  Detection:  Multiplicative Decrease</vt:lpstr>
      <vt:lpstr>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Debjani Ghosh</dc:creator>
  <cp:lastModifiedBy>Abuzar Sayeed</cp:lastModifiedBy>
  <cp:revision>1</cp:revision>
  <dcterms:created xsi:type="dcterms:W3CDTF">2023-07-10T08:28:50Z</dcterms:created>
  <dcterms:modified xsi:type="dcterms:W3CDTF">2024-04-07T17:52:16Z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2022-04-20T00:00:00Z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2023-07-10T00:00:00Z</vt:filetime>
  </property>
</Properties>
</file>